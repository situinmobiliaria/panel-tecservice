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4" r:id="rId2"/>
    <p:sldMasterId id="2147483676" r:id="rId3"/>
    <p:sldMasterId id="2147483678" r:id="rId4"/>
  </p:sldMasterIdLst>
  <p:notesMasterIdLst>
    <p:notesMasterId r:id="rId90"/>
  </p:notesMasterIdLst>
  <p:sldIdLst>
    <p:sldId id="256" r:id="rId5"/>
    <p:sldId id="257" r:id="rId6"/>
    <p:sldId id="328" r:id="rId7"/>
    <p:sldId id="340" r:id="rId8"/>
    <p:sldId id="259" r:id="rId9"/>
    <p:sldId id="329" r:id="rId10"/>
    <p:sldId id="261" r:id="rId11"/>
    <p:sldId id="262" r:id="rId12"/>
    <p:sldId id="263" r:id="rId13"/>
    <p:sldId id="264" r:id="rId14"/>
    <p:sldId id="265" r:id="rId15"/>
    <p:sldId id="266" r:id="rId16"/>
    <p:sldId id="330" r:id="rId17"/>
    <p:sldId id="268" r:id="rId18"/>
    <p:sldId id="269" r:id="rId19"/>
    <p:sldId id="354" r:id="rId20"/>
    <p:sldId id="348" r:id="rId21"/>
    <p:sldId id="331" r:id="rId22"/>
    <p:sldId id="347" r:id="rId23"/>
    <p:sldId id="272" r:id="rId24"/>
    <p:sldId id="273" r:id="rId25"/>
    <p:sldId id="274" r:id="rId26"/>
    <p:sldId id="275" r:id="rId27"/>
    <p:sldId id="276" r:id="rId28"/>
    <p:sldId id="277" r:id="rId29"/>
    <p:sldId id="332" r:id="rId30"/>
    <p:sldId id="345" r:id="rId31"/>
    <p:sldId id="279" r:id="rId32"/>
    <p:sldId id="280" r:id="rId33"/>
    <p:sldId id="281" r:id="rId34"/>
    <p:sldId id="333" r:id="rId35"/>
    <p:sldId id="283" r:id="rId36"/>
    <p:sldId id="284" r:id="rId37"/>
    <p:sldId id="334" r:id="rId38"/>
    <p:sldId id="286" r:id="rId39"/>
    <p:sldId id="287" r:id="rId40"/>
    <p:sldId id="288" r:id="rId41"/>
    <p:sldId id="289" r:id="rId42"/>
    <p:sldId id="335" r:id="rId43"/>
    <p:sldId id="316" r:id="rId44"/>
    <p:sldId id="336" r:id="rId45"/>
    <p:sldId id="290" r:id="rId46"/>
    <p:sldId id="291" r:id="rId47"/>
    <p:sldId id="292" r:id="rId48"/>
    <p:sldId id="318" r:id="rId49"/>
    <p:sldId id="319" r:id="rId50"/>
    <p:sldId id="320" r:id="rId51"/>
    <p:sldId id="321" r:id="rId52"/>
    <p:sldId id="322" r:id="rId53"/>
    <p:sldId id="323" r:id="rId54"/>
    <p:sldId id="324" r:id="rId55"/>
    <p:sldId id="326" r:id="rId56"/>
    <p:sldId id="338" r:id="rId57"/>
    <p:sldId id="346" r:id="rId58"/>
    <p:sldId id="350" r:id="rId59"/>
    <p:sldId id="339" r:id="rId60"/>
    <p:sldId id="258" r:id="rId61"/>
    <p:sldId id="337" r:id="rId62"/>
    <p:sldId id="310" r:id="rId63"/>
    <p:sldId id="327" r:id="rId64"/>
    <p:sldId id="293" r:id="rId65"/>
    <p:sldId id="294" r:id="rId66"/>
    <p:sldId id="295" r:id="rId67"/>
    <p:sldId id="296" r:id="rId68"/>
    <p:sldId id="297" r:id="rId69"/>
    <p:sldId id="298" r:id="rId70"/>
    <p:sldId id="299" r:id="rId71"/>
    <p:sldId id="300" r:id="rId72"/>
    <p:sldId id="301" r:id="rId73"/>
    <p:sldId id="302" r:id="rId74"/>
    <p:sldId id="303" r:id="rId75"/>
    <p:sldId id="304" r:id="rId76"/>
    <p:sldId id="305" r:id="rId77"/>
    <p:sldId id="306" r:id="rId78"/>
    <p:sldId id="307" r:id="rId79"/>
    <p:sldId id="308" r:id="rId80"/>
    <p:sldId id="309" r:id="rId81"/>
    <p:sldId id="311" r:id="rId82"/>
    <p:sldId id="341" r:id="rId83"/>
    <p:sldId id="342" r:id="rId84"/>
    <p:sldId id="343" r:id="rId85"/>
    <p:sldId id="312" r:id="rId86"/>
    <p:sldId id="313" r:id="rId87"/>
    <p:sldId id="314" r:id="rId88"/>
    <p:sldId id="315" r:id="rId89"/>
  </p:sldIdLst>
  <p:sldSz cx="12192000" cy="6858000"/>
  <p:notesSz cx="6858000" cy="12192000"/>
  <p:embeddedFontLst>
    <p:embeddedFont>
      <p:font typeface="Aptos Narrow" panose="020B0004020202020204" pitchFamily="34" charset="0"/>
      <p:regular r:id="rId91"/>
      <p:bold r:id="rId92"/>
      <p:italic r:id="rId93"/>
      <p:boldItalic r:id="rId94"/>
    </p:embeddedFont>
    <p:embeddedFont>
      <p:font typeface="Play" panose="020B0604020202020204" charset="0"/>
      <p:regular r:id="rId95"/>
      <p:bold r:id="rId96"/>
    </p:embeddedFont>
    <p:embeddedFont>
      <p:font typeface="Quattrocento Sans" panose="020B0502050000020003" pitchFamily="34" charset="0"/>
      <p:regular r:id="rId97"/>
      <p:bold r:id="rId98"/>
      <p:italic r:id="rId99"/>
      <p:boldItalic r:id="rId100"/>
    </p:embeddedFont>
    <p:embeddedFont>
      <p:font typeface="Roboto" panose="02000000000000000000" pitchFamily="2" charset="0"/>
      <p:regular r:id="rId101"/>
      <p:bold r:id="rId102"/>
      <p:italic r:id="rId103"/>
      <p:boldItalic r:id="rId10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17"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5" roundtripDataSignature="AMtx7mihcEJ+ppHuWwxQ5NLDVvr/Gil7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38E6D1-A539-F964-4718-8C765525FBC0}" v="11" dt="2026-09-28T20:22:11.815"/>
  </p1510:revLst>
</p1510:revInfo>
</file>

<file path=ppt/tableStyles.xml><?xml version="1.0" encoding="utf-8"?>
<a:tblStyleLst xmlns:a="http://schemas.openxmlformats.org/drawingml/2006/main" def="{13D43741-7D58-4360-86AC-F6E32FA5FF39}">
  <a:tblStyle styleId="{13D43741-7D58-4360-86AC-F6E32FA5FF3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37305D2-9BBB-409F-AAFB-F33DB949016B}" styleName="Table_1">
    <a:wholeTbl>
      <a:tcTxStyle b="off" i="off">
        <a:font>
          <a:latin typeface="Aptos (cuerpo)"/>
          <a:ea typeface="Aptos (cuerpo)"/>
          <a:cs typeface="Aptos (cuerpo)"/>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7F4"/>
          </a:solidFill>
        </a:fill>
      </a:tcStyle>
    </a:wholeTbl>
    <a:band1H>
      <a:tcTxStyle/>
      <a:tcStyle>
        <a:tcBdr/>
        <a:fill>
          <a:solidFill>
            <a:srgbClr val="CBEEE9"/>
          </a:solidFill>
        </a:fill>
      </a:tcStyle>
    </a:band1H>
    <a:band2H>
      <a:tcTxStyle/>
      <a:tcStyle>
        <a:tcBdr/>
      </a:tcStyle>
    </a:band2H>
    <a:band1V>
      <a:tcTxStyle/>
      <a:tcStyle>
        <a:tcBdr/>
        <a:fill>
          <a:solidFill>
            <a:srgbClr val="CBEEE9"/>
          </a:solidFill>
        </a:fill>
      </a:tcStyle>
    </a:band1V>
    <a:band2V>
      <a:tcTxStyle/>
      <a:tcStyle>
        <a:tcBdr/>
      </a:tcStyle>
    </a:band2V>
    <a:lastCol>
      <a:tcTxStyle b="on" i="off">
        <a:font>
          <a:latin typeface="Aptos (cuerpo)"/>
          <a:ea typeface="Aptos (cuerpo)"/>
          <a:cs typeface="Aptos (cuerpo)"/>
        </a:font>
        <a:schemeClr val="lt1"/>
      </a:tcTxStyle>
      <a:tcStyle>
        <a:tcBdr/>
        <a:fill>
          <a:solidFill>
            <a:schemeClr val="accent1"/>
          </a:solidFill>
        </a:fill>
      </a:tcStyle>
    </a:lastCol>
    <a:firstCol>
      <a:tcTxStyle b="on" i="off">
        <a:font>
          <a:latin typeface="Aptos (cuerpo)"/>
          <a:ea typeface="Aptos (cuerpo)"/>
          <a:cs typeface="Aptos (cuerpo)"/>
        </a:font>
        <a:schemeClr val="lt1"/>
      </a:tcTxStyle>
      <a:tcStyle>
        <a:tcBdr/>
        <a:fill>
          <a:solidFill>
            <a:schemeClr val="accent1"/>
          </a:solidFill>
        </a:fill>
      </a:tcStyle>
    </a:firstCol>
    <a:lastRow>
      <a:tcTxStyle b="on" i="off">
        <a:font>
          <a:latin typeface="Aptos (cuerpo)"/>
          <a:ea typeface="Aptos (cuerpo)"/>
          <a:cs typeface="Aptos (cuerpo)"/>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cuerpo)"/>
          <a:ea typeface="Aptos (cuerpo)"/>
          <a:cs typeface="Aptos (cuerpo)"/>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1" autoAdjust="0"/>
    <p:restoredTop sz="91829" autoAdjust="0"/>
  </p:normalViewPr>
  <p:slideViewPr>
    <p:cSldViewPr showGuides="1">
      <p:cViewPr>
        <p:scale>
          <a:sx n="66" d="100"/>
          <a:sy n="66" d="100"/>
        </p:scale>
        <p:origin x="48" y="48"/>
      </p:cViewPr>
      <p:guideLst>
        <p:guide orient="horz" pos="2217"/>
        <p:guide pos="3840"/>
      </p:guideLst>
    </p:cSldViewPr>
  </p:slid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viewProps" Target="viewProp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font" Target="fonts/font12.fntdata"/><Relationship Id="rId5" Type="http://schemas.openxmlformats.org/officeDocument/2006/relationships/slide" Target="slides/slide1.xml"/><Relationship Id="rId90" Type="http://schemas.openxmlformats.org/officeDocument/2006/relationships/notesMaster" Target="notesMasters/notesMaster1.xml"/><Relationship Id="rId95" Type="http://schemas.openxmlformats.org/officeDocument/2006/relationships/font" Target="fonts/font5.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font" Target="fonts/font13.fntdata"/><Relationship Id="rId108" Type="http://schemas.openxmlformats.org/officeDocument/2006/relationships/theme" Target="theme/theme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font" Target="fonts/font1.fntdata"/><Relationship Id="rId9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font" Target="fonts/font4.fntdata"/><Relationship Id="rId99" Type="http://schemas.openxmlformats.org/officeDocument/2006/relationships/font" Target="fonts/font9.fntdata"/><Relationship Id="rId101" Type="http://schemas.openxmlformats.org/officeDocument/2006/relationships/font" Target="fonts/font11.fntdata"/><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tableStyles" Target="tableStyle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7.fntdata"/><Relationship Id="rId104" Type="http://schemas.openxmlformats.org/officeDocument/2006/relationships/font" Target="fonts/font14.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2.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font" Target="fonts/font10.fntdata"/><Relationship Id="rId105" Type="http://customschemas.google.com/relationships/presentationmetadata" Target="meta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3.fntdata"/><Relationship Id="rId98" Type="http://schemas.openxmlformats.org/officeDocument/2006/relationships/font" Target="fonts/font8.fntdata"/><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Gemco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849-4E66-B826-A582A488FD53}"/>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849-4E66-B826-A582A488FD53}"/>
            </c:ext>
          </c:extLst>
        </c:ser>
        <c:ser>
          <c:idx val="2"/>
          <c:order val="2"/>
          <c:tx>
            <c:strRef>
              <c:f>Hoja1!$D$1</c:f>
              <c:strCache>
                <c:ptCount val="1"/>
                <c:pt idx="0">
                  <c:v>Serie 3</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849-4E66-B826-A582A488FD53}"/>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282DF0"/>
              </a:solidFill>
              <a:ln w="19050">
                <a:solidFill>
                  <a:schemeClr val="lt1"/>
                </a:solidFill>
              </a:ln>
              <a:effectLst/>
            </c:spPr>
            <c:extLst>
              <c:ext xmlns:c16="http://schemas.microsoft.com/office/drawing/2014/chart" uri="{C3380CC4-5D6E-409C-BE32-E72D297353CC}">
                <c16:uniqueId val="{00000001-AB62-473A-BA36-3736C0486B52}"/>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AB62-473A-BA36-3736C0486B52}"/>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AB62-473A-BA36-3736C0486B5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B62-473A-BA36-3736C0486B52}"/>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AB62-473A-BA36-3736C0486B5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2CB-4E37-BA0C-4D62EFF16F45}"/>
            </c:ext>
          </c:extLst>
        </c:ser>
        <c:ser>
          <c:idx val="1"/>
          <c:order val="1"/>
          <c:tx>
            <c:strRef>
              <c:f>Hoja1!$C$1</c:f>
              <c:strCache>
                <c:ptCount val="1"/>
                <c:pt idx="0">
                  <c:v>Serie 2</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2CB-4E37-BA0C-4D62EFF16F45}"/>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2CB-4E37-BA0C-4D62EFF16F45}"/>
            </c:ext>
          </c:extLst>
        </c:ser>
        <c:dLbls>
          <c:showLegendKey val="0"/>
          <c:showVal val="0"/>
          <c:showCatName val="0"/>
          <c:showSerName val="0"/>
          <c:showPercent val="0"/>
          <c:showBubbleSize val="0"/>
        </c:dLbls>
        <c:gapWidth val="150"/>
        <c:overlap val="100"/>
        <c:axId val="1896206448"/>
        <c:axId val="1896199728"/>
      </c:barChart>
      <c:catAx>
        <c:axId val="1896206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199728"/>
        <c:crosses val="autoZero"/>
        <c:auto val="1"/>
        <c:lblAlgn val="ctr"/>
        <c:lblOffset val="100"/>
        <c:noMultiLvlLbl val="0"/>
      </c:catAx>
      <c:valAx>
        <c:axId val="1896199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206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8CB-42D1-B328-14618D802797}"/>
            </c:ext>
          </c:extLst>
        </c:ser>
        <c:ser>
          <c:idx val="1"/>
          <c:order val="1"/>
          <c:tx>
            <c:strRef>
              <c:f>Hoja1!$C$1</c:f>
              <c:strCache>
                <c:ptCount val="1"/>
                <c:pt idx="0">
                  <c:v>Serie 2</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8CB-42D1-B328-14618D802797}"/>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8CB-42D1-B328-14618D802797}"/>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D30101"/>
              </a:solidFill>
              <a:ln w="19050">
                <a:solidFill>
                  <a:schemeClr val="lt1"/>
                </a:solidFill>
              </a:ln>
              <a:effectLst/>
            </c:spPr>
            <c:extLst>
              <c:ext xmlns:c16="http://schemas.microsoft.com/office/drawing/2014/chart" uri="{C3380CC4-5D6E-409C-BE32-E72D297353CC}">
                <c16:uniqueId val="{00000001-6021-469B-96CA-FF6A0E02D9DD}"/>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6021-469B-96CA-FF6A0E02D9DD}"/>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6021-469B-96CA-FF6A0E02D9D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021-469B-96CA-FF6A0E02D9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021-469B-96CA-FF6A0E02D9DD}"/>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83E-41BC-A883-1154F4D5240C}"/>
            </c:ext>
          </c:extLst>
        </c:ser>
        <c:ser>
          <c:idx val="1"/>
          <c:order val="1"/>
          <c:tx>
            <c:strRef>
              <c:f>Hoja1!$C$1</c:f>
              <c:strCache>
                <c:ptCount val="1"/>
                <c:pt idx="0">
                  <c:v>Serie 2</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83E-41BC-A883-1154F4D5240C}"/>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83E-41BC-A883-1154F4D5240C}"/>
            </c:ext>
          </c:extLst>
        </c:ser>
        <c:dLbls>
          <c:showLegendKey val="0"/>
          <c:showVal val="0"/>
          <c:showCatName val="0"/>
          <c:showSerName val="0"/>
          <c:showPercent val="0"/>
          <c:showBubbleSize val="0"/>
        </c:dLbls>
        <c:gapWidth val="150"/>
        <c:overlap val="100"/>
        <c:axId val="1890469792"/>
        <c:axId val="1890462112"/>
      </c:barChart>
      <c:catAx>
        <c:axId val="18904697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2112"/>
        <c:crosses val="autoZero"/>
        <c:auto val="1"/>
        <c:lblAlgn val="ctr"/>
        <c:lblOffset val="100"/>
        <c:noMultiLvlLbl val="0"/>
      </c:catAx>
      <c:valAx>
        <c:axId val="1890462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9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MMQ</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C5E-4810-97DA-E5C595CFB7D6}"/>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C5E-4810-97DA-E5C595CFB7D6}"/>
            </c:ext>
          </c:extLst>
        </c:ser>
        <c:ser>
          <c:idx val="2"/>
          <c:order val="2"/>
          <c:tx>
            <c:strRef>
              <c:f>Hoja1!$D$1</c:f>
              <c:strCache>
                <c:ptCount val="1"/>
                <c:pt idx="0">
                  <c:v>Serie 3</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C5E-4810-97DA-E5C595CFB7D6}"/>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FF7016"/>
              </a:solidFill>
              <a:ln w="19050">
                <a:solidFill>
                  <a:schemeClr val="lt1"/>
                </a:solidFill>
              </a:ln>
              <a:effectLst/>
            </c:spPr>
            <c:extLst>
              <c:ext xmlns:c16="http://schemas.microsoft.com/office/drawing/2014/chart" uri="{C3380CC4-5D6E-409C-BE32-E72D297353CC}">
                <c16:uniqueId val="{00000001-1981-4F7B-88A8-9F40F24EFCB7}"/>
              </c:ext>
            </c:extLst>
          </c:dPt>
          <c:dPt>
            <c:idx val="1"/>
            <c:bubble3D val="0"/>
            <c:spPr>
              <a:solidFill>
                <a:srgbClr val="0074BF"/>
              </a:solidFill>
              <a:ln w="19050">
                <a:solidFill>
                  <a:schemeClr val="lt1"/>
                </a:solidFill>
              </a:ln>
              <a:effectLst/>
            </c:spPr>
            <c:extLst>
              <c:ext xmlns:c16="http://schemas.microsoft.com/office/drawing/2014/chart" uri="{C3380CC4-5D6E-409C-BE32-E72D297353CC}">
                <c16:uniqueId val="{00000003-1981-4F7B-88A8-9F40F24EFCB7}"/>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1981-4F7B-88A8-9F40F24EFCB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981-4F7B-88A8-9F40F24EFCB7}"/>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981-4F7B-88A8-9F40F24EFCB7}"/>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EBB-4D85-9960-93046E19B42E}"/>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EBB-4D85-9960-93046E19B42E}"/>
            </c:ext>
          </c:extLst>
        </c:ser>
        <c:ser>
          <c:idx val="2"/>
          <c:order val="2"/>
          <c:tx>
            <c:strRef>
              <c:f>Hoja1!$D$1</c:f>
              <c:strCache>
                <c:ptCount val="1"/>
                <c:pt idx="0">
                  <c:v>Serie 3</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EBB-4D85-9960-93046E19B42E}"/>
            </c:ext>
          </c:extLst>
        </c:ser>
        <c:dLbls>
          <c:showLegendKey val="0"/>
          <c:showVal val="0"/>
          <c:showCatName val="0"/>
          <c:showSerName val="0"/>
          <c:showPercent val="0"/>
          <c:showBubbleSize val="0"/>
        </c:dLbls>
        <c:gapWidth val="150"/>
        <c:overlap val="100"/>
        <c:axId val="1890447712"/>
        <c:axId val="1890444832"/>
      </c:barChart>
      <c:catAx>
        <c:axId val="189044771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4832"/>
        <c:crosses val="autoZero"/>
        <c:auto val="1"/>
        <c:lblAlgn val="ctr"/>
        <c:lblOffset val="100"/>
        <c:noMultiLvlLbl val="0"/>
      </c:catAx>
      <c:valAx>
        <c:axId val="1890444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7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1" name="Google Shape;21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E59A421F-4CA2-E1A1-9DA2-72155C5B2230}"/>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2051CA14-26EF-F3C9-0A8E-4B54FF726CA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BB64A1D-6677-25EA-F54A-6E1F52E1FBD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996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1CC8C9-3BBE-A303-D516-02AF57A53CF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3229FA16-45CE-4F90-A0DC-A41C16A3AD40}"/>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F3E5F29-4E15-64C8-2F90-823F82EAAA7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0293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F1DD641-7095-D9DC-B95B-67530045BA18}"/>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657416-B473-1D6E-838D-349D792C75E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A407143-9587-137E-94DC-57210FAD99DB}"/>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965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53" name="Google Shape;253;p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1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F812BA8-8D1C-6CBC-D932-8F59A8C5B7A7}"/>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091DAA-B098-7C5A-A182-36729EEAA43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E611C7AA-5802-3FB1-4504-5CB07EB26745}"/>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1219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1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9527CCE-E241-CAA1-A1D3-ACD3693CDB09}"/>
            </a:ext>
          </a:extLst>
        </p:cNvPr>
        <p:cNvGrpSpPr/>
        <p:nvPr/>
      </p:nvGrpSpPr>
      <p:grpSpPr>
        <a:xfrm>
          <a:off x="0" y="0"/>
          <a:ext cx="0" cy="0"/>
          <a:chOff x="0" y="0"/>
          <a:chExt cx="0" cy="0"/>
        </a:xfrm>
      </p:grpSpPr>
      <p:sp>
        <p:nvSpPr>
          <p:cNvPr id="298" name="Google Shape;298;p13:notes">
            <a:extLst>
              <a:ext uri="{FF2B5EF4-FFF2-40B4-BE49-F238E27FC236}">
                <a16:creationId xmlns:a16="http://schemas.microsoft.com/office/drawing/2014/main" id="{1BEC1EDF-ED27-328B-93A9-B008DC9FEF4D}"/>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3:notes">
            <a:extLst>
              <a:ext uri="{FF2B5EF4-FFF2-40B4-BE49-F238E27FC236}">
                <a16:creationId xmlns:a16="http://schemas.microsoft.com/office/drawing/2014/main" id="{8EF1E245-0E57-35B1-22CD-F8361C3ECC09}"/>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1559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0E3C0941-896E-C8CA-C606-A263148A9F36}"/>
            </a:ext>
          </a:extLst>
        </p:cNvPr>
        <p:cNvGrpSpPr/>
        <p:nvPr/>
      </p:nvGrpSpPr>
      <p:grpSpPr>
        <a:xfrm>
          <a:off x="0" y="0"/>
          <a:ext cx="0" cy="0"/>
          <a:chOff x="0" y="0"/>
          <a:chExt cx="0" cy="0"/>
        </a:xfrm>
      </p:grpSpPr>
      <p:sp>
        <p:nvSpPr>
          <p:cNvPr id="305" name="Google Shape;305;p14:notes">
            <a:extLst>
              <a:ext uri="{FF2B5EF4-FFF2-40B4-BE49-F238E27FC236}">
                <a16:creationId xmlns:a16="http://schemas.microsoft.com/office/drawing/2014/main" id="{67CB0F63-B3EA-559A-B650-DF872B5AA70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14:notes">
            <a:extLst>
              <a:ext uri="{FF2B5EF4-FFF2-40B4-BE49-F238E27FC236}">
                <a16:creationId xmlns:a16="http://schemas.microsoft.com/office/drawing/2014/main" id="{3342C64B-5AC1-C24C-FB2B-1279362C41BE}"/>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8641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2D4F856A-CE99-7485-A0B7-8FD7B4290A1E}"/>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49798AB8-413A-3F2C-7F96-5702B44E09A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6FE5AA7-DC92-D325-2CE7-A9D520B1230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153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6: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6: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1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2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2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39CA8C5-7832-719D-4525-A04BD67ABA1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95E48C49-D6A2-6231-ACBC-6B79FC984FA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5A4FFDF-8D6C-E6D3-CC6E-380480A9BDE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585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9B254619-6DCD-9132-125E-CD575829F047}"/>
            </a:ext>
          </a:extLst>
        </p:cNvPr>
        <p:cNvGrpSpPr/>
        <p:nvPr/>
      </p:nvGrpSpPr>
      <p:grpSpPr>
        <a:xfrm>
          <a:off x="0" y="0"/>
          <a:ext cx="0" cy="0"/>
          <a:chOff x="0" y="0"/>
          <a:chExt cx="0" cy="0"/>
        </a:xfrm>
      </p:grpSpPr>
      <p:sp>
        <p:nvSpPr>
          <p:cNvPr id="372" name="Google Shape;372;p24:notes">
            <a:extLst>
              <a:ext uri="{FF2B5EF4-FFF2-40B4-BE49-F238E27FC236}">
                <a16:creationId xmlns:a16="http://schemas.microsoft.com/office/drawing/2014/main" id="{B6039DC2-D822-FF10-70A0-74AA1E2A1A9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24:notes">
            <a:extLst>
              <a:ext uri="{FF2B5EF4-FFF2-40B4-BE49-F238E27FC236}">
                <a16:creationId xmlns:a16="http://schemas.microsoft.com/office/drawing/2014/main" id="{2D9F2CA5-7842-21B0-99C0-660FFEBCBFE4}"/>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1048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73" name="Google Shape;373;p2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2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2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3FE2F9C-C37B-D809-F0A7-B9EDC9561C7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26668F6-455A-E2AE-B96A-EE4B159D610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65244A88-E7C8-1E08-7C90-7BB8648CFD83}"/>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9408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2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C264797E-343C-EFAC-E5E4-7144913B32B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C8C2F813-C534-59D2-72DD-5024AA38AEA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3CADE64-C5C5-C88F-E7FF-1A6929F28C3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372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3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3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3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3" name="Google Shape;443;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38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C1C0580-06A1-D21B-6BAF-47B6D45BFE79}"/>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14091CE-3F58-99B0-737A-8368A51EDE2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CA807973-82CF-CEC7-5A8E-69431D90A9A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83933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3369F362-F4C6-12B7-ECD1-D308B4865564}"/>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CCC00660-C0B5-16F5-DBB0-0BEC2816AD1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F2BBD5C8-1637-4A7F-AFAC-5C519EE4521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9906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2A4361-7816-9769-1B48-A43D40355D7F}"/>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C72461D-B107-E55D-3125-DE745FFA81C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454DDC4-8FCB-58B3-49DB-E95E74B3ACA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77374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3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3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4D19BCD7-460F-C3A9-42ED-1B4C9B701CCB}"/>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E0E8FF5D-C204-8CCD-E5ED-A6FEB001C94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5E240E1C-F265-B7A7-FF9E-9D04E7CF070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11675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C3475810-034E-1D38-8066-83DD8B76F0EF}"/>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304EA81B-82B8-BEBE-742D-70E1EF542AA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45E7B4B2-E67D-583F-3610-853AE2F8D40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12678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9A040A0C-4AE3-D3B3-B9C9-8320050ECE8C}"/>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82122D5A-581F-8EB0-7229-97615181630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D0DD008-DFDF-44D6-6687-246DDAB2F93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47607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3E40192-3A1D-4366-84BE-08D1B996CD9D}"/>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B139E11E-E640-58D2-8319-DBE811A48E2E}"/>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679EBFEA-B961-64B5-3BF8-631C10C3150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0412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A81DE44A-C7F4-1F95-7671-83DC70C7A442}"/>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CF94DC9C-4FD9-7F7E-59A5-569518E6BE3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45E7E4B9-351F-DF7F-11BF-D25EC20E5ED6}"/>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28539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62CC34D9-0734-5C9E-D62E-7A46C7CD3A91}"/>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ADB0B909-218B-A01F-CA15-2F15C8FB3226}"/>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28C4D9A6-7C76-A681-ED4C-7B1DA49AFF5E}"/>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3686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8172DA3-DFD9-E168-517B-C3E6192E80B5}"/>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230230BB-F85E-DA70-A891-1467EC19F12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9725F19-BA93-F179-574E-F3EC21CBC4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7190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5CBBBD0C-C0C6-EBEF-82F6-FA149EDA0C6E}"/>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13BD9216-1A83-001B-C379-B7980F59221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76B1CF5-E37B-AABE-B3DF-66AD1FE739A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15206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6703C874-2927-EA1F-A6D3-2F8D188C71A9}"/>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F818EB23-DA8A-A1F4-A2D3-1D733B8E0851}"/>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3A3FF3B6-6B2C-A851-4EAA-3760BCE2CA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3774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2F1BB4F3-2ADD-8292-39D0-260647FD054D}"/>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7B262524-3138-A6F5-CE16-BCD935035D5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EF659473-3F7F-EA8F-DFAF-BF71546DF96A}"/>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88247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0DDC7A63-5C0D-EFAD-56D8-B16D0E84C0BA}"/>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36F7CA0D-7D92-892D-0533-99ED73DF418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3A10963B-EDCF-446B-D8E9-FE32BDEE20C3}"/>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83814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F6E491FB-393E-FB99-89BC-A07EBA17E703}"/>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76D2F70E-4E83-C183-AC5A-40560FC86C6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A38DE57-A197-6686-41DF-F9782C82BF3A}"/>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4956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4" name="Google Shape;624;p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5" name="Google Shape;625;p5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59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F4E92A06-1476-0A30-0482-AD4253CFB62F}"/>
            </a:ext>
          </a:extLst>
        </p:cNvPr>
        <p:cNvGrpSpPr/>
        <p:nvPr/>
      </p:nvGrpSpPr>
      <p:grpSpPr>
        <a:xfrm>
          <a:off x="0" y="0"/>
          <a:ext cx="0" cy="0"/>
          <a:chOff x="0" y="0"/>
          <a:chExt cx="0" cy="0"/>
        </a:xfrm>
      </p:grpSpPr>
      <p:sp>
        <p:nvSpPr>
          <p:cNvPr id="486" name="Google Shape;486;p38:notes">
            <a:extLst>
              <a:ext uri="{FF2B5EF4-FFF2-40B4-BE49-F238E27FC236}">
                <a16:creationId xmlns:a16="http://schemas.microsoft.com/office/drawing/2014/main" id="{F6495F03-0AC8-88A5-2EB7-45FAE1723BD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a:extLst>
              <a:ext uri="{FF2B5EF4-FFF2-40B4-BE49-F238E27FC236}">
                <a16:creationId xmlns:a16="http://schemas.microsoft.com/office/drawing/2014/main" id="{82B99D5C-99E9-7214-FAC7-7DE6D32E4EC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90521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3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3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4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4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4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4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4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4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4" name="Google Shape;544;p4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4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4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4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4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5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4" name="Google Shape;584;p5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5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2" name="Google Shape;592;p5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5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8" name="Google Shape;608;p5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p5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4" name="Google Shape;634;p56: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2" name="Google Shape;672;p5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s-CL" sz="1800">
                <a:solidFill>
                  <a:schemeClr val="dk1"/>
                </a:solidFill>
                <a:latin typeface="Calibri"/>
                <a:ea typeface="Calibri"/>
                <a:cs typeface="Calibri"/>
                <a:sym typeface="Calibri"/>
              </a:rPr>
              <a:t>82</a:t>
            </a:fld>
            <a:endParaRPr sz="1800">
              <a:solidFill>
                <a:schemeClr val="dk1"/>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5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4" name="Google Shape;774;p58: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5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5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6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6" name="Google Shape;806;p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7" name="Google Shape;807;p6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fld id="{00000000-1234-1234-1234-123412341234}" type="slidenum">
              <a:rPr lang="es-CL" sz="1800" b="0" i="0" u="none" strike="noStrike" cap="none">
                <a:solidFill>
                  <a:srgbClr val="000000"/>
                </a:solidFill>
                <a:latin typeface="Calibri"/>
                <a:ea typeface="Calibri"/>
                <a:cs typeface="Calibri"/>
                <a:sym typeface="Calibri"/>
              </a:rPr>
              <a:t>85</a:t>
            </a:fld>
            <a:endParaRPr sz="18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chart" Target="../charts/chart3.xml"/></Relationships>
</file>

<file path=ppt/slideLayouts/_rels/slideLayout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chart" Target="../charts/chart6.xml"/><Relationship Id="rId4" Type="http://schemas.openxmlformats.org/officeDocument/2006/relationships/chart" Target="../charts/chart5.xml"/></Relationships>
</file>

<file path=ppt/slideLayouts/_rels/slideLayout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chart" Target="../charts/chart9.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Diapositiva de título">
  <p:cSld name="1_Diapositiva de título">
    <p:spTree>
      <p:nvGrpSpPr>
        <p:cNvPr id="1" name="Shape 11"/>
        <p:cNvGrpSpPr/>
        <p:nvPr/>
      </p:nvGrpSpPr>
      <p:grpSpPr>
        <a:xfrm>
          <a:off x="0" y="0"/>
          <a:ext cx="0" cy="0"/>
          <a:chOff x="0" y="0"/>
          <a:chExt cx="0" cy="0"/>
        </a:xfrm>
      </p:grpSpPr>
      <p:sp>
        <p:nvSpPr>
          <p:cNvPr id="12" name="Google Shape;12;p62"/>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3" name="Google Shape;13;p62"/>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4" name="Google Shape;14;p62"/>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5" name="Google Shape;15;p62"/>
          <p:cNvSpPr txBox="1">
            <a:spLocks noGrp="1"/>
          </p:cNvSpPr>
          <p:nvPr>
            <p:ph type="ctrTitle"/>
          </p:nvPr>
        </p:nvSpPr>
        <p:spPr>
          <a:xfrm>
            <a:off x="304554" y="1164614"/>
            <a:ext cx="9211492" cy="702104"/>
          </a:xfrm>
          <a:prstGeom prst="rect">
            <a:avLst/>
          </a:prstGeom>
          <a:solidFill>
            <a:schemeClr val="lt2">
              <a:alpha val="74118"/>
            </a:schemeClr>
          </a:solidFill>
          <a:ln>
            <a:noFill/>
          </a:ln>
        </p:spPr>
        <p:txBody>
          <a:bodyPr spcFirstLastPara="1" wrap="square" lIns="73325" tIns="73325" rIns="73325" bIns="73325" anchor="t" anchorCtr="0">
            <a:spAutoFit/>
          </a:bodyPr>
          <a:lstStyle>
            <a:lvl1pPr lvl="0" algn="l">
              <a:spcBef>
                <a:spcPts val="0"/>
              </a:spcBef>
              <a:spcAft>
                <a:spcPts val="0"/>
              </a:spcAft>
              <a:buSzPts val="1400"/>
              <a:buNone/>
              <a:defRPr sz="3600" b="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2"/>
          <p:cNvSpPr txBox="1">
            <a:spLocks noGrp="1"/>
          </p:cNvSpPr>
          <p:nvPr>
            <p:ph type="subTitle" idx="1"/>
          </p:nvPr>
        </p:nvSpPr>
        <p:spPr>
          <a:xfrm>
            <a:off x="961120" y="5044946"/>
            <a:ext cx="6714779"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600">
                <a:latin typeface="Calibri"/>
                <a:ea typeface="Calibri"/>
                <a:cs typeface="Calibri"/>
                <a:sym typeface="Calibri"/>
              </a:defRPr>
            </a:lvl1pPr>
            <a:lvl2pPr lvl="1" algn="l">
              <a:spcBef>
                <a:spcPts val="0"/>
              </a:spcBef>
              <a:spcAft>
                <a:spcPts val="0"/>
              </a:spcAft>
              <a:buSzPts val="2250"/>
              <a:buChar char="▪"/>
              <a:defRPr/>
            </a:lvl2pPr>
            <a:lvl3pPr lvl="2" algn="l">
              <a:spcBef>
                <a:spcPts val="0"/>
              </a:spcBef>
              <a:spcAft>
                <a:spcPts val="0"/>
              </a:spcAft>
              <a:buSzPts val="2160"/>
              <a:buChar char="–"/>
              <a:defRPr/>
            </a:lvl3pPr>
            <a:lvl4pPr lvl="3" algn="l">
              <a:spcBef>
                <a:spcPts val="0"/>
              </a:spcBef>
              <a:spcAft>
                <a:spcPts val="0"/>
              </a:spcAft>
              <a:buSzPts val="2160"/>
              <a:buChar char="▫"/>
              <a:defRPr/>
            </a:lvl4pPr>
            <a:lvl5pPr lvl="4" algn="l">
              <a:spcBef>
                <a:spcPts val="0"/>
              </a:spcBef>
              <a:spcAft>
                <a:spcPts val="0"/>
              </a:spcAft>
              <a:buSzPts val="1602"/>
              <a:buChar char="-"/>
              <a:defRPr/>
            </a:lvl5pPr>
            <a:lvl6pPr lvl="5" algn="l">
              <a:spcBef>
                <a:spcPts val="0"/>
              </a:spcBef>
              <a:spcAft>
                <a:spcPts val="0"/>
              </a:spcAft>
              <a:buSzPts val="1602"/>
              <a:buChar char="-"/>
              <a:defRPr/>
            </a:lvl6pPr>
            <a:lvl7pPr lvl="6" algn="l">
              <a:spcBef>
                <a:spcPts val="0"/>
              </a:spcBef>
              <a:spcAft>
                <a:spcPts val="0"/>
              </a:spcAft>
              <a:buSzPts val="1602"/>
              <a:buChar char="-"/>
              <a:defRPr/>
            </a:lvl7pPr>
            <a:lvl8pPr lvl="7" algn="l">
              <a:spcBef>
                <a:spcPts val="0"/>
              </a:spcBef>
              <a:spcAft>
                <a:spcPts val="0"/>
              </a:spcAft>
              <a:buSzPts val="1602"/>
              <a:buChar char="-"/>
              <a:defRPr/>
            </a:lvl8pPr>
            <a:lvl9pPr lvl="8" algn="l">
              <a:spcBef>
                <a:spcPts val="0"/>
              </a:spcBef>
              <a:spcAft>
                <a:spcPts val="0"/>
              </a:spcAft>
              <a:buSzPts val="1602"/>
              <a:buChar char="-"/>
              <a:defRPr/>
            </a:lvl9pPr>
          </a:lstStyle>
          <a:p>
            <a:endParaRPr/>
          </a:p>
        </p:txBody>
      </p:sp>
      <p:pic>
        <p:nvPicPr>
          <p:cNvPr id="17" name="Google Shape;17;p62"/>
          <p:cNvPicPr preferRelativeResize="0"/>
          <p:nvPr/>
        </p:nvPicPr>
        <p:blipFill rotWithShape="1">
          <a:blip r:embed="rId2">
            <a:alphaModFix/>
          </a:blip>
          <a:srcRect/>
          <a:stretch/>
        </p:blipFill>
        <p:spPr>
          <a:xfrm>
            <a:off x="10032438" y="2787731"/>
            <a:ext cx="1863983" cy="123558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p:cSld name="Diapositiva de título">
    <p:spTree>
      <p:nvGrpSpPr>
        <p:cNvPr id="1" name="Shape 18"/>
        <p:cNvGrpSpPr/>
        <p:nvPr/>
      </p:nvGrpSpPr>
      <p:grpSpPr>
        <a:xfrm>
          <a:off x="0" y="0"/>
          <a:ext cx="0" cy="0"/>
          <a:chOff x="0" y="0"/>
          <a:chExt cx="0" cy="0"/>
        </a:xfrm>
      </p:grpSpPr>
      <p:sp>
        <p:nvSpPr>
          <p:cNvPr id="19" name="Google Shape;19;p87"/>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0" name="Google Shape;20;p87"/>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1" name="Google Shape;21;p87"/>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pic>
        <p:nvPicPr>
          <p:cNvPr id="22" name="Google Shape;22;p87"/>
          <p:cNvPicPr preferRelativeResize="0"/>
          <p:nvPr/>
        </p:nvPicPr>
        <p:blipFill rotWithShape="1">
          <a:blip r:embed="rId2">
            <a:alphaModFix/>
          </a:blip>
          <a:srcRect/>
          <a:stretch/>
        </p:blipFill>
        <p:spPr>
          <a:xfrm>
            <a:off x="2376597" y="5048676"/>
            <a:ext cx="2223747" cy="766810"/>
          </a:xfrm>
          <a:prstGeom prst="rect">
            <a:avLst/>
          </a:prstGeom>
          <a:noFill/>
          <a:ln>
            <a:noFill/>
          </a:ln>
        </p:spPr>
      </p:pic>
      <p:pic>
        <p:nvPicPr>
          <p:cNvPr id="23" name="Google Shape;23;p87"/>
          <p:cNvPicPr preferRelativeResize="0"/>
          <p:nvPr/>
        </p:nvPicPr>
        <p:blipFill rotWithShape="1">
          <a:blip r:embed="rId3">
            <a:alphaModFix/>
          </a:blip>
          <a:srcRect/>
          <a:stretch/>
        </p:blipFill>
        <p:spPr>
          <a:xfrm>
            <a:off x="7752184" y="5188802"/>
            <a:ext cx="1744452" cy="486559"/>
          </a:xfrm>
          <a:prstGeom prst="rect">
            <a:avLst/>
          </a:prstGeom>
          <a:noFill/>
          <a:ln>
            <a:noFill/>
          </a:ln>
        </p:spPr>
      </p:pic>
      <p:pic>
        <p:nvPicPr>
          <p:cNvPr id="24" name="Google Shape;24;p87"/>
          <p:cNvPicPr preferRelativeResize="0"/>
          <p:nvPr/>
        </p:nvPicPr>
        <p:blipFill rotWithShape="1">
          <a:blip r:embed="rId4">
            <a:alphaModFix/>
          </a:blip>
          <a:srcRect/>
          <a:stretch/>
        </p:blipFill>
        <p:spPr>
          <a:xfrm>
            <a:off x="5441133" y="4906988"/>
            <a:ext cx="1470262" cy="10501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5"/>
        <p:cNvGrpSpPr/>
        <p:nvPr/>
      </p:nvGrpSpPr>
      <p:grpSpPr>
        <a:xfrm>
          <a:off x="0" y="0"/>
          <a:ext cx="0" cy="0"/>
          <a:chOff x="0" y="0"/>
          <a:chExt cx="0" cy="0"/>
        </a:xfrm>
      </p:grpSpPr>
      <p:sp>
        <p:nvSpPr>
          <p:cNvPr id="26" name="Google Shape;26;p88"/>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88"/>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8"/>
        <p:cNvGrpSpPr/>
        <p:nvPr/>
      </p:nvGrpSpPr>
      <p:grpSpPr>
        <a:xfrm>
          <a:off x="0" y="0"/>
          <a:ext cx="0" cy="0"/>
          <a:chOff x="0" y="0"/>
          <a:chExt cx="0" cy="0"/>
        </a:xfrm>
      </p:grpSpPr>
      <p:sp>
        <p:nvSpPr>
          <p:cNvPr id="29" name="Google Shape;29;p89"/>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0"/>
        <p:cNvGrpSpPr/>
        <p:nvPr/>
      </p:nvGrpSpPr>
      <p:grpSpPr>
        <a:xfrm>
          <a:off x="0" y="0"/>
          <a:ext cx="0" cy="0"/>
          <a:chOff x="0" y="0"/>
          <a:chExt cx="0" cy="0"/>
        </a:xfrm>
      </p:grpSpPr>
      <p:sp>
        <p:nvSpPr>
          <p:cNvPr id="31" name="Google Shape;31;p90"/>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0"/>
          <p:cNvSpPr txBox="1">
            <a:spLocks noGrp="1"/>
          </p:cNvSpPr>
          <p:nvPr>
            <p:ph type="body" idx="1"/>
          </p:nvPr>
        </p:nvSpPr>
        <p:spPr>
          <a:xfrm>
            <a:off x="719403" y="1694212"/>
            <a:ext cx="5853024" cy="1354217"/>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371475" algn="l">
              <a:spcBef>
                <a:spcPts val="0"/>
              </a:spcBef>
              <a:spcAft>
                <a:spcPts val="0"/>
              </a:spcAft>
              <a:buSzPts val="2250"/>
              <a:buChar char="▪"/>
              <a:defRPr/>
            </a:lvl2pPr>
            <a:lvl3pPr marL="1371600" lvl="2" indent="-365760" algn="l">
              <a:spcBef>
                <a:spcPts val="0"/>
              </a:spcBef>
              <a:spcAft>
                <a:spcPts val="0"/>
              </a:spcAft>
              <a:buSzPts val="2160"/>
              <a:buChar char="–"/>
              <a:defRPr/>
            </a:lvl3pPr>
            <a:lvl4pPr marL="1828800" lvl="3" indent="-365760" algn="l">
              <a:spcBef>
                <a:spcPts val="0"/>
              </a:spcBef>
              <a:spcAft>
                <a:spcPts val="0"/>
              </a:spcAft>
              <a:buSzPts val="2160"/>
              <a:buChar char="▫"/>
              <a:defRPr/>
            </a:lvl4pPr>
            <a:lvl5pPr marL="2286000" lvl="4" indent="-330327" algn="l">
              <a:spcBef>
                <a:spcPts val="0"/>
              </a:spcBef>
              <a:spcAft>
                <a:spcPts val="0"/>
              </a:spcAft>
              <a:buSzPts val="1602"/>
              <a:buChar char="-"/>
              <a:defRPr/>
            </a:lvl5pPr>
            <a:lvl6pPr marL="2743200" lvl="5" indent="-330327" algn="l">
              <a:spcBef>
                <a:spcPts val="0"/>
              </a:spcBef>
              <a:spcAft>
                <a:spcPts val="0"/>
              </a:spcAft>
              <a:buSzPts val="1602"/>
              <a:buChar char="-"/>
              <a:defRPr/>
            </a:lvl6pPr>
            <a:lvl7pPr marL="3200400" lvl="6" indent="-330327" algn="l">
              <a:spcBef>
                <a:spcPts val="0"/>
              </a:spcBef>
              <a:spcAft>
                <a:spcPts val="0"/>
              </a:spcAft>
              <a:buSzPts val="1602"/>
              <a:buChar char="-"/>
              <a:defRPr/>
            </a:lvl7pPr>
            <a:lvl8pPr marL="3657600" lvl="7" indent="-330327" algn="l">
              <a:spcBef>
                <a:spcPts val="0"/>
              </a:spcBef>
              <a:spcAft>
                <a:spcPts val="0"/>
              </a:spcAft>
              <a:buSzPts val="1602"/>
              <a:buChar char="-"/>
              <a:defRPr/>
            </a:lvl8pPr>
            <a:lvl9pPr marL="4114800" lvl="8" indent="-330327" algn="l">
              <a:spcBef>
                <a:spcPts val="0"/>
              </a:spcBef>
              <a:spcAft>
                <a:spcPts val="0"/>
              </a:spcAft>
              <a:buSzPts val="1602"/>
              <a:buChar char="-"/>
              <a:defRPr/>
            </a:lvl9pPr>
          </a:lstStyle>
          <a:p>
            <a:endParaRPr/>
          </a:p>
        </p:txBody>
      </p:sp>
      <p:sp>
        <p:nvSpPr>
          <p:cNvPr id="33" name="Google Shape;33;p9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4" name="Google Shape;34;p9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9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33448D"/>
                </a:solidFill>
                <a:latin typeface="Arial"/>
                <a:ea typeface="Arial"/>
                <a:cs typeface="Arial"/>
                <a:sym typeface="Arial"/>
              </a:defRPr>
            </a:lvl1pPr>
            <a:lvl2pPr marL="0" marR="0" lvl="1" indent="0" algn="l" rtl="0">
              <a:spcBef>
                <a:spcPts val="0"/>
              </a:spcBef>
              <a:buNone/>
              <a:defRPr sz="1800">
                <a:solidFill>
                  <a:srgbClr val="33448D"/>
                </a:solidFill>
                <a:latin typeface="Arial"/>
                <a:ea typeface="Arial"/>
                <a:cs typeface="Arial"/>
                <a:sym typeface="Arial"/>
              </a:defRPr>
            </a:lvl2pPr>
            <a:lvl3pPr marL="0" marR="0" lvl="2" indent="0" algn="l" rtl="0">
              <a:spcBef>
                <a:spcPts val="0"/>
              </a:spcBef>
              <a:buNone/>
              <a:defRPr sz="1800">
                <a:solidFill>
                  <a:srgbClr val="33448D"/>
                </a:solidFill>
                <a:latin typeface="Arial"/>
                <a:ea typeface="Arial"/>
                <a:cs typeface="Arial"/>
                <a:sym typeface="Arial"/>
              </a:defRPr>
            </a:lvl3pPr>
            <a:lvl4pPr marL="0" marR="0" lvl="3" indent="0" algn="l" rtl="0">
              <a:spcBef>
                <a:spcPts val="0"/>
              </a:spcBef>
              <a:buNone/>
              <a:defRPr sz="1800">
                <a:solidFill>
                  <a:srgbClr val="33448D"/>
                </a:solidFill>
                <a:latin typeface="Arial"/>
                <a:ea typeface="Arial"/>
                <a:cs typeface="Arial"/>
                <a:sym typeface="Arial"/>
              </a:defRPr>
            </a:lvl4pPr>
            <a:lvl5pPr marL="0" marR="0" lvl="4" indent="0" algn="l" rtl="0">
              <a:spcBef>
                <a:spcPts val="0"/>
              </a:spcBef>
              <a:buNone/>
              <a:defRPr sz="1800">
                <a:solidFill>
                  <a:srgbClr val="33448D"/>
                </a:solidFill>
                <a:latin typeface="Arial"/>
                <a:ea typeface="Arial"/>
                <a:cs typeface="Arial"/>
                <a:sym typeface="Arial"/>
              </a:defRPr>
            </a:lvl5pPr>
            <a:lvl6pPr marL="0" marR="0" lvl="5" indent="0" algn="l" rtl="0">
              <a:spcBef>
                <a:spcPts val="0"/>
              </a:spcBef>
              <a:buNone/>
              <a:defRPr sz="1800">
                <a:solidFill>
                  <a:srgbClr val="33448D"/>
                </a:solidFill>
                <a:latin typeface="Arial"/>
                <a:ea typeface="Arial"/>
                <a:cs typeface="Arial"/>
                <a:sym typeface="Arial"/>
              </a:defRPr>
            </a:lvl6pPr>
            <a:lvl7pPr marL="0" marR="0" lvl="6" indent="0" algn="l" rtl="0">
              <a:spcBef>
                <a:spcPts val="0"/>
              </a:spcBef>
              <a:buNone/>
              <a:defRPr sz="1800">
                <a:solidFill>
                  <a:srgbClr val="33448D"/>
                </a:solidFill>
                <a:latin typeface="Arial"/>
                <a:ea typeface="Arial"/>
                <a:cs typeface="Arial"/>
                <a:sym typeface="Arial"/>
              </a:defRPr>
            </a:lvl7pPr>
            <a:lvl8pPr marL="0" marR="0" lvl="7" indent="0" algn="l" rtl="0">
              <a:spcBef>
                <a:spcPts val="0"/>
              </a:spcBef>
              <a:buNone/>
              <a:defRPr sz="1800">
                <a:solidFill>
                  <a:srgbClr val="33448D"/>
                </a:solidFill>
                <a:latin typeface="Arial"/>
                <a:ea typeface="Arial"/>
                <a:cs typeface="Arial"/>
                <a:sym typeface="Arial"/>
              </a:defRPr>
            </a:lvl8pPr>
            <a:lvl9pPr marL="0" marR="0" lvl="8" indent="0" algn="l" rtl="0">
              <a:spcBef>
                <a:spcPts val="0"/>
              </a:spcBef>
              <a:buNone/>
              <a:defRPr sz="1800">
                <a:solidFill>
                  <a:srgbClr val="33448D"/>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CL"/>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bg>
      <p:bgPr>
        <a:solidFill>
          <a:schemeClr val="dk1"/>
        </a:solidFill>
        <a:effectLst/>
      </p:bgPr>
    </p:bg>
    <p:spTree>
      <p:nvGrpSpPr>
        <p:cNvPr id="1" name="Shape 42"/>
        <p:cNvGrpSpPr/>
        <p:nvPr/>
      </p:nvGrpSpPr>
      <p:grpSpPr>
        <a:xfrm>
          <a:off x="0" y="0"/>
          <a:ext cx="0" cy="0"/>
          <a:chOff x="0" y="0"/>
          <a:chExt cx="0" cy="0"/>
        </a:xfrm>
      </p:grpSpPr>
      <p:sp>
        <p:nvSpPr>
          <p:cNvPr id="43" name="Google Shape;43;p64"/>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600"/>
              <a:buFont typeface="Play"/>
              <a:buNone/>
              <a:defRPr sz="1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4"/>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lt2"/>
              </a:buClr>
              <a:buSzPts val="1600"/>
              <a:buChar char="•"/>
              <a:defRPr>
                <a:solidFill>
                  <a:schemeClr val="lt2"/>
                </a:solidFill>
              </a:defRPr>
            </a:lvl1pPr>
            <a:lvl2pPr marL="914400" lvl="1" indent="-317500" algn="l">
              <a:lnSpc>
                <a:spcPct val="90000"/>
              </a:lnSpc>
              <a:spcBef>
                <a:spcPts val="500"/>
              </a:spcBef>
              <a:spcAft>
                <a:spcPts val="0"/>
              </a:spcAft>
              <a:buClr>
                <a:schemeClr val="lt2"/>
              </a:buClr>
              <a:buSzPts val="1400"/>
              <a:buChar char="•"/>
              <a:defRPr>
                <a:solidFill>
                  <a:schemeClr val="lt2"/>
                </a:solidFill>
              </a:defRPr>
            </a:lvl2pPr>
            <a:lvl3pPr marL="1371600" lvl="2" indent="-317500" algn="l">
              <a:lnSpc>
                <a:spcPct val="90000"/>
              </a:lnSpc>
              <a:spcBef>
                <a:spcPts val="500"/>
              </a:spcBef>
              <a:spcAft>
                <a:spcPts val="0"/>
              </a:spcAft>
              <a:buClr>
                <a:schemeClr val="lt2"/>
              </a:buClr>
              <a:buSzPts val="1400"/>
              <a:buChar char="•"/>
              <a:defRPr>
                <a:solidFill>
                  <a:schemeClr val="lt2"/>
                </a:solidFill>
              </a:defRPr>
            </a:lvl3pPr>
            <a:lvl4pPr marL="1828800" lvl="3" indent="-317500" algn="l">
              <a:lnSpc>
                <a:spcPct val="90000"/>
              </a:lnSpc>
              <a:spcBef>
                <a:spcPts val="500"/>
              </a:spcBef>
              <a:spcAft>
                <a:spcPts val="0"/>
              </a:spcAft>
              <a:buClr>
                <a:schemeClr val="lt2"/>
              </a:buClr>
              <a:buSzPts val="1400"/>
              <a:buChar char="•"/>
              <a:defRPr>
                <a:solidFill>
                  <a:schemeClr val="lt2"/>
                </a:solidFill>
              </a:defRPr>
            </a:lvl4pPr>
            <a:lvl5pPr marL="2286000" lvl="4" indent="-317500" algn="l">
              <a:lnSpc>
                <a:spcPct val="90000"/>
              </a:lnSpc>
              <a:spcBef>
                <a:spcPts val="500"/>
              </a:spcBef>
              <a:spcAft>
                <a:spcPts val="0"/>
              </a:spcAft>
              <a:buClr>
                <a:schemeClr val="lt2"/>
              </a:buClr>
              <a:buSzPts val="1400"/>
              <a:buChar char="•"/>
              <a:defRPr>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46" name="Google Shape;46;p64"/>
          <p:cNvSpPr/>
          <p:nvPr/>
        </p:nvSpPr>
        <p:spPr>
          <a:xfrm>
            <a:off x="0" y="716439"/>
            <a:ext cx="12192000" cy="54000"/>
          </a:xfrm>
          <a:prstGeom prst="rect">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2"/>
              </a:solidFill>
              <a:latin typeface="Arial"/>
              <a:ea typeface="Arial"/>
              <a:cs typeface="Arial"/>
              <a:sym typeface="Arial"/>
            </a:endParaRPr>
          </a:p>
        </p:txBody>
      </p:sp>
      <p:pic>
        <p:nvPicPr>
          <p:cNvPr id="47" name="Google Shape;47;p64" descr="Logotipo&#10;&#10;Descripción generada automáticamente con confianza media"/>
          <p:cNvPicPr preferRelativeResize="0"/>
          <p:nvPr/>
        </p:nvPicPr>
        <p:blipFill rotWithShape="1">
          <a:blip r:embed="rId2">
            <a:alphaModFix/>
          </a:blip>
          <a:srcRect/>
          <a:stretch/>
        </p:blipFill>
        <p:spPr>
          <a:xfrm>
            <a:off x="330200" y="6399764"/>
            <a:ext cx="1223729" cy="278296"/>
          </a:xfrm>
          <a:prstGeom prst="rect">
            <a:avLst/>
          </a:prstGeom>
          <a:noFill/>
          <a:ln>
            <a:noFill/>
          </a:ln>
        </p:spPr>
      </p:pic>
      <p:pic>
        <p:nvPicPr>
          <p:cNvPr id="48" name="Google Shape;48;p64" descr="Logotipo&#10;&#10;Descripción generada automáticamente con confianza media"/>
          <p:cNvPicPr preferRelativeResize="0"/>
          <p:nvPr/>
        </p:nvPicPr>
        <p:blipFill rotWithShape="1">
          <a:blip r:embed="rId3">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iapositiva de título" type="title">
  <p:cSld name="TITLE">
    <p:bg>
      <p:bgPr>
        <a:solidFill>
          <a:schemeClr val="dk1"/>
        </a:solidFill>
        <a:effectLst/>
      </p:bgPr>
    </p:bg>
    <p:spTree>
      <p:nvGrpSpPr>
        <p:cNvPr id="1" name="Shape 49"/>
        <p:cNvGrpSpPr/>
        <p:nvPr/>
      </p:nvGrpSpPr>
      <p:grpSpPr>
        <a:xfrm>
          <a:off x="0" y="0"/>
          <a:ext cx="0" cy="0"/>
          <a:chOff x="0" y="0"/>
          <a:chExt cx="0" cy="0"/>
        </a:xfrm>
      </p:grpSpPr>
      <p:sp>
        <p:nvSpPr>
          <p:cNvPr id="50" name="Google Shape;50;p65"/>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4400"/>
              <a:buFont typeface="Play"/>
              <a:buNone/>
              <a:defRPr sz="44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5"/>
          <p:cNvSpPr txBox="1">
            <a:spLocks noGrp="1"/>
          </p:cNvSpPr>
          <p:nvPr>
            <p:ph type="subTitle" idx="1"/>
          </p:nvPr>
        </p:nvSpPr>
        <p:spPr>
          <a:xfrm>
            <a:off x="838200" y="3300756"/>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2"/>
              </a:buClr>
              <a:buSzPts val="1600"/>
              <a:buNone/>
              <a:defRPr sz="1600" i="1">
                <a:solidFill>
                  <a:schemeClr val="lt2"/>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2" name="Google Shape;52;p65"/>
          <p:cNvSpPr txBox="1">
            <a:spLocks noGrp="1"/>
          </p:cNvSpPr>
          <p:nvPr>
            <p:ph type="dt" idx="10"/>
          </p:nvPr>
        </p:nvSpPr>
        <p:spPr>
          <a:xfrm>
            <a:off x="9585434" y="5080092"/>
            <a:ext cx="1263869" cy="44288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Arial"/>
                <a:ea typeface="Arial"/>
                <a:cs typeface="Arial"/>
                <a:sym typeface="Arial"/>
              </a:defRPr>
            </a:lvl1pPr>
            <a:lvl2pPr marL="0" lvl="1" indent="0" algn="r">
              <a:spcBef>
                <a:spcPts val="0"/>
              </a:spcBef>
              <a:buNone/>
              <a:defRPr sz="1200">
                <a:solidFill>
                  <a:schemeClr val="lt2"/>
                </a:solidFill>
                <a:latin typeface="Arial"/>
                <a:ea typeface="Arial"/>
                <a:cs typeface="Arial"/>
                <a:sym typeface="Arial"/>
              </a:defRPr>
            </a:lvl2pPr>
            <a:lvl3pPr marL="0" lvl="2" indent="0" algn="r">
              <a:spcBef>
                <a:spcPts val="0"/>
              </a:spcBef>
              <a:buNone/>
              <a:defRPr sz="1200">
                <a:solidFill>
                  <a:schemeClr val="lt2"/>
                </a:solidFill>
                <a:latin typeface="Arial"/>
                <a:ea typeface="Arial"/>
                <a:cs typeface="Arial"/>
                <a:sym typeface="Arial"/>
              </a:defRPr>
            </a:lvl3pPr>
            <a:lvl4pPr marL="0" lvl="3" indent="0" algn="r">
              <a:spcBef>
                <a:spcPts val="0"/>
              </a:spcBef>
              <a:buNone/>
              <a:defRPr sz="1200">
                <a:solidFill>
                  <a:schemeClr val="lt2"/>
                </a:solidFill>
                <a:latin typeface="Arial"/>
                <a:ea typeface="Arial"/>
                <a:cs typeface="Arial"/>
                <a:sym typeface="Arial"/>
              </a:defRPr>
            </a:lvl4pPr>
            <a:lvl5pPr marL="0" lvl="4" indent="0" algn="r">
              <a:spcBef>
                <a:spcPts val="0"/>
              </a:spcBef>
              <a:buNone/>
              <a:defRPr sz="1200">
                <a:solidFill>
                  <a:schemeClr val="lt2"/>
                </a:solidFill>
                <a:latin typeface="Arial"/>
                <a:ea typeface="Arial"/>
                <a:cs typeface="Arial"/>
                <a:sym typeface="Arial"/>
              </a:defRPr>
            </a:lvl5pPr>
            <a:lvl6pPr marL="0" lvl="5" indent="0" algn="r">
              <a:spcBef>
                <a:spcPts val="0"/>
              </a:spcBef>
              <a:buNone/>
              <a:defRPr sz="1200">
                <a:solidFill>
                  <a:schemeClr val="lt2"/>
                </a:solidFill>
                <a:latin typeface="Arial"/>
                <a:ea typeface="Arial"/>
                <a:cs typeface="Arial"/>
                <a:sym typeface="Arial"/>
              </a:defRPr>
            </a:lvl6pPr>
            <a:lvl7pPr marL="0" lvl="6" indent="0" algn="r">
              <a:spcBef>
                <a:spcPts val="0"/>
              </a:spcBef>
              <a:buNone/>
              <a:defRPr sz="1200">
                <a:solidFill>
                  <a:schemeClr val="lt2"/>
                </a:solidFill>
                <a:latin typeface="Arial"/>
                <a:ea typeface="Arial"/>
                <a:cs typeface="Arial"/>
                <a:sym typeface="Arial"/>
              </a:defRPr>
            </a:lvl7pPr>
            <a:lvl8pPr marL="0" lvl="7" indent="0" algn="r">
              <a:spcBef>
                <a:spcPts val="0"/>
              </a:spcBef>
              <a:buNone/>
              <a:defRPr sz="1200">
                <a:solidFill>
                  <a:schemeClr val="lt2"/>
                </a:solidFill>
                <a:latin typeface="Arial"/>
                <a:ea typeface="Arial"/>
                <a:cs typeface="Arial"/>
                <a:sym typeface="Arial"/>
              </a:defRPr>
            </a:lvl8pPr>
            <a:lvl9pPr marL="0" lvl="8" indent="0" algn="r">
              <a:spcBef>
                <a:spcPts val="0"/>
              </a:spcBef>
              <a:buNone/>
              <a:defRPr sz="1200">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54" name="Google Shape;54;p65"/>
          <p:cNvSpPr/>
          <p:nvPr/>
        </p:nvSpPr>
        <p:spPr>
          <a:xfrm>
            <a:off x="0" y="3875730"/>
            <a:ext cx="12192000" cy="933428"/>
          </a:xfrm>
          <a:prstGeom prst="rect">
            <a:avLst/>
          </a:prstGeom>
          <a:solidFill>
            <a:schemeClr val="lt1"/>
          </a:solidFill>
          <a:ln w="1905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5" name="Google Shape;55;p65" descr="Logotipo&#10;&#10;Descripción generada automáticamente"/>
          <p:cNvPicPr preferRelativeResize="0"/>
          <p:nvPr/>
        </p:nvPicPr>
        <p:blipFill rotWithShape="1">
          <a:blip r:embed="rId2">
            <a:alphaModFix/>
          </a:blip>
          <a:srcRect/>
          <a:stretch/>
        </p:blipFill>
        <p:spPr>
          <a:xfrm>
            <a:off x="7346822" y="4068265"/>
            <a:ext cx="1890650" cy="607897"/>
          </a:xfrm>
          <a:prstGeom prst="rect">
            <a:avLst/>
          </a:prstGeom>
          <a:noFill/>
          <a:ln>
            <a:noFill/>
          </a:ln>
        </p:spPr>
      </p:pic>
      <p:pic>
        <p:nvPicPr>
          <p:cNvPr id="56" name="Google Shape;56;p65" descr="Logotipo&#10;&#10;Descripción generada automáticamente"/>
          <p:cNvPicPr preferRelativeResize="0"/>
          <p:nvPr/>
        </p:nvPicPr>
        <p:blipFill rotWithShape="1">
          <a:blip r:embed="rId3">
            <a:alphaModFix/>
          </a:blip>
          <a:srcRect/>
          <a:stretch/>
        </p:blipFill>
        <p:spPr>
          <a:xfrm>
            <a:off x="5304548" y="4127570"/>
            <a:ext cx="1295949" cy="489287"/>
          </a:xfrm>
          <a:prstGeom prst="rect">
            <a:avLst/>
          </a:prstGeom>
          <a:noFill/>
          <a:ln>
            <a:noFill/>
          </a:ln>
        </p:spPr>
      </p:pic>
      <p:pic>
        <p:nvPicPr>
          <p:cNvPr id="57" name="Google Shape;57;p65" descr="Logotipo&#10;&#10;Descripción generada automáticamente con confianza media"/>
          <p:cNvPicPr preferRelativeResize="0"/>
          <p:nvPr/>
        </p:nvPicPr>
        <p:blipFill rotWithShape="1">
          <a:blip r:embed="rId4">
            <a:alphaModFix/>
          </a:blip>
          <a:srcRect/>
          <a:stretch/>
        </p:blipFill>
        <p:spPr>
          <a:xfrm>
            <a:off x="2672984" y="4068265"/>
            <a:ext cx="1736849" cy="60789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59"/>
        <p:cNvGrpSpPr/>
        <p:nvPr/>
      </p:nvGrpSpPr>
      <p:grpSpPr>
        <a:xfrm>
          <a:off x="0" y="0"/>
          <a:ext cx="0" cy="0"/>
          <a:chOff x="0" y="0"/>
          <a:chExt cx="0" cy="0"/>
        </a:xfrm>
      </p:grpSpPr>
      <p:sp>
        <p:nvSpPr>
          <p:cNvPr id="60" name="Google Shape;60;p69"/>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Play"/>
              <a:buNone/>
              <a:defRPr sz="4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69"/>
          <p:cNvSpPr txBox="1">
            <a:spLocks noGrp="1"/>
          </p:cNvSpPr>
          <p:nvPr>
            <p:ph type="subTitle" idx="1"/>
          </p:nvPr>
        </p:nvSpPr>
        <p:spPr>
          <a:xfrm>
            <a:off x="838200" y="3381857"/>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i="1"/>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2" name="Google Shape;62;p69"/>
          <p:cNvSpPr txBox="1">
            <a:spLocks noGrp="1"/>
          </p:cNvSpPr>
          <p:nvPr>
            <p:ph type="dt" idx="10"/>
          </p:nvPr>
        </p:nvSpPr>
        <p:spPr>
          <a:xfrm>
            <a:off x="838200" y="44409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64" name="Google Shape;64;p69"/>
          <p:cNvSpPr/>
          <p:nvPr/>
        </p:nvSpPr>
        <p:spPr>
          <a:xfrm>
            <a:off x="0" y="3875730"/>
            <a:ext cx="12192000" cy="365125"/>
          </a:xfrm>
          <a:prstGeom prst="rect">
            <a:avLst/>
          </a:prstGeom>
          <a:solidFill>
            <a:schemeClr val="dk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65" name="Google Shape;65;p69" descr="Logotipo&#10;&#10;Descripción generada automáticamente"/>
          <p:cNvPicPr preferRelativeResize="0"/>
          <p:nvPr/>
        </p:nvPicPr>
        <p:blipFill rotWithShape="1">
          <a:blip r:embed="rId2">
            <a:alphaModFix/>
          </a:blip>
          <a:srcRect/>
          <a:stretch/>
        </p:blipFill>
        <p:spPr>
          <a:xfrm>
            <a:off x="7315291" y="5315205"/>
            <a:ext cx="1890650" cy="607897"/>
          </a:xfrm>
          <a:prstGeom prst="rect">
            <a:avLst/>
          </a:prstGeom>
          <a:noFill/>
          <a:ln>
            <a:noFill/>
          </a:ln>
        </p:spPr>
      </p:pic>
      <p:pic>
        <p:nvPicPr>
          <p:cNvPr id="66" name="Google Shape;66;p69" descr="Logotipo&#10;&#10;Descripción generada automáticamente"/>
          <p:cNvPicPr preferRelativeResize="0"/>
          <p:nvPr/>
        </p:nvPicPr>
        <p:blipFill rotWithShape="1">
          <a:blip r:embed="rId3">
            <a:alphaModFix/>
          </a:blip>
          <a:srcRect/>
          <a:stretch/>
        </p:blipFill>
        <p:spPr>
          <a:xfrm>
            <a:off x="5136382" y="5350936"/>
            <a:ext cx="1420828" cy="536435"/>
          </a:xfrm>
          <a:prstGeom prst="rect">
            <a:avLst/>
          </a:prstGeom>
          <a:noFill/>
          <a:ln>
            <a:noFill/>
          </a:ln>
        </p:spPr>
      </p:pic>
      <p:pic>
        <p:nvPicPr>
          <p:cNvPr id="67" name="Google Shape;67;p69" descr="Logotipo&#10;&#10;Descripción generada automáticamente con confianza media"/>
          <p:cNvPicPr preferRelativeResize="0"/>
          <p:nvPr/>
        </p:nvPicPr>
        <p:blipFill rotWithShape="1">
          <a:blip r:embed="rId4">
            <a:alphaModFix/>
          </a:blip>
          <a:srcRect/>
          <a:stretch/>
        </p:blipFill>
        <p:spPr>
          <a:xfrm>
            <a:off x="2641453" y="5315205"/>
            <a:ext cx="1736849" cy="60789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ítulo y objetos">
  <p:cSld name="1_Título y objetos">
    <p:bg>
      <p:bgPr>
        <a:solidFill>
          <a:schemeClr val="dk1"/>
        </a:solidFill>
        <a:effectLst/>
      </p:bgPr>
    </p:bg>
    <p:spTree>
      <p:nvGrpSpPr>
        <p:cNvPr id="1" name="Shape 68"/>
        <p:cNvGrpSpPr/>
        <p:nvPr/>
      </p:nvGrpSpPr>
      <p:grpSpPr>
        <a:xfrm>
          <a:off x="0" y="0"/>
          <a:ext cx="0" cy="0"/>
          <a:chOff x="0" y="0"/>
          <a:chExt cx="0" cy="0"/>
        </a:xfrm>
      </p:grpSpPr>
      <p:pic>
        <p:nvPicPr>
          <p:cNvPr id="69" name="Google Shape;69;p70" descr="Logotipo&#10;&#10;Descripción generada automáticamente"/>
          <p:cNvPicPr preferRelativeResize="0"/>
          <p:nvPr/>
        </p:nvPicPr>
        <p:blipFill rotWithShape="1">
          <a:blip r:embed="rId2">
            <a:alphaModFix/>
          </a:blip>
          <a:srcRect/>
          <a:stretch/>
        </p:blipFill>
        <p:spPr>
          <a:xfrm>
            <a:off x="11415224" y="148488"/>
            <a:ext cx="444782" cy="429137"/>
          </a:xfrm>
          <a:prstGeom prst="rect">
            <a:avLst/>
          </a:prstGeom>
          <a:noFill/>
          <a:ln>
            <a:noFill/>
          </a:ln>
        </p:spPr>
      </p:pic>
      <p:pic>
        <p:nvPicPr>
          <p:cNvPr id="70" name="Google Shape;70;p70" descr="Logotipo&#10;&#10;Descripción generada automáticamente"/>
          <p:cNvPicPr preferRelativeResize="0"/>
          <p:nvPr/>
        </p:nvPicPr>
        <p:blipFill rotWithShape="1">
          <a:blip r:embed="rId3">
            <a:alphaModFix/>
          </a:blip>
          <a:srcRect/>
          <a:stretch/>
        </p:blipFill>
        <p:spPr>
          <a:xfrm>
            <a:off x="330200" y="6399764"/>
            <a:ext cx="1473330" cy="278296"/>
          </a:xfrm>
          <a:prstGeom prst="rect">
            <a:avLst/>
          </a:prstGeom>
          <a:noFill/>
          <a:ln>
            <a:noFill/>
          </a:ln>
        </p:spPr>
      </p:pic>
      <p:sp>
        <p:nvSpPr>
          <p:cNvPr id="71" name="Google Shape;71;p70"/>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2"/>
              </a:buClr>
              <a:buSzPts val="1600"/>
              <a:buFont typeface="Play"/>
              <a:buNone/>
              <a:defRPr sz="1600" b="1">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0"/>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74" name="Google Shape;74;p70"/>
          <p:cNvSpPr/>
          <p:nvPr/>
        </p:nvSpPr>
        <p:spPr>
          <a:xfrm>
            <a:off x="0" y="716439"/>
            <a:ext cx="12192000" cy="54000"/>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Título y objetos">
  <p:cSld name="2_Título y objetos">
    <p:bg>
      <p:bgPr>
        <a:solidFill>
          <a:schemeClr val="dk1"/>
        </a:solidFill>
        <a:effectLst/>
      </p:bgPr>
    </p:bg>
    <p:spTree>
      <p:nvGrpSpPr>
        <p:cNvPr id="1" name="Shape 75"/>
        <p:cNvGrpSpPr/>
        <p:nvPr/>
      </p:nvGrpSpPr>
      <p:grpSpPr>
        <a:xfrm>
          <a:off x="0" y="0"/>
          <a:ext cx="0" cy="0"/>
          <a:chOff x="0" y="0"/>
          <a:chExt cx="0" cy="0"/>
        </a:xfrm>
      </p:grpSpPr>
      <p:pic>
        <p:nvPicPr>
          <p:cNvPr id="76" name="Google Shape;76;p71" descr="Interfaz de usuario gráfica, Logotipo&#10;&#10;Descripción generada automáticamente"/>
          <p:cNvPicPr preferRelativeResize="0"/>
          <p:nvPr/>
        </p:nvPicPr>
        <p:blipFill rotWithShape="1">
          <a:blip r:embed="rId2">
            <a:alphaModFix/>
          </a:blip>
          <a:srcRect/>
          <a:stretch/>
        </p:blipFill>
        <p:spPr>
          <a:xfrm>
            <a:off x="11415225" y="102371"/>
            <a:ext cx="471976" cy="503746"/>
          </a:xfrm>
          <a:prstGeom prst="rect">
            <a:avLst/>
          </a:prstGeom>
          <a:noFill/>
          <a:ln>
            <a:noFill/>
          </a:ln>
        </p:spPr>
      </p:pic>
      <p:sp>
        <p:nvSpPr>
          <p:cNvPr id="77" name="Google Shape;77;p71"/>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6"/>
              </a:buClr>
              <a:buSzPts val="1600"/>
              <a:buFont typeface="Play"/>
              <a:buNone/>
              <a:defRPr sz="1600" b="1">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71"/>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0" name="Google Shape;80;p71"/>
          <p:cNvSpPr/>
          <p:nvPr/>
        </p:nvSpPr>
        <p:spPr>
          <a:xfrm>
            <a:off x="0" y="716439"/>
            <a:ext cx="12192000" cy="54000"/>
          </a:xfrm>
          <a:prstGeom prst="rect">
            <a:avLst/>
          </a:prstGeom>
          <a:solidFill>
            <a:schemeClr val="accent5"/>
          </a:solidFill>
          <a:ln w="19050"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1" name="Google Shape;81;p71" descr="Interfaz de usuario gráfica, Logotipo&#10;&#10;Descripción generada automáticamente"/>
          <p:cNvPicPr preferRelativeResize="0"/>
          <p:nvPr/>
        </p:nvPicPr>
        <p:blipFill rotWithShape="1">
          <a:blip r:embed="rId3">
            <a:alphaModFix/>
          </a:blip>
          <a:srcRect/>
          <a:stretch/>
        </p:blipFill>
        <p:spPr>
          <a:xfrm>
            <a:off x="351220" y="6369269"/>
            <a:ext cx="1057873" cy="30879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ítulo y objetos">
  <p:cSld name="3_Título y objetos">
    <p:bg>
      <p:bgPr>
        <a:solidFill>
          <a:schemeClr val="dk1"/>
        </a:solidFill>
        <a:effectLst/>
      </p:bgPr>
    </p:bg>
    <p:spTree>
      <p:nvGrpSpPr>
        <p:cNvPr id="1" name="Shape 82"/>
        <p:cNvGrpSpPr/>
        <p:nvPr/>
      </p:nvGrpSpPr>
      <p:grpSpPr>
        <a:xfrm>
          <a:off x="0" y="0"/>
          <a:ext cx="0" cy="0"/>
          <a:chOff x="0" y="0"/>
          <a:chExt cx="0" cy="0"/>
        </a:xfrm>
      </p:grpSpPr>
      <p:pic>
        <p:nvPicPr>
          <p:cNvPr id="83" name="Google Shape;83;p72"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84" name="Google Shape;84;p72"/>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72"/>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7" name="Google Shape;87;p72"/>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88" name="Google Shape;88;p72"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89" name="Google Shape;89;p72"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grpSp>
        <p:nvGrpSpPr>
          <p:cNvPr id="90" name="Google Shape;90;p72"/>
          <p:cNvGrpSpPr/>
          <p:nvPr/>
        </p:nvGrpSpPr>
        <p:grpSpPr>
          <a:xfrm>
            <a:off x="330200" y="6416593"/>
            <a:ext cx="3814681" cy="304882"/>
            <a:chOff x="717990" y="3332097"/>
            <a:chExt cx="10730146" cy="876191"/>
          </a:xfrm>
        </p:grpSpPr>
        <p:pic>
          <p:nvPicPr>
            <p:cNvPr id="91" name="Google Shape;91;p72" descr="Interfaz de usuario gráfica, Logotipo&#10;&#10;Descripción generada automáticamente"/>
            <p:cNvPicPr preferRelativeResize="0"/>
            <p:nvPr/>
          </p:nvPicPr>
          <p:blipFill rotWithShape="1">
            <a:blip r:embed="rId5">
              <a:alphaModFix/>
            </a:blip>
            <a:srcRect/>
            <a:stretch/>
          </p:blipFill>
          <p:spPr>
            <a:xfrm>
              <a:off x="8654758" y="3386689"/>
              <a:ext cx="2793378" cy="772817"/>
            </a:xfrm>
            <a:prstGeom prst="rect">
              <a:avLst/>
            </a:prstGeom>
            <a:noFill/>
            <a:ln>
              <a:noFill/>
            </a:ln>
          </p:spPr>
        </p:pic>
        <p:pic>
          <p:nvPicPr>
            <p:cNvPr id="92" name="Google Shape;92;p72" descr="Logotipo&#10;&#10;Descripción generada automáticamente"/>
            <p:cNvPicPr preferRelativeResize="0"/>
            <p:nvPr/>
          </p:nvPicPr>
          <p:blipFill rotWithShape="1">
            <a:blip r:embed="rId6">
              <a:alphaModFix/>
            </a:blip>
            <a:srcRect l="24752" t="40142" r="19087" b="39788"/>
            <a:stretch/>
          </p:blipFill>
          <p:spPr>
            <a:xfrm>
              <a:off x="4295868" y="3332097"/>
              <a:ext cx="4358890" cy="876191"/>
            </a:xfrm>
            <a:prstGeom prst="rect">
              <a:avLst/>
            </a:prstGeom>
            <a:noFill/>
            <a:ln>
              <a:noFill/>
            </a:ln>
          </p:spPr>
        </p:pic>
        <p:pic>
          <p:nvPicPr>
            <p:cNvPr id="93" name="Google Shape;93;p72" descr="Logotipo&#10;&#10;Descripción generada automáticamente con confianza media"/>
            <p:cNvPicPr preferRelativeResize="0"/>
            <p:nvPr/>
          </p:nvPicPr>
          <p:blipFill rotWithShape="1">
            <a:blip r:embed="rId7">
              <a:alphaModFix/>
            </a:blip>
            <a:srcRect/>
            <a:stretch/>
          </p:blipFill>
          <p:spPr>
            <a:xfrm>
              <a:off x="717990" y="3383785"/>
              <a:ext cx="3321748" cy="772817"/>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Título y objetos">
  <p:cSld name="4_Título y objetos">
    <p:bg>
      <p:bgPr>
        <a:solidFill>
          <a:schemeClr val="dk1"/>
        </a:solidFill>
        <a:effectLst/>
      </p:bgPr>
    </p:bg>
    <p:spTree>
      <p:nvGrpSpPr>
        <p:cNvPr id="1" name="Shape 94"/>
        <p:cNvGrpSpPr/>
        <p:nvPr/>
      </p:nvGrpSpPr>
      <p:grpSpPr>
        <a:xfrm>
          <a:off x="0" y="0"/>
          <a:ext cx="0" cy="0"/>
          <a:chOff x="0" y="0"/>
          <a:chExt cx="0" cy="0"/>
        </a:xfrm>
      </p:grpSpPr>
      <p:pic>
        <p:nvPicPr>
          <p:cNvPr id="95" name="Google Shape;95;p73"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96" name="Google Shape;96;p73"/>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73"/>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99" name="Google Shape;99;p73"/>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100" name="Google Shape;100;p73"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101" name="Google Shape;101;p73"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ación">
  <p:cSld name="Comparación">
    <p:bg>
      <p:bgPr>
        <a:solidFill>
          <a:schemeClr val="dk1"/>
        </a:solidFill>
        <a:effectLst/>
      </p:bgPr>
    </p:bg>
    <p:spTree>
      <p:nvGrpSpPr>
        <p:cNvPr id="1" name="Shape 102"/>
        <p:cNvGrpSpPr/>
        <p:nvPr/>
      </p:nvGrpSpPr>
      <p:grpSpPr>
        <a:xfrm>
          <a:off x="0" y="0"/>
          <a:ext cx="0" cy="0"/>
          <a:chOff x="0" y="0"/>
          <a:chExt cx="0" cy="0"/>
        </a:xfrm>
      </p:grpSpPr>
      <p:sp>
        <p:nvSpPr>
          <p:cNvPr id="103" name="Google Shape;103;p74"/>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74"/>
          <p:cNvSpPr txBox="1"/>
          <p:nvPr/>
        </p:nvSpPr>
        <p:spPr>
          <a:xfrm>
            <a:off x="964587" y="1390362"/>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Gemco:</a:t>
            </a:r>
            <a:endParaRPr sz="1800">
              <a:solidFill>
                <a:schemeClr val="lt2"/>
              </a:solidFill>
              <a:latin typeface="Arial"/>
              <a:ea typeface="Arial"/>
              <a:cs typeface="Arial"/>
              <a:sym typeface="Arial"/>
            </a:endParaRPr>
          </a:p>
        </p:txBody>
      </p:sp>
      <p:sp>
        <p:nvSpPr>
          <p:cNvPr id="105" name="Google Shape;105;p74"/>
          <p:cNvSpPr/>
          <p:nvPr/>
        </p:nvSpPr>
        <p:spPr>
          <a:xfrm>
            <a:off x="1051673" y="1909103"/>
            <a:ext cx="1382486" cy="1175657"/>
          </a:xfrm>
          <a:prstGeom prst="roundRect">
            <a:avLst>
              <a:gd name="adj" fmla="val 16667"/>
            </a:avLst>
          </a:prstGeom>
          <a:solidFill>
            <a:srgbClr val="282DF0"/>
          </a:solidFill>
          <a:ln w="19050" cap="flat" cmpd="sng">
            <a:solidFill>
              <a:srgbClr val="282D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6" name="Google Shape;106;p74"/>
          <p:cNvSpPr/>
          <p:nvPr/>
        </p:nvSpPr>
        <p:spPr>
          <a:xfrm>
            <a:off x="2655987" y="1909102"/>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7" name="Google Shape;107;p74"/>
          <p:cNvSpPr/>
          <p:nvPr/>
        </p:nvSpPr>
        <p:spPr>
          <a:xfrm>
            <a:off x="4260301" y="1909102"/>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8" name="Google Shape;108;p74"/>
          <p:cNvSpPr txBox="1"/>
          <p:nvPr/>
        </p:nvSpPr>
        <p:spPr>
          <a:xfrm>
            <a:off x="1051673"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45 240 </a:t>
            </a:r>
            <a:endParaRPr sz="1800">
              <a:solidFill>
                <a:schemeClr val="lt2"/>
              </a:solidFill>
              <a:latin typeface="Arial"/>
              <a:ea typeface="Arial"/>
              <a:cs typeface="Arial"/>
              <a:sym typeface="Arial"/>
            </a:endParaRPr>
          </a:p>
        </p:txBody>
      </p:sp>
      <p:sp>
        <p:nvSpPr>
          <p:cNvPr id="109" name="Google Shape;109;p74"/>
          <p:cNvSpPr txBox="1"/>
          <p:nvPr/>
        </p:nvSpPr>
        <p:spPr>
          <a:xfrm>
            <a:off x="2655987" y="3212898"/>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10" name="Google Shape;110;p74"/>
          <p:cNvSpPr txBox="1"/>
          <p:nvPr/>
        </p:nvSpPr>
        <p:spPr>
          <a:xfrm>
            <a:off x="4260301"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1" name="Google Shape;111;p74"/>
          <p:cNvSpPr txBox="1"/>
          <p:nvPr/>
        </p:nvSpPr>
        <p:spPr>
          <a:xfrm>
            <a:off x="964587" y="3719039"/>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MMQ:</a:t>
            </a:r>
            <a:endParaRPr sz="1800">
              <a:solidFill>
                <a:schemeClr val="lt2"/>
              </a:solidFill>
              <a:latin typeface="Arial"/>
              <a:ea typeface="Arial"/>
              <a:cs typeface="Arial"/>
              <a:sym typeface="Arial"/>
            </a:endParaRPr>
          </a:p>
        </p:txBody>
      </p:sp>
      <p:sp>
        <p:nvSpPr>
          <p:cNvPr id="112" name="Google Shape;112;p74"/>
          <p:cNvSpPr/>
          <p:nvPr/>
        </p:nvSpPr>
        <p:spPr>
          <a:xfrm>
            <a:off x="1051673" y="4237780"/>
            <a:ext cx="1382486" cy="1175657"/>
          </a:xfrm>
          <a:prstGeom prst="roundRect">
            <a:avLst>
              <a:gd name="adj" fmla="val 16667"/>
            </a:avLst>
          </a:prstGeom>
          <a:solidFill>
            <a:srgbClr val="0074BF"/>
          </a:solidFill>
          <a:ln w="19050" cap="flat" cmpd="sng">
            <a:solidFill>
              <a:srgbClr val="0074B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3" name="Google Shape;113;p74"/>
          <p:cNvSpPr/>
          <p:nvPr/>
        </p:nvSpPr>
        <p:spPr>
          <a:xfrm>
            <a:off x="2655987" y="4237779"/>
            <a:ext cx="1382486" cy="1175657"/>
          </a:xfrm>
          <a:prstGeom prst="roundRect">
            <a:avLst>
              <a:gd name="adj" fmla="val 16667"/>
            </a:avLst>
          </a:prstGeom>
          <a:solidFill>
            <a:srgbClr val="FF7016"/>
          </a:solidFill>
          <a:ln w="19050" cap="flat" cmpd="sng">
            <a:solidFill>
              <a:srgbClr val="FF701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4" name="Google Shape;114;p74"/>
          <p:cNvSpPr/>
          <p:nvPr/>
        </p:nvSpPr>
        <p:spPr>
          <a:xfrm>
            <a:off x="4260301" y="4237779"/>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5" name="Google Shape;115;p74"/>
          <p:cNvSpPr txBox="1"/>
          <p:nvPr/>
        </p:nvSpPr>
        <p:spPr>
          <a:xfrm>
            <a:off x="1051673" y="5541576"/>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0  116 191</a:t>
            </a:r>
            <a:endParaRPr sz="1800">
              <a:solidFill>
                <a:schemeClr val="lt2"/>
              </a:solidFill>
              <a:latin typeface="Arial"/>
              <a:ea typeface="Arial"/>
              <a:cs typeface="Arial"/>
              <a:sym typeface="Arial"/>
            </a:endParaRPr>
          </a:p>
        </p:txBody>
      </p:sp>
      <p:sp>
        <p:nvSpPr>
          <p:cNvPr id="116" name="Google Shape;116;p74"/>
          <p:cNvSpPr txBox="1"/>
          <p:nvPr/>
        </p:nvSpPr>
        <p:spPr>
          <a:xfrm>
            <a:off x="2655987" y="5541575"/>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255 132 37 </a:t>
            </a:r>
            <a:endParaRPr sz="1800">
              <a:solidFill>
                <a:schemeClr val="lt2"/>
              </a:solidFill>
              <a:latin typeface="Arial"/>
              <a:ea typeface="Arial"/>
              <a:cs typeface="Arial"/>
              <a:sym typeface="Arial"/>
            </a:endParaRPr>
          </a:p>
        </p:txBody>
      </p:sp>
      <p:sp>
        <p:nvSpPr>
          <p:cNvPr id="117" name="Google Shape;117;p74"/>
          <p:cNvSpPr txBox="1"/>
          <p:nvPr/>
        </p:nvSpPr>
        <p:spPr>
          <a:xfrm>
            <a:off x="4260301" y="5541575"/>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8" name="Google Shape;118;p74"/>
          <p:cNvSpPr txBox="1"/>
          <p:nvPr/>
        </p:nvSpPr>
        <p:spPr>
          <a:xfrm>
            <a:off x="6638829" y="2738541"/>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Incardia:</a:t>
            </a:r>
            <a:endParaRPr sz="1800">
              <a:solidFill>
                <a:schemeClr val="lt2"/>
              </a:solidFill>
              <a:latin typeface="Arial"/>
              <a:ea typeface="Arial"/>
              <a:cs typeface="Arial"/>
              <a:sym typeface="Arial"/>
            </a:endParaRPr>
          </a:p>
        </p:txBody>
      </p:sp>
      <p:sp>
        <p:nvSpPr>
          <p:cNvPr id="119" name="Google Shape;119;p74"/>
          <p:cNvSpPr/>
          <p:nvPr/>
        </p:nvSpPr>
        <p:spPr>
          <a:xfrm>
            <a:off x="6725915" y="3257282"/>
            <a:ext cx="1382486" cy="1175657"/>
          </a:xfrm>
          <a:prstGeom prst="roundRect">
            <a:avLst>
              <a:gd name="adj" fmla="val 16667"/>
            </a:avLst>
          </a:prstGeom>
          <a:solidFill>
            <a:srgbClr val="D30101"/>
          </a:solidFill>
          <a:ln w="19050" cap="flat" cmpd="sng">
            <a:solidFill>
              <a:srgbClr val="D3010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0" name="Google Shape;120;p74"/>
          <p:cNvSpPr/>
          <p:nvPr/>
        </p:nvSpPr>
        <p:spPr>
          <a:xfrm>
            <a:off x="8330229" y="3257281"/>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1" name="Google Shape;121;p74"/>
          <p:cNvSpPr/>
          <p:nvPr/>
        </p:nvSpPr>
        <p:spPr>
          <a:xfrm>
            <a:off x="9972902" y="3257281"/>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2" name="Google Shape;122;p74"/>
          <p:cNvSpPr txBox="1"/>
          <p:nvPr/>
        </p:nvSpPr>
        <p:spPr>
          <a:xfrm>
            <a:off x="6725915"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s-CL" sz="1050">
                <a:solidFill>
                  <a:schemeClr val="lt2"/>
                </a:solidFill>
                <a:highlight>
                  <a:srgbClr val="FFFFFF"/>
                </a:highlight>
                <a:latin typeface="Arial"/>
                <a:ea typeface="Arial"/>
                <a:cs typeface="Arial"/>
                <a:sym typeface="Arial"/>
              </a:rPr>
              <a:t>RGB : 210 01 01</a:t>
            </a:r>
            <a:endParaRPr sz="1800">
              <a:solidFill>
                <a:schemeClr val="lt2"/>
              </a:solidFill>
              <a:latin typeface="Arial"/>
              <a:ea typeface="Arial"/>
              <a:cs typeface="Arial"/>
              <a:sym typeface="Arial"/>
            </a:endParaRPr>
          </a:p>
        </p:txBody>
      </p:sp>
      <p:sp>
        <p:nvSpPr>
          <p:cNvPr id="123" name="Google Shape;123;p74"/>
          <p:cNvSpPr txBox="1"/>
          <p:nvPr/>
        </p:nvSpPr>
        <p:spPr>
          <a:xfrm>
            <a:off x="8330229" y="4561077"/>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24" name="Google Shape;124;p74"/>
          <p:cNvSpPr txBox="1"/>
          <p:nvPr/>
        </p:nvSpPr>
        <p:spPr>
          <a:xfrm>
            <a:off x="9934543"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pic>
        <p:nvPicPr>
          <p:cNvPr id="125" name="Google Shape;125;p74" descr="Interfaz de usuario gráfica, Logotipo&#10;&#10;Descripción generada automáticamente"/>
          <p:cNvPicPr preferRelativeResize="0"/>
          <p:nvPr/>
        </p:nvPicPr>
        <p:blipFill rotWithShape="1">
          <a:blip r:embed="rId2">
            <a:alphaModFix/>
          </a:blip>
          <a:srcRect/>
          <a:stretch/>
        </p:blipFill>
        <p:spPr>
          <a:xfrm>
            <a:off x="8373335" y="6159751"/>
            <a:ext cx="1105337" cy="305803"/>
          </a:xfrm>
          <a:prstGeom prst="rect">
            <a:avLst/>
          </a:prstGeom>
          <a:noFill/>
          <a:ln>
            <a:noFill/>
          </a:ln>
        </p:spPr>
      </p:pic>
      <p:pic>
        <p:nvPicPr>
          <p:cNvPr id="126" name="Google Shape;126;p74" descr="Logotipo&#10;&#10;Descripción generada automáticamente"/>
          <p:cNvPicPr preferRelativeResize="0"/>
          <p:nvPr/>
        </p:nvPicPr>
        <p:blipFill rotWithShape="1">
          <a:blip r:embed="rId3">
            <a:alphaModFix/>
          </a:blip>
          <a:srcRect/>
          <a:stretch/>
        </p:blipFill>
        <p:spPr>
          <a:xfrm>
            <a:off x="9478672" y="6132431"/>
            <a:ext cx="1793138" cy="360443"/>
          </a:xfrm>
          <a:prstGeom prst="rect">
            <a:avLst/>
          </a:prstGeom>
          <a:noFill/>
          <a:ln>
            <a:noFill/>
          </a:ln>
        </p:spPr>
      </p:pic>
      <p:pic>
        <p:nvPicPr>
          <p:cNvPr id="127" name="Google Shape;127;p74" descr="Logotipo&#10;&#10;Descripción generada automáticamente con confianza media"/>
          <p:cNvPicPr preferRelativeResize="0"/>
          <p:nvPr/>
        </p:nvPicPr>
        <p:blipFill rotWithShape="1">
          <a:blip r:embed="rId4">
            <a:alphaModFix/>
          </a:blip>
          <a:srcRect/>
          <a:stretch/>
        </p:blipFill>
        <p:spPr>
          <a:xfrm>
            <a:off x="6955017" y="6158486"/>
            <a:ext cx="1325283" cy="30833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omparación">
  <p:cSld name="1_Comparación">
    <p:bg>
      <p:bgPr>
        <a:solidFill>
          <a:schemeClr val="dk1"/>
        </a:solidFill>
        <a:effectLst/>
      </p:bgPr>
    </p:bg>
    <p:spTree>
      <p:nvGrpSpPr>
        <p:cNvPr id="1" name="Shape 128"/>
        <p:cNvGrpSpPr/>
        <p:nvPr/>
      </p:nvGrpSpPr>
      <p:grpSpPr>
        <a:xfrm>
          <a:off x="0" y="0"/>
          <a:ext cx="0" cy="0"/>
          <a:chOff x="0" y="0"/>
          <a:chExt cx="0" cy="0"/>
        </a:xfrm>
      </p:grpSpPr>
      <p:sp>
        <p:nvSpPr>
          <p:cNvPr id="129" name="Google Shape;129;p75"/>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30" name="Google Shape;130;p75"/>
          <p:cNvGraphicFramePr/>
          <p:nvPr/>
        </p:nvGraphicFramePr>
        <p:xfrm>
          <a:off x="1469306" y="1726333"/>
          <a:ext cx="4064000" cy="20830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1" name="Google Shape;131;p75"/>
          <p:cNvGraphicFramePr/>
          <p:nvPr/>
        </p:nvGraphicFramePr>
        <p:xfrm>
          <a:off x="6976714" y="1536195"/>
          <a:ext cx="4064000" cy="227314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2" name="Google Shape;132;p75"/>
          <p:cNvGraphicFramePr/>
          <p:nvPr/>
        </p:nvGraphicFramePr>
        <p:xfrm>
          <a:off x="3922751" y="4210952"/>
          <a:ext cx="4569522" cy="2339673"/>
        </p:xfrm>
        <a:graphic>
          <a:graphicData uri="http://schemas.openxmlformats.org/drawingml/2006/chart">
            <c:chart xmlns:c="http://schemas.openxmlformats.org/drawingml/2006/chart" xmlns:r="http://schemas.openxmlformats.org/officeDocument/2006/relationships" r:id="rId4"/>
          </a:graphicData>
        </a:graphic>
      </p:graphicFrame>
      <p:pic>
        <p:nvPicPr>
          <p:cNvPr id="133" name="Google Shape;133;p75" descr="Logotipo&#10;&#10;Descripción generada automáticamente con confianza media"/>
          <p:cNvPicPr preferRelativeResize="0"/>
          <p:nvPr/>
        </p:nvPicPr>
        <p:blipFill rotWithShape="1">
          <a:blip r:embed="rId5">
            <a:alphaModFix/>
          </a:blip>
          <a:srcRect/>
          <a:stretch/>
        </p:blipFill>
        <p:spPr>
          <a:xfrm>
            <a:off x="330200" y="6399764"/>
            <a:ext cx="1223729" cy="278296"/>
          </a:xfrm>
          <a:prstGeom prst="rect">
            <a:avLst/>
          </a:prstGeom>
          <a:noFill/>
          <a:ln>
            <a:noFill/>
          </a:ln>
        </p:spPr>
      </p:pic>
      <p:pic>
        <p:nvPicPr>
          <p:cNvPr id="134" name="Google Shape;134;p75" descr="Logotipo&#10;&#10;Descripción generada automáticamente con confianza media"/>
          <p:cNvPicPr preferRelativeResize="0"/>
          <p:nvPr/>
        </p:nvPicPr>
        <p:blipFill rotWithShape="1">
          <a:blip r:embed="rId6">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_Comparación">
  <p:cSld name="2_Comparación">
    <p:bg>
      <p:bgPr>
        <a:solidFill>
          <a:schemeClr val="dk1"/>
        </a:solidFill>
        <a:effectLst/>
      </p:bgPr>
    </p:bg>
    <p:spTree>
      <p:nvGrpSpPr>
        <p:cNvPr id="1" name="Shape 135"/>
        <p:cNvGrpSpPr/>
        <p:nvPr/>
      </p:nvGrpSpPr>
      <p:grpSpPr>
        <a:xfrm>
          <a:off x="0" y="0"/>
          <a:ext cx="0" cy="0"/>
          <a:chOff x="0" y="0"/>
          <a:chExt cx="0" cy="0"/>
        </a:xfrm>
      </p:grpSpPr>
      <p:sp>
        <p:nvSpPr>
          <p:cNvPr id="136" name="Google Shape;136;p76"/>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7" name="Google Shape;137;p76" descr="Logotipo&#10;&#10;Descripción generada automáticamente"/>
          <p:cNvPicPr preferRelativeResize="0"/>
          <p:nvPr/>
        </p:nvPicPr>
        <p:blipFill rotWithShape="1">
          <a:blip r:embed="rId2">
            <a:alphaModFix/>
          </a:blip>
          <a:srcRect/>
          <a:stretch/>
        </p:blipFill>
        <p:spPr>
          <a:xfrm>
            <a:off x="330200" y="6399764"/>
            <a:ext cx="1473330" cy="278296"/>
          </a:xfrm>
          <a:prstGeom prst="rect">
            <a:avLst/>
          </a:prstGeom>
          <a:noFill/>
          <a:ln>
            <a:noFill/>
          </a:ln>
        </p:spPr>
      </p:pic>
      <p:graphicFrame>
        <p:nvGraphicFramePr>
          <p:cNvPr id="138" name="Google Shape;138;p76"/>
          <p:cNvGraphicFramePr/>
          <p:nvPr/>
        </p:nvGraphicFramePr>
        <p:xfrm>
          <a:off x="1580198" y="1750491"/>
          <a:ext cx="4243659" cy="22765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9" name="Google Shape;139;p76"/>
          <p:cNvGraphicFramePr/>
          <p:nvPr/>
        </p:nvGraphicFramePr>
        <p:xfrm>
          <a:off x="7457688" y="1750491"/>
          <a:ext cx="3108712" cy="20569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0" name="Google Shape;140;p76"/>
          <p:cNvGraphicFramePr/>
          <p:nvPr/>
        </p:nvGraphicFramePr>
        <p:xfrm>
          <a:off x="4304988" y="4082519"/>
          <a:ext cx="4539788" cy="2480733"/>
        </p:xfrm>
        <a:graphic>
          <a:graphicData uri="http://schemas.openxmlformats.org/drawingml/2006/chart">
            <c:chart xmlns:c="http://schemas.openxmlformats.org/drawingml/2006/chart" xmlns:r="http://schemas.openxmlformats.org/officeDocument/2006/relationships" r:id="rId5"/>
          </a:graphicData>
        </a:graphic>
      </p:graphicFrame>
      <p:pic>
        <p:nvPicPr>
          <p:cNvPr id="141" name="Google Shape;141;p76" descr="Logotipo&#10;&#10;Descripción generada automáticamente"/>
          <p:cNvPicPr preferRelativeResize="0"/>
          <p:nvPr/>
        </p:nvPicPr>
        <p:blipFill rotWithShape="1">
          <a:blip r:embed="rId6">
            <a:alphaModFix/>
          </a:blip>
          <a:srcRect/>
          <a:stretch/>
        </p:blipFill>
        <p:spPr>
          <a:xfrm>
            <a:off x="11415224" y="148488"/>
            <a:ext cx="444782" cy="42913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Comparación">
  <p:cSld name="3_Comparación">
    <p:bg>
      <p:bgPr>
        <a:solidFill>
          <a:schemeClr val="dk1"/>
        </a:solidFill>
        <a:effectLst/>
      </p:bgPr>
    </p:bg>
    <p:spTree>
      <p:nvGrpSpPr>
        <p:cNvPr id="1" name="Shape 142"/>
        <p:cNvGrpSpPr/>
        <p:nvPr/>
      </p:nvGrpSpPr>
      <p:grpSpPr>
        <a:xfrm>
          <a:off x="0" y="0"/>
          <a:ext cx="0" cy="0"/>
          <a:chOff x="0" y="0"/>
          <a:chExt cx="0" cy="0"/>
        </a:xfrm>
      </p:grpSpPr>
      <p:sp>
        <p:nvSpPr>
          <p:cNvPr id="143" name="Google Shape;143;p77"/>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44" name="Google Shape;144;p77"/>
          <p:cNvGraphicFramePr/>
          <p:nvPr/>
        </p:nvGraphicFramePr>
        <p:xfrm>
          <a:off x="1867032" y="1684103"/>
          <a:ext cx="4228968" cy="22929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5" name="Google Shape;145;p77"/>
          <p:cNvGraphicFramePr/>
          <p:nvPr/>
        </p:nvGraphicFramePr>
        <p:xfrm>
          <a:off x="7772399" y="1760303"/>
          <a:ext cx="2301487" cy="22167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6" name="Google Shape;146;p77"/>
          <p:cNvGraphicFramePr/>
          <p:nvPr/>
        </p:nvGraphicFramePr>
        <p:xfrm>
          <a:off x="3816195" y="4103271"/>
          <a:ext cx="4993268" cy="2415759"/>
        </p:xfrm>
        <a:graphic>
          <a:graphicData uri="http://schemas.openxmlformats.org/drawingml/2006/chart">
            <c:chart xmlns:c="http://schemas.openxmlformats.org/drawingml/2006/chart" xmlns:r="http://schemas.openxmlformats.org/officeDocument/2006/relationships" r:id="rId4"/>
          </a:graphicData>
        </a:graphic>
      </p:graphicFrame>
      <p:pic>
        <p:nvPicPr>
          <p:cNvPr id="147" name="Google Shape;147;p77" descr="Interfaz de usuario gráfica, Logotipo&#10;&#10;Descripción generada automáticamente"/>
          <p:cNvPicPr preferRelativeResize="0"/>
          <p:nvPr/>
        </p:nvPicPr>
        <p:blipFill rotWithShape="1">
          <a:blip r:embed="rId5">
            <a:alphaModFix/>
          </a:blip>
          <a:srcRect/>
          <a:stretch/>
        </p:blipFill>
        <p:spPr>
          <a:xfrm>
            <a:off x="351220" y="6369269"/>
            <a:ext cx="1057873" cy="308790"/>
          </a:xfrm>
          <a:prstGeom prst="rect">
            <a:avLst/>
          </a:prstGeom>
          <a:noFill/>
          <a:ln>
            <a:noFill/>
          </a:ln>
        </p:spPr>
      </p:pic>
      <p:pic>
        <p:nvPicPr>
          <p:cNvPr id="148" name="Google Shape;148;p77" descr="Interfaz de usuario gráfica, Logotipo&#10;&#10;Descripción generada automáticamente"/>
          <p:cNvPicPr preferRelativeResize="0"/>
          <p:nvPr/>
        </p:nvPicPr>
        <p:blipFill rotWithShape="1">
          <a:blip r:embed="rId6">
            <a:alphaModFix/>
          </a:blip>
          <a:srcRect/>
          <a:stretch/>
        </p:blipFill>
        <p:spPr>
          <a:xfrm>
            <a:off x="11415225" y="102371"/>
            <a:ext cx="471976" cy="50374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_Comparación">
  <p:cSld name="4_Comparación">
    <p:bg>
      <p:bgPr>
        <a:solidFill>
          <a:schemeClr val="dk1"/>
        </a:solidFill>
        <a:effectLst/>
      </p:bgPr>
    </p:bg>
    <p:spTree>
      <p:nvGrpSpPr>
        <p:cNvPr id="1" name="Shape 149"/>
        <p:cNvGrpSpPr/>
        <p:nvPr/>
      </p:nvGrpSpPr>
      <p:grpSpPr>
        <a:xfrm>
          <a:off x="0" y="0"/>
          <a:ext cx="0" cy="0"/>
          <a:chOff x="0" y="0"/>
          <a:chExt cx="0" cy="0"/>
        </a:xfrm>
      </p:grpSpPr>
      <p:sp>
        <p:nvSpPr>
          <p:cNvPr id="150" name="Google Shape;150;p78"/>
          <p:cNvSpPr/>
          <p:nvPr/>
        </p:nvSpPr>
        <p:spPr>
          <a:xfrm>
            <a:off x="-10510" y="1179213"/>
            <a:ext cx="12192000" cy="1574816"/>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78"/>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52" name="Google Shape;152;p78" descr="Logotipo&#10;&#10;Descripción generada automáticamente"/>
          <p:cNvPicPr preferRelativeResize="0"/>
          <p:nvPr/>
        </p:nvPicPr>
        <p:blipFill rotWithShape="1">
          <a:blip r:embed="rId2">
            <a:alphaModFix/>
          </a:blip>
          <a:srcRect/>
          <a:stretch/>
        </p:blipFill>
        <p:spPr>
          <a:xfrm>
            <a:off x="4471612" y="1311120"/>
            <a:ext cx="4142322" cy="1331873"/>
          </a:xfrm>
          <a:prstGeom prst="rect">
            <a:avLst/>
          </a:prstGeom>
          <a:noFill/>
          <a:ln>
            <a:noFill/>
          </a:ln>
        </p:spPr>
      </p:pic>
      <p:pic>
        <p:nvPicPr>
          <p:cNvPr id="153" name="Google Shape;153;p78" descr="Logotipo&#10;&#10;Descripción generada automáticamente"/>
          <p:cNvPicPr preferRelativeResize="0"/>
          <p:nvPr/>
        </p:nvPicPr>
        <p:blipFill rotWithShape="1">
          <a:blip r:embed="rId3">
            <a:alphaModFix/>
          </a:blip>
          <a:srcRect/>
          <a:stretch/>
        </p:blipFill>
        <p:spPr>
          <a:xfrm>
            <a:off x="8915958" y="1480479"/>
            <a:ext cx="2630517" cy="993154"/>
          </a:xfrm>
          <a:prstGeom prst="rect">
            <a:avLst/>
          </a:prstGeom>
          <a:noFill/>
          <a:ln>
            <a:noFill/>
          </a:ln>
        </p:spPr>
      </p:pic>
      <p:pic>
        <p:nvPicPr>
          <p:cNvPr id="154" name="Google Shape;154;p78" descr="Logotipo&#10;&#10;Descripción generada automáticamente con confianza media"/>
          <p:cNvPicPr preferRelativeResize="0"/>
          <p:nvPr/>
        </p:nvPicPr>
        <p:blipFill rotWithShape="1">
          <a:blip r:embed="rId4">
            <a:alphaModFix/>
          </a:blip>
          <a:srcRect/>
          <a:stretch/>
        </p:blipFill>
        <p:spPr>
          <a:xfrm>
            <a:off x="909799" y="1410689"/>
            <a:ext cx="3314381" cy="1160033"/>
          </a:xfrm>
          <a:prstGeom prst="rect">
            <a:avLst/>
          </a:prstGeom>
          <a:noFill/>
          <a:ln>
            <a:noFill/>
          </a:ln>
        </p:spPr>
      </p:pic>
      <p:pic>
        <p:nvPicPr>
          <p:cNvPr id="155" name="Google Shape;155;p78" descr="Interfaz de usuario gráfica, Logotipo&#10;&#10;Descripción generada automáticamente"/>
          <p:cNvPicPr preferRelativeResize="0"/>
          <p:nvPr/>
        </p:nvPicPr>
        <p:blipFill rotWithShape="1">
          <a:blip r:embed="rId5">
            <a:alphaModFix/>
          </a:blip>
          <a:srcRect/>
          <a:stretch/>
        </p:blipFill>
        <p:spPr>
          <a:xfrm>
            <a:off x="8907005" y="3092179"/>
            <a:ext cx="2528249" cy="699466"/>
          </a:xfrm>
          <a:prstGeom prst="rect">
            <a:avLst/>
          </a:prstGeom>
          <a:noFill/>
          <a:ln>
            <a:noFill/>
          </a:ln>
        </p:spPr>
      </p:pic>
      <p:pic>
        <p:nvPicPr>
          <p:cNvPr id="156" name="Google Shape;156;p78" descr="Logotipo&#10;&#10;Descripción generada automáticamente"/>
          <p:cNvPicPr preferRelativeResize="0"/>
          <p:nvPr/>
        </p:nvPicPr>
        <p:blipFill rotWithShape="1">
          <a:blip r:embed="rId6">
            <a:alphaModFix/>
          </a:blip>
          <a:srcRect/>
          <a:stretch/>
        </p:blipFill>
        <p:spPr>
          <a:xfrm>
            <a:off x="4548115" y="3047398"/>
            <a:ext cx="3945173" cy="793029"/>
          </a:xfrm>
          <a:prstGeom prst="rect">
            <a:avLst/>
          </a:prstGeom>
          <a:noFill/>
          <a:ln>
            <a:noFill/>
          </a:ln>
        </p:spPr>
      </p:pic>
      <p:pic>
        <p:nvPicPr>
          <p:cNvPr id="157" name="Google Shape;157;p78" descr="Logotipo&#10;&#10;Descripción generada automáticamente con confianza media"/>
          <p:cNvPicPr preferRelativeResize="0"/>
          <p:nvPr/>
        </p:nvPicPr>
        <p:blipFill rotWithShape="1">
          <a:blip r:embed="rId7">
            <a:alphaModFix/>
          </a:blip>
          <a:srcRect/>
          <a:stretch/>
        </p:blipFill>
        <p:spPr>
          <a:xfrm>
            <a:off x="970237" y="3089275"/>
            <a:ext cx="3006470" cy="699466"/>
          </a:xfrm>
          <a:prstGeom prst="rect">
            <a:avLst/>
          </a:prstGeom>
          <a:noFill/>
          <a:ln>
            <a:noFill/>
          </a:ln>
        </p:spPr>
      </p:pic>
      <p:sp>
        <p:nvSpPr>
          <p:cNvPr id="158" name="Google Shape;158;p78"/>
          <p:cNvSpPr/>
          <p:nvPr/>
        </p:nvSpPr>
        <p:spPr>
          <a:xfrm>
            <a:off x="-10510" y="4175673"/>
            <a:ext cx="12192000" cy="1371207"/>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9" name="Google Shape;159;p78" descr="Logotipo&#10;&#10;Descripción generada automáticamente con confianza media"/>
          <p:cNvPicPr preferRelativeResize="0"/>
          <p:nvPr/>
        </p:nvPicPr>
        <p:blipFill rotWithShape="1">
          <a:blip r:embed="rId8">
            <a:alphaModFix/>
          </a:blip>
          <a:srcRect/>
          <a:stretch/>
        </p:blipFill>
        <p:spPr>
          <a:xfrm>
            <a:off x="1731618" y="4293580"/>
            <a:ext cx="1670742" cy="1195598"/>
          </a:xfrm>
          <a:prstGeom prst="rect">
            <a:avLst/>
          </a:prstGeom>
          <a:noFill/>
          <a:ln>
            <a:noFill/>
          </a:ln>
        </p:spPr>
      </p:pic>
      <p:pic>
        <p:nvPicPr>
          <p:cNvPr id="160" name="Google Shape;160;p78" descr="Logotipo&#10;&#10;Descripción generada automáticamente con confianza media"/>
          <p:cNvPicPr preferRelativeResize="0"/>
          <p:nvPr/>
        </p:nvPicPr>
        <p:blipFill rotWithShape="1">
          <a:blip r:embed="rId8">
            <a:alphaModFix/>
          </a:blip>
          <a:srcRect/>
          <a:stretch/>
        </p:blipFill>
        <p:spPr>
          <a:xfrm>
            <a:off x="5563731" y="4293580"/>
            <a:ext cx="1670742" cy="1195598"/>
          </a:xfrm>
          <a:prstGeom prst="rect">
            <a:avLst/>
          </a:prstGeom>
          <a:noFill/>
          <a:ln>
            <a:noFill/>
          </a:ln>
        </p:spPr>
      </p:pic>
      <p:pic>
        <p:nvPicPr>
          <p:cNvPr id="161" name="Google Shape;161;p78" descr="Logotipo&#10;&#10;Descripción generada automáticamente con confianza media"/>
          <p:cNvPicPr preferRelativeResize="0"/>
          <p:nvPr/>
        </p:nvPicPr>
        <p:blipFill rotWithShape="1">
          <a:blip r:embed="rId8">
            <a:alphaModFix/>
          </a:blip>
          <a:srcRect/>
          <a:stretch/>
        </p:blipFill>
        <p:spPr>
          <a:xfrm>
            <a:off x="9395845" y="4276628"/>
            <a:ext cx="1670742" cy="1195598"/>
          </a:xfrm>
          <a:prstGeom prst="rect">
            <a:avLst/>
          </a:prstGeom>
          <a:noFill/>
          <a:ln>
            <a:noFill/>
          </a:ln>
        </p:spPr>
      </p:pic>
      <p:pic>
        <p:nvPicPr>
          <p:cNvPr id="162" name="Google Shape;162;p78" descr="Logotipo&#10;&#10;Descripción generada automáticamente con confianza media"/>
          <p:cNvPicPr preferRelativeResize="0"/>
          <p:nvPr/>
        </p:nvPicPr>
        <p:blipFill rotWithShape="1">
          <a:blip r:embed="rId9">
            <a:alphaModFix/>
          </a:blip>
          <a:srcRect/>
          <a:stretch/>
        </p:blipFill>
        <p:spPr>
          <a:xfrm>
            <a:off x="1731618" y="5562353"/>
            <a:ext cx="1346858" cy="1406171"/>
          </a:xfrm>
          <a:prstGeom prst="rect">
            <a:avLst/>
          </a:prstGeom>
          <a:noFill/>
          <a:ln>
            <a:noFill/>
          </a:ln>
        </p:spPr>
      </p:pic>
      <p:pic>
        <p:nvPicPr>
          <p:cNvPr id="163" name="Google Shape;163;p78" descr="Logotipo&#10;&#10;Descripción generada automáticamente"/>
          <p:cNvPicPr preferRelativeResize="0"/>
          <p:nvPr/>
        </p:nvPicPr>
        <p:blipFill rotWithShape="1">
          <a:blip r:embed="rId10">
            <a:alphaModFix/>
          </a:blip>
          <a:srcRect/>
          <a:stretch/>
        </p:blipFill>
        <p:spPr>
          <a:xfrm>
            <a:off x="5353837" y="5472226"/>
            <a:ext cx="2090530" cy="1549901"/>
          </a:xfrm>
          <a:prstGeom prst="rect">
            <a:avLst/>
          </a:prstGeom>
          <a:noFill/>
          <a:ln>
            <a:noFill/>
          </a:ln>
        </p:spPr>
      </p:pic>
      <p:pic>
        <p:nvPicPr>
          <p:cNvPr id="164" name="Google Shape;164;p78" descr="Interfaz de usuario gráfica, Logotipo&#10;&#10;Descripción generada automáticamente"/>
          <p:cNvPicPr preferRelativeResize="0"/>
          <p:nvPr/>
        </p:nvPicPr>
        <p:blipFill rotWithShape="1">
          <a:blip r:embed="rId11">
            <a:alphaModFix/>
          </a:blip>
          <a:srcRect/>
          <a:stretch/>
        </p:blipFill>
        <p:spPr>
          <a:xfrm>
            <a:off x="9395845" y="5393708"/>
            <a:ext cx="1670742" cy="1574816"/>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spTree>
      <p:nvGrpSpPr>
        <p:cNvPr id="1" name="Shape 165"/>
        <p:cNvGrpSpPr/>
        <p:nvPr/>
      </p:nvGrpSpPr>
      <p:grpSpPr>
        <a:xfrm>
          <a:off x="0" y="0"/>
          <a:ext cx="0" cy="0"/>
          <a:chOff x="0" y="0"/>
          <a:chExt cx="0" cy="0"/>
        </a:xfrm>
      </p:grpSpPr>
      <p:pic>
        <p:nvPicPr>
          <p:cNvPr id="166" name="Google Shape;166;p79" descr="Logotipo&#10;&#10;Descripción generada automáticamente"/>
          <p:cNvPicPr preferRelativeResize="0"/>
          <p:nvPr/>
        </p:nvPicPr>
        <p:blipFill rotWithShape="1">
          <a:blip r:embed="rId2">
            <a:alphaModFix/>
          </a:blip>
          <a:srcRect/>
          <a:stretch/>
        </p:blipFill>
        <p:spPr>
          <a:xfrm>
            <a:off x="4387529" y="2919202"/>
            <a:ext cx="4142322" cy="1331873"/>
          </a:xfrm>
          <a:prstGeom prst="rect">
            <a:avLst/>
          </a:prstGeom>
          <a:noFill/>
          <a:ln>
            <a:noFill/>
          </a:ln>
        </p:spPr>
      </p:pic>
      <p:pic>
        <p:nvPicPr>
          <p:cNvPr id="167" name="Google Shape;167;p79" descr="Logotipo&#10;&#10;Descripción generada automáticamente"/>
          <p:cNvPicPr preferRelativeResize="0"/>
          <p:nvPr/>
        </p:nvPicPr>
        <p:blipFill rotWithShape="1">
          <a:blip r:embed="rId3">
            <a:alphaModFix/>
          </a:blip>
          <a:srcRect/>
          <a:stretch/>
        </p:blipFill>
        <p:spPr>
          <a:xfrm>
            <a:off x="8831875" y="3088561"/>
            <a:ext cx="2630517" cy="993154"/>
          </a:xfrm>
          <a:prstGeom prst="rect">
            <a:avLst/>
          </a:prstGeom>
          <a:noFill/>
          <a:ln>
            <a:noFill/>
          </a:ln>
        </p:spPr>
      </p:pic>
      <p:pic>
        <p:nvPicPr>
          <p:cNvPr id="168" name="Google Shape;168;p79" descr="Logotipo&#10;&#10;Descripción generada automáticamente con confianza media"/>
          <p:cNvPicPr preferRelativeResize="0"/>
          <p:nvPr/>
        </p:nvPicPr>
        <p:blipFill rotWithShape="1">
          <a:blip r:embed="rId4">
            <a:alphaModFix/>
          </a:blip>
          <a:srcRect/>
          <a:stretch/>
        </p:blipFill>
        <p:spPr>
          <a:xfrm>
            <a:off x="825716" y="3018771"/>
            <a:ext cx="3314381" cy="116003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Diapositiva de título">
  <p:cSld name="3_Diapositiva de título">
    <p:bg>
      <p:bgPr>
        <a:solidFill>
          <a:schemeClr val="dk1"/>
        </a:solidFill>
        <a:effectLst/>
      </p:bgPr>
    </p:bg>
    <p:spTree>
      <p:nvGrpSpPr>
        <p:cNvPr id="1" name="Shape 169"/>
        <p:cNvGrpSpPr/>
        <p:nvPr/>
      </p:nvGrpSpPr>
      <p:grpSpPr>
        <a:xfrm>
          <a:off x="0" y="0"/>
          <a:ext cx="0" cy="0"/>
          <a:chOff x="0" y="0"/>
          <a:chExt cx="0" cy="0"/>
        </a:xfrm>
      </p:grpSpPr>
      <p:pic>
        <p:nvPicPr>
          <p:cNvPr id="170" name="Google Shape;170;p80" descr="Interfaz de usuario gráfica, Logotipo&#10;&#10;Descripción generada automáticamente"/>
          <p:cNvPicPr preferRelativeResize="0"/>
          <p:nvPr/>
        </p:nvPicPr>
        <p:blipFill rotWithShape="1">
          <a:blip r:embed="rId2">
            <a:alphaModFix/>
          </a:blip>
          <a:srcRect/>
          <a:stretch/>
        </p:blipFill>
        <p:spPr>
          <a:xfrm>
            <a:off x="8654758" y="3386689"/>
            <a:ext cx="2793378" cy="772817"/>
          </a:xfrm>
          <a:prstGeom prst="rect">
            <a:avLst/>
          </a:prstGeom>
          <a:noFill/>
          <a:ln>
            <a:noFill/>
          </a:ln>
        </p:spPr>
      </p:pic>
      <p:pic>
        <p:nvPicPr>
          <p:cNvPr id="171" name="Google Shape;171;p80" descr="Logotipo&#10;&#10;Descripción generada automáticamente"/>
          <p:cNvPicPr preferRelativeResize="0"/>
          <p:nvPr/>
        </p:nvPicPr>
        <p:blipFill rotWithShape="1">
          <a:blip r:embed="rId3">
            <a:alphaModFix/>
          </a:blip>
          <a:srcRect/>
          <a:stretch/>
        </p:blipFill>
        <p:spPr>
          <a:xfrm>
            <a:off x="4295868" y="3332097"/>
            <a:ext cx="4358890" cy="876191"/>
          </a:xfrm>
          <a:prstGeom prst="rect">
            <a:avLst/>
          </a:prstGeom>
          <a:noFill/>
          <a:ln>
            <a:noFill/>
          </a:ln>
        </p:spPr>
      </p:pic>
      <p:pic>
        <p:nvPicPr>
          <p:cNvPr id="172" name="Google Shape;172;p80" descr="Logotipo&#10;&#10;Descripción generada automáticamente con confianza media"/>
          <p:cNvPicPr preferRelativeResize="0"/>
          <p:nvPr/>
        </p:nvPicPr>
        <p:blipFill rotWithShape="1">
          <a:blip r:embed="rId4">
            <a:alphaModFix/>
          </a:blip>
          <a:srcRect/>
          <a:stretch/>
        </p:blipFill>
        <p:spPr>
          <a:xfrm>
            <a:off x="717990" y="3383785"/>
            <a:ext cx="3321748" cy="77281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3"/>
        <p:cNvGrpSpPr/>
        <p:nvPr/>
      </p:nvGrpSpPr>
      <p:grpSpPr>
        <a:xfrm>
          <a:off x="0" y="0"/>
          <a:ext cx="0" cy="0"/>
          <a:chOff x="0" y="0"/>
          <a:chExt cx="0" cy="0"/>
        </a:xfrm>
      </p:grpSpPr>
      <p:sp>
        <p:nvSpPr>
          <p:cNvPr id="174" name="Google Shape;174;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81"/>
          <p:cNvSpPr>
            <a:spLocks noGrp="1"/>
          </p:cNvSpPr>
          <p:nvPr>
            <p:ph type="pic" idx="2"/>
          </p:nvPr>
        </p:nvSpPr>
        <p:spPr>
          <a:xfrm>
            <a:off x="5183188" y="987425"/>
            <a:ext cx="6172200" cy="4873625"/>
          </a:xfrm>
          <a:prstGeom prst="rect">
            <a:avLst/>
          </a:prstGeom>
          <a:noFill/>
          <a:ln>
            <a:noFill/>
          </a:ln>
        </p:spPr>
      </p:sp>
      <p:sp>
        <p:nvSpPr>
          <p:cNvPr id="176" name="Google Shape;176;p8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7" name="Google Shape;177;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pic>
        <p:nvPicPr>
          <p:cNvPr id="178" name="Google Shape;178;p81"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pic>
        <p:nvPicPr>
          <p:cNvPr id="179" name="Google Shape;179;p81"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bg>
      <p:bgPr>
        <a:solidFill>
          <a:schemeClr val="accent1"/>
        </a:solidFill>
        <a:effectLst/>
      </p:bgPr>
    </p:bg>
    <p:spTree>
      <p:nvGrpSpPr>
        <p:cNvPr id="1" name="Shape 180"/>
        <p:cNvGrpSpPr/>
        <p:nvPr/>
      </p:nvGrpSpPr>
      <p:grpSpPr>
        <a:xfrm>
          <a:off x="0" y="0"/>
          <a:ext cx="0" cy="0"/>
          <a:chOff x="0" y="0"/>
          <a:chExt cx="0" cy="0"/>
        </a:xfrm>
      </p:grpSpPr>
      <p:pic>
        <p:nvPicPr>
          <p:cNvPr id="181" name="Google Shape;181;p82"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sp>
        <p:nvSpPr>
          <p:cNvPr id="182" name="Google Shape;182;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3200"/>
              <a:buFont typeface="Play"/>
              <a:buNone/>
              <a:defRPr sz="32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82"/>
          <p:cNvSpPr>
            <a:spLocks noGrp="1"/>
          </p:cNvSpPr>
          <p:nvPr>
            <p:ph type="pic" idx="2"/>
          </p:nvPr>
        </p:nvSpPr>
        <p:spPr>
          <a:xfrm>
            <a:off x="5183188" y="987425"/>
            <a:ext cx="6172200" cy="4873625"/>
          </a:xfrm>
          <a:prstGeom prst="rect">
            <a:avLst/>
          </a:prstGeom>
          <a:noFill/>
          <a:ln>
            <a:noFill/>
          </a:ln>
        </p:spPr>
      </p:sp>
      <p:sp>
        <p:nvSpPr>
          <p:cNvPr id="184" name="Google Shape;184;p8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2"/>
              </a:buClr>
              <a:buSzPts val="1600"/>
              <a:buNone/>
              <a:defRPr sz="1600">
                <a:solidFill>
                  <a:schemeClr val="lt2"/>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85" name="Google Shape;185;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pic>
        <p:nvPicPr>
          <p:cNvPr id="186" name="Google Shape;186;p82"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Imagen con título">
  <p:cSld name="2_Imagen con título">
    <p:bg>
      <p:bgPr>
        <a:solidFill>
          <a:schemeClr val="accent4"/>
        </a:solidFill>
        <a:effectLst/>
      </p:bgPr>
    </p:bg>
    <p:spTree>
      <p:nvGrpSpPr>
        <p:cNvPr id="1" name="Shape 187"/>
        <p:cNvGrpSpPr/>
        <p:nvPr/>
      </p:nvGrpSpPr>
      <p:grpSpPr>
        <a:xfrm>
          <a:off x="0" y="0"/>
          <a:ext cx="0" cy="0"/>
          <a:chOff x="0" y="0"/>
          <a:chExt cx="0" cy="0"/>
        </a:xfrm>
      </p:grpSpPr>
      <p:pic>
        <p:nvPicPr>
          <p:cNvPr id="188" name="Google Shape;188;p83" descr="Logotipo&#10;&#10;Descripción generada automáticamente"/>
          <p:cNvPicPr preferRelativeResize="0"/>
          <p:nvPr/>
        </p:nvPicPr>
        <p:blipFill rotWithShape="1">
          <a:blip r:embed="rId2">
            <a:alphaModFix/>
          </a:blip>
          <a:srcRect/>
          <a:stretch/>
        </p:blipFill>
        <p:spPr>
          <a:xfrm>
            <a:off x="674921" y="6113578"/>
            <a:ext cx="1890650" cy="607897"/>
          </a:xfrm>
          <a:prstGeom prst="rect">
            <a:avLst/>
          </a:prstGeom>
          <a:noFill/>
          <a:ln>
            <a:noFill/>
          </a:ln>
        </p:spPr>
      </p:pic>
      <p:pic>
        <p:nvPicPr>
          <p:cNvPr id="189" name="Google Shape;189;p83"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0" name="Google Shape;190;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83"/>
          <p:cNvSpPr>
            <a:spLocks noGrp="1"/>
          </p:cNvSpPr>
          <p:nvPr>
            <p:ph type="pic" idx="2"/>
          </p:nvPr>
        </p:nvSpPr>
        <p:spPr>
          <a:xfrm>
            <a:off x="5183188" y="987425"/>
            <a:ext cx="6172200" cy="4873625"/>
          </a:xfrm>
          <a:prstGeom prst="rect">
            <a:avLst/>
          </a:prstGeom>
          <a:noFill/>
          <a:ln>
            <a:noFill/>
          </a:ln>
        </p:spPr>
      </p:sp>
      <p:sp>
        <p:nvSpPr>
          <p:cNvPr id="192" name="Google Shape;192;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3" name="Google Shape;19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_Imagen con título">
  <p:cSld name="3_Imagen con título">
    <p:bg>
      <p:bgPr>
        <a:solidFill>
          <a:schemeClr val="accent5"/>
        </a:solidFill>
        <a:effectLst/>
      </p:bgPr>
    </p:bg>
    <p:spTree>
      <p:nvGrpSpPr>
        <p:cNvPr id="1" name="Shape 194"/>
        <p:cNvGrpSpPr/>
        <p:nvPr/>
      </p:nvGrpSpPr>
      <p:grpSpPr>
        <a:xfrm>
          <a:off x="0" y="0"/>
          <a:ext cx="0" cy="0"/>
          <a:chOff x="0" y="0"/>
          <a:chExt cx="0" cy="0"/>
        </a:xfrm>
      </p:grpSpPr>
      <p:pic>
        <p:nvPicPr>
          <p:cNvPr id="195" name="Google Shape;195;p84" descr="Logotipo&#10;&#10;Descripción generada automáticamente"/>
          <p:cNvPicPr preferRelativeResize="0"/>
          <p:nvPr/>
        </p:nvPicPr>
        <p:blipFill rotWithShape="1">
          <a:blip r:embed="rId2">
            <a:alphaModFix/>
          </a:blip>
          <a:srcRect/>
          <a:stretch/>
        </p:blipFill>
        <p:spPr>
          <a:xfrm>
            <a:off x="717120" y="6119502"/>
            <a:ext cx="1275453" cy="481548"/>
          </a:xfrm>
          <a:prstGeom prst="rect">
            <a:avLst/>
          </a:prstGeom>
          <a:noFill/>
          <a:ln>
            <a:noFill/>
          </a:ln>
        </p:spPr>
      </p:pic>
      <p:pic>
        <p:nvPicPr>
          <p:cNvPr id="196" name="Google Shape;196;p84"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7" name="Google Shape;197;p8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84"/>
          <p:cNvSpPr>
            <a:spLocks noGrp="1"/>
          </p:cNvSpPr>
          <p:nvPr>
            <p:ph type="pic" idx="2"/>
          </p:nvPr>
        </p:nvSpPr>
        <p:spPr>
          <a:xfrm>
            <a:off x="5183188" y="987425"/>
            <a:ext cx="6172200" cy="4873625"/>
          </a:xfrm>
          <a:prstGeom prst="rect">
            <a:avLst/>
          </a:prstGeom>
          <a:noFill/>
          <a:ln>
            <a:noFill/>
          </a:ln>
        </p:spPr>
      </p:sp>
      <p:sp>
        <p:nvSpPr>
          <p:cNvPr id="199" name="Google Shape;199;p8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0" name="Google Shape;20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01"/>
        <p:cNvGrpSpPr/>
        <p:nvPr/>
      </p:nvGrpSpPr>
      <p:grpSpPr>
        <a:xfrm>
          <a:off x="0" y="0"/>
          <a:ext cx="0" cy="0"/>
          <a:chOff x="0" y="0"/>
          <a:chExt cx="0" cy="0"/>
        </a:xfrm>
      </p:grpSpPr>
      <p:sp>
        <p:nvSpPr>
          <p:cNvPr id="202" name="Google Shape;202;p85"/>
          <p:cNvSpPr txBox="1">
            <a:spLocks noGrp="1"/>
          </p:cNvSpPr>
          <p:nvPr>
            <p:ph type="title"/>
          </p:nvPr>
        </p:nvSpPr>
        <p:spPr>
          <a:xfrm>
            <a:off x="551384" y="302459"/>
            <a:ext cx="10081120" cy="24622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03"/>
        <p:cNvGrpSpPr/>
        <p:nvPr/>
      </p:nvGrpSpPr>
      <p:grpSpPr>
        <a:xfrm>
          <a:off x="0" y="0"/>
          <a:ext cx="0" cy="0"/>
          <a:chOff x="0" y="0"/>
          <a:chExt cx="0" cy="0"/>
        </a:xfrm>
      </p:grpSpPr>
      <p:sp>
        <p:nvSpPr>
          <p:cNvPr id="204" name="Google Shape;204;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86"/>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0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1902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719403" y="1694212"/>
            <a:ext cx="5853024" cy="98488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6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2"/>
              </a:buClr>
              <a:buSzPts val="2000"/>
              <a:buFont typeface="Arial"/>
              <a:buChar char="▪"/>
              <a:defRPr sz="1600" b="0" i="0" u="none" strike="noStrike" cap="none">
                <a:solidFill>
                  <a:schemeClr val="dk1"/>
                </a:solidFill>
                <a:latin typeface="Calibri"/>
                <a:ea typeface="Calibri"/>
                <a:cs typeface="Calibri"/>
                <a:sym typeface="Calibri"/>
              </a:defRPr>
            </a:lvl2pPr>
            <a:lvl3pPr marL="1371600" marR="0" lvl="2"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3pPr>
            <a:lvl4pPr marL="1828800" marR="0" lvl="3"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4pPr>
            <a:lvl5pPr marL="2286000" marR="0" lvl="4" indent="-319024" algn="l" rtl="0">
              <a:spcBef>
                <a:spcPts val="0"/>
              </a:spcBef>
              <a:spcAft>
                <a:spcPts val="0"/>
              </a:spcAft>
              <a:buClr>
                <a:schemeClr val="dk2"/>
              </a:buClr>
              <a:buSzPts val="1424"/>
              <a:buFont typeface="Arial"/>
              <a:buChar char="-"/>
              <a:defRPr sz="1600" b="0" i="0" u="none" strike="noStrike" cap="none">
                <a:solidFill>
                  <a:schemeClr val="dk1"/>
                </a:solidFill>
                <a:latin typeface="Calibri"/>
                <a:ea typeface="Calibri"/>
                <a:cs typeface="Calibri"/>
                <a:sym typeface="Calibri"/>
              </a:defRPr>
            </a:lvl5pPr>
            <a:lvl6pPr marL="2743200" marR="0" lvl="5"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6pPr>
            <a:lvl7pPr marL="3200400" marR="0" lvl="6"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7pPr>
            <a:lvl8pPr marL="3657600" marR="0" lvl="7"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8pPr>
            <a:lvl9pPr marL="4114800" marR="0" lvl="8"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 name="Google Shape;7;p61"/>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600" b="1"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9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9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9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9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9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9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9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900" b="1" i="0" u="none" strike="noStrike" cap="none">
                <a:solidFill>
                  <a:schemeClr val="dk2"/>
                </a:solidFill>
                <a:latin typeface="Arial"/>
                <a:ea typeface="Arial"/>
                <a:cs typeface="Arial"/>
                <a:sym typeface="Arial"/>
              </a:defRPr>
            </a:lvl9pPr>
          </a:lstStyle>
          <a:p>
            <a:endParaRPr/>
          </a:p>
        </p:txBody>
      </p:sp>
      <p:sp>
        <p:nvSpPr>
          <p:cNvPr id="8" name="Google Shape;8;p61"/>
          <p:cNvSpPr txBox="1"/>
          <p:nvPr/>
        </p:nvSpPr>
        <p:spPr>
          <a:xfrm>
            <a:off x="11716644" y="6566446"/>
            <a:ext cx="284012" cy="1554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es-CL" sz="1000" b="0" i="0" u="none" strike="noStrike" cap="none">
                <a:solidFill>
                  <a:srgbClr val="33448D"/>
                </a:solidFill>
                <a:latin typeface="Arial"/>
                <a:ea typeface="Arial"/>
                <a:cs typeface="Arial"/>
                <a:sym typeface="Arial"/>
              </a:rPr>
              <a:t>‹Nº›</a:t>
            </a:fld>
            <a:endParaRPr sz="1000" b="0" i="0" u="none" strike="noStrike" cap="none">
              <a:solidFill>
                <a:srgbClr val="33448D"/>
              </a:solidFill>
              <a:latin typeface="Arial"/>
              <a:ea typeface="Arial"/>
              <a:cs typeface="Arial"/>
              <a:sym typeface="Arial"/>
            </a:endParaRPr>
          </a:p>
        </p:txBody>
      </p:sp>
      <p:sp>
        <p:nvSpPr>
          <p:cNvPr id="9" name="Google Shape;9;p61"/>
          <p:cNvSpPr/>
          <p:nvPr/>
        </p:nvSpPr>
        <p:spPr>
          <a:xfrm>
            <a:off x="0" y="831533"/>
            <a:ext cx="12192000" cy="46648"/>
          </a:xfrm>
          <a:prstGeom prst="roundRect">
            <a:avLst>
              <a:gd name="adj" fmla="val 11644"/>
            </a:avLst>
          </a:prstGeom>
          <a:solidFill>
            <a:srgbClr val="2C73BB"/>
          </a:solidFill>
          <a:ln>
            <a:noFill/>
          </a:ln>
        </p:spPr>
        <p:txBody>
          <a:bodyPr spcFirstLastPara="1" wrap="square" lIns="93125" tIns="46550" rIns="93125" bIns="4655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10" name="Google Shape;10;p61"/>
          <p:cNvPicPr preferRelativeResize="0"/>
          <p:nvPr/>
        </p:nvPicPr>
        <p:blipFill rotWithShape="1">
          <a:blip r:embed="rId7">
            <a:alphaModFix/>
          </a:blip>
          <a:srcRect/>
          <a:stretch/>
        </p:blipFill>
        <p:spPr>
          <a:xfrm>
            <a:off x="11208568" y="111753"/>
            <a:ext cx="876400" cy="58094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
        <p:cNvGrpSpPr/>
        <p:nvPr/>
      </p:nvGrpSpPr>
      <p:grpSpPr>
        <a:xfrm>
          <a:off x="0" y="0"/>
          <a:ext cx="0" cy="0"/>
          <a:chOff x="0" y="0"/>
          <a:chExt cx="0" cy="0"/>
        </a:xfrm>
      </p:grpSpPr>
      <p:sp>
        <p:nvSpPr>
          <p:cNvPr id="37" name="Google Shape;37;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Play"/>
              <a:buNone/>
              <a:defRPr sz="40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9" name="Google Shape;39;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0" name="Google Shape;40;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1" name="Google Shape;41;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918260"/>
      </p:ext>
    </p:extLst>
  </p:cSld>
  <p:clrMap bg1="lt1" tx1="dk1" bg2="lt2" tx2="dk2" accent1="accent1" accent2="accent2" accent3="accent3" accent4="accent4" accent5="accent5" accent6="accent6" hlink="hlink" folHlink="folHlink"/>
  <p:sldLayoutIdLst>
    <p:sldLayoutId id="2147483679" r:id="rId1"/>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58.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6.xml"/><Relationship Id="rId1" Type="http://schemas.openxmlformats.org/officeDocument/2006/relationships/slideLayout" Target="../slideLayouts/slideLayout28.xml"/><Relationship Id="rId4" Type="http://schemas.openxmlformats.org/officeDocument/2006/relationships/image" Target="../media/image72.png"/></Relationships>
</file>

<file path=ppt/slides/_rels/slide5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7.xml"/><Relationship Id="rId1" Type="http://schemas.openxmlformats.org/officeDocument/2006/relationships/slideLayout" Target="../slideLayouts/slideLayout28.xml"/><Relationship Id="rId5" Type="http://schemas.openxmlformats.org/officeDocument/2006/relationships/image" Target="../media/image72.png"/><Relationship Id="rId4" Type="http://schemas.openxmlformats.org/officeDocument/2006/relationships/image" Target="../media/image73.svg"/></Relationships>
</file>

<file path=ppt/slides/_rels/slide5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79.xml"/><Relationship Id="rId1" Type="http://schemas.openxmlformats.org/officeDocument/2006/relationships/slideLayout" Target="../slideLayouts/slideLayout28.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8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80.xml"/><Relationship Id="rId1" Type="http://schemas.openxmlformats.org/officeDocument/2006/relationships/slideLayout" Target="../slideLayouts/slideLayout28.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81.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81.xml"/><Relationship Id="rId1" Type="http://schemas.openxmlformats.org/officeDocument/2006/relationships/slideLayout" Target="../slideLayouts/slideLayout28.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3.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1.png"/></Relationships>
</file>

<file path=ppt/slides/_rels/slide8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jpg"/><Relationship Id="rId2" Type="http://schemas.openxmlformats.org/officeDocument/2006/relationships/notesSlide" Target="../notesSlides/notesSlide85.xml"/><Relationship Id="rId1" Type="http://schemas.openxmlformats.org/officeDocument/2006/relationships/slideLayout" Target="../slideLayouts/slideLayout27.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
          <p:cNvSpPr txBox="1">
            <a:spLocks noGrp="1"/>
          </p:cNvSpPr>
          <p:nvPr>
            <p:ph type="subTitle" idx="1"/>
          </p:nvPr>
        </p:nvSpPr>
        <p:spPr>
          <a:xfrm>
            <a:off x="928356" y="5044946"/>
            <a:ext cx="5036084"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2000" b="1" dirty="0">
                <a:solidFill>
                  <a:srgbClr val="192146"/>
                </a:solidFill>
              </a:rPr>
              <a:t>Comité TECSERVICE</a:t>
            </a:r>
            <a:endParaRPr dirty="0"/>
          </a:p>
          <a:p>
            <a:pPr marL="0" lvl="0" indent="0" algn="l" rtl="0">
              <a:spcBef>
                <a:spcPts val="0"/>
              </a:spcBef>
              <a:spcAft>
                <a:spcPts val="0"/>
              </a:spcAft>
              <a:buNone/>
            </a:pPr>
            <a:r>
              <a:rPr lang="es-CL" dirty="0">
                <a:solidFill>
                  <a:srgbClr val="192146"/>
                </a:solidFill>
              </a:rPr>
              <a:t>19 octubre 2026</a:t>
            </a:r>
            <a:endParaRPr dirty="0"/>
          </a:p>
        </p:txBody>
      </p:sp>
      <p:sp>
        <p:nvSpPr>
          <p:cNvPr id="214" name="Google Shape;214;p1"/>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215" name="Google Shape;215;p1"/>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216" name="Google Shape;216;p1"/>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217" name="Google Shape;217;p1"/>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335FC8E7-B8F5-F89D-81A6-1730A638EE00}"/>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18C43288-93FE-68BA-CA33-339ACE5BDBA4}"/>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5CB74DE0-8D84-3C66-BBB2-DD1F99EF195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E3E1B001-4175-540F-A765-DFD02DFCCA49}"/>
              </a:ext>
            </a:extLst>
          </p:cNvPr>
          <p:cNvSpPr/>
          <p:nvPr/>
        </p:nvSpPr>
        <p:spPr>
          <a:xfrm>
            <a:off x="393700" y="845389"/>
            <a:ext cx="11312345" cy="25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93953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E28980-C901-8F6C-EE21-DBA67BE16729}"/>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4CA09FC5-B87D-CDF9-61FA-03E6F5DBA9C5}"/>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Decisiones Hoy</a:t>
            </a:r>
            <a:endParaRPr sz="2700" b="0" i="0" u="none" strike="noStrike" cap="none" dirty="0">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26E03DF6-C86C-32A7-5DFC-EFE1C95370D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MX" sz="1100" b="0" i="0" u="none" strike="noStrike" cap="none" dirty="0">
                <a:solidFill>
                  <a:srgbClr val="373C46"/>
                </a:solidFill>
                <a:latin typeface="Arial"/>
                <a:ea typeface="Arial"/>
                <a:cs typeface="Arial"/>
                <a:sym typeface="Arial"/>
              </a:rPr>
              <a:t>Informe final SCMS Hp Felix Bulnes </a:t>
            </a:r>
          </a:p>
          <a:p>
            <a:pPr marL="171450" marR="0" lvl="0" indent="-171450" algn="l" rtl="0">
              <a:spcBef>
                <a:spcPts val="0"/>
              </a:spcBef>
              <a:spcAft>
                <a:spcPts val="0"/>
              </a:spcAft>
              <a:buClr>
                <a:srgbClr val="373C46"/>
              </a:buClr>
              <a:buSzPts val="1100"/>
              <a:buFont typeface="Arial"/>
              <a:buChar char="•"/>
            </a:pPr>
            <a:endParaRPr lang="es-MX" sz="1100" b="0" i="0" u="none" strike="noStrike" cap="none" dirty="0">
              <a:solidFill>
                <a:srgbClr val="373C46"/>
              </a:solidFill>
              <a:latin typeface="Arial"/>
              <a:ea typeface="Arial"/>
              <a:cs typeface="Arial"/>
              <a:sym typeface="Arial"/>
            </a:endParaRPr>
          </a:p>
          <a:p>
            <a:pPr fontAlgn="t"/>
            <a:r>
              <a:rPr lang="es-CL" sz="1100" dirty="0">
                <a:solidFill>
                  <a:srgbClr val="373C46"/>
                </a:solidFill>
              </a:rPr>
              <a:t>1. Objetivo de la investigación</a:t>
            </a:r>
          </a:p>
          <a:p>
            <a:pPr marL="342900" lvl="0" indent="-342900" fontAlgn="t">
              <a:buFont typeface="Arial" panose="020B0604020202020204" pitchFamily="34" charset="0"/>
              <a:buChar char="•"/>
            </a:pPr>
            <a:r>
              <a:rPr lang="es-CL" sz="1100" dirty="0">
                <a:solidFill>
                  <a:srgbClr val="373C46"/>
                </a:solidFill>
              </a:rPr>
              <a:t>Determinar, en la medida de la evidencia disponible, las posibles causas del siniestro ocurrido el 30 de junio de 2026 en la lavadora </a:t>
            </a:r>
            <a:r>
              <a:rPr lang="es-CL" sz="1100" dirty="0" err="1">
                <a:solidFill>
                  <a:srgbClr val="373C46"/>
                </a:solidFill>
              </a:rPr>
              <a:t>termodesinfectadora</a:t>
            </a:r>
            <a:r>
              <a:rPr lang="es-CL" sz="1100" dirty="0">
                <a:solidFill>
                  <a:srgbClr val="373C46"/>
                </a:solidFill>
              </a:rPr>
              <a:t> </a:t>
            </a:r>
            <a:r>
              <a:rPr lang="es-CL" sz="1100" dirty="0" err="1">
                <a:solidFill>
                  <a:srgbClr val="373C46"/>
                </a:solidFill>
              </a:rPr>
              <a:t>Steelco</a:t>
            </a:r>
            <a:r>
              <a:rPr lang="es-CL" sz="1100" dirty="0">
                <a:solidFill>
                  <a:srgbClr val="373C46"/>
                </a:solidFill>
              </a:rPr>
              <a:t> DS610-2SL-2S ubicada en la Unidad SEDILE del Hospital Félix Bulnes.</a:t>
            </a:r>
          </a:p>
          <a:p>
            <a:pPr marL="342900" lvl="0" indent="-342900" fontAlgn="t">
              <a:buFont typeface="Arial" panose="020B0604020202020204" pitchFamily="34" charset="0"/>
              <a:buChar char="•"/>
            </a:pPr>
            <a:r>
              <a:rPr lang="es-CL" sz="1100" dirty="0">
                <a:solidFill>
                  <a:srgbClr val="373C46"/>
                </a:solidFill>
              </a:rPr>
              <a:t>La investigación incluyó inspección visual, preservación de evidencia, desmontaje de componentes, evaluaciones eléctricas y mecánicas, recuperación de registros operacionales y revisión documental.</a:t>
            </a:r>
          </a:p>
          <a:p>
            <a:pPr marL="171450" marR="0" lvl="0" indent="-171450" algn="l" rtl="0">
              <a:spcBef>
                <a:spcPts val="0"/>
              </a:spcBef>
              <a:spcAft>
                <a:spcPts val="0"/>
              </a:spcAft>
              <a:buClr>
                <a:srgbClr val="373C46"/>
              </a:buClr>
              <a:buSzPts val="1100"/>
              <a:buFont typeface="Arial"/>
              <a:buChar char="•"/>
            </a:pPr>
            <a:endParaRPr lang="es-MX" sz="1100" b="0" i="0" u="none" strike="noStrike" cap="none" dirty="0">
              <a:solidFill>
                <a:srgbClr val="373C46"/>
              </a:solidFill>
              <a:latin typeface="Arial"/>
              <a:ea typeface="Arial"/>
              <a:cs typeface="Arial"/>
              <a:sym typeface="Arial"/>
            </a:endParaRPr>
          </a:p>
          <a:p>
            <a:pPr marR="0" lvl="0" algn="l" rtl="0">
              <a:spcBef>
                <a:spcPts val="0"/>
              </a:spcBef>
              <a:spcAft>
                <a:spcPts val="0"/>
              </a:spcAft>
              <a:buClr>
                <a:srgbClr val="373C46"/>
              </a:buClr>
              <a:buSzPts val="1100"/>
            </a:pPr>
            <a:endParaRPr lang="es-MX" sz="1100" dirty="0">
              <a:solidFill>
                <a:srgbClr val="373C46"/>
              </a:solidFill>
            </a:endParaRPr>
          </a:p>
          <a:p>
            <a:pPr marL="171450" marR="0" lvl="0" indent="-171450" algn="l" rtl="0">
              <a:spcBef>
                <a:spcPts val="0"/>
              </a:spcBef>
              <a:spcAft>
                <a:spcPts val="0"/>
              </a:spcAft>
              <a:buClr>
                <a:srgbClr val="373C46"/>
              </a:buClr>
              <a:buSzPts val="1100"/>
              <a:buFont typeface="Arial"/>
              <a:buChar char="•"/>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extLst>
      <p:ext uri="{BB962C8B-B14F-4D97-AF65-F5344CB8AC3E}">
        <p14:creationId xmlns:p14="http://schemas.microsoft.com/office/powerpoint/2010/main" val="899077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Información Importante Último Comite</a:t>
            </a:r>
            <a:endParaRPr sz="2700" b="0" i="0" u="none" strike="noStrike" cap="none">
              <a:solidFill>
                <a:srgbClr val="FFFFFF"/>
              </a:solidFill>
              <a:latin typeface="Roboto"/>
              <a:ea typeface="Roboto"/>
              <a:cs typeface="Roboto"/>
              <a:sym typeface="Roboto"/>
            </a:endParaRPr>
          </a:p>
        </p:txBody>
      </p:sp>
      <p:sp>
        <p:nvSpPr>
          <p:cNvPr id="236" name="Google Shape;236;p4"/>
          <p:cNvSpPr/>
          <p:nvPr/>
        </p:nvSpPr>
        <p:spPr>
          <a:xfrm>
            <a:off x="393700" y="854015"/>
            <a:ext cx="11070806" cy="55848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br>
              <a:rPr lang="es-CL" sz="1200" b="1" i="0" u="none" strike="noStrike" cap="none" dirty="0">
                <a:solidFill>
                  <a:schemeClr val="lt1"/>
                </a:solidFill>
                <a:latin typeface="Arial"/>
                <a:ea typeface="Arial"/>
                <a:cs typeface="Arial"/>
                <a:sym typeface="Arial"/>
              </a:rPr>
            </a:br>
            <a:r>
              <a:rPr lang="es-CL" sz="1200" b="1" i="0" u="none" strike="noStrike" cap="none" dirty="0">
                <a:solidFill>
                  <a:schemeClr val="lt1"/>
                </a:solidFill>
                <a:latin typeface="Arial"/>
                <a:ea typeface="Arial"/>
                <a:cs typeface="Arial"/>
                <a:sym typeface="Arial"/>
              </a:rPr>
              <a:t>1. </a:t>
            </a:r>
            <a:r>
              <a:rPr lang="es-MX" sz="1200" b="1" dirty="0">
                <a:solidFill>
                  <a:schemeClr val="lt1"/>
                </a:solidFill>
              </a:rPr>
              <a:t>Foco en plan de negocios – Plan RM y </a:t>
            </a:r>
            <a:r>
              <a:rPr lang="es-MX" sz="1200" b="1" dirty="0" err="1">
                <a:solidFill>
                  <a:schemeClr val="lt1"/>
                </a:solidFill>
              </a:rPr>
              <a:t>Valparaiso</a:t>
            </a:r>
            <a:endParaRPr lang="es-MX" sz="1200" b="1" dirty="0">
              <a:solidFill>
                <a:schemeClr val="lt1"/>
              </a:solidFill>
            </a:endParaRPr>
          </a:p>
          <a:p>
            <a:pPr marL="0" marR="0" lvl="0" indent="0" algn="l" rtl="0">
              <a:spcBef>
                <a:spcPts val="0"/>
              </a:spcBef>
              <a:spcAft>
                <a:spcPts val="0"/>
              </a:spcAft>
              <a:buNone/>
            </a:pPr>
            <a:r>
              <a:rPr lang="es-MX" sz="1200" b="1" dirty="0">
                <a:solidFill>
                  <a:schemeClr val="lt1"/>
                </a:solidFill>
                <a:latin typeface="Arial"/>
                <a:ea typeface="Arial"/>
                <a:cs typeface="Arial"/>
                <a:sym typeface="Arial"/>
              </a:rPr>
              <a:t>2. Plan de Acción Bio – Bio ; Status Plan Sur</a:t>
            </a:r>
            <a:br>
              <a:rPr lang="es-CL" sz="1200" dirty="0">
                <a:solidFill>
                  <a:srgbClr val="7F7F7F"/>
                </a:solidFill>
                <a:latin typeface="Arial"/>
                <a:ea typeface="Arial"/>
                <a:cs typeface="Arial"/>
                <a:sym typeface="Arial"/>
              </a:rPr>
            </a:br>
            <a:endParaRPr sz="1200" dirty="0">
              <a:solidFill>
                <a:srgbClr val="7F7F7F"/>
              </a:solidFill>
              <a:latin typeface="Arial"/>
              <a:ea typeface="Arial"/>
              <a:cs typeface="Arial"/>
              <a:sym typeface="Arial"/>
            </a:endParaRPr>
          </a:p>
          <a:p>
            <a:pPr marL="0" marR="0" lvl="0" indent="0" algn="l" rtl="0">
              <a:spcBef>
                <a:spcPts val="0"/>
              </a:spcBef>
              <a:spcAft>
                <a:spcPts val="0"/>
              </a:spcAft>
              <a:buNone/>
            </a:pPr>
            <a:endParaRPr sz="1200" dirty="0">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0560562-841D-0614-4996-0C126C5E6DA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0E5A4D55-4770-E145-5D42-B0DB6406279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97AF97A3-160F-401A-F05A-9C230288BFCF}"/>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54A2BD3-B50F-11A5-358B-61911454A6C6}"/>
              </a:ext>
            </a:extLst>
          </p:cNvPr>
          <p:cNvSpPr/>
          <p:nvPr/>
        </p:nvSpPr>
        <p:spPr>
          <a:xfrm>
            <a:off x="393700" y="1134000"/>
            <a:ext cx="11312345" cy="9900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0126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Facturación 2</a:t>
            </a:r>
            <a:r>
              <a:rPr lang="es-CL" sz="2700" b="1" dirty="0">
                <a:solidFill>
                  <a:srgbClr val="33448D"/>
                </a:solidFill>
                <a:latin typeface="Roboto"/>
                <a:ea typeface="Roboto"/>
                <a:cs typeface="Roboto"/>
                <a:sym typeface="Roboto"/>
              </a:rPr>
              <a:t>° </a:t>
            </a:r>
            <a:r>
              <a:rPr lang="es-CL" sz="2700" b="1" i="0" u="none" strike="noStrike" cap="none" dirty="0">
                <a:solidFill>
                  <a:srgbClr val="33448D"/>
                </a:solidFill>
                <a:latin typeface="Roboto"/>
                <a:ea typeface="Roboto"/>
                <a:cs typeface="Roboto"/>
                <a:sym typeface="Roboto"/>
              </a:rPr>
              <a:t>Semana de Octubre</a:t>
            </a:r>
          </a:p>
        </p:txBody>
      </p:sp>
      <p:sp>
        <p:nvSpPr>
          <p:cNvPr id="249" name="Google Shape;249;p6"/>
          <p:cNvSpPr/>
          <p:nvPr/>
        </p:nvSpPr>
        <p:spPr>
          <a:xfrm>
            <a:off x="198408" y="4979743"/>
            <a:ext cx="11625292" cy="1300288"/>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 octubre se acumulan MM$2.165,3 de facturación, concentrada principalmente en Servicio Técnico (MM$1.908,0)</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Servicio Técnico acumula MM$1.908,0 de facturación, representando 88,1% de la facturación acumulada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facturación acumulada alcanza MM$2.165,3, un 40,3% por sobre el mismo período del año anterior, equivalente a MM$594,3 adicionales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Trazabilidad acumula MM$74,9 y presenta un avance mensual de 0% sobre el presupuesto, mientras que Servicio Técnico se encuentra 78,0% bajo presupuesto mensual.</a:t>
            </a:r>
          </a:p>
        </p:txBody>
      </p:sp>
      <p:pic>
        <p:nvPicPr>
          <p:cNvPr id="3" name="Imagen 2">
            <a:extLst>
              <a:ext uri="{FF2B5EF4-FFF2-40B4-BE49-F238E27FC236}">
                <a16:creationId xmlns:a16="http://schemas.microsoft.com/office/drawing/2014/main" id="{3EC2E649-5B8C-5463-B7E9-3E1042DAA797}"/>
              </a:ext>
            </a:extLst>
          </p:cNvPr>
          <p:cNvPicPr>
            <a:picLocks noChangeAspect="1"/>
          </p:cNvPicPr>
          <p:nvPr/>
        </p:nvPicPr>
        <p:blipFill>
          <a:blip r:embed="rId3"/>
          <a:stretch>
            <a:fillRect/>
          </a:stretch>
        </p:blipFill>
        <p:spPr>
          <a:xfrm>
            <a:off x="1034652" y="774676"/>
            <a:ext cx="9952804" cy="40694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Desglose Garantía</a:t>
            </a:r>
            <a:r>
              <a:rPr lang="es-CL" sz="2700" b="1">
                <a:solidFill>
                  <a:srgbClr val="33448D"/>
                </a:solidFill>
                <a:latin typeface="Roboto"/>
                <a:ea typeface="Roboto"/>
                <a:cs typeface="Roboto"/>
                <a:sym typeface="Roboto"/>
              </a:rPr>
              <a:t>s Vigentes</a:t>
            </a:r>
            <a:endParaRPr sz="2700" b="0" i="0" u="none" strike="noStrike" cap="none">
              <a:solidFill>
                <a:srgbClr val="FFFFFF"/>
              </a:solidFill>
              <a:latin typeface="Roboto"/>
              <a:ea typeface="Roboto"/>
              <a:cs typeface="Roboto"/>
              <a:sym typeface="Roboto"/>
            </a:endParaRPr>
          </a:p>
        </p:txBody>
      </p:sp>
      <p:sp>
        <p:nvSpPr>
          <p:cNvPr id="256" name="Google Shape;256;p7"/>
          <p:cNvSpPr/>
          <p:nvPr/>
        </p:nvSpPr>
        <p:spPr>
          <a:xfrm>
            <a:off x="7496175" y="988142"/>
            <a:ext cx="4530557" cy="568714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de garantías vigentes alcanza MM$284,6 de ingresos estimados, asociados a 45 contratos, con MM$132,6 de costo estimado y MM$67,1 aún por consumir.</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El costo estimado representa aproximadamente 47% de los ingresos, dejando un margen estimado cercano al 53%.</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presenta una alta concentración en los contratos de mayor monto: los 10 principales reúnen aproximadamente MM$157,5 millones, equivalentes al 55% del monto total.</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Los contratos presentan distintos niveles de consumo y vigencia, con vencimientos que se extienden hasta 2030; una parte relevante aún mantiene un bajo porcentaje de consumo.</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Esterilización concentra la mayor parte de la cartera, tanto en número de contratos como en monto, mientras que Dental presenta una participación menor.</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mantiene MM$67,1 de costo estimado remanente, lo que representa una base relevante de actividad futura, especialmente en contratos con bajo porcentaje de consumo y mayor plazo restante.</a:t>
            </a:r>
          </a:p>
        </p:txBody>
      </p:sp>
      <p:pic>
        <p:nvPicPr>
          <p:cNvPr id="3" name="Imagen 2">
            <a:extLst>
              <a:ext uri="{FF2B5EF4-FFF2-40B4-BE49-F238E27FC236}">
                <a16:creationId xmlns:a16="http://schemas.microsoft.com/office/drawing/2014/main" id="{2B30CC63-AD7F-765A-BAA2-1C9B6E42D60D}"/>
              </a:ext>
            </a:extLst>
          </p:cNvPr>
          <p:cNvPicPr>
            <a:picLocks noChangeAspect="1"/>
          </p:cNvPicPr>
          <p:nvPr/>
        </p:nvPicPr>
        <p:blipFill>
          <a:blip r:embed="rId3"/>
          <a:srcRect b="6375"/>
          <a:stretch>
            <a:fillRect/>
          </a:stretch>
        </p:blipFill>
        <p:spPr>
          <a:xfrm>
            <a:off x="-4100" y="770896"/>
            <a:ext cx="6866237" cy="56871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Agrupación por Línea de Negocio </a:t>
            </a:r>
            <a:endParaRPr sz="2700" b="0" i="0" u="none" strike="noStrike" cap="none">
              <a:solidFill>
                <a:srgbClr val="FFFFFF"/>
              </a:solidFill>
              <a:latin typeface="Roboto"/>
              <a:ea typeface="Roboto"/>
              <a:cs typeface="Roboto"/>
              <a:sym typeface="Roboto"/>
            </a:endParaRPr>
          </a:p>
        </p:txBody>
      </p:sp>
      <p:sp>
        <p:nvSpPr>
          <p:cNvPr id="263" name="Google Shape;263;p8"/>
          <p:cNvSpPr/>
          <p:nvPr/>
        </p:nvSpPr>
        <p:spPr>
          <a:xfrm>
            <a:off x="246000" y="2510210"/>
            <a:ext cx="11700000" cy="3695705"/>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esterilización concentra el 80% de los contratos vigentes, con 36 de los 45 contratos de la cartera, versus 9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representa cerca del 90% del costo total estimado, alcanzando MM$118,9, versus MM$13,6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costo remanente asciende a MM$67,1, equivalente al 50,6% del costo total estimado, quedando MM$65,5 consumidos.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A nivel consolidado, se ha consumido 49,4% del costo estimado, manteniéndose 50,6% pendiente de consumir.</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Los contratos de Dental presentan un mayor nivel de avance, con 57,5% consumido, versus 48,5% en Esterilización.</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concentra el 91,4% del costo remanente, con MM$61,3, constituyendo la principal exposición futura de la cartera.</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promedio de días restantes es de 325 días, con una diferencia relevante entre Esterilización (377 días) y Dental (118 días).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cartera presenta una alta concentración en proyectos de Esterilización, que además concentran la mayor parte del costo remanente y del plazo pendiente.</a:t>
            </a:r>
          </a:p>
        </p:txBody>
      </p:sp>
      <p:pic>
        <p:nvPicPr>
          <p:cNvPr id="3" name="Imagen 2">
            <a:extLst>
              <a:ext uri="{FF2B5EF4-FFF2-40B4-BE49-F238E27FC236}">
                <a16:creationId xmlns:a16="http://schemas.microsoft.com/office/drawing/2014/main" id="{04D5AFC7-5C54-405A-4A17-5C9631ABC97C}"/>
              </a:ext>
            </a:extLst>
          </p:cNvPr>
          <p:cNvPicPr>
            <a:picLocks noChangeAspect="1"/>
          </p:cNvPicPr>
          <p:nvPr/>
        </p:nvPicPr>
        <p:blipFill>
          <a:blip r:embed="rId3"/>
          <a:srcRect t="21033" b="28757"/>
          <a:stretch>
            <a:fillRect/>
          </a:stretch>
        </p:blipFill>
        <p:spPr>
          <a:xfrm>
            <a:off x="13300" y="971315"/>
            <a:ext cx="12192000" cy="117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Brechas de Facturación</a:t>
            </a:r>
            <a:endParaRPr sz="2700" b="0" i="0" u="none" strike="noStrike" cap="none">
              <a:solidFill>
                <a:srgbClr val="FFFFFF"/>
              </a:solidFill>
              <a:latin typeface="Roboto"/>
              <a:ea typeface="Roboto"/>
              <a:cs typeface="Roboto"/>
              <a:sym typeface="Roboto"/>
            </a:endParaRPr>
          </a:p>
        </p:txBody>
      </p:sp>
      <p:sp>
        <p:nvSpPr>
          <p:cNvPr id="270" name="Google Shape;270;p9"/>
          <p:cNvSpPr/>
          <p:nvPr/>
        </p:nvSpPr>
        <p:spPr>
          <a:xfrm>
            <a:off x="94891" y="3540773"/>
            <a:ext cx="1319839" cy="3134516"/>
          </a:xfrm>
          <a:prstGeom prst="rect">
            <a:avLst/>
          </a:prstGeom>
          <a:solidFill>
            <a:schemeClr val="dk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050" dirty="0">
                <a:solidFill>
                  <a:schemeClr val="lt1"/>
                </a:solidFill>
                <a:latin typeface="Arial"/>
                <a:ea typeface="Arial"/>
                <a:cs typeface="Arial"/>
                <a:sym typeface="Arial"/>
              </a:rPr>
              <a:t>En total MM$</a:t>
            </a:r>
            <a:r>
              <a:rPr lang="es-MX" sz="1050" dirty="0">
                <a:solidFill>
                  <a:schemeClr val="lt1"/>
                </a:solidFill>
              </a:rPr>
              <a:t>8,9</a:t>
            </a:r>
            <a:r>
              <a:rPr lang="es-MX" sz="1050" dirty="0">
                <a:solidFill>
                  <a:schemeClr val="lt1"/>
                </a:solidFill>
                <a:latin typeface="Arial"/>
                <a:ea typeface="Arial"/>
                <a:cs typeface="Arial"/>
                <a:sym typeface="Arial"/>
              </a:rPr>
              <a:t> por facturar, sin embargo, no se ha recibido la documentación pendiente por parte de ciertos hospitales.</a:t>
            </a:r>
          </a:p>
          <a:p>
            <a:pPr marL="0" marR="0" lvl="0" indent="0" algn="l" rtl="0">
              <a:spcBef>
                <a:spcPts val="0"/>
              </a:spcBef>
              <a:spcAft>
                <a:spcPts val="0"/>
              </a:spcAft>
              <a:buNone/>
            </a:pPr>
            <a:endParaRPr lang="es-MX" sz="1050" dirty="0">
              <a:solidFill>
                <a:schemeClr val="lt1"/>
              </a:solidFill>
              <a:latin typeface="Arial"/>
              <a:ea typeface="Arial"/>
              <a:cs typeface="Arial"/>
              <a:sym typeface="Arial"/>
            </a:endParaRPr>
          </a:p>
          <a:p>
            <a:pPr marL="0" marR="0" lvl="0" indent="0" algn="l" rtl="0">
              <a:spcBef>
                <a:spcPts val="0"/>
              </a:spcBef>
              <a:spcAft>
                <a:spcPts val="0"/>
              </a:spcAft>
              <a:buNone/>
            </a:pPr>
            <a:r>
              <a:rPr lang="es-MX" sz="1050" dirty="0">
                <a:solidFill>
                  <a:schemeClr val="lt1"/>
                </a:solidFill>
                <a:latin typeface="Arial"/>
                <a:ea typeface="Arial"/>
                <a:cs typeface="Arial"/>
                <a:sym typeface="Arial"/>
              </a:rPr>
              <a:t>Se concentra fuerte: dos clientes explican el </a:t>
            </a:r>
            <a:r>
              <a:rPr lang="es-MX" sz="1050" dirty="0">
                <a:solidFill>
                  <a:schemeClr val="lt1"/>
                </a:solidFill>
              </a:rPr>
              <a:t>62</a:t>
            </a:r>
            <a:r>
              <a:rPr lang="es-MX" sz="1050" dirty="0">
                <a:solidFill>
                  <a:schemeClr val="lt1"/>
                </a:solidFill>
                <a:latin typeface="Arial"/>
                <a:ea typeface="Arial"/>
                <a:cs typeface="Arial"/>
                <a:sym typeface="Arial"/>
              </a:rPr>
              <a:t>%</a:t>
            </a:r>
            <a:endParaRPr lang="es-MX" dirty="0"/>
          </a:p>
          <a:p>
            <a:pPr marL="171450" marR="0" lvl="0" indent="-171450" algn="l" rtl="0">
              <a:spcBef>
                <a:spcPts val="0"/>
              </a:spcBef>
              <a:spcAft>
                <a:spcPts val="0"/>
              </a:spcAft>
              <a:buClr>
                <a:schemeClr val="lt1"/>
              </a:buClr>
              <a:buSzPts val="1050"/>
              <a:buFont typeface="Arial"/>
              <a:buChar char="•"/>
            </a:pPr>
            <a:r>
              <a:rPr lang="en-US" sz="1050" dirty="0">
                <a:solidFill>
                  <a:schemeClr val="lt1"/>
                </a:solidFill>
                <a:latin typeface="Arial"/>
                <a:ea typeface="Arial"/>
                <a:cs typeface="Arial"/>
                <a:sym typeface="Arial"/>
              </a:rPr>
              <a:t>Hospital San José: MM$4,1 (</a:t>
            </a:r>
            <a:r>
              <a:rPr lang="en-US" sz="1050" dirty="0">
                <a:solidFill>
                  <a:schemeClr val="lt1"/>
                </a:solidFill>
              </a:rPr>
              <a:t>45</a:t>
            </a:r>
            <a:r>
              <a:rPr lang="en-US" sz="1050" dirty="0">
                <a:solidFill>
                  <a:schemeClr val="lt1"/>
                </a:solidFill>
                <a:latin typeface="Arial"/>
                <a:ea typeface="Arial"/>
                <a:cs typeface="Arial"/>
                <a:sym typeface="Arial"/>
              </a:rPr>
              <a:t>,8%)</a:t>
            </a:r>
          </a:p>
          <a:p>
            <a:pPr marL="171450" marR="0" lvl="0" indent="-171450" algn="l" rtl="0">
              <a:spcBef>
                <a:spcPts val="0"/>
              </a:spcBef>
              <a:spcAft>
                <a:spcPts val="0"/>
              </a:spcAft>
              <a:buClr>
                <a:schemeClr val="lt1"/>
              </a:buClr>
              <a:buSzPts val="1050"/>
              <a:buFont typeface="Arial"/>
              <a:buChar char="•"/>
            </a:pPr>
            <a:r>
              <a:rPr lang="es-CL" sz="1050" dirty="0" err="1">
                <a:solidFill>
                  <a:schemeClr val="lt1"/>
                </a:solidFill>
                <a:latin typeface="Arial"/>
                <a:ea typeface="Arial"/>
                <a:cs typeface="Arial"/>
                <a:sym typeface="Arial"/>
              </a:rPr>
              <a:t>Integramedica</a:t>
            </a:r>
            <a:r>
              <a:rPr lang="es-CL" sz="1050" dirty="0">
                <a:solidFill>
                  <a:schemeClr val="lt1"/>
                </a:solidFill>
                <a:latin typeface="Arial"/>
                <a:ea typeface="Arial"/>
                <a:cs typeface="Arial"/>
                <a:sym typeface="Arial"/>
              </a:rPr>
              <a:t> S.A: MM$1,4 (15,7%)</a:t>
            </a:r>
          </a:p>
        </p:txBody>
      </p:sp>
      <p:sp>
        <p:nvSpPr>
          <p:cNvPr id="271" name="Google Shape;271;p9"/>
          <p:cNvSpPr/>
          <p:nvPr/>
        </p:nvSpPr>
        <p:spPr>
          <a:xfrm>
            <a:off x="1414733" y="3524301"/>
            <a:ext cx="2794410" cy="3134514"/>
          </a:xfrm>
          <a:prstGeom prst="rect">
            <a:avLst/>
          </a:prstGeom>
          <a:solidFill>
            <a:schemeClr val="dk1"/>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De 18 clientes, se esperaba una facturación de MM$185,1, sin embargo, a la fecha se ha facturado solo MM$124,9 (brecha MM$</a:t>
            </a:r>
            <a:r>
              <a:rPr lang="es-MX" sz="1100" dirty="0">
                <a:solidFill>
                  <a:schemeClr val="lt1"/>
                </a:solidFill>
              </a:rPr>
              <a:t>60</a:t>
            </a:r>
            <a:r>
              <a:rPr lang="es-MX" sz="1100" dirty="0">
                <a:solidFill>
                  <a:schemeClr val="lt1"/>
                </a:solidFill>
                <a:latin typeface="Arial"/>
                <a:ea typeface="Arial"/>
                <a:cs typeface="Arial"/>
                <a:sym typeface="Arial"/>
              </a:rPr>
              <a:t>,2).</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Principales clientes:</a:t>
            </a:r>
            <a:endParaRPr sz="1100" dirty="0">
              <a:solidFill>
                <a:schemeClr val="lt1"/>
              </a:solidFill>
              <a:highlight>
                <a:srgbClr val="FFFF00"/>
              </a:highlight>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Fundación </a:t>
            </a:r>
            <a:r>
              <a:rPr lang="es-MX" sz="1100" dirty="0" err="1">
                <a:solidFill>
                  <a:schemeClr val="lt1"/>
                </a:solidFill>
                <a:latin typeface="Arial"/>
                <a:ea typeface="Arial"/>
                <a:cs typeface="Arial"/>
                <a:sym typeface="Arial"/>
              </a:rPr>
              <a:t>Anchora</a:t>
            </a:r>
            <a:r>
              <a:rPr lang="es-MX" sz="1100" dirty="0">
                <a:solidFill>
                  <a:schemeClr val="lt1"/>
                </a:solidFill>
                <a:latin typeface="Arial"/>
                <a:ea typeface="Arial"/>
                <a:cs typeface="Arial"/>
                <a:sym typeface="Arial"/>
              </a:rPr>
              <a:t> UC (MM$12,9 vs. MM$2,4 real)</a:t>
            </a:r>
          </a:p>
          <a:p>
            <a:pPr marL="171450" marR="0" lvl="0" indent="-171450" algn="l" rtl="0">
              <a:spcBef>
                <a:spcPts val="0"/>
              </a:spcBef>
              <a:spcAft>
                <a:spcPts val="0"/>
              </a:spcAft>
              <a:buClr>
                <a:schemeClr val="lt1"/>
              </a:buClr>
              <a:buSzPts val="1100"/>
              <a:buFont typeface="Arial"/>
              <a:buChar char="•"/>
            </a:pPr>
            <a:r>
              <a:rPr lang="pt-BR" sz="1100" dirty="0">
                <a:solidFill>
                  <a:schemeClr val="lt1"/>
                </a:solidFill>
                <a:latin typeface="Arial"/>
                <a:ea typeface="Arial"/>
                <a:cs typeface="Arial"/>
                <a:sym typeface="Arial"/>
              </a:rPr>
              <a:t>Clínica </a:t>
            </a:r>
            <a:r>
              <a:rPr lang="pt-BR" sz="1100" dirty="0" err="1">
                <a:solidFill>
                  <a:schemeClr val="lt1"/>
                </a:solidFill>
                <a:latin typeface="Arial"/>
                <a:ea typeface="Arial"/>
                <a:cs typeface="Arial"/>
                <a:sym typeface="Arial"/>
              </a:rPr>
              <a:t>Indisa</a:t>
            </a:r>
            <a:r>
              <a:rPr lang="pt-BR" sz="1100" dirty="0">
                <a:solidFill>
                  <a:schemeClr val="lt1"/>
                </a:solidFill>
                <a:latin typeface="Arial"/>
                <a:ea typeface="Arial"/>
                <a:cs typeface="Arial"/>
                <a:sym typeface="Arial"/>
              </a:rPr>
              <a:t> (MM$28,8 vs. MM$20,5 real)</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Hospital San José (MM$26,6 vs. MM$20,5 real)</a:t>
            </a:r>
            <a:endParaRPr lang="pt-BR"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Johnson y Johnson (MM$30,4 vs. MM$25,7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UC </a:t>
            </a:r>
            <a:r>
              <a:rPr lang="es-MX" sz="1100" dirty="0" err="1">
                <a:solidFill>
                  <a:schemeClr val="lt1"/>
                </a:solidFill>
                <a:latin typeface="Arial"/>
                <a:ea typeface="Arial"/>
                <a:cs typeface="Arial"/>
                <a:sym typeface="Arial"/>
              </a:rPr>
              <a:t>Christus</a:t>
            </a:r>
            <a:r>
              <a:rPr lang="es-MX" sz="1100" dirty="0">
                <a:solidFill>
                  <a:schemeClr val="lt1"/>
                </a:solidFill>
                <a:latin typeface="Arial"/>
                <a:ea typeface="Arial"/>
                <a:cs typeface="Arial"/>
                <a:sym typeface="Arial"/>
              </a:rPr>
              <a:t> Servicios Ambulatorios (MM$9,7 vs. MM$5,3 real)</a:t>
            </a:r>
          </a:p>
        </p:txBody>
      </p:sp>
      <p:sp>
        <p:nvSpPr>
          <p:cNvPr id="272" name="Google Shape;272;p9"/>
          <p:cNvSpPr/>
          <p:nvPr/>
        </p:nvSpPr>
        <p:spPr>
          <a:xfrm>
            <a:off x="4209142" y="3524300"/>
            <a:ext cx="7887967" cy="3134515"/>
          </a:xfrm>
          <a:prstGeom prst="rect">
            <a:avLst/>
          </a:prstGeom>
          <a:no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Hay un total de MM$</a:t>
            </a:r>
            <a:r>
              <a:rPr lang="es-MX" sz="1100" dirty="0">
                <a:solidFill>
                  <a:schemeClr val="lt1"/>
                </a:solidFill>
              </a:rPr>
              <a:t>62,5</a:t>
            </a:r>
            <a:r>
              <a:rPr lang="es-MX" sz="1100" dirty="0">
                <a:solidFill>
                  <a:schemeClr val="lt1"/>
                </a:solidFill>
                <a:latin typeface="Arial"/>
                <a:ea typeface="Arial"/>
                <a:cs typeface="Arial"/>
                <a:sym typeface="Arial"/>
              </a:rPr>
              <a:t> de repuestos que no tienen stock. Son 158 SKU distintos (168 pares cliente-SKU) en 33 clientes. Los principales clientes en espera son:</a:t>
            </a:r>
          </a:p>
          <a:p>
            <a:pPr marL="0" marR="0" lvl="0" indent="0" algn="l" rtl="0">
              <a:spcBef>
                <a:spcPts val="0"/>
              </a:spcBef>
              <a:spcAft>
                <a:spcPts val="0"/>
              </a:spcAft>
              <a:buNone/>
            </a:pPr>
            <a:endParaRPr lang="es-MX"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Hospital Pitrufquén: 13,5% de la brecha (14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Clínica Andes Salud Chillán: 9,6% (12 SKU)</a:t>
            </a:r>
          </a:p>
          <a:p>
            <a:pPr marL="171450" marR="0" lvl="0" indent="-171450" algn="l" rtl="0">
              <a:spcBef>
                <a:spcPts val="0"/>
              </a:spcBef>
              <a:spcAft>
                <a:spcPts val="0"/>
              </a:spcAft>
              <a:buClr>
                <a:schemeClr val="lt1"/>
              </a:buClr>
              <a:buSzPts val="1100"/>
              <a:buFont typeface="Arial"/>
              <a:buChar char="•"/>
            </a:pPr>
            <a:r>
              <a:rPr lang="pt-BR" sz="1100" dirty="0">
                <a:solidFill>
                  <a:schemeClr val="lt1"/>
                </a:solidFill>
                <a:latin typeface="Arial"/>
                <a:ea typeface="Arial"/>
                <a:cs typeface="Arial"/>
                <a:sym typeface="Arial"/>
              </a:rPr>
              <a:t>Hospital Base </a:t>
            </a:r>
            <a:r>
              <a:rPr lang="pt-BR" sz="1100" dirty="0" err="1">
                <a:solidFill>
                  <a:schemeClr val="lt1"/>
                </a:solidFill>
                <a:latin typeface="Arial"/>
                <a:ea typeface="Arial"/>
                <a:cs typeface="Arial"/>
                <a:sym typeface="Arial"/>
              </a:rPr>
              <a:t>Osorno</a:t>
            </a:r>
            <a:r>
              <a:rPr lang="pt-BR" sz="1100" dirty="0">
                <a:solidFill>
                  <a:schemeClr val="lt1"/>
                </a:solidFill>
                <a:latin typeface="Arial"/>
                <a:ea typeface="Arial"/>
                <a:cs typeface="Arial"/>
                <a:sym typeface="Arial"/>
              </a:rPr>
              <a:t>: 8,9% (1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Soc. Concesionaria Metropolitana de Salud: 8,5% (24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Clínica Andes Salud Puerto Montt: 7,8% (3 SKU)</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Cobertura de estos repuestos (valorizada):</a:t>
            </a:r>
            <a:endParaRPr dirty="0"/>
          </a:p>
          <a:p>
            <a:pPr marL="171450" marR="0" lvl="0" indent="-171450" algn="l" rtl="0">
              <a:spcBef>
                <a:spcPts val="0"/>
              </a:spcBef>
              <a:spcAft>
                <a:spcPts val="0"/>
              </a:spcAft>
              <a:buClr>
                <a:schemeClr val="lt1"/>
              </a:buClr>
              <a:buSzPts val="1100"/>
              <a:buFont typeface="Arial"/>
              <a:buChar char="•"/>
            </a:pPr>
            <a:r>
              <a:rPr lang="en-US" sz="1100" dirty="0">
                <a:solidFill>
                  <a:schemeClr val="lt1"/>
                </a:solidFill>
              </a:rPr>
              <a:t>44</a:t>
            </a:r>
            <a:r>
              <a:rPr lang="en-US" sz="1100" dirty="0">
                <a:solidFill>
                  <a:schemeClr val="lt1"/>
                </a:solidFill>
                <a:latin typeface="Arial"/>
                <a:ea typeface="Arial"/>
                <a:cs typeface="Arial"/>
                <a:sym typeface="Arial"/>
              </a:rPr>
              <a:t>%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stock </a:t>
            </a:r>
            <a:r>
              <a:rPr lang="en-US" sz="1100" dirty="0" err="1">
                <a:solidFill>
                  <a:schemeClr val="lt1"/>
                </a:solidFill>
                <a:latin typeface="Arial"/>
                <a:ea typeface="Arial"/>
                <a:cs typeface="Arial"/>
                <a:sym typeface="Arial"/>
              </a:rPr>
              <a:t>en</a:t>
            </a:r>
            <a:r>
              <a:rPr lang="en-US" sz="1100" dirty="0">
                <a:solidFill>
                  <a:schemeClr val="lt1"/>
                </a:solidFill>
                <a:latin typeface="Arial"/>
                <a:ea typeface="Arial"/>
                <a:cs typeface="Arial"/>
                <a:sym typeface="Arial"/>
              </a:rPr>
              <a:t> bodega</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12%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back order</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Stock + back order = 56%</a:t>
            </a:r>
            <a:endParaRPr lang="en-US" sz="1100" dirty="0">
              <a:solidFill>
                <a:schemeClr val="lt1"/>
              </a:solidFill>
            </a:endParaRPr>
          </a:p>
          <a:p>
            <a:pPr marL="171450" marR="0" lvl="0" indent="-171450" algn="l" rtl="0">
              <a:spcBef>
                <a:spcPts val="0"/>
              </a:spcBef>
              <a:spcAft>
                <a:spcPts val="0"/>
              </a:spcAft>
              <a:buClr>
                <a:schemeClr val="lt1"/>
              </a:buClr>
              <a:buSzPts val="1100"/>
              <a:buFont typeface="Arial"/>
              <a:buChar char="•"/>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MX" sz="1100" dirty="0">
                <a:solidFill>
                  <a:schemeClr val="lt1"/>
                </a:solidFill>
                <a:latin typeface="Arial"/>
                <a:ea typeface="Arial"/>
                <a:cs typeface="Arial"/>
                <a:sym typeface="Arial"/>
              </a:rPr>
              <a:t>El restante 44% son MM$</a:t>
            </a:r>
            <a:r>
              <a:rPr lang="es-MX" sz="1100" dirty="0">
                <a:solidFill>
                  <a:schemeClr val="lt1"/>
                </a:solidFill>
              </a:rPr>
              <a:t>27</a:t>
            </a:r>
            <a:r>
              <a:rPr lang="es-MX" sz="1100" dirty="0">
                <a:solidFill>
                  <a:schemeClr val="lt1"/>
                </a:solidFill>
                <a:latin typeface="Arial"/>
                <a:ea typeface="Arial"/>
                <a:cs typeface="Arial"/>
                <a:sym typeface="Arial"/>
              </a:rPr>
              <a:t>,2 en 80 pares cliente-SKU. Se explica principalmente porque 81 de los 168 pares (48%) no figuran en el maestro de inventario, es decir, son repuestos que nunca se han </a:t>
            </a:r>
            <a:r>
              <a:rPr lang="es-MX" sz="1100" dirty="0" err="1">
                <a:solidFill>
                  <a:schemeClr val="lt1"/>
                </a:solidFill>
                <a:latin typeface="Arial"/>
                <a:ea typeface="Arial"/>
                <a:cs typeface="Arial"/>
                <a:sym typeface="Arial"/>
              </a:rPr>
              <a:t>stockeado</a:t>
            </a:r>
            <a:r>
              <a:rPr lang="es-MX" sz="1100" dirty="0">
                <a:solidFill>
                  <a:schemeClr val="lt1"/>
                </a:solidFill>
                <a:latin typeface="Arial"/>
                <a:ea typeface="Arial"/>
                <a:cs typeface="Arial"/>
                <a:sym typeface="Arial"/>
              </a:rPr>
              <a:t>.</a:t>
            </a:r>
          </a:p>
        </p:txBody>
      </p:sp>
      <p:sp>
        <p:nvSpPr>
          <p:cNvPr id="273" name="Google Shape;273;p9"/>
          <p:cNvSpPr/>
          <p:nvPr/>
        </p:nvSpPr>
        <p:spPr>
          <a:xfrm>
            <a:off x="94892" y="3353665"/>
            <a:ext cx="1319838" cy="198409"/>
          </a:xfrm>
          <a:prstGeom prst="rect">
            <a:avLst/>
          </a:pr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Op. X facturar</a:t>
            </a:r>
            <a:endParaRPr sz="1100" b="1">
              <a:solidFill>
                <a:schemeClr val="dk1"/>
              </a:solidFill>
              <a:latin typeface="Arial"/>
              <a:ea typeface="Arial"/>
              <a:cs typeface="Arial"/>
              <a:sym typeface="Arial"/>
            </a:endParaRPr>
          </a:p>
        </p:txBody>
      </p:sp>
      <p:sp>
        <p:nvSpPr>
          <p:cNvPr id="274" name="Google Shape;274;p9"/>
          <p:cNvSpPr/>
          <p:nvPr/>
        </p:nvSpPr>
        <p:spPr>
          <a:xfrm>
            <a:off x="1414733" y="3351025"/>
            <a:ext cx="2794409" cy="220234"/>
          </a:xfrm>
          <a:prstGeom prst="rect">
            <a:avLst/>
          </a:prstGeom>
          <a:solidFill>
            <a:srgbClr val="FFC000"/>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Facturaciones bajo contrato</a:t>
            </a:r>
            <a:endParaRPr sz="1100" b="1">
              <a:solidFill>
                <a:schemeClr val="dk1"/>
              </a:solidFill>
              <a:latin typeface="Arial"/>
              <a:ea typeface="Arial"/>
              <a:cs typeface="Arial"/>
              <a:sym typeface="Arial"/>
            </a:endParaRPr>
          </a:p>
        </p:txBody>
      </p:sp>
      <p:sp>
        <p:nvSpPr>
          <p:cNvPr id="275" name="Google Shape;275;p9"/>
          <p:cNvSpPr/>
          <p:nvPr/>
        </p:nvSpPr>
        <p:spPr>
          <a:xfrm>
            <a:off x="4209142" y="3351025"/>
            <a:ext cx="7887967" cy="220233"/>
          </a:xfrm>
          <a:prstGeom prst="rect">
            <a:avLst/>
          </a:prstGeom>
          <a:solidFill>
            <a:schemeClr val="accent4"/>
          </a:solidFill>
          <a:ln w="19050"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Sin Stock de Repuestos</a:t>
            </a:r>
            <a:endParaRPr sz="1100" b="1">
              <a:solidFill>
                <a:schemeClr val="dk1"/>
              </a:solidFill>
              <a:latin typeface="Arial"/>
              <a:ea typeface="Arial"/>
              <a:cs typeface="Arial"/>
              <a:sym typeface="Arial"/>
            </a:endParaRPr>
          </a:p>
        </p:txBody>
      </p:sp>
      <p:pic>
        <p:nvPicPr>
          <p:cNvPr id="3" name="Imagen 2">
            <a:extLst>
              <a:ext uri="{FF2B5EF4-FFF2-40B4-BE49-F238E27FC236}">
                <a16:creationId xmlns:a16="http://schemas.microsoft.com/office/drawing/2014/main" id="{E8480286-84DD-B73A-D034-D05D2D42CA17}"/>
              </a:ext>
            </a:extLst>
          </p:cNvPr>
          <p:cNvPicPr>
            <a:picLocks noChangeAspect="1"/>
          </p:cNvPicPr>
          <p:nvPr/>
        </p:nvPicPr>
        <p:blipFill>
          <a:blip r:embed="rId3"/>
          <a:srcRect t="14584" b="10498"/>
          <a:stretch>
            <a:fillRect/>
          </a:stretch>
        </p:blipFill>
        <p:spPr>
          <a:xfrm>
            <a:off x="12700" y="747802"/>
            <a:ext cx="12192000" cy="24750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Bruto</a:t>
            </a:r>
            <a:endParaRPr sz="2700" b="0" i="0" u="none" strike="noStrike" cap="none">
              <a:solidFill>
                <a:srgbClr val="FFFFFF"/>
              </a:solidFill>
              <a:latin typeface="Roboto"/>
              <a:ea typeface="Roboto"/>
              <a:cs typeface="Roboto"/>
              <a:sym typeface="Roboto"/>
            </a:endParaRPr>
          </a:p>
        </p:txBody>
      </p:sp>
      <p:sp>
        <p:nvSpPr>
          <p:cNvPr id="282" name="Google Shape;282;p10"/>
          <p:cNvSpPr/>
          <p:nvPr/>
        </p:nvSpPr>
        <p:spPr>
          <a:xfrm>
            <a:off x="8481000" y="999000"/>
            <a:ext cx="3342700" cy="56762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stock pendiente alcanza MM$62,5, distribuido en 201 SKU y 33 clientes, manteniéndose una alta concentración en productos de baja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70,8% del stock presenta baja rotación, mientras que un 7,0% corresponde a rotación media, un 21,3% a alta rotación y un 0,9% a productos sin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3 principales clientes concentran MM$20,0, equivalentes aproximadamente al 32% del stock pendiente, evidenciando una concentración relevante.</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Solo el 28,3% del stock presenta rotación media o alta, manteniéndose un volumen importante de inventario con potencial de gestión para acelerar su salida.</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Pitrufquén concentra el mayor stock pendiente, con MM$8,4, seguido por Clínica Andes Salud Chillán S.A. (MM$6,0) y Hospital Base Osorno (MM$5,6).</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10 principales clientes concentran aproximadamente MM$47,9, equivalentes al 77% del stock pendiente, por lo que las acciones de gestión pueden focalizarse principalmente en este grupo.</a:t>
            </a:r>
          </a:p>
          <a:p>
            <a:pPr marR="0" lvl="0" algn="l" rtl="0">
              <a:spcBef>
                <a:spcPts val="0"/>
              </a:spcBef>
              <a:spcAft>
                <a:spcPts val="0"/>
              </a:spcAft>
              <a:buClr>
                <a:schemeClr val="lt1"/>
              </a:buClr>
              <a:buSzPts val="1200"/>
            </a:pPr>
            <a:endParaRPr lang="es-MX" sz="1200" dirty="0">
              <a:solidFill>
                <a:schemeClr val="lt1"/>
              </a:solidFill>
              <a:latin typeface="Arial"/>
              <a:ea typeface="Arial"/>
              <a:cs typeface="Arial"/>
            </a:endParaRPr>
          </a:p>
        </p:txBody>
      </p:sp>
      <p:pic>
        <p:nvPicPr>
          <p:cNvPr id="3" name="Imagen 2">
            <a:extLst>
              <a:ext uri="{FF2B5EF4-FFF2-40B4-BE49-F238E27FC236}">
                <a16:creationId xmlns:a16="http://schemas.microsoft.com/office/drawing/2014/main" id="{A2213A5E-7C54-0497-5E1C-B494358E8189}"/>
              </a:ext>
            </a:extLst>
          </p:cNvPr>
          <p:cNvPicPr>
            <a:picLocks noChangeAspect="1"/>
          </p:cNvPicPr>
          <p:nvPr/>
        </p:nvPicPr>
        <p:blipFill>
          <a:blip r:embed="rId3"/>
          <a:srcRect t="8784"/>
          <a:stretch>
            <a:fillRect/>
          </a:stretch>
        </p:blipFill>
        <p:spPr>
          <a:xfrm>
            <a:off x="111000" y="606957"/>
            <a:ext cx="8132421" cy="6137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Neto</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5B335F5B-BC7A-659F-BA2C-CE5B018A46F3}"/>
              </a:ext>
            </a:extLst>
          </p:cNvPr>
          <p:cNvPicPr>
            <a:picLocks noChangeAspect="1"/>
          </p:cNvPicPr>
          <p:nvPr/>
        </p:nvPicPr>
        <p:blipFill>
          <a:blip r:embed="rId3"/>
          <a:srcRect t="8784" b="9318"/>
          <a:stretch>
            <a:fillRect/>
          </a:stretch>
        </p:blipFill>
        <p:spPr>
          <a:xfrm>
            <a:off x="966000" y="807964"/>
            <a:ext cx="9979630" cy="5867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DED96D71-249C-1393-8177-BE2796AC10E6}"/>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6255AEBD-354F-668D-E6B2-5B387B59611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9EC3EFD-5CFD-A0BE-8A58-C9748B1950B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26FA9176-4C68-21DE-8E6B-B550A4C697B0}"/>
              </a:ext>
            </a:extLst>
          </p:cNvPr>
          <p:cNvSpPr/>
          <p:nvPr/>
        </p:nvSpPr>
        <p:spPr>
          <a:xfrm>
            <a:off x="393700" y="214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62901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EERR TECSERVICE Cierre </a:t>
            </a:r>
            <a:r>
              <a:rPr lang="es-CL" sz="2700" b="1" dirty="0">
                <a:solidFill>
                  <a:srgbClr val="33448D"/>
                </a:solidFill>
                <a:latin typeface="Roboto"/>
                <a:ea typeface="Roboto"/>
                <a:cs typeface="Roboto"/>
                <a:sym typeface="Roboto"/>
              </a:rPr>
              <a:t>Ago-26</a:t>
            </a:r>
            <a:endParaRPr sz="2700" b="0" i="0" u="none" strike="noStrike" cap="none" dirty="0">
              <a:solidFill>
                <a:srgbClr val="FFFFFF"/>
              </a:solidFill>
              <a:latin typeface="Roboto"/>
              <a:ea typeface="Roboto"/>
              <a:cs typeface="Roboto"/>
              <a:sym typeface="Roboto"/>
            </a:endParaRPr>
          </a:p>
        </p:txBody>
      </p:sp>
      <p:sp>
        <p:nvSpPr>
          <p:cNvPr id="302" name="Google Shape;302;p13"/>
          <p:cNvSpPr/>
          <p:nvPr/>
        </p:nvSpPr>
        <p:spPr>
          <a:xfrm>
            <a:off x="7518900" y="923464"/>
            <a:ext cx="4416348" cy="568234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ingresos acumulados alcanzan MM$1.845,7, superando el presupuesto en MM$56,5 (+3,2%).</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EBITDA Directo alcanza MM$542,5, con un margen de 29,4%, superior al 21,1% presupuestado, reflejando una mayor rentabilidad sobre los ingresos.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Al incorporar GAV Indirecto, el EBITDA Empresa alcanza MM$317,1, MM$88,5 sobre presupuesto (+38,7%), con un margen de 17,2%, superior al 12,8% presupuestado.</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resultado del ejercicio alcanza MM$37,7, versus MM$100,4 presupuestados, evidenciando que, pese a los mayores ingresos y EBITDA, el resultado final se encuentra bajo presupuesto.</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principal desafío está en mantener la conversión del EBITDA en resultado final, dado que, pese a que ingresos, márgenes operacionales y EBITDA se encuentran sobre presupuesto, el resultado no operacional acumula -MM$136,1 y limita la rentabilidad final.</a:t>
            </a:r>
          </a:p>
        </p:txBody>
      </p:sp>
      <p:pic>
        <p:nvPicPr>
          <p:cNvPr id="3" name="Imagen 2">
            <a:extLst>
              <a:ext uri="{FF2B5EF4-FFF2-40B4-BE49-F238E27FC236}">
                <a16:creationId xmlns:a16="http://schemas.microsoft.com/office/drawing/2014/main" id="{E6C57E34-82EE-89A0-AC78-3C25800857D0}"/>
              </a:ext>
            </a:extLst>
          </p:cNvPr>
          <p:cNvPicPr>
            <a:picLocks noChangeAspect="1"/>
          </p:cNvPicPr>
          <p:nvPr/>
        </p:nvPicPr>
        <p:blipFill>
          <a:blip r:embed="rId3"/>
          <a:srcRect t="5905" b="5512"/>
          <a:stretch>
            <a:fillRect/>
          </a:stretch>
        </p:blipFill>
        <p:spPr>
          <a:xfrm>
            <a:off x="9857" y="923464"/>
            <a:ext cx="7374596" cy="56231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EERR Mensualizado</a:t>
            </a:r>
            <a:endParaRPr sz="2700" b="0" i="0" u="none" strike="noStrike" cap="none">
              <a:solidFill>
                <a:srgbClr val="FFFFFF"/>
              </a:solidFill>
              <a:latin typeface="Roboto"/>
              <a:ea typeface="Roboto"/>
              <a:cs typeface="Roboto"/>
              <a:sym typeface="Roboto"/>
            </a:endParaRPr>
          </a:p>
        </p:txBody>
      </p:sp>
      <p:pic>
        <p:nvPicPr>
          <p:cNvPr id="6" name="Imagen 5">
            <a:extLst>
              <a:ext uri="{FF2B5EF4-FFF2-40B4-BE49-F238E27FC236}">
                <a16:creationId xmlns:a16="http://schemas.microsoft.com/office/drawing/2014/main" id="{9FCC5527-8ED9-1B22-0469-BDCFDE3A3573}"/>
              </a:ext>
            </a:extLst>
          </p:cNvPr>
          <p:cNvPicPr>
            <a:picLocks noChangeAspect="1"/>
          </p:cNvPicPr>
          <p:nvPr/>
        </p:nvPicPr>
        <p:blipFill>
          <a:blip r:embed="rId3"/>
          <a:srcRect b="16776"/>
          <a:stretch>
            <a:fillRect/>
          </a:stretch>
        </p:blipFill>
        <p:spPr>
          <a:xfrm>
            <a:off x="12700" y="880837"/>
            <a:ext cx="12192000" cy="518522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70111E4-3455-927A-6D00-CF0C3482BC6B}"/>
            </a:ext>
          </a:extLst>
        </p:cNvPr>
        <p:cNvGrpSpPr/>
        <p:nvPr/>
      </p:nvGrpSpPr>
      <p:grpSpPr>
        <a:xfrm>
          <a:off x="0" y="0"/>
          <a:ext cx="0" cy="0"/>
          <a:chOff x="0" y="0"/>
          <a:chExt cx="0" cy="0"/>
        </a:xfrm>
      </p:grpSpPr>
      <p:sp>
        <p:nvSpPr>
          <p:cNvPr id="301" name="Google Shape;301;p13">
            <a:extLst>
              <a:ext uri="{FF2B5EF4-FFF2-40B4-BE49-F238E27FC236}">
                <a16:creationId xmlns:a16="http://schemas.microsoft.com/office/drawing/2014/main" id="{8FF0802D-B117-C401-1FEE-7D052A07ECD6}"/>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EERR Limpio TECSERVICE Cierre </a:t>
            </a:r>
            <a:r>
              <a:rPr lang="es-CL" sz="2700" b="1" dirty="0">
                <a:solidFill>
                  <a:srgbClr val="33448D"/>
                </a:solidFill>
                <a:latin typeface="Roboto"/>
                <a:ea typeface="Roboto"/>
                <a:cs typeface="Roboto"/>
                <a:sym typeface="Roboto"/>
              </a:rPr>
              <a:t>Ago-26</a:t>
            </a:r>
            <a:endParaRPr sz="2700" b="0" i="0" u="none" strike="noStrike" cap="none" dirty="0">
              <a:solidFill>
                <a:srgbClr val="FFFFFF"/>
              </a:solidFill>
              <a:latin typeface="Roboto"/>
              <a:ea typeface="Roboto"/>
              <a:cs typeface="Roboto"/>
              <a:sym typeface="Roboto"/>
            </a:endParaRPr>
          </a:p>
        </p:txBody>
      </p:sp>
      <p:sp>
        <p:nvSpPr>
          <p:cNvPr id="302" name="Google Shape;302;p13">
            <a:extLst>
              <a:ext uri="{FF2B5EF4-FFF2-40B4-BE49-F238E27FC236}">
                <a16:creationId xmlns:a16="http://schemas.microsoft.com/office/drawing/2014/main" id="{7D4FB2DE-C428-94EB-2184-F640100D96AE}"/>
              </a:ext>
            </a:extLst>
          </p:cNvPr>
          <p:cNvSpPr/>
          <p:nvPr/>
        </p:nvSpPr>
        <p:spPr>
          <a:xfrm>
            <a:off x="7394868" y="774000"/>
            <a:ext cx="4540380" cy="603000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285750" lvl="0" indent="-171450">
              <a:buClrTx/>
              <a:buSzPct val="100000"/>
              <a:buFont typeface="Arial"/>
              <a:buChar char="•"/>
            </a:pPr>
            <a:r>
              <a:rPr lang="es-MX" sz="850" dirty="0">
                <a:solidFill>
                  <a:schemeClr val="lt1"/>
                </a:solidFill>
              </a:rPr>
              <a:t>Los ingresos acumulados alcanzan MM$1.845,7, superando el presupuesto en MM$56,5 (+3,2%).</a:t>
            </a:r>
          </a:p>
          <a:p>
            <a:pPr marL="285750" lvl="0" indent="-171450">
              <a:buClrTx/>
              <a:buSzPct val="100000"/>
              <a:buFont typeface="Arial"/>
              <a:buChar char="•"/>
            </a:pPr>
            <a:r>
              <a:rPr lang="es-MX" sz="850" dirty="0">
                <a:solidFill>
                  <a:schemeClr val="lt1"/>
                </a:solidFill>
              </a:rPr>
              <a:t>El EBITDA Directo alcanza MM$608,0, con un margen de 32,9%, superior al 21,1% presupuestado, reflejando una mayor rentabilidad sobre los ingresos.</a:t>
            </a:r>
          </a:p>
          <a:p>
            <a:pPr marL="285750" lvl="0" indent="-171450">
              <a:buClrTx/>
              <a:buSzPct val="100000"/>
              <a:buFont typeface="Arial"/>
              <a:buChar char="•"/>
            </a:pPr>
            <a:r>
              <a:rPr lang="es-MX" sz="850" dirty="0">
                <a:solidFill>
                  <a:schemeClr val="lt1"/>
                </a:solidFill>
              </a:rPr>
              <a:t>Al incorporar GAV Indirecto, el EBITDA Empresa alcanza MM$373,0, MM$144,4 sobre presupuesto (+63,1%), con un margen de 20,2%, superior al 12,8% presupuestado.</a:t>
            </a:r>
          </a:p>
          <a:p>
            <a:pPr marL="285750" lvl="0" indent="-171450">
              <a:buClrTx/>
              <a:buSzPct val="100000"/>
              <a:buFont typeface="Arial"/>
              <a:buChar char="•"/>
            </a:pPr>
            <a:r>
              <a:rPr lang="es-MX" sz="850" dirty="0">
                <a:solidFill>
                  <a:schemeClr val="lt1"/>
                </a:solidFill>
              </a:rPr>
              <a:t>El resultado del ejercicio alcanza MM$115,3, versus MM$100,4 presupuestados, evidenciando que, junto a los mayores ingresos y EBITDA, el resultado final se encuentra sobre presupuesto.</a:t>
            </a:r>
          </a:p>
          <a:p>
            <a:pPr marL="285750" lvl="0" indent="-171450">
              <a:buClrTx/>
              <a:buSzPct val="100000"/>
              <a:buFont typeface="Arial"/>
              <a:buChar char="•"/>
            </a:pPr>
            <a:r>
              <a:rPr lang="es-MX" sz="850" dirty="0">
                <a:solidFill>
                  <a:schemeClr val="lt1"/>
                </a:solidFill>
              </a:rPr>
              <a:t>El principal desafío está en mantener la conversión del EBITDA en resultado final, dado que, pese a que ingresos, márgenes operacionales y EBITDA se encuentran sobre presupuesto, el resultado no operacional acumula -MM$136,1 y limita la rentabilidad final..</a:t>
            </a:r>
          </a:p>
          <a:p>
            <a:pPr marL="285750" marR="0" lvl="0" indent="-171450" algn="l" rtl="0">
              <a:spcBef>
                <a:spcPts val="0"/>
              </a:spcBef>
              <a:spcAft>
                <a:spcPts val="0"/>
              </a:spcAft>
              <a:buClrTx/>
              <a:buSzPct val="100000"/>
              <a:buFont typeface="Arial"/>
              <a:buChar char="•"/>
            </a:pPr>
            <a:endParaRPr lang="es-MX" sz="850" dirty="0">
              <a:solidFill>
                <a:schemeClr val="lt1"/>
              </a:solidFill>
              <a:latin typeface="Arial"/>
              <a:ea typeface="Arial"/>
              <a:cs typeface="Arial"/>
              <a:sym typeface="Arial"/>
            </a:endParaRPr>
          </a:p>
          <a:p>
            <a:pPr marL="285750" marR="0" lvl="0" indent="-171450" algn="l" rtl="0">
              <a:spcBef>
                <a:spcPts val="0"/>
              </a:spcBef>
              <a:spcAft>
                <a:spcPts val="0"/>
              </a:spcAft>
              <a:buClrTx/>
              <a:buSzPct val="100000"/>
              <a:buFont typeface="Arial"/>
              <a:buChar char="•"/>
            </a:pPr>
            <a:r>
              <a:rPr lang="es-MX" sz="850" dirty="0">
                <a:solidFill>
                  <a:schemeClr val="lt1"/>
                </a:solidFill>
                <a:latin typeface="Arial"/>
                <a:ea typeface="Arial"/>
                <a:cs typeface="Arial"/>
                <a:sym typeface="Arial"/>
              </a:rPr>
              <a:t>Este estado de resultado es el mismo de arriba con tres ajustes, pensados para ver el resultado del negocio sin partidas que no son del giro del período:</a:t>
            </a:r>
          </a:p>
          <a:p>
            <a:pPr marL="457200" marR="0" lvl="1" indent="-171450" algn="l" rtl="0">
              <a:spcBef>
                <a:spcPts val="0"/>
              </a:spcBef>
              <a:spcAft>
                <a:spcPts val="0"/>
              </a:spcAft>
              <a:buClrTx/>
              <a:buSzPct val="100000"/>
              <a:buFont typeface="Arial" panose="020B0604020202020204" pitchFamily="34" charset="0"/>
              <a:buChar char="–"/>
            </a:pPr>
            <a:r>
              <a:rPr lang="es-MX" sz="850" dirty="0">
                <a:solidFill>
                  <a:schemeClr val="lt1"/>
                </a:solidFill>
                <a:latin typeface="Arial"/>
                <a:ea typeface="Arial"/>
                <a:cs typeface="Arial"/>
                <a:sym typeface="Arial"/>
              </a:rPr>
              <a:t>Costo de ventas en una sola línea. No se abre en Técnicos y Repuestos, porque esa apertura existe sólo en Real y no tiene presupuesto contra el cual compararse.</a:t>
            </a:r>
          </a:p>
          <a:p>
            <a:pPr marL="457200" marR="0" lvl="1" indent="-171450" algn="l" rtl="0">
              <a:spcBef>
                <a:spcPts val="0"/>
              </a:spcBef>
              <a:spcAft>
                <a:spcPts val="0"/>
              </a:spcAft>
              <a:buClrTx/>
              <a:buSzPct val="100000"/>
              <a:buFont typeface="Arial" panose="020B0604020202020204" pitchFamily="34" charset="0"/>
              <a:buChar char="–"/>
            </a:pPr>
            <a:r>
              <a:rPr lang="es-MX" sz="850" dirty="0">
                <a:solidFill>
                  <a:schemeClr val="lt1"/>
                </a:solidFill>
                <a:latin typeface="Arial"/>
                <a:ea typeface="Arial"/>
                <a:cs typeface="Arial"/>
                <a:sym typeface="Arial"/>
              </a:rPr>
              <a:t>Costo de ventas neto de garantías. A ese costo se le descuenta lo que ya se gastó en atender las garantías vigentes: MM$65,5, repartidos en partes iguales entre los 8 meses cargados (MM$8,2 por mes). El monto sale de la tabla «Contratos de Garantía · Costo Estimado» de Visión General: de los 45 contratos que estuvieron vigentes en algún momento del año —incluidos los que ya terminaron, porque su costo igual se incurrió—, su costo estimado total del año (MM$132,6) menos el costo que queda por delante (MM$67,1).</a:t>
            </a:r>
          </a:p>
          <a:p>
            <a:pPr marL="457200" marR="0" lvl="1" indent="-171450" algn="l" rtl="0">
              <a:spcBef>
                <a:spcPts val="0"/>
              </a:spcBef>
              <a:spcAft>
                <a:spcPts val="0"/>
              </a:spcAft>
              <a:buClrTx/>
              <a:buSzPct val="100000"/>
              <a:buFont typeface="Arial" panose="020B0604020202020204" pitchFamily="34" charset="0"/>
              <a:buChar char="–"/>
            </a:pPr>
            <a:r>
              <a:rPr lang="es-MX" sz="850" dirty="0">
                <a:solidFill>
                  <a:schemeClr val="lt1"/>
                </a:solidFill>
                <a:latin typeface="Arial"/>
                <a:ea typeface="Arial"/>
                <a:cs typeface="Arial"/>
                <a:sym typeface="Arial"/>
              </a:rPr>
              <a:t>Depreciación sin el Arriendo Piso 1. Ese arriendo es de la oficina, no del giro, y sale del estado de resultado.</a:t>
            </a:r>
          </a:p>
          <a:p>
            <a:pPr marL="457200" marR="0" lvl="1" indent="-171450" algn="l" rtl="0">
              <a:spcBef>
                <a:spcPts val="0"/>
              </a:spcBef>
              <a:spcAft>
                <a:spcPts val="0"/>
              </a:spcAft>
              <a:buClrTx/>
              <a:buSzPct val="100000"/>
              <a:buFont typeface="Arial" panose="020B0604020202020204" pitchFamily="34" charset="0"/>
              <a:buChar char="–"/>
            </a:pPr>
            <a:r>
              <a:rPr lang="es-MX" sz="850" dirty="0">
                <a:solidFill>
                  <a:schemeClr val="lt1"/>
                </a:solidFill>
                <a:latin typeface="Arial"/>
                <a:ea typeface="Arial"/>
                <a:cs typeface="Arial"/>
                <a:sym typeface="Arial"/>
              </a:rPr>
              <a:t>EBITDAR y arriendo de bodega separados. En la hoja el arriendo no está dentro del EBITDA —viene más abajo, junto a la depreciación—, así que ese EBITDA es en realidad un EBITDAR: resultado antes de intereses, impuestos, depreciación, amortización y arriendo. Por eso la línea se rotula así y debajo va el arriendo de bodega y el EBITDA Empresa con arriendo. La depreciación queda sólo con S&amp;S, de modo que el resultado operacional no cambia.</a:t>
            </a:r>
          </a:p>
          <a:p>
            <a:pPr marL="285750" marR="0" lvl="0" indent="-171450" algn="l" rtl="0">
              <a:spcBef>
                <a:spcPts val="0"/>
              </a:spcBef>
              <a:spcAft>
                <a:spcPts val="0"/>
              </a:spcAft>
              <a:buClrTx/>
              <a:buSzPct val="100000"/>
              <a:buFont typeface="Arial"/>
              <a:buChar char="•"/>
            </a:pPr>
            <a:r>
              <a:rPr lang="es-MX" sz="850" dirty="0">
                <a:solidFill>
                  <a:schemeClr val="lt1"/>
                </a:solidFill>
                <a:latin typeface="Arial"/>
                <a:ea typeface="Arial"/>
                <a:cs typeface="Arial"/>
                <a:sym typeface="Arial"/>
              </a:rPr>
              <a:t>Los dos primeros ajustes bajan el costo y el tercero baja la depreciación, así que suben el margen, los tres EBITDA y los resultados. El impuesto a la renta se recalcula al 27% del nuevo resultado antes de impuestos —en un mes con pérdida queda como crédito, igual que en la hoja—, de modo que no es el impuesto contabilizado. Los ingresos, los gastos de personal, el GAV, los gastos adicionales y el resultado no operacional no se tocan, y las columnas de presupuesto se muestran tal como vienen en la hoja Ratio Costos 2.</a:t>
            </a:r>
          </a:p>
          <a:p>
            <a:pPr marL="171450" marR="0" lvl="0" indent="-171450" algn="l" rtl="0">
              <a:spcBef>
                <a:spcPts val="0"/>
              </a:spcBef>
              <a:spcAft>
                <a:spcPts val="0"/>
              </a:spcAft>
              <a:buClrTx/>
              <a:buSzPct val="100000"/>
              <a:buNone/>
            </a:pPr>
            <a:endParaRPr lang="es-MX" sz="1200" dirty="0">
              <a:solidFill>
                <a:schemeClr val="lt1"/>
              </a:solidFill>
              <a:highlight>
                <a:srgbClr val="FFFF00"/>
              </a:highlight>
              <a:latin typeface="Arial"/>
              <a:ea typeface="Arial"/>
              <a:cs typeface="Arial"/>
              <a:sym typeface="Arial"/>
            </a:endParaRPr>
          </a:p>
        </p:txBody>
      </p:sp>
      <p:pic>
        <p:nvPicPr>
          <p:cNvPr id="3" name="Imagen 2">
            <a:extLst>
              <a:ext uri="{FF2B5EF4-FFF2-40B4-BE49-F238E27FC236}">
                <a16:creationId xmlns:a16="http://schemas.microsoft.com/office/drawing/2014/main" id="{E21A565F-7FA0-41DA-219B-B2DC587CA5BB}"/>
              </a:ext>
            </a:extLst>
          </p:cNvPr>
          <p:cNvPicPr>
            <a:picLocks noChangeAspect="1"/>
          </p:cNvPicPr>
          <p:nvPr/>
        </p:nvPicPr>
        <p:blipFill>
          <a:blip r:embed="rId3"/>
          <a:srcRect t="6561" b="22308"/>
          <a:stretch>
            <a:fillRect/>
          </a:stretch>
        </p:blipFill>
        <p:spPr>
          <a:xfrm>
            <a:off x="5485" y="923464"/>
            <a:ext cx="7389383" cy="5250536"/>
          </a:xfrm>
          <a:prstGeom prst="rect">
            <a:avLst/>
          </a:prstGeom>
        </p:spPr>
      </p:pic>
    </p:spTree>
    <p:extLst>
      <p:ext uri="{BB962C8B-B14F-4D97-AF65-F5344CB8AC3E}">
        <p14:creationId xmlns:p14="http://schemas.microsoft.com/office/powerpoint/2010/main" val="1862781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D1A566F0-A7C5-6B73-64FA-AB2E584A80D3}"/>
            </a:ext>
          </a:extLst>
        </p:cNvPr>
        <p:cNvGrpSpPr/>
        <p:nvPr/>
      </p:nvGrpSpPr>
      <p:grpSpPr>
        <a:xfrm>
          <a:off x="0" y="0"/>
          <a:ext cx="0" cy="0"/>
          <a:chOff x="0" y="0"/>
          <a:chExt cx="0" cy="0"/>
        </a:xfrm>
      </p:grpSpPr>
      <p:sp>
        <p:nvSpPr>
          <p:cNvPr id="308" name="Google Shape;308;p14">
            <a:extLst>
              <a:ext uri="{FF2B5EF4-FFF2-40B4-BE49-F238E27FC236}">
                <a16:creationId xmlns:a16="http://schemas.microsoft.com/office/drawing/2014/main" id="{07B6352B-B8B7-B9ED-2D7A-38B6CC235B7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EERR Limpio Mensualizado</a:t>
            </a:r>
            <a:endParaRPr sz="2700" b="0" i="0" u="none" strike="noStrike" cap="none" dirty="0">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676BE079-34CE-F782-6990-8D93702FB162}"/>
              </a:ext>
            </a:extLst>
          </p:cNvPr>
          <p:cNvPicPr>
            <a:picLocks noChangeAspect="1"/>
          </p:cNvPicPr>
          <p:nvPr/>
        </p:nvPicPr>
        <p:blipFill>
          <a:blip r:embed="rId3"/>
          <a:srcRect t="4270" b="7535"/>
          <a:stretch>
            <a:fillRect/>
          </a:stretch>
        </p:blipFill>
        <p:spPr>
          <a:xfrm>
            <a:off x="0" y="1043449"/>
            <a:ext cx="12192000" cy="4860001"/>
          </a:xfrm>
          <a:prstGeom prst="rect">
            <a:avLst/>
          </a:prstGeom>
        </p:spPr>
      </p:pic>
    </p:spTree>
    <p:extLst>
      <p:ext uri="{BB962C8B-B14F-4D97-AF65-F5344CB8AC3E}">
        <p14:creationId xmlns:p14="http://schemas.microsoft.com/office/powerpoint/2010/main" val="3570899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238F64D8-F821-E76F-053F-04A9B119C3DF}"/>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F2599118-DF22-C4F0-1851-B52B1A4C9576}"/>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6235CEA0-DC86-C3E5-B2CC-3E542D415879}"/>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8644B18-6BA9-8C73-6545-7364223F393D}"/>
              </a:ext>
            </a:extLst>
          </p:cNvPr>
          <p:cNvSpPr/>
          <p:nvPr/>
        </p:nvSpPr>
        <p:spPr>
          <a:xfrm>
            <a:off x="393700" y="268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007811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sp>
        <p:nvSpPr>
          <p:cNvPr id="322" name="Google Shape;322;p16"/>
          <p:cNvSpPr/>
          <p:nvPr/>
        </p:nvSpPr>
        <p:spPr>
          <a:xfrm>
            <a:off x="243307" y="4773168"/>
            <a:ext cx="11948693" cy="190212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 total hay 49 equipos detenidos, correspondientes a 19 clientes y 8 marcas, con una valorización total de MM$1.412,8.</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63% de los equipos se encuentra en espera de OC, equivalente a 31 equipos y MM$746,9, siendo la principal concentración dentro del flujo de equipos detenidos.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STEELCO concentra aproximadamente MM$851,0 del valor de los equipos detenidos, equivalente a cerca del 60% del total, con 23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Sociedad Concesionaria Metropolitana de Salud (4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Hospital Complejo Asistencial Padre Las Casas (</a:t>
            </a:r>
            <a:r>
              <a:rPr lang="es-MX" sz="1200" dirty="0">
                <a:solidFill>
                  <a:schemeClr val="lt1"/>
                </a:solidFill>
              </a:rPr>
              <a:t>4 </a:t>
            </a:r>
            <a:r>
              <a:rPr lang="es-MX" sz="1200" b="0" i="0" u="none" strike="noStrike" cap="none" dirty="0">
                <a:solidFill>
                  <a:schemeClr val="lt1"/>
                </a:solidFill>
                <a:latin typeface="Arial"/>
                <a:ea typeface="Arial"/>
                <a:cs typeface="Arial"/>
                <a:sym typeface="Arial"/>
              </a:rPr>
              <a:t>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Complejo Asistencial Dr. Sótero del Río (5 equipos)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equipos con mayor cantidad de unidades detenidas son:</a:t>
            </a:r>
            <a:endParaRPr lang="es-MX" dirty="0"/>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DDC DOLPHIN PULMATIC – 7 equipos (14%)</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BIEN AIR CHIROPRO PLUS – 4 equipos (</a:t>
            </a:r>
            <a:r>
              <a:rPr lang="es-CL" sz="1200" dirty="0">
                <a:solidFill>
                  <a:schemeClr val="lt1"/>
                </a:solidFill>
              </a:rPr>
              <a:t>8</a:t>
            </a:r>
            <a:r>
              <a:rPr lang="es-CL" sz="1200" b="0" i="0" u="none" strike="noStrike" cap="none" dirty="0">
                <a:solidFill>
                  <a:schemeClr val="lt1"/>
                </a:solidFill>
                <a:latin typeface="Arial"/>
                <a:ea typeface="Arial"/>
                <a:cs typeface="Arial"/>
                <a:sym typeface="Arial"/>
              </a:rPr>
              <a:t>%)</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STEELCO DS610 – </a:t>
            </a:r>
            <a:r>
              <a:rPr lang="es-CL" sz="1200" dirty="0">
                <a:solidFill>
                  <a:schemeClr val="lt1"/>
                </a:solidFill>
              </a:rPr>
              <a:t>4</a:t>
            </a:r>
            <a:r>
              <a:rPr lang="es-CL" sz="1200" b="0" i="0" u="none" strike="noStrike" cap="none" dirty="0">
                <a:solidFill>
                  <a:schemeClr val="lt1"/>
                </a:solidFill>
                <a:latin typeface="Arial"/>
                <a:ea typeface="Arial"/>
                <a:cs typeface="Arial"/>
                <a:sym typeface="Arial"/>
              </a:rPr>
              <a:t> equipos (8%)</a:t>
            </a:r>
          </a:p>
        </p:txBody>
      </p:sp>
      <p:pic>
        <p:nvPicPr>
          <p:cNvPr id="3" name="Imagen 2">
            <a:extLst>
              <a:ext uri="{FF2B5EF4-FFF2-40B4-BE49-F238E27FC236}">
                <a16:creationId xmlns:a16="http://schemas.microsoft.com/office/drawing/2014/main" id="{E2764AEC-5779-5185-F35E-CE15A90F0338}"/>
              </a:ext>
            </a:extLst>
          </p:cNvPr>
          <p:cNvPicPr>
            <a:picLocks noChangeAspect="1"/>
          </p:cNvPicPr>
          <p:nvPr/>
        </p:nvPicPr>
        <p:blipFill>
          <a:blip r:embed="rId3"/>
          <a:srcRect t="6553" b="14543"/>
          <a:stretch>
            <a:fillRect/>
          </a:stretch>
        </p:blipFill>
        <p:spPr>
          <a:xfrm>
            <a:off x="876000" y="763557"/>
            <a:ext cx="10170000" cy="4009611"/>
          </a:xfrm>
          <a:prstGeom prst="rect">
            <a:avLst/>
          </a:prstGeom>
        </p:spPr>
      </p:pic>
    </p:spTree>
    <p:extLst>
      <p:ext uri="{BB962C8B-B14F-4D97-AF65-F5344CB8AC3E}">
        <p14:creationId xmlns:p14="http://schemas.microsoft.com/office/powerpoint/2010/main" val="2162381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Equipo</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017D2620-2E22-FFA8-556F-22479C860C1F}"/>
              </a:ext>
            </a:extLst>
          </p:cNvPr>
          <p:cNvPicPr>
            <a:picLocks noChangeAspect="1"/>
          </p:cNvPicPr>
          <p:nvPr/>
        </p:nvPicPr>
        <p:blipFill>
          <a:blip r:embed="rId3"/>
          <a:srcRect t="7662" b="4969"/>
          <a:stretch>
            <a:fillRect/>
          </a:stretch>
        </p:blipFill>
        <p:spPr>
          <a:xfrm>
            <a:off x="1236000" y="866246"/>
            <a:ext cx="8505000" cy="599175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Marca</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F7B97ACB-D343-A113-33A8-CE882B1FDD57}"/>
              </a:ext>
            </a:extLst>
          </p:cNvPr>
          <p:cNvPicPr>
            <a:picLocks noChangeAspect="1"/>
          </p:cNvPicPr>
          <p:nvPr/>
        </p:nvPicPr>
        <p:blipFill>
          <a:blip r:embed="rId3"/>
          <a:stretch>
            <a:fillRect/>
          </a:stretch>
        </p:blipFill>
        <p:spPr>
          <a:xfrm>
            <a:off x="0" y="1511709"/>
            <a:ext cx="12192000" cy="383458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Cliente</a:t>
            </a:r>
            <a:endParaRPr sz="2700" b="0" i="0" u="none" strike="noStrike" cap="none">
              <a:solidFill>
                <a:srgbClr val="FFFFFF"/>
              </a:solidFill>
              <a:latin typeface="Roboto"/>
              <a:ea typeface="Roboto"/>
              <a:cs typeface="Roboto"/>
              <a:sym typeface="Roboto"/>
            </a:endParaRPr>
          </a:p>
        </p:txBody>
      </p:sp>
      <p:sp>
        <p:nvSpPr>
          <p:cNvPr id="341" name="Google Shape;341;p19"/>
          <p:cNvSpPr txBox="1"/>
          <p:nvPr/>
        </p:nvSpPr>
        <p:spPr>
          <a:xfrm>
            <a:off x="10094614" y="1192319"/>
            <a:ext cx="633742" cy="169277"/>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500">
                <a:solidFill>
                  <a:schemeClr val="lt2"/>
                </a:solidFill>
                <a:latin typeface="Arial"/>
                <a:ea typeface="Arial"/>
                <a:cs typeface="Arial"/>
                <a:sym typeface="Arial"/>
              </a:rPr>
              <a:t>401</a:t>
            </a:r>
            <a:endParaRPr sz="500">
              <a:solidFill>
                <a:schemeClr val="lt2"/>
              </a:solidFill>
              <a:latin typeface="Arial"/>
              <a:ea typeface="Arial"/>
              <a:cs typeface="Arial"/>
              <a:sym typeface="Arial"/>
            </a:endParaRPr>
          </a:p>
        </p:txBody>
      </p:sp>
      <p:sp>
        <p:nvSpPr>
          <p:cNvPr id="342" name="Google Shape;342;p19"/>
          <p:cNvSpPr/>
          <p:nvPr/>
        </p:nvSpPr>
        <p:spPr>
          <a:xfrm>
            <a:off x="246000" y="5124142"/>
            <a:ext cx="11700000" cy="167576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49 equipos detenidos se concentran principalmente en 17 equipos sin cliente asociado, equivalentes al 35% del total.</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los clientes, Complejo Asistencial Dr. Sótero del Río concentra 5 equipos, con MM$92,0 valorizados y MM$39,0 de ingresos facturados a la fecha.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Complejo Asistencial Padre Las Casas y Sociedad Concesionaria Metropolitana de Salud S.A. registran 4 equipos detenidos cada uno, con valorizados de MM$24,9 y MM$8,1, respectivamente.</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Dr. Luis </a:t>
            </a:r>
            <a:r>
              <a:rPr lang="es-MX" sz="1200" dirty="0" err="1">
                <a:solidFill>
                  <a:schemeClr val="lt1"/>
                </a:solidFill>
                <a:latin typeface="Arial"/>
                <a:ea typeface="Arial"/>
                <a:cs typeface="Arial"/>
                <a:sym typeface="Arial"/>
              </a:rPr>
              <a:t>Tisne</a:t>
            </a:r>
            <a:r>
              <a:rPr lang="es-MX" sz="1200" dirty="0">
                <a:solidFill>
                  <a:schemeClr val="lt1"/>
                </a:solidFill>
                <a:latin typeface="Arial"/>
                <a:ea typeface="Arial"/>
                <a:cs typeface="Arial"/>
                <a:sym typeface="Arial"/>
              </a:rPr>
              <a:t> B. y Municipalidad de Vicuña mantienen 2 equipos detenidos cada uno, con valorizados de MM$122,0 y MM$9,7.</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total de equipos detenidos alcanza un valorizado de MM$1.412,8, frente a MM$466,5 de ingresos facturados a la fecha y un contrato anual esperado de MM$507,3.</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concentración de equipos sin cliente asociado representa MM$410,7 valorizados, equivalentes a aproximadamente 29% del valorizado total, constituyendo el principal grupo pendiente de asignación.</a:t>
            </a:r>
          </a:p>
        </p:txBody>
      </p:sp>
      <p:pic>
        <p:nvPicPr>
          <p:cNvPr id="3" name="Imagen 2">
            <a:extLst>
              <a:ext uri="{FF2B5EF4-FFF2-40B4-BE49-F238E27FC236}">
                <a16:creationId xmlns:a16="http://schemas.microsoft.com/office/drawing/2014/main" id="{06E38D21-5DDF-6BAC-3AF7-FFFFCD947741}"/>
              </a:ext>
            </a:extLst>
          </p:cNvPr>
          <p:cNvPicPr>
            <a:picLocks noChangeAspect="1"/>
          </p:cNvPicPr>
          <p:nvPr/>
        </p:nvPicPr>
        <p:blipFill>
          <a:blip r:embed="rId3"/>
          <a:srcRect t="8784" b="7883"/>
          <a:stretch>
            <a:fillRect/>
          </a:stretch>
        </p:blipFill>
        <p:spPr>
          <a:xfrm>
            <a:off x="1463644" y="810794"/>
            <a:ext cx="8907356" cy="429205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Casos Críticos</a:t>
            </a:r>
            <a:endParaRPr sz="2700" b="0" i="0" u="none" strike="noStrike" cap="none">
              <a:solidFill>
                <a:srgbClr val="FFFFFF"/>
              </a:solidFill>
              <a:latin typeface="Roboto"/>
              <a:ea typeface="Roboto"/>
              <a:cs typeface="Roboto"/>
              <a:sym typeface="Roboto"/>
            </a:endParaRPr>
          </a:p>
        </p:txBody>
      </p:sp>
      <p:sp>
        <p:nvSpPr>
          <p:cNvPr id="349" name="Google Shape;349;p20"/>
          <p:cNvSpPr/>
          <p:nvPr/>
        </p:nvSpPr>
        <p:spPr>
          <a:xfrm>
            <a:off x="152161" y="5094000"/>
            <a:ext cx="11757980" cy="121500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indent="-171450">
              <a:buClr>
                <a:schemeClr val="lt1"/>
              </a:buClr>
              <a:buSzPts val="1200"/>
              <a:buFont typeface="Arial"/>
              <a:buChar char="•"/>
            </a:pPr>
            <a:r>
              <a:rPr lang="es-MX" sz="1200" dirty="0">
                <a:solidFill>
                  <a:schemeClr val="lt1"/>
                </a:solidFill>
              </a:rPr>
              <a:t>Se registran 11 casos críticos: 6 no operativos, 2 operativos, 1 operativo con observaciones, 1 siniestrado y 1 sin estado informado.</a:t>
            </a:r>
          </a:p>
          <a:p>
            <a:pPr marL="171450" indent="-171450">
              <a:buClr>
                <a:schemeClr val="lt1"/>
              </a:buClr>
              <a:buSzPts val="1200"/>
              <a:buFont typeface="Arial"/>
              <a:buChar char="•"/>
            </a:pPr>
            <a:r>
              <a:rPr lang="es-MX" sz="1200" dirty="0">
                <a:solidFill>
                  <a:schemeClr val="lt1"/>
                </a:solidFill>
              </a:rPr>
              <a:t>2 casos se encuentran a la espera de repuestos y otros continúan en diagnóstico o definición de intervención.</a:t>
            </a:r>
          </a:p>
          <a:p>
            <a:pPr marL="171450" indent="-171450">
              <a:buClr>
                <a:schemeClr val="lt1"/>
              </a:buClr>
              <a:buSzPts val="1200"/>
              <a:buFont typeface="Arial"/>
              <a:buChar char="•"/>
            </a:pPr>
            <a:r>
              <a:rPr lang="es-MX" sz="1200" dirty="0">
                <a:solidFill>
                  <a:schemeClr val="lt1"/>
                </a:solidFill>
              </a:rPr>
              <a:t>No se registran montos de inversiones realizadas asociados a los equipos en la tabla.</a:t>
            </a:r>
          </a:p>
          <a:p>
            <a:pPr marL="171450" indent="-171450">
              <a:buClr>
                <a:schemeClr val="lt1"/>
              </a:buClr>
              <a:buSzPts val="1200"/>
              <a:buFont typeface="Arial"/>
              <a:buChar char="•"/>
            </a:pPr>
            <a:r>
              <a:rPr lang="es-MX" sz="1200" dirty="0">
                <a:solidFill>
                  <a:schemeClr val="lt1"/>
                </a:solidFill>
              </a:rPr>
              <a:t>El ingreso total de clientes asociado a los equipos alcanza MM$519,1, mientras que no se informan montos de valorización de equipos.</a:t>
            </a:r>
          </a:p>
          <a:p>
            <a:pPr marL="171450" indent="-171450">
              <a:buClr>
                <a:schemeClr val="lt1"/>
              </a:buClr>
              <a:buSzPts val="1200"/>
              <a:buFont typeface="Arial"/>
              <a:buChar char="•"/>
            </a:pPr>
            <a:r>
              <a:rPr lang="es-MX" sz="1200" dirty="0">
                <a:solidFill>
                  <a:schemeClr val="lt1"/>
                </a:solidFill>
              </a:rPr>
              <a:t>Durante estas dos semanas se han solucionado 4 casos (ISM, C. Sanz, 1 equipo de H. </a:t>
            </a:r>
            <a:r>
              <a:rPr lang="es-MX" sz="1200" dirty="0" err="1">
                <a:solidFill>
                  <a:schemeClr val="lt1"/>
                </a:solidFill>
              </a:rPr>
              <a:t>Tisné</a:t>
            </a:r>
            <a:r>
              <a:rPr lang="es-MX" sz="1200" dirty="0">
                <a:solidFill>
                  <a:schemeClr val="lt1"/>
                </a:solidFill>
              </a:rPr>
              <a:t> y H. San Camilo).Durante estas dos semanas se han solucionado 10 casos (C. Sanz, 2 equipos de H. </a:t>
            </a:r>
            <a:r>
              <a:rPr lang="es-MX" sz="1200" dirty="0" err="1">
                <a:solidFill>
                  <a:schemeClr val="lt1"/>
                </a:solidFill>
              </a:rPr>
              <a:t>Tisné</a:t>
            </a:r>
            <a:r>
              <a:rPr lang="es-MX" sz="1200" dirty="0">
                <a:solidFill>
                  <a:schemeClr val="lt1"/>
                </a:solidFill>
              </a:rPr>
              <a:t> y 2 equipos de H. San Camilo, H. Base Osorno, HP </a:t>
            </a:r>
            <a:r>
              <a:rPr lang="es-MX" sz="1200" dirty="0" err="1">
                <a:solidFill>
                  <a:schemeClr val="lt1"/>
                </a:solidFill>
              </a:rPr>
              <a:t>Victor</a:t>
            </a:r>
            <a:r>
              <a:rPr lang="es-MX" sz="1200" dirty="0">
                <a:solidFill>
                  <a:schemeClr val="lt1"/>
                </a:solidFill>
              </a:rPr>
              <a:t> </a:t>
            </a:r>
            <a:r>
              <a:rPr lang="es-MX" sz="1200" dirty="0" err="1">
                <a:solidFill>
                  <a:schemeClr val="lt1"/>
                </a:solidFill>
              </a:rPr>
              <a:t>Rios</a:t>
            </a:r>
            <a:r>
              <a:rPr lang="es-MX" sz="1200" dirty="0">
                <a:solidFill>
                  <a:schemeClr val="lt1"/>
                </a:solidFill>
              </a:rPr>
              <a:t> Ruiz, HP de Puerto Montt, Puerto Aysen).</a:t>
            </a:r>
            <a:endParaRPr dirty="0"/>
          </a:p>
        </p:txBody>
      </p:sp>
      <p:graphicFrame>
        <p:nvGraphicFramePr>
          <p:cNvPr id="350" name="Google Shape;350;p20"/>
          <p:cNvGraphicFramePr/>
          <p:nvPr>
            <p:extLst>
              <p:ext uri="{D42A27DB-BD31-4B8C-83A1-F6EECF244321}">
                <p14:modId xmlns:p14="http://schemas.microsoft.com/office/powerpoint/2010/main" val="3172218991"/>
              </p:ext>
            </p:extLst>
          </p:nvPr>
        </p:nvGraphicFramePr>
        <p:xfrm>
          <a:off x="148040" y="1001629"/>
          <a:ext cx="11762100" cy="3895964"/>
        </p:xfrm>
        <a:graphic>
          <a:graphicData uri="http://schemas.openxmlformats.org/drawingml/2006/table">
            <a:tbl>
              <a:tblPr>
                <a:noFill/>
                <a:tableStyleId>{13D43741-7D58-4360-86AC-F6E32FA5FF39}</a:tableStyleId>
              </a:tblPr>
              <a:tblGrid>
                <a:gridCol w="675760">
                  <a:extLst>
                    <a:ext uri="{9D8B030D-6E8A-4147-A177-3AD203B41FA5}">
                      <a16:colId xmlns:a16="http://schemas.microsoft.com/office/drawing/2014/main" val="20000"/>
                    </a:ext>
                  </a:extLst>
                </a:gridCol>
                <a:gridCol w="1170000">
                  <a:extLst>
                    <a:ext uri="{9D8B030D-6E8A-4147-A177-3AD203B41FA5}">
                      <a16:colId xmlns:a16="http://schemas.microsoft.com/office/drawing/2014/main" val="20001"/>
                    </a:ext>
                  </a:extLst>
                </a:gridCol>
                <a:gridCol w="682200">
                  <a:extLst>
                    <a:ext uri="{9D8B030D-6E8A-4147-A177-3AD203B41FA5}">
                      <a16:colId xmlns:a16="http://schemas.microsoft.com/office/drawing/2014/main" val="20002"/>
                    </a:ext>
                  </a:extLst>
                </a:gridCol>
                <a:gridCol w="495000">
                  <a:extLst>
                    <a:ext uri="{9D8B030D-6E8A-4147-A177-3AD203B41FA5}">
                      <a16:colId xmlns:a16="http://schemas.microsoft.com/office/drawing/2014/main" val="20003"/>
                    </a:ext>
                  </a:extLst>
                </a:gridCol>
                <a:gridCol w="540000">
                  <a:extLst>
                    <a:ext uri="{9D8B030D-6E8A-4147-A177-3AD203B41FA5}">
                      <a16:colId xmlns:a16="http://schemas.microsoft.com/office/drawing/2014/main" val="20004"/>
                    </a:ext>
                  </a:extLst>
                </a:gridCol>
                <a:gridCol w="3465000">
                  <a:extLst>
                    <a:ext uri="{9D8B030D-6E8A-4147-A177-3AD203B41FA5}">
                      <a16:colId xmlns:a16="http://schemas.microsoft.com/office/drawing/2014/main" val="20005"/>
                    </a:ext>
                  </a:extLst>
                </a:gridCol>
                <a:gridCol w="2598450">
                  <a:extLst>
                    <a:ext uri="{9D8B030D-6E8A-4147-A177-3AD203B41FA5}">
                      <a16:colId xmlns:a16="http://schemas.microsoft.com/office/drawing/2014/main" val="20006"/>
                    </a:ext>
                  </a:extLst>
                </a:gridCol>
                <a:gridCol w="765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650690">
                  <a:extLst>
                    <a:ext uri="{9D8B030D-6E8A-4147-A177-3AD203B41FA5}">
                      <a16:colId xmlns:a16="http://schemas.microsoft.com/office/drawing/2014/main" val="20009"/>
                    </a:ext>
                  </a:extLst>
                </a:gridCol>
              </a:tblGrid>
              <a:tr h="193407">
                <a:tc>
                  <a:txBody>
                    <a:bodyPr/>
                    <a:lstStyle/>
                    <a:p>
                      <a:pPr marL="0" marR="0" lvl="0" indent="0" algn="l" rtl="0">
                        <a:spcBef>
                          <a:spcPts val="0"/>
                        </a:spcBef>
                        <a:spcAft>
                          <a:spcPts val="0"/>
                        </a:spcAft>
                        <a:buClr>
                          <a:srgbClr val="000000"/>
                        </a:buClr>
                        <a:buSzPts val="700"/>
                        <a:buFont typeface="Arial"/>
                        <a:buNone/>
                      </a:pPr>
                      <a:r>
                        <a:rPr lang="es-CL" sz="600" b="1" i="0" u="none" strike="noStrike" cap="none" dirty="0">
                          <a:solidFill>
                            <a:schemeClr val="tx1"/>
                          </a:solidFill>
                          <a:latin typeface="Arial"/>
                          <a:ea typeface="Arial"/>
                          <a:cs typeface="Arial"/>
                          <a:sym typeface="Arial"/>
                        </a:rPr>
                        <a:t>Cliente</a:t>
                      </a:r>
                      <a:endParaRPr sz="600" dirty="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dirty="0">
                          <a:solidFill>
                            <a:schemeClr val="tx1"/>
                          </a:solidFill>
                          <a:latin typeface="Arial"/>
                          <a:ea typeface="Arial"/>
                          <a:cs typeface="Arial"/>
                          <a:sym typeface="Arial"/>
                        </a:rPr>
                        <a:t>Problema</a:t>
                      </a:r>
                      <a:endParaRPr sz="600" dirty="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ESTADO</a:t>
                      </a:r>
                      <a:endParaRPr sz="60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Fecha de caso</a:t>
                      </a:r>
                      <a:endParaRPr sz="60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Responsable</a:t>
                      </a:r>
                      <a:endParaRPr sz="60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dirty="0">
                          <a:solidFill>
                            <a:schemeClr val="tx1"/>
                          </a:solidFill>
                          <a:latin typeface="Arial"/>
                          <a:ea typeface="Arial"/>
                          <a:cs typeface="Arial"/>
                          <a:sym typeface="Arial"/>
                        </a:rPr>
                        <a:t>Comentario</a:t>
                      </a:r>
                      <a:endParaRPr sz="600" dirty="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Acciones</a:t>
                      </a:r>
                      <a:endParaRPr sz="60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Inversión requerida (MM$ )</a:t>
                      </a:r>
                      <a:endParaRPr sz="60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Valorizado Equipo (MM$)</a:t>
                      </a:r>
                      <a:endParaRPr sz="60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dirty="0">
                          <a:solidFill>
                            <a:schemeClr val="tx1"/>
                          </a:solidFill>
                          <a:latin typeface="Arial"/>
                          <a:ea typeface="Arial"/>
                          <a:cs typeface="Arial"/>
                          <a:sym typeface="Arial"/>
                        </a:rPr>
                        <a:t>Ingreso Cliente (MM$)</a:t>
                      </a:r>
                      <a:endParaRPr sz="600" dirty="0">
                        <a:solidFill>
                          <a:schemeClr val="tx1"/>
                        </a:solidFill>
                      </a:endParaRP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274205">
                <a:tc>
                  <a:txBody>
                    <a:bodyPr/>
                    <a:lstStyle/>
                    <a:p>
                      <a:pPr algn="l" fontAlgn="ctr">
                        <a:buNone/>
                      </a:pPr>
                      <a:r>
                        <a:rPr lang="es-CL" sz="600" b="0" i="0" u="none" strike="noStrike" dirty="0">
                          <a:solidFill>
                            <a:srgbClr val="000000"/>
                          </a:solidFill>
                          <a:effectLst/>
                          <a:latin typeface="Aptos Narrow" panose="020B0004020202020204" pitchFamily="34" charset="0"/>
                        </a:rPr>
                        <a:t>HUAP</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b">
                        <a:buNone/>
                      </a:pPr>
                      <a:r>
                        <a:rPr lang="es-CL" sz="600" b="0" i="0" u="none" strike="noStrike" dirty="0">
                          <a:solidFill>
                            <a:srgbClr val="000000"/>
                          </a:solidFill>
                          <a:effectLst/>
                          <a:latin typeface="Aptos Narrow" panose="020B0004020202020204" pitchFamily="34" charset="0"/>
                        </a:rPr>
                        <a:t>COMPRESOR US200</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OPERATIVO CON OBSERVACIONES</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ctr">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CRISTIAN ROHR</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DS610/2 SL 2506510I0036 LOS COMPRESORES LLEGARON MAL, EL 30 DE SEPTIEMBRE SE DEBIÓ SOLICITAR LOS CORRECTOS (COMPRAS)</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ASEGURAR QUE LA COMPRA SE HIZO//14-10 07-10-2026 PENDIENTE FECHA DE DISPONIBILIDAD POR PARTE DEL PROVEEDOR.</a:t>
                      </a:r>
                      <a:br>
                        <a:rPr lang="es-CL" sz="600" b="0" i="0" u="none" strike="noStrike" dirty="0">
                          <a:solidFill>
                            <a:srgbClr val="000000"/>
                          </a:solidFill>
                          <a:effectLst/>
                          <a:latin typeface="Aptos Narrow" panose="020B0004020202020204" pitchFamily="34" charset="0"/>
                        </a:rPr>
                      </a:b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23,9</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93407">
                <a:tc>
                  <a:txBody>
                    <a:bodyPr/>
                    <a:lstStyle/>
                    <a:p>
                      <a:pPr algn="l" fontAlgn="ctr">
                        <a:buNone/>
                      </a:pPr>
                      <a:r>
                        <a:rPr lang="es-CL" sz="600" b="0" i="0" u="none" strike="noStrike" dirty="0">
                          <a:solidFill>
                            <a:srgbClr val="000000"/>
                          </a:solidFill>
                          <a:effectLst/>
                          <a:latin typeface="Aptos Narrow" panose="020B0004020202020204" pitchFamily="34" charset="0"/>
                        </a:rPr>
                        <a:t>ANDES SALUD CHILLÁN</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EQUIPO CON PUERTA QUEBRADA</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NO OPERATIVO</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ctr">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ALEXIS/MATILDE</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PUERTAS DISPONIBLES EN FÁBRICA, YA SE SOLICITÓ LA COMPRA Y SE ENVIÓ COTIZACIÓN</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A ESPERA DE LLEGADA DE PUERTA Y OC//14-10 07-10-2026 PENDIENTE FECHA DE DISPONIBILIDAD POR PARTE DEL PROVEEDOR.</a:t>
                      </a:r>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0</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55004">
                <a:tc>
                  <a:txBody>
                    <a:bodyPr/>
                    <a:lstStyle/>
                    <a:p>
                      <a:pPr algn="l" fontAlgn="ctr">
                        <a:buNone/>
                      </a:pPr>
                      <a:r>
                        <a:rPr lang="es-CL" sz="600" b="0" i="0" u="none" strike="noStrike" dirty="0">
                          <a:solidFill>
                            <a:srgbClr val="000000"/>
                          </a:solidFill>
                          <a:effectLst/>
                          <a:latin typeface="Aptos Narrow" panose="020B0004020202020204" pitchFamily="34" charset="0"/>
                        </a:rPr>
                        <a:t>HP BUIN</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EQUIPO CON CAMBIO DE PUERTA LAVADORA DESCONTAMINADORA DS500 SN1802012EP166</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OPERATIVO</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ctr">
                        <a:buNone/>
                      </a:pPr>
                      <a:r>
                        <a:rPr lang="es-CL" sz="600" b="0" i="0" u="none" strike="noStrike" dirty="0">
                          <a:solidFill>
                            <a:srgbClr val="000000"/>
                          </a:solidFill>
                          <a:effectLst/>
                          <a:latin typeface="Aptos Narrow" panose="020B0004020202020204" pitchFamily="34" charset="0"/>
                        </a:rPr>
                        <a:t>08-06-2026</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CRISTIAN/ JONATHAN</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EQUIPO EN ESPERA DE CAMBIO DE PUERTA DESDE HACE MÁS DE UN AÑO ESTIMO, SE LOGRÓ INSTALAR LA PUERTA, PERO CLIENTE REPORTA QUE NO CIERRA COMPLETAMENTE, ASISTIÓ IGNACIO MUÑOS A REVISAR EL DOMINGO 31 DE MAYO Y SOLICITÓ REPUESTOS QUE SERÁN INSTALADOS POR GARANTÍA, FALTA UN REPUESTO, ASISTIÓ JUAN POSTERIORMENTE Y EL EQUIPO ESTÁ OPERATIVO.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REPUESTO DISPONIBLE, SE DESPACHA AL CLIENTE. CLIENTE INFORMA PROBLEMAS CON LA PLANTA DE AGUA ASOCIADA AL EQUIPO (FUERA DE CONTRATO) E INDICA QUE AVISARÁ CUANDO ESTÉ OPERATIVA.</a:t>
                      </a:r>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b="0" i="0" u="none" strike="noStrike" cap="none" dirty="0">
                          <a:solidFill>
                            <a:srgbClr val="000000"/>
                          </a:solidFill>
                          <a:latin typeface="Arial"/>
                          <a:ea typeface="Arial"/>
                          <a:cs typeface="Arial"/>
                          <a:sym typeface="Arial"/>
                        </a:rPr>
                        <a:t>$MM 29,1</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55004">
                <a:tc>
                  <a:txBody>
                    <a:bodyPr/>
                    <a:lstStyle/>
                    <a:p>
                      <a:pPr algn="l" fontAlgn="ctr">
                        <a:buNone/>
                      </a:pPr>
                      <a:r>
                        <a:rPr lang="es-CL" sz="600" b="0" i="0" u="none" strike="noStrike" dirty="0">
                          <a:solidFill>
                            <a:srgbClr val="000000"/>
                          </a:solidFill>
                          <a:effectLst/>
                          <a:latin typeface="Aptos Narrow" panose="020B0004020202020204" pitchFamily="34" charset="0"/>
                        </a:rPr>
                        <a:t>SAN CAMILO</a:t>
                      </a:r>
                    </a:p>
                  </a:txBody>
                  <a:tcPr marL="18000" marR="18000" marT="18000" marB="18000" anchor="ctr">
                    <a:solidFill>
                      <a:srgbClr val="D9D9D9"/>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LAVADORA ULTRASONICA STEELCO US100 2209210DH010</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OPERATIVO CON OBSERVACIONES</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ctr">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CRISTIAN ROHR</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10/09: SE INSTALÓ TARJETA DE COMUNICACIÓN, PERO LA IMPRESORA NO LA RECONOCIÓ. CRISTIAN LEVANTÓ TICKET A FÁBRICA PARA SU PROGRAMACIÓN. STEELCO INFORMÓ QUE PRESENTA PROBLEMAS CON SU SERVIDOR Y NO PUEDE ENVIAR EL ARCHIVO  NECESARIO POR EL MOMENTO. HASTA LA FECHA 29/09 SE MANTIENE A LA ESPERA.</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SE LEVANTA CON ALEXIS QUE STEELCO NO ESTÁ RESPONDIENDO LOS TICKET POR PROBLEMAS CON EL SERVIDOR</a:t>
                      </a:r>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b="0" i="0" u="none" strike="noStrike" cap="none" dirty="0">
                          <a:solidFill>
                            <a:srgbClr val="000000"/>
                          </a:solidFill>
                          <a:latin typeface="Arial"/>
                          <a:ea typeface="Arial"/>
                          <a:cs typeface="Arial"/>
                          <a:sym typeface="Arial"/>
                        </a:rPr>
                        <a:t>$MM 22,2</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74205">
                <a:tc rowSpan="2">
                  <a:txBody>
                    <a:bodyPr/>
                    <a:lstStyle/>
                    <a:p>
                      <a:pPr algn="l" fontAlgn="ctr">
                        <a:buNone/>
                      </a:pPr>
                      <a:r>
                        <a:rPr lang="es-CL" sz="600" b="0" i="0" u="none" strike="noStrike" dirty="0">
                          <a:solidFill>
                            <a:srgbClr val="000000"/>
                          </a:solidFill>
                          <a:effectLst/>
                          <a:latin typeface="Aptos Narrow" panose="020B0004020202020204" pitchFamily="34" charset="0"/>
                        </a:rPr>
                        <a:t>HP VAN BUREN</a:t>
                      </a:r>
                    </a:p>
                    <a:p>
                      <a:pPr algn="l"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EQUIPO CON FALLA RECURRENTE </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ctr">
                        <a:buNone/>
                      </a:pPr>
                      <a:r>
                        <a:rPr lang="es-CL" sz="600" b="0" i="0" u="none" strike="noStrike" dirty="0">
                          <a:solidFill>
                            <a:srgbClr val="000000"/>
                          </a:solidFill>
                          <a:effectLst/>
                          <a:latin typeface="Aptos Narrow" panose="020B0004020202020204" pitchFamily="34" charset="0"/>
                        </a:rPr>
                        <a:t>NO OPERATIVO</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b">
                        <a:buNone/>
                      </a:pPr>
                      <a:r>
                        <a:rPr lang="es-CL" sz="600" b="0" i="0" u="none" strike="noStrike" dirty="0">
                          <a:solidFill>
                            <a:srgbClr val="000000"/>
                          </a:solidFill>
                          <a:effectLst/>
                          <a:latin typeface="Aptos Narrow" panose="020B0004020202020204" pitchFamily="34" charset="0"/>
                        </a:rPr>
                        <a:t>26-03-2026</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JONATHAN SUMOZA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EQUIPO NO OPERATIVO CON FALLA RECURRENTE LAVADORA DS610 SN1806510LN088 . SE GESTIONO CON JONATHAN PARA RETIRAR EL EQUIPO EL MARTES 18/08 Y TRAERLO A LABORATORIO/09/09 ESTÁ EN DIAGNÓSTICO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EQUIPO EN DIAGNÓSTICO. YA FUE ENCENDIDO, PERO AÚN NO SE HAN PODIDO REALIZAR PRUEBAS DEBIDO AL DESAGÜE. CAMILO DEBE DISPONER DE LAS MANGUERAS NECESARIAS. FECHA INFORMADA POR JONATHAN: 07/10</a:t>
                      </a:r>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rowSpan="2">
                  <a:txBody>
                    <a:bodyPr/>
                    <a:lstStyle/>
                    <a:p>
                      <a:pPr marL="0" marR="0" lvl="0" indent="0" algn="l" rtl="0">
                        <a:spcBef>
                          <a:spcPts val="0"/>
                        </a:spcBef>
                        <a:spcAft>
                          <a:spcPts val="0"/>
                        </a:spcAft>
                        <a:buClr>
                          <a:srgbClr val="242424"/>
                        </a:buClr>
                        <a:buSzPts val="700"/>
                        <a:buFont typeface="Arial"/>
                        <a:buNone/>
                      </a:pPr>
                      <a:r>
                        <a:rPr lang="es-MX" sz="600" dirty="0"/>
                        <a:t>$MM 41,2</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112609">
                <a:tc vMerge="1">
                  <a:txBody>
                    <a:bodyPr/>
                    <a:lstStyle/>
                    <a:p>
                      <a:endParaRPr dirty="0"/>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b">
                        <a:buNone/>
                      </a:pPr>
                      <a:r>
                        <a:rPr lang="es-CL" sz="600" b="0" i="0" u="none" strike="noStrike" dirty="0">
                          <a:solidFill>
                            <a:srgbClr val="000000"/>
                          </a:solidFill>
                          <a:effectLst/>
                          <a:latin typeface="Aptos Narrow" panose="020B0004020202020204" pitchFamily="34" charset="0"/>
                        </a:rPr>
                        <a:t>VS 8/2 EDX AUTOCLAVE 10162</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NO OPERATIVO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b">
                        <a:buNone/>
                      </a:pPr>
                      <a:r>
                        <a:rPr lang="es-CL" sz="600" b="0" i="0" u="none" strike="noStrike" dirty="0">
                          <a:solidFill>
                            <a:srgbClr val="000000"/>
                          </a:solidFill>
                          <a:effectLst/>
                          <a:latin typeface="Aptos Narrow" panose="020B0004020202020204" pitchFamily="34" charset="0"/>
                        </a:rPr>
                        <a:t>02-10-2026</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REPUESTO SIN STOCK; AÚN NO SE CUENTA CON UNA FECHA ESTIMADA DE LLEGADA CONFIRMADA.</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EL REPUESTO DEBERÍA LLEGAR DURANTE LA SEMANA DEL 23/10.</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vMerge="1">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355004">
                <a:tc rowSpan="2">
                  <a:txBody>
                    <a:bodyPr/>
                    <a:lstStyle/>
                    <a:p>
                      <a:pPr algn="l" fontAlgn="b">
                        <a:buNone/>
                      </a:pPr>
                      <a:br>
                        <a:rPr lang="es-CL" sz="600" b="0" i="0" u="none" strike="noStrike" dirty="0">
                          <a:solidFill>
                            <a:srgbClr val="000000"/>
                          </a:solidFill>
                          <a:effectLst/>
                          <a:latin typeface="Aptos Narrow" panose="020B0004020202020204" pitchFamily="34" charset="0"/>
                        </a:rPr>
                      </a:br>
                      <a:r>
                        <a:rPr lang="es-CL" sz="600" b="0" i="0" u="none" strike="noStrike" dirty="0">
                          <a:solidFill>
                            <a:srgbClr val="000000"/>
                          </a:solidFill>
                          <a:effectLst/>
                          <a:latin typeface="Aptos Narrow" panose="020B0004020202020204" pitchFamily="34" charset="0"/>
                        </a:rPr>
                        <a:t>COMPLEJO ASISTENCIAL DR SOTERO DEL RIO</a:t>
                      </a:r>
                    </a:p>
                    <a:p>
                      <a:pPr algn="l"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b">
                        <a:buNone/>
                      </a:pPr>
                      <a:r>
                        <a:rPr lang="es-CL" sz="600" b="0" i="0" u="none" strike="noStrike" dirty="0">
                          <a:solidFill>
                            <a:srgbClr val="000000"/>
                          </a:solidFill>
                          <a:effectLst/>
                          <a:latin typeface="Aptos Narrow" panose="020B0004020202020204" pitchFamily="34" charset="0"/>
                        </a:rPr>
                        <a:t>AUTOCLAVE STEELCO MODELO: VS 10/2 SERIE: 12221 OT 73716</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NO OPERATIVO</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REPUESTOS SOLICITADOS - HAY REPUESTOS QUE SE DEBEN COMPRAR EN DANUS PARA COMPLETAR EL PEDIDO.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AUN PENDIENTE DE OC SE SOKLICITÓ INTERVENCIÓN DEL RVS, DE IGUAL MANERA REPUESTOS EN IMPORTACIÓN</a:t>
                      </a:r>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rowSpan="2">
                  <a:txBody>
                    <a:bodyPr/>
                    <a:lstStyle/>
                    <a:p>
                      <a:pPr marL="0" marR="0" lvl="0" indent="0" algn="l" rtl="0">
                        <a:spcBef>
                          <a:spcPts val="0"/>
                        </a:spcBef>
                        <a:spcAft>
                          <a:spcPts val="0"/>
                        </a:spcAft>
                        <a:buClr>
                          <a:srgbClr val="000000"/>
                        </a:buClr>
                        <a:buSzPts val="700"/>
                        <a:buFont typeface="Arial"/>
                        <a:buNone/>
                      </a:pPr>
                      <a:r>
                        <a:rPr lang="es-MX" sz="600" dirty="0"/>
                        <a:t>$MM 48,0</a:t>
                      </a: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74205">
                <a:tc vMerge="1">
                  <a:txBody>
                    <a:bodyPr/>
                    <a:lstStyle/>
                    <a:p>
                      <a:endParaRPr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b">
                        <a:buNone/>
                      </a:pPr>
                      <a:r>
                        <a:rPr lang="es-CL" sz="600" b="0" i="0" u="none" strike="noStrike" dirty="0">
                          <a:solidFill>
                            <a:srgbClr val="000000"/>
                          </a:solidFill>
                          <a:effectLst/>
                          <a:latin typeface="Aptos Narrow" panose="020B0004020202020204" pitchFamily="34" charset="0"/>
                        </a:rPr>
                        <a:t>AUTOCLAVE STEELCO MODELO: VS 10/2 SERIE: 12220 OT 73717</a:t>
                      </a:r>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REPUESTOS SOLICITADOS. ALGUNOS DEBEN SER ADQUIRIDOS EN DANUS PARA COMPLETAR EL PEDIDO. ADEMÁS, SE GESTIONÓ UN REPUESTO DE IMPORTACIÓN, CUYA LLEGADA SE ESTIMA EN APROXIMADAMENTE UNA SEMANA, SEGÚN LO INDICADO POR DIEGO.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AUN PENDIENTE DE OC SE SOKLICITÓ INTERVENCIÓN DEL RVS, DE IGUAL MANERA REPUESTOS EN IMPORTACIÓN</a:t>
                      </a:r>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vMerge="1">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r h="355004">
                <a:tc>
                  <a:txBody>
                    <a:bodyPr/>
                    <a:lstStyle/>
                    <a:p>
                      <a:pPr algn="l" fontAlgn="b">
                        <a:buNone/>
                      </a:pPr>
                      <a:r>
                        <a:rPr lang="es-CL" sz="600" b="0" i="0" u="none" strike="noStrike" dirty="0">
                          <a:solidFill>
                            <a:srgbClr val="000000"/>
                          </a:solidFill>
                          <a:effectLst/>
                          <a:latin typeface="Aptos Narrow" panose="020B0004020202020204" pitchFamily="34" charset="0"/>
                        </a:rPr>
                        <a:t>HOSPITAL REGIONAL DE ARICA DR. JUAN NOÉ CREVANI</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b">
                        <a:buNone/>
                      </a:pPr>
                      <a:r>
                        <a:rPr lang="es-CL" sz="600" b="0" i="0" u="none" strike="noStrike" dirty="0">
                          <a:solidFill>
                            <a:srgbClr val="000000"/>
                          </a:solidFill>
                          <a:effectLst/>
                          <a:latin typeface="Aptos Narrow" panose="020B0004020202020204" pitchFamily="34" charset="0"/>
                        </a:rPr>
                        <a:t>AUTOCLAVE STEELCO MODELO: VS 8/1 SERIE: 9900 OT 72699</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NO OPERATIVO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b">
                        <a:buNone/>
                      </a:pPr>
                      <a:r>
                        <a:rPr lang="es-CL" sz="600" b="0" i="0" u="none" strike="noStrike" dirty="0">
                          <a:solidFill>
                            <a:srgbClr val="000000"/>
                          </a:solidFill>
                          <a:effectLst/>
                          <a:latin typeface="Aptos Narrow" panose="020B0004020202020204" pitchFamily="34" charset="0"/>
                        </a:rPr>
                        <a:t>09-10-2023</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SE REALIZÓ ASISTENCIA REMOTA 14/10, DETERMINANDO QUE SE REQUIEREN LOS REPUESTOS INCLUIDOS EN LA COTIZACIÓN G-00045433, DE FECHA 27/08, LA CUAL SE ENCUENTRA SIN APROBACIÓN Y SIN GESTIÓN DE OC. SE PROCEDE A ENVIAR NUEVAMENTE LA COTIZACIÓN. ASIMISMO, SE INFORMA QUE NO HAY CONTACTORES DISPONIBLES, POR LO QUE SE SOLICITA SU GESTIÓN CON CARÁCTER PRIORITARIO A DIEGO.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SE SOLICITARÁN CONTACTORES Y SE ENVIARÁ COTIZACIÓN AL CLIENTE</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21,8</a:t>
                      </a: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3901004011"/>
                  </a:ext>
                </a:extLst>
              </a:tr>
              <a:tr h="355004">
                <a:tc>
                  <a:txBody>
                    <a:bodyPr/>
                    <a:lstStyle/>
                    <a:p>
                      <a:pPr algn="l" fontAlgn="b">
                        <a:buNone/>
                      </a:pPr>
                      <a:r>
                        <a:rPr lang="es-CL" sz="600" b="0" i="0" u="none" strike="noStrike" dirty="0">
                          <a:solidFill>
                            <a:srgbClr val="000000"/>
                          </a:solidFill>
                          <a:effectLst/>
                          <a:latin typeface="Aptos Narrow" panose="020B0004020202020204" pitchFamily="34" charset="0"/>
                        </a:rPr>
                        <a:t>HP FÉLIX BULNES</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b">
                        <a:buNone/>
                      </a:pPr>
                      <a:r>
                        <a:rPr lang="es-CL" sz="600" b="0" i="0" u="none" strike="noStrike" dirty="0">
                          <a:solidFill>
                            <a:srgbClr val="000000"/>
                          </a:solidFill>
                          <a:effectLst/>
                          <a:latin typeface="Aptos Narrow" panose="020B0004020202020204" pitchFamily="34" charset="0"/>
                        </a:rPr>
                        <a:t>EQUIPO QUEMADO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SINIESTRADO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ALEXIS FLORES</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LAVADORA DESCONTAMINADORA DS610 - 2SL-2S SN 1706510KT069 SE QUEMA, DESINSTALACIÓN 01-07-2026 OT 68149 (SA-68186), LA CONCESIONARIA SOLICITÓ INVESTIGACIÓN A TERCERO, ALEXIS INDICÓ QUE OFRECEREMOS EQUIPO EN CUANTO SE ACTIVE EL SEGURO, SE DEBE ESPERAR INFORME// 01 DE OCTUBRE, INFORME LISTO</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SE ENVIARÁ INFORME DEFINITIVO, A LA ESPERA DE RESOLUCIÓN DE COMITÉ</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326,0</a:t>
                      </a: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30112523"/>
                  </a:ext>
                </a:extLst>
              </a:tr>
              <a:tr h="274205">
                <a:tc>
                  <a:txBody>
                    <a:bodyPr/>
                    <a:lstStyle/>
                    <a:p>
                      <a:pPr algn="l" fontAlgn="b">
                        <a:buNone/>
                      </a:pPr>
                      <a:r>
                        <a:rPr lang="es-CL" sz="600" b="0" i="0" u="none" strike="noStrike" dirty="0">
                          <a:solidFill>
                            <a:srgbClr val="000000"/>
                          </a:solidFill>
                          <a:effectLst/>
                          <a:latin typeface="Aptos Narrow" panose="020B0004020202020204" pitchFamily="34" charset="0"/>
                        </a:rPr>
                        <a:t>EJERCITO DE CHILE CENTRAL ODONTOLOGICA</a:t>
                      </a:r>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algn="l" fontAlgn="b">
                        <a:buNone/>
                      </a:pPr>
                      <a:r>
                        <a:rPr lang="es-CL" sz="600" b="0" i="0" u="none" strike="noStrike" dirty="0">
                          <a:solidFill>
                            <a:srgbClr val="000000"/>
                          </a:solidFill>
                          <a:effectLst/>
                          <a:latin typeface="Aptos Narrow" panose="020B0004020202020204" pitchFamily="34" charset="0"/>
                        </a:rPr>
                        <a:t>PLANTA DE AGUA 2017C451008P</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NO OPERATIVO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b">
                        <a:buNone/>
                      </a:pPr>
                      <a:r>
                        <a:rPr lang="es-CL" sz="600" b="0" i="0" u="none" strike="noStrike" dirty="0">
                          <a:solidFill>
                            <a:srgbClr val="000000"/>
                          </a:solidFill>
                          <a:effectLst/>
                          <a:latin typeface="Aptos Narrow" panose="020B0004020202020204" pitchFamily="34" charset="0"/>
                        </a:rPr>
                        <a:t>05-10-2026</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1 PRESSCONTROL PARA BOMBA PURPRESS</a:t>
                      </a:r>
                      <a:br>
                        <a:rPr lang="es-CL" sz="600" b="0" i="0" u="none" strike="noStrike" dirty="0">
                          <a:solidFill>
                            <a:srgbClr val="000000"/>
                          </a:solidFill>
                          <a:effectLst/>
                          <a:latin typeface="Aptos Narrow" panose="020B0004020202020204" pitchFamily="34" charset="0"/>
                        </a:rPr>
                      </a:br>
                      <a:r>
                        <a:rPr lang="es-CL" sz="600" b="0" i="0" u="none" strike="noStrike" dirty="0">
                          <a:solidFill>
                            <a:srgbClr val="000000"/>
                          </a:solidFill>
                          <a:effectLst/>
                          <a:latin typeface="Aptos Narrow" panose="020B0004020202020204" pitchFamily="34" charset="0"/>
                        </a:rPr>
                        <a:t>1 BOMBA CALPEDA 0.9 PURBCALP</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l" fontAlgn="b">
                        <a:buNone/>
                      </a:pPr>
                      <a:r>
                        <a:rPr lang="es-CL" sz="600" b="0" i="0" u="none" strike="noStrike" dirty="0">
                          <a:solidFill>
                            <a:srgbClr val="000000"/>
                          </a:solidFill>
                          <a:effectLst/>
                          <a:latin typeface="Aptos Narrow" panose="020B0004020202020204" pitchFamily="34" charset="0"/>
                        </a:rPr>
                        <a:t>SE HA INSISTIDO CON DIEGO SIN OBTENER RESPUESTA </a:t>
                      </a:r>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6,9</a:t>
                      </a: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3862041697"/>
                  </a:ext>
                </a:extLst>
              </a:tr>
              <a:tr h="112609">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519,1</a:t>
                      </a:r>
                      <a:endParaRPr sz="600" dirty="0"/>
                    </a:p>
                  </a:txBody>
                  <a:tcPr marL="18000" marR="18000" marT="18000" marB="18000" anchor="ctr">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73AA89B2-8493-489D-E544-20EA69A4151F}"/>
              </a:ext>
            </a:extLst>
          </p:cNvPr>
          <p:cNvPicPr>
            <a:picLocks noChangeAspect="1"/>
          </p:cNvPicPr>
          <p:nvPr/>
        </p:nvPicPr>
        <p:blipFill>
          <a:blip r:embed="rId3"/>
          <a:stretch>
            <a:fillRect/>
          </a:stretch>
        </p:blipFill>
        <p:spPr>
          <a:xfrm>
            <a:off x="12700" y="865632"/>
            <a:ext cx="12192000" cy="586002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Fill Rate</a:t>
            </a:r>
            <a:endParaRPr sz="2700" b="0" i="0" u="none" strike="noStrike" cap="none">
              <a:solidFill>
                <a:srgbClr val="FFFFFF"/>
              </a:solidFill>
              <a:latin typeface="Roboto"/>
              <a:ea typeface="Roboto"/>
              <a:cs typeface="Roboto"/>
              <a:sym typeface="Roboto"/>
            </a:endParaRPr>
          </a:p>
        </p:txBody>
      </p:sp>
      <p:sp>
        <p:nvSpPr>
          <p:cNvPr id="362" name="Google Shape;362;p22"/>
          <p:cNvSpPr/>
          <p:nvPr/>
        </p:nvSpPr>
        <p:spPr>
          <a:xfrm>
            <a:off x="204679" y="5724394"/>
            <a:ext cx="11785759" cy="6386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Stock top 10 clientes y compra requerida para distintos niveles de Fill Rate</a:t>
            </a:r>
            <a:endParaRPr/>
          </a:p>
        </p:txBody>
      </p:sp>
      <p:pic>
        <p:nvPicPr>
          <p:cNvPr id="3" name="Imagen 2">
            <a:extLst>
              <a:ext uri="{FF2B5EF4-FFF2-40B4-BE49-F238E27FC236}">
                <a16:creationId xmlns:a16="http://schemas.microsoft.com/office/drawing/2014/main" id="{FE41DB1C-CECE-5C7C-182B-D4E0C1D25E78}"/>
              </a:ext>
            </a:extLst>
          </p:cNvPr>
          <p:cNvPicPr>
            <a:picLocks noChangeAspect="1"/>
          </p:cNvPicPr>
          <p:nvPr/>
        </p:nvPicPr>
        <p:blipFill>
          <a:blip r:embed="rId3"/>
          <a:srcRect b="12954"/>
          <a:stretch>
            <a:fillRect/>
          </a:stretch>
        </p:blipFill>
        <p:spPr>
          <a:xfrm>
            <a:off x="408329" y="928716"/>
            <a:ext cx="11011095" cy="479567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60E0CC5A-764C-BD98-0A07-B9158C2B776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828AD388-EC03-83FC-6384-26411DCFDAF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75B3E588-0B4C-45D3-321B-BA403BF85323}"/>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CC2E225-2E81-CEC3-3793-46BB7CE81D18}"/>
              </a:ext>
            </a:extLst>
          </p:cNvPr>
          <p:cNvSpPr/>
          <p:nvPr/>
        </p:nvSpPr>
        <p:spPr>
          <a:xfrm>
            <a:off x="393700" y="322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598782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6A179850-4BBC-848D-63D3-21523C9D4814}"/>
            </a:ext>
          </a:extLst>
        </p:cNvPr>
        <p:cNvGrpSpPr/>
        <p:nvPr/>
      </p:nvGrpSpPr>
      <p:grpSpPr>
        <a:xfrm>
          <a:off x="0" y="0"/>
          <a:ext cx="0" cy="0"/>
          <a:chOff x="0" y="0"/>
          <a:chExt cx="0" cy="0"/>
        </a:xfrm>
      </p:grpSpPr>
      <p:sp>
        <p:nvSpPr>
          <p:cNvPr id="375" name="Google Shape;375;p24">
            <a:extLst>
              <a:ext uri="{FF2B5EF4-FFF2-40B4-BE49-F238E27FC236}">
                <a16:creationId xmlns:a16="http://schemas.microsoft.com/office/drawing/2014/main" id="{36290C09-890A-774B-0AB3-98696FD364C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MX" sz="2700" b="1" dirty="0">
                <a:solidFill>
                  <a:srgbClr val="33448D"/>
                </a:solidFill>
                <a:latin typeface="Roboto"/>
                <a:ea typeface="Roboto"/>
                <a:cs typeface="Roboto"/>
                <a:sym typeface="Roboto"/>
              </a:rPr>
              <a:t>Composición de Facturación – Contratos vs. Otras Facturaciones</a:t>
            </a:r>
            <a:endParaRPr sz="2700" b="0" i="0" u="none" strike="noStrike" cap="none" dirty="0">
              <a:solidFill>
                <a:srgbClr val="FFFFFF"/>
              </a:solidFill>
              <a:latin typeface="Roboto"/>
              <a:ea typeface="Roboto"/>
              <a:cs typeface="Roboto"/>
              <a:sym typeface="Roboto"/>
            </a:endParaRPr>
          </a:p>
        </p:txBody>
      </p:sp>
      <p:sp>
        <p:nvSpPr>
          <p:cNvPr id="6" name="Google Shape;376;p24">
            <a:extLst>
              <a:ext uri="{FF2B5EF4-FFF2-40B4-BE49-F238E27FC236}">
                <a16:creationId xmlns:a16="http://schemas.microsoft.com/office/drawing/2014/main" id="{CB0CED7D-29EF-B316-EBBF-84EE39FE19FB}"/>
              </a:ext>
            </a:extLst>
          </p:cNvPr>
          <p:cNvSpPr/>
          <p:nvPr/>
        </p:nvSpPr>
        <p:spPr>
          <a:xfrm>
            <a:off x="246000" y="4608000"/>
            <a:ext cx="11745000" cy="20672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La facturación acumulada 2026 (enero–octubre) alcanza MM$2.165,3, distribuida prácticamente en partes iguales entre contratos (MM$1.107,2; 51,1%) y mantenciones correctivas y otras facturaciones (MM$1.058,1; 48,9%).</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con contrato concentran MM$1.799,0 de facturación, equivalentes al 83,1% del total, mientras que los clientes sin contrato representan MM$306,3 (14,1%).</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contratos activos aportan MM$1.007,7, mientras que la facturación spot de clientes que además mantienen contrato alcanza MM$751,8, mostrando una fuente relevante de ingresos adicionales a los contratos.</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sin contrato generan MM$206,8 mediante facturación spot y MM$99,5 asociados a contratos vencidos, identificando una oportunidad de conversión hacia relaciones contractuales.</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nuevos aportan MM$59,4 de facturación durante 2026, equivalentes al 2,7% del total acumulado.</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Se identifican 10 clientes perdidos sin facturación actual, que durante 2025 generaron MM$23,7, constituyendo un grupo potencial para acciones de reactivación comercial.</a:t>
            </a:r>
          </a:p>
        </p:txBody>
      </p:sp>
      <p:pic>
        <p:nvPicPr>
          <p:cNvPr id="4" name="Imagen 3">
            <a:extLst>
              <a:ext uri="{FF2B5EF4-FFF2-40B4-BE49-F238E27FC236}">
                <a16:creationId xmlns:a16="http://schemas.microsoft.com/office/drawing/2014/main" id="{6140D3BD-E3BD-328B-18CA-8693682726BB}"/>
              </a:ext>
            </a:extLst>
          </p:cNvPr>
          <p:cNvPicPr>
            <a:picLocks noChangeAspect="1"/>
          </p:cNvPicPr>
          <p:nvPr/>
        </p:nvPicPr>
        <p:blipFill>
          <a:blip r:embed="rId3"/>
          <a:srcRect t="6146" b="12992"/>
          <a:stretch>
            <a:fillRect/>
          </a:stretch>
        </p:blipFill>
        <p:spPr>
          <a:xfrm>
            <a:off x="1371000" y="778853"/>
            <a:ext cx="8920500" cy="3829147"/>
          </a:xfrm>
          <a:prstGeom prst="rect">
            <a:avLst/>
          </a:prstGeom>
        </p:spPr>
      </p:pic>
    </p:spTree>
    <p:extLst>
      <p:ext uri="{BB962C8B-B14F-4D97-AF65-F5344CB8AC3E}">
        <p14:creationId xmlns:p14="http://schemas.microsoft.com/office/powerpoint/2010/main" val="754997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76" name="Google Shape;376;p24"/>
          <p:cNvSpPr/>
          <p:nvPr/>
        </p:nvSpPr>
        <p:spPr>
          <a:xfrm>
            <a:off x="283354" y="5897358"/>
            <a:ext cx="11625292" cy="86203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26 contratos vencen en el horizonte de 30 días, asociados a 23 clientes y por un monto total de MM$188,9.</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16 contratos ya se encuentran vencidos, por MM$100,4, siendo el principal foco de gestión inmediata.</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Octubre concentra 8 contratos (MM$31,9), mientras que 16 contratos ya se encuentran vencidos (MM$100,4).</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Los contratos vencidos concentran el mayor monto del período, con MM$100,4, equivalente aproximadamente al 53% del total del horizonte.</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18 contratos corresponden a la cartera comercial, por MM$165,3, mientras que 8 son de garantía, por MM$23,5.</a:t>
            </a:r>
          </a:p>
        </p:txBody>
      </p:sp>
      <p:pic>
        <p:nvPicPr>
          <p:cNvPr id="3" name="Imagen 2">
            <a:extLst>
              <a:ext uri="{FF2B5EF4-FFF2-40B4-BE49-F238E27FC236}">
                <a16:creationId xmlns:a16="http://schemas.microsoft.com/office/drawing/2014/main" id="{436E7EFE-E1C6-46A0-9EF9-574144E2B831}"/>
              </a:ext>
            </a:extLst>
          </p:cNvPr>
          <p:cNvPicPr>
            <a:picLocks noChangeAspect="1"/>
          </p:cNvPicPr>
          <p:nvPr/>
        </p:nvPicPr>
        <p:blipFill>
          <a:blip r:embed="rId3"/>
          <a:stretch>
            <a:fillRect/>
          </a:stretch>
        </p:blipFill>
        <p:spPr>
          <a:xfrm>
            <a:off x="651000" y="885005"/>
            <a:ext cx="9720000" cy="500303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83" name="Google Shape;383;p25"/>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De este 14% de la cartera ya el 12% se encuentra en proceso de renovación, puede que haya expirado, sin embargo, todavía el contrato se sigue ejecutando, por ejemplo, </a:t>
            </a:r>
            <a:r>
              <a:rPr lang="es-CL" sz="1000" b="1">
                <a:solidFill>
                  <a:schemeClr val="lt1"/>
                </a:solidFill>
                <a:latin typeface="Arial"/>
                <a:ea typeface="Arial"/>
                <a:cs typeface="Arial"/>
                <a:sym typeface="Arial"/>
              </a:rPr>
              <a:t>Clínica INDISA</a:t>
            </a:r>
            <a:endParaRPr/>
          </a:p>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1 Nuevo contrato durante esta semana H. Luis Calvo Mackenna MM$3,5 anual</a:t>
            </a:r>
            <a:endParaRPr/>
          </a:p>
        </p:txBody>
      </p:sp>
      <p:graphicFrame>
        <p:nvGraphicFramePr>
          <p:cNvPr id="384" name="Google Shape;384;p25"/>
          <p:cNvGraphicFramePr/>
          <p:nvPr>
            <p:extLst>
              <p:ext uri="{D42A27DB-BD31-4B8C-83A1-F6EECF244321}">
                <p14:modId xmlns:p14="http://schemas.microsoft.com/office/powerpoint/2010/main" val="3302718868"/>
              </p:ext>
            </p:extLst>
          </p:nvPr>
        </p:nvGraphicFramePr>
        <p:xfrm>
          <a:off x="393702" y="1641277"/>
          <a:ext cx="11625250" cy="2092930"/>
        </p:xfrm>
        <a:graphic>
          <a:graphicData uri="http://schemas.openxmlformats.org/drawingml/2006/table">
            <a:tbl>
              <a:tblPr>
                <a:noFill/>
                <a:tableStyleId>{13D43741-7D58-4360-86AC-F6E32FA5FF39}</a:tableStyleId>
              </a:tblPr>
              <a:tblGrid>
                <a:gridCol w="2838875">
                  <a:extLst>
                    <a:ext uri="{9D8B030D-6E8A-4147-A177-3AD203B41FA5}">
                      <a16:colId xmlns:a16="http://schemas.microsoft.com/office/drawing/2014/main" val="20000"/>
                    </a:ext>
                  </a:extLst>
                </a:gridCol>
                <a:gridCol w="1618550">
                  <a:extLst>
                    <a:ext uri="{9D8B030D-6E8A-4147-A177-3AD203B41FA5}">
                      <a16:colId xmlns:a16="http://schemas.microsoft.com/office/drawing/2014/main" val="20001"/>
                    </a:ext>
                  </a:extLst>
                </a:gridCol>
                <a:gridCol w="950575">
                  <a:extLst>
                    <a:ext uri="{9D8B030D-6E8A-4147-A177-3AD203B41FA5}">
                      <a16:colId xmlns:a16="http://schemas.microsoft.com/office/drawing/2014/main" val="20002"/>
                    </a:ext>
                  </a:extLst>
                </a:gridCol>
                <a:gridCol w="1079025">
                  <a:extLst>
                    <a:ext uri="{9D8B030D-6E8A-4147-A177-3AD203B41FA5}">
                      <a16:colId xmlns:a16="http://schemas.microsoft.com/office/drawing/2014/main" val="20003"/>
                    </a:ext>
                  </a:extLst>
                </a:gridCol>
                <a:gridCol w="1079025">
                  <a:extLst>
                    <a:ext uri="{9D8B030D-6E8A-4147-A177-3AD203B41FA5}">
                      <a16:colId xmlns:a16="http://schemas.microsoft.com/office/drawing/2014/main" val="20004"/>
                    </a:ext>
                  </a:extLst>
                </a:gridCol>
                <a:gridCol w="950575">
                  <a:extLst>
                    <a:ext uri="{9D8B030D-6E8A-4147-A177-3AD203B41FA5}">
                      <a16:colId xmlns:a16="http://schemas.microsoft.com/office/drawing/2014/main" val="20005"/>
                    </a:ext>
                  </a:extLst>
                </a:gridCol>
                <a:gridCol w="1014800">
                  <a:extLst>
                    <a:ext uri="{9D8B030D-6E8A-4147-A177-3AD203B41FA5}">
                      <a16:colId xmlns:a16="http://schemas.microsoft.com/office/drawing/2014/main" val="20006"/>
                    </a:ext>
                  </a:extLst>
                </a:gridCol>
                <a:gridCol w="1014800">
                  <a:extLst>
                    <a:ext uri="{9D8B030D-6E8A-4147-A177-3AD203B41FA5}">
                      <a16:colId xmlns:a16="http://schemas.microsoft.com/office/drawing/2014/main" val="20007"/>
                    </a:ext>
                  </a:extLst>
                </a:gridCol>
                <a:gridCol w="1079025">
                  <a:extLst>
                    <a:ext uri="{9D8B030D-6E8A-4147-A177-3AD203B41FA5}">
                      <a16:colId xmlns:a16="http://schemas.microsoft.com/office/drawing/2014/main" val="20008"/>
                    </a:ext>
                  </a:extLst>
                </a:gridCol>
              </a:tblGrid>
              <a:tr h="288950">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CLIENTE</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CLASIFICACIÓN (indicada por usuario)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TIPO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VALOR TOTAL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Cartera</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CUOTA MENSUAL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FECHA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MES DE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ESTADO EN PANEL (dato actual)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extLst>
                  <a:ext uri="{0D108BD9-81ED-4DB2-BD59-A6C34878D82A}">
                    <a16:rowId xmlns:a16="http://schemas.microsoft.com/office/drawing/2014/main" val="10000"/>
                  </a:ext>
                </a:extLst>
              </a:tr>
              <a:tr h="201150">
                <a:tc>
                  <a:txBody>
                    <a:bodyPr/>
                    <a:lstStyle/>
                    <a:p>
                      <a:pPr marL="0" marR="0" lvl="0" indent="0" algn="l" rtl="0">
                        <a:spcBef>
                          <a:spcPts val="0"/>
                        </a:spcBef>
                        <a:spcAft>
                          <a:spcPts val="0"/>
                        </a:spcAft>
                        <a:buClr>
                          <a:srgbClr val="000000"/>
                        </a:buClr>
                        <a:buSzPts val="800"/>
                        <a:buFont typeface="Arial"/>
                        <a:buNone/>
                      </a:pPr>
                      <a:r>
                        <a:rPr lang="es-CL" sz="800" b="0" i="0" u="none" strike="noStrike" cap="none" dirty="0">
                          <a:solidFill>
                            <a:srgbClr val="000000"/>
                          </a:solidFill>
                          <a:latin typeface="Arial"/>
                          <a:ea typeface="Arial"/>
                          <a:cs typeface="Arial"/>
                          <a:sym typeface="Arial"/>
                        </a:rPr>
                        <a:t>Hospital Exequiel González Cortés</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34.900.000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2,68%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2.908.000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01/09/2026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Sept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Renovado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23.803.992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1,83%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5.950.998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08/03/2027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Marzo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2"/>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INSTITUTO DE DIAGNOSTICO S.A. / CLÍNICA INDISA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23.049.612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1,77%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2.881.201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07/08/2026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CLÍNICA BUPA ANTOFAGASTA 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5.585.865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698.233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4"/>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CONSTITUCION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Renovación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31/05/2026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Mayo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5"/>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MILITAR DE SANTIAGO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4.695.262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782.544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02/06/2026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Junio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6"/>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S</a:t>
                      </a:r>
                      <a:r>
                        <a:rPr lang="es-CL" sz="700" b="0" i="0" u="none" strike="noStrike" cap="none" dirty="0">
                          <a:solidFill>
                            <a:srgbClr val="000000"/>
                          </a:solidFill>
                          <a:latin typeface="Arial"/>
                          <a:cs typeface="Arial"/>
                          <a:sym typeface="Arial"/>
                        </a:rPr>
                        <a:t>e renovara 2027</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4.168.932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1.389.644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7"/>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VICUÑA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Renovación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3.932.726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1.966.363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8"/>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DIPRECA FONDO HOSPITAL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T</a:t>
                      </a:r>
                      <a:r>
                        <a:rPr lang="es-CL" sz="700" b="0" i="0" u="none" strike="noStrike" cap="none" dirty="0" err="1">
                          <a:solidFill>
                            <a:srgbClr val="000000"/>
                          </a:solidFill>
                          <a:latin typeface="Arial"/>
                          <a:cs typeface="Arial"/>
                          <a:sym typeface="Arial"/>
                        </a:rPr>
                        <a:t>rabajando</a:t>
                      </a:r>
                      <a:r>
                        <a:rPr lang="es-CL" sz="700" b="0" i="0" u="none" strike="noStrike" cap="none" dirty="0">
                          <a:solidFill>
                            <a:srgbClr val="000000"/>
                          </a:solidFill>
                          <a:latin typeface="Arial"/>
                          <a:cs typeface="Arial"/>
                          <a:sym typeface="Arial"/>
                        </a:rPr>
                        <a:t> en bases de licitación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3.671.517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1.223.839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05/08/2026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9"/>
                  </a:ext>
                </a:extLst>
              </a:tr>
              <a:tr h="20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 ILLAPEL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a:t>
                      </a:r>
                      <a:r>
                        <a:rPr lang="es-CL" sz="700" b="0" i="0" u="none" strike="noStrike" cap="none" dirty="0" err="1">
                          <a:solidFill>
                            <a:srgbClr val="000000"/>
                          </a:solidFill>
                          <a:latin typeface="Arial"/>
                          <a:ea typeface="Arial"/>
                          <a:cs typeface="Arial"/>
                          <a:sym typeface="Arial"/>
                        </a:rPr>
                        <a:t>Licitacion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31/07/2026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Julio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0"/>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2.738.309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1.369.155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23/12/2026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Diciembre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2"/>
                  </a:ext>
                </a:extLst>
              </a:tr>
              <a:tr h="123425">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CLINICA WLK</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2.404.630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801.543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1.376.598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688.299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30/04/2027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Abril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Renovado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4"/>
                  </a:ext>
                </a:extLst>
              </a:tr>
            </a:tbl>
          </a:graphicData>
        </a:graphic>
      </p:graphicFrame>
      <p:sp>
        <p:nvSpPr>
          <p:cNvPr id="385" name="Google Shape;385;p25"/>
          <p:cNvSpPr/>
          <p:nvPr/>
        </p:nvSpPr>
        <p:spPr>
          <a:xfrm>
            <a:off x="300787" y="3840007"/>
            <a:ext cx="11718203"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Pendientes por Iniciar Conversaciones</a:t>
            </a:r>
            <a:endParaRPr/>
          </a:p>
        </p:txBody>
      </p:sp>
      <p:graphicFrame>
        <p:nvGraphicFramePr>
          <p:cNvPr id="386" name="Google Shape;386;p25"/>
          <p:cNvGraphicFramePr/>
          <p:nvPr>
            <p:extLst>
              <p:ext uri="{D42A27DB-BD31-4B8C-83A1-F6EECF244321}">
                <p14:modId xmlns:p14="http://schemas.microsoft.com/office/powerpoint/2010/main" val="692468669"/>
              </p:ext>
            </p:extLst>
          </p:nvPr>
        </p:nvGraphicFramePr>
        <p:xfrm>
          <a:off x="300788" y="4445503"/>
          <a:ext cx="11718200" cy="1049085"/>
        </p:xfrm>
        <a:graphic>
          <a:graphicData uri="http://schemas.openxmlformats.org/drawingml/2006/table">
            <a:tbl>
              <a:tblPr>
                <a:noFill/>
                <a:tableStyleId>{13D43741-7D58-4360-86AC-F6E32FA5FF39}</a:tableStyleId>
              </a:tblPr>
              <a:tblGrid>
                <a:gridCol w="9086900">
                  <a:extLst>
                    <a:ext uri="{9D8B030D-6E8A-4147-A177-3AD203B41FA5}">
                      <a16:colId xmlns:a16="http://schemas.microsoft.com/office/drawing/2014/main" val="20000"/>
                    </a:ext>
                  </a:extLst>
                </a:gridCol>
                <a:gridCol w="877100">
                  <a:extLst>
                    <a:ext uri="{9D8B030D-6E8A-4147-A177-3AD203B41FA5}">
                      <a16:colId xmlns:a16="http://schemas.microsoft.com/office/drawing/2014/main" val="20001"/>
                    </a:ext>
                  </a:extLst>
                </a:gridCol>
                <a:gridCol w="877100">
                  <a:extLst>
                    <a:ext uri="{9D8B030D-6E8A-4147-A177-3AD203B41FA5}">
                      <a16:colId xmlns:a16="http://schemas.microsoft.com/office/drawing/2014/main" val="20002"/>
                    </a:ext>
                  </a:extLst>
                </a:gridCol>
                <a:gridCol w="877100">
                  <a:extLst>
                    <a:ext uri="{9D8B030D-6E8A-4147-A177-3AD203B41FA5}">
                      <a16:colId xmlns:a16="http://schemas.microsoft.com/office/drawing/2014/main" val="20003"/>
                    </a:ext>
                  </a:extLst>
                </a:gridCol>
              </a:tblGrid>
              <a:tr h="175575">
                <a:tc>
                  <a:txBody>
                    <a:bodyPr/>
                    <a:lstStyle/>
                    <a:p>
                      <a:pPr marL="0" marR="0" lvl="0" indent="0" algn="l" rtl="0">
                        <a:spcBef>
                          <a:spcPts val="0"/>
                        </a:spcBef>
                        <a:spcAft>
                          <a:spcPts val="0"/>
                        </a:spcAft>
                        <a:buClr>
                          <a:srgbClr val="000000"/>
                        </a:buClr>
                        <a:buSzPts val="900"/>
                        <a:buFont typeface="Arial"/>
                        <a:buNone/>
                      </a:pPr>
                      <a:r>
                        <a:rPr lang="es-CL" sz="900" b="1" i="0" u="none" strike="noStrike" cap="none" dirty="0">
                          <a:solidFill>
                            <a:srgbClr val="000000"/>
                          </a:solidFill>
                          <a:latin typeface="Arial"/>
                          <a:ea typeface="Arial"/>
                          <a:cs typeface="Arial"/>
                          <a:sym typeface="Arial"/>
                        </a:rPr>
                        <a:t>Cliente</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Vcto</a:t>
                      </a:r>
                      <a:endParaRPr sz="900" b="1" i="0" u="none" strike="noStrike" cap="none">
                        <a:solidFill>
                          <a:srgbClr val="000000"/>
                        </a:solidFill>
                        <a:latin typeface="Arial"/>
                        <a:ea typeface="Arial"/>
                        <a:cs typeface="Arial"/>
                        <a:sym typeface="Arial"/>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MM$</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San Luis Buin  Renovado</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16-10-26</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2,8</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0,22%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San Luis Buin  Renovado</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16-10-26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5,3</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Servicios Clínicos del Desarrollo S.A.</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Corporación Municipal de Conchalí Por licitar</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de Urgencia Asistencia Pública Dr. Alejandro del Río  Nva licitación</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de Puerto Aysén  Bases para licitar</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12-11-26</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32,7</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2,52%</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Contratos Perdidos</a:t>
            </a:r>
            <a:endParaRPr sz="2700" b="0" i="0" u="none" strike="noStrike" cap="none">
              <a:solidFill>
                <a:srgbClr val="FFFFFF"/>
              </a:solidFill>
              <a:latin typeface="Roboto"/>
              <a:ea typeface="Roboto"/>
              <a:cs typeface="Roboto"/>
              <a:sym typeface="Roboto"/>
            </a:endParaRPr>
          </a:p>
        </p:txBody>
      </p:sp>
      <p:sp>
        <p:nvSpPr>
          <p:cNvPr id="392" name="Google Shape;392;p26"/>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Durante el año 2026 no se han renovado 17 contratos (13% de la cartera de contratos), no obstante, la mayoría de los clientes sigue preservando el servicio con TECSERVICE</a:t>
            </a:r>
            <a:endParaRPr/>
          </a:p>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Fundación ANCHORA UC indica termino de contratos asociados a equipos determinados pero no cliente</a:t>
            </a:r>
            <a:endParaRPr/>
          </a:p>
        </p:txBody>
      </p:sp>
      <p:graphicFrame>
        <p:nvGraphicFramePr>
          <p:cNvPr id="393" name="Google Shape;393;p26"/>
          <p:cNvGraphicFramePr/>
          <p:nvPr>
            <p:extLst>
              <p:ext uri="{D42A27DB-BD31-4B8C-83A1-F6EECF244321}">
                <p14:modId xmlns:p14="http://schemas.microsoft.com/office/powerpoint/2010/main" val="1331676158"/>
              </p:ext>
            </p:extLst>
          </p:nvPr>
        </p:nvGraphicFramePr>
        <p:xfrm>
          <a:off x="380999" y="1799770"/>
          <a:ext cx="11429975" cy="3081225"/>
        </p:xfrm>
        <a:graphic>
          <a:graphicData uri="http://schemas.openxmlformats.org/drawingml/2006/table">
            <a:tbl>
              <a:tblPr>
                <a:noFill/>
                <a:tableStyleId>{13D43741-7D58-4360-86AC-F6E32FA5FF39}</a:tableStyleId>
              </a:tblPr>
              <a:tblGrid>
                <a:gridCol w="1109500">
                  <a:extLst>
                    <a:ext uri="{9D8B030D-6E8A-4147-A177-3AD203B41FA5}">
                      <a16:colId xmlns:a16="http://schemas.microsoft.com/office/drawing/2014/main" val="20000"/>
                    </a:ext>
                  </a:extLst>
                </a:gridCol>
                <a:gridCol w="2620900">
                  <a:extLst>
                    <a:ext uri="{9D8B030D-6E8A-4147-A177-3AD203B41FA5}">
                      <a16:colId xmlns:a16="http://schemas.microsoft.com/office/drawing/2014/main" val="20001"/>
                    </a:ext>
                  </a:extLst>
                </a:gridCol>
                <a:gridCol w="698900">
                  <a:extLst>
                    <a:ext uri="{9D8B030D-6E8A-4147-A177-3AD203B41FA5}">
                      <a16:colId xmlns:a16="http://schemas.microsoft.com/office/drawing/2014/main" val="20002"/>
                    </a:ext>
                  </a:extLst>
                </a:gridCol>
                <a:gridCol w="698900">
                  <a:extLst>
                    <a:ext uri="{9D8B030D-6E8A-4147-A177-3AD203B41FA5}">
                      <a16:colId xmlns:a16="http://schemas.microsoft.com/office/drawing/2014/main" val="20003"/>
                    </a:ext>
                  </a:extLst>
                </a:gridCol>
                <a:gridCol w="698900">
                  <a:extLst>
                    <a:ext uri="{9D8B030D-6E8A-4147-A177-3AD203B41FA5}">
                      <a16:colId xmlns:a16="http://schemas.microsoft.com/office/drawing/2014/main" val="20004"/>
                    </a:ext>
                  </a:extLst>
                </a:gridCol>
                <a:gridCol w="698900">
                  <a:extLst>
                    <a:ext uri="{9D8B030D-6E8A-4147-A177-3AD203B41FA5}">
                      <a16:colId xmlns:a16="http://schemas.microsoft.com/office/drawing/2014/main" val="20005"/>
                    </a:ext>
                  </a:extLst>
                </a:gridCol>
                <a:gridCol w="2387925">
                  <a:extLst>
                    <a:ext uri="{9D8B030D-6E8A-4147-A177-3AD203B41FA5}">
                      <a16:colId xmlns:a16="http://schemas.microsoft.com/office/drawing/2014/main" val="20006"/>
                    </a:ext>
                  </a:extLst>
                </a:gridCol>
                <a:gridCol w="2516050">
                  <a:extLst>
                    <a:ext uri="{9D8B030D-6E8A-4147-A177-3AD203B41FA5}">
                      <a16:colId xmlns:a16="http://schemas.microsoft.com/office/drawing/2014/main" val="20007"/>
                    </a:ext>
                  </a:extLst>
                </a:gridCol>
              </a:tblGrid>
              <a:tr h="564225">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Responsable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Nombre del cliente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de inicio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final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Contratos</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Cartera</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Comentario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Razon de Perdida</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FUNDACIÓN OFTALMOLÓGICA LOS ANDES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12-02-2024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11-02-2026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5.177.375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Equipos antiguos no invertiran en contrato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CLINICO SAN BORJA-ARRIARAN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25-06-2026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43.089.900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Licitacion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04-05-2023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03-05-2026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24.065.784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E</a:t>
                      </a:r>
                      <a:r>
                        <a:rPr lang="es-CL" sz="900" b="0" i="0" u="none" strike="noStrike" cap="none" dirty="0">
                          <a:solidFill>
                            <a:srgbClr val="000000"/>
                          </a:solidFill>
                          <a:latin typeface="Calibri"/>
                          <a:ea typeface="Calibri"/>
                          <a:cs typeface="Calibri"/>
                          <a:sym typeface="Calibri"/>
                        </a:rPr>
                        <a:t>quipos dados de baja</a:t>
                      </a:r>
                      <a:endParaRPr sz="900" b="0" i="0" u="none" strike="noStrike" cap="none" dirty="0">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Equipos dado de baja</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09-08-2023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08-08-2026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6.989.760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E</a:t>
                      </a:r>
                      <a:r>
                        <a:rPr lang="es-CL" sz="900" b="0" i="0" u="none" strike="noStrike" cap="none" dirty="0">
                          <a:solidFill>
                            <a:srgbClr val="000000"/>
                          </a:solidFill>
                          <a:latin typeface="Calibri"/>
                          <a:ea typeface="Calibri"/>
                          <a:cs typeface="Calibri"/>
                          <a:sym typeface="Calibri"/>
                        </a:rPr>
                        <a:t>n proceso nuevo contrato</a:t>
                      </a:r>
                      <a:endParaRPr sz="900" b="0" i="0" u="none" strike="noStrike" cap="none" dirty="0">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I.MUNICIPALIDAD DE LA UNION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3.308.250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En negociación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Los Alamos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8.939.285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Proceso contrato por trato directo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LUIS CALVO MACKENNA</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7.296.300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Adjudicado 24 meses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COMPLEJO ASISTENCIAL DR SOTERO DEL RIO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22-07-2026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39.022.480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N</a:t>
                      </a:r>
                      <a:r>
                        <a:rPr lang="es-CL" sz="900" b="0" i="0" u="none" strike="noStrike" cap="none" dirty="0" err="1">
                          <a:solidFill>
                            <a:srgbClr val="000000"/>
                          </a:solidFill>
                          <a:latin typeface="Calibri"/>
                          <a:ea typeface="Calibri"/>
                          <a:cs typeface="Calibri"/>
                          <a:sym typeface="Calibri"/>
                        </a:rPr>
                        <a:t>uevo</a:t>
                      </a:r>
                      <a:r>
                        <a:rPr lang="es-CL" sz="900" b="0" i="0" u="none" strike="noStrike" cap="none" dirty="0">
                          <a:solidFill>
                            <a:srgbClr val="000000"/>
                          </a:solidFill>
                          <a:latin typeface="Calibri"/>
                          <a:ea typeface="Calibri"/>
                          <a:cs typeface="Calibri"/>
                          <a:sym typeface="Calibri"/>
                        </a:rPr>
                        <a:t> contrato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METROPOLITANO DE SANTIAGO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19-03-2024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18-03-2026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6.646.990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dirty="0">
                          <a:solidFill>
                            <a:srgbClr val="000000"/>
                          </a:solidFill>
                          <a:latin typeface="Calibri"/>
                          <a:ea typeface="Calibri"/>
                          <a:cs typeface="Calibri"/>
                          <a:sym typeface="Calibri"/>
                        </a:rPr>
                        <a:t>Equipo ya no comercializado mamógrafo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INSTITUTO NACIONAL DEL CANCER</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2.669.508</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A</a:t>
                      </a:r>
                      <a:r>
                        <a:rPr lang="es-CL" sz="900" b="0" i="0" u="none" strike="noStrike" cap="none" dirty="0" err="1">
                          <a:solidFill>
                            <a:srgbClr val="000000"/>
                          </a:solidFill>
                          <a:latin typeface="Calibri"/>
                          <a:ea typeface="Calibri"/>
                          <a:cs typeface="Calibri"/>
                          <a:sym typeface="Calibri"/>
                        </a:rPr>
                        <a:t>djudicado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 Municipalidad de Parral - Dpto Salud</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16-01-2026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5.682.924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No hay respuesta de cliente, nos deben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Total</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186.918.320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2B3377A-F1E3-BD86-BD28-3CD3D01C9A4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928DD958-9C70-B581-F2BD-9B6F02BB014B}"/>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B1F28129-34B4-631C-9A7B-14C3F146D54E}"/>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1E54197-7BE9-3C24-457D-538306EC50C5}"/>
              </a:ext>
            </a:extLst>
          </p:cNvPr>
          <p:cNvSpPr/>
          <p:nvPr/>
        </p:nvSpPr>
        <p:spPr>
          <a:xfrm>
            <a:off x="393700" y="385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315636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582F2564-0748-18DF-A519-F1C622D45FCF}"/>
              </a:ext>
            </a:extLst>
          </p:cNvPr>
          <p:cNvPicPr>
            <a:picLocks noChangeAspect="1"/>
          </p:cNvPicPr>
          <p:nvPr/>
        </p:nvPicPr>
        <p:blipFill>
          <a:blip r:embed="rId3"/>
          <a:srcRect t="5249"/>
          <a:stretch>
            <a:fillRect/>
          </a:stretch>
        </p:blipFill>
        <p:spPr>
          <a:xfrm>
            <a:off x="1101000" y="855588"/>
            <a:ext cx="9433695" cy="598418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 - Detractores</a:t>
            </a:r>
            <a:endParaRPr sz="2700" b="0" i="0" u="none" strike="noStrike" cap="none">
              <a:solidFill>
                <a:srgbClr val="FFFFFF"/>
              </a:solidFill>
              <a:latin typeface="Roboto"/>
              <a:ea typeface="Roboto"/>
              <a:cs typeface="Roboto"/>
              <a:sym typeface="Roboto"/>
            </a:endParaRPr>
          </a:p>
        </p:txBody>
      </p:sp>
      <p:graphicFrame>
        <p:nvGraphicFramePr>
          <p:cNvPr id="412" name="Google Shape;412;p29"/>
          <p:cNvGraphicFramePr/>
          <p:nvPr>
            <p:extLst>
              <p:ext uri="{D42A27DB-BD31-4B8C-83A1-F6EECF244321}">
                <p14:modId xmlns:p14="http://schemas.microsoft.com/office/powerpoint/2010/main" val="229164777"/>
              </p:ext>
            </p:extLst>
          </p:nvPr>
        </p:nvGraphicFramePr>
        <p:xfrm>
          <a:off x="291000" y="928913"/>
          <a:ext cx="11610000" cy="5276786"/>
        </p:xfrm>
        <a:graphic>
          <a:graphicData uri="http://schemas.openxmlformats.org/drawingml/2006/table">
            <a:tbl>
              <a:tblPr>
                <a:noFill/>
                <a:tableStyleId>{13D43741-7D58-4360-86AC-F6E32FA5FF39}</a:tableStyleId>
              </a:tblPr>
              <a:tblGrid>
                <a:gridCol w="2231454">
                  <a:extLst>
                    <a:ext uri="{9D8B030D-6E8A-4147-A177-3AD203B41FA5}">
                      <a16:colId xmlns:a16="http://schemas.microsoft.com/office/drawing/2014/main" val="20000"/>
                    </a:ext>
                  </a:extLst>
                </a:gridCol>
                <a:gridCol w="1811032">
                  <a:extLst>
                    <a:ext uri="{9D8B030D-6E8A-4147-A177-3AD203B41FA5}">
                      <a16:colId xmlns:a16="http://schemas.microsoft.com/office/drawing/2014/main" val="20001"/>
                    </a:ext>
                  </a:extLst>
                </a:gridCol>
                <a:gridCol w="3120788">
                  <a:extLst>
                    <a:ext uri="{9D8B030D-6E8A-4147-A177-3AD203B41FA5}">
                      <a16:colId xmlns:a16="http://schemas.microsoft.com/office/drawing/2014/main" val="20002"/>
                    </a:ext>
                  </a:extLst>
                </a:gridCol>
                <a:gridCol w="1051041">
                  <a:extLst>
                    <a:ext uri="{9D8B030D-6E8A-4147-A177-3AD203B41FA5}">
                      <a16:colId xmlns:a16="http://schemas.microsoft.com/office/drawing/2014/main" val="20003"/>
                    </a:ext>
                  </a:extLst>
                </a:gridCol>
                <a:gridCol w="3395685">
                  <a:extLst>
                    <a:ext uri="{9D8B030D-6E8A-4147-A177-3AD203B41FA5}">
                      <a16:colId xmlns:a16="http://schemas.microsoft.com/office/drawing/2014/main" val="20004"/>
                    </a:ext>
                  </a:extLst>
                </a:gridCol>
              </a:tblGrid>
              <a:tr h="279037">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Cliente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Responsable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Plan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Fecha de Implementación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Descripción Caso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8879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LLANQUIHUE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PROGRAMA VISITA PARA REVISAR SELLADORA Y REALIZAR CAPACITACIÓN, QUEDANDO EL EQUIPO OPERATIVO Y PERSONAL CAPACITADO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19-02-2026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 EQUIPO ESTÁ SELLANDO DE FORMA INTERMITENTE Y PRESENTA UN SONIDO AGUDO, ADEMÁS SOLICITA CAPACITACIÓN ONLINE CON ALGUNO DE LOS INGENIEROS DE SERVICIO + APOYO EN CONFIGURACIÓN DE SELLADORA MELASEAL 300.</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230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DAVILA VESPUCIO3 resp.</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Patricia Guzmán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CONSEGUIR REPUESTO E INFORMAR AL CLIENTE QUE YA NO SOMOS REPRESENTANTES DE LA MARCA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SOLICITAN ENVÍO DE REPUESTO DE OC QUE NO ENVIARON A ST, HASTA ESE MOMENTO 2 MESES DESPUÉS, EL REPUESTO ERA DE MARCA DABI ATLANTE Y NOS COSTÓ CONSEGUIERLO YA QUE NO SOMOS REPRESENTANTES ACTUALES, LO CONSEGUIMOS Y LES RESOLVIMOS EL INCONVENIENTE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SAN CAMILO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REVISIÓN EN TALLER DE ST/EVALUAR CON FÁBRICA SOLUCIÓN/CAMBIO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31-08-2026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203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ACHS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BASE SAN JOSE OSORNO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err="1">
                          <a:solidFill>
                            <a:srgbClr val="000000"/>
                          </a:solidFill>
                          <a:latin typeface="Arial"/>
                          <a:ea typeface="Arial"/>
                          <a:cs typeface="Arial"/>
                          <a:sym typeface="Arial"/>
                        </a:rPr>
                        <a:t>Maria</a:t>
                      </a:r>
                      <a:r>
                        <a:rPr lang="es-CL" sz="900" b="0" i="0" u="none" strike="noStrike" cap="none" dirty="0">
                          <a:solidFill>
                            <a:srgbClr val="000000"/>
                          </a:solidFill>
                          <a:latin typeface="Arial"/>
                          <a:ea typeface="Arial"/>
                          <a:cs typeface="Arial"/>
                          <a:sym typeface="Arial"/>
                        </a:rPr>
                        <a:t> de Los </a:t>
                      </a:r>
                      <a:r>
                        <a:rPr lang="es-CL" sz="900" b="0" i="0" u="none" strike="noStrike" cap="none" dirty="0" err="1">
                          <a:solidFill>
                            <a:srgbClr val="000000"/>
                          </a:solidFill>
                          <a:latin typeface="Arial"/>
                          <a:ea typeface="Arial"/>
                          <a:cs typeface="Arial"/>
                          <a:sym typeface="Arial"/>
                        </a:rPr>
                        <a:t>Angeles</a:t>
                      </a:r>
                      <a:r>
                        <a:rPr lang="es-CL" sz="900" b="0" i="0" u="none" strike="noStrike" cap="none" dirty="0">
                          <a:solidFill>
                            <a:srgbClr val="000000"/>
                          </a:solidFill>
                          <a:latin typeface="Arial"/>
                          <a:ea typeface="Arial"/>
                          <a:cs typeface="Arial"/>
                          <a:sym typeface="Arial"/>
                        </a:rPr>
                        <a:t> Colina</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SCMS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Elizabeth Gálvez</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ASISTIMOS AL CLIENTE PARA REVISAR ANTECEDENTES, ESPERAMOS LA RESOLUCIÓN DE LA INVESTIGACIÓN, PARA EVALUAR ACCIONES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SINIESTRADO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ISM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LLAMÓ POR TELÉFONO DÓNDE INDICÓ QUE NO SABÍA A QUÉ CORRESPONDÍA LA ENCUENTA Y SE EQUIVOCÓ AL EVALUAR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16-06-2026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SABÍA A QUÉ CORRESPONDÍA, SE EQUIVOCÓ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COOPORACION MUNICIPAL DE LAMPA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hay casos asociados a ese cliente en sistema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CARLOS VAN BUREN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DERMATOLOGICA DRA DIANA YANINE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Matilde Carrillo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SOLICITÓ CELERIDAD EN ENVÍO DE FACTURA A CLIENTE Y YA LA RECIBIÓ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MOLESTIA POR LA DEMORA EN ENVÍO DE FACTURA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PUERTO AYSEN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SOLICITARON PROGRAMAS A FÁBRICA PARA VOLVER A CARGARLOS EN EL EQUIPO Y PODER DIAGNÓSTICAR, YA LLEGARON, SE REALIZARÁ LA ACCIÓN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01-09-2026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 SE ENVIÓ A ST PARA REVISIÓN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CLINICO SANBORJA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OFRECIÓ AL CLIENTE VISITA DE DIAGNÓSTICO DE NUESTRO ST, ESPERAMOS RESPUESTA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18-08-2026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a:solidFill>
                            <a:srgbClr val="000000"/>
                          </a:solidFill>
                          <a:latin typeface="Arial"/>
                          <a:ea typeface="Arial"/>
                          <a:cs typeface="Arial"/>
                          <a:sym typeface="Arial"/>
                        </a:rPr>
                        <a:t>EQUIPO CON FALLA DIAGNÓSTICADO POR ST EXTERNO, QUERÍAN COMPRARNOS SOLO EL REPUESTO </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A83204-05A4-9AC5-9834-FD93596707AE}"/>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CB981F3E-0BF2-05B0-9010-AB322118C5C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851655F4-2750-DF60-2227-6D8C87BF9AA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8087892-0016-BCD8-33E0-B43F4E9723E6}"/>
              </a:ext>
            </a:extLst>
          </p:cNvPr>
          <p:cNvSpPr/>
          <p:nvPr/>
        </p:nvSpPr>
        <p:spPr>
          <a:xfrm>
            <a:off x="393700" y="439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60483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Prospectos Clientes Según Renovación Base Instalada</a:t>
            </a:r>
            <a:endParaRPr/>
          </a:p>
        </p:txBody>
      </p:sp>
      <p:sp>
        <p:nvSpPr>
          <p:cNvPr id="425" name="Google Shape;425;p31"/>
          <p:cNvSpPr/>
          <p:nvPr/>
        </p:nvSpPr>
        <p:spPr>
          <a:xfrm>
            <a:off x="204679" y="4178333"/>
            <a:ext cx="11785759" cy="253679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Actualmente, existen 12.557 equipos instalados en 1.512 clientes, con una valorización de MM$35.540,5 para 2.129 equipos valorizados.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714 equipos ya cumplieron su vida útil, representando un valor a renovar de MM$3.433,0.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2026 y 2033, se identifican 3.596 equipos que cumplen su vida útil, con un valor potencial de renovación de MM$16.207,1.</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2026 concentra 162 equipos, equivalentes a MM$840,6 de potencial de renovación.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mayor volumen de renovación se concentra entre 2027 y 2029, con 2.803 equipos y MM$5.431,3 de valor potencial.</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Dental concentra el mayor número de equipos con vencimiento, con 1.178 equipos y MM$3.112,2, seguido por Esterilización con 832 equipos y MM$13.406,0.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distribución de vencimientos permite construir un pipeline de renovación de largo plazo, priorizando inicialmente los 714 equipos que ya cumplieron su vida útil.</a:t>
            </a:r>
          </a:p>
        </p:txBody>
      </p:sp>
      <p:pic>
        <p:nvPicPr>
          <p:cNvPr id="4" name="Imagen 3">
            <a:extLst>
              <a:ext uri="{FF2B5EF4-FFF2-40B4-BE49-F238E27FC236}">
                <a16:creationId xmlns:a16="http://schemas.microsoft.com/office/drawing/2014/main" id="{75A50432-77EB-1CE5-2B4A-C77426CB7D01}"/>
              </a:ext>
            </a:extLst>
          </p:cNvPr>
          <p:cNvPicPr>
            <a:picLocks noChangeAspect="1"/>
          </p:cNvPicPr>
          <p:nvPr/>
        </p:nvPicPr>
        <p:blipFill>
          <a:blip r:embed="rId3"/>
          <a:srcRect t="20875"/>
          <a:stretch>
            <a:fillRect/>
          </a:stretch>
        </p:blipFill>
        <p:spPr>
          <a:xfrm>
            <a:off x="0" y="864000"/>
            <a:ext cx="12192000" cy="1517054"/>
          </a:xfrm>
          <a:prstGeom prst="rect">
            <a:avLst/>
          </a:prstGeom>
        </p:spPr>
      </p:pic>
      <p:pic>
        <p:nvPicPr>
          <p:cNvPr id="3" name="Imagen 2">
            <a:extLst>
              <a:ext uri="{FF2B5EF4-FFF2-40B4-BE49-F238E27FC236}">
                <a16:creationId xmlns:a16="http://schemas.microsoft.com/office/drawing/2014/main" id="{B39ABC56-07DE-DB27-A206-C1BF5647A5BD}"/>
              </a:ext>
            </a:extLst>
          </p:cNvPr>
          <p:cNvPicPr>
            <a:picLocks noChangeAspect="1"/>
          </p:cNvPicPr>
          <p:nvPr/>
        </p:nvPicPr>
        <p:blipFill>
          <a:blip r:embed="rId4"/>
          <a:srcRect t="11525" b="12209"/>
          <a:stretch>
            <a:fillRect/>
          </a:stretch>
        </p:blipFill>
        <p:spPr>
          <a:xfrm>
            <a:off x="12700" y="2100572"/>
            <a:ext cx="12192000" cy="207724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3" name="Imagen 2">
            <a:extLst>
              <a:ext uri="{FF2B5EF4-FFF2-40B4-BE49-F238E27FC236}">
                <a16:creationId xmlns:a16="http://schemas.microsoft.com/office/drawing/2014/main" id="{04279BDF-B73B-535C-C302-DA6FA57B38D5}"/>
              </a:ext>
            </a:extLst>
          </p:cNvPr>
          <p:cNvPicPr>
            <a:picLocks noChangeAspect="1"/>
          </p:cNvPicPr>
          <p:nvPr/>
        </p:nvPicPr>
        <p:blipFill>
          <a:blip r:embed="rId3"/>
          <a:stretch>
            <a:fillRect/>
          </a:stretch>
        </p:blipFill>
        <p:spPr>
          <a:xfrm>
            <a:off x="12700" y="854592"/>
            <a:ext cx="12192000" cy="582069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3" name="Imagen 2">
            <a:extLst>
              <a:ext uri="{FF2B5EF4-FFF2-40B4-BE49-F238E27FC236}">
                <a16:creationId xmlns:a16="http://schemas.microsoft.com/office/drawing/2014/main" id="{B89E8362-5F01-0560-5BFE-2EC71ED10C56}"/>
              </a:ext>
            </a:extLst>
          </p:cNvPr>
          <p:cNvPicPr>
            <a:picLocks noChangeAspect="1"/>
          </p:cNvPicPr>
          <p:nvPr/>
        </p:nvPicPr>
        <p:blipFill>
          <a:blip r:embed="rId3"/>
          <a:stretch>
            <a:fillRect/>
          </a:stretch>
        </p:blipFill>
        <p:spPr>
          <a:xfrm>
            <a:off x="12700" y="1089000"/>
            <a:ext cx="12192000" cy="533265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4"/>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F7F7F"/>
              </a:buClr>
              <a:buSzPts val="2000"/>
              <a:buNone/>
            </a:pPr>
            <a:r>
              <a:rPr lang="es-CL" sz="2000" b="1">
                <a:solidFill>
                  <a:srgbClr val="7F7F7F"/>
                </a:solidFill>
              </a:rPr>
              <a:t>Plan por Región</a:t>
            </a:r>
            <a:endParaRPr>
              <a:solidFill>
                <a:srgbClr val="7F7F7F"/>
              </a:solidFill>
            </a:endParaRPr>
          </a:p>
        </p:txBody>
      </p:sp>
      <p:sp>
        <p:nvSpPr>
          <p:cNvPr id="446" name="Google Shape;446;p34"/>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447" name="Google Shape;447;p34"/>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448" name="Google Shape;448;p34"/>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449" name="Google Shape;449;p34"/>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7E648FE-7095-C4DA-375B-F4513EAB952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256A51E9-E4F8-F5C7-9687-34D89875792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3E04E6C-F188-0469-7CDC-E3415D01AB7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455248BD-7FD4-DA7D-2794-8C06693652F1}"/>
              </a:ext>
            </a:extLst>
          </p:cNvPr>
          <p:cNvSpPr/>
          <p:nvPr/>
        </p:nvSpPr>
        <p:spPr>
          <a:xfrm>
            <a:off x="393700" y="4914000"/>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85430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21CFC961-4229-734E-A151-AB5A74C09787}"/>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B64377C-D635-CA84-5B16-AC8C76153D63}"/>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Bío Bio</a:t>
            </a:r>
            <a:endParaRPr dirty="0"/>
          </a:p>
        </p:txBody>
      </p:sp>
      <p:sp>
        <p:nvSpPr>
          <p:cNvPr id="457" name="Google Shape;457;p35">
            <a:extLst>
              <a:ext uri="{FF2B5EF4-FFF2-40B4-BE49-F238E27FC236}">
                <a16:creationId xmlns:a16="http://schemas.microsoft.com/office/drawing/2014/main" id="{656C2264-9CE6-438B-398A-FD3A0351A5E6}"/>
              </a:ext>
            </a:extLst>
          </p:cNvPr>
          <p:cNvSpPr/>
          <p:nvPr/>
        </p:nvSpPr>
        <p:spPr>
          <a:xfrm>
            <a:off x="313658" y="3722176"/>
            <a:ext cx="11502870" cy="233135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Se identifican 7 clientes foco en la Región del Bío </a:t>
            </a:r>
            <a:r>
              <a:rPr lang="es-MX" sz="1000" dirty="0" err="1">
                <a:solidFill>
                  <a:schemeClr val="lt1"/>
                </a:solidFill>
                <a:latin typeface="Arial"/>
                <a:ea typeface="Arial"/>
                <a:cs typeface="Arial"/>
                <a:sym typeface="Arial"/>
              </a:rPr>
              <a:t>Bío</a:t>
            </a:r>
            <a:r>
              <a:rPr lang="es-MX" sz="1000" dirty="0">
                <a:solidFill>
                  <a:schemeClr val="lt1"/>
                </a:solidFill>
                <a:latin typeface="Arial"/>
                <a:ea typeface="Arial"/>
                <a:cs typeface="Arial"/>
                <a:sym typeface="Arial"/>
              </a:rPr>
              <a:t>, con una facturación 2026 acumulada de MM$75,9.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Estos clientes presentan un potencial de Servicio Técnico de MM$129,3 anuales, destacando Hospital Víctor Ríos Ruiz, Clínica Sanatorio Alemán y Hospital Guillermo Grant Benavente.</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Hospital Víctor Ríos Ruiz concentra el mayor potencial, con MM$37,9 anuales, seguido por Clínica Sanatorio Alemán (MM$26,6) y Hospital Guillermo Grant Benavente (MM$24,9).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Las principales oportunidades identificadas se relacionan con renovación de contratos, venta de repuestos y conversión de equipos en garantía a contratos de servicio.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 región presenta una oportunidad de profundizar la cobertura comercial y técnica, utilizando estos clientes como foco para capturar el potencial de Servicio Técnico.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endParaRPr>
          </a:p>
          <a:p>
            <a:pPr marL="171450" marR="0" lvl="0" indent="-171450" algn="l" rtl="0">
              <a:spcBef>
                <a:spcPts val="0"/>
              </a:spcBef>
              <a:spcAft>
                <a:spcPts val="0"/>
              </a:spcAft>
              <a:buClr>
                <a:schemeClr val="lt1"/>
              </a:buClr>
              <a:buSzPts val="1000"/>
              <a:buFont typeface="Arial"/>
              <a:buChar char="•"/>
            </a:pPr>
            <a:r>
              <a:rPr lang="es-MX" sz="1000" b="1" dirty="0">
                <a:solidFill>
                  <a:schemeClr val="lt1"/>
                </a:solidFill>
                <a:latin typeface="Arial"/>
                <a:ea typeface="Arial"/>
                <a:cs typeface="Arial"/>
                <a:sym typeface="Arial"/>
              </a:rPr>
              <a:t>Con respecto al Plan Sur, en la Región de Los Lagos, Araucanía, Bío </a:t>
            </a:r>
            <a:r>
              <a:rPr lang="es-MX" sz="1000" b="1" dirty="0" err="1">
                <a:solidFill>
                  <a:schemeClr val="lt1"/>
                </a:solidFill>
                <a:latin typeface="Arial"/>
                <a:ea typeface="Arial"/>
                <a:cs typeface="Arial"/>
                <a:sym typeface="Arial"/>
              </a:rPr>
              <a:t>Bío</a:t>
            </a:r>
            <a:r>
              <a:rPr lang="es-MX" sz="1000" b="1" dirty="0">
                <a:solidFill>
                  <a:schemeClr val="lt1"/>
                </a:solidFill>
                <a:latin typeface="Arial"/>
                <a:ea typeface="Arial"/>
                <a:cs typeface="Arial"/>
                <a:sym typeface="Arial"/>
              </a:rPr>
              <a:t>, Maule y Ñuble durante el año 2025 a Septiembre se tenía una facturación acumulada de MM$210,4 y ahora el año 2026 se tiene una facturación acumulada MM$269,9 (+28,2%), en este ejercicio se descuenta REAS</a:t>
            </a:r>
          </a:p>
        </p:txBody>
      </p:sp>
      <p:graphicFrame>
        <p:nvGraphicFramePr>
          <p:cNvPr id="2" name="Tabla 1">
            <a:extLst>
              <a:ext uri="{FF2B5EF4-FFF2-40B4-BE49-F238E27FC236}">
                <a16:creationId xmlns:a16="http://schemas.microsoft.com/office/drawing/2014/main" id="{36558937-F729-66CB-527E-7C03F6F676CF}"/>
              </a:ext>
            </a:extLst>
          </p:cNvPr>
          <p:cNvGraphicFramePr>
            <a:graphicFrameLocks noGrp="1"/>
          </p:cNvGraphicFramePr>
          <p:nvPr>
            <p:extLst>
              <p:ext uri="{D42A27DB-BD31-4B8C-83A1-F6EECF244321}">
                <p14:modId xmlns:p14="http://schemas.microsoft.com/office/powerpoint/2010/main" val="3416609292"/>
              </p:ext>
            </p:extLst>
          </p:nvPr>
        </p:nvGraphicFramePr>
        <p:xfrm>
          <a:off x="395572" y="999000"/>
          <a:ext cx="11428127" cy="2136825"/>
        </p:xfrm>
        <a:graphic>
          <a:graphicData uri="http://schemas.openxmlformats.org/drawingml/2006/table">
            <a:tbl>
              <a:tblPr/>
              <a:tblGrid>
                <a:gridCol w="285797">
                  <a:extLst>
                    <a:ext uri="{9D8B030D-6E8A-4147-A177-3AD203B41FA5}">
                      <a16:colId xmlns:a16="http://schemas.microsoft.com/office/drawing/2014/main" val="1540014077"/>
                    </a:ext>
                  </a:extLst>
                </a:gridCol>
                <a:gridCol w="2515767">
                  <a:extLst>
                    <a:ext uri="{9D8B030D-6E8A-4147-A177-3AD203B41FA5}">
                      <a16:colId xmlns:a16="http://schemas.microsoft.com/office/drawing/2014/main" val="1379151209"/>
                    </a:ext>
                  </a:extLst>
                </a:gridCol>
                <a:gridCol w="1297369">
                  <a:extLst>
                    <a:ext uri="{9D8B030D-6E8A-4147-A177-3AD203B41FA5}">
                      <a16:colId xmlns:a16="http://schemas.microsoft.com/office/drawing/2014/main" val="1425047119"/>
                    </a:ext>
                  </a:extLst>
                </a:gridCol>
                <a:gridCol w="1026613">
                  <a:extLst>
                    <a:ext uri="{9D8B030D-6E8A-4147-A177-3AD203B41FA5}">
                      <a16:colId xmlns:a16="http://schemas.microsoft.com/office/drawing/2014/main" val="12025"/>
                    </a:ext>
                  </a:extLst>
                </a:gridCol>
                <a:gridCol w="1022853">
                  <a:extLst>
                    <a:ext uri="{9D8B030D-6E8A-4147-A177-3AD203B41FA5}">
                      <a16:colId xmlns:a16="http://schemas.microsoft.com/office/drawing/2014/main" val="4006094135"/>
                    </a:ext>
                  </a:extLst>
                </a:gridCol>
                <a:gridCol w="1128147">
                  <a:extLst>
                    <a:ext uri="{9D8B030D-6E8A-4147-A177-3AD203B41FA5}">
                      <a16:colId xmlns:a16="http://schemas.microsoft.com/office/drawing/2014/main" val="1433054861"/>
                    </a:ext>
                  </a:extLst>
                </a:gridCol>
                <a:gridCol w="4151581">
                  <a:extLst>
                    <a:ext uri="{9D8B030D-6E8A-4147-A177-3AD203B41FA5}">
                      <a16:colId xmlns:a16="http://schemas.microsoft.com/office/drawing/2014/main" val="440334234"/>
                    </a:ext>
                  </a:extLst>
                </a:gridCol>
              </a:tblGrid>
              <a:tr h="405000">
                <a:tc>
                  <a:txBody>
                    <a:bodyPr/>
                    <a:lstStyle/>
                    <a:p>
                      <a:pPr algn="ctr" fontAlgn="ctr">
                        <a:buNone/>
                      </a:pPr>
                      <a:r>
                        <a:rPr lang="es-CL" sz="1000" b="1" i="0" u="none" strike="noStrike">
                          <a:solidFill>
                            <a:srgbClr val="FFFFFF"/>
                          </a:solidFill>
                          <a:effectLst/>
                          <a:latin typeface="Calibri" panose="020F0502020204030204" pitchFamily="34" charset="0"/>
                        </a:rPr>
                        <a:t>#</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Cliente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Región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Pot. ST anual MM$</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l" fontAlgn="ctr">
                        <a:buNone/>
                      </a:pPr>
                      <a:r>
                        <a:rPr lang="es-CL" sz="1000" b="1" i="0" u="none" strike="noStrike">
                          <a:solidFill>
                            <a:srgbClr val="FFFFFF"/>
                          </a:solidFill>
                          <a:effectLst/>
                          <a:latin typeface="Calibri" panose="020F0502020204030204" pitchFamily="34" charset="0"/>
                        </a:rPr>
                        <a:t>Estado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E7D4F"/>
                    </a:solidFill>
                  </a:tcPr>
                </a:tc>
                <a:extLst>
                  <a:ext uri="{0D108BD9-81ED-4DB2-BD59-A6C34878D82A}">
                    <a16:rowId xmlns:a16="http://schemas.microsoft.com/office/drawing/2014/main" val="245514815"/>
                  </a:ext>
                </a:extLst>
              </a:tr>
              <a:tr h="202500">
                <a:tc>
                  <a:txBody>
                    <a:bodyPr/>
                    <a:lstStyle/>
                    <a:p>
                      <a:pPr algn="r" fontAlgn="t">
                        <a:buNone/>
                      </a:pPr>
                      <a:r>
                        <a:rPr lang="es-CL" sz="1000" b="0" i="0" u="none" strike="noStrike" dirty="0">
                          <a:solidFill>
                            <a:schemeClr val="tx2"/>
                          </a:solidFill>
                          <a:effectLst/>
                          <a:latin typeface="Calibri" panose="020F0502020204030204" pitchFamily="34" charset="0"/>
                        </a:rPr>
                        <a:t>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Guillermo Grant Benavente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25.485.358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14.213.737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24.925.315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119092765"/>
                  </a:ext>
                </a:extLst>
              </a:tr>
              <a:tr h="202500">
                <a:tc>
                  <a:txBody>
                    <a:bodyPr/>
                    <a:lstStyle/>
                    <a:p>
                      <a:pPr algn="r" fontAlgn="t">
                        <a:buNone/>
                      </a:pPr>
                      <a:r>
                        <a:rPr lang="es-CL" sz="1000" b="0" i="0" u="none" strike="noStrike">
                          <a:solidFill>
                            <a:schemeClr val="tx2"/>
                          </a:solidFill>
                          <a:effectLst/>
                          <a:latin typeface="Calibri" panose="020F0502020204030204" pitchFamily="34" charset="0"/>
                        </a:rPr>
                        <a:t>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Hospital Pitrufquén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Araucanía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24.282.977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402.732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10.216.195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FINALIZA EN NOV</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3359162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Penco Lirquén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Bío </a:t>
                      </a:r>
                      <a:r>
                        <a:rPr lang="es-CL" sz="1000" b="0" i="0" u="none" strike="noStrike" dirty="0" err="1">
                          <a:solidFill>
                            <a:schemeClr val="tx2"/>
                          </a:solidFill>
                          <a:effectLst/>
                          <a:latin typeface="Calibri" panose="020F0502020204030204" pitchFamily="34" charset="0"/>
                        </a:rPr>
                        <a:t>Bío</a:t>
                      </a:r>
                      <a:endParaRPr lang="es-CL" sz="1000" b="0" i="0" u="none" strike="noStrike" dirty="0">
                        <a:solidFill>
                          <a:schemeClr val="tx2"/>
                        </a:solidFill>
                        <a:effectLst/>
                        <a:latin typeface="Calibri" panose="020F0502020204030204" pitchFamily="34" charset="0"/>
                      </a:endParaRP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         10.253.258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10.809.369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            16.345.912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2028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863946442"/>
                  </a:ext>
                </a:extLst>
              </a:tr>
              <a:tr h="202500">
                <a:tc>
                  <a:txBody>
                    <a:bodyPr/>
                    <a:lstStyle/>
                    <a:p>
                      <a:pPr algn="r" fontAlgn="t">
                        <a:buNone/>
                      </a:pPr>
                      <a:r>
                        <a:rPr lang="es-CL" sz="1000" b="0" i="0" u="none" strike="noStrike">
                          <a:solidFill>
                            <a:schemeClr val="tx2"/>
                          </a:solidFill>
                          <a:effectLst/>
                          <a:latin typeface="Calibri" panose="020F0502020204030204" pitchFamily="34" charset="0"/>
                        </a:rPr>
                        <a:t>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Víctor Ríos Ruiz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8.551.286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6.711.156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37.869.087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EQUIPOS LAVADORAS EN GARANTIA, SILLONES CONVERSACION PARA CONTRATO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004416790"/>
                  </a:ext>
                </a:extLst>
              </a:tr>
              <a:tr h="202500">
                <a:tc>
                  <a:txBody>
                    <a:bodyPr/>
                    <a:lstStyle/>
                    <a:p>
                      <a:pPr algn="r" fontAlgn="t">
                        <a:buNone/>
                      </a:pPr>
                      <a:r>
                        <a:rPr lang="es-CL" sz="1000" b="0" i="0" u="none" strike="noStrike">
                          <a:solidFill>
                            <a:schemeClr val="tx2"/>
                          </a:solidFill>
                          <a:effectLst/>
                          <a:latin typeface="Calibri" panose="020F0502020204030204" pitchFamily="34" charset="0"/>
                        </a:rPr>
                        <a:t>5</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Clínica 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5.959.997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8.579.403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 SERVICIOS SPOT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12722837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Clínica Sanatorio Alemán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1.338.767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4.473.351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26.642.795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067611126"/>
                  </a:ext>
                </a:extLst>
              </a:tr>
              <a:tr h="202500">
                <a:tc>
                  <a:txBody>
                    <a:bodyPr/>
                    <a:lstStyle/>
                    <a:p>
                      <a:pPr algn="r" fontAlgn="t">
                        <a:buNone/>
                      </a:pPr>
                      <a:r>
                        <a:rPr lang="es-CL" sz="1000" b="0" i="0" u="none" strike="noStrike">
                          <a:solidFill>
                            <a:schemeClr val="tx2"/>
                          </a:solidFill>
                          <a:effectLst/>
                          <a:latin typeface="Calibri" panose="020F0502020204030204" pitchFamily="34" charset="0"/>
                        </a:rPr>
                        <a:t>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de Talcahuano (Las Higueras)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4.699.149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S/I</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3EC"/>
                    </a:solidFill>
                  </a:tcPr>
                </a:tc>
                <a:extLst>
                  <a:ext uri="{0D108BD9-81ED-4DB2-BD59-A6C34878D82A}">
                    <a16:rowId xmlns:a16="http://schemas.microsoft.com/office/drawing/2014/main" val="2094106028"/>
                  </a:ext>
                </a:extLst>
              </a:tr>
              <a:tr h="202500">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es-CL" sz="1000" b="1" i="0" u="none" strike="noStrike" dirty="0">
                          <a:solidFill>
                            <a:schemeClr val="tx2"/>
                          </a:solidFill>
                          <a:effectLst/>
                          <a:latin typeface="Calibri" panose="020F0502020204030204" pitchFamily="34" charset="0"/>
                        </a:rPr>
                        <a:t>75.871.643</a:t>
                      </a:r>
                    </a:p>
                  </a:txBody>
                  <a:tcPr marL="9525" marR="9525" marT="9525" marB="0" anchor="ctr">
                    <a:lnL>
                      <a:noFill/>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a:solidFill>
                            <a:schemeClr val="tx2"/>
                          </a:solidFill>
                          <a:effectLst/>
                          <a:latin typeface="Calibri" panose="020F0502020204030204" pitchFamily="34" charset="0"/>
                        </a:rPr>
                        <a:t>36.610.345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a:solidFill>
                            <a:schemeClr val="tx2"/>
                          </a:solidFill>
                          <a:effectLst/>
                          <a:latin typeface="Calibri" panose="020F0502020204030204" pitchFamily="34" charset="0"/>
                        </a:rPr>
                        <a:t>129.277.856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endParaRPr lang="es-CL" sz="1000" b="1" i="0" u="none" strike="noStrike" dirty="0">
                        <a:solidFill>
                          <a:schemeClr val="tx2"/>
                        </a:solidFill>
                        <a:effectLst/>
                        <a:latin typeface="Calibri" panose="020F0502020204030204" pitchFamily="34" charset="0"/>
                      </a:endParaRPr>
                    </a:p>
                  </a:txBody>
                  <a:tcPr marL="9525" marR="9525" marT="9525" marB="0" anchor="b">
                    <a:lnL w="6350" cap="flat" cmpd="sng" algn="ctr">
                      <a:solidFill>
                        <a:srgbClr val="D4D5E8"/>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08790933"/>
                  </a:ext>
                </a:extLst>
              </a:tr>
            </a:tbl>
          </a:graphicData>
        </a:graphic>
      </p:graphicFrame>
    </p:spTree>
    <p:extLst>
      <p:ext uri="{BB962C8B-B14F-4D97-AF65-F5344CB8AC3E}">
        <p14:creationId xmlns:p14="http://schemas.microsoft.com/office/powerpoint/2010/main" val="2102219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0FE01447-5AD3-6657-E68A-381B20D03774}"/>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D8584F3D-02B6-4306-5834-43CE842F5F1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C6C8D671-BEBB-E275-FD1E-752AAE8FCC1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9C21C81-C4A1-480D-D46C-13C0D95FA6DE}"/>
              </a:ext>
            </a:extLst>
          </p:cNvPr>
          <p:cNvSpPr/>
          <p:nvPr/>
        </p:nvSpPr>
        <p:spPr>
          <a:xfrm>
            <a:off x="393700" y="5113834"/>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621595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sp>
        <p:nvSpPr>
          <p:cNvPr id="455" name="Google Shape;455;p35"/>
          <p:cNvSpPr txBox="1"/>
          <p:nvPr/>
        </p:nvSpPr>
        <p:spPr>
          <a:xfrm>
            <a:off x="320832" y="78336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b="1">
                <a:solidFill>
                  <a:srgbClr val="33448D"/>
                </a:solidFill>
                <a:latin typeface="Roboto"/>
                <a:ea typeface="Roboto"/>
                <a:cs typeface="Roboto"/>
                <a:sym typeface="Roboto"/>
              </a:rPr>
              <a:t>Status y Potencial Base Instalada Actual</a:t>
            </a:r>
            <a:endParaRPr/>
          </a:p>
        </p:txBody>
      </p:sp>
      <p:sp>
        <p:nvSpPr>
          <p:cNvPr id="457" name="Google Shape;457;p35"/>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Actualmente se tiene la región Metropolitana como Ciudad Hub (Técnicos, Coordinación, Jefatura y Distribución) y la región de Bío </a:t>
            </a:r>
            <a:r>
              <a:rPr lang="es-CL" sz="1000" dirty="0" err="1">
                <a:solidFill>
                  <a:schemeClr val="lt1"/>
                </a:solidFill>
                <a:latin typeface="Arial"/>
                <a:ea typeface="Arial"/>
                <a:cs typeface="Arial"/>
                <a:sym typeface="Arial"/>
              </a:rPr>
              <a:t>Bío</a:t>
            </a:r>
            <a:r>
              <a:rPr lang="es-CL" sz="1000" dirty="0">
                <a:solidFill>
                  <a:schemeClr val="lt1"/>
                </a:solidFill>
                <a:latin typeface="Arial"/>
                <a:ea typeface="Arial"/>
                <a:cs typeface="Arial"/>
                <a:sym typeface="Arial"/>
              </a:rPr>
              <a:t> como Satélite (Técnicos + Camioneta) de las regiones de Ñuble y la región de Los Lagos como Satélite (Técnicos + Camioneta) de la región de La Araucanía</a:t>
            </a:r>
            <a:endParaRPr dirty="0"/>
          </a:p>
          <a:p>
            <a:pPr marL="171450" marR="0" lvl="0" indent="-107950" algn="l" rtl="0">
              <a:spcBef>
                <a:spcPts val="0"/>
              </a:spcBef>
              <a:spcAft>
                <a:spcPts val="0"/>
              </a:spcAft>
              <a:buClr>
                <a:schemeClr val="dk1"/>
              </a:buClr>
              <a:buSzPts val="1000"/>
              <a:buFont typeface="Arial"/>
              <a:buNone/>
            </a:pPr>
            <a:endParaRPr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Considerando que para que una ciudad sea considerada Satélite y llegue a break </a:t>
            </a:r>
            <a:r>
              <a:rPr lang="es-CL" sz="1000" dirty="0" err="1">
                <a:solidFill>
                  <a:schemeClr val="lt1"/>
                </a:solidFill>
                <a:latin typeface="Arial"/>
                <a:ea typeface="Arial"/>
                <a:cs typeface="Arial"/>
                <a:sym typeface="Arial"/>
              </a:rPr>
              <a:t>even</a:t>
            </a:r>
            <a:r>
              <a:rPr lang="es-CL" sz="1000" dirty="0">
                <a:solidFill>
                  <a:schemeClr val="lt1"/>
                </a:solidFill>
                <a:latin typeface="Arial"/>
                <a:ea typeface="Arial"/>
                <a:cs typeface="Arial"/>
                <a:sym typeface="Arial"/>
              </a:rPr>
              <a:t>, debe ser capaz de capturar al menos MM$100 anuales, considerando Gastos de Bodegaje, Camioneta, un técnico alocado en al región y un margen de un 50%</a:t>
            </a:r>
            <a:endParaRPr dirty="0"/>
          </a:p>
          <a:p>
            <a:pPr marL="171450" marR="0" lvl="0" indent="-107950" algn="l" rtl="0">
              <a:spcBef>
                <a:spcPts val="0"/>
              </a:spcBef>
              <a:spcAft>
                <a:spcPts val="0"/>
              </a:spcAft>
              <a:buClr>
                <a:schemeClr val="dk1"/>
              </a:buClr>
              <a:buSzPts val="1000"/>
              <a:buFont typeface="Arial"/>
              <a:buNone/>
            </a:pPr>
            <a:endParaRPr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De esto, y considerando los Hub actuales, hay una región “disponible para set Hub actualmente que es la región de </a:t>
            </a:r>
            <a:r>
              <a:rPr lang="es-CL" sz="1000" dirty="0" err="1">
                <a:solidFill>
                  <a:schemeClr val="lt1"/>
                </a:solidFill>
                <a:latin typeface="Arial"/>
                <a:ea typeface="Arial"/>
                <a:cs typeface="Arial"/>
                <a:sym typeface="Arial"/>
              </a:rPr>
              <a:t>Valparaiso</a:t>
            </a:r>
            <a:r>
              <a:rPr lang="es-CL" sz="1000" dirty="0">
                <a:solidFill>
                  <a:schemeClr val="lt1"/>
                </a:solidFill>
                <a:latin typeface="Arial"/>
                <a:ea typeface="Arial"/>
                <a:cs typeface="Arial"/>
                <a:sym typeface="Arial"/>
              </a:rPr>
              <a:t>, el resto no presentan el potencial suficiente para llegar a Break-</a:t>
            </a:r>
            <a:r>
              <a:rPr lang="es-CL" sz="1000" dirty="0" err="1">
                <a:solidFill>
                  <a:schemeClr val="lt1"/>
                </a:solidFill>
                <a:latin typeface="Arial"/>
                <a:ea typeface="Arial"/>
                <a:cs typeface="Arial"/>
                <a:sym typeface="Arial"/>
              </a:rPr>
              <a:t>even</a:t>
            </a:r>
            <a:endParaRPr sz="1000" dirty="0">
              <a:solidFill>
                <a:schemeClr val="lt1"/>
              </a:solidFill>
              <a:latin typeface="Arial"/>
              <a:ea typeface="Arial"/>
              <a:cs typeface="Arial"/>
              <a:sym typeface="Arial"/>
            </a:endParaRPr>
          </a:p>
        </p:txBody>
      </p:sp>
      <p:graphicFrame>
        <p:nvGraphicFramePr>
          <p:cNvPr id="3" name="Google Shape;456;p35">
            <a:extLst>
              <a:ext uri="{FF2B5EF4-FFF2-40B4-BE49-F238E27FC236}">
                <a16:creationId xmlns:a16="http://schemas.microsoft.com/office/drawing/2014/main" id="{677FF7F2-B4A4-4158-4EA1-0528479EF28E}"/>
              </a:ext>
            </a:extLst>
          </p:cNvPr>
          <p:cNvGraphicFramePr/>
          <p:nvPr>
            <p:extLst>
              <p:ext uri="{D42A27DB-BD31-4B8C-83A1-F6EECF244321}">
                <p14:modId xmlns:p14="http://schemas.microsoft.com/office/powerpoint/2010/main" val="1374570506"/>
              </p:ext>
            </p:extLst>
          </p:nvPr>
        </p:nvGraphicFramePr>
        <p:xfrm>
          <a:off x="320832" y="1104900"/>
          <a:ext cx="11430000" cy="4361020"/>
        </p:xfrm>
        <a:graphic>
          <a:graphicData uri="http://schemas.openxmlformats.org/drawingml/2006/table">
            <a:tbl>
              <a:tblPr>
                <a:noFill/>
                <a:tableStyleId>{13D43741-7D58-4360-86AC-F6E32FA5FF39}</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270000">
                  <a:extLst>
                    <a:ext uri="{9D8B030D-6E8A-4147-A177-3AD203B41FA5}">
                      <a16:colId xmlns:a16="http://schemas.microsoft.com/office/drawing/2014/main" val="20005"/>
                    </a:ext>
                  </a:extLst>
                </a:gridCol>
                <a:gridCol w="1270000">
                  <a:extLst>
                    <a:ext uri="{9D8B030D-6E8A-4147-A177-3AD203B41FA5}">
                      <a16:colId xmlns:a16="http://schemas.microsoft.com/office/drawing/2014/main" val="20006"/>
                    </a:ext>
                  </a:extLst>
                </a:gridCol>
                <a:gridCol w="1270000">
                  <a:extLst>
                    <a:ext uri="{9D8B030D-6E8A-4147-A177-3AD203B41FA5}">
                      <a16:colId xmlns:a16="http://schemas.microsoft.com/office/drawing/2014/main" val="20008"/>
                    </a:ext>
                  </a:extLst>
                </a:gridCol>
                <a:gridCol w="1270000">
                  <a:extLst>
                    <a:ext uri="{9D8B030D-6E8A-4147-A177-3AD203B41FA5}">
                      <a16:colId xmlns:a16="http://schemas.microsoft.com/office/drawing/2014/main" val="20009"/>
                    </a:ext>
                  </a:extLst>
                </a:gridCol>
              </a:tblGrid>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REGIÓN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EQUIPOS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DENTAL</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ESTERILIZAC</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ENDOSCOPÍA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INCARDIA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CLIENTES</a:t>
                      </a:r>
                      <a:endParaRPr/>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POTENCIAL ST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Metropolitana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1.176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40.1%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546</a:t>
                      </a: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491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MM$808,2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Bío Bío</a:t>
                      </a:r>
                      <a:endParaRPr sz="900" b="1" i="0" u="none" strike="noStrike" cap="none">
                        <a:solidFill>
                          <a:schemeClr val="dk1"/>
                        </a:solidFill>
                        <a:latin typeface="Roboto"/>
                        <a:ea typeface="Roboto"/>
                        <a:cs typeface="Roboto"/>
                        <a:sym typeface="Roboto"/>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125</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149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82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MM$284,3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Valparaíso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131</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MM$188,6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Los Lagos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164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70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64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39</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MM$77,3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4"/>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Araucanía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35</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98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33</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MM$159,2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Maule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71</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46</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MM$132,3</a:t>
                      </a: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6"/>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Coquimbo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19</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41</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MM$83,4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O'Higgins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57</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MM$71,2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Antofagasta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52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MM$59,0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Ñuble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MM$52,7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10"/>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Tarapacá</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15</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MM$39,8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Magallanes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MM$40,0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Aysén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MM$16,0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Arica y Parinacota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6</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MM$19,4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Los Ríos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MM$28,4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Atacama</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MM$12,1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214650">
                <a:tc>
                  <a:txBody>
                    <a:bodyPr/>
                    <a:lstStyle/>
                    <a:p>
                      <a:pPr marL="0" marR="0" lvl="0" indent="0" algn="l"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Sin Región</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344</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11,7%</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168</a:t>
                      </a: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91</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83</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Arial"/>
                        </a:rPr>
                        <a:t>115</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lnSpc>
                          <a:spcPct val="100000"/>
                        </a:lnSpc>
                        <a:spcBef>
                          <a:spcPts val="0"/>
                        </a:spcBef>
                        <a:spcAft>
                          <a:spcPts val="0"/>
                        </a:spcAft>
                        <a:buClr>
                          <a:schemeClr val="lt2"/>
                        </a:buClr>
                        <a:buSzPts val="900"/>
                        <a:buFont typeface="Roboto"/>
                        <a:buNone/>
                      </a:pPr>
                      <a:r>
                        <a:rPr lang="es-CL" sz="900" b="1" i="0" u="none" strike="noStrike" cap="none" spc="0" dirty="0">
                          <a:solidFill>
                            <a:schemeClr val="lt2"/>
                          </a:solidFill>
                          <a:latin typeface="Roboto"/>
                          <a:ea typeface="Roboto"/>
                          <a:cs typeface="Roboto"/>
                          <a:sym typeface="Roboto"/>
                        </a:rPr>
                        <a:t>MM$350,3</a:t>
                      </a:r>
                      <a:endParaRPr sz="900" b="1" i="0" u="none" strike="noStrike" cap="none" spc="0" dirty="0">
                        <a:solidFill>
                          <a:schemeClr val="lt2"/>
                        </a:solidFill>
                        <a:latin typeface="Roboto"/>
                        <a:ea typeface="Roboto"/>
                        <a:cs typeface="Roboto"/>
                        <a:sym typeface="Arial"/>
                      </a:endParaRPr>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3670387484"/>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TOTAL · 17 regiones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2.933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1.289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1.224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415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866</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MM$2.422,3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por Región – Considerando Antigüedad de Equipos </a:t>
            </a:r>
            <a:endParaRPr dirty="0"/>
          </a:p>
        </p:txBody>
      </p:sp>
      <p:sp>
        <p:nvSpPr>
          <p:cNvPr id="470" name="Google Shape;470;p36"/>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Sí de lo anterior, se cruza con la antigüedad de los equipos (en donde probablemente haya más potencial de reparación y/o renovación) se obtienen los Top 10 Clientes Foco con mayor base instalada y potencial</a:t>
            </a:r>
            <a:endParaRPr/>
          </a:p>
        </p:txBody>
      </p:sp>
      <p:pic>
        <p:nvPicPr>
          <p:cNvPr id="4" name="Imagen 3">
            <a:extLst>
              <a:ext uri="{FF2B5EF4-FFF2-40B4-BE49-F238E27FC236}">
                <a16:creationId xmlns:a16="http://schemas.microsoft.com/office/drawing/2014/main" id="{2B4B1812-833B-0F9A-A286-B46F5049A108}"/>
              </a:ext>
            </a:extLst>
          </p:cNvPr>
          <p:cNvPicPr>
            <a:picLocks noChangeAspect="1"/>
          </p:cNvPicPr>
          <p:nvPr/>
        </p:nvPicPr>
        <p:blipFill>
          <a:blip r:embed="rId3"/>
          <a:stretch>
            <a:fillRect/>
          </a:stretch>
        </p:blipFill>
        <p:spPr>
          <a:xfrm>
            <a:off x="-23733" y="869593"/>
            <a:ext cx="12192000" cy="444292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Clientes Foco</a:t>
            </a:r>
            <a:endParaRPr/>
          </a:p>
        </p:txBody>
      </p:sp>
      <p:sp>
        <p:nvSpPr>
          <p:cNvPr id="483" name="Google Shape;483;p37"/>
          <p:cNvSpPr/>
          <p:nvPr/>
        </p:nvSpPr>
        <p:spPr>
          <a:xfrm>
            <a:off x="320832" y="5274000"/>
            <a:ext cx="11502870" cy="148291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Se toma como clientes foco aquellos que según la matriz presenta gran potencial de (reparación) debido a Rango de Vida útil crítico &gt;6 y &lt;9 y gran cantidad de base instalada en equipos, con esto se cubre un 50% del Potencial actual con la base instalada a lo largo de todo Chile</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Los Clientes de este plan son los que tienen base instalada de GEMCO y no tienen ningún contrato activo</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Con foco inmediato en la región Metropolitana, Bío </a:t>
            </a:r>
            <a:r>
              <a:rPr lang="es-CL" sz="1200" dirty="0" err="1">
                <a:solidFill>
                  <a:schemeClr val="lt1"/>
                </a:solidFill>
                <a:latin typeface="Arial"/>
                <a:ea typeface="Arial"/>
                <a:cs typeface="Arial"/>
                <a:sym typeface="Arial"/>
              </a:rPr>
              <a:t>Bío</a:t>
            </a:r>
            <a:r>
              <a:rPr lang="es-CL" sz="1200" dirty="0">
                <a:solidFill>
                  <a:schemeClr val="lt1"/>
                </a:solidFill>
                <a:latin typeface="Arial"/>
                <a:ea typeface="Arial"/>
                <a:cs typeface="Arial"/>
                <a:sym typeface="Arial"/>
              </a:rPr>
              <a:t>, Araucanía, Los Lagos y Valparaíso</a:t>
            </a:r>
            <a:endParaRPr sz="1200" dirty="0">
              <a:solidFill>
                <a:schemeClr val="lt1"/>
              </a:solidFill>
              <a:latin typeface="Arial"/>
              <a:ea typeface="Arial"/>
              <a:cs typeface="Arial"/>
              <a:sym typeface="Arial"/>
            </a:endParaRPr>
          </a:p>
          <a:p>
            <a:pPr marL="171450" indent="-171450">
              <a:buClr>
                <a:schemeClr val="lt1"/>
              </a:buClr>
              <a:buSzPts val="1200"/>
              <a:buFont typeface="Arial"/>
              <a:buChar char="•"/>
            </a:pPr>
            <a:r>
              <a:rPr lang="es-CL" sz="1200" dirty="0">
                <a:solidFill>
                  <a:schemeClr val="lt1"/>
                </a:solidFill>
                <a:latin typeface="Arial"/>
                <a:ea typeface="Arial"/>
                <a:cs typeface="Arial"/>
                <a:sym typeface="Arial"/>
              </a:rPr>
              <a:t>No obstante, desde el mes de </a:t>
            </a:r>
            <a:r>
              <a:rPr lang="es-CL" sz="1200" dirty="0" err="1">
                <a:solidFill>
                  <a:schemeClr val="lt1"/>
                </a:solidFill>
                <a:latin typeface="Arial"/>
                <a:ea typeface="Arial"/>
                <a:cs typeface="Arial"/>
                <a:sym typeface="Arial"/>
              </a:rPr>
              <a:t>oc</a:t>
            </a:r>
            <a:r>
              <a:rPr lang="es-MX" sz="1200" dirty="0">
                <a:solidFill>
                  <a:schemeClr val="lt1"/>
                </a:solidFill>
              </a:rPr>
              <a:t>Con respecto a la zona norte esta actualmente no presenta potencial de ejecución actual, por lo cual no permite la existencia de región Hub con el contexto actual</a:t>
            </a: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t-27 el HS entra en marcha permitiendo tener un Hub ahí.</a:t>
            </a:r>
            <a:endParaRPr dirty="0"/>
          </a:p>
        </p:txBody>
      </p:sp>
      <p:graphicFrame>
        <p:nvGraphicFramePr>
          <p:cNvPr id="484" name="Google Shape;484;p37"/>
          <p:cNvGraphicFramePr/>
          <p:nvPr>
            <p:extLst>
              <p:ext uri="{D42A27DB-BD31-4B8C-83A1-F6EECF244321}">
                <p14:modId xmlns:p14="http://schemas.microsoft.com/office/powerpoint/2010/main" val="2018635500"/>
              </p:ext>
            </p:extLst>
          </p:nvPr>
        </p:nvGraphicFramePr>
        <p:xfrm>
          <a:off x="331104" y="855319"/>
          <a:ext cx="11492625" cy="4346373"/>
        </p:xfrm>
        <a:graphic>
          <a:graphicData uri="http://schemas.openxmlformats.org/drawingml/2006/table">
            <a:tbl>
              <a:tblPr>
                <a:noFill/>
                <a:tableStyleId>{13D43741-7D58-4360-86AC-F6E32FA5FF39}</a:tableStyleId>
              </a:tblPr>
              <a:tblGrid>
                <a:gridCol w="486800">
                  <a:extLst>
                    <a:ext uri="{9D8B030D-6E8A-4147-A177-3AD203B41FA5}">
                      <a16:colId xmlns:a16="http://schemas.microsoft.com/office/drawing/2014/main" val="20000"/>
                    </a:ext>
                  </a:extLst>
                </a:gridCol>
                <a:gridCol w="1065450">
                  <a:extLst>
                    <a:ext uri="{9D8B030D-6E8A-4147-A177-3AD203B41FA5}">
                      <a16:colId xmlns:a16="http://schemas.microsoft.com/office/drawing/2014/main" val="20001"/>
                    </a:ext>
                  </a:extLst>
                </a:gridCol>
                <a:gridCol w="532725">
                  <a:extLst>
                    <a:ext uri="{9D8B030D-6E8A-4147-A177-3AD203B41FA5}">
                      <a16:colId xmlns:a16="http://schemas.microsoft.com/office/drawing/2014/main" val="20002"/>
                    </a:ext>
                  </a:extLst>
                </a:gridCol>
                <a:gridCol w="532725">
                  <a:extLst>
                    <a:ext uri="{9D8B030D-6E8A-4147-A177-3AD203B41FA5}">
                      <a16:colId xmlns:a16="http://schemas.microsoft.com/office/drawing/2014/main" val="20003"/>
                    </a:ext>
                  </a:extLst>
                </a:gridCol>
                <a:gridCol w="578650">
                  <a:extLst>
                    <a:ext uri="{9D8B030D-6E8A-4147-A177-3AD203B41FA5}">
                      <a16:colId xmlns:a16="http://schemas.microsoft.com/office/drawing/2014/main" val="20004"/>
                    </a:ext>
                  </a:extLst>
                </a:gridCol>
                <a:gridCol w="578650">
                  <a:extLst>
                    <a:ext uri="{9D8B030D-6E8A-4147-A177-3AD203B41FA5}">
                      <a16:colId xmlns:a16="http://schemas.microsoft.com/office/drawing/2014/main" val="20005"/>
                    </a:ext>
                  </a:extLst>
                </a:gridCol>
                <a:gridCol w="679675">
                  <a:extLst>
                    <a:ext uri="{9D8B030D-6E8A-4147-A177-3AD203B41FA5}">
                      <a16:colId xmlns:a16="http://schemas.microsoft.com/office/drawing/2014/main" val="20006"/>
                    </a:ext>
                  </a:extLst>
                </a:gridCol>
                <a:gridCol w="679675">
                  <a:extLst>
                    <a:ext uri="{9D8B030D-6E8A-4147-A177-3AD203B41FA5}">
                      <a16:colId xmlns:a16="http://schemas.microsoft.com/office/drawing/2014/main" val="20007"/>
                    </a:ext>
                  </a:extLst>
                </a:gridCol>
                <a:gridCol w="626875">
                  <a:extLst>
                    <a:ext uri="{9D8B030D-6E8A-4147-A177-3AD203B41FA5}">
                      <a16:colId xmlns:a16="http://schemas.microsoft.com/office/drawing/2014/main" val="20008"/>
                    </a:ext>
                  </a:extLst>
                </a:gridCol>
                <a:gridCol w="1065450">
                  <a:extLst>
                    <a:ext uri="{9D8B030D-6E8A-4147-A177-3AD203B41FA5}">
                      <a16:colId xmlns:a16="http://schemas.microsoft.com/office/drawing/2014/main" val="20009"/>
                    </a:ext>
                  </a:extLst>
                </a:gridCol>
                <a:gridCol w="578650">
                  <a:extLst>
                    <a:ext uri="{9D8B030D-6E8A-4147-A177-3AD203B41FA5}">
                      <a16:colId xmlns:a16="http://schemas.microsoft.com/office/drawing/2014/main" val="20010"/>
                    </a:ext>
                  </a:extLst>
                </a:gridCol>
                <a:gridCol w="3122875">
                  <a:extLst>
                    <a:ext uri="{9D8B030D-6E8A-4147-A177-3AD203B41FA5}">
                      <a16:colId xmlns:a16="http://schemas.microsoft.com/office/drawing/2014/main" val="20011"/>
                    </a:ext>
                  </a:extLst>
                </a:gridCol>
                <a:gridCol w="964425">
                  <a:extLst>
                    <a:ext uri="{9D8B030D-6E8A-4147-A177-3AD203B41FA5}">
                      <a16:colId xmlns:a16="http://schemas.microsoft.com/office/drawing/2014/main" val="20012"/>
                    </a:ext>
                  </a:extLst>
                </a:gridCol>
              </a:tblGrid>
              <a:tr h="127430">
                <a:tc gridSpan="5">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PLAN DE VISITAS TECSERVICE — RESUMEN CONSOLIDADO POR REGIÓN</a:t>
                      </a:r>
                      <a:endParaRPr sz="700" dirty="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94185">
                <a:tc>
                  <a:txBody>
                    <a:bodyPr/>
                    <a:lstStyle/>
                    <a:p>
                      <a:pPr marL="0" marR="0" lvl="0" indent="0" algn="l" rtl="0">
                        <a:spcBef>
                          <a:spcPts val="0"/>
                        </a:spcBef>
                        <a:spcAft>
                          <a:spcPts val="0"/>
                        </a:spcAft>
                        <a:buClr>
                          <a:srgbClr val="BDD7EE"/>
                        </a:buClr>
                        <a:buSzPts val="600"/>
                        <a:buFont typeface="Roboto"/>
                        <a:buNone/>
                      </a:pPr>
                      <a:r>
                        <a:rPr lang="es-CL" sz="700" b="0" i="1" u="none" strike="noStrike" cap="none">
                          <a:solidFill>
                            <a:srgbClr val="BDD7EE"/>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700" b="0" i="0" u="none" strike="noStrike" cap="none">
                          <a:solidFill>
                            <a:srgbClr val="000000"/>
                          </a:solidFill>
                          <a:latin typeface="Roboto"/>
                          <a:ea typeface="Roboto"/>
                          <a:cs typeface="Roboto"/>
                          <a:sym typeface="Roboto"/>
                        </a:rPr>
                        <a:t> </a:t>
                      </a:r>
                      <a:endParaRPr sz="700"/>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272524">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Prior.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Región</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N° Clientes</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Foco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Equipos</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Foco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Pot. Foco</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Margen (MM$)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Pot. Total</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Región MM$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 Pot. Total Atacado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Ticket Promedio por Cliente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Período</a:t>
                      </a:r>
                      <a:br>
                        <a:rPr lang="es-CL" sz="700" b="1" i="0" u="none" strike="noStrike" cap="none">
                          <a:solidFill>
                            <a:srgbClr val="FFFFFF"/>
                          </a:solidFill>
                          <a:latin typeface="Roboto"/>
                          <a:ea typeface="Roboto"/>
                          <a:cs typeface="Roboto"/>
                          <a:sym typeface="Roboto"/>
                        </a:rPr>
                      </a:br>
                      <a:r>
                        <a:rPr lang="es-CL" sz="700" b="1" i="0" u="none" strike="noStrike" cap="none">
                          <a:solidFill>
                            <a:srgbClr val="FFFFFF"/>
                          </a:solidFill>
                          <a:latin typeface="Roboto"/>
                          <a:ea typeface="Roboto"/>
                          <a:cs typeface="Roboto"/>
                          <a:sym typeface="Roboto"/>
                        </a:rPr>
                        <a:t>Campaña</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Estado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Acciones Clave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Obs.</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272524">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1</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algn="l" fontAlgn="ctr">
                        <a:buNone/>
                      </a:pPr>
                      <a:r>
                        <a:rPr lang="es-CL" sz="700" b="1" i="0" u="none" strike="noStrike" dirty="0">
                          <a:solidFill>
                            <a:srgbClr val="1F1F1F"/>
                          </a:solidFill>
                          <a:effectLst/>
                          <a:latin typeface="Roboto" panose="02000000000000000000" pitchFamily="2" charset="0"/>
                        </a:rPr>
                        <a:t>Metropolitana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215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l" fontAlgn="ctr">
                        <a:buNone/>
                      </a:pPr>
                      <a:r>
                        <a:rPr lang="es-CL" sz="700" b="1" i="0" u="none" strike="noStrike">
                          <a:solidFill>
                            <a:srgbClr val="1F1F1F"/>
                          </a:solidFill>
                          <a:effectLst/>
                          <a:latin typeface="Roboto" panose="02000000000000000000" pitchFamily="2" charset="0"/>
                        </a:rPr>
                        <a:t>259,3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a:txBody>
                    <a:bodyPr/>
                    <a:lstStyle/>
                    <a:p>
                      <a:pPr algn="l" fontAlgn="ctr">
                        <a:buNone/>
                      </a:pPr>
                      <a:r>
                        <a:rPr lang="es-CL" sz="700" b="1" i="0" u="none" strike="noStrike">
                          <a:solidFill>
                            <a:srgbClr val="FF0000"/>
                          </a:solidFill>
                          <a:effectLst/>
                          <a:latin typeface="Roboto" panose="02000000000000000000" pitchFamily="2" charset="0"/>
                        </a:rPr>
                        <a:t>142,6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8EA8CB"/>
                    </a:solidFill>
                  </a:tcPr>
                </a:tc>
                <a:tc>
                  <a:txBody>
                    <a:bodyPr/>
                    <a:lstStyle/>
                    <a:p>
                      <a:pPr algn="l" fontAlgn="ctr">
                        <a:buNone/>
                      </a:pPr>
                      <a:r>
                        <a:rPr lang="es-CL" sz="700" b="1" i="0" u="none" strike="noStrike">
                          <a:solidFill>
                            <a:srgbClr val="000000"/>
                          </a:solidFill>
                          <a:effectLst/>
                          <a:latin typeface="Roboto" panose="02000000000000000000" pitchFamily="2" charset="0"/>
                        </a:rPr>
                        <a:t>808,2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32,1%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A0C1E7"/>
                    </a:solidFill>
                  </a:tcPr>
                </a:tc>
                <a:tc>
                  <a:txBody>
                    <a:bodyPr/>
                    <a:lstStyle/>
                    <a:p>
                      <a:pPr marL="0" marR="0" lvl="0" indent="0" algn="l" rtl="0">
                        <a:spcBef>
                          <a:spcPts val="0"/>
                        </a:spcBef>
                        <a:spcAft>
                          <a:spcPts val="0"/>
                        </a:spcAft>
                        <a:buClr>
                          <a:srgbClr val="1F1F1F"/>
                        </a:buClr>
                        <a:buSzPts val="600"/>
                        <a:buFont typeface="Roboto"/>
                        <a:buNone/>
                      </a:pPr>
                      <a:r>
                        <a:rPr lang="es-CL" sz="700" b="1" i="0" u="none" strike="noStrike" cap="none">
                          <a:solidFill>
                            <a:srgbClr val="1F1F1F"/>
                          </a:solidFill>
                          <a:latin typeface="Roboto"/>
                          <a:ea typeface="Roboto"/>
                          <a:cs typeface="Roboto"/>
                          <a:sym typeface="Roboto"/>
                        </a:rPr>
                        <a:t>Sep–Oct 2026 (inmediato) + continuo</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Reunión / Visita gerencial · Levantamiento técnico · Auditoría técnica · Contrato preventivo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Prioridad máxima. Inicio inmediato.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extLst>
                  <a:ext uri="{0D108BD9-81ED-4DB2-BD59-A6C34878D82A}">
                    <a16:rowId xmlns:a16="http://schemas.microsoft.com/office/drawing/2014/main" val="10003"/>
                  </a:ext>
                </a:extLst>
              </a:tr>
              <a:tr h="272524">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2</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Bío Bío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125,4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9EB4D3"/>
                    </a:solidFill>
                  </a:tcPr>
                </a:tc>
                <a:tc>
                  <a:txBody>
                    <a:bodyPr/>
                    <a:lstStyle/>
                    <a:p>
                      <a:pPr algn="l" fontAlgn="ctr">
                        <a:buNone/>
                      </a:pPr>
                      <a:r>
                        <a:rPr lang="es-CL" sz="700" b="0" i="0" u="none" strike="noStrike">
                          <a:solidFill>
                            <a:srgbClr val="FF0000"/>
                          </a:solidFill>
                          <a:effectLst/>
                          <a:latin typeface="Roboto" panose="02000000000000000000" pitchFamily="2" charset="0"/>
                        </a:rPr>
                        <a:t>62,7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0DBEA"/>
                    </a:solidFill>
                  </a:tcPr>
                </a:tc>
                <a:tc>
                  <a:txBody>
                    <a:bodyPr/>
                    <a:lstStyle/>
                    <a:p>
                      <a:pPr algn="l" fontAlgn="ctr">
                        <a:buNone/>
                      </a:pPr>
                      <a:r>
                        <a:rPr lang="es-CL" sz="700" b="1" i="0" u="none" strike="noStrike">
                          <a:solidFill>
                            <a:srgbClr val="000000"/>
                          </a:solidFill>
                          <a:effectLst/>
                          <a:latin typeface="Roboto" panose="02000000000000000000" pitchFamily="2" charset="0"/>
                        </a:rPr>
                        <a:t>284,3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44,1%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9D1E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3</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Araucanía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80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123,7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ADC0DA"/>
                    </a:solidFill>
                  </a:tcPr>
                </a:tc>
                <a:tc>
                  <a:txBody>
                    <a:bodyPr/>
                    <a:lstStyle/>
                    <a:p>
                      <a:pPr algn="l" fontAlgn="ctr">
                        <a:buNone/>
                      </a:pPr>
                      <a:r>
                        <a:rPr lang="es-CL" sz="700" b="0" i="0" u="none" strike="noStrike">
                          <a:solidFill>
                            <a:srgbClr val="FF0000"/>
                          </a:solidFill>
                          <a:effectLst/>
                          <a:latin typeface="Roboto" panose="02000000000000000000" pitchFamily="2" charset="0"/>
                        </a:rPr>
                        <a:t>61,9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E1ED"/>
                    </a:solidFill>
                  </a:tcPr>
                </a:tc>
                <a:tc>
                  <a:txBody>
                    <a:bodyPr/>
                    <a:lstStyle/>
                    <a:p>
                      <a:pPr algn="l" fontAlgn="ctr">
                        <a:buNone/>
                      </a:pPr>
                      <a:r>
                        <a:rPr lang="es-CL" sz="700" b="1" i="0" u="none" strike="noStrike">
                          <a:solidFill>
                            <a:srgbClr val="000000"/>
                          </a:solidFill>
                          <a:effectLst/>
                          <a:latin typeface="Roboto" panose="02000000000000000000" pitchFamily="2" charset="0"/>
                        </a:rPr>
                        <a:t>159,2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77,7%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6EFF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Contrato preventivo · Convenio institucional · Oferta comercial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4</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Valparaíso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dirty="0">
                          <a:solidFill>
                            <a:srgbClr val="1F1F1F"/>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77,0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DD8E8"/>
                    </a:solidFill>
                  </a:tcPr>
                </a:tc>
                <a:tc>
                  <a:txBody>
                    <a:bodyPr/>
                    <a:lstStyle/>
                    <a:p>
                      <a:pPr algn="l" fontAlgn="ctr">
                        <a:buNone/>
                      </a:pPr>
                      <a:r>
                        <a:rPr lang="es-CL" sz="700" b="0" i="0" u="none" strike="noStrike">
                          <a:solidFill>
                            <a:srgbClr val="FF0000"/>
                          </a:solidFill>
                          <a:effectLst/>
                          <a:latin typeface="Roboto" panose="02000000000000000000" pitchFamily="2" charset="0"/>
                        </a:rPr>
                        <a:t>38,5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8EDF5"/>
                    </a:solidFill>
                  </a:tcPr>
                </a:tc>
                <a:tc>
                  <a:txBody>
                    <a:bodyPr/>
                    <a:lstStyle/>
                    <a:p>
                      <a:pPr algn="l" fontAlgn="ctr">
                        <a:buNone/>
                      </a:pPr>
                      <a:r>
                        <a:rPr lang="es-CL" sz="700" b="1" i="0" u="none" strike="noStrike">
                          <a:solidFill>
                            <a:srgbClr val="000000"/>
                          </a:solidFill>
                          <a:effectLst/>
                          <a:latin typeface="Roboto" panose="02000000000000000000" pitchFamily="2" charset="0"/>
                        </a:rPr>
                        <a:t>188,6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40,8%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3,8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E6F6"/>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Reunión / Visita gerencial · Contrato preventivo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5</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Maule</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64,9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FDAE9"/>
                    </a:solidFill>
                  </a:tcPr>
                </a:tc>
                <a:tc>
                  <a:txBody>
                    <a:bodyPr/>
                    <a:lstStyle/>
                    <a:p>
                      <a:pPr algn="l" fontAlgn="ctr">
                        <a:buNone/>
                      </a:pPr>
                      <a:r>
                        <a:rPr lang="es-CL" sz="700" b="0" i="0" u="none" strike="noStrike">
                          <a:solidFill>
                            <a:srgbClr val="FF0000"/>
                          </a:solidFill>
                          <a:effectLst/>
                          <a:latin typeface="Roboto" panose="02000000000000000000" pitchFamily="2" charset="0"/>
                        </a:rPr>
                        <a:t>32,5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6ECF4"/>
                    </a:solidFill>
                  </a:tcPr>
                </a:tc>
                <a:tc>
                  <a:txBody>
                    <a:bodyPr/>
                    <a:lstStyle/>
                    <a:p>
                      <a:pPr algn="l" fontAlgn="ctr">
                        <a:buNone/>
                      </a:pPr>
                      <a:r>
                        <a:rPr lang="es-CL" sz="700" b="1" i="0" u="none" strike="noStrike">
                          <a:solidFill>
                            <a:srgbClr val="000000"/>
                          </a:solidFill>
                          <a:effectLst/>
                          <a:latin typeface="Roboto" panose="02000000000000000000" pitchFamily="2" charset="0"/>
                        </a:rPr>
                        <a:t>132,6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48,9%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Inicio oct con foco Zona Naval.</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6</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Los Lagos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dirty="0">
                          <a:solidFill>
                            <a:srgbClr val="1F1F1F"/>
                          </a:solidFill>
                          <a:effectLst/>
                          <a:latin typeface="Roboto" panose="02000000000000000000" pitchFamily="2" charset="0"/>
                        </a:rPr>
                        <a:t>48,1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E1EE"/>
                    </a:solidFill>
                  </a:tcPr>
                </a:tc>
                <a:tc>
                  <a:txBody>
                    <a:bodyPr/>
                    <a:lstStyle/>
                    <a:p>
                      <a:pPr algn="l" fontAlgn="ctr">
                        <a:buNone/>
                      </a:pPr>
                      <a:r>
                        <a:rPr lang="es-CL" sz="700" b="0" i="0" u="none" strike="noStrike">
                          <a:solidFill>
                            <a:srgbClr val="FF0000"/>
                          </a:solidFill>
                          <a:effectLst/>
                          <a:latin typeface="Roboto" panose="02000000000000000000" pitchFamily="2" charset="0"/>
                        </a:rPr>
                        <a:t>24,1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BF0F6"/>
                    </a:solidFill>
                  </a:tcPr>
                </a:tc>
                <a:tc>
                  <a:txBody>
                    <a:bodyPr/>
                    <a:lstStyle/>
                    <a:p>
                      <a:pPr algn="l" fontAlgn="ctr">
                        <a:buNone/>
                      </a:pPr>
                      <a:r>
                        <a:rPr lang="es-CL" sz="700" b="1" i="0" u="none" strike="noStrike">
                          <a:solidFill>
                            <a:srgbClr val="000000"/>
                          </a:solidFill>
                          <a:effectLst/>
                          <a:latin typeface="Roboto" panose="02000000000000000000" pitchFamily="2" charset="0"/>
                        </a:rPr>
                        <a:t>77,3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62,2%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4D8F0"/>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7</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O'Higgins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46,8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2E9F2"/>
                    </a:solidFill>
                  </a:tcPr>
                </a:tc>
                <a:tc>
                  <a:txBody>
                    <a:bodyPr/>
                    <a:lstStyle/>
                    <a:p>
                      <a:pPr algn="l" fontAlgn="ctr">
                        <a:buNone/>
                      </a:pPr>
                      <a:r>
                        <a:rPr lang="es-CL" sz="700" b="0" i="0" u="none" strike="noStrike">
                          <a:solidFill>
                            <a:srgbClr val="FF0000"/>
                          </a:solidFill>
                          <a:effectLst/>
                          <a:latin typeface="Roboto" panose="02000000000000000000" pitchFamily="2" charset="0"/>
                        </a:rPr>
                        <a:t>23,4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1" i="0" u="none" strike="noStrike">
                          <a:solidFill>
                            <a:srgbClr val="000000"/>
                          </a:solidFill>
                          <a:effectLst/>
                          <a:latin typeface="Roboto" panose="02000000000000000000" pitchFamily="2" charset="0"/>
                        </a:rPr>
                        <a:t>71,2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65,7%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D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Nov–Dic 2026</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nov–dic, post RM.</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8</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Antofagasta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46,2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3E9F2"/>
                    </a:solidFill>
                  </a:tcPr>
                </a:tc>
                <a:tc>
                  <a:txBody>
                    <a:bodyPr/>
                    <a:lstStyle/>
                    <a:p>
                      <a:pPr algn="l" fontAlgn="ctr">
                        <a:buNone/>
                      </a:pPr>
                      <a:r>
                        <a:rPr lang="es-CL" sz="700" b="0" i="0" u="none" strike="noStrike" dirty="0">
                          <a:solidFill>
                            <a:srgbClr val="FF0000"/>
                          </a:solidFill>
                          <a:effectLst/>
                          <a:latin typeface="Roboto" panose="02000000000000000000" pitchFamily="2" charset="0"/>
                        </a:rPr>
                        <a:t>23,1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1" i="0" u="none" strike="noStrike">
                          <a:solidFill>
                            <a:srgbClr val="000000"/>
                          </a:solidFill>
                          <a:effectLst/>
                          <a:latin typeface="Roboto" panose="02000000000000000000" pitchFamily="2" charset="0"/>
                        </a:rPr>
                        <a:t>59,0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78,3%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Coordinar con técnico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72524">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9</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Coquimbo</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45,8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4EAF3"/>
                    </a:solidFill>
                  </a:tcPr>
                </a:tc>
                <a:tc>
                  <a:txBody>
                    <a:bodyPr/>
                    <a:lstStyle/>
                    <a:p>
                      <a:pPr algn="l" fontAlgn="ctr">
                        <a:buNone/>
                      </a:pPr>
                      <a:r>
                        <a:rPr lang="es-CL" sz="700" b="0" i="0" u="none" strike="noStrike">
                          <a:solidFill>
                            <a:srgbClr val="FF0000"/>
                          </a:solidFill>
                          <a:effectLst/>
                          <a:latin typeface="Roboto" panose="02000000000000000000" pitchFamily="2" charset="0"/>
                        </a:rPr>
                        <a:t>22,9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5F9"/>
                    </a:solidFill>
                  </a:tcPr>
                </a:tc>
                <a:tc>
                  <a:txBody>
                    <a:bodyPr/>
                    <a:lstStyle/>
                    <a:p>
                      <a:pPr algn="l" fontAlgn="ctr">
                        <a:buNone/>
                      </a:pPr>
                      <a:r>
                        <a:rPr lang="es-CL" sz="700" b="1" i="0" u="none" strike="noStrike">
                          <a:solidFill>
                            <a:srgbClr val="000000"/>
                          </a:solidFill>
                          <a:effectLst/>
                          <a:latin typeface="Roboto" panose="02000000000000000000" pitchFamily="2" charset="0"/>
                        </a:rPr>
                        <a:t>83,4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54,9%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5CEE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(Téc.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 Base del técnico norte. Foco H. La Serena.</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10</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Magallanes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40,0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7EDF4"/>
                    </a:solidFill>
                  </a:tcPr>
                </a:tc>
                <a:tc>
                  <a:txBody>
                    <a:bodyPr/>
                    <a:lstStyle/>
                    <a:p>
                      <a:pPr algn="l" fontAlgn="ctr">
                        <a:buNone/>
                      </a:pPr>
                      <a:r>
                        <a:rPr lang="es-CL" sz="700" b="0" i="0" u="none" strike="noStrike">
                          <a:solidFill>
                            <a:srgbClr val="FF0000"/>
                          </a:solidFill>
                          <a:effectLst/>
                          <a:latin typeface="Roboto" panose="02000000000000000000" pitchFamily="2" charset="0"/>
                        </a:rPr>
                        <a:t>20,0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6FA"/>
                    </a:solidFill>
                  </a:tcPr>
                </a:tc>
                <a:tc>
                  <a:txBody>
                    <a:bodyPr/>
                    <a:lstStyle/>
                    <a:p>
                      <a:pPr algn="l" fontAlgn="ctr">
                        <a:buNone/>
                      </a:pPr>
                      <a:r>
                        <a:rPr lang="es-CL" sz="700" b="1" i="0" u="none" strike="noStrike">
                          <a:solidFill>
                            <a:srgbClr val="000000"/>
                          </a:solidFill>
                          <a:effectLst/>
                          <a:latin typeface="Roboto" panose="02000000000000000000" pitchFamily="2" charset="0"/>
                        </a:rPr>
                        <a:t>40,0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100,0%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 (Téc. Sur)</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Apoya técnico sur.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11</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Tarapacá</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37,4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9EEF5"/>
                    </a:solidFill>
                  </a:tcPr>
                </a:tc>
                <a:tc>
                  <a:txBody>
                    <a:bodyPr/>
                    <a:lstStyle/>
                    <a:p>
                      <a:pPr algn="l" fontAlgn="ctr">
                        <a:buNone/>
                      </a:pPr>
                      <a:r>
                        <a:rPr lang="es-CL" sz="700" b="0" i="0" u="none" strike="noStrike">
                          <a:solidFill>
                            <a:srgbClr val="FF0000"/>
                          </a:solidFill>
                          <a:effectLst/>
                          <a:latin typeface="Roboto" panose="02000000000000000000" pitchFamily="2" charset="0"/>
                        </a:rPr>
                        <a:t>18,7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6F8FB"/>
                    </a:solidFill>
                  </a:tcPr>
                </a:tc>
                <a:tc>
                  <a:txBody>
                    <a:bodyPr/>
                    <a:lstStyle/>
                    <a:p>
                      <a:pPr algn="l" fontAlgn="ctr">
                        <a:buNone/>
                      </a:pPr>
                      <a:r>
                        <a:rPr lang="es-CL" sz="700" b="1" i="0" u="none" strike="noStrike" dirty="0">
                          <a:solidFill>
                            <a:srgbClr val="000000"/>
                          </a:solidFill>
                          <a:effectLst/>
                          <a:latin typeface="Roboto" panose="02000000000000000000" pitchFamily="2" charset="0"/>
                        </a:rPr>
                        <a:t>39,8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94,0%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CFE"/>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Ene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12</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Ñuble</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35,3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AEFF6"/>
                    </a:solidFill>
                  </a:tcPr>
                </a:tc>
                <a:tc>
                  <a:txBody>
                    <a:bodyPr/>
                    <a:lstStyle/>
                    <a:p>
                      <a:pPr algn="l" fontAlgn="ctr">
                        <a:buNone/>
                      </a:pPr>
                      <a:r>
                        <a:rPr lang="es-CL" sz="700" b="0" i="0" u="none" strike="noStrike">
                          <a:solidFill>
                            <a:srgbClr val="FF0000"/>
                          </a:solidFill>
                          <a:effectLst/>
                          <a:latin typeface="Roboto" panose="02000000000000000000" pitchFamily="2" charset="0"/>
                        </a:rPr>
                        <a:t>17,7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6F9FB"/>
                    </a:solidFill>
                  </a:tcPr>
                </a:tc>
                <a:tc>
                  <a:txBody>
                    <a:bodyPr/>
                    <a:lstStyle/>
                    <a:p>
                      <a:pPr algn="l" fontAlgn="ctr">
                        <a:buNone/>
                      </a:pPr>
                      <a:r>
                        <a:rPr lang="es-CL" sz="700" b="1" i="0" u="none" strike="noStrike">
                          <a:solidFill>
                            <a:srgbClr val="000000"/>
                          </a:solidFill>
                          <a:effectLst/>
                          <a:latin typeface="Roboto" panose="02000000000000000000" pitchFamily="2" charset="0"/>
                        </a:rPr>
                        <a:t>52,7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dirty="0">
                          <a:solidFill>
                            <a:srgbClr val="000000"/>
                          </a:solidFill>
                          <a:effectLst/>
                          <a:latin typeface="Roboto" panose="02000000000000000000" pitchFamily="2" charset="0"/>
                        </a:rPr>
                        <a:t>67,0%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0EBF7"/>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preventivo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13</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Los Ríos</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26,4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algn="l" fontAlgn="ctr">
                        <a:buNone/>
                      </a:pPr>
                      <a:r>
                        <a:rPr lang="es-CL" sz="700" b="0" i="0" u="none" strike="noStrike">
                          <a:solidFill>
                            <a:srgbClr val="FF0000"/>
                          </a:solidFill>
                          <a:effectLst/>
                          <a:latin typeface="Roboto" panose="02000000000000000000" pitchFamily="2" charset="0"/>
                        </a:rPr>
                        <a:t>13,2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AFBFD"/>
                    </a:solidFill>
                  </a:tcPr>
                </a:tc>
                <a:tc>
                  <a:txBody>
                    <a:bodyPr/>
                    <a:lstStyle/>
                    <a:p>
                      <a:pPr algn="l" fontAlgn="ctr">
                        <a:buNone/>
                      </a:pPr>
                      <a:r>
                        <a:rPr lang="es-CL" sz="700" b="1" i="0" u="none" strike="noStrike">
                          <a:solidFill>
                            <a:srgbClr val="000000"/>
                          </a:solidFill>
                          <a:effectLst/>
                          <a:latin typeface="Roboto" panose="02000000000000000000" pitchFamily="2" charset="0"/>
                        </a:rPr>
                        <a:t>28,4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93,0%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AF1FA"/>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Sep 2026 – EN EJECUCIÓN</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En ejecución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Campaña en curso.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5"/>
                  </a:ext>
                </a:extLst>
              </a:tr>
              <a:tr h="136469">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14</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Arica y Parinacota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16,1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3F6FA"/>
                    </a:solidFill>
                  </a:tcPr>
                </a:tc>
                <a:tc>
                  <a:txBody>
                    <a:bodyPr/>
                    <a:lstStyle/>
                    <a:p>
                      <a:pPr algn="l" fontAlgn="ctr">
                        <a:buNone/>
                      </a:pPr>
                      <a:r>
                        <a:rPr lang="es-CL" sz="700" b="0" i="0" u="none" strike="noStrike">
                          <a:solidFill>
                            <a:srgbClr val="FF0000"/>
                          </a:solidFill>
                          <a:effectLst/>
                          <a:latin typeface="Roboto" panose="02000000000000000000" pitchFamily="2" charset="0"/>
                        </a:rPr>
                        <a:t>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CFD"/>
                    </a:solidFill>
                  </a:tcPr>
                </a:tc>
                <a:tc>
                  <a:txBody>
                    <a:bodyPr/>
                    <a:lstStyle/>
                    <a:p>
                      <a:pPr algn="l" fontAlgn="ctr">
                        <a:buNone/>
                      </a:pPr>
                      <a:r>
                        <a:rPr lang="es-CL" sz="700" b="1" i="0" u="none" strike="noStrike">
                          <a:solidFill>
                            <a:srgbClr val="000000"/>
                          </a:solidFill>
                          <a:effectLst/>
                          <a:latin typeface="Roboto" panose="02000000000000000000" pitchFamily="2" charset="0"/>
                        </a:rPr>
                        <a:t>19,4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83,0%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6FC"/>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Feb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preventivo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83355">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15</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Aysén</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l" fontAlgn="ctr">
                        <a:buNone/>
                      </a:pPr>
                      <a:r>
                        <a:rPr lang="es-CL" sz="700" b="0" i="0" u="none" strike="noStrike">
                          <a:solidFill>
                            <a:srgbClr val="1F1F1F"/>
                          </a:solidFill>
                          <a:effectLst/>
                          <a:latin typeface="Roboto" panose="02000000000000000000" pitchFamily="2" charset="0"/>
                        </a:rPr>
                        <a:t>14,2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algn="l" fontAlgn="ctr">
                        <a:buNone/>
                      </a:pPr>
                      <a:r>
                        <a:rPr lang="es-CL" sz="700" b="0" i="0" u="none" strike="noStrike">
                          <a:solidFill>
                            <a:srgbClr val="FF0000"/>
                          </a:solidFill>
                          <a:effectLst/>
                          <a:latin typeface="Roboto" panose="02000000000000000000" pitchFamily="2" charset="0"/>
                        </a:rPr>
                        <a:t>7,1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1" i="0" u="none" strike="noStrike">
                          <a:solidFill>
                            <a:srgbClr val="000000"/>
                          </a:solidFill>
                          <a:effectLst/>
                          <a:latin typeface="Roboto" panose="02000000000000000000" pitchFamily="2" charset="0"/>
                        </a:rPr>
                        <a:t>16,0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88,8%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dirty="0">
                          <a:solidFill>
                            <a:srgbClr val="375623"/>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9DBF2"/>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Feb 2027 (Zona Norte)</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Ronda zona norte.</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7"/>
                  </a:ext>
                </a:extLst>
              </a:tr>
              <a:tr h="136469">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16</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Atacama</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0" i="0" u="none" strike="noStrike">
                          <a:solidFill>
                            <a:srgbClr val="1F1F1F"/>
                          </a:solidFill>
                          <a:effectLst/>
                          <a:latin typeface="Roboto" panose="02000000000000000000" pitchFamily="2" charset="0"/>
                        </a:rPr>
                        <a:t>10,0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algn="l" fontAlgn="ctr">
                        <a:buNone/>
                      </a:pPr>
                      <a:r>
                        <a:rPr lang="es-CL" sz="700" b="0" i="0" u="none" strike="noStrike">
                          <a:solidFill>
                            <a:srgbClr val="FF0000"/>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l" fontAlgn="ctr">
                        <a:buNone/>
                      </a:pPr>
                      <a:r>
                        <a:rPr lang="es-CL" sz="700" b="1" i="0" u="none" strike="noStrike">
                          <a:solidFill>
                            <a:srgbClr val="000000"/>
                          </a:solidFill>
                          <a:effectLst/>
                          <a:latin typeface="Roboto" panose="02000000000000000000" pitchFamily="2" charset="0"/>
                        </a:rPr>
                        <a:t>12,1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000000"/>
                          </a:solidFill>
                          <a:effectLst/>
                          <a:latin typeface="Roboto" panose="02000000000000000000" pitchFamily="2" charset="0"/>
                        </a:rPr>
                        <a:t>82,6%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algn="l" fontAlgn="ctr">
                        <a:buNone/>
                      </a:pPr>
                      <a:r>
                        <a:rPr lang="es-CL" sz="700" b="1" i="0" u="none" strike="noStrike">
                          <a:solidFill>
                            <a:srgbClr val="375623"/>
                          </a:solidFill>
                          <a:effectLst/>
                          <a:latin typeface="Roboto" panose="02000000000000000000" pitchFamily="2" charset="0"/>
                        </a:rPr>
                        <a:t>1,7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4EDF8"/>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Oct–Nov 2026 (Téc. Sur)</a:t>
                      </a:r>
                      <a:endParaRPr sz="70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700" b="0" i="0" u="none" strike="noStrike" cap="none">
                          <a:solidFill>
                            <a:srgbClr val="7F6000"/>
                          </a:solidFill>
                          <a:latin typeface="Roboto"/>
                          <a:ea typeface="Roboto"/>
                          <a:cs typeface="Roboto"/>
                          <a:sym typeface="Roboto"/>
                        </a:rPr>
                        <a:t>Planificado</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Programa preventivo · Evaluación de renovación</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700" b="0" i="0" u="none" strike="noStrike" cap="none">
                          <a:solidFill>
                            <a:srgbClr val="1F1F1F"/>
                          </a:solidFill>
                          <a:latin typeface="Roboto"/>
                          <a:ea typeface="Roboto"/>
                          <a:cs typeface="Roboto"/>
                          <a:sym typeface="Roboto"/>
                        </a:rPr>
                        <a:t>Apoya técnico sur.</a:t>
                      </a:r>
                      <a:endParaRPr sz="70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97131">
                <a:tc>
                  <a:txBody>
                    <a:bodyPr/>
                    <a:lstStyle/>
                    <a:p>
                      <a:pPr marL="0" marR="0" lvl="0" indent="0" algn="l" rtl="0">
                        <a:spcBef>
                          <a:spcPts val="0"/>
                        </a:spcBef>
                        <a:spcAft>
                          <a:spcPts val="0"/>
                        </a:spcAft>
                        <a:buClr>
                          <a:srgbClr val="FFFFFF"/>
                        </a:buClr>
                        <a:buSzPts val="600"/>
                        <a:buFont typeface="Roboto"/>
                        <a:buNone/>
                      </a:pPr>
                      <a:r>
                        <a:rPr lang="es-CL" sz="700" b="1" i="0" u="none" strike="noStrike" cap="none">
                          <a:solidFill>
                            <a:srgbClr val="FFFFFF"/>
                          </a:solidFill>
                          <a:latin typeface="Roboto"/>
                          <a:ea typeface="Roboto"/>
                          <a:cs typeface="Roboto"/>
                          <a:sym typeface="Roboto"/>
                        </a:rPr>
                        <a:t> </a:t>
                      </a:r>
                      <a:endParaRPr sz="700"/>
                    </a:p>
                  </a:txBody>
                  <a:tcPr marL="6000" marR="6000" marT="600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TOTAL</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 </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739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1.017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521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2.072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a:solidFill>
                            <a:srgbClr val="FFFFFF"/>
                          </a:solidFill>
                          <a:effectLst/>
                          <a:latin typeface="Roboto" panose="02000000000000000000" pitchFamily="2" charset="0"/>
                        </a:rPr>
                        <a:t>49,1%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algn="l" fontAlgn="ctr">
                        <a:buNone/>
                      </a:pPr>
                      <a:r>
                        <a:rPr lang="es-CL" sz="700" b="1" i="0" u="none" strike="noStrike" dirty="0">
                          <a:solidFill>
                            <a:srgbClr val="FFFFFF"/>
                          </a:solidFill>
                          <a:effectLst/>
                          <a:latin typeface="Roboto" panose="02000000000000000000" pitchFamily="2" charset="0"/>
                        </a:rPr>
                        <a:t>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700" b="1" i="0" u="none" strike="noStrike" cap="none" dirty="0">
                          <a:solidFill>
                            <a:srgbClr val="FFFFFF"/>
                          </a:solidFill>
                          <a:latin typeface="Roboto"/>
                          <a:ea typeface="Roboto"/>
                          <a:cs typeface="Roboto"/>
                          <a:sym typeface="Roboto"/>
                        </a:rPr>
                        <a:t> </a:t>
                      </a:r>
                      <a:endParaRPr sz="700" dirty="0"/>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extLst>
                  <a:ext uri="{0D108BD9-81ED-4DB2-BD59-A6C34878D82A}">
                    <a16:rowId xmlns:a16="http://schemas.microsoft.com/office/drawing/2014/main" val="10019"/>
                  </a:ext>
                </a:extLst>
              </a:tr>
            </a:tbl>
          </a:graphicData>
        </a:graphic>
      </p:graphicFrame>
      <p:sp>
        <p:nvSpPr>
          <p:cNvPr id="2" name="Rectángulo 1">
            <a:extLst>
              <a:ext uri="{FF2B5EF4-FFF2-40B4-BE49-F238E27FC236}">
                <a16:creationId xmlns:a16="http://schemas.microsoft.com/office/drawing/2014/main" id="{D7B5B03A-5116-1E51-C19B-F06CDA3C9384}"/>
              </a:ext>
            </a:extLst>
          </p:cNvPr>
          <p:cNvSpPr/>
          <p:nvPr/>
        </p:nvSpPr>
        <p:spPr>
          <a:xfrm>
            <a:off x="320832" y="1471500"/>
            <a:ext cx="11535168"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8D984386-A783-7A78-7F83-E382848845D8}"/>
              </a:ext>
            </a:extLst>
          </p:cNvPr>
          <p:cNvSpPr/>
          <p:nvPr/>
        </p:nvSpPr>
        <p:spPr>
          <a:xfrm>
            <a:off x="320832" y="2259000"/>
            <a:ext cx="11535168"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9DB65916-497E-3093-C498-4DF9CAA7997B}"/>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881D41AA-FDCE-331E-A24B-7B5C8DFE743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RM y Valparaíso</a:t>
            </a:r>
            <a:endParaRPr dirty="0"/>
          </a:p>
        </p:txBody>
      </p:sp>
      <p:sp>
        <p:nvSpPr>
          <p:cNvPr id="4" name="Rectángulo 3">
            <a:extLst>
              <a:ext uri="{FF2B5EF4-FFF2-40B4-BE49-F238E27FC236}">
                <a16:creationId xmlns:a16="http://schemas.microsoft.com/office/drawing/2014/main" id="{310655F4-FE23-7513-BD96-2AA1B8A514C7}"/>
              </a:ext>
            </a:extLst>
          </p:cNvPr>
          <p:cNvSpPr/>
          <p:nvPr/>
        </p:nvSpPr>
        <p:spPr>
          <a:xfrm>
            <a:off x="471000" y="1089000"/>
            <a:ext cx="48150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Potencial Región Metropolitana</a:t>
            </a:r>
            <a:endParaRPr lang="es-CL" b="1" dirty="0">
              <a:solidFill>
                <a:schemeClr val="tx1"/>
              </a:solidFill>
            </a:endParaRPr>
          </a:p>
        </p:txBody>
      </p:sp>
      <p:sp>
        <p:nvSpPr>
          <p:cNvPr id="6" name="Rectángulo 5">
            <a:extLst>
              <a:ext uri="{FF2B5EF4-FFF2-40B4-BE49-F238E27FC236}">
                <a16:creationId xmlns:a16="http://schemas.microsoft.com/office/drawing/2014/main" id="{83DE50E8-1AEE-8EBD-3546-1A21ADBA6F53}"/>
              </a:ext>
            </a:extLst>
          </p:cNvPr>
          <p:cNvSpPr/>
          <p:nvPr/>
        </p:nvSpPr>
        <p:spPr>
          <a:xfrm>
            <a:off x="7039200" y="1089000"/>
            <a:ext cx="48168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Región de Valparaíso</a:t>
            </a:r>
            <a:endParaRPr lang="es-CL" b="1" dirty="0">
              <a:solidFill>
                <a:schemeClr val="tx1"/>
              </a:solidFill>
            </a:endParaRPr>
          </a:p>
        </p:txBody>
      </p:sp>
      <p:sp>
        <p:nvSpPr>
          <p:cNvPr id="7" name="Rectángulo 6">
            <a:extLst>
              <a:ext uri="{FF2B5EF4-FFF2-40B4-BE49-F238E27FC236}">
                <a16:creationId xmlns:a16="http://schemas.microsoft.com/office/drawing/2014/main" id="{13150B88-8A30-A57E-1591-15D33E8F6A46}"/>
              </a:ext>
            </a:extLst>
          </p:cNvPr>
          <p:cNvSpPr/>
          <p:nvPr/>
        </p:nvSpPr>
        <p:spPr>
          <a:xfrm>
            <a:off x="47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9" name="Rectángulo 8">
            <a:extLst>
              <a:ext uri="{FF2B5EF4-FFF2-40B4-BE49-F238E27FC236}">
                <a16:creationId xmlns:a16="http://schemas.microsoft.com/office/drawing/2014/main" id="{6F67E22D-43EE-2E44-523B-78AB859679C3}"/>
              </a:ext>
            </a:extLst>
          </p:cNvPr>
          <p:cNvSpPr/>
          <p:nvPr/>
        </p:nvSpPr>
        <p:spPr>
          <a:xfrm>
            <a:off x="188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11" name="Rectángulo 10">
            <a:extLst>
              <a:ext uri="{FF2B5EF4-FFF2-40B4-BE49-F238E27FC236}">
                <a16:creationId xmlns:a16="http://schemas.microsoft.com/office/drawing/2014/main" id="{224D9E36-7867-7A83-7CC3-0383BF4E032E}"/>
              </a:ext>
            </a:extLst>
          </p:cNvPr>
          <p:cNvSpPr/>
          <p:nvPr/>
        </p:nvSpPr>
        <p:spPr>
          <a:xfrm>
            <a:off x="329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19" name="Rectángulo 18">
            <a:extLst>
              <a:ext uri="{FF2B5EF4-FFF2-40B4-BE49-F238E27FC236}">
                <a16:creationId xmlns:a16="http://schemas.microsoft.com/office/drawing/2014/main" id="{7C218992-088C-5548-7416-70072E025CCB}"/>
              </a:ext>
            </a:extLst>
          </p:cNvPr>
          <p:cNvSpPr/>
          <p:nvPr/>
        </p:nvSpPr>
        <p:spPr>
          <a:xfrm>
            <a:off x="4710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MM$260,1</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1" name="Rectángulo 20">
            <a:extLst>
              <a:ext uri="{FF2B5EF4-FFF2-40B4-BE49-F238E27FC236}">
                <a16:creationId xmlns:a16="http://schemas.microsoft.com/office/drawing/2014/main" id="{6AB06410-7FF9-A769-4295-AC9C8C73B407}"/>
              </a:ext>
            </a:extLst>
          </p:cNvPr>
          <p:cNvSpPr/>
          <p:nvPr/>
        </p:nvSpPr>
        <p:spPr>
          <a:xfrm>
            <a:off x="18834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MM$42,6</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3" name="Rectángulo 22">
            <a:extLst>
              <a:ext uri="{FF2B5EF4-FFF2-40B4-BE49-F238E27FC236}">
                <a16:creationId xmlns:a16="http://schemas.microsoft.com/office/drawing/2014/main" id="{991E9840-3361-BB33-8474-F0AC6E982254}"/>
              </a:ext>
            </a:extLst>
          </p:cNvPr>
          <p:cNvSpPr/>
          <p:nvPr/>
        </p:nvSpPr>
        <p:spPr>
          <a:xfrm>
            <a:off x="3295800" y="3563999"/>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MM$501,0</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5E9D9E48-B928-35D5-8300-8F67805CD609}"/>
              </a:ext>
            </a:extLst>
          </p:cNvPr>
          <p:cNvSpPr/>
          <p:nvPr/>
        </p:nvSpPr>
        <p:spPr>
          <a:xfrm>
            <a:off x="704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C5D84449-1FB2-D3F6-2CAC-177C0C3B31B0}"/>
              </a:ext>
            </a:extLst>
          </p:cNvPr>
          <p:cNvSpPr/>
          <p:nvPr/>
        </p:nvSpPr>
        <p:spPr>
          <a:xfrm>
            <a:off x="845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60DAD808-CC68-2D78-C9C7-2080A857AB36}"/>
              </a:ext>
            </a:extLst>
          </p:cNvPr>
          <p:cNvSpPr/>
          <p:nvPr/>
        </p:nvSpPr>
        <p:spPr>
          <a:xfrm>
            <a:off x="986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E80B99D0-A96B-45B8-91EA-45A34A1C4E82}"/>
              </a:ext>
            </a:extLst>
          </p:cNvPr>
          <p:cNvSpPr/>
          <p:nvPr/>
        </p:nvSpPr>
        <p:spPr>
          <a:xfrm>
            <a:off x="70411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MM$86</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114483FA-CA3A-F5E9-E7A7-1A957F93FE15}"/>
              </a:ext>
            </a:extLst>
          </p:cNvPr>
          <p:cNvSpPr/>
          <p:nvPr/>
        </p:nvSpPr>
        <p:spPr>
          <a:xfrm>
            <a:off x="84535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55" name="Rectángulo 54">
            <a:extLst>
              <a:ext uri="{FF2B5EF4-FFF2-40B4-BE49-F238E27FC236}">
                <a16:creationId xmlns:a16="http://schemas.microsoft.com/office/drawing/2014/main" id="{BDC4BFAD-6930-A86B-5FA3-B64887627B1A}"/>
              </a:ext>
            </a:extLst>
          </p:cNvPr>
          <p:cNvSpPr/>
          <p:nvPr/>
        </p:nvSpPr>
        <p:spPr>
          <a:xfrm>
            <a:off x="9865984" y="3563072"/>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Tree>
    <p:extLst>
      <p:ext uri="{BB962C8B-B14F-4D97-AF65-F5344CB8AC3E}">
        <p14:creationId xmlns:p14="http://schemas.microsoft.com/office/powerpoint/2010/main" val="3319398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1D963A12-D53E-B206-73A2-CA10067AFE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130241FE-70E5-11F4-B89E-B97562122A1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Valparaíso</a:t>
            </a:r>
            <a:endParaRPr dirty="0"/>
          </a:p>
        </p:txBody>
      </p:sp>
      <p:sp>
        <p:nvSpPr>
          <p:cNvPr id="31" name="Rectángulo 30">
            <a:extLst>
              <a:ext uri="{FF2B5EF4-FFF2-40B4-BE49-F238E27FC236}">
                <a16:creationId xmlns:a16="http://schemas.microsoft.com/office/drawing/2014/main" id="{58B0CF5B-7EEE-D759-CD36-55FDF3FAF347}"/>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D885502C-F25D-6975-DB24-D0F095AA774D}"/>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B5C6F263-605A-0486-CD15-F137E84BD42E}"/>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7D908FF9-C35B-C1E7-1CF6-50720D927B2E}"/>
              </a:ext>
            </a:extLst>
          </p:cNvPr>
          <p:cNvSpPr/>
          <p:nvPr/>
        </p:nvSpPr>
        <p:spPr>
          <a:xfrm>
            <a:off x="3462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MM$86</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F0E1AA9A-7B4C-484A-AC92-5097524F7C37}"/>
              </a:ext>
            </a:extLst>
          </p:cNvPr>
          <p:cNvSpPr/>
          <p:nvPr/>
        </p:nvSpPr>
        <p:spPr>
          <a:xfrm>
            <a:off x="17586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endParaRPr lang="es-CL" sz="900" b="1" dirty="0">
              <a:solidFill>
                <a:schemeClr val="tx1"/>
              </a:solidFill>
            </a:endParaRPr>
          </a:p>
        </p:txBody>
      </p:sp>
      <p:sp>
        <p:nvSpPr>
          <p:cNvPr id="55" name="Rectángulo 54">
            <a:extLst>
              <a:ext uri="{FF2B5EF4-FFF2-40B4-BE49-F238E27FC236}">
                <a16:creationId xmlns:a16="http://schemas.microsoft.com/office/drawing/2014/main" id="{84BB99B7-5E6B-0A65-941E-D90C81C29601}"/>
              </a:ext>
            </a:extLst>
          </p:cNvPr>
          <p:cNvSpPr/>
          <p:nvPr/>
        </p:nvSpPr>
        <p:spPr>
          <a:xfrm>
            <a:off x="3171000" y="2034000"/>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Prospección2</a:t>
            </a:r>
          </a:p>
        </p:txBody>
      </p:sp>
      <p:sp>
        <p:nvSpPr>
          <p:cNvPr id="8" name="Rectángulo 7">
            <a:extLst>
              <a:ext uri="{FF2B5EF4-FFF2-40B4-BE49-F238E27FC236}">
                <a16:creationId xmlns:a16="http://schemas.microsoft.com/office/drawing/2014/main" id="{72CBFD95-8BEE-AC20-1F39-FDD6A34B89EF}"/>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187,5</a:t>
            </a:r>
          </a:p>
          <a:p>
            <a:pPr marL="171450" indent="-171450">
              <a:buFont typeface="Arial" panose="020B0604020202020204" pitchFamily="34" charset="0"/>
              <a:buChar char="•"/>
            </a:pPr>
            <a:r>
              <a:rPr lang="es-MX" sz="900" b="1" dirty="0">
                <a:solidFill>
                  <a:schemeClr val="tx2"/>
                </a:solidFill>
              </a:rPr>
              <a:t># Clientes: 65</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58D8EBA6-C0F4-7F48-8C45-48CCF0668D3A}"/>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CB15659-C952-9413-C0A3-9FA17EEFBF0D}"/>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1E0CC572-1E6A-212E-B4B4-93277C8C53A7}"/>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65 clientes,</a:t>
            </a:r>
          </a:p>
          <a:p>
            <a:pPr marL="171450" lvl="1" indent="-171450">
              <a:buFont typeface="Arial" panose="020B0604020202020204" pitchFamily="34" charset="0"/>
              <a:buChar char="•"/>
            </a:pPr>
            <a:r>
              <a:rPr lang="es-MX" sz="900" dirty="0">
                <a:solidFill>
                  <a:schemeClr val="tx2"/>
                </a:solidFill>
              </a:rPr>
              <a:t>Todos los clientes de la región son abordados por Cristian </a:t>
            </a:r>
            <a:r>
              <a:rPr lang="es-MX" sz="900" dirty="0" err="1">
                <a:solidFill>
                  <a:schemeClr val="tx2"/>
                </a:solidFill>
              </a:rPr>
              <a:t>Perez</a:t>
            </a:r>
            <a:r>
              <a:rPr lang="es-MX" sz="900" dirty="0">
                <a:solidFill>
                  <a:schemeClr val="tx2"/>
                </a:solidFill>
              </a:rPr>
              <a:t>.</a:t>
            </a:r>
            <a:endParaRPr lang="es-CL" sz="1600" dirty="0">
              <a:solidFill>
                <a:schemeClr val="tx1"/>
              </a:solidFill>
            </a:endParaRPr>
          </a:p>
        </p:txBody>
      </p:sp>
      <p:pic>
        <p:nvPicPr>
          <p:cNvPr id="3" name="Imagen 2">
            <a:extLst>
              <a:ext uri="{FF2B5EF4-FFF2-40B4-BE49-F238E27FC236}">
                <a16:creationId xmlns:a16="http://schemas.microsoft.com/office/drawing/2014/main" id="{20B2559B-E50C-7B03-3FEF-D2DF3A28A19F}"/>
              </a:ext>
            </a:extLst>
          </p:cNvPr>
          <p:cNvPicPr>
            <a:picLocks noChangeAspect="1"/>
          </p:cNvPicPr>
          <p:nvPr/>
        </p:nvPicPr>
        <p:blipFill>
          <a:blip r:embed="rId3"/>
          <a:srcRect t="16282" b="16620"/>
          <a:stretch>
            <a:fillRect/>
          </a:stretch>
        </p:blipFill>
        <p:spPr>
          <a:xfrm>
            <a:off x="12700" y="3957238"/>
            <a:ext cx="12192000" cy="3194858"/>
          </a:xfrm>
          <a:prstGeom prst="rect">
            <a:avLst/>
          </a:prstGeom>
        </p:spPr>
      </p:pic>
    </p:spTree>
    <p:extLst>
      <p:ext uri="{BB962C8B-B14F-4D97-AF65-F5344CB8AC3E}">
        <p14:creationId xmlns:p14="http://schemas.microsoft.com/office/powerpoint/2010/main" val="4262845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0097D9B6-A561-10D4-D76B-5C13A796B74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1751EA0-A914-9C89-5917-7AAB0F3DE77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1 – Top según Potencial</a:t>
            </a:r>
            <a:endParaRPr dirty="0"/>
          </a:p>
        </p:txBody>
      </p:sp>
      <p:cxnSp>
        <p:nvCxnSpPr>
          <p:cNvPr id="516" name="Google Shape;516;p41">
            <a:extLst>
              <a:ext uri="{FF2B5EF4-FFF2-40B4-BE49-F238E27FC236}">
                <a16:creationId xmlns:a16="http://schemas.microsoft.com/office/drawing/2014/main" id="{A9DA05FC-7125-7CCB-6A5D-22FCF46D98B7}"/>
              </a:ext>
            </a:extLst>
          </p:cNvPr>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a:extLst>
              <a:ext uri="{FF2B5EF4-FFF2-40B4-BE49-F238E27FC236}">
                <a16:creationId xmlns:a16="http://schemas.microsoft.com/office/drawing/2014/main" id="{75ADE1B2-7B0E-B74E-641D-CD5688C7CEAA}"/>
              </a:ext>
            </a:extLst>
          </p:cNvPr>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graphicFrame>
        <p:nvGraphicFramePr>
          <p:cNvPr id="3" name="Tabla 2">
            <a:extLst>
              <a:ext uri="{FF2B5EF4-FFF2-40B4-BE49-F238E27FC236}">
                <a16:creationId xmlns:a16="http://schemas.microsoft.com/office/drawing/2014/main" id="{C9939BC3-FBE3-EBFC-7A7E-738A4D101746}"/>
              </a:ext>
            </a:extLst>
          </p:cNvPr>
          <p:cNvGraphicFramePr>
            <a:graphicFrameLocks noGrp="1"/>
          </p:cNvGraphicFramePr>
          <p:nvPr>
            <p:extLst>
              <p:ext uri="{D42A27DB-BD31-4B8C-83A1-F6EECF244321}">
                <p14:modId xmlns:p14="http://schemas.microsoft.com/office/powerpoint/2010/main" val="2178163743"/>
              </p:ext>
            </p:extLst>
          </p:nvPr>
        </p:nvGraphicFramePr>
        <p:xfrm>
          <a:off x="322750" y="1299602"/>
          <a:ext cx="11869249" cy="5182277"/>
        </p:xfrm>
        <a:graphic>
          <a:graphicData uri="http://schemas.openxmlformats.org/drawingml/2006/table">
            <a:tbl>
              <a:tblPr/>
              <a:tblGrid>
                <a:gridCol w="422523">
                  <a:extLst>
                    <a:ext uri="{9D8B030D-6E8A-4147-A177-3AD203B41FA5}">
                      <a16:colId xmlns:a16="http://schemas.microsoft.com/office/drawing/2014/main" val="3682049527"/>
                    </a:ext>
                  </a:extLst>
                </a:gridCol>
                <a:gridCol w="1917606">
                  <a:extLst>
                    <a:ext uri="{9D8B030D-6E8A-4147-A177-3AD203B41FA5}">
                      <a16:colId xmlns:a16="http://schemas.microsoft.com/office/drawing/2014/main" val="1447774929"/>
                    </a:ext>
                  </a:extLst>
                </a:gridCol>
                <a:gridCol w="503778">
                  <a:extLst>
                    <a:ext uri="{9D8B030D-6E8A-4147-A177-3AD203B41FA5}">
                      <a16:colId xmlns:a16="http://schemas.microsoft.com/office/drawing/2014/main" val="3923726705"/>
                    </a:ext>
                  </a:extLst>
                </a:gridCol>
                <a:gridCol w="505809">
                  <a:extLst>
                    <a:ext uri="{9D8B030D-6E8A-4147-A177-3AD203B41FA5}">
                      <a16:colId xmlns:a16="http://schemas.microsoft.com/office/drawing/2014/main" val="977636864"/>
                    </a:ext>
                  </a:extLst>
                </a:gridCol>
                <a:gridCol w="503778">
                  <a:extLst>
                    <a:ext uri="{9D8B030D-6E8A-4147-A177-3AD203B41FA5}">
                      <a16:colId xmlns:a16="http://schemas.microsoft.com/office/drawing/2014/main" val="3732638462"/>
                    </a:ext>
                  </a:extLst>
                </a:gridCol>
                <a:gridCol w="505809">
                  <a:extLst>
                    <a:ext uri="{9D8B030D-6E8A-4147-A177-3AD203B41FA5}">
                      <a16:colId xmlns:a16="http://schemas.microsoft.com/office/drawing/2014/main" val="3181110123"/>
                    </a:ext>
                  </a:extLst>
                </a:gridCol>
                <a:gridCol w="503778">
                  <a:extLst>
                    <a:ext uri="{9D8B030D-6E8A-4147-A177-3AD203B41FA5}">
                      <a16:colId xmlns:a16="http://schemas.microsoft.com/office/drawing/2014/main" val="3916584342"/>
                    </a:ext>
                  </a:extLst>
                </a:gridCol>
                <a:gridCol w="505809">
                  <a:extLst>
                    <a:ext uri="{9D8B030D-6E8A-4147-A177-3AD203B41FA5}">
                      <a16:colId xmlns:a16="http://schemas.microsoft.com/office/drawing/2014/main" val="2298795141"/>
                    </a:ext>
                  </a:extLst>
                </a:gridCol>
                <a:gridCol w="593158">
                  <a:extLst>
                    <a:ext uri="{9D8B030D-6E8A-4147-A177-3AD203B41FA5}">
                      <a16:colId xmlns:a16="http://schemas.microsoft.com/office/drawing/2014/main" val="3688097150"/>
                    </a:ext>
                  </a:extLst>
                </a:gridCol>
                <a:gridCol w="591127">
                  <a:extLst>
                    <a:ext uri="{9D8B030D-6E8A-4147-A177-3AD203B41FA5}">
                      <a16:colId xmlns:a16="http://schemas.microsoft.com/office/drawing/2014/main" val="1021856631"/>
                    </a:ext>
                  </a:extLst>
                </a:gridCol>
                <a:gridCol w="893799">
                  <a:extLst>
                    <a:ext uri="{9D8B030D-6E8A-4147-A177-3AD203B41FA5}">
                      <a16:colId xmlns:a16="http://schemas.microsoft.com/office/drawing/2014/main" val="4227412962"/>
                    </a:ext>
                  </a:extLst>
                </a:gridCol>
                <a:gridCol w="511903">
                  <a:extLst>
                    <a:ext uri="{9D8B030D-6E8A-4147-A177-3AD203B41FA5}">
                      <a16:colId xmlns:a16="http://schemas.microsoft.com/office/drawing/2014/main" val="181412641"/>
                    </a:ext>
                  </a:extLst>
                </a:gridCol>
                <a:gridCol w="2382787">
                  <a:extLst>
                    <a:ext uri="{9D8B030D-6E8A-4147-A177-3AD203B41FA5}">
                      <a16:colId xmlns:a16="http://schemas.microsoft.com/office/drawing/2014/main" val="4121126903"/>
                    </a:ext>
                  </a:extLst>
                </a:gridCol>
                <a:gridCol w="715040">
                  <a:extLst>
                    <a:ext uri="{9D8B030D-6E8A-4147-A177-3AD203B41FA5}">
                      <a16:colId xmlns:a16="http://schemas.microsoft.com/office/drawing/2014/main" val="3627639309"/>
                    </a:ext>
                  </a:extLst>
                </a:gridCol>
                <a:gridCol w="812545">
                  <a:extLst>
                    <a:ext uri="{9D8B030D-6E8A-4147-A177-3AD203B41FA5}">
                      <a16:colId xmlns:a16="http://schemas.microsoft.com/office/drawing/2014/main" val="2817686619"/>
                    </a:ext>
                  </a:extLst>
                </a:gridCol>
              </a:tblGrid>
              <a:tr h="436396">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Cliente</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Dental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Esterilización</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Endoscopía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Base Instalada Total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Pot. Mantenimiento MM$</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Margen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Plan de Acción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Visita Comercial/Fecha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Responsable Comercial</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B0082"/>
                    </a:solidFill>
                  </a:tcPr>
                </a:tc>
                <a:extLst>
                  <a:ext uri="{0D108BD9-81ED-4DB2-BD59-A6C34878D82A}">
                    <a16:rowId xmlns:a16="http://schemas.microsoft.com/office/drawing/2014/main" val="2948408121"/>
                  </a:ext>
                </a:extLst>
              </a:tr>
              <a:tr h="651336">
                <a:tc vMerge="1">
                  <a:txBody>
                    <a:bodyPr/>
                    <a:lstStyle/>
                    <a:p>
                      <a:endParaRPr lang="es-CL"/>
                    </a:p>
                  </a:txBody>
                  <a:tcPr/>
                </a:tc>
                <a:tc vMerge="1">
                  <a:txBody>
                    <a:bodyPr/>
                    <a:lstStyle/>
                    <a:p>
                      <a:endParaRPr lang="es-CL"/>
                    </a:p>
                  </a:txBody>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Vida Media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527871949"/>
                  </a:ext>
                </a:extLst>
              </a:tr>
              <a:tr h="53409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CLINICA REÑACA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54,3%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54,3%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20,4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10,2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Auditoría preventiva.</a:t>
                      </a:r>
                      <a:br>
                        <a:rPr lang="es-CL" sz="900" b="0" i="0" u="none" strike="noStrike">
                          <a:solidFill>
                            <a:schemeClr val="accent2"/>
                          </a:solidFill>
                          <a:effectLst/>
                          <a:latin typeface="Calibri" panose="020F0502020204030204" pitchFamily="34" charset="0"/>
                        </a:rPr>
                      </a:br>
                      <a:r>
                        <a:rPr lang="es-CL" sz="900" b="0" i="0" u="none" strike="noStrike">
                          <a:solidFill>
                            <a:schemeClr val="accent2"/>
                          </a:solidFill>
                          <a:effectLst/>
                          <a:latin typeface="Calibri" panose="020F0502020204030204" pitchFamily="34" charset="0"/>
                        </a:rPr>
                        <a:t>Contrato anual de mantenimiento.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18937019"/>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CENTRAL ODONTOLOGICA PRIMERA ZONA NAVAL VIÑA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58,6%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58,6%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Convenio institucional de mantenimiento y soporte especializado.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4530080"/>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CENT. ODONT. DE VALPARAISO 1° ZONA NAVAL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74,2%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74,2%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Programa preventivo anual y fortalecimiento de vínculo institucional.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69178676"/>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CLINICO IST VIÑA DEL MAR</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técnico y propuesta de cobertura preventiva.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196648"/>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5</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CESFAM RAUL SILVA HENRIQUEZ</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Gestión mediante ruta regional preventiva programada.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72749123"/>
                  </a:ext>
                </a:extLst>
              </a:tr>
              <a:tr h="53409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QUILLOTA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85,4%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84,0%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78,1%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5,9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de equipos.</a:t>
                      </a:r>
                      <a:br>
                        <a:rPr lang="es-CL" sz="900" b="0" i="0" u="none" strike="noStrike">
                          <a:solidFill>
                            <a:schemeClr val="accent2"/>
                          </a:solidFill>
                          <a:effectLst/>
                          <a:latin typeface="Calibri" panose="020F0502020204030204" pitchFamily="34" charset="0"/>
                        </a:rPr>
                      </a:br>
                      <a:r>
                        <a:rPr lang="es-CL" sz="900" b="0" i="0" u="none" strike="noStrike">
                          <a:solidFill>
                            <a:schemeClr val="accent2"/>
                          </a:solidFill>
                          <a:effectLst/>
                          <a:latin typeface="Calibri" panose="020F0502020204030204" pitchFamily="34" charset="0"/>
                        </a:rPr>
                        <a:t>Contrato parcial por criticidad.</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40122527"/>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CESFAM LLOLLEO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Cobertura preventiva mediante planificación de rutas.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29335852"/>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LA LIGUA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97,4%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62,1%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técnico y propuesta preventiva básica.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68128302"/>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9</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QUILPUE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71,9%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71,9%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Evaluación de cobertura y propuesta de mantenimiento anual.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87014905"/>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10</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HOSPITAL DE HANGA ROA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82,3%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4,1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Programa preventivo anual coordinado desde Santiago.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68996092"/>
                  </a:ext>
                </a:extLst>
              </a:tr>
              <a:tr h="325668">
                <a:tc>
                  <a:txBody>
                    <a:bodyPr/>
                    <a:lstStyle/>
                    <a:p>
                      <a:pPr algn="ctr" fontAlgn="b">
                        <a:buNone/>
                      </a:pPr>
                      <a:r>
                        <a:rPr lang="es-CL" sz="900" b="1" i="0" u="none" strike="noStrike" dirty="0">
                          <a:solidFill>
                            <a:schemeClr val="tx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12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76,3%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31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65,5%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50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69,2%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77,0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1" i="0" u="none" strike="noStrike">
                          <a:solidFill>
                            <a:schemeClr val="accent2"/>
                          </a:solidFill>
                          <a:effectLst/>
                          <a:latin typeface="Calibri" panose="020F0502020204030204" pitchFamily="34" charset="0"/>
                        </a:rPr>
                        <a:t>38,5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1" i="0" u="none" strike="noStrike" dirty="0">
                          <a:solidFill>
                            <a:schemeClr val="accent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95728688"/>
                  </a:ext>
                </a:extLst>
              </a:tr>
            </a:tbl>
          </a:graphicData>
        </a:graphic>
      </p:graphicFrame>
    </p:spTree>
    <p:extLst>
      <p:ext uri="{BB962C8B-B14F-4D97-AF65-F5344CB8AC3E}">
        <p14:creationId xmlns:p14="http://schemas.microsoft.com/office/powerpoint/2010/main" val="2906937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63006681-5E64-102B-1501-9E484FF0209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613F9459-3ACD-38EC-DB1D-59C5DE8CA5E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2 – Top según número de Camas</a:t>
            </a:r>
            <a:endParaRPr dirty="0"/>
          </a:p>
        </p:txBody>
      </p:sp>
      <p:graphicFrame>
        <p:nvGraphicFramePr>
          <p:cNvPr id="6" name="Tabla 5">
            <a:extLst>
              <a:ext uri="{FF2B5EF4-FFF2-40B4-BE49-F238E27FC236}">
                <a16:creationId xmlns:a16="http://schemas.microsoft.com/office/drawing/2014/main" id="{0F7D89FB-7D62-8A38-CD5A-689379CD97DA}"/>
              </a:ext>
            </a:extLst>
          </p:cNvPr>
          <p:cNvGraphicFramePr>
            <a:graphicFrameLocks noGrp="1"/>
          </p:cNvGraphicFramePr>
          <p:nvPr>
            <p:extLst>
              <p:ext uri="{D42A27DB-BD31-4B8C-83A1-F6EECF244321}">
                <p14:modId xmlns:p14="http://schemas.microsoft.com/office/powerpoint/2010/main" val="2973575316"/>
              </p:ext>
            </p:extLst>
          </p:nvPr>
        </p:nvGraphicFramePr>
        <p:xfrm>
          <a:off x="265050" y="819001"/>
          <a:ext cx="11687300" cy="5239374"/>
        </p:xfrm>
        <a:graphic>
          <a:graphicData uri="http://schemas.openxmlformats.org/drawingml/2006/table">
            <a:tbl>
              <a:tblPr/>
              <a:tblGrid>
                <a:gridCol w="224259">
                  <a:extLst>
                    <a:ext uri="{9D8B030D-6E8A-4147-A177-3AD203B41FA5}">
                      <a16:colId xmlns:a16="http://schemas.microsoft.com/office/drawing/2014/main" val="2001093109"/>
                    </a:ext>
                  </a:extLst>
                </a:gridCol>
                <a:gridCol w="2121827">
                  <a:extLst>
                    <a:ext uri="{9D8B030D-6E8A-4147-A177-3AD203B41FA5}">
                      <a16:colId xmlns:a16="http://schemas.microsoft.com/office/drawing/2014/main" val="1765677450"/>
                    </a:ext>
                  </a:extLst>
                </a:gridCol>
                <a:gridCol w="853906">
                  <a:extLst>
                    <a:ext uri="{9D8B030D-6E8A-4147-A177-3AD203B41FA5}">
                      <a16:colId xmlns:a16="http://schemas.microsoft.com/office/drawing/2014/main" val="4224294003"/>
                    </a:ext>
                  </a:extLst>
                </a:gridCol>
                <a:gridCol w="767654">
                  <a:extLst>
                    <a:ext uri="{9D8B030D-6E8A-4147-A177-3AD203B41FA5}">
                      <a16:colId xmlns:a16="http://schemas.microsoft.com/office/drawing/2014/main" val="780577230"/>
                    </a:ext>
                  </a:extLst>
                </a:gridCol>
                <a:gridCol w="845281">
                  <a:extLst>
                    <a:ext uri="{9D8B030D-6E8A-4147-A177-3AD203B41FA5}">
                      <a16:colId xmlns:a16="http://schemas.microsoft.com/office/drawing/2014/main" val="2754551449"/>
                    </a:ext>
                  </a:extLst>
                </a:gridCol>
                <a:gridCol w="405389">
                  <a:extLst>
                    <a:ext uri="{9D8B030D-6E8A-4147-A177-3AD203B41FA5}">
                      <a16:colId xmlns:a16="http://schemas.microsoft.com/office/drawing/2014/main" val="13706947"/>
                    </a:ext>
                  </a:extLst>
                </a:gridCol>
                <a:gridCol w="672774">
                  <a:extLst>
                    <a:ext uri="{9D8B030D-6E8A-4147-A177-3AD203B41FA5}">
                      <a16:colId xmlns:a16="http://schemas.microsoft.com/office/drawing/2014/main" val="5409698"/>
                    </a:ext>
                  </a:extLst>
                </a:gridCol>
                <a:gridCol w="629648">
                  <a:extLst>
                    <a:ext uri="{9D8B030D-6E8A-4147-A177-3AD203B41FA5}">
                      <a16:colId xmlns:a16="http://schemas.microsoft.com/office/drawing/2014/main" val="233010806"/>
                    </a:ext>
                  </a:extLst>
                </a:gridCol>
                <a:gridCol w="3495212">
                  <a:extLst>
                    <a:ext uri="{9D8B030D-6E8A-4147-A177-3AD203B41FA5}">
                      <a16:colId xmlns:a16="http://schemas.microsoft.com/office/drawing/2014/main" val="4075589514"/>
                    </a:ext>
                  </a:extLst>
                </a:gridCol>
                <a:gridCol w="1671350">
                  <a:extLst>
                    <a:ext uri="{9D8B030D-6E8A-4147-A177-3AD203B41FA5}">
                      <a16:colId xmlns:a16="http://schemas.microsoft.com/office/drawing/2014/main" val="3050580709"/>
                    </a:ext>
                  </a:extLst>
                </a:gridCol>
              </a:tblGrid>
              <a:tr h="193183">
                <a:tc>
                  <a:txBody>
                    <a:bodyPr/>
                    <a:lstStyle/>
                    <a:p>
                      <a:pPr algn="l" fontAlgn="ctr">
                        <a:buNone/>
                      </a:pPr>
                      <a:r>
                        <a:rPr lang="es-CL" sz="700" b="1" i="0" u="none" strike="noStrike" dirty="0">
                          <a:solidFill>
                            <a:schemeClr val="tx2"/>
                          </a:solidFill>
                          <a:effectLst/>
                          <a:latin typeface="Calibri" panose="020F0502020204030204" pitchFamily="34" charset="0"/>
                        </a:rPr>
                        <a:t>#</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Cliente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Comuna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1ª visita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Fuente 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Pot. ST anual MM$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Plan</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12980063"/>
                  </a:ext>
                </a:extLst>
              </a:tr>
              <a:tr h="428956">
                <a:tc>
                  <a:txBody>
                    <a:bodyPr/>
                    <a:lstStyle/>
                    <a:p>
                      <a:pPr algn="l" fontAlgn="t">
                        <a:buNone/>
                      </a:pPr>
                      <a:r>
                        <a:rPr lang="es-CL" sz="700" b="0" i="0" u="none" strike="noStrike" dirty="0">
                          <a:solidFill>
                            <a:schemeClr val="tx2"/>
                          </a:solidFill>
                          <a:effectLst/>
                          <a:latin typeface="Calibri" panose="020F0502020204030204" pitchFamily="34" charset="0"/>
                        </a:rPr>
                        <a:t>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PSIQUIATRICO DR. PHILIPPE PINEL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Putaendo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354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7104177"/>
                  </a:ext>
                </a:extLst>
              </a:tr>
              <a:tr h="258805">
                <a:tc>
                  <a:txBody>
                    <a:bodyPr/>
                    <a:lstStyle/>
                    <a:p>
                      <a:pPr algn="l" fontAlgn="t">
                        <a:buNone/>
                      </a:pPr>
                      <a:r>
                        <a:rPr lang="es-CL" sz="700" b="0" i="0" u="none" strike="noStrike">
                          <a:solidFill>
                            <a:schemeClr val="tx2"/>
                          </a:solidFill>
                          <a:effectLst/>
                          <a:latin typeface="Calibri" panose="020F0502020204030204" pitchFamily="34" charset="0"/>
                        </a:rPr>
                        <a:t>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CLINICA LOS CARRERA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Quilpué</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158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64989220"/>
                  </a:ext>
                </a:extLst>
              </a:tr>
              <a:tr h="258805">
                <a:tc>
                  <a:txBody>
                    <a:bodyPr/>
                    <a:lstStyle/>
                    <a:p>
                      <a:pPr algn="l" fontAlgn="t">
                        <a:buNone/>
                      </a:pPr>
                      <a:r>
                        <a:rPr lang="es-CL" sz="700" b="0" i="0" u="none" strike="noStrike">
                          <a:solidFill>
                            <a:schemeClr val="tx2"/>
                          </a:solidFill>
                          <a:effectLst/>
                          <a:latin typeface="Calibri" panose="020F0502020204030204" pitchFamily="34" charset="0"/>
                        </a:rPr>
                        <a:t>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QUILPUE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Quilpué</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156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Completo de Equipos según los servicios ofrecidos por TS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35487565"/>
                  </a:ext>
                </a:extLst>
              </a:tr>
              <a:tr h="428956">
                <a:tc>
                  <a:txBody>
                    <a:bodyPr/>
                    <a:lstStyle/>
                    <a:p>
                      <a:pPr algn="l" fontAlgn="t">
                        <a:buNone/>
                      </a:pPr>
                      <a:r>
                        <a:rPr lang="es-CL" sz="700" b="0" i="0" u="none" strike="noStrike">
                          <a:solidFill>
                            <a:schemeClr val="tx2"/>
                          </a:solidFill>
                          <a:effectLst/>
                          <a:latin typeface="Calibri" panose="020F0502020204030204" pitchFamily="34" charset="0"/>
                        </a:rPr>
                        <a:t>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PEÑABLANCA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Villa Alemana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108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0624698"/>
                  </a:ext>
                </a:extLst>
              </a:tr>
              <a:tr h="258805">
                <a:tc>
                  <a:txBody>
                    <a:bodyPr/>
                    <a:lstStyle/>
                    <a:p>
                      <a:pPr algn="l" fontAlgn="t">
                        <a:buNone/>
                      </a:pPr>
                      <a:r>
                        <a:rPr lang="es-CL" sz="700" b="0" i="0" u="none" strike="noStrike">
                          <a:solidFill>
                            <a:schemeClr val="tx2"/>
                          </a:solidFill>
                          <a:effectLst/>
                          <a:latin typeface="Calibri" panose="020F0502020204030204" pitchFamily="34" charset="0"/>
                        </a:rPr>
                        <a:t>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PROVINCIAL MARGA MARGA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103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8368678"/>
                  </a:ext>
                </a:extLst>
              </a:tr>
              <a:tr h="258805">
                <a:tc>
                  <a:txBody>
                    <a:bodyPr/>
                    <a:lstStyle/>
                    <a:p>
                      <a:pPr algn="l" fontAlgn="t">
                        <a:buNone/>
                      </a:pPr>
                      <a:r>
                        <a:rPr lang="es-CL" sz="700" b="0" i="0" u="none" strike="noStrike">
                          <a:solidFill>
                            <a:schemeClr val="tx2"/>
                          </a:solidFill>
                          <a:effectLst/>
                          <a:latin typeface="Calibri" panose="020F0502020204030204" pitchFamily="34" charset="0"/>
                        </a:rPr>
                        <a:t>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CLINICO VINA DEL MAR S 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Viña del Mar</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93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4398025"/>
                  </a:ext>
                </a:extLst>
              </a:tr>
              <a:tr h="258805">
                <a:tc>
                  <a:txBody>
                    <a:bodyPr/>
                    <a:lstStyle/>
                    <a:p>
                      <a:pPr algn="l" fontAlgn="t">
                        <a:buNone/>
                      </a:pPr>
                      <a:r>
                        <a:rPr lang="es-CL" sz="700" b="0" i="0" u="none" strike="noStrike">
                          <a:solidFill>
                            <a:schemeClr val="tx2"/>
                          </a:solidFill>
                          <a:effectLst/>
                          <a:latin typeface="Calibri" panose="020F0502020204030204" pitchFamily="34" charset="0"/>
                        </a:rPr>
                        <a:t>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INSTITUTO DE SEGURIDAD DEL TRABAJO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Viña del Mar</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83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95285940"/>
                  </a:ext>
                </a:extLst>
              </a:tr>
              <a:tr h="428956">
                <a:tc>
                  <a:txBody>
                    <a:bodyPr/>
                    <a:lstStyle/>
                    <a:p>
                      <a:pPr algn="l" fontAlgn="t">
                        <a:buNone/>
                      </a:pPr>
                      <a:r>
                        <a:rPr lang="es-CL" sz="700" b="0" i="0" u="none" strike="noStrike">
                          <a:solidFill>
                            <a:schemeClr val="tx2"/>
                          </a:solidFill>
                          <a:effectLst/>
                          <a:latin typeface="Calibri" panose="020F0502020204030204" pitchFamily="34" charset="0"/>
                        </a:rPr>
                        <a:t>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CLINICA PINARES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63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6783829"/>
                  </a:ext>
                </a:extLst>
              </a:tr>
              <a:tr h="428956">
                <a:tc>
                  <a:txBody>
                    <a:bodyPr/>
                    <a:lstStyle/>
                    <a:p>
                      <a:pPr algn="l" fontAlgn="t">
                        <a:buNone/>
                      </a:pPr>
                      <a:r>
                        <a:rPr lang="es-CL" sz="700" b="0" i="0" u="none" strike="noStrike">
                          <a:solidFill>
                            <a:schemeClr val="tx2"/>
                          </a:solidFill>
                          <a:effectLst/>
                          <a:latin typeface="Calibri" panose="020F0502020204030204" pitchFamily="34" charset="0"/>
                        </a:rPr>
                        <a:t>9</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 AGUSTIN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La Ligua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79777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SANTO TOMAS DE 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47397755"/>
                  </a:ext>
                </a:extLst>
              </a:tr>
              <a:tr h="428956">
                <a:tc>
                  <a:txBody>
                    <a:bodyPr/>
                    <a:lstStyle/>
                    <a:p>
                      <a:pPr algn="l" fontAlgn="t">
                        <a:buNone/>
                      </a:pPr>
                      <a:r>
                        <a:rPr lang="es-CL" sz="700" b="0" i="0" u="none" strike="noStrike">
                          <a:solidFill>
                            <a:schemeClr val="tx2"/>
                          </a:solidFill>
                          <a:effectLst/>
                          <a:latin typeface="Calibri" panose="020F0502020204030204" pitchFamily="34" charset="0"/>
                        </a:rPr>
                        <a:t>11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70478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QUINTEROS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Quintero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62191090"/>
                  </a:ext>
                </a:extLst>
              </a:tr>
              <a:tr h="258805">
                <a:tc>
                  <a:txBody>
                    <a:bodyPr/>
                    <a:lstStyle/>
                    <a:p>
                      <a:pPr algn="l" fontAlgn="t">
                        <a:buNone/>
                      </a:pPr>
                      <a:r>
                        <a:rPr lang="es-CL" sz="700" b="0" i="0" u="none" strike="noStrike">
                          <a:solidFill>
                            <a:schemeClr val="tx2"/>
                          </a:solidFill>
                          <a:effectLst/>
                          <a:latin typeface="Calibri" panose="020F0502020204030204" pitchFamily="34" charset="0"/>
                        </a:rPr>
                        <a:t>13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CABILDO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Cabildo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368506"/>
                  </a:ext>
                </a:extLst>
              </a:tr>
              <a:tr h="98580">
                <a:tc>
                  <a:txBody>
                    <a:bodyPr/>
                    <a:lstStyle/>
                    <a:p>
                      <a:pPr algn="l" fontAlgn="t">
                        <a:buNone/>
                      </a:pPr>
                      <a:r>
                        <a:rPr lang="es-CL" sz="700" b="0" i="0" u="none" strike="noStrike">
                          <a:solidFill>
                            <a:schemeClr val="tx2"/>
                          </a:solidFill>
                          <a:effectLst/>
                          <a:latin typeface="Calibri" panose="020F0502020204030204" pitchFamily="34" charset="0"/>
                        </a:rPr>
                        <a:t>14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HANGA ROA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Isla de Pascua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Viaje aparte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Viaje aparte, visita comercial</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64288"/>
                  </a:ext>
                </a:extLst>
              </a:tr>
              <a:tr h="193183">
                <a:tc>
                  <a:txBody>
                    <a:bodyPr/>
                    <a:lstStyle/>
                    <a:p>
                      <a:pPr algn="l" fontAlgn="t">
                        <a:buNone/>
                      </a:pPr>
                      <a:r>
                        <a:rPr lang="es-CL" sz="700" b="0" i="0" u="none" strike="noStrike">
                          <a:solidFill>
                            <a:schemeClr val="tx2"/>
                          </a:solidFill>
                          <a:effectLst/>
                          <a:latin typeface="Calibri" panose="020F0502020204030204" pitchFamily="34" charset="0"/>
                        </a:rPr>
                        <a:t>15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SAN JOSE DE CASA 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Casablanca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Plan de </a:t>
                      </a:r>
                      <a:r>
                        <a:rPr lang="es-CL" sz="700" b="0" i="0" u="none" strike="noStrike" dirty="0" err="1">
                          <a:solidFill>
                            <a:schemeClr val="tx2"/>
                          </a:solidFill>
                          <a:effectLst/>
                          <a:latin typeface="Calibri" panose="020F0502020204030204" pitchFamily="34" charset="0"/>
                        </a:rPr>
                        <a:t>manteniemiento</a:t>
                      </a:r>
                      <a:r>
                        <a:rPr lang="es-CL" sz="700" b="0" i="0" u="none" strike="noStrike" dirty="0">
                          <a:solidFill>
                            <a:schemeClr val="tx2"/>
                          </a:solidFill>
                          <a:effectLst/>
                          <a:latin typeface="Calibri" panose="020F0502020204030204" pitchFamily="34" charset="0"/>
                        </a:rPr>
                        <a:t> por equipos dentales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8856939"/>
                  </a:ext>
                </a:extLst>
              </a:tr>
              <a:tr h="89532">
                <a:tc>
                  <a:txBody>
                    <a:bodyPr/>
                    <a:lstStyle/>
                    <a:p>
                      <a:pPr algn="l" fontAlgn="t">
                        <a:buNone/>
                      </a:pPr>
                      <a:r>
                        <a:rPr lang="es-CL" sz="700" b="0" i="0" u="none" strike="noStrike" dirty="0">
                          <a:solidFill>
                            <a:schemeClr val="tx2"/>
                          </a:solidFill>
                          <a:effectLst/>
                          <a:latin typeface="Calibri" panose="020F0502020204030204" pitchFamily="34" charset="0"/>
                        </a:rPr>
                        <a:t>Total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tx2"/>
                          </a:solidFill>
                          <a:effectLst/>
                          <a:latin typeface="Calibri" panose="020F0502020204030204" pitchFamily="34" charset="0"/>
                        </a:rPr>
                        <a:t>31,9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27307879"/>
                  </a:ext>
                </a:extLst>
              </a:tr>
            </a:tbl>
          </a:graphicData>
        </a:graphic>
      </p:graphicFrame>
      <p:sp>
        <p:nvSpPr>
          <p:cNvPr id="8" name="Rectángulo 7">
            <a:extLst>
              <a:ext uri="{FF2B5EF4-FFF2-40B4-BE49-F238E27FC236}">
                <a16:creationId xmlns:a16="http://schemas.microsoft.com/office/drawing/2014/main" id="{1FE12B2D-60A0-8F28-2565-241C9C9EDB65}"/>
              </a:ext>
            </a:extLst>
          </p:cNvPr>
          <p:cNvSpPr/>
          <p:nvPr/>
        </p:nvSpPr>
        <p:spPr>
          <a:xfrm>
            <a:off x="265050" y="6129000"/>
            <a:ext cx="11769034" cy="546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plan incluye dos premisas principales: Levantamiento de equipos completos del hospital/clínica para hacer un plan de mantenimiento completo “en pack” y además</a:t>
            </a:r>
            <a:r>
              <a:rPr lang="es-CL" sz="900" dirty="0">
                <a:solidFill>
                  <a:schemeClr val="tx2"/>
                </a:solidFill>
              </a:rPr>
              <a:t> levantamiento si la base instalada sigue siendo utilizada según antigüedad de la vida </a:t>
            </a:r>
            <a:r>
              <a:rPr lang="es-CL" sz="900" dirty="0" err="1">
                <a:solidFill>
                  <a:schemeClr val="tx2"/>
                </a:solidFill>
              </a:rPr>
              <a:t>útil</a:t>
            </a:r>
            <a:r>
              <a:rPr lang="es-CL" sz="900" dirty="0" err="1">
                <a:solidFill>
                  <a:schemeClr val="tx1"/>
                </a:solidFill>
              </a:rPr>
              <a:t>DF</a:t>
            </a:r>
            <a:endParaRPr lang="es-MX" sz="900" dirty="0">
              <a:solidFill>
                <a:schemeClr val="tx2"/>
              </a:solidFill>
            </a:endParaRPr>
          </a:p>
        </p:txBody>
      </p:sp>
    </p:spTree>
    <p:extLst>
      <p:ext uri="{BB962C8B-B14F-4D97-AF65-F5344CB8AC3E}">
        <p14:creationId xmlns:p14="http://schemas.microsoft.com/office/powerpoint/2010/main" val="34033975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8F12B10F-FA45-A319-5F7E-B2097CC4D32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7DC661D5-2641-166C-4D82-11C0A6D07B2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3 – Clientes Valparaíso</a:t>
            </a:r>
            <a:endParaRPr dirty="0"/>
          </a:p>
        </p:txBody>
      </p:sp>
      <p:sp>
        <p:nvSpPr>
          <p:cNvPr id="5" name="Triángulo isósceles 4">
            <a:extLst>
              <a:ext uri="{FF2B5EF4-FFF2-40B4-BE49-F238E27FC236}">
                <a16:creationId xmlns:a16="http://schemas.microsoft.com/office/drawing/2014/main" id="{D6A17410-AB89-A50F-79A5-B07ECBA513CA}"/>
              </a:ext>
            </a:extLst>
          </p:cNvPr>
          <p:cNvSpPr/>
          <p:nvPr/>
        </p:nvSpPr>
        <p:spPr>
          <a:xfrm rot="5400000">
            <a:off x="3778500" y="26415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AF5CFED-C476-DB93-33A7-4D27B7101DE2}"/>
              </a:ext>
            </a:extLst>
          </p:cNvPr>
          <p:cNvSpPr/>
          <p:nvPr/>
        </p:nvSpPr>
        <p:spPr>
          <a:xfrm>
            <a:off x="559084" y="5448029"/>
            <a:ext cx="11430000" cy="4197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40 clientes del grupo 3 a visitar, mas 15 del Grupo 2 </a:t>
            </a:r>
          </a:p>
        </p:txBody>
      </p:sp>
      <p:sp>
        <p:nvSpPr>
          <p:cNvPr id="13" name="Triángulo isósceles 12">
            <a:extLst>
              <a:ext uri="{FF2B5EF4-FFF2-40B4-BE49-F238E27FC236}">
                <a16:creationId xmlns:a16="http://schemas.microsoft.com/office/drawing/2014/main" id="{9DA28DD3-3E24-FB65-7896-3E81D06FF3D6}"/>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7" name="Imagen 6">
            <a:extLst>
              <a:ext uri="{FF2B5EF4-FFF2-40B4-BE49-F238E27FC236}">
                <a16:creationId xmlns:a16="http://schemas.microsoft.com/office/drawing/2014/main" id="{85EA001C-18B9-82B0-2809-BE0CE5DE3377}"/>
              </a:ext>
            </a:extLst>
          </p:cNvPr>
          <p:cNvPicPr>
            <a:picLocks noChangeAspect="1"/>
          </p:cNvPicPr>
          <p:nvPr/>
        </p:nvPicPr>
        <p:blipFill>
          <a:blip r:embed="rId3"/>
          <a:stretch>
            <a:fillRect/>
          </a:stretch>
        </p:blipFill>
        <p:spPr>
          <a:xfrm>
            <a:off x="573729" y="989966"/>
            <a:ext cx="3418505" cy="4065950"/>
          </a:xfrm>
          <a:prstGeom prst="rect">
            <a:avLst/>
          </a:prstGeom>
        </p:spPr>
      </p:pic>
      <p:pic>
        <p:nvPicPr>
          <p:cNvPr id="14" name="Imagen 13">
            <a:extLst>
              <a:ext uri="{FF2B5EF4-FFF2-40B4-BE49-F238E27FC236}">
                <a16:creationId xmlns:a16="http://schemas.microsoft.com/office/drawing/2014/main" id="{851CACBC-0C04-6135-8A8C-2371F29D721A}"/>
              </a:ext>
            </a:extLst>
          </p:cNvPr>
          <p:cNvPicPr>
            <a:picLocks noChangeAspect="1"/>
          </p:cNvPicPr>
          <p:nvPr/>
        </p:nvPicPr>
        <p:blipFill>
          <a:blip r:embed="rId4"/>
          <a:stretch>
            <a:fillRect/>
          </a:stretch>
        </p:blipFill>
        <p:spPr>
          <a:xfrm>
            <a:off x="5074580" y="989965"/>
            <a:ext cx="6764059" cy="4065951"/>
          </a:xfrm>
          <a:prstGeom prst="rect">
            <a:avLst/>
          </a:prstGeom>
        </p:spPr>
      </p:pic>
    </p:spTree>
    <p:extLst>
      <p:ext uri="{BB962C8B-B14F-4D97-AF65-F5344CB8AC3E}">
        <p14:creationId xmlns:p14="http://schemas.microsoft.com/office/powerpoint/2010/main" val="13752505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BA8679A5-9A4F-C64E-2172-5758B6E493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54C4C19-D56F-CF04-2635-5867054353B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Región Metropolitana</a:t>
            </a:r>
            <a:endParaRPr dirty="0"/>
          </a:p>
        </p:txBody>
      </p:sp>
      <p:sp>
        <p:nvSpPr>
          <p:cNvPr id="31" name="Rectángulo 30">
            <a:extLst>
              <a:ext uri="{FF2B5EF4-FFF2-40B4-BE49-F238E27FC236}">
                <a16:creationId xmlns:a16="http://schemas.microsoft.com/office/drawing/2014/main" id="{78AFE1EC-12B5-57C5-9649-3432E5C8E91D}"/>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A5ADBE80-21A5-1B76-954A-83260D4A9511}"/>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F6572F1A-CF38-50E0-AC6C-BDAE99789FDB}"/>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8" name="Rectángulo 7">
            <a:extLst>
              <a:ext uri="{FF2B5EF4-FFF2-40B4-BE49-F238E27FC236}">
                <a16:creationId xmlns:a16="http://schemas.microsoft.com/office/drawing/2014/main" id="{C80DFCBD-F36C-196D-C1BD-2EE6600326B5}"/>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803,7</a:t>
            </a:r>
          </a:p>
          <a:p>
            <a:pPr marL="171450" indent="-171450">
              <a:buFont typeface="Arial" panose="020B0604020202020204" pitchFamily="34" charset="0"/>
              <a:buChar char="•"/>
            </a:pPr>
            <a:r>
              <a:rPr lang="es-MX" sz="900" b="1" dirty="0">
                <a:solidFill>
                  <a:schemeClr val="tx2"/>
                </a:solidFill>
              </a:rPr>
              <a:t># Clientes: 270</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E8BB6D2B-E3DC-CC9F-02C4-D8F3D8B24140}"/>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F82CB7B-E167-5543-705A-383DB49D5E24}"/>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FC4949FD-3DC1-60FA-FBFB-11E79701E22F}"/>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270 clientes.</a:t>
            </a:r>
          </a:p>
          <a:p>
            <a:pPr marL="171450" lvl="1" indent="-171450">
              <a:buFont typeface="Arial" panose="020B0604020202020204" pitchFamily="34" charset="0"/>
              <a:buChar char="•"/>
            </a:pPr>
            <a:r>
              <a:rPr lang="es-MX" sz="900" dirty="0">
                <a:solidFill>
                  <a:schemeClr val="tx2"/>
                </a:solidFill>
              </a:rPr>
              <a:t>La distribución o asignación de clientes se realiza en base a las carteras ya definidas (por comuna) para </a:t>
            </a:r>
            <a:r>
              <a:rPr lang="es-MX" sz="900" dirty="0" err="1">
                <a:solidFill>
                  <a:schemeClr val="tx2"/>
                </a:solidFill>
              </a:rPr>
              <a:t>Eglys</a:t>
            </a:r>
            <a:r>
              <a:rPr lang="es-MX" sz="900" dirty="0">
                <a:solidFill>
                  <a:schemeClr val="tx2"/>
                </a:solidFill>
              </a:rPr>
              <a:t> Ramírez y Cristian Pérez. </a:t>
            </a:r>
          </a:p>
        </p:txBody>
      </p:sp>
      <p:sp>
        <p:nvSpPr>
          <p:cNvPr id="3" name="Rectángulo 2">
            <a:extLst>
              <a:ext uri="{FF2B5EF4-FFF2-40B4-BE49-F238E27FC236}">
                <a16:creationId xmlns:a16="http://schemas.microsoft.com/office/drawing/2014/main" id="{4739562D-3A05-5EBD-A7B3-C01052B1D7EC}"/>
              </a:ext>
            </a:extLst>
          </p:cNvPr>
          <p:cNvSpPr/>
          <p:nvPr/>
        </p:nvSpPr>
        <p:spPr>
          <a:xfrm>
            <a:off x="3460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MM$260,1</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endParaRPr lang="es-CL" sz="1050" b="1" dirty="0">
              <a:solidFill>
                <a:schemeClr val="tx1"/>
              </a:solidFill>
            </a:endParaRPr>
          </a:p>
        </p:txBody>
      </p:sp>
      <p:sp>
        <p:nvSpPr>
          <p:cNvPr id="5" name="Rectángulo 4">
            <a:extLst>
              <a:ext uri="{FF2B5EF4-FFF2-40B4-BE49-F238E27FC236}">
                <a16:creationId xmlns:a16="http://schemas.microsoft.com/office/drawing/2014/main" id="{90A3BBCB-63DD-0BE3-EEE4-2845CEAFDE2B}"/>
              </a:ext>
            </a:extLst>
          </p:cNvPr>
          <p:cNvSpPr/>
          <p:nvPr/>
        </p:nvSpPr>
        <p:spPr>
          <a:xfrm>
            <a:off x="17584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MM$42,6</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7" name="Rectángulo 6">
            <a:extLst>
              <a:ext uri="{FF2B5EF4-FFF2-40B4-BE49-F238E27FC236}">
                <a16:creationId xmlns:a16="http://schemas.microsoft.com/office/drawing/2014/main" id="{908E518B-D9D0-9461-B5DA-D63E37A6465D}"/>
              </a:ext>
            </a:extLst>
          </p:cNvPr>
          <p:cNvSpPr/>
          <p:nvPr/>
        </p:nvSpPr>
        <p:spPr>
          <a:xfrm>
            <a:off x="3170816" y="2079463"/>
            <a:ext cx="19902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MM$501,0</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pic>
        <p:nvPicPr>
          <p:cNvPr id="4" name="Imagen 3">
            <a:extLst>
              <a:ext uri="{FF2B5EF4-FFF2-40B4-BE49-F238E27FC236}">
                <a16:creationId xmlns:a16="http://schemas.microsoft.com/office/drawing/2014/main" id="{658AE45A-8D61-8130-A7DF-01F128A1AE4E}"/>
              </a:ext>
            </a:extLst>
          </p:cNvPr>
          <p:cNvPicPr>
            <a:picLocks noChangeAspect="1"/>
          </p:cNvPicPr>
          <p:nvPr/>
        </p:nvPicPr>
        <p:blipFill>
          <a:blip r:embed="rId3"/>
          <a:srcRect t="15976" b="15977"/>
          <a:stretch>
            <a:fillRect/>
          </a:stretch>
        </p:blipFill>
        <p:spPr>
          <a:xfrm>
            <a:off x="1599761" y="4025101"/>
            <a:ext cx="10217134" cy="2715184"/>
          </a:xfrm>
          <a:prstGeom prst="rect">
            <a:avLst/>
          </a:prstGeom>
        </p:spPr>
      </p:pic>
    </p:spTree>
    <p:extLst>
      <p:ext uri="{BB962C8B-B14F-4D97-AF65-F5344CB8AC3E}">
        <p14:creationId xmlns:p14="http://schemas.microsoft.com/office/powerpoint/2010/main" val="2650193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908A2BA0-C668-4733-25E1-FFC9E0F21F9E}"/>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1FF4FF3E-9CE0-8094-D8E2-79A67D4FD7F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1 – Top según Potencial</a:t>
            </a:r>
            <a:endParaRPr dirty="0"/>
          </a:p>
        </p:txBody>
      </p:sp>
      <p:graphicFrame>
        <p:nvGraphicFramePr>
          <p:cNvPr id="3" name="Tabla 2">
            <a:extLst>
              <a:ext uri="{FF2B5EF4-FFF2-40B4-BE49-F238E27FC236}">
                <a16:creationId xmlns:a16="http://schemas.microsoft.com/office/drawing/2014/main" id="{6BD46753-8F4F-6A29-55CF-80E7A579D8CD}"/>
              </a:ext>
            </a:extLst>
          </p:cNvPr>
          <p:cNvGraphicFramePr>
            <a:graphicFrameLocks noGrp="1"/>
          </p:cNvGraphicFramePr>
          <p:nvPr>
            <p:extLst>
              <p:ext uri="{D42A27DB-BD31-4B8C-83A1-F6EECF244321}">
                <p14:modId xmlns:p14="http://schemas.microsoft.com/office/powerpoint/2010/main" val="3936075952"/>
              </p:ext>
            </p:extLst>
          </p:nvPr>
        </p:nvGraphicFramePr>
        <p:xfrm>
          <a:off x="201000" y="818999"/>
          <a:ext cx="11745000" cy="5856288"/>
        </p:xfrm>
        <a:graphic>
          <a:graphicData uri="http://schemas.openxmlformats.org/drawingml/2006/table">
            <a:tbl>
              <a:tblPr/>
              <a:tblGrid>
                <a:gridCol w="415329">
                  <a:extLst>
                    <a:ext uri="{9D8B030D-6E8A-4147-A177-3AD203B41FA5}">
                      <a16:colId xmlns:a16="http://schemas.microsoft.com/office/drawing/2014/main" val="18174365"/>
                    </a:ext>
                  </a:extLst>
                </a:gridCol>
                <a:gridCol w="1884951">
                  <a:extLst>
                    <a:ext uri="{9D8B030D-6E8A-4147-A177-3AD203B41FA5}">
                      <a16:colId xmlns:a16="http://schemas.microsoft.com/office/drawing/2014/main" val="452569541"/>
                    </a:ext>
                  </a:extLst>
                </a:gridCol>
                <a:gridCol w="495199">
                  <a:extLst>
                    <a:ext uri="{9D8B030D-6E8A-4147-A177-3AD203B41FA5}">
                      <a16:colId xmlns:a16="http://schemas.microsoft.com/office/drawing/2014/main" val="3775602071"/>
                    </a:ext>
                  </a:extLst>
                </a:gridCol>
                <a:gridCol w="497195">
                  <a:extLst>
                    <a:ext uri="{9D8B030D-6E8A-4147-A177-3AD203B41FA5}">
                      <a16:colId xmlns:a16="http://schemas.microsoft.com/office/drawing/2014/main" val="2794059284"/>
                    </a:ext>
                  </a:extLst>
                </a:gridCol>
                <a:gridCol w="495199">
                  <a:extLst>
                    <a:ext uri="{9D8B030D-6E8A-4147-A177-3AD203B41FA5}">
                      <a16:colId xmlns:a16="http://schemas.microsoft.com/office/drawing/2014/main" val="2202799446"/>
                    </a:ext>
                  </a:extLst>
                </a:gridCol>
                <a:gridCol w="497195">
                  <a:extLst>
                    <a:ext uri="{9D8B030D-6E8A-4147-A177-3AD203B41FA5}">
                      <a16:colId xmlns:a16="http://schemas.microsoft.com/office/drawing/2014/main" val="1319033109"/>
                    </a:ext>
                  </a:extLst>
                </a:gridCol>
                <a:gridCol w="495199">
                  <a:extLst>
                    <a:ext uri="{9D8B030D-6E8A-4147-A177-3AD203B41FA5}">
                      <a16:colId xmlns:a16="http://schemas.microsoft.com/office/drawing/2014/main" val="1371427262"/>
                    </a:ext>
                  </a:extLst>
                </a:gridCol>
                <a:gridCol w="497195">
                  <a:extLst>
                    <a:ext uri="{9D8B030D-6E8A-4147-A177-3AD203B41FA5}">
                      <a16:colId xmlns:a16="http://schemas.microsoft.com/office/drawing/2014/main" val="3122706052"/>
                    </a:ext>
                  </a:extLst>
                </a:gridCol>
                <a:gridCol w="583058">
                  <a:extLst>
                    <a:ext uri="{9D8B030D-6E8A-4147-A177-3AD203B41FA5}">
                      <a16:colId xmlns:a16="http://schemas.microsoft.com/office/drawing/2014/main" val="4137992039"/>
                    </a:ext>
                  </a:extLst>
                </a:gridCol>
                <a:gridCol w="581060">
                  <a:extLst>
                    <a:ext uri="{9D8B030D-6E8A-4147-A177-3AD203B41FA5}">
                      <a16:colId xmlns:a16="http://schemas.microsoft.com/office/drawing/2014/main" val="4058666224"/>
                    </a:ext>
                  </a:extLst>
                </a:gridCol>
                <a:gridCol w="878578">
                  <a:extLst>
                    <a:ext uri="{9D8B030D-6E8A-4147-A177-3AD203B41FA5}">
                      <a16:colId xmlns:a16="http://schemas.microsoft.com/office/drawing/2014/main" val="174517584"/>
                    </a:ext>
                  </a:extLst>
                </a:gridCol>
                <a:gridCol w="878578">
                  <a:extLst>
                    <a:ext uri="{9D8B030D-6E8A-4147-A177-3AD203B41FA5}">
                      <a16:colId xmlns:a16="http://schemas.microsoft.com/office/drawing/2014/main" val="2849187737"/>
                    </a:ext>
                  </a:extLst>
                </a:gridCol>
                <a:gridCol w="1964821">
                  <a:extLst>
                    <a:ext uri="{9D8B030D-6E8A-4147-A177-3AD203B41FA5}">
                      <a16:colId xmlns:a16="http://schemas.microsoft.com/office/drawing/2014/main" val="365430939"/>
                    </a:ext>
                  </a:extLst>
                </a:gridCol>
                <a:gridCol w="782735">
                  <a:extLst>
                    <a:ext uri="{9D8B030D-6E8A-4147-A177-3AD203B41FA5}">
                      <a16:colId xmlns:a16="http://schemas.microsoft.com/office/drawing/2014/main" val="4087326839"/>
                    </a:ext>
                  </a:extLst>
                </a:gridCol>
                <a:gridCol w="798708">
                  <a:extLst>
                    <a:ext uri="{9D8B030D-6E8A-4147-A177-3AD203B41FA5}">
                      <a16:colId xmlns:a16="http://schemas.microsoft.com/office/drawing/2014/main" val="3077258236"/>
                    </a:ext>
                  </a:extLst>
                </a:gridCol>
              </a:tblGrid>
              <a:tr h="262105">
                <a:tc rowSpan="2">
                  <a:txBody>
                    <a:bodyPr/>
                    <a:lstStyle/>
                    <a:p>
                      <a:pPr algn="ctr" fontAlgn="ctr">
                        <a:buNone/>
                      </a:pPr>
                      <a:r>
                        <a:rPr lang="es-CL" sz="700" b="1" i="0" u="none" strike="noStrike" dirty="0">
                          <a:solidFill>
                            <a:srgbClr val="FFFFFF"/>
                          </a:solidFill>
                          <a:effectLst/>
                          <a:latin typeface="Calibri" panose="020F0502020204030204" pitchFamily="34" charset="0"/>
                        </a:rPr>
                        <a:t>#</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Calibri" panose="020F0502020204030204" pitchFamily="34" charset="0"/>
                        </a:rPr>
                        <a:t>Cliente</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600" b="1" i="0" u="none" strike="noStrike">
                          <a:solidFill>
                            <a:srgbClr val="1A1A1A"/>
                          </a:solidFill>
                          <a:effectLst/>
                          <a:latin typeface="Calibri" panose="020F0502020204030204" pitchFamily="34" charset="0"/>
                        </a:rPr>
                        <a:t>Dental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Esterilización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600" b="1" i="0" u="none" strike="noStrike">
                          <a:solidFill>
                            <a:srgbClr val="1A1A1A"/>
                          </a:solidFill>
                          <a:effectLst/>
                          <a:latin typeface="Calibri" panose="020F0502020204030204" pitchFamily="34" charset="0"/>
                        </a:rPr>
                        <a:t>Endoscopía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Base Instalada Total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l" fontAlgn="ctr">
                        <a:buNone/>
                      </a:pPr>
                      <a:r>
                        <a:rPr lang="es-CL" sz="700" b="1" i="0" u="none" strike="noStrike" dirty="0">
                          <a:solidFill>
                            <a:srgbClr val="FFFFFF"/>
                          </a:solidFill>
                          <a:effectLst/>
                          <a:latin typeface="Calibri" panose="020F0502020204030204" pitchFamily="34" charset="0"/>
                        </a:rPr>
                        <a:t>Pot. Mantenimiento MM$</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Margen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l" fontAlgn="ctr">
                        <a:buNone/>
                      </a:pPr>
                      <a:r>
                        <a:rPr lang="es-CL" sz="700" b="1" i="0" u="none" strike="noStrike">
                          <a:solidFill>
                            <a:srgbClr val="FFFFFF"/>
                          </a:solidFill>
                          <a:effectLst/>
                          <a:latin typeface="Calibri" panose="020F0502020204030204" pitchFamily="34" charset="0"/>
                        </a:rPr>
                        <a:t>Plan de Acción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Visita Comercial/Fecha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Responsable Comercial</a:t>
                      </a:r>
                    </a:p>
                  </a:txBody>
                  <a:tcPr marL="5641" marR="5641" marT="564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4B0082"/>
                    </a:solidFill>
                  </a:tcPr>
                </a:tc>
                <a:extLst>
                  <a:ext uri="{0D108BD9-81ED-4DB2-BD59-A6C34878D82A}">
                    <a16:rowId xmlns:a16="http://schemas.microsoft.com/office/drawing/2014/main" val="4269033008"/>
                  </a:ext>
                </a:extLst>
              </a:tr>
              <a:tr h="391202">
                <a:tc vMerge="1">
                  <a:txBody>
                    <a:bodyPr/>
                    <a:lstStyle/>
                    <a:p>
                      <a:endParaRPr lang="es-CL"/>
                    </a:p>
                  </a:txBody>
                  <a:tcPr/>
                </a:tc>
                <a:tc vMerge="1">
                  <a:txBody>
                    <a:bodyPr/>
                    <a:lstStyle/>
                    <a:p>
                      <a:endParaRPr lang="es-CL"/>
                    </a:p>
                  </a:txBody>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723236545"/>
                  </a:ext>
                </a:extLst>
              </a:tr>
              <a:tr h="938883">
                <a:tc>
                  <a:txBody>
                    <a:bodyPr/>
                    <a:lstStyle/>
                    <a:p>
                      <a:pPr algn="r" fontAlgn="ctr">
                        <a:buNone/>
                      </a:pPr>
                      <a:r>
                        <a:rPr lang="es-CL" sz="700" b="0" i="0" u="none" strike="noStrike" dirty="0">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CLINICA MOVIL CENTINELA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153,5%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58,3%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122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107,9%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140,6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77,3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Reunión gerencial.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Levantamiento técnico completo.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Oferta corporativa multiequipamiento.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marco trianual.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Programa de renovación escalonada para los equipos más antiguos.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sept-26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480537133"/>
                  </a:ext>
                </a:extLst>
              </a:tr>
              <a:tr h="469442">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HOSPITAL CLINICO SAN BORJA-ARRIARAN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86,9%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95,9%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22,5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12,4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Visita conjunta Comercial + Servicio.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Presentar análisis de riesgo asociado a antigüedad.</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preventivo por familias tecnológicas.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sept-26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2382637996"/>
                  </a:ext>
                </a:extLst>
              </a:tr>
              <a:tr h="469442">
                <a:tc>
                  <a:txBody>
                    <a:bodyPr/>
                    <a:lstStyle/>
                    <a:p>
                      <a:pPr algn="r" fontAlgn="ctr">
                        <a:buNone/>
                      </a:pPr>
                      <a:r>
                        <a:rPr lang="es-CL" sz="700" b="0" i="0" u="none" strike="noStrike">
                          <a:solidFill>
                            <a:schemeClr val="tx2"/>
                          </a:solidFill>
                          <a:effectLst/>
                          <a:latin typeface="Calibri" panose="020F0502020204030204" pitchFamily="34" charset="0"/>
                        </a:rPr>
                        <a:t>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CLINICA ALEMANA DE SANTIAGO S 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64,6%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dirty="0">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71,9%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52,2%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56,5%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18,2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10,0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dirty="0">
                          <a:solidFill>
                            <a:schemeClr val="tx2"/>
                          </a:solidFill>
                          <a:effectLst/>
                          <a:latin typeface="Calibri" panose="020F0502020204030204" pitchFamily="34" charset="0"/>
                        </a:rPr>
                        <a:t>Revisión de equipos sin cobertura.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Presentar indicadores de disponibilidad.</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Buscar acuerdo marco de mantenimiento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oct-26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160562583"/>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HOSPITAL SAN JUAN DE DIOS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84,4%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dirty="0">
                          <a:solidFill>
                            <a:schemeClr val="tx2"/>
                          </a:solidFill>
                          <a:effectLst/>
                          <a:latin typeface="Calibri" panose="020F0502020204030204" pitchFamily="34" charset="0"/>
                        </a:rPr>
                        <a:t>92,8%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87,6%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15,2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8,4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Levantamiento técnico completo y propuesta de cobertura institucional.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1615666440"/>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JUNAEB ESCUELA NUEVA ZELANDIA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130,1%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57,6%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122,8%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14,5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8,0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Programa preventivo anual, capacitación a usuarios y seguimiento para futuras renovaciones.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oct-26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2449342517"/>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CESFAM STEGGER</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71,7%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ctr">
                        <a:buNone/>
                      </a:pPr>
                      <a:r>
                        <a:rPr lang="es-CL" sz="700" b="0" i="0" u="none" strike="noStrike">
                          <a:solidFill>
                            <a:schemeClr val="tx2"/>
                          </a:solidFill>
                          <a:effectLst/>
                          <a:latin typeface="Calibri" panose="020F0502020204030204" pitchFamily="34" charset="0"/>
                        </a:rPr>
                        <a:t>71,7%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12,3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6,8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Integrar a rutas programadas de mantenimiento y oferta preventiva anual.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2330811395"/>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MUTUAL DE SEGURIDAD SANTIAGO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10,2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5,6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ctr">
                        <a:buNone/>
                      </a:pPr>
                      <a:r>
                        <a:rPr lang="es-CL" sz="700" b="0" i="0" u="none" strike="noStrike">
                          <a:solidFill>
                            <a:schemeClr val="tx2"/>
                          </a:solidFill>
                          <a:effectLst/>
                          <a:latin typeface="Calibri" panose="020F0502020204030204" pitchFamily="34" charset="0"/>
                        </a:rPr>
                        <a:t>Programa de disponibilidad operacional y mantenimiento preventivo periódico.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2986392698"/>
                  </a:ext>
                </a:extLst>
              </a:tr>
              <a:tr h="625923">
                <a:tc>
                  <a:txBody>
                    <a:bodyPr/>
                    <a:lstStyle/>
                    <a:p>
                      <a:pPr algn="r" fontAlgn="ctr">
                        <a:buNone/>
                      </a:pPr>
                      <a:r>
                        <a:rPr lang="es-CL" sz="700" b="0" i="0" u="none" strike="noStrike" dirty="0">
                          <a:solidFill>
                            <a:schemeClr val="tx2"/>
                          </a:solidFill>
                          <a:effectLst/>
                          <a:latin typeface="Calibri" panose="020F0502020204030204" pitchFamily="34" charset="0"/>
                        </a:rPr>
                        <a:t>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CLINICA HOGAR BUENA SALUD S.P.A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dirty="0">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54,2%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47,3%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66,9%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8,8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4,8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Recuperación de activos sin cobertura.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Contrato preventivo anual.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Presentación de indicadores de disponibilidad.</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Identificación de oportunidades de renovación.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00607826"/>
                  </a:ext>
                </a:extLst>
              </a:tr>
              <a:tr h="625923">
                <a:tc>
                  <a:txBody>
                    <a:bodyPr/>
                    <a:lstStyle/>
                    <a:p>
                      <a:pPr algn="r" fontAlgn="ctr">
                        <a:buNone/>
                      </a:pPr>
                      <a:r>
                        <a:rPr lang="es-CL" sz="700" b="0" i="0" u="none" strike="noStrike">
                          <a:solidFill>
                            <a:schemeClr val="tx2"/>
                          </a:solidFill>
                          <a:effectLst/>
                          <a:latin typeface="Calibri" panose="020F0502020204030204" pitchFamily="34" charset="0"/>
                        </a:rPr>
                        <a:t>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EJERCITO DE CHILE CENTRAL ODONTOLOGICA D</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59,4%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42,7%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dirty="0">
                          <a:solidFill>
                            <a:schemeClr val="tx2"/>
                          </a:solidFill>
                          <a:effectLst/>
                          <a:latin typeface="Calibri" panose="020F0502020204030204" pitchFamily="34" charset="0"/>
                        </a:rPr>
                        <a:t>46,0%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8,8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4,8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Convenio institucional.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Programa preventivo para equipamiento odontológico.</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Evaluación de renovación tecnológica.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Definición de equipamiento crítico.</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69566782"/>
                  </a:ext>
                </a:extLst>
              </a:tr>
              <a:tr h="625923">
                <a:tc>
                  <a:txBody>
                    <a:bodyPr/>
                    <a:lstStyle/>
                    <a:p>
                      <a:pPr algn="r" fontAlgn="ctr">
                        <a:buNone/>
                      </a:pPr>
                      <a:r>
                        <a:rPr lang="es-CL" sz="700" b="0" i="0" u="none" strike="noStrike">
                          <a:solidFill>
                            <a:schemeClr val="tx2"/>
                          </a:solidFill>
                          <a:effectLst/>
                          <a:latin typeface="Calibri" panose="020F0502020204030204" pitchFamily="34" charset="0"/>
                        </a:rPr>
                        <a:t>10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a:solidFill>
                            <a:schemeClr val="tx2"/>
                          </a:solidFill>
                          <a:effectLst/>
                          <a:latin typeface="Calibri" panose="020F0502020204030204" pitchFamily="34" charset="0"/>
                        </a:rPr>
                        <a:t>NORDEN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70,3%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Calibri" panose="020F0502020204030204" pitchFamily="34" charset="0"/>
                        </a:rPr>
                        <a:t>70,3%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8,4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4,6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Auditoría técnica.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Programa preventivo anual.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Contrato de mantenimiento </a:t>
                      </a:r>
                      <a:r>
                        <a:rPr lang="es-CL" sz="700" b="0" i="0" u="none" strike="noStrike" dirty="0" err="1">
                          <a:solidFill>
                            <a:schemeClr val="tx2"/>
                          </a:solidFill>
                          <a:effectLst/>
                          <a:latin typeface="Calibri" panose="020F0502020204030204" pitchFamily="34" charset="0"/>
                        </a:rPr>
                        <a:t>multiequipamiento</a:t>
                      </a:r>
                      <a:r>
                        <a:rPr lang="es-CL" sz="700" b="0" i="0" u="none" strike="noStrike" dirty="0">
                          <a:solidFill>
                            <a:schemeClr val="tx2"/>
                          </a:solidFill>
                          <a:effectLst/>
                          <a:latin typeface="Calibri" panose="020F0502020204030204" pitchFamily="34" charset="0"/>
                        </a:rPr>
                        <a:t>.</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Seguimiento comercial trimestral.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chemeClr val="tx2"/>
                          </a:solidFill>
                          <a:effectLst/>
                          <a:latin typeface="Calibri" panose="020F0502020204030204" pitchFamily="34" charset="0"/>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22771573"/>
                  </a:ext>
                </a:extLst>
              </a:tr>
              <a:tr h="195601">
                <a:tc>
                  <a:txBody>
                    <a:bodyPr/>
                    <a:lstStyle/>
                    <a:p>
                      <a:pPr algn="l" fontAlgn="ctr">
                        <a:buNone/>
                      </a:pPr>
                      <a:r>
                        <a:rPr lang="es-CL" sz="700" b="1"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TOTAL · 10 clientes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109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140,6%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85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dirty="0">
                          <a:solidFill>
                            <a:schemeClr val="tx1"/>
                          </a:solidFill>
                          <a:effectLst/>
                          <a:latin typeface="Calibri" panose="020F0502020204030204" pitchFamily="34" charset="0"/>
                        </a:rPr>
                        <a:t>63,8%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21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55,1%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215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700" b="1" i="0" u="none" strike="noStrike">
                          <a:solidFill>
                            <a:schemeClr val="tx1"/>
                          </a:solidFill>
                          <a:effectLst/>
                          <a:latin typeface="Calibri" panose="020F0502020204030204" pitchFamily="34" charset="0"/>
                        </a:rPr>
                        <a:t>99,0%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259,3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142,7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965744780"/>
                  </a:ext>
                </a:extLst>
              </a:tr>
            </a:tbl>
          </a:graphicData>
        </a:graphic>
      </p:graphicFrame>
    </p:spTree>
    <p:extLst>
      <p:ext uri="{BB962C8B-B14F-4D97-AF65-F5344CB8AC3E}">
        <p14:creationId xmlns:p14="http://schemas.microsoft.com/office/powerpoint/2010/main" val="11685134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A0FA3B12-D3B0-0E67-7B74-D927E94B1CE6}"/>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841F8691-2902-0E97-3C81-04E8DB35AF2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3 – Clientes</a:t>
            </a:r>
            <a:endParaRPr dirty="0"/>
          </a:p>
        </p:txBody>
      </p:sp>
      <p:sp>
        <p:nvSpPr>
          <p:cNvPr id="5" name="Triángulo isósceles 4">
            <a:extLst>
              <a:ext uri="{FF2B5EF4-FFF2-40B4-BE49-F238E27FC236}">
                <a16:creationId xmlns:a16="http://schemas.microsoft.com/office/drawing/2014/main" id="{EC92A9E8-4D6E-897E-8D3B-C60E0953A110}"/>
              </a:ext>
            </a:extLst>
          </p:cNvPr>
          <p:cNvSpPr/>
          <p:nvPr/>
        </p:nvSpPr>
        <p:spPr>
          <a:xfrm rot="5400000">
            <a:off x="4580695" y="2667426"/>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3D42CFE-C5F6-9D86-9359-E8347E2F235B}"/>
              </a:ext>
            </a:extLst>
          </p:cNvPr>
          <p:cNvSpPr/>
          <p:nvPr/>
        </p:nvSpPr>
        <p:spPr>
          <a:xfrm>
            <a:off x="291000" y="4999383"/>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245 clientes del grupo 3 a visitar, mas 15 del Grupo 2 </a:t>
            </a:r>
          </a:p>
          <a:p>
            <a:pPr marL="171450" lvl="1" indent="-171450">
              <a:buFont typeface="Arial" panose="020B0604020202020204" pitchFamily="34" charset="0"/>
              <a:buChar char="•"/>
            </a:pPr>
            <a:r>
              <a:rPr lang="es-MX" sz="900" b="1" dirty="0">
                <a:solidFill>
                  <a:schemeClr val="tx2"/>
                </a:solidFill>
              </a:rPr>
              <a:t>Esto supone una estructura con 2 KAM, es un numero ESTIMATIVO</a:t>
            </a:r>
            <a:endParaRPr lang="es-CL" sz="1600" b="1" dirty="0">
              <a:solidFill>
                <a:schemeClr val="tx1"/>
              </a:solidFill>
            </a:endParaRPr>
          </a:p>
        </p:txBody>
      </p:sp>
      <p:sp>
        <p:nvSpPr>
          <p:cNvPr id="13" name="Triángulo isósceles 12">
            <a:extLst>
              <a:ext uri="{FF2B5EF4-FFF2-40B4-BE49-F238E27FC236}">
                <a16:creationId xmlns:a16="http://schemas.microsoft.com/office/drawing/2014/main" id="{919A5566-B124-4E1D-0D94-8F31B8B0D57C}"/>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984A78D9-B327-7EFC-D820-3077111D7C34}"/>
              </a:ext>
            </a:extLst>
          </p:cNvPr>
          <p:cNvPicPr>
            <a:picLocks noChangeAspect="1"/>
          </p:cNvPicPr>
          <p:nvPr/>
        </p:nvPicPr>
        <p:blipFill>
          <a:blip r:embed="rId3"/>
          <a:stretch>
            <a:fillRect/>
          </a:stretch>
        </p:blipFill>
        <p:spPr>
          <a:xfrm>
            <a:off x="837045" y="1222097"/>
            <a:ext cx="4219560" cy="3157609"/>
          </a:xfrm>
          <a:prstGeom prst="rect">
            <a:avLst/>
          </a:prstGeom>
        </p:spPr>
      </p:pic>
      <p:pic>
        <p:nvPicPr>
          <p:cNvPr id="8" name="Imagen 7">
            <a:extLst>
              <a:ext uri="{FF2B5EF4-FFF2-40B4-BE49-F238E27FC236}">
                <a16:creationId xmlns:a16="http://schemas.microsoft.com/office/drawing/2014/main" id="{480F9C6F-D08E-0ADA-435B-43985E0C7F0D}"/>
              </a:ext>
            </a:extLst>
          </p:cNvPr>
          <p:cNvPicPr>
            <a:picLocks noChangeAspect="1"/>
          </p:cNvPicPr>
          <p:nvPr/>
        </p:nvPicPr>
        <p:blipFill>
          <a:blip r:embed="rId4"/>
          <a:stretch>
            <a:fillRect/>
          </a:stretch>
        </p:blipFill>
        <p:spPr>
          <a:xfrm>
            <a:off x="5958995" y="867807"/>
            <a:ext cx="5132005" cy="3866187"/>
          </a:xfrm>
          <a:prstGeom prst="rect">
            <a:avLst/>
          </a:prstGeom>
        </p:spPr>
      </p:pic>
    </p:spTree>
    <p:extLst>
      <p:ext uri="{BB962C8B-B14F-4D97-AF65-F5344CB8AC3E}">
        <p14:creationId xmlns:p14="http://schemas.microsoft.com/office/powerpoint/2010/main" val="4012271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147EADE2-985E-4AC8-B582-B8DB7D5D212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D4D1D49-4F99-7EDB-A492-3A079D31D587}"/>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Plan RM y Valparaíso</a:t>
            </a:r>
            <a:endParaRPr dirty="0"/>
          </a:p>
        </p:txBody>
      </p:sp>
      <p:pic>
        <p:nvPicPr>
          <p:cNvPr id="3" name="Imagen 2">
            <a:extLst>
              <a:ext uri="{FF2B5EF4-FFF2-40B4-BE49-F238E27FC236}">
                <a16:creationId xmlns:a16="http://schemas.microsoft.com/office/drawing/2014/main" id="{6BB2EDBE-760D-AD9B-4B50-454A85732FBE}"/>
              </a:ext>
            </a:extLst>
          </p:cNvPr>
          <p:cNvPicPr>
            <a:picLocks noChangeAspect="1"/>
          </p:cNvPicPr>
          <p:nvPr/>
        </p:nvPicPr>
        <p:blipFill>
          <a:blip r:embed="rId3"/>
          <a:stretch>
            <a:fillRect/>
          </a:stretch>
        </p:blipFill>
        <p:spPr>
          <a:xfrm>
            <a:off x="12700" y="864000"/>
            <a:ext cx="12192000" cy="4343760"/>
          </a:xfrm>
          <a:prstGeom prst="rect">
            <a:avLst/>
          </a:prstGeom>
        </p:spPr>
      </p:pic>
      <p:sp>
        <p:nvSpPr>
          <p:cNvPr id="6" name="Rectángulo 5">
            <a:extLst>
              <a:ext uri="{FF2B5EF4-FFF2-40B4-BE49-F238E27FC236}">
                <a16:creationId xmlns:a16="http://schemas.microsoft.com/office/drawing/2014/main" id="{E88E63D4-EB03-38CA-2E9A-CD1E8335414D}"/>
              </a:ext>
            </a:extLst>
          </p:cNvPr>
          <p:cNvSpPr/>
          <p:nvPr/>
        </p:nvSpPr>
        <p:spPr>
          <a:xfrm>
            <a:off x="246958" y="5319000"/>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334 visitas en 3 meses</a:t>
            </a:r>
          </a:p>
          <a:p>
            <a:pPr marL="171450" lvl="1" indent="-171450">
              <a:buFont typeface="Arial" panose="020B0604020202020204" pitchFamily="34" charset="0"/>
              <a:buChar char="•"/>
            </a:pPr>
            <a:r>
              <a:rPr lang="es-MX" sz="900" b="1" dirty="0">
                <a:solidFill>
                  <a:schemeClr val="tx2"/>
                </a:solidFill>
              </a:rPr>
              <a:t>Grupo 1 y 2 con apoyo de Alexis Flores</a:t>
            </a:r>
            <a:endParaRPr lang="es-CL" sz="1600" b="1" dirty="0">
              <a:solidFill>
                <a:schemeClr val="tx1"/>
              </a:solidFill>
            </a:endParaRPr>
          </a:p>
        </p:txBody>
      </p:sp>
    </p:spTree>
    <p:extLst>
      <p:ext uri="{BB962C8B-B14F-4D97-AF65-F5344CB8AC3E}">
        <p14:creationId xmlns:p14="http://schemas.microsoft.com/office/powerpoint/2010/main" val="25047046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39C57BAB-25BB-96B8-CD3D-12BB6E205D46}"/>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07CA3E04-8C90-055F-D279-7BAC6537A56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Visitas Programadas</a:t>
            </a:r>
          </a:p>
        </p:txBody>
      </p:sp>
      <p:pic>
        <p:nvPicPr>
          <p:cNvPr id="4" name="Imagen 3">
            <a:extLst>
              <a:ext uri="{FF2B5EF4-FFF2-40B4-BE49-F238E27FC236}">
                <a16:creationId xmlns:a16="http://schemas.microsoft.com/office/drawing/2014/main" id="{C4B7FE2E-C3CD-B493-DEA4-AB457AB72F65}"/>
              </a:ext>
            </a:extLst>
          </p:cNvPr>
          <p:cNvPicPr>
            <a:picLocks noChangeAspect="1"/>
          </p:cNvPicPr>
          <p:nvPr/>
        </p:nvPicPr>
        <p:blipFill>
          <a:blip r:embed="rId3"/>
          <a:srcRect b="40289"/>
          <a:stretch>
            <a:fillRect/>
          </a:stretch>
        </p:blipFill>
        <p:spPr>
          <a:xfrm>
            <a:off x="1491278" y="831698"/>
            <a:ext cx="9209443" cy="5194604"/>
          </a:xfrm>
          <a:prstGeom prst="rect">
            <a:avLst/>
          </a:prstGeom>
        </p:spPr>
      </p:pic>
    </p:spTree>
    <p:extLst>
      <p:ext uri="{BB962C8B-B14F-4D97-AF65-F5344CB8AC3E}">
        <p14:creationId xmlns:p14="http://schemas.microsoft.com/office/powerpoint/2010/main" val="3608026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7D44FFD5-DD7B-DC2B-A5EC-BD77F0D2AAB8}"/>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0DB7C4D3-365A-BBBA-A38A-AAD944511FA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Visitas Programadas Mapa</a:t>
            </a:r>
          </a:p>
        </p:txBody>
      </p:sp>
      <p:pic>
        <p:nvPicPr>
          <p:cNvPr id="4" name="Imagen 3">
            <a:extLst>
              <a:ext uri="{FF2B5EF4-FFF2-40B4-BE49-F238E27FC236}">
                <a16:creationId xmlns:a16="http://schemas.microsoft.com/office/drawing/2014/main" id="{7C86937A-2E95-034E-220C-05F1871ABCDB}"/>
              </a:ext>
            </a:extLst>
          </p:cNvPr>
          <p:cNvPicPr>
            <a:picLocks noChangeAspect="1"/>
          </p:cNvPicPr>
          <p:nvPr/>
        </p:nvPicPr>
        <p:blipFill>
          <a:blip r:embed="rId3"/>
          <a:stretch>
            <a:fillRect/>
          </a:stretch>
        </p:blipFill>
        <p:spPr>
          <a:xfrm>
            <a:off x="0" y="980606"/>
            <a:ext cx="12192000" cy="4896787"/>
          </a:xfrm>
          <a:prstGeom prst="rect">
            <a:avLst/>
          </a:prstGeom>
        </p:spPr>
      </p:pic>
    </p:spTree>
    <p:extLst>
      <p:ext uri="{BB962C8B-B14F-4D97-AF65-F5344CB8AC3E}">
        <p14:creationId xmlns:p14="http://schemas.microsoft.com/office/powerpoint/2010/main" val="3940953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3678" y="184106"/>
            <a:ext cx="11874501" cy="444434"/>
          </a:xfrm>
          <a:prstGeom prst="rect">
            <a:avLst/>
          </a:prstGeom>
          <a:noFill/>
          <a:ln/>
        </p:spPr>
        <p:txBody>
          <a:bodyPr wrap="square" lIns="16933" tIns="16933" rIns="16933" bIns="16933" rtlCol="0" anchor="ctr">
            <a:normAutofit lnSpcReduction="10000"/>
          </a:bodyPr>
          <a:lstStyle/>
          <a:p>
            <a:pPr defTabSz="609630">
              <a:buClrTx/>
            </a:pPr>
            <a:r>
              <a:rPr lang="en-US" sz="2700" b="1" kern="1200" dirty="0">
                <a:solidFill>
                  <a:srgbClr val="33448D"/>
                </a:solidFill>
                <a:latin typeface="Arial" pitchFamily="34" charset="0"/>
                <a:ea typeface="Arial" pitchFamily="34" charset="-122"/>
                <a:cs typeface="Arial" pitchFamily="34" charset="-120"/>
              </a:rPr>
              <a:t>Agenda de ejecutivos · </a:t>
            </a:r>
            <a:r>
              <a:rPr lang="en-US" sz="2700" b="1" kern="1200" dirty="0" err="1">
                <a:solidFill>
                  <a:srgbClr val="33448D"/>
                </a:solidFill>
                <a:latin typeface="Arial" pitchFamily="34" charset="0"/>
                <a:ea typeface="Arial" pitchFamily="34" charset="-122"/>
                <a:cs typeface="Arial" pitchFamily="34" charset="-120"/>
              </a:rPr>
              <a:t>Propuesta</a:t>
            </a:r>
            <a:endParaRPr lang="en-US" sz="27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1417213" y="127000"/>
            <a:ext cx="469856" cy="469856"/>
          </a:xfrm>
          <a:prstGeom prst="rect">
            <a:avLst/>
          </a:prstGeom>
        </p:spPr>
      </p:pic>
      <p:sp>
        <p:nvSpPr>
          <p:cNvPr id="4" name="Shape 1"/>
          <p:cNvSpPr/>
          <p:nvPr/>
        </p:nvSpPr>
        <p:spPr>
          <a:xfrm>
            <a:off x="469856" y="1085784"/>
            <a:ext cx="4819606" cy="419034"/>
          </a:xfrm>
          <a:prstGeom prst="rect">
            <a:avLst/>
          </a:prstGeom>
          <a:solidFill>
            <a:srgbClr val="28D2C3"/>
          </a:solidFill>
          <a:ln w="21167">
            <a:solidFill>
              <a:srgbClr val="06201D"/>
            </a:solidFill>
            <a:prstDash val="solid"/>
          </a:ln>
        </p:spPr>
        <p:txBody>
          <a:bodyPr/>
          <a:lstStyle/>
          <a:p>
            <a:endParaRPr lang="es-CL"/>
          </a:p>
        </p:txBody>
      </p:sp>
      <p:sp>
        <p:nvSpPr>
          <p:cNvPr id="5" name="Text 2"/>
          <p:cNvSpPr/>
          <p:nvPr/>
        </p:nvSpPr>
        <p:spPr>
          <a:xfrm>
            <a:off x="411673" y="1099895"/>
            <a:ext cx="4935972"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Eglys Ramírez</a:t>
            </a:r>
            <a:endParaRPr lang="en-US" kern="1200" dirty="0">
              <a:solidFill>
                <a:prstClr val="black"/>
              </a:solidFill>
              <a:latin typeface="Calibri" panose="020F0502020204030204"/>
              <a:ea typeface="+mn-ea"/>
              <a:cs typeface="+mn-cs"/>
            </a:endParaRPr>
          </a:p>
        </p:txBody>
      </p:sp>
      <p:sp>
        <p:nvSpPr>
          <p:cNvPr id="6" name="Shape 3"/>
          <p:cNvSpPr/>
          <p:nvPr/>
        </p:nvSpPr>
        <p:spPr>
          <a:xfrm>
            <a:off x="469856" y="1663678"/>
            <a:ext cx="1257212" cy="1143000"/>
          </a:xfrm>
          <a:prstGeom prst="rect">
            <a:avLst/>
          </a:prstGeom>
          <a:solidFill>
            <a:srgbClr val="28D2C3"/>
          </a:solidFill>
          <a:ln w="21167">
            <a:solidFill>
              <a:srgbClr val="06201D"/>
            </a:solidFill>
            <a:prstDash val="solid"/>
          </a:ln>
        </p:spPr>
        <p:txBody>
          <a:bodyPr/>
          <a:lstStyle/>
          <a:p>
            <a:endParaRPr lang="es-CL"/>
          </a:p>
        </p:txBody>
      </p:sp>
      <p:sp>
        <p:nvSpPr>
          <p:cNvPr id="7" name="Text 4"/>
          <p:cNvSpPr/>
          <p:nvPr/>
        </p:nvSpPr>
        <p:spPr>
          <a:xfrm>
            <a:off x="805392" y="1745258"/>
            <a:ext cx="586140"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1 Top 10</a:t>
            </a:r>
            <a:endParaRPr lang="en-US" sz="1100" kern="1200" dirty="0">
              <a:solidFill>
                <a:prstClr val="black"/>
              </a:solidFill>
              <a:latin typeface="Calibri" panose="020F0502020204030204"/>
              <a:ea typeface="+mn-ea"/>
              <a:cs typeface="+mn-cs"/>
            </a:endParaRPr>
          </a:p>
        </p:txBody>
      </p:sp>
      <p:sp>
        <p:nvSpPr>
          <p:cNvPr id="8" name="Text 5"/>
          <p:cNvSpPr/>
          <p:nvPr/>
        </p:nvSpPr>
        <p:spPr>
          <a:xfrm>
            <a:off x="995341" y="2118431"/>
            <a:ext cx="206243"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6</a:t>
            </a:r>
            <a:endParaRPr lang="en-US" sz="2200" kern="1200" dirty="0">
              <a:solidFill>
                <a:prstClr val="black"/>
              </a:solidFill>
              <a:latin typeface="Calibri" panose="020F0502020204030204"/>
              <a:ea typeface="+mn-ea"/>
              <a:cs typeface="+mn-cs"/>
            </a:endParaRPr>
          </a:p>
        </p:txBody>
      </p:sp>
      <p:sp>
        <p:nvSpPr>
          <p:cNvPr id="9" name="Text 6"/>
          <p:cNvSpPr/>
          <p:nvPr/>
        </p:nvSpPr>
        <p:spPr>
          <a:xfrm>
            <a:off x="78797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MM$199,1</a:t>
            </a:r>
            <a:endParaRPr lang="en-US" sz="950" kern="1200" dirty="0">
              <a:solidFill>
                <a:prstClr val="black"/>
              </a:solidFill>
              <a:latin typeface="Calibri" panose="020F0502020204030204"/>
              <a:ea typeface="+mn-ea"/>
              <a:cs typeface="+mn-cs"/>
            </a:endParaRPr>
          </a:p>
        </p:txBody>
      </p:sp>
      <p:sp>
        <p:nvSpPr>
          <p:cNvPr id="10" name="Shape 7"/>
          <p:cNvSpPr/>
          <p:nvPr/>
        </p:nvSpPr>
        <p:spPr>
          <a:xfrm>
            <a:off x="1885928" y="1663678"/>
            <a:ext cx="1257212" cy="1143000"/>
          </a:xfrm>
          <a:prstGeom prst="rect">
            <a:avLst/>
          </a:prstGeom>
          <a:solidFill>
            <a:srgbClr val="373C46"/>
          </a:solidFill>
          <a:ln w="21167">
            <a:solidFill>
              <a:srgbClr val="06201D"/>
            </a:solidFill>
            <a:prstDash val="solid"/>
          </a:ln>
        </p:spPr>
        <p:txBody>
          <a:bodyPr/>
          <a:lstStyle/>
          <a:p>
            <a:endParaRPr lang="es-CL"/>
          </a:p>
        </p:txBody>
      </p:sp>
      <p:sp>
        <p:nvSpPr>
          <p:cNvPr id="11" name="Text 8"/>
          <p:cNvSpPr/>
          <p:nvPr/>
        </p:nvSpPr>
        <p:spPr>
          <a:xfrm>
            <a:off x="2062604" y="1661474"/>
            <a:ext cx="817430" cy="528109"/>
          </a:xfrm>
          <a:prstGeom prst="rect">
            <a:avLst/>
          </a:prstGeom>
          <a:noFill/>
          <a:ln/>
        </p:spPr>
        <p:txBody>
          <a:bodyPr wrap="none" lIns="16933" tIns="16933" rIns="16933" bIns="16933" rtlCol="0" anchor="ctr">
            <a:normAutofit/>
          </a:bodyPr>
          <a:lstStyle/>
          <a:p>
            <a:pPr algn="ctr" defTabSz="609630">
              <a:lnSpc>
                <a:spcPct val="103304"/>
              </a:lnSpc>
              <a:buClrTx/>
            </a:pPr>
            <a:r>
              <a:rPr lang="en-US" sz="1067" b="1" kern="1200" dirty="0">
                <a:solidFill>
                  <a:srgbClr val="FFFFFF"/>
                </a:solidFill>
                <a:latin typeface="Arial" pitchFamily="34" charset="0"/>
                <a:ea typeface="Arial" pitchFamily="34" charset="-122"/>
                <a:cs typeface="Arial" pitchFamily="34" charset="-120"/>
              </a:rPr>
              <a:t>Grupo 2 Top 15</a:t>
            </a:r>
          </a:p>
          <a:p>
            <a:pPr algn="ctr" defTabSz="609630">
              <a:lnSpc>
                <a:spcPct val="103304"/>
              </a:lnSpc>
              <a:buClrTx/>
            </a:pPr>
            <a:r>
              <a:rPr lang="en-US" sz="1067" b="1" kern="1200" dirty="0">
                <a:solidFill>
                  <a:srgbClr val="FFFFFF"/>
                </a:solidFill>
                <a:latin typeface="Arial" pitchFamily="34" charset="0"/>
                <a:ea typeface="Arial" pitchFamily="34" charset="-122"/>
                <a:cs typeface="Arial" pitchFamily="34" charset="-120"/>
              </a:rPr>
              <a:t>+ Grandes </a:t>
            </a:r>
            <a:r>
              <a:rPr lang="en-US" sz="1067" b="1" kern="1200" dirty="0" err="1">
                <a:solidFill>
                  <a:srgbClr val="FFFFFF"/>
                </a:solidFill>
                <a:latin typeface="Arial" pitchFamily="34" charset="0"/>
                <a:ea typeface="Arial" pitchFamily="34" charset="-122"/>
                <a:cs typeface="Arial" pitchFamily="34" charset="-120"/>
              </a:rPr>
              <a:t>en</a:t>
            </a:r>
            <a:r>
              <a:rPr lang="en-US" sz="1067" b="1" kern="1200" dirty="0">
                <a:solidFill>
                  <a:srgbClr val="FFFFFF"/>
                </a:solidFill>
                <a:latin typeface="Arial" pitchFamily="34" charset="0"/>
                <a:ea typeface="Arial" pitchFamily="34" charset="-122"/>
                <a:cs typeface="Arial" pitchFamily="34" charset="-120"/>
              </a:rPr>
              <a:t> Infra</a:t>
            </a:r>
            <a:endParaRPr lang="en-US" sz="1067" kern="1200" dirty="0">
              <a:solidFill>
                <a:prstClr val="black"/>
              </a:solidFill>
              <a:latin typeface="Calibri" panose="020F0502020204030204"/>
              <a:ea typeface="+mn-ea"/>
              <a:cs typeface="+mn-cs"/>
            </a:endParaRPr>
          </a:p>
        </p:txBody>
      </p:sp>
      <p:sp>
        <p:nvSpPr>
          <p:cNvPr id="12" name="Text 9"/>
          <p:cNvSpPr/>
          <p:nvPr/>
        </p:nvSpPr>
        <p:spPr>
          <a:xfrm>
            <a:off x="2411413" y="2202215"/>
            <a:ext cx="206243"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6</a:t>
            </a:r>
            <a:endParaRPr lang="en-US" sz="2200" kern="1200" dirty="0">
              <a:solidFill>
                <a:prstClr val="black"/>
              </a:solidFill>
              <a:latin typeface="Calibri" panose="020F0502020204030204"/>
              <a:ea typeface="+mn-ea"/>
              <a:cs typeface="+mn-cs"/>
            </a:endParaRPr>
          </a:p>
        </p:txBody>
      </p:sp>
      <p:sp>
        <p:nvSpPr>
          <p:cNvPr id="13" name="Text 10"/>
          <p:cNvSpPr/>
          <p:nvPr/>
        </p:nvSpPr>
        <p:spPr>
          <a:xfrm>
            <a:off x="2237670" y="2519606"/>
            <a:ext cx="553729"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MM$20,3</a:t>
            </a:r>
            <a:endParaRPr lang="en-US" sz="950" kern="1200" dirty="0">
              <a:solidFill>
                <a:prstClr val="black"/>
              </a:solidFill>
              <a:latin typeface="Calibri" panose="020F0502020204030204"/>
              <a:ea typeface="+mn-ea"/>
              <a:cs typeface="+mn-cs"/>
            </a:endParaRPr>
          </a:p>
        </p:txBody>
      </p:sp>
      <p:sp>
        <p:nvSpPr>
          <p:cNvPr id="14" name="Shape 11"/>
          <p:cNvSpPr/>
          <p:nvPr/>
        </p:nvSpPr>
        <p:spPr>
          <a:xfrm>
            <a:off x="3302000" y="1663678"/>
            <a:ext cx="1987462" cy="1143000"/>
          </a:xfrm>
          <a:prstGeom prst="rect">
            <a:avLst/>
          </a:prstGeom>
          <a:solidFill>
            <a:srgbClr val="282DF0"/>
          </a:solidFill>
          <a:ln w="21167">
            <a:solidFill>
              <a:srgbClr val="06201D"/>
            </a:solidFill>
            <a:prstDash val="solid"/>
          </a:ln>
        </p:spPr>
        <p:txBody>
          <a:bodyPr/>
          <a:lstStyle/>
          <a:p>
            <a:endParaRPr lang="es-CL"/>
          </a:p>
        </p:txBody>
      </p:sp>
      <p:sp>
        <p:nvSpPr>
          <p:cNvPr id="15" name="Text 12"/>
          <p:cNvSpPr/>
          <p:nvPr/>
        </p:nvSpPr>
        <p:spPr>
          <a:xfrm>
            <a:off x="3975431" y="1745258"/>
            <a:ext cx="640601"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3 Restante</a:t>
            </a:r>
            <a:endParaRPr lang="en-US" sz="1100" kern="1200" dirty="0">
              <a:solidFill>
                <a:prstClr val="black"/>
              </a:solidFill>
              <a:latin typeface="Calibri" panose="020F0502020204030204"/>
              <a:ea typeface="+mn-ea"/>
              <a:cs typeface="+mn-cs"/>
            </a:endParaRPr>
          </a:p>
        </p:txBody>
      </p:sp>
      <p:sp>
        <p:nvSpPr>
          <p:cNvPr id="16" name="Text 13"/>
          <p:cNvSpPr/>
          <p:nvPr/>
        </p:nvSpPr>
        <p:spPr>
          <a:xfrm>
            <a:off x="4037278" y="2118431"/>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139</a:t>
            </a:r>
            <a:endParaRPr lang="en-US" sz="2200" kern="1200" dirty="0">
              <a:solidFill>
                <a:prstClr val="black"/>
              </a:solidFill>
              <a:latin typeface="Calibri" panose="020F0502020204030204"/>
              <a:ea typeface="+mn-ea"/>
              <a:cs typeface="+mn-cs"/>
            </a:endParaRPr>
          </a:p>
        </p:txBody>
      </p:sp>
      <p:sp>
        <p:nvSpPr>
          <p:cNvPr id="17" name="Text 14"/>
          <p:cNvSpPr/>
          <p:nvPr/>
        </p:nvSpPr>
        <p:spPr>
          <a:xfrm>
            <a:off x="398524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MM$288,1</a:t>
            </a:r>
            <a:endParaRPr lang="en-US" sz="950" kern="1200" dirty="0">
              <a:solidFill>
                <a:prstClr val="black"/>
              </a:solidFill>
              <a:latin typeface="Calibri" panose="020F0502020204030204"/>
              <a:ea typeface="+mn-ea"/>
              <a:cs typeface="+mn-cs"/>
            </a:endParaRPr>
          </a:p>
        </p:txBody>
      </p:sp>
      <p:sp>
        <p:nvSpPr>
          <p:cNvPr id="18" name="Shape 15"/>
          <p:cNvSpPr/>
          <p:nvPr/>
        </p:nvSpPr>
        <p:spPr>
          <a:xfrm>
            <a:off x="469856" y="2908212"/>
            <a:ext cx="4819606" cy="1079500"/>
          </a:xfrm>
          <a:prstGeom prst="rect">
            <a:avLst/>
          </a:prstGeom>
          <a:ln w="21167">
            <a:solidFill>
              <a:srgbClr val="06201D"/>
            </a:solidFill>
            <a:prstDash val="solid"/>
          </a:ln>
        </p:spPr>
        <p:txBody>
          <a:bodyPr/>
          <a:lstStyle/>
          <a:p>
            <a:endParaRPr lang="es-CL"/>
          </a:p>
        </p:txBody>
      </p:sp>
      <p:sp>
        <p:nvSpPr>
          <p:cNvPr id="19" name="Text 16"/>
          <p:cNvSpPr/>
          <p:nvPr/>
        </p:nvSpPr>
        <p:spPr>
          <a:xfrm>
            <a:off x="636279" y="3105106"/>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b="1" kern="1200" dirty="0">
                <a:solidFill>
                  <a:srgbClr val="33448D"/>
                </a:solidFill>
                <a:latin typeface="Arial" pitchFamily="34" charset="0"/>
                <a:ea typeface="Arial" pitchFamily="34" charset="-122"/>
                <a:cs typeface="Arial" pitchFamily="34" charset="-120"/>
              </a:rPr>
              <a:t>151 visitas </a:t>
            </a:r>
            <a:r>
              <a:rPr lang="en-US" sz="1000" kern="1200" dirty="0">
                <a:solidFill>
                  <a:srgbClr val="373C46"/>
                </a:solidFill>
                <a:latin typeface="Arial" pitchFamily="34" charset="0"/>
                <a:ea typeface="Arial" pitchFamily="34" charset="-122"/>
                <a:cs typeface="Arial" pitchFamily="34" charset="-120"/>
              </a:rPr>
              <a:t>en 51 días hábiles · 12 semanas (1 oct – 14 dic)</a:t>
            </a:r>
            <a:endParaRPr lang="en-US" sz="1000" kern="1200" dirty="0">
              <a:solidFill>
                <a:prstClr val="black"/>
              </a:solidFill>
              <a:latin typeface="Calibri" panose="020F0502020204030204"/>
              <a:ea typeface="+mn-ea"/>
              <a:cs typeface="+mn-cs"/>
            </a:endParaRPr>
          </a:p>
        </p:txBody>
      </p:sp>
      <p:sp>
        <p:nvSpPr>
          <p:cNvPr id="20" name="Text 17"/>
          <p:cNvSpPr/>
          <p:nvPr/>
        </p:nvSpPr>
        <p:spPr>
          <a:xfrm>
            <a:off x="636279" y="3276534"/>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kern="1200" dirty="0">
                <a:solidFill>
                  <a:srgbClr val="373C46"/>
                </a:solidFill>
                <a:latin typeface="Arial" pitchFamily="34" charset="0"/>
                <a:ea typeface="Arial" pitchFamily="34" charset="-122"/>
                <a:cs typeface="Arial" pitchFamily="34" charset="-120"/>
              </a:rPr>
              <a:t>Potencial cubierto: </a:t>
            </a:r>
            <a:r>
              <a:rPr lang="en-US" sz="1000" b="1" kern="1200" dirty="0">
                <a:solidFill>
                  <a:srgbClr val="33448D"/>
                </a:solidFill>
                <a:latin typeface="Arial" pitchFamily="34" charset="0"/>
                <a:ea typeface="Arial" pitchFamily="34" charset="-122"/>
                <a:cs typeface="Arial" pitchFamily="34" charset="-120"/>
              </a:rPr>
              <a:t>MM$507,5</a:t>
            </a:r>
            <a:endParaRPr lang="en-US" sz="1000" kern="1200" dirty="0">
              <a:solidFill>
                <a:prstClr val="black"/>
              </a:solidFill>
              <a:latin typeface="Calibri" panose="020F0502020204030204"/>
              <a:ea typeface="+mn-ea"/>
              <a:cs typeface="+mn-cs"/>
            </a:endParaRPr>
          </a:p>
        </p:txBody>
      </p:sp>
      <p:sp>
        <p:nvSpPr>
          <p:cNvPr id="21" name="Text 18"/>
          <p:cNvSpPr/>
          <p:nvPr/>
        </p:nvSpPr>
        <p:spPr>
          <a:xfrm>
            <a:off x="636279" y="3447962"/>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Cobertura: 100% RM (151 visitas)</a:t>
            </a:r>
            <a:endParaRPr lang="en-US" sz="1000" kern="1200" dirty="0">
              <a:solidFill>
                <a:prstClr val="black"/>
              </a:solidFill>
              <a:latin typeface="Calibri" panose="020F0502020204030204"/>
              <a:ea typeface="+mn-ea"/>
              <a:cs typeface="+mn-cs"/>
            </a:endParaRPr>
          </a:p>
        </p:txBody>
      </p:sp>
      <p:sp>
        <p:nvSpPr>
          <p:cNvPr id="22" name="Text 19"/>
          <p:cNvSpPr/>
          <p:nvPr/>
        </p:nvSpPr>
        <p:spPr>
          <a:xfrm>
            <a:off x="636279" y="3619390"/>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3 visitas diarias: 09:30 · 12:00 · 15:30 · 64 direcciones por confirmar</a:t>
            </a:r>
            <a:endParaRPr lang="en-US" sz="1000" kern="1200" dirty="0">
              <a:solidFill>
                <a:prstClr val="black"/>
              </a:solidFill>
              <a:latin typeface="Calibri" panose="020F0502020204030204"/>
              <a:ea typeface="+mn-ea"/>
              <a:cs typeface="+mn-cs"/>
            </a:endParaRPr>
          </a:p>
        </p:txBody>
      </p:sp>
      <p:sp>
        <p:nvSpPr>
          <p:cNvPr id="23" name="Text 20"/>
          <p:cNvSpPr/>
          <p:nvPr/>
        </p:nvSpPr>
        <p:spPr>
          <a:xfrm>
            <a:off x="469856" y="4140178"/>
            <a:ext cx="1270882" cy="173567"/>
          </a:xfrm>
          <a:prstGeom prst="rect">
            <a:avLst/>
          </a:prstGeom>
          <a:noFill/>
          <a:ln/>
        </p:spPr>
        <p:txBody>
          <a:bodyPr wrap="square" lIns="16933" tIns="16933" rIns="16933" bIns="16933" rtlCol="0" anchor="t">
            <a:normAutofit lnSpcReduction="10000"/>
          </a:bodyPr>
          <a:lstStyle/>
          <a:p>
            <a:pPr defTabSz="609630">
              <a:buClrTx/>
            </a:pPr>
            <a:r>
              <a:rPr lang="en-US" sz="1000" b="1" kern="1200" dirty="0">
                <a:solidFill>
                  <a:srgbClr val="33448D"/>
                </a:solidFill>
                <a:latin typeface="Arial" pitchFamily="34" charset="0"/>
                <a:ea typeface="Arial" pitchFamily="34" charset="-122"/>
                <a:cs typeface="Arial" pitchFamily="34" charset="-120"/>
              </a:rPr>
              <a:t>Visitas por semana</a:t>
            </a:r>
            <a:endParaRPr lang="en-US" sz="1000" kern="1200" dirty="0">
              <a:solidFill>
                <a:prstClr val="black"/>
              </a:solidFill>
              <a:latin typeface="Calibri" panose="020F0502020204030204"/>
              <a:ea typeface="+mn-ea"/>
              <a:cs typeface="+mn-cs"/>
            </a:endParaRPr>
          </a:p>
        </p:txBody>
      </p:sp>
      <p:sp>
        <p:nvSpPr>
          <p:cNvPr id="24" name="Shape 21"/>
          <p:cNvSpPr/>
          <p:nvPr/>
        </p:nvSpPr>
        <p:spPr>
          <a:xfrm>
            <a:off x="469856" y="4356035"/>
            <a:ext cx="4080316" cy="14111"/>
          </a:xfrm>
          <a:prstGeom prst="rect">
            <a:avLst/>
          </a:prstGeom>
          <a:solidFill>
            <a:srgbClr val="33448D"/>
          </a:solidFill>
          <a:ln/>
        </p:spPr>
        <p:txBody>
          <a:bodyPr/>
          <a:lstStyle/>
          <a:p>
            <a:endParaRPr lang="es-CL"/>
          </a:p>
        </p:txBody>
      </p:sp>
      <p:sp>
        <p:nvSpPr>
          <p:cNvPr id="25" name="Text 22"/>
          <p:cNvSpPr/>
          <p:nvPr/>
        </p:nvSpPr>
        <p:spPr>
          <a:xfrm>
            <a:off x="265841" y="4389195"/>
            <a:ext cx="4488347" cy="152312"/>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Región Metropolitana</a:t>
            </a:r>
            <a:endParaRPr lang="en-US" sz="850" kern="1200" dirty="0">
              <a:solidFill>
                <a:prstClr val="black"/>
              </a:solidFill>
              <a:latin typeface="Calibri" panose="020F0502020204030204"/>
              <a:ea typeface="+mn-ea"/>
              <a:cs typeface="+mn-cs"/>
            </a:endParaRPr>
          </a:p>
        </p:txBody>
      </p:sp>
      <p:sp>
        <p:nvSpPr>
          <p:cNvPr id="26" name="Shape 23"/>
          <p:cNvSpPr/>
          <p:nvPr/>
        </p:nvSpPr>
        <p:spPr>
          <a:xfrm>
            <a:off x="521339" y="5435534"/>
            <a:ext cx="241212" cy="482534"/>
          </a:xfrm>
          <a:prstGeom prst="rect">
            <a:avLst/>
          </a:prstGeom>
          <a:solidFill>
            <a:srgbClr val="28D2C3"/>
          </a:solidFill>
          <a:ln/>
        </p:spPr>
        <p:txBody>
          <a:bodyPr/>
          <a:lstStyle/>
          <a:p>
            <a:endParaRPr lang="es-CL"/>
          </a:p>
        </p:txBody>
      </p:sp>
      <p:sp>
        <p:nvSpPr>
          <p:cNvPr id="27" name="Text 24"/>
          <p:cNvSpPr/>
          <p:nvPr/>
        </p:nvSpPr>
        <p:spPr>
          <a:xfrm>
            <a:off x="432439"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28" name="Text 25"/>
          <p:cNvSpPr/>
          <p:nvPr/>
        </p:nvSpPr>
        <p:spPr>
          <a:xfrm>
            <a:off x="44445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a:t>
            </a:r>
            <a:endParaRPr lang="en-US" sz="850" kern="1200" dirty="0">
              <a:solidFill>
                <a:prstClr val="black"/>
              </a:solidFill>
              <a:latin typeface="Calibri" panose="020F0502020204030204"/>
              <a:ea typeface="+mn-ea"/>
              <a:cs typeface="+mn-cs"/>
            </a:endParaRPr>
          </a:p>
        </p:txBody>
      </p:sp>
      <p:sp>
        <p:nvSpPr>
          <p:cNvPr id="29" name="Shape 26"/>
          <p:cNvSpPr/>
          <p:nvPr/>
        </p:nvSpPr>
        <p:spPr>
          <a:xfrm>
            <a:off x="865629" y="5435534"/>
            <a:ext cx="241212" cy="482534"/>
          </a:xfrm>
          <a:prstGeom prst="rect">
            <a:avLst/>
          </a:prstGeom>
          <a:solidFill>
            <a:srgbClr val="373C46"/>
          </a:solidFill>
          <a:ln/>
        </p:spPr>
        <p:txBody>
          <a:bodyPr/>
          <a:lstStyle/>
          <a:p>
            <a:endParaRPr lang="es-CL"/>
          </a:p>
        </p:txBody>
      </p:sp>
      <p:sp>
        <p:nvSpPr>
          <p:cNvPr id="30" name="Shape 27"/>
          <p:cNvSpPr/>
          <p:nvPr/>
        </p:nvSpPr>
        <p:spPr>
          <a:xfrm>
            <a:off x="865629" y="4711678"/>
            <a:ext cx="241212" cy="723856"/>
          </a:xfrm>
          <a:prstGeom prst="rect">
            <a:avLst/>
          </a:prstGeom>
          <a:solidFill>
            <a:srgbClr val="282DF0"/>
          </a:solidFill>
          <a:ln/>
        </p:spPr>
        <p:txBody>
          <a:bodyPr/>
          <a:lstStyle/>
          <a:p>
            <a:endParaRPr lang="es-CL"/>
          </a:p>
        </p:txBody>
      </p:sp>
      <p:sp>
        <p:nvSpPr>
          <p:cNvPr id="31" name="Text 28"/>
          <p:cNvSpPr/>
          <p:nvPr/>
        </p:nvSpPr>
        <p:spPr>
          <a:xfrm>
            <a:off x="77672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32" name="Text 29"/>
          <p:cNvSpPr/>
          <p:nvPr/>
        </p:nvSpPr>
        <p:spPr>
          <a:xfrm>
            <a:off x="78874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S2</a:t>
            </a:r>
            <a:endParaRPr lang="en-US" sz="850" kern="1200" dirty="0">
              <a:solidFill>
                <a:prstClr val="black"/>
              </a:solidFill>
              <a:latin typeface="Calibri" panose="020F0502020204030204"/>
              <a:ea typeface="+mn-ea"/>
              <a:cs typeface="+mn-cs"/>
            </a:endParaRPr>
          </a:p>
        </p:txBody>
      </p:sp>
      <p:sp>
        <p:nvSpPr>
          <p:cNvPr id="33" name="Shape 30"/>
          <p:cNvSpPr/>
          <p:nvPr/>
        </p:nvSpPr>
        <p:spPr>
          <a:xfrm>
            <a:off x="1209807" y="4953001"/>
            <a:ext cx="241212" cy="965178"/>
          </a:xfrm>
          <a:prstGeom prst="rect">
            <a:avLst/>
          </a:prstGeom>
          <a:solidFill>
            <a:srgbClr val="282DF0"/>
          </a:solidFill>
          <a:ln/>
        </p:spPr>
        <p:txBody>
          <a:bodyPr/>
          <a:lstStyle/>
          <a:p>
            <a:endParaRPr lang="es-CL"/>
          </a:p>
        </p:txBody>
      </p:sp>
      <p:sp>
        <p:nvSpPr>
          <p:cNvPr id="34" name="Text 31"/>
          <p:cNvSpPr/>
          <p:nvPr/>
        </p:nvSpPr>
        <p:spPr>
          <a:xfrm>
            <a:off x="1120907"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35" name="Text 32"/>
          <p:cNvSpPr/>
          <p:nvPr/>
        </p:nvSpPr>
        <p:spPr>
          <a:xfrm>
            <a:off x="113292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S3</a:t>
            </a:r>
            <a:endParaRPr lang="en-US" sz="850" kern="1200" dirty="0">
              <a:solidFill>
                <a:prstClr val="black"/>
              </a:solidFill>
              <a:latin typeface="Calibri" panose="020F0502020204030204"/>
              <a:ea typeface="+mn-ea"/>
              <a:cs typeface="+mn-cs"/>
            </a:endParaRPr>
          </a:p>
        </p:txBody>
      </p:sp>
      <p:sp>
        <p:nvSpPr>
          <p:cNvPr id="36" name="Shape 33"/>
          <p:cNvSpPr/>
          <p:nvPr/>
        </p:nvSpPr>
        <p:spPr>
          <a:xfrm>
            <a:off x="1554097" y="4711678"/>
            <a:ext cx="241212" cy="1206500"/>
          </a:xfrm>
          <a:prstGeom prst="rect">
            <a:avLst/>
          </a:prstGeom>
          <a:solidFill>
            <a:srgbClr val="282DF0"/>
          </a:solidFill>
          <a:ln/>
        </p:spPr>
        <p:txBody>
          <a:bodyPr/>
          <a:lstStyle/>
          <a:p>
            <a:endParaRPr lang="es-CL"/>
          </a:p>
        </p:txBody>
      </p:sp>
      <p:sp>
        <p:nvSpPr>
          <p:cNvPr id="37" name="Text 34"/>
          <p:cNvSpPr/>
          <p:nvPr/>
        </p:nvSpPr>
        <p:spPr>
          <a:xfrm>
            <a:off x="1465197"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38" name="Text 35"/>
          <p:cNvSpPr/>
          <p:nvPr/>
        </p:nvSpPr>
        <p:spPr>
          <a:xfrm>
            <a:off x="147721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S4</a:t>
            </a:r>
            <a:endParaRPr lang="en-US" sz="850" kern="1200" dirty="0">
              <a:solidFill>
                <a:prstClr val="black"/>
              </a:solidFill>
              <a:latin typeface="Calibri" panose="020F0502020204030204"/>
              <a:ea typeface="+mn-ea"/>
              <a:cs typeface="+mn-cs"/>
            </a:endParaRPr>
          </a:p>
        </p:txBody>
      </p:sp>
      <p:sp>
        <p:nvSpPr>
          <p:cNvPr id="39" name="Shape 36"/>
          <p:cNvSpPr/>
          <p:nvPr/>
        </p:nvSpPr>
        <p:spPr>
          <a:xfrm>
            <a:off x="1898385" y="4711678"/>
            <a:ext cx="241212" cy="1206500"/>
          </a:xfrm>
          <a:prstGeom prst="rect">
            <a:avLst/>
          </a:prstGeom>
          <a:solidFill>
            <a:srgbClr val="282DF0"/>
          </a:solidFill>
          <a:ln/>
        </p:spPr>
        <p:txBody>
          <a:bodyPr/>
          <a:lstStyle/>
          <a:p>
            <a:endParaRPr lang="es-CL"/>
          </a:p>
        </p:txBody>
      </p:sp>
      <p:sp>
        <p:nvSpPr>
          <p:cNvPr id="40" name="Text 37"/>
          <p:cNvSpPr/>
          <p:nvPr/>
        </p:nvSpPr>
        <p:spPr>
          <a:xfrm>
            <a:off x="180948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1" name="Text 38"/>
          <p:cNvSpPr/>
          <p:nvPr/>
        </p:nvSpPr>
        <p:spPr>
          <a:xfrm>
            <a:off x="1821502"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S5</a:t>
            </a:r>
            <a:endParaRPr lang="en-US" sz="850" kern="1200" dirty="0">
              <a:solidFill>
                <a:prstClr val="black"/>
              </a:solidFill>
              <a:latin typeface="Calibri" panose="020F0502020204030204"/>
              <a:ea typeface="+mn-ea"/>
              <a:cs typeface="+mn-cs"/>
            </a:endParaRPr>
          </a:p>
        </p:txBody>
      </p:sp>
      <p:sp>
        <p:nvSpPr>
          <p:cNvPr id="42" name="Shape 39"/>
          <p:cNvSpPr/>
          <p:nvPr/>
        </p:nvSpPr>
        <p:spPr>
          <a:xfrm>
            <a:off x="2242675" y="4711678"/>
            <a:ext cx="241212" cy="1206500"/>
          </a:xfrm>
          <a:prstGeom prst="rect">
            <a:avLst/>
          </a:prstGeom>
          <a:solidFill>
            <a:srgbClr val="282DF0"/>
          </a:solidFill>
          <a:ln/>
        </p:spPr>
        <p:txBody>
          <a:bodyPr/>
          <a:lstStyle/>
          <a:p>
            <a:endParaRPr lang="es-CL"/>
          </a:p>
        </p:txBody>
      </p:sp>
      <p:sp>
        <p:nvSpPr>
          <p:cNvPr id="43" name="Text 40"/>
          <p:cNvSpPr/>
          <p:nvPr/>
        </p:nvSpPr>
        <p:spPr>
          <a:xfrm>
            <a:off x="215377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4" name="Text 41"/>
          <p:cNvSpPr/>
          <p:nvPr/>
        </p:nvSpPr>
        <p:spPr>
          <a:xfrm>
            <a:off x="2165791"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S6</a:t>
            </a:r>
            <a:endParaRPr lang="en-US" sz="850" kern="1200" dirty="0">
              <a:solidFill>
                <a:prstClr val="black"/>
              </a:solidFill>
              <a:latin typeface="Calibri" panose="020F0502020204030204"/>
              <a:ea typeface="+mn-ea"/>
              <a:cs typeface="+mn-cs"/>
            </a:endParaRPr>
          </a:p>
        </p:txBody>
      </p:sp>
      <p:sp>
        <p:nvSpPr>
          <p:cNvPr id="45" name="Shape 42"/>
          <p:cNvSpPr/>
          <p:nvPr/>
        </p:nvSpPr>
        <p:spPr>
          <a:xfrm>
            <a:off x="2586853" y="4711678"/>
            <a:ext cx="241212" cy="1206500"/>
          </a:xfrm>
          <a:prstGeom prst="rect">
            <a:avLst/>
          </a:prstGeom>
          <a:solidFill>
            <a:srgbClr val="282DF0"/>
          </a:solidFill>
          <a:ln/>
        </p:spPr>
        <p:txBody>
          <a:bodyPr/>
          <a:lstStyle/>
          <a:p>
            <a:endParaRPr lang="es-CL"/>
          </a:p>
        </p:txBody>
      </p:sp>
      <p:sp>
        <p:nvSpPr>
          <p:cNvPr id="46" name="Text 43"/>
          <p:cNvSpPr/>
          <p:nvPr/>
        </p:nvSpPr>
        <p:spPr>
          <a:xfrm>
            <a:off x="249795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7" name="Text 44"/>
          <p:cNvSpPr/>
          <p:nvPr/>
        </p:nvSpPr>
        <p:spPr>
          <a:xfrm>
            <a:off x="2509970"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S7</a:t>
            </a:r>
            <a:endParaRPr lang="en-US" sz="850" kern="1200" dirty="0">
              <a:solidFill>
                <a:prstClr val="black"/>
              </a:solidFill>
              <a:latin typeface="Calibri" panose="020F0502020204030204"/>
              <a:ea typeface="+mn-ea"/>
              <a:cs typeface="+mn-cs"/>
            </a:endParaRPr>
          </a:p>
        </p:txBody>
      </p:sp>
      <p:sp>
        <p:nvSpPr>
          <p:cNvPr id="48" name="Shape 45"/>
          <p:cNvSpPr/>
          <p:nvPr/>
        </p:nvSpPr>
        <p:spPr>
          <a:xfrm>
            <a:off x="2931143" y="4711678"/>
            <a:ext cx="241212" cy="1206500"/>
          </a:xfrm>
          <a:prstGeom prst="rect">
            <a:avLst/>
          </a:prstGeom>
          <a:solidFill>
            <a:srgbClr val="282DF0"/>
          </a:solidFill>
          <a:ln/>
        </p:spPr>
        <p:txBody>
          <a:bodyPr/>
          <a:lstStyle/>
          <a:p>
            <a:endParaRPr lang="es-CL"/>
          </a:p>
        </p:txBody>
      </p:sp>
      <p:sp>
        <p:nvSpPr>
          <p:cNvPr id="49" name="Text 46"/>
          <p:cNvSpPr/>
          <p:nvPr/>
        </p:nvSpPr>
        <p:spPr>
          <a:xfrm>
            <a:off x="284224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0" name="Text 47"/>
          <p:cNvSpPr/>
          <p:nvPr/>
        </p:nvSpPr>
        <p:spPr>
          <a:xfrm>
            <a:off x="2854259"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S8</a:t>
            </a:r>
            <a:endParaRPr lang="en-US" sz="850" kern="1200" dirty="0">
              <a:solidFill>
                <a:prstClr val="black"/>
              </a:solidFill>
              <a:latin typeface="Calibri" panose="020F0502020204030204"/>
              <a:ea typeface="+mn-ea"/>
              <a:cs typeface="+mn-cs"/>
            </a:endParaRPr>
          </a:p>
        </p:txBody>
      </p:sp>
      <p:sp>
        <p:nvSpPr>
          <p:cNvPr id="51" name="Shape 48"/>
          <p:cNvSpPr/>
          <p:nvPr/>
        </p:nvSpPr>
        <p:spPr>
          <a:xfrm>
            <a:off x="3275431" y="4711678"/>
            <a:ext cx="241212" cy="1206500"/>
          </a:xfrm>
          <a:prstGeom prst="rect">
            <a:avLst/>
          </a:prstGeom>
          <a:solidFill>
            <a:srgbClr val="282DF0"/>
          </a:solidFill>
          <a:ln/>
        </p:spPr>
        <p:txBody>
          <a:bodyPr/>
          <a:lstStyle/>
          <a:p>
            <a:endParaRPr lang="es-CL"/>
          </a:p>
        </p:txBody>
      </p:sp>
      <p:sp>
        <p:nvSpPr>
          <p:cNvPr id="52" name="Text 49"/>
          <p:cNvSpPr/>
          <p:nvPr/>
        </p:nvSpPr>
        <p:spPr>
          <a:xfrm>
            <a:off x="318653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3" name="Text 50"/>
          <p:cNvSpPr/>
          <p:nvPr/>
        </p:nvSpPr>
        <p:spPr>
          <a:xfrm>
            <a:off x="3198548"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S9</a:t>
            </a:r>
            <a:endParaRPr lang="en-US" sz="850" kern="1200" dirty="0">
              <a:solidFill>
                <a:prstClr val="black"/>
              </a:solidFill>
              <a:latin typeface="Calibri" panose="020F0502020204030204"/>
              <a:ea typeface="+mn-ea"/>
              <a:cs typeface="+mn-cs"/>
            </a:endParaRPr>
          </a:p>
        </p:txBody>
      </p:sp>
      <p:sp>
        <p:nvSpPr>
          <p:cNvPr id="54" name="Shape 51"/>
          <p:cNvSpPr/>
          <p:nvPr/>
        </p:nvSpPr>
        <p:spPr>
          <a:xfrm>
            <a:off x="3619721" y="4711678"/>
            <a:ext cx="241212" cy="1206500"/>
          </a:xfrm>
          <a:prstGeom prst="rect">
            <a:avLst/>
          </a:prstGeom>
          <a:solidFill>
            <a:srgbClr val="282DF0"/>
          </a:solidFill>
          <a:ln/>
        </p:spPr>
        <p:txBody>
          <a:bodyPr/>
          <a:lstStyle/>
          <a:p>
            <a:endParaRPr lang="es-CL"/>
          </a:p>
        </p:txBody>
      </p:sp>
      <p:sp>
        <p:nvSpPr>
          <p:cNvPr id="55" name="Text 52"/>
          <p:cNvSpPr/>
          <p:nvPr/>
        </p:nvSpPr>
        <p:spPr>
          <a:xfrm>
            <a:off x="353082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6" name="Text 53"/>
          <p:cNvSpPr/>
          <p:nvPr/>
        </p:nvSpPr>
        <p:spPr>
          <a:xfrm>
            <a:off x="354283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S10</a:t>
            </a:r>
            <a:endParaRPr lang="en-US" sz="850" kern="1200" dirty="0">
              <a:solidFill>
                <a:prstClr val="black"/>
              </a:solidFill>
              <a:latin typeface="Calibri" panose="020F0502020204030204"/>
              <a:ea typeface="+mn-ea"/>
              <a:cs typeface="+mn-cs"/>
            </a:endParaRPr>
          </a:p>
        </p:txBody>
      </p:sp>
      <p:sp>
        <p:nvSpPr>
          <p:cNvPr id="57" name="Shape 54"/>
          <p:cNvSpPr/>
          <p:nvPr/>
        </p:nvSpPr>
        <p:spPr>
          <a:xfrm>
            <a:off x="3963899" y="4953001"/>
            <a:ext cx="241212" cy="965178"/>
          </a:xfrm>
          <a:prstGeom prst="rect">
            <a:avLst/>
          </a:prstGeom>
          <a:solidFill>
            <a:srgbClr val="282DF0"/>
          </a:solidFill>
          <a:ln/>
        </p:spPr>
        <p:txBody>
          <a:bodyPr/>
          <a:lstStyle/>
          <a:p>
            <a:endParaRPr lang="es-CL"/>
          </a:p>
        </p:txBody>
      </p:sp>
      <p:sp>
        <p:nvSpPr>
          <p:cNvPr id="58" name="Text 55"/>
          <p:cNvSpPr/>
          <p:nvPr/>
        </p:nvSpPr>
        <p:spPr>
          <a:xfrm>
            <a:off x="3874999"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59" name="Text 56"/>
          <p:cNvSpPr/>
          <p:nvPr/>
        </p:nvSpPr>
        <p:spPr>
          <a:xfrm>
            <a:off x="388701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S11</a:t>
            </a:r>
            <a:endParaRPr lang="en-US" sz="850" kern="1200" dirty="0">
              <a:solidFill>
                <a:prstClr val="black"/>
              </a:solidFill>
              <a:latin typeface="Calibri" panose="020F0502020204030204"/>
              <a:ea typeface="+mn-ea"/>
              <a:cs typeface="+mn-cs"/>
            </a:endParaRPr>
          </a:p>
        </p:txBody>
      </p:sp>
      <p:sp>
        <p:nvSpPr>
          <p:cNvPr id="60" name="Shape 57"/>
          <p:cNvSpPr/>
          <p:nvPr/>
        </p:nvSpPr>
        <p:spPr>
          <a:xfrm>
            <a:off x="4308189" y="5837701"/>
            <a:ext cx="241212" cy="80367"/>
          </a:xfrm>
          <a:prstGeom prst="rect">
            <a:avLst/>
          </a:prstGeom>
          <a:solidFill>
            <a:srgbClr val="282DF0"/>
          </a:solidFill>
          <a:ln/>
        </p:spPr>
        <p:txBody>
          <a:bodyPr/>
          <a:lstStyle/>
          <a:p>
            <a:endParaRPr lang="es-CL"/>
          </a:p>
        </p:txBody>
      </p:sp>
      <p:sp>
        <p:nvSpPr>
          <p:cNvPr id="61" name="Text 58"/>
          <p:cNvSpPr/>
          <p:nvPr/>
        </p:nvSpPr>
        <p:spPr>
          <a:xfrm>
            <a:off x="4219289" y="567266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a:t>
            </a:r>
            <a:endParaRPr lang="en-US" sz="900" kern="1200" dirty="0">
              <a:solidFill>
                <a:prstClr val="black"/>
              </a:solidFill>
              <a:latin typeface="Calibri" panose="020F0502020204030204"/>
              <a:ea typeface="+mn-ea"/>
              <a:cs typeface="+mn-cs"/>
            </a:endParaRPr>
          </a:p>
        </p:txBody>
      </p:sp>
      <p:sp>
        <p:nvSpPr>
          <p:cNvPr id="62" name="Text 59"/>
          <p:cNvSpPr/>
          <p:nvPr/>
        </p:nvSpPr>
        <p:spPr>
          <a:xfrm>
            <a:off x="423130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S12</a:t>
            </a:r>
            <a:endParaRPr lang="en-US" sz="850" kern="1200" dirty="0">
              <a:solidFill>
                <a:prstClr val="black"/>
              </a:solidFill>
              <a:latin typeface="Calibri" panose="020F0502020204030204"/>
              <a:ea typeface="+mn-ea"/>
              <a:cs typeface="+mn-cs"/>
            </a:endParaRPr>
          </a:p>
        </p:txBody>
      </p:sp>
      <p:sp>
        <p:nvSpPr>
          <p:cNvPr id="63" name="Shape 60"/>
          <p:cNvSpPr/>
          <p:nvPr/>
        </p:nvSpPr>
        <p:spPr>
          <a:xfrm>
            <a:off x="4652477" y="5905501"/>
            <a:ext cx="241212" cy="12678"/>
          </a:xfrm>
          <a:prstGeom prst="rect">
            <a:avLst/>
          </a:prstGeom>
          <a:solidFill>
            <a:srgbClr val="D9DCE3"/>
          </a:solidFill>
          <a:ln/>
        </p:spPr>
        <p:txBody>
          <a:bodyPr/>
          <a:lstStyle/>
          <a:p>
            <a:endParaRPr lang="es-CL"/>
          </a:p>
        </p:txBody>
      </p:sp>
      <p:sp>
        <p:nvSpPr>
          <p:cNvPr id="64" name="Text 61"/>
          <p:cNvSpPr/>
          <p:nvPr/>
        </p:nvSpPr>
        <p:spPr>
          <a:xfrm>
            <a:off x="457559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S13</a:t>
            </a:r>
            <a:endParaRPr lang="en-US" sz="850" kern="1200" dirty="0">
              <a:solidFill>
                <a:prstClr val="black"/>
              </a:solidFill>
              <a:latin typeface="Calibri" panose="020F0502020204030204"/>
              <a:ea typeface="+mn-ea"/>
              <a:cs typeface="+mn-cs"/>
            </a:endParaRPr>
          </a:p>
        </p:txBody>
      </p:sp>
      <p:sp>
        <p:nvSpPr>
          <p:cNvPr id="65" name="Shape 62"/>
          <p:cNvSpPr/>
          <p:nvPr/>
        </p:nvSpPr>
        <p:spPr>
          <a:xfrm>
            <a:off x="4996767" y="5905501"/>
            <a:ext cx="241212" cy="12678"/>
          </a:xfrm>
          <a:prstGeom prst="rect">
            <a:avLst/>
          </a:prstGeom>
          <a:solidFill>
            <a:srgbClr val="D9DCE3"/>
          </a:solidFill>
          <a:ln/>
        </p:spPr>
        <p:txBody>
          <a:bodyPr/>
          <a:lstStyle/>
          <a:p>
            <a:endParaRPr lang="es-CL"/>
          </a:p>
        </p:txBody>
      </p:sp>
      <p:sp>
        <p:nvSpPr>
          <p:cNvPr id="66" name="Text 63"/>
          <p:cNvSpPr/>
          <p:nvPr/>
        </p:nvSpPr>
        <p:spPr>
          <a:xfrm>
            <a:off x="491988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S14</a:t>
            </a:r>
            <a:endParaRPr lang="en-US" sz="850" kern="1200" dirty="0">
              <a:solidFill>
                <a:prstClr val="black"/>
              </a:solidFill>
              <a:latin typeface="Calibri" panose="020F0502020204030204"/>
              <a:ea typeface="+mn-ea"/>
              <a:cs typeface="+mn-cs"/>
            </a:endParaRPr>
          </a:p>
        </p:txBody>
      </p:sp>
      <p:sp>
        <p:nvSpPr>
          <p:cNvPr id="67" name="Shape 64"/>
          <p:cNvSpPr/>
          <p:nvPr/>
        </p:nvSpPr>
        <p:spPr>
          <a:xfrm>
            <a:off x="469856" y="5918178"/>
            <a:ext cx="4819606" cy="12678"/>
          </a:xfrm>
          <a:prstGeom prst="rect">
            <a:avLst/>
          </a:prstGeom>
          <a:solidFill>
            <a:srgbClr val="06201D"/>
          </a:solidFill>
          <a:ln/>
        </p:spPr>
        <p:txBody>
          <a:bodyPr/>
          <a:lstStyle/>
          <a:p>
            <a:endParaRPr lang="es-CL"/>
          </a:p>
        </p:txBody>
      </p:sp>
      <p:sp>
        <p:nvSpPr>
          <p:cNvPr id="68" name="Shape 65"/>
          <p:cNvSpPr/>
          <p:nvPr/>
        </p:nvSpPr>
        <p:spPr>
          <a:xfrm>
            <a:off x="488929" y="6146713"/>
            <a:ext cx="1683191" cy="7055"/>
          </a:xfrm>
          <a:prstGeom prst="rect">
            <a:avLst/>
          </a:prstGeom>
          <a:solidFill>
            <a:srgbClr val="9AA0AA"/>
          </a:solidFill>
          <a:ln/>
        </p:spPr>
        <p:txBody>
          <a:bodyPr/>
          <a:lstStyle/>
          <a:p>
            <a:endParaRPr lang="es-CL"/>
          </a:p>
        </p:txBody>
      </p:sp>
      <p:sp>
        <p:nvSpPr>
          <p:cNvPr id="69" name="Text 66"/>
          <p:cNvSpPr/>
          <p:nvPr/>
        </p:nvSpPr>
        <p:spPr>
          <a:xfrm>
            <a:off x="404769"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Octubre</a:t>
            </a:r>
            <a:endParaRPr lang="en-US" sz="800" kern="1200" dirty="0">
              <a:solidFill>
                <a:prstClr val="black"/>
              </a:solidFill>
              <a:latin typeface="Calibri" panose="020F0502020204030204"/>
              <a:ea typeface="+mn-ea"/>
              <a:cs typeface="+mn-cs"/>
            </a:endParaRPr>
          </a:p>
        </p:txBody>
      </p:sp>
      <p:sp>
        <p:nvSpPr>
          <p:cNvPr id="70" name="Shape 67"/>
          <p:cNvSpPr/>
          <p:nvPr/>
        </p:nvSpPr>
        <p:spPr>
          <a:xfrm>
            <a:off x="2210153" y="6146713"/>
            <a:ext cx="1338902" cy="7055"/>
          </a:xfrm>
          <a:prstGeom prst="rect">
            <a:avLst/>
          </a:prstGeom>
          <a:solidFill>
            <a:srgbClr val="9AA0AA"/>
          </a:solidFill>
          <a:ln/>
        </p:spPr>
        <p:txBody>
          <a:bodyPr/>
          <a:lstStyle/>
          <a:p>
            <a:endParaRPr lang="es-CL"/>
          </a:p>
        </p:txBody>
      </p:sp>
      <p:sp>
        <p:nvSpPr>
          <p:cNvPr id="71" name="Text 68"/>
          <p:cNvSpPr/>
          <p:nvPr/>
        </p:nvSpPr>
        <p:spPr>
          <a:xfrm>
            <a:off x="2143208" y="6166467"/>
            <a:ext cx="1472792"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Noviembre</a:t>
            </a:r>
            <a:endParaRPr lang="en-US" sz="800" kern="1200" dirty="0">
              <a:solidFill>
                <a:prstClr val="black"/>
              </a:solidFill>
              <a:latin typeface="Calibri" panose="020F0502020204030204"/>
              <a:ea typeface="+mn-ea"/>
              <a:cs typeface="+mn-cs"/>
            </a:endParaRPr>
          </a:p>
        </p:txBody>
      </p:sp>
      <p:sp>
        <p:nvSpPr>
          <p:cNvPr id="72" name="Shape 69"/>
          <p:cNvSpPr/>
          <p:nvPr/>
        </p:nvSpPr>
        <p:spPr>
          <a:xfrm>
            <a:off x="3587199" y="6146713"/>
            <a:ext cx="1683191" cy="7055"/>
          </a:xfrm>
          <a:prstGeom prst="rect">
            <a:avLst/>
          </a:prstGeom>
          <a:solidFill>
            <a:srgbClr val="9AA0AA"/>
          </a:solidFill>
          <a:ln/>
        </p:spPr>
        <p:txBody>
          <a:bodyPr/>
          <a:lstStyle/>
          <a:p>
            <a:endParaRPr lang="es-CL"/>
          </a:p>
        </p:txBody>
      </p:sp>
      <p:sp>
        <p:nvSpPr>
          <p:cNvPr id="73" name="Text 70"/>
          <p:cNvSpPr/>
          <p:nvPr/>
        </p:nvSpPr>
        <p:spPr>
          <a:xfrm>
            <a:off x="3503040"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Diciembre</a:t>
            </a:r>
            <a:endParaRPr lang="en-US" sz="800" kern="1200" dirty="0">
              <a:solidFill>
                <a:prstClr val="black"/>
              </a:solidFill>
              <a:latin typeface="Calibri" panose="020F0502020204030204"/>
              <a:ea typeface="+mn-ea"/>
              <a:cs typeface="+mn-cs"/>
            </a:endParaRPr>
          </a:p>
        </p:txBody>
      </p:sp>
      <p:sp>
        <p:nvSpPr>
          <p:cNvPr id="74" name="Shape 71"/>
          <p:cNvSpPr/>
          <p:nvPr/>
        </p:nvSpPr>
        <p:spPr>
          <a:xfrm>
            <a:off x="7042107" y="1085784"/>
            <a:ext cx="4819606" cy="419034"/>
          </a:xfrm>
          <a:prstGeom prst="rect">
            <a:avLst/>
          </a:prstGeom>
          <a:solidFill>
            <a:srgbClr val="28D2C3"/>
          </a:solidFill>
          <a:ln w="21167">
            <a:solidFill>
              <a:srgbClr val="06201D"/>
            </a:solidFill>
            <a:prstDash val="solid"/>
          </a:ln>
        </p:spPr>
        <p:txBody>
          <a:bodyPr/>
          <a:lstStyle/>
          <a:p>
            <a:endParaRPr lang="es-CL"/>
          </a:p>
        </p:txBody>
      </p:sp>
      <p:sp>
        <p:nvSpPr>
          <p:cNvPr id="75" name="Text 72"/>
          <p:cNvSpPr/>
          <p:nvPr/>
        </p:nvSpPr>
        <p:spPr>
          <a:xfrm>
            <a:off x="6983923" y="1099895"/>
            <a:ext cx="4935972"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Cristián Pérez</a:t>
            </a:r>
            <a:endParaRPr lang="en-US" kern="1200" dirty="0">
              <a:solidFill>
                <a:prstClr val="black"/>
              </a:solidFill>
              <a:latin typeface="Calibri" panose="020F0502020204030204"/>
              <a:ea typeface="+mn-ea"/>
              <a:cs typeface="+mn-cs"/>
            </a:endParaRPr>
          </a:p>
        </p:txBody>
      </p:sp>
      <p:sp>
        <p:nvSpPr>
          <p:cNvPr id="76" name="Shape 73"/>
          <p:cNvSpPr/>
          <p:nvPr/>
        </p:nvSpPr>
        <p:spPr>
          <a:xfrm>
            <a:off x="7042107" y="1663678"/>
            <a:ext cx="1257212" cy="1143000"/>
          </a:xfrm>
          <a:prstGeom prst="rect">
            <a:avLst/>
          </a:prstGeom>
          <a:solidFill>
            <a:srgbClr val="28D2C3"/>
          </a:solidFill>
          <a:ln w="21167">
            <a:solidFill>
              <a:srgbClr val="06201D"/>
            </a:solidFill>
            <a:prstDash val="solid"/>
          </a:ln>
        </p:spPr>
        <p:txBody>
          <a:bodyPr/>
          <a:lstStyle/>
          <a:p>
            <a:endParaRPr lang="es-CL"/>
          </a:p>
        </p:txBody>
      </p:sp>
      <p:sp>
        <p:nvSpPr>
          <p:cNvPr id="77" name="Text 74"/>
          <p:cNvSpPr/>
          <p:nvPr/>
        </p:nvSpPr>
        <p:spPr>
          <a:xfrm>
            <a:off x="7377642" y="1745258"/>
            <a:ext cx="586140"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1 Top 10</a:t>
            </a:r>
            <a:endParaRPr lang="en-US" sz="1100" kern="1200" dirty="0">
              <a:solidFill>
                <a:prstClr val="black"/>
              </a:solidFill>
              <a:latin typeface="Calibri" panose="020F0502020204030204"/>
              <a:ea typeface="+mn-ea"/>
              <a:cs typeface="+mn-cs"/>
            </a:endParaRPr>
          </a:p>
        </p:txBody>
      </p:sp>
      <p:sp>
        <p:nvSpPr>
          <p:cNvPr id="78" name="Text 75"/>
          <p:cNvSpPr/>
          <p:nvPr/>
        </p:nvSpPr>
        <p:spPr>
          <a:xfrm>
            <a:off x="7489870" y="2118431"/>
            <a:ext cx="361575"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14</a:t>
            </a:r>
            <a:endParaRPr lang="en-US" sz="2200" kern="1200" dirty="0">
              <a:solidFill>
                <a:prstClr val="black"/>
              </a:solidFill>
              <a:latin typeface="Calibri" panose="020F0502020204030204"/>
              <a:ea typeface="+mn-ea"/>
              <a:cs typeface="+mn-cs"/>
            </a:endParaRPr>
          </a:p>
        </p:txBody>
      </p:sp>
      <p:sp>
        <p:nvSpPr>
          <p:cNvPr id="79" name="Text 76"/>
          <p:cNvSpPr/>
          <p:nvPr/>
        </p:nvSpPr>
        <p:spPr>
          <a:xfrm>
            <a:off x="736022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MM$147,0</a:t>
            </a:r>
            <a:endParaRPr lang="en-US" sz="950" kern="1200" dirty="0">
              <a:solidFill>
                <a:prstClr val="black"/>
              </a:solidFill>
              <a:latin typeface="Calibri" panose="020F0502020204030204"/>
              <a:ea typeface="+mn-ea"/>
              <a:cs typeface="+mn-cs"/>
            </a:endParaRPr>
          </a:p>
        </p:txBody>
      </p:sp>
      <p:sp>
        <p:nvSpPr>
          <p:cNvPr id="80" name="Shape 77"/>
          <p:cNvSpPr/>
          <p:nvPr/>
        </p:nvSpPr>
        <p:spPr>
          <a:xfrm>
            <a:off x="8458178" y="1663678"/>
            <a:ext cx="1257212" cy="1143000"/>
          </a:xfrm>
          <a:prstGeom prst="rect">
            <a:avLst/>
          </a:prstGeom>
          <a:solidFill>
            <a:srgbClr val="373C46"/>
          </a:solidFill>
          <a:ln w="21167">
            <a:solidFill>
              <a:srgbClr val="06201D"/>
            </a:solidFill>
            <a:prstDash val="solid"/>
          </a:ln>
        </p:spPr>
        <p:txBody>
          <a:bodyPr/>
          <a:lstStyle/>
          <a:p>
            <a:endParaRPr lang="es-CL"/>
          </a:p>
        </p:txBody>
      </p:sp>
      <p:sp>
        <p:nvSpPr>
          <p:cNvPr id="81" name="Text 78"/>
          <p:cNvSpPr/>
          <p:nvPr/>
        </p:nvSpPr>
        <p:spPr>
          <a:xfrm>
            <a:off x="8721285" y="1661474"/>
            <a:ext cx="730999" cy="52810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2 Top 15</a:t>
            </a:r>
          </a:p>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 Grandes </a:t>
            </a:r>
            <a:r>
              <a:rPr lang="en-US" sz="1100" b="1" kern="1200" dirty="0" err="1">
                <a:solidFill>
                  <a:srgbClr val="FFFFFF"/>
                </a:solidFill>
                <a:latin typeface="Arial" pitchFamily="34" charset="0"/>
                <a:ea typeface="Arial" pitchFamily="34" charset="-122"/>
                <a:cs typeface="Arial" pitchFamily="34" charset="-120"/>
              </a:rPr>
              <a:t>en</a:t>
            </a:r>
            <a:r>
              <a:rPr lang="en-US" sz="1100" b="1" kern="1200" dirty="0">
                <a:solidFill>
                  <a:srgbClr val="FFFFFF"/>
                </a:solidFill>
                <a:latin typeface="Arial" pitchFamily="34" charset="0"/>
                <a:ea typeface="Arial" pitchFamily="34" charset="-122"/>
                <a:cs typeface="Arial" pitchFamily="34" charset="-120"/>
              </a:rPr>
              <a:t> Infra</a:t>
            </a:r>
            <a:endParaRPr lang="en-US" sz="1100" kern="1200" dirty="0">
              <a:solidFill>
                <a:prstClr val="black"/>
              </a:solidFill>
              <a:latin typeface="Calibri" panose="020F0502020204030204"/>
              <a:ea typeface="+mn-ea"/>
              <a:cs typeface="+mn-cs"/>
            </a:endParaRPr>
          </a:p>
        </p:txBody>
      </p:sp>
      <p:sp>
        <p:nvSpPr>
          <p:cNvPr id="82" name="Text 79"/>
          <p:cNvSpPr/>
          <p:nvPr/>
        </p:nvSpPr>
        <p:spPr>
          <a:xfrm>
            <a:off x="8905942" y="2202215"/>
            <a:ext cx="361575"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23</a:t>
            </a:r>
            <a:endParaRPr lang="en-US" sz="2200" kern="1200" dirty="0">
              <a:solidFill>
                <a:prstClr val="black"/>
              </a:solidFill>
              <a:latin typeface="Calibri" panose="020F0502020204030204"/>
              <a:ea typeface="+mn-ea"/>
              <a:cs typeface="+mn-cs"/>
            </a:endParaRPr>
          </a:p>
        </p:txBody>
      </p:sp>
      <p:sp>
        <p:nvSpPr>
          <p:cNvPr id="83" name="Text 80"/>
          <p:cNvSpPr/>
          <p:nvPr/>
        </p:nvSpPr>
        <p:spPr>
          <a:xfrm>
            <a:off x="8809920" y="2519606"/>
            <a:ext cx="553729"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MM$50,1</a:t>
            </a:r>
            <a:endParaRPr lang="en-US" sz="950" kern="1200" dirty="0">
              <a:solidFill>
                <a:prstClr val="black"/>
              </a:solidFill>
              <a:latin typeface="Calibri" panose="020F0502020204030204"/>
              <a:ea typeface="+mn-ea"/>
              <a:cs typeface="+mn-cs"/>
            </a:endParaRPr>
          </a:p>
        </p:txBody>
      </p:sp>
      <p:sp>
        <p:nvSpPr>
          <p:cNvPr id="84" name="Shape 81"/>
          <p:cNvSpPr/>
          <p:nvPr/>
        </p:nvSpPr>
        <p:spPr>
          <a:xfrm>
            <a:off x="9874251" y="1663678"/>
            <a:ext cx="1987462" cy="1143000"/>
          </a:xfrm>
          <a:prstGeom prst="rect">
            <a:avLst/>
          </a:prstGeom>
          <a:solidFill>
            <a:srgbClr val="282DF0"/>
          </a:solidFill>
          <a:ln w="21167">
            <a:solidFill>
              <a:srgbClr val="06201D"/>
            </a:solidFill>
            <a:prstDash val="solid"/>
          </a:ln>
        </p:spPr>
        <p:txBody>
          <a:bodyPr/>
          <a:lstStyle/>
          <a:p>
            <a:endParaRPr lang="es-CL"/>
          </a:p>
        </p:txBody>
      </p:sp>
      <p:sp>
        <p:nvSpPr>
          <p:cNvPr id="85" name="Text 82"/>
          <p:cNvSpPr/>
          <p:nvPr/>
        </p:nvSpPr>
        <p:spPr>
          <a:xfrm>
            <a:off x="10547681" y="1745258"/>
            <a:ext cx="640601"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3 Restante</a:t>
            </a:r>
            <a:endParaRPr lang="en-US" sz="1100" kern="1200" dirty="0">
              <a:solidFill>
                <a:prstClr val="black"/>
              </a:solidFill>
              <a:latin typeface="Calibri" panose="020F0502020204030204"/>
              <a:ea typeface="+mn-ea"/>
              <a:cs typeface="+mn-cs"/>
            </a:endParaRPr>
          </a:p>
        </p:txBody>
      </p:sp>
      <p:sp>
        <p:nvSpPr>
          <p:cNvPr id="86" name="Text 83"/>
          <p:cNvSpPr/>
          <p:nvPr/>
        </p:nvSpPr>
        <p:spPr>
          <a:xfrm>
            <a:off x="10609528" y="2118431"/>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146</a:t>
            </a:r>
            <a:endParaRPr lang="en-US" sz="2200" kern="1200" dirty="0">
              <a:solidFill>
                <a:prstClr val="black"/>
              </a:solidFill>
              <a:latin typeface="Calibri" panose="020F0502020204030204"/>
              <a:ea typeface="+mn-ea"/>
              <a:cs typeface="+mn-cs"/>
            </a:endParaRPr>
          </a:p>
        </p:txBody>
      </p:sp>
      <p:sp>
        <p:nvSpPr>
          <p:cNvPr id="87" name="Text 84"/>
          <p:cNvSpPr/>
          <p:nvPr/>
        </p:nvSpPr>
        <p:spPr>
          <a:xfrm>
            <a:off x="1055749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MM$282,5</a:t>
            </a:r>
            <a:endParaRPr lang="en-US" sz="950" kern="1200" dirty="0">
              <a:solidFill>
                <a:prstClr val="black"/>
              </a:solidFill>
              <a:latin typeface="Calibri" panose="020F0502020204030204"/>
              <a:ea typeface="+mn-ea"/>
              <a:cs typeface="+mn-cs"/>
            </a:endParaRPr>
          </a:p>
        </p:txBody>
      </p:sp>
      <p:sp>
        <p:nvSpPr>
          <p:cNvPr id="88" name="Shape 85"/>
          <p:cNvSpPr/>
          <p:nvPr/>
        </p:nvSpPr>
        <p:spPr>
          <a:xfrm>
            <a:off x="7042107" y="2908212"/>
            <a:ext cx="4819606" cy="1079500"/>
          </a:xfrm>
          <a:prstGeom prst="rect">
            <a:avLst/>
          </a:prstGeom>
          <a:ln w="21167">
            <a:solidFill>
              <a:srgbClr val="06201D"/>
            </a:solidFill>
            <a:prstDash val="solid"/>
          </a:ln>
        </p:spPr>
        <p:txBody>
          <a:bodyPr/>
          <a:lstStyle/>
          <a:p>
            <a:endParaRPr lang="es-CL"/>
          </a:p>
        </p:txBody>
      </p:sp>
      <p:sp>
        <p:nvSpPr>
          <p:cNvPr id="89" name="Text 86"/>
          <p:cNvSpPr/>
          <p:nvPr/>
        </p:nvSpPr>
        <p:spPr>
          <a:xfrm>
            <a:off x="7208529" y="3105106"/>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b="1" kern="1200" dirty="0">
                <a:solidFill>
                  <a:srgbClr val="33448D"/>
                </a:solidFill>
                <a:latin typeface="Arial" pitchFamily="34" charset="0"/>
                <a:ea typeface="Arial" pitchFamily="34" charset="-122"/>
                <a:cs typeface="Arial" pitchFamily="34" charset="-120"/>
              </a:rPr>
              <a:t>183 visitas </a:t>
            </a:r>
            <a:r>
              <a:rPr lang="en-US" sz="1000" kern="1200" dirty="0">
                <a:solidFill>
                  <a:srgbClr val="373C46"/>
                </a:solidFill>
                <a:latin typeface="Arial" pitchFamily="34" charset="0"/>
                <a:ea typeface="Arial" pitchFamily="34" charset="-122"/>
                <a:cs typeface="Arial" pitchFamily="34" charset="-120"/>
              </a:rPr>
              <a:t>en 61 días hábiles · 14 semanas (1 oct – 29 dic)</a:t>
            </a:r>
            <a:endParaRPr lang="en-US" sz="1000" kern="1200" dirty="0">
              <a:solidFill>
                <a:prstClr val="black"/>
              </a:solidFill>
              <a:latin typeface="Calibri" panose="020F0502020204030204"/>
              <a:ea typeface="+mn-ea"/>
              <a:cs typeface="+mn-cs"/>
            </a:endParaRPr>
          </a:p>
        </p:txBody>
      </p:sp>
      <p:sp>
        <p:nvSpPr>
          <p:cNvPr id="90" name="Text 87"/>
          <p:cNvSpPr/>
          <p:nvPr/>
        </p:nvSpPr>
        <p:spPr>
          <a:xfrm>
            <a:off x="7208529" y="3276534"/>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kern="1200" dirty="0">
                <a:solidFill>
                  <a:srgbClr val="373C46"/>
                </a:solidFill>
                <a:latin typeface="Arial" pitchFamily="34" charset="0"/>
                <a:ea typeface="Arial" pitchFamily="34" charset="-122"/>
                <a:cs typeface="Arial" pitchFamily="34" charset="-120"/>
              </a:rPr>
              <a:t>Potencial cubierto: </a:t>
            </a:r>
            <a:r>
              <a:rPr lang="en-US" sz="1000" b="1" kern="1200" dirty="0">
                <a:solidFill>
                  <a:srgbClr val="33448D"/>
                </a:solidFill>
                <a:latin typeface="Arial" pitchFamily="34" charset="0"/>
                <a:ea typeface="Arial" pitchFamily="34" charset="-122"/>
                <a:cs typeface="Arial" pitchFamily="34" charset="-120"/>
              </a:rPr>
              <a:t>MM$479,6</a:t>
            </a:r>
            <a:endParaRPr lang="en-US" sz="1000" kern="1200" dirty="0">
              <a:solidFill>
                <a:prstClr val="black"/>
              </a:solidFill>
              <a:latin typeface="Calibri" panose="020F0502020204030204"/>
              <a:ea typeface="+mn-ea"/>
              <a:cs typeface="+mn-cs"/>
            </a:endParaRPr>
          </a:p>
        </p:txBody>
      </p:sp>
      <p:sp>
        <p:nvSpPr>
          <p:cNvPr id="91" name="Text 88"/>
          <p:cNvSpPr/>
          <p:nvPr/>
        </p:nvSpPr>
        <p:spPr>
          <a:xfrm>
            <a:off x="7208529" y="3447962"/>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Cobertura: RM 119 · Valparaíso 64 visitas</a:t>
            </a:r>
            <a:endParaRPr lang="en-US" sz="1000" kern="1200" dirty="0">
              <a:solidFill>
                <a:prstClr val="black"/>
              </a:solidFill>
              <a:latin typeface="Calibri" panose="020F0502020204030204"/>
              <a:ea typeface="+mn-ea"/>
              <a:cs typeface="+mn-cs"/>
            </a:endParaRPr>
          </a:p>
        </p:txBody>
      </p:sp>
      <p:sp>
        <p:nvSpPr>
          <p:cNvPr id="92" name="Text 89"/>
          <p:cNvSpPr/>
          <p:nvPr/>
        </p:nvSpPr>
        <p:spPr>
          <a:xfrm>
            <a:off x="7208529" y="3619390"/>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3 visitas diarias: 09:30 · 12:00 · 15:30 · 46 direcciones por confirmar</a:t>
            </a:r>
            <a:endParaRPr lang="en-US" sz="1000" kern="1200" dirty="0">
              <a:solidFill>
                <a:prstClr val="black"/>
              </a:solidFill>
              <a:latin typeface="Calibri" panose="020F0502020204030204"/>
              <a:ea typeface="+mn-ea"/>
              <a:cs typeface="+mn-cs"/>
            </a:endParaRPr>
          </a:p>
        </p:txBody>
      </p:sp>
      <p:sp>
        <p:nvSpPr>
          <p:cNvPr id="93" name="Text 90"/>
          <p:cNvSpPr/>
          <p:nvPr/>
        </p:nvSpPr>
        <p:spPr>
          <a:xfrm>
            <a:off x="7042107" y="4140178"/>
            <a:ext cx="1270882" cy="173567"/>
          </a:xfrm>
          <a:prstGeom prst="rect">
            <a:avLst/>
          </a:prstGeom>
          <a:noFill/>
          <a:ln/>
        </p:spPr>
        <p:txBody>
          <a:bodyPr wrap="square" lIns="16933" tIns="16933" rIns="16933" bIns="16933" rtlCol="0" anchor="t">
            <a:normAutofit lnSpcReduction="10000"/>
          </a:bodyPr>
          <a:lstStyle/>
          <a:p>
            <a:pPr defTabSz="609630">
              <a:buClrTx/>
            </a:pPr>
            <a:r>
              <a:rPr lang="en-US" sz="1000" b="1" kern="1200" dirty="0">
                <a:solidFill>
                  <a:srgbClr val="33448D"/>
                </a:solidFill>
                <a:latin typeface="Arial" pitchFamily="34" charset="0"/>
                <a:ea typeface="Arial" pitchFamily="34" charset="-122"/>
                <a:cs typeface="Arial" pitchFamily="34" charset="-120"/>
              </a:rPr>
              <a:t>Visitas por semana</a:t>
            </a:r>
            <a:endParaRPr lang="en-US" sz="1000" kern="1200" dirty="0">
              <a:solidFill>
                <a:prstClr val="black"/>
              </a:solidFill>
              <a:latin typeface="Calibri" panose="020F0502020204030204"/>
              <a:ea typeface="+mn-ea"/>
              <a:cs typeface="+mn-cs"/>
            </a:endParaRPr>
          </a:p>
        </p:txBody>
      </p:sp>
      <p:sp>
        <p:nvSpPr>
          <p:cNvPr id="94" name="Shape 91"/>
          <p:cNvSpPr/>
          <p:nvPr/>
        </p:nvSpPr>
        <p:spPr>
          <a:xfrm>
            <a:off x="7411751" y="4356035"/>
            <a:ext cx="1670403" cy="14111"/>
          </a:xfrm>
          <a:prstGeom prst="rect">
            <a:avLst/>
          </a:prstGeom>
          <a:solidFill>
            <a:srgbClr val="33448D"/>
          </a:solidFill>
          <a:ln/>
        </p:spPr>
        <p:txBody>
          <a:bodyPr/>
          <a:lstStyle/>
          <a:p>
            <a:endParaRPr lang="es-CL"/>
          </a:p>
        </p:txBody>
      </p:sp>
      <p:sp>
        <p:nvSpPr>
          <p:cNvPr id="95" name="Text 92"/>
          <p:cNvSpPr/>
          <p:nvPr/>
        </p:nvSpPr>
        <p:spPr>
          <a:xfrm>
            <a:off x="7328232" y="4389195"/>
            <a:ext cx="1837443" cy="152312"/>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Valparaíso · 64 visitas</a:t>
            </a:r>
            <a:endParaRPr lang="en-US" sz="850" kern="1200" dirty="0">
              <a:solidFill>
                <a:prstClr val="black"/>
              </a:solidFill>
              <a:latin typeface="Calibri" panose="020F0502020204030204"/>
              <a:ea typeface="+mn-ea"/>
              <a:cs typeface="+mn-cs"/>
            </a:endParaRPr>
          </a:p>
        </p:txBody>
      </p:sp>
      <p:sp>
        <p:nvSpPr>
          <p:cNvPr id="96" name="Shape 93"/>
          <p:cNvSpPr/>
          <p:nvPr/>
        </p:nvSpPr>
        <p:spPr>
          <a:xfrm>
            <a:off x="7093589" y="5676856"/>
            <a:ext cx="241212" cy="241212"/>
          </a:xfrm>
          <a:prstGeom prst="rect">
            <a:avLst/>
          </a:prstGeom>
          <a:solidFill>
            <a:srgbClr val="28D2C3"/>
          </a:solidFill>
          <a:ln/>
        </p:spPr>
        <p:txBody>
          <a:bodyPr/>
          <a:lstStyle/>
          <a:p>
            <a:endParaRPr lang="es-CL"/>
          </a:p>
        </p:txBody>
      </p:sp>
      <p:sp>
        <p:nvSpPr>
          <p:cNvPr id="97" name="Shape 94"/>
          <p:cNvSpPr/>
          <p:nvPr/>
        </p:nvSpPr>
        <p:spPr>
          <a:xfrm>
            <a:off x="7093589" y="5435534"/>
            <a:ext cx="241212" cy="241212"/>
          </a:xfrm>
          <a:prstGeom prst="rect">
            <a:avLst/>
          </a:prstGeom>
          <a:solidFill>
            <a:srgbClr val="373C46"/>
          </a:solidFill>
          <a:ln/>
        </p:spPr>
        <p:txBody>
          <a:bodyPr/>
          <a:lstStyle/>
          <a:p>
            <a:endParaRPr lang="es-CL"/>
          </a:p>
        </p:txBody>
      </p:sp>
      <p:sp>
        <p:nvSpPr>
          <p:cNvPr id="98" name="Text 95"/>
          <p:cNvSpPr/>
          <p:nvPr/>
        </p:nvSpPr>
        <p:spPr>
          <a:xfrm>
            <a:off x="7004689"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99" name="Text 96"/>
          <p:cNvSpPr/>
          <p:nvPr/>
        </p:nvSpPr>
        <p:spPr>
          <a:xfrm>
            <a:off x="701670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a:t>
            </a:r>
            <a:endParaRPr lang="en-US" sz="850" kern="1200" dirty="0">
              <a:solidFill>
                <a:prstClr val="black"/>
              </a:solidFill>
              <a:latin typeface="Calibri" panose="020F0502020204030204"/>
              <a:ea typeface="+mn-ea"/>
              <a:cs typeface="+mn-cs"/>
            </a:endParaRPr>
          </a:p>
        </p:txBody>
      </p:sp>
      <p:sp>
        <p:nvSpPr>
          <p:cNvPr id="100" name="Shape 97"/>
          <p:cNvSpPr/>
          <p:nvPr/>
        </p:nvSpPr>
        <p:spPr>
          <a:xfrm>
            <a:off x="7437879" y="5194212"/>
            <a:ext cx="241212" cy="723856"/>
          </a:xfrm>
          <a:prstGeom prst="rect">
            <a:avLst/>
          </a:prstGeom>
          <a:solidFill>
            <a:srgbClr val="28D2C3"/>
          </a:solidFill>
          <a:ln/>
        </p:spPr>
        <p:txBody>
          <a:bodyPr/>
          <a:lstStyle/>
          <a:p>
            <a:endParaRPr lang="es-CL"/>
          </a:p>
        </p:txBody>
      </p:sp>
      <p:sp>
        <p:nvSpPr>
          <p:cNvPr id="101" name="Shape 98"/>
          <p:cNvSpPr/>
          <p:nvPr/>
        </p:nvSpPr>
        <p:spPr>
          <a:xfrm>
            <a:off x="7437879" y="4711678"/>
            <a:ext cx="241212" cy="482534"/>
          </a:xfrm>
          <a:prstGeom prst="rect">
            <a:avLst/>
          </a:prstGeom>
          <a:solidFill>
            <a:srgbClr val="373C46"/>
          </a:solidFill>
          <a:ln/>
        </p:spPr>
        <p:txBody>
          <a:bodyPr/>
          <a:lstStyle/>
          <a:p>
            <a:endParaRPr lang="es-CL"/>
          </a:p>
        </p:txBody>
      </p:sp>
      <p:sp>
        <p:nvSpPr>
          <p:cNvPr id="102" name="Text 99"/>
          <p:cNvSpPr/>
          <p:nvPr/>
        </p:nvSpPr>
        <p:spPr>
          <a:xfrm>
            <a:off x="734897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03" name="Text 100"/>
          <p:cNvSpPr/>
          <p:nvPr/>
        </p:nvSpPr>
        <p:spPr>
          <a:xfrm>
            <a:off x="736099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S2</a:t>
            </a:r>
            <a:endParaRPr lang="en-US" sz="850" kern="1200" dirty="0">
              <a:solidFill>
                <a:prstClr val="black"/>
              </a:solidFill>
              <a:latin typeface="Calibri" panose="020F0502020204030204"/>
              <a:ea typeface="+mn-ea"/>
              <a:cs typeface="+mn-cs"/>
            </a:endParaRPr>
          </a:p>
        </p:txBody>
      </p:sp>
      <p:sp>
        <p:nvSpPr>
          <p:cNvPr id="104" name="Shape 101"/>
          <p:cNvSpPr/>
          <p:nvPr/>
        </p:nvSpPr>
        <p:spPr>
          <a:xfrm>
            <a:off x="7782057" y="5837701"/>
            <a:ext cx="241212" cy="80367"/>
          </a:xfrm>
          <a:prstGeom prst="rect">
            <a:avLst/>
          </a:prstGeom>
          <a:solidFill>
            <a:srgbClr val="28D2C3"/>
          </a:solidFill>
          <a:ln/>
        </p:spPr>
        <p:txBody>
          <a:bodyPr/>
          <a:lstStyle/>
          <a:p>
            <a:endParaRPr lang="es-CL"/>
          </a:p>
        </p:txBody>
      </p:sp>
      <p:sp>
        <p:nvSpPr>
          <p:cNvPr id="105" name="Shape 102"/>
          <p:cNvSpPr/>
          <p:nvPr/>
        </p:nvSpPr>
        <p:spPr>
          <a:xfrm>
            <a:off x="7782057" y="4953001"/>
            <a:ext cx="241212" cy="884701"/>
          </a:xfrm>
          <a:prstGeom prst="rect">
            <a:avLst/>
          </a:prstGeom>
          <a:solidFill>
            <a:srgbClr val="373C46"/>
          </a:solidFill>
          <a:ln/>
        </p:spPr>
        <p:txBody>
          <a:bodyPr/>
          <a:lstStyle/>
          <a:p>
            <a:endParaRPr lang="es-CL"/>
          </a:p>
        </p:txBody>
      </p:sp>
      <p:sp>
        <p:nvSpPr>
          <p:cNvPr id="106" name="Text 103"/>
          <p:cNvSpPr/>
          <p:nvPr/>
        </p:nvSpPr>
        <p:spPr>
          <a:xfrm>
            <a:off x="7693157"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07" name="Text 104"/>
          <p:cNvSpPr/>
          <p:nvPr/>
        </p:nvSpPr>
        <p:spPr>
          <a:xfrm>
            <a:off x="770517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S3</a:t>
            </a:r>
            <a:endParaRPr lang="en-US" sz="850" kern="1200" dirty="0">
              <a:solidFill>
                <a:prstClr val="black"/>
              </a:solidFill>
              <a:latin typeface="Calibri" panose="020F0502020204030204"/>
              <a:ea typeface="+mn-ea"/>
              <a:cs typeface="+mn-cs"/>
            </a:endParaRPr>
          </a:p>
        </p:txBody>
      </p:sp>
      <p:sp>
        <p:nvSpPr>
          <p:cNvPr id="108" name="Shape 105"/>
          <p:cNvSpPr/>
          <p:nvPr/>
        </p:nvSpPr>
        <p:spPr>
          <a:xfrm>
            <a:off x="8126347" y="5837701"/>
            <a:ext cx="241212" cy="80367"/>
          </a:xfrm>
          <a:prstGeom prst="rect">
            <a:avLst/>
          </a:prstGeom>
          <a:solidFill>
            <a:srgbClr val="28D2C3"/>
          </a:solidFill>
          <a:ln/>
        </p:spPr>
        <p:txBody>
          <a:bodyPr/>
          <a:lstStyle/>
          <a:p>
            <a:endParaRPr lang="es-CL"/>
          </a:p>
        </p:txBody>
      </p:sp>
      <p:sp>
        <p:nvSpPr>
          <p:cNvPr id="109" name="Shape 106"/>
          <p:cNvSpPr/>
          <p:nvPr/>
        </p:nvSpPr>
        <p:spPr>
          <a:xfrm>
            <a:off x="8126347" y="5596379"/>
            <a:ext cx="241212" cy="241212"/>
          </a:xfrm>
          <a:prstGeom prst="rect">
            <a:avLst/>
          </a:prstGeom>
          <a:solidFill>
            <a:srgbClr val="373C46"/>
          </a:solidFill>
          <a:ln/>
        </p:spPr>
        <p:txBody>
          <a:bodyPr/>
          <a:lstStyle/>
          <a:p>
            <a:endParaRPr lang="es-CL"/>
          </a:p>
        </p:txBody>
      </p:sp>
      <p:sp>
        <p:nvSpPr>
          <p:cNvPr id="110" name="Shape 107"/>
          <p:cNvSpPr/>
          <p:nvPr/>
        </p:nvSpPr>
        <p:spPr>
          <a:xfrm>
            <a:off x="8126347" y="4711678"/>
            <a:ext cx="241212" cy="884701"/>
          </a:xfrm>
          <a:prstGeom prst="rect">
            <a:avLst/>
          </a:prstGeom>
          <a:solidFill>
            <a:srgbClr val="282DF0"/>
          </a:solidFill>
          <a:ln/>
        </p:spPr>
        <p:txBody>
          <a:bodyPr/>
          <a:lstStyle/>
          <a:p>
            <a:endParaRPr lang="es-CL"/>
          </a:p>
        </p:txBody>
      </p:sp>
      <p:sp>
        <p:nvSpPr>
          <p:cNvPr id="111" name="Text 108"/>
          <p:cNvSpPr/>
          <p:nvPr/>
        </p:nvSpPr>
        <p:spPr>
          <a:xfrm>
            <a:off x="8037447"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2" name="Text 109"/>
          <p:cNvSpPr/>
          <p:nvPr/>
        </p:nvSpPr>
        <p:spPr>
          <a:xfrm>
            <a:off x="804946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S4</a:t>
            </a:r>
            <a:endParaRPr lang="en-US" sz="850" kern="1200" dirty="0">
              <a:solidFill>
                <a:prstClr val="black"/>
              </a:solidFill>
              <a:latin typeface="Calibri" panose="020F0502020204030204"/>
              <a:ea typeface="+mn-ea"/>
              <a:cs typeface="+mn-cs"/>
            </a:endParaRPr>
          </a:p>
        </p:txBody>
      </p:sp>
      <p:sp>
        <p:nvSpPr>
          <p:cNvPr id="113" name="Shape 110"/>
          <p:cNvSpPr/>
          <p:nvPr/>
        </p:nvSpPr>
        <p:spPr>
          <a:xfrm>
            <a:off x="8470636" y="4711678"/>
            <a:ext cx="241212" cy="1206500"/>
          </a:xfrm>
          <a:prstGeom prst="rect">
            <a:avLst/>
          </a:prstGeom>
          <a:solidFill>
            <a:srgbClr val="282DF0"/>
          </a:solidFill>
          <a:ln/>
        </p:spPr>
        <p:txBody>
          <a:bodyPr/>
          <a:lstStyle/>
          <a:p>
            <a:endParaRPr lang="es-CL"/>
          </a:p>
        </p:txBody>
      </p:sp>
      <p:sp>
        <p:nvSpPr>
          <p:cNvPr id="114" name="Text 111"/>
          <p:cNvSpPr/>
          <p:nvPr/>
        </p:nvSpPr>
        <p:spPr>
          <a:xfrm>
            <a:off x="8381736"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5" name="Text 112"/>
          <p:cNvSpPr/>
          <p:nvPr/>
        </p:nvSpPr>
        <p:spPr>
          <a:xfrm>
            <a:off x="8393752"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S5</a:t>
            </a:r>
            <a:endParaRPr lang="en-US" sz="850" kern="1200" dirty="0">
              <a:solidFill>
                <a:prstClr val="black"/>
              </a:solidFill>
              <a:latin typeface="Calibri" panose="020F0502020204030204"/>
              <a:ea typeface="+mn-ea"/>
              <a:cs typeface="+mn-cs"/>
            </a:endParaRPr>
          </a:p>
        </p:txBody>
      </p:sp>
      <p:sp>
        <p:nvSpPr>
          <p:cNvPr id="116" name="Shape 113"/>
          <p:cNvSpPr/>
          <p:nvPr/>
        </p:nvSpPr>
        <p:spPr>
          <a:xfrm>
            <a:off x="8814925" y="4711678"/>
            <a:ext cx="241212" cy="1206500"/>
          </a:xfrm>
          <a:prstGeom prst="rect">
            <a:avLst/>
          </a:prstGeom>
          <a:solidFill>
            <a:srgbClr val="282DF0"/>
          </a:solidFill>
          <a:ln/>
        </p:spPr>
        <p:txBody>
          <a:bodyPr/>
          <a:lstStyle/>
          <a:p>
            <a:endParaRPr lang="es-CL"/>
          </a:p>
        </p:txBody>
      </p:sp>
      <p:sp>
        <p:nvSpPr>
          <p:cNvPr id="117" name="Text 114"/>
          <p:cNvSpPr/>
          <p:nvPr/>
        </p:nvSpPr>
        <p:spPr>
          <a:xfrm>
            <a:off x="872602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8" name="Text 115"/>
          <p:cNvSpPr/>
          <p:nvPr/>
        </p:nvSpPr>
        <p:spPr>
          <a:xfrm>
            <a:off x="8738041"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S6</a:t>
            </a:r>
            <a:endParaRPr lang="en-US" sz="850" kern="1200" dirty="0">
              <a:solidFill>
                <a:prstClr val="black"/>
              </a:solidFill>
              <a:latin typeface="Calibri" panose="020F0502020204030204"/>
              <a:ea typeface="+mn-ea"/>
              <a:cs typeface="+mn-cs"/>
            </a:endParaRPr>
          </a:p>
        </p:txBody>
      </p:sp>
      <p:sp>
        <p:nvSpPr>
          <p:cNvPr id="119" name="Shape 116"/>
          <p:cNvSpPr/>
          <p:nvPr/>
        </p:nvSpPr>
        <p:spPr>
          <a:xfrm>
            <a:off x="9159104" y="4711678"/>
            <a:ext cx="241212" cy="1206500"/>
          </a:xfrm>
          <a:prstGeom prst="rect">
            <a:avLst/>
          </a:prstGeom>
          <a:solidFill>
            <a:srgbClr val="282DF0"/>
          </a:solidFill>
          <a:ln/>
        </p:spPr>
        <p:txBody>
          <a:bodyPr/>
          <a:lstStyle/>
          <a:p>
            <a:endParaRPr lang="es-CL"/>
          </a:p>
        </p:txBody>
      </p:sp>
      <p:sp>
        <p:nvSpPr>
          <p:cNvPr id="120" name="Text 117"/>
          <p:cNvSpPr/>
          <p:nvPr/>
        </p:nvSpPr>
        <p:spPr>
          <a:xfrm>
            <a:off x="9070204"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1" name="Text 118"/>
          <p:cNvSpPr/>
          <p:nvPr/>
        </p:nvSpPr>
        <p:spPr>
          <a:xfrm>
            <a:off x="9082220"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S7</a:t>
            </a:r>
            <a:endParaRPr lang="en-US" sz="850" kern="1200" dirty="0">
              <a:solidFill>
                <a:prstClr val="black"/>
              </a:solidFill>
              <a:latin typeface="Calibri" panose="020F0502020204030204"/>
              <a:ea typeface="+mn-ea"/>
              <a:cs typeface="+mn-cs"/>
            </a:endParaRPr>
          </a:p>
        </p:txBody>
      </p:sp>
      <p:sp>
        <p:nvSpPr>
          <p:cNvPr id="122" name="Shape 119"/>
          <p:cNvSpPr/>
          <p:nvPr/>
        </p:nvSpPr>
        <p:spPr>
          <a:xfrm>
            <a:off x="9503393" y="4711678"/>
            <a:ext cx="241212" cy="1206500"/>
          </a:xfrm>
          <a:prstGeom prst="rect">
            <a:avLst/>
          </a:prstGeom>
          <a:solidFill>
            <a:srgbClr val="282DF0"/>
          </a:solidFill>
          <a:ln/>
        </p:spPr>
        <p:txBody>
          <a:bodyPr/>
          <a:lstStyle/>
          <a:p>
            <a:endParaRPr lang="es-CL"/>
          </a:p>
        </p:txBody>
      </p:sp>
      <p:sp>
        <p:nvSpPr>
          <p:cNvPr id="123" name="Text 120"/>
          <p:cNvSpPr/>
          <p:nvPr/>
        </p:nvSpPr>
        <p:spPr>
          <a:xfrm>
            <a:off x="941449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4" name="Text 121"/>
          <p:cNvSpPr/>
          <p:nvPr/>
        </p:nvSpPr>
        <p:spPr>
          <a:xfrm>
            <a:off x="9426509"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S8</a:t>
            </a:r>
            <a:endParaRPr lang="en-US" sz="850" kern="1200" dirty="0">
              <a:solidFill>
                <a:prstClr val="black"/>
              </a:solidFill>
              <a:latin typeface="Calibri" panose="020F0502020204030204"/>
              <a:ea typeface="+mn-ea"/>
              <a:cs typeface="+mn-cs"/>
            </a:endParaRPr>
          </a:p>
        </p:txBody>
      </p:sp>
      <p:sp>
        <p:nvSpPr>
          <p:cNvPr id="125" name="Shape 122"/>
          <p:cNvSpPr/>
          <p:nvPr/>
        </p:nvSpPr>
        <p:spPr>
          <a:xfrm>
            <a:off x="9847682" y="4711678"/>
            <a:ext cx="241212" cy="1206500"/>
          </a:xfrm>
          <a:prstGeom prst="rect">
            <a:avLst/>
          </a:prstGeom>
          <a:solidFill>
            <a:srgbClr val="282DF0"/>
          </a:solidFill>
          <a:ln/>
        </p:spPr>
        <p:txBody>
          <a:bodyPr/>
          <a:lstStyle/>
          <a:p>
            <a:endParaRPr lang="es-CL"/>
          </a:p>
        </p:txBody>
      </p:sp>
      <p:sp>
        <p:nvSpPr>
          <p:cNvPr id="126" name="Text 123"/>
          <p:cNvSpPr/>
          <p:nvPr/>
        </p:nvSpPr>
        <p:spPr>
          <a:xfrm>
            <a:off x="9758782"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7" name="Text 124"/>
          <p:cNvSpPr/>
          <p:nvPr/>
        </p:nvSpPr>
        <p:spPr>
          <a:xfrm>
            <a:off x="9770798"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S9</a:t>
            </a:r>
            <a:endParaRPr lang="en-US" sz="850" kern="1200" dirty="0">
              <a:solidFill>
                <a:prstClr val="black"/>
              </a:solidFill>
              <a:latin typeface="Calibri" panose="020F0502020204030204"/>
              <a:ea typeface="+mn-ea"/>
              <a:cs typeface="+mn-cs"/>
            </a:endParaRPr>
          </a:p>
        </p:txBody>
      </p:sp>
      <p:sp>
        <p:nvSpPr>
          <p:cNvPr id="128" name="Shape 125"/>
          <p:cNvSpPr/>
          <p:nvPr/>
        </p:nvSpPr>
        <p:spPr>
          <a:xfrm>
            <a:off x="10191971" y="4711678"/>
            <a:ext cx="241212" cy="1206500"/>
          </a:xfrm>
          <a:prstGeom prst="rect">
            <a:avLst/>
          </a:prstGeom>
          <a:solidFill>
            <a:srgbClr val="282DF0"/>
          </a:solidFill>
          <a:ln/>
        </p:spPr>
        <p:txBody>
          <a:bodyPr/>
          <a:lstStyle/>
          <a:p>
            <a:endParaRPr lang="es-CL"/>
          </a:p>
        </p:txBody>
      </p:sp>
      <p:sp>
        <p:nvSpPr>
          <p:cNvPr id="129" name="Text 126"/>
          <p:cNvSpPr/>
          <p:nvPr/>
        </p:nvSpPr>
        <p:spPr>
          <a:xfrm>
            <a:off x="1010307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30" name="Text 127"/>
          <p:cNvSpPr/>
          <p:nvPr/>
        </p:nvSpPr>
        <p:spPr>
          <a:xfrm>
            <a:off x="1011508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S10</a:t>
            </a:r>
            <a:endParaRPr lang="en-US" sz="850" kern="1200" dirty="0">
              <a:solidFill>
                <a:prstClr val="black"/>
              </a:solidFill>
              <a:latin typeface="Calibri" panose="020F0502020204030204"/>
              <a:ea typeface="+mn-ea"/>
              <a:cs typeface="+mn-cs"/>
            </a:endParaRPr>
          </a:p>
        </p:txBody>
      </p:sp>
      <p:sp>
        <p:nvSpPr>
          <p:cNvPr id="131" name="Shape 128"/>
          <p:cNvSpPr/>
          <p:nvPr/>
        </p:nvSpPr>
        <p:spPr>
          <a:xfrm>
            <a:off x="10536150" y="4953001"/>
            <a:ext cx="241212" cy="965178"/>
          </a:xfrm>
          <a:prstGeom prst="rect">
            <a:avLst/>
          </a:prstGeom>
          <a:solidFill>
            <a:srgbClr val="282DF0"/>
          </a:solidFill>
          <a:ln/>
        </p:spPr>
        <p:txBody>
          <a:bodyPr/>
          <a:lstStyle/>
          <a:p>
            <a:endParaRPr lang="es-CL"/>
          </a:p>
        </p:txBody>
      </p:sp>
      <p:sp>
        <p:nvSpPr>
          <p:cNvPr id="132" name="Text 129"/>
          <p:cNvSpPr/>
          <p:nvPr/>
        </p:nvSpPr>
        <p:spPr>
          <a:xfrm>
            <a:off x="10447250"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33" name="Text 130"/>
          <p:cNvSpPr/>
          <p:nvPr/>
        </p:nvSpPr>
        <p:spPr>
          <a:xfrm>
            <a:off x="1045926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S11</a:t>
            </a:r>
            <a:endParaRPr lang="en-US" sz="850" kern="1200" dirty="0">
              <a:solidFill>
                <a:prstClr val="black"/>
              </a:solidFill>
              <a:latin typeface="Calibri" panose="020F0502020204030204"/>
              <a:ea typeface="+mn-ea"/>
              <a:cs typeface="+mn-cs"/>
            </a:endParaRPr>
          </a:p>
        </p:txBody>
      </p:sp>
      <p:sp>
        <p:nvSpPr>
          <p:cNvPr id="134" name="Shape 131"/>
          <p:cNvSpPr/>
          <p:nvPr/>
        </p:nvSpPr>
        <p:spPr>
          <a:xfrm>
            <a:off x="10880439" y="4711678"/>
            <a:ext cx="241212" cy="1206500"/>
          </a:xfrm>
          <a:prstGeom prst="rect">
            <a:avLst/>
          </a:prstGeom>
          <a:solidFill>
            <a:srgbClr val="282DF0"/>
          </a:solidFill>
          <a:ln/>
        </p:spPr>
        <p:txBody>
          <a:bodyPr/>
          <a:lstStyle/>
          <a:p>
            <a:endParaRPr lang="es-CL"/>
          </a:p>
        </p:txBody>
      </p:sp>
      <p:sp>
        <p:nvSpPr>
          <p:cNvPr id="135" name="Text 132"/>
          <p:cNvSpPr/>
          <p:nvPr/>
        </p:nvSpPr>
        <p:spPr>
          <a:xfrm>
            <a:off x="1079153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36" name="Text 133"/>
          <p:cNvSpPr/>
          <p:nvPr/>
        </p:nvSpPr>
        <p:spPr>
          <a:xfrm>
            <a:off x="1080355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S12</a:t>
            </a:r>
            <a:endParaRPr lang="en-US" sz="850" kern="1200" dirty="0">
              <a:solidFill>
                <a:prstClr val="black"/>
              </a:solidFill>
              <a:latin typeface="Calibri" panose="020F0502020204030204"/>
              <a:ea typeface="+mn-ea"/>
              <a:cs typeface="+mn-cs"/>
            </a:endParaRPr>
          </a:p>
        </p:txBody>
      </p:sp>
      <p:sp>
        <p:nvSpPr>
          <p:cNvPr id="137" name="Shape 134"/>
          <p:cNvSpPr/>
          <p:nvPr/>
        </p:nvSpPr>
        <p:spPr>
          <a:xfrm>
            <a:off x="11224728" y="4953001"/>
            <a:ext cx="241212" cy="965178"/>
          </a:xfrm>
          <a:prstGeom prst="rect">
            <a:avLst/>
          </a:prstGeom>
          <a:solidFill>
            <a:srgbClr val="282DF0"/>
          </a:solidFill>
          <a:ln/>
        </p:spPr>
        <p:txBody>
          <a:bodyPr/>
          <a:lstStyle/>
          <a:p>
            <a:endParaRPr lang="es-CL"/>
          </a:p>
        </p:txBody>
      </p:sp>
      <p:sp>
        <p:nvSpPr>
          <p:cNvPr id="138" name="Text 135"/>
          <p:cNvSpPr/>
          <p:nvPr/>
        </p:nvSpPr>
        <p:spPr>
          <a:xfrm>
            <a:off x="11135828"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39" name="Text 136"/>
          <p:cNvSpPr/>
          <p:nvPr/>
        </p:nvSpPr>
        <p:spPr>
          <a:xfrm>
            <a:off x="1114784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S13</a:t>
            </a:r>
            <a:endParaRPr lang="en-US" sz="850" kern="1200" dirty="0">
              <a:solidFill>
                <a:prstClr val="black"/>
              </a:solidFill>
              <a:latin typeface="Calibri" panose="020F0502020204030204"/>
              <a:ea typeface="+mn-ea"/>
              <a:cs typeface="+mn-cs"/>
            </a:endParaRPr>
          </a:p>
        </p:txBody>
      </p:sp>
      <p:sp>
        <p:nvSpPr>
          <p:cNvPr id="140" name="Shape 137"/>
          <p:cNvSpPr/>
          <p:nvPr/>
        </p:nvSpPr>
        <p:spPr>
          <a:xfrm>
            <a:off x="11569017" y="5435534"/>
            <a:ext cx="241212" cy="482534"/>
          </a:xfrm>
          <a:prstGeom prst="rect">
            <a:avLst/>
          </a:prstGeom>
          <a:solidFill>
            <a:srgbClr val="282DF0"/>
          </a:solidFill>
          <a:ln/>
        </p:spPr>
        <p:txBody>
          <a:bodyPr/>
          <a:lstStyle/>
          <a:p>
            <a:endParaRPr lang="es-CL"/>
          </a:p>
        </p:txBody>
      </p:sp>
      <p:sp>
        <p:nvSpPr>
          <p:cNvPr id="141" name="Text 138"/>
          <p:cNvSpPr/>
          <p:nvPr/>
        </p:nvSpPr>
        <p:spPr>
          <a:xfrm>
            <a:off x="11480117"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142" name="Text 139"/>
          <p:cNvSpPr/>
          <p:nvPr/>
        </p:nvSpPr>
        <p:spPr>
          <a:xfrm>
            <a:off x="1149213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S14</a:t>
            </a:r>
            <a:endParaRPr lang="en-US" sz="850" kern="1200" dirty="0">
              <a:solidFill>
                <a:prstClr val="black"/>
              </a:solidFill>
              <a:latin typeface="Calibri" panose="020F0502020204030204"/>
              <a:ea typeface="+mn-ea"/>
              <a:cs typeface="+mn-cs"/>
            </a:endParaRPr>
          </a:p>
        </p:txBody>
      </p:sp>
      <p:sp>
        <p:nvSpPr>
          <p:cNvPr id="143" name="Shape 140"/>
          <p:cNvSpPr/>
          <p:nvPr/>
        </p:nvSpPr>
        <p:spPr>
          <a:xfrm>
            <a:off x="7042107" y="5918178"/>
            <a:ext cx="4819606" cy="12678"/>
          </a:xfrm>
          <a:prstGeom prst="rect">
            <a:avLst/>
          </a:prstGeom>
          <a:solidFill>
            <a:srgbClr val="06201D"/>
          </a:solidFill>
          <a:ln/>
        </p:spPr>
        <p:txBody>
          <a:bodyPr/>
          <a:lstStyle/>
          <a:p>
            <a:endParaRPr lang="es-CL"/>
          </a:p>
        </p:txBody>
      </p:sp>
      <p:sp>
        <p:nvSpPr>
          <p:cNvPr id="144" name="Shape 141"/>
          <p:cNvSpPr/>
          <p:nvPr/>
        </p:nvSpPr>
        <p:spPr>
          <a:xfrm>
            <a:off x="7061179" y="6146713"/>
            <a:ext cx="1683191" cy="7055"/>
          </a:xfrm>
          <a:prstGeom prst="rect">
            <a:avLst/>
          </a:prstGeom>
          <a:solidFill>
            <a:srgbClr val="9AA0AA"/>
          </a:solidFill>
          <a:ln/>
        </p:spPr>
        <p:txBody>
          <a:bodyPr/>
          <a:lstStyle/>
          <a:p>
            <a:endParaRPr lang="es-CL"/>
          </a:p>
        </p:txBody>
      </p:sp>
      <p:sp>
        <p:nvSpPr>
          <p:cNvPr id="145" name="Text 142"/>
          <p:cNvSpPr/>
          <p:nvPr/>
        </p:nvSpPr>
        <p:spPr>
          <a:xfrm>
            <a:off x="6977019"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Octubre</a:t>
            </a:r>
            <a:endParaRPr lang="en-US" sz="800" kern="1200" dirty="0">
              <a:solidFill>
                <a:prstClr val="black"/>
              </a:solidFill>
              <a:latin typeface="Calibri" panose="020F0502020204030204"/>
              <a:ea typeface="+mn-ea"/>
              <a:cs typeface="+mn-cs"/>
            </a:endParaRPr>
          </a:p>
        </p:txBody>
      </p:sp>
      <p:sp>
        <p:nvSpPr>
          <p:cNvPr id="146" name="Shape 143"/>
          <p:cNvSpPr/>
          <p:nvPr/>
        </p:nvSpPr>
        <p:spPr>
          <a:xfrm>
            <a:off x="8782404" y="6146713"/>
            <a:ext cx="1338902" cy="7055"/>
          </a:xfrm>
          <a:prstGeom prst="rect">
            <a:avLst/>
          </a:prstGeom>
          <a:solidFill>
            <a:srgbClr val="9AA0AA"/>
          </a:solidFill>
          <a:ln/>
        </p:spPr>
        <p:txBody>
          <a:bodyPr/>
          <a:lstStyle/>
          <a:p>
            <a:endParaRPr lang="es-CL"/>
          </a:p>
        </p:txBody>
      </p:sp>
      <p:sp>
        <p:nvSpPr>
          <p:cNvPr id="147" name="Text 144"/>
          <p:cNvSpPr/>
          <p:nvPr/>
        </p:nvSpPr>
        <p:spPr>
          <a:xfrm>
            <a:off x="8715459" y="6166467"/>
            <a:ext cx="1472792"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Noviembre</a:t>
            </a:r>
            <a:endParaRPr lang="en-US" sz="800" kern="1200" dirty="0">
              <a:solidFill>
                <a:prstClr val="black"/>
              </a:solidFill>
              <a:latin typeface="Calibri" panose="020F0502020204030204"/>
              <a:ea typeface="+mn-ea"/>
              <a:cs typeface="+mn-cs"/>
            </a:endParaRPr>
          </a:p>
        </p:txBody>
      </p:sp>
      <p:sp>
        <p:nvSpPr>
          <p:cNvPr id="148" name="Shape 145"/>
          <p:cNvSpPr/>
          <p:nvPr/>
        </p:nvSpPr>
        <p:spPr>
          <a:xfrm>
            <a:off x="10159450" y="6146713"/>
            <a:ext cx="1683191" cy="7055"/>
          </a:xfrm>
          <a:prstGeom prst="rect">
            <a:avLst/>
          </a:prstGeom>
          <a:solidFill>
            <a:srgbClr val="9AA0AA"/>
          </a:solidFill>
          <a:ln/>
        </p:spPr>
        <p:txBody>
          <a:bodyPr/>
          <a:lstStyle/>
          <a:p>
            <a:endParaRPr lang="es-CL"/>
          </a:p>
        </p:txBody>
      </p:sp>
      <p:sp>
        <p:nvSpPr>
          <p:cNvPr id="149" name="Text 146"/>
          <p:cNvSpPr/>
          <p:nvPr/>
        </p:nvSpPr>
        <p:spPr>
          <a:xfrm>
            <a:off x="10075290"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Diciembre</a:t>
            </a:r>
            <a:endParaRPr lang="en-US" sz="800" kern="1200" dirty="0">
              <a:solidFill>
                <a:prstClr val="black"/>
              </a:solidFill>
              <a:latin typeface="Calibri" panose="020F0502020204030204"/>
              <a:ea typeface="+mn-ea"/>
              <a:cs typeface="+mn-cs"/>
            </a:endParaRPr>
          </a:p>
        </p:txBody>
      </p:sp>
      <p:sp>
        <p:nvSpPr>
          <p:cNvPr id="150" name="Shape 147"/>
          <p:cNvSpPr/>
          <p:nvPr/>
        </p:nvSpPr>
        <p:spPr>
          <a:xfrm>
            <a:off x="6134035" y="1663678"/>
            <a:ext cx="7055" cy="4572001"/>
          </a:xfrm>
          <a:prstGeom prst="rect">
            <a:avLst/>
          </a:prstGeom>
          <a:solidFill>
            <a:srgbClr val="D9DCE3"/>
          </a:solidFill>
          <a:ln/>
        </p:spPr>
        <p:txBody>
          <a:bodyPr/>
          <a:lstStyle/>
          <a:p>
            <a:endParaRPr lang="es-CL"/>
          </a:p>
        </p:txBody>
      </p:sp>
      <p:sp>
        <p:nvSpPr>
          <p:cNvPr id="151" name="Text 148"/>
          <p:cNvSpPr/>
          <p:nvPr/>
        </p:nvSpPr>
        <p:spPr>
          <a:xfrm>
            <a:off x="6559507" y="6426179"/>
            <a:ext cx="5308601" cy="159455"/>
          </a:xfrm>
          <a:prstGeom prst="rect">
            <a:avLst/>
          </a:prstGeom>
          <a:noFill/>
          <a:ln/>
        </p:spPr>
        <p:txBody>
          <a:bodyPr wrap="square" lIns="16933" tIns="16933" rIns="16933" bIns="16933" rtlCol="0" anchor="t">
            <a:normAutofit lnSpcReduction="10000"/>
          </a:bodyPr>
          <a:lstStyle/>
          <a:p>
            <a:pPr algn="r" defTabSz="609630">
              <a:buClrTx/>
            </a:pPr>
            <a:r>
              <a:rPr lang="en-US" sz="900" kern="1200" dirty="0">
                <a:solidFill>
                  <a:srgbClr val="373C46"/>
                </a:solidFill>
                <a:latin typeface="Arial" pitchFamily="34" charset="0"/>
                <a:ea typeface="Arial" pitchFamily="34" charset="-122"/>
                <a:cs typeface="Arial" pitchFamily="34" charset="-120"/>
              </a:rPr>
              <a:t>Fuente: Agenda_ejecutivos_2026-09-25 · Potencial ST anual en MM$</a:t>
            </a:r>
            <a:endParaRPr lang="en-US" sz="900" kern="1200" dirty="0">
              <a:solidFill>
                <a:prstClr val="black"/>
              </a:solidFill>
              <a:latin typeface="Calibri" panose="020F0502020204030204"/>
              <a:ea typeface="+mn-ea"/>
              <a:cs typeface="+mn-cs"/>
            </a:endParaRPr>
          </a:p>
        </p:txBody>
      </p:sp>
      <p:pic>
        <p:nvPicPr>
          <p:cNvPr id="152" name="Image 1" descr="preencoded.png"/>
          <p:cNvPicPr>
            <a:picLocks noChangeAspect="1"/>
          </p:cNvPicPr>
          <p:nvPr/>
        </p:nvPicPr>
        <p:blipFill>
          <a:blip r:embed="rId4"/>
          <a:stretch>
            <a:fillRect/>
          </a:stretch>
        </p:blipFill>
        <p:spPr>
          <a:xfrm>
            <a:off x="330178" y="6400712"/>
            <a:ext cx="1225462" cy="279356"/>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3678" y="184106"/>
            <a:ext cx="11874501" cy="444434"/>
          </a:xfrm>
          <a:prstGeom prst="rect">
            <a:avLst/>
          </a:prstGeom>
          <a:noFill/>
          <a:ln/>
        </p:spPr>
        <p:txBody>
          <a:bodyPr wrap="square" lIns="16933" tIns="16933" rIns="16933" bIns="16933" rtlCol="0" anchor="ctr">
            <a:normAutofit lnSpcReduction="10000"/>
          </a:bodyPr>
          <a:lstStyle/>
          <a:p>
            <a:pPr defTabSz="609630">
              <a:buClrTx/>
            </a:pPr>
            <a:r>
              <a:rPr lang="en-US" sz="2700" b="1" kern="1200" dirty="0">
                <a:solidFill>
                  <a:srgbClr val="33448D"/>
                </a:solidFill>
                <a:latin typeface="Arial" pitchFamily="34" charset="0"/>
                <a:ea typeface="Arial" pitchFamily="34" charset="-122"/>
                <a:cs typeface="Arial" pitchFamily="34" charset="-120"/>
              </a:rPr>
              <a:t>Segmentación de cartera por región</a:t>
            </a:r>
            <a:endParaRPr lang="en-US" sz="27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1417213" y="127000"/>
            <a:ext cx="469856" cy="469856"/>
          </a:xfrm>
          <a:prstGeom prst="rect">
            <a:avLst/>
          </a:prstGeom>
        </p:spPr>
      </p:pic>
      <p:sp>
        <p:nvSpPr>
          <p:cNvPr id="4" name="Shape 1"/>
          <p:cNvSpPr/>
          <p:nvPr/>
        </p:nvSpPr>
        <p:spPr>
          <a:xfrm>
            <a:off x="469856" y="1085784"/>
            <a:ext cx="7721534" cy="419034"/>
          </a:xfrm>
          <a:prstGeom prst="rect">
            <a:avLst/>
          </a:prstGeom>
          <a:solidFill>
            <a:srgbClr val="28D2C3"/>
          </a:solidFill>
          <a:ln w="21167">
            <a:solidFill>
              <a:srgbClr val="06201D"/>
            </a:solidFill>
            <a:prstDash val="solid"/>
          </a:ln>
        </p:spPr>
        <p:txBody>
          <a:bodyPr/>
          <a:lstStyle/>
          <a:p>
            <a:endParaRPr lang="es-CL"/>
          </a:p>
        </p:txBody>
      </p:sp>
      <p:sp>
        <p:nvSpPr>
          <p:cNvPr id="5" name="Text 2"/>
          <p:cNvSpPr/>
          <p:nvPr/>
        </p:nvSpPr>
        <p:spPr>
          <a:xfrm>
            <a:off x="368144" y="1099895"/>
            <a:ext cx="7924958"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Cartera ST por región · 758 clientes · Potencial MM$2.099,9</a:t>
            </a:r>
            <a:endParaRPr lang="en-US" kern="1200" dirty="0">
              <a:solidFill>
                <a:prstClr val="black"/>
              </a:solidFill>
              <a:latin typeface="Calibri" panose="020F0502020204030204"/>
              <a:ea typeface="+mn-ea"/>
              <a:cs typeface="+mn-cs"/>
            </a:endParaRPr>
          </a:p>
        </p:txBody>
      </p:sp>
      <p:sp>
        <p:nvSpPr>
          <p:cNvPr id="6" name="Shape 3"/>
          <p:cNvSpPr/>
          <p:nvPr/>
        </p:nvSpPr>
        <p:spPr>
          <a:xfrm>
            <a:off x="8445501" y="1085784"/>
            <a:ext cx="3416212" cy="419034"/>
          </a:xfrm>
          <a:prstGeom prst="rect">
            <a:avLst/>
          </a:prstGeom>
          <a:solidFill>
            <a:srgbClr val="28D2C3"/>
          </a:solidFill>
          <a:ln w="21167">
            <a:solidFill>
              <a:srgbClr val="06201D"/>
            </a:solidFill>
            <a:prstDash val="solid"/>
          </a:ln>
        </p:spPr>
        <p:txBody>
          <a:bodyPr/>
          <a:lstStyle/>
          <a:p>
            <a:endParaRPr lang="es-CL"/>
          </a:p>
        </p:txBody>
      </p:sp>
      <p:sp>
        <p:nvSpPr>
          <p:cNvPr id="7" name="Text 4"/>
          <p:cNvSpPr/>
          <p:nvPr/>
        </p:nvSpPr>
        <p:spPr>
          <a:xfrm>
            <a:off x="8408369" y="1099895"/>
            <a:ext cx="3490476"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Asignación por ejecutivo</a:t>
            </a:r>
            <a:endParaRPr lang="en-US" kern="1200" dirty="0">
              <a:solidFill>
                <a:prstClr val="black"/>
              </a:solidFill>
              <a:latin typeface="Calibri" panose="020F0502020204030204"/>
              <a:ea typeface="+mn-ea"/>
              <a:cs typeface="+mn-cs"/>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0"/>
            <a:ext cx="12192001" cy="6858000"/>
          </a:xfrm>
          <a:prstGeom prst="rect">
            <a:avLst/>
          </a:prstGeom>
        </p:spPr>
      </p:pic>
      <p:sp>
        <p:nvSpPr>
          <p:cNvPr id="9" name="Shape 5"/>
          <p:cNvSpPr/>
          <p:nvPr/>
        </p:nvSpPr>
        <p:spPr>
          <a:xfrm>
            <a:off x="2667001" y="1825185"/>
            <a:ext cx="1307923" cy="7055"/>
          </a:xfrm>
          <a:prstGeom prst="rect">
            <a:avLst/>
          </a:prstGeom>
          <a:solidFill>
            <a:srgbClr val="06201D"/>
          </a:solidFill>
          <a:ln/>
        </p:spPr>
        <p:txBody>
          <a:bodyPr/>
          <a:lstStyle/>
          <a:p>
            <a:endParaRPr lang="es-CL"/>
          </a:p>
        </p:txBody>
      </p:sp>
      <p:sp>
        <p:nvSpPr>
          <p:cNvPr id="10" name="Text 6"/>
          <p:cNvSpPr/>
          <p:nvPr/>
        </p:nvSpPr>
        <p:spPr>
          <a:xfrm>
            <a:off x="2717800" y="1663678"/>
            <a:ext cx="1337116"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Región</a:t>
            </a:r>
            <a:endParaRPr lang="en-US" sz="850" kern="1200" dirty="0">
              <a:solidFill>
                <a:prstClr val="black"/>
              </a:solidFill>
              <a:latin typeface="Calibri" panose="020F0502020204030204"/>
              <a:ea typeface="+mn-ea"/>
              <a:cs typeface="+mn-cs"/>
            </a:endParaRPr>
          </a:p>
        </p:txBody>
      </p:sp>
      <p:sp>
        <p:nvSpPr>
          <p:cNvPr id="11" name="Shape 7"/>
          <p:cNvSpPr/>
          <p:nvPr/>
        </p:nvSpPr>
        <p:spPr>
          <a:xfrm>
            <a:off x="3974924" y="1825185"/>
            <a:ext cx="1212673" cy="7055"/>
          </a:xfrm>
          <a:prstGeom prst="rect">
            <a:avLst/>
          </a:prstGeom>
          <a:solidFill>
            <a:srgbClr val="06201D"/>
          </a:solidFill>
          <a:ln/>
        </p:spPr>
        <p:txBody>
          <a:bodyPr/>
          <a:lstStyle/>
          <a:p>
            <a:endParaRPr lang="es-CL"/>
          </a:p>
        </p:txBody>
      </p:sp>
      <p:sp>
        <p:nvSpPr>
          <p:cNvPr id="12" name="Text 8"/>
          <p:cNvSpPr/>
          <p:nvPr/>
        </p:nvSpPr>
        <p:spPr>
          <a:xfrm>
            <a:off x="4025724" y="1663678"/>
            <a:ext cx="1232341"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Ejecutivo</a:t>
            </a:r>
            <a:endParaRPr lang="en-US" sz="850" kern="1200" dirty="0">
              <a:solidFill>
                <a:prstClr val="black"/>
              </a:solidFill>
              <a:latin typeface="Calibri" panose="020F0502020204030204"/>
              <a:ea typeface="+mn-ea"/>
              <a:cs typeface="+mn-cs"/>
            </a:endParaRPr>
          </a:p>
        </p:txBody>
      </p:sp>
      <p:sp>
        <p:nvSpPr>
          <p:cNvPr id="13" name="Shape 9"/>
          <p:cNvSpPr/>
          <p:nvPr/>
        </p:nvSpPr>
        <p:spPr>
          <a:xfrm>
            <a:off x="5187598" y="1825185"/>
            <a:ext cx="545923" cy="7055"/>
          </a:xfrm>
          <a:prstGeom prst="rect">
            <a:avLst/>
          </a:prstGeom>
          <a:solidFill>
            <a:srgbClr val="06201D"/>
          </a:solidFill>
          <a:ln/>
        </p:spPr>
        <p:txBody>
          <a:bodyPr/>
          <a:lstStyle/>
          <a:p>
            <a:endParaRPr lang="es-CL"/>
          </a:p>
        </p:txBody>
      </p:sp>
      <p:sp>
        <p:nvSpPr>
          <p:cNvPr id="14" name="Text 10"/>
          <p:cNvSpPr/>
          <p:nvPr/>
        </p:nvSpPr>
        <p:spPr>
          <a:xfrm>
            <a:off x="5183805" y="1663678"/>
            <a:ext cx="498916" cy="148806"/>
          </a:xfrm>
          <a:prstGeom prst="rect">
            <a:avLst/>
          </a:prstGeom>
          <a:noFill/>
          <a:ln/>
        </p:spPr>
        <p:txBody>
          <a:bodyPr wrap="square" lIns="16933" tIns="16933" rIns="16933" bIns="16933" rtlCol="0" anchor="ctr">
            <a:normAutofit fontScale="92500" lnSpcReduction="10000"/>
          </a:bodyPr>
          <a:lstStyle/>
          <a:p>
            <a:pPr algn="r" defTabSz="609630">
              <a:buClrTx/>
            </a:pPr>
            <a:r>
              <a:rPr lang="en-US" sz="850" b="1" kern="1200" dirty="0">
                <a:solidFill>
                  <a:srgbClr val="33448D"/>
                </a:solidFill>
                <a:latin typeface="Arial" pitchFamily="34" charset="0"/>
                <a:ea typeface="Arial" pitchFamily="34" charset="-122"/>
                <a:cs typeface="Arial" pitchFamily="34" charset="-120"/>
              </a:rPr>
              <a:t>Clientes</a:t>
            </a:r>
            <a:endParaRPr lang="en-US" sz="850" kern="1200" dirty="0">
              <a:solidFill>
                <a:prstClr val="black"/>
              </a:solidFill>
              <a:latin typeface="Calibri" panose="020F0502020204030204"/>
              <a:ea typeface="+mn-ea"/>
              <a:cs typeface="+mn-cs"/>
            </a:endParaRPr>
          </a:p>
        </p:txBody>
      </p:sp>
      <p:sp>
        <p:nvSpPr>
          <p:cNvPr id="15" name="Shape 11"/>
          <p:cNvSpPr/>
          <p:nvPr/>
        </p:nvSpPr>
        <p:spPr>
          <a:xfrm>
            <a:off x="5733521" y="1825185"/>
            <a:ext cx="1688923" cy="7055"/>
          </a:xfrm>
          <a:prstGeom prst="rect">
            <a:avLst/>
          </a:prstGeom>
          <a:solidFill>
            <a:srgbClr val="06201D"/>
          </a:solidFill>
          <a:ln/>
        </p:spPr>
        <p:txBody>
          <a:bodyPr/>
          <a:lstStyle/>
          <a:p>
            <a:endParaRPr lang="es-CL"/>
          </a:p>
        </p:txBody>
      </p:sp>
      <p:sp>
        <p:nvSpPr>
          <p:cNvPr id="16" name="Text 12"/>
          <p:cNvSpPr/>
          <p:nvPr/>
        </p:nvSpPr>
        <p:spPr>
          <a:xfrm>
            <a:off x="5784321" y="1663678"/>
            <a:ext cx="1756216"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Potencial ST MM$</a:t>
            </a:r>
            <a:endParaRPr lang="en-US" sz="850" kern="1200" dirty="0">
              <a:solidFill>
                <a:prstClr val="black"/>
              </a:solidFill>
              <a:latin typeface="Calibri" panose="020F0502020204030204"/>
              <a:ea typeface="+mn-ea"/>
              <a:cs typeface="+mn-cs"/>
            </a:endParaRPr>
          </a:p>
        </p:txBody>
      </p:sp>
      <p:sp>
        <p:nvSpPr>
          <p:cNvPr id="17" name="Shape 13"/>
          <p:cNvSpPr/>
          <p:nvPr/>
        </p:nvSpPr>
        <p:spPr>
          <a:xfrm>
            <a:off x="7422445" y="1825185"/>
            <a:ext cx="610857" cy="7055"/>
          </a:xfrm>
          <a:prstGeom prst="rect">
            <a:avLst/>
          </a:prstGeom>
          <a:solidFill>
            <a:srgbClr val="06201D"/>
          </a:solidFill>
          <a:ln/>
        </p:spPr>
        <p:txBody>
          <a:bodyPr/>
          <a:lstStyle/>
          <a:p>
            <a:endParaRPr lang="es-CL"/>
          </a:p>
        </p:txBody>
      </p:sp>
      <p:sp>
        <p:nvSpPr>
          <p:cNvPr id="18" name="Text 14"/>
          <p:cNvSpPr/>
          <p:nvPr/>
        </p:nvSpPr>
        <p:spPr>
          <a:xfrm>
            <a:off x="7412159" y="1663678"/>
            <a:ext cx="570343" cy="148806"/>
          </a:xfrm>
          <a:prstGeom prst="rect">
            <a:avLst/>
          </a:prstGeom>
          <a:noFill/>
          <a:ln/>
        </p:spPr>
        <p:txBody>
          <a:bodyPr wrap="square" lIns="16933" tIns="16933" rIns="16933" bIns="16933" rtlCol="0" anchor="ctr">
            <a:normAutofit fontScale="92500" lnSpcReduction="10000"/>
          </a:bodyPr>
          <a:lstStyle/>
          <a:p>
            <a:pPr algn="r" defTabSz="609630">
              <a:buClrTx/>
            </a:pPr>
            <a:r>
              <a:rPr lang="en-US" sz="850" b="1" kern="1200" dirty="0">
                <a:solidFill>
                  <a:srgbClr val="33448D"/>
                </a:solidFill>
                <a:latin typeface="Arial" pitchFamily="34" charset="0"/>
                <a:ea typeface="Arial" pitchFamily="34" charset="-122"/>
                <a:cs typeface="Arial" pitchFamily="34" charset="-120"/>
              </a:rPr>
              <a:t>Contratos</a:t>
            </a:r>
            <a:endParaRPr lang="en-US" sz="850" kern="1200" dirty="0">
              <a:solidFill>
                <a:prstClr val="black"/>
              </a:solidFill>
              <a:latin typeface="Calibri" panose="020F0502020204030204"/>
              <a:ea typeface="+mn-ea"/>
              <a:cs typeface="+mn-cs"/>
            </a:endParaRPr>
          </a:p>
        </p:txBody>
      </p:sp>
      <p:sp>
        <p:nvSpPr>
          <p:cNvPr id="19" name="Shape 15"/>
          <p:cNvSpPr/>
          <p:nvPr/>
        </p:nvSpPr>
        <p:spPr>
          <a:xfrm>
            <a:off x="2667001" y="2067169"/>
            <a:ext cx="1307923" cy="7055"/>
          </a:xfrm>
          <a:prstGeom prst="rect">
            <a:avLst/>
          </a:prstGeom>
          <a:solidFill>
            <a:srgbClr val="D9DCE3"/>
          </a:solidFill>
          <a:ln/>
        </p:spPr>
        <p:txBody>
          <a:bodyPr/>
          <a:lstStyle/>
          <a:p>
            <a:endParaRPr lang="es-CL"/>
          </a:p>
        </p:txBody>
      </p:sp>
      <p:sp>
        <p:nvSpPr>
          <p:cNvPr id="20" name="Text 16"/>
          <p:cNvSpPr/>
          <p:nvPr/>
        </p:nvSpPr>
        <p:spPr>
          <a:xfrm>
            <a:off x="2717801" y="1832240"/>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Arica y Parinacota</a:t>
            </a:r>
            <a:endParaRPr lang="en-US" sz="950" kern="1200" dirty="0">
              <a:solidFill>
                <a:prstClr val="black"/>
              </a:solidFill>
              <a:latin typeface="Calibri" panose="020F0502020204030204"/>
              <a:ea typeface="+mn-ea"/>
              <a:cs typeface="+mn-cs"/>
            </a:endParaRPr>
          </a:p>
        </p:txBody>
      </p:sp>
      <p:sp>
        <p:nvSpPr>
          <p:cNvPr id="21" name="Shape 17"/>
          <p:cNvSpPr/>
          <p:nvPr/>
        </p:nvSpPr>
        <p:spPr>
          <a:xfrm>
            <a:off x="3974924" y="2067169"/>
            <a:ext cx="1212673" cy="7055"/>
          </a:xfrm>
          <a:prstGeom prst="rect">
            <a:avLst/>
          </a:prstGeom>
          <a:solidFill>
            <a:srgbClr val="D9DCE3"/>
          </a:solidFill>
          <a:ln/>
        </p:spPr>
        <p:txBody>
          <a:bodyPr/>
          <a:lstStyle/>
          <a:p>
            <a:endParaRPr lang="es-CL"/>
          </a:p>
        </p:txBody>
      </p:sp>
      <p:sp>
        <p:nvSpPr>
          <p:cNvPr id="22" name="Text 18"/>
          <p:cNvSpPr/>
          <p:nvPr/>
        </p:nvSpPr>
        <p:spPr>
          <a:xfrm>
            <a:off x="4025724" y="1832240"/>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23" name="Shape 19"/>
          <p:cNvSpPr/>
          <p:nvPr/>
        </p:nvSpPr>
        <p:spPr>
          <a:xfrm>
            <a:off x="5187598" y="2067169"/>
            <a:ext cx="545923" cy="7055"/>
          </a:xfrm>
          <a:prstGeom prst="rect">
            <a:avLst/>
          </a:prstGeom>
          <a:solidFill>
            <a:srgbClr val="D9DCE3"/>
          </a:solidFill>
          <a:ln/>
        </p:spPr>
        <p:txBody>
          <a:bodyPr/>
          <a:lstStyle/>
          <a:p>
            <a:endParaRPr lang="es-CL"/>
          </a:p>
        </p:txBody>
      </p:sp>
      <p:sp>
        <p:nvSpPr>
          <p:cNvPr id="24" name="Text 20"/>
          <p:cNvSpPr/>
          <p:nvPr/>
        </p:nvSpPr>
        <p:spPr>
          <a:xfrm>
            <a:off x="5187598" y="1832240"/>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25" name="Shape 21"/>
          <p:cNvSpPr/>
          <p:nvPr/>
        </p:nvSpPr>
        <p:spPr>
          <a:xfrm>
            <a:off x="5733521" y="2067169"/>
            <a:ext cx="1688923" cy="7055"/>
          </a:xfrm>
          <a:prstGeom prst="rect">
            <a:avLst/>
          </a:prstGeom>
          <a:solidFill>
            <a:srgbClr val="D9DCE3"/>
          </a:solidFill>
          <a:ln/>
        </p:spPr>
        <p:txBody>
          <a:bodyPr/>
          <a:lstStyle/>
          <a:p>
            <a:endParaRPr lang="es-CL"/>
          </a:p>
        </p:txBody>
      </p:sp>
      <p:sp>
        <p:nvSpPr>
          <p:cNvPr id="26" name="Shape 22"/>
          <p:cNvSpPr/>
          <p:nvPr/>
        </p:nvSpPr>
        <p:spPr>
          <a:xfrm>
            <a:off x="5784233" y="1902354"/>
            <a:ext cx="25907" cy="101534"/>
          </a:xfrm>
          <a:prstGeom prst="rect">
            <a:avLst/>
          </a:prstGeom>
          <a:solidFill>
            <a:srgbClr val="28D2C3"/>
          </a:solidFill>
          <a:ln/>
        </p:spPr>
        <p:txBody>
          <a:bodyPr/>
          <a:lstStyle/>
          <a:p>
            <a:endParaRPr lang="es-CL"/>
          </a:p>
        </p:txBody>
      </p:sp>
      <p:sp>
        <p:nvSpPr>
          <p:cNvPr id="27" name="Text 23"/>
          <p:cNvSpPr/>
          <p:nvPr/>
        </p:nvSpPr>
        <p:spPr>
          <a:xfrm>
            <a:off x="5873640" y="1882621"/>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19,4</a:t>
            </a:r>
            <a:endParaRPr lang="en-US" sz="950" kern="1200" dirty="0">
              <a:solidFill>
                <a:prstClr val="black"/>
              </a:solidFill>
              <a:latin typeface="Calibri" panose="020F0502020204030204"/>
              <a:ea typeface="+mn-ea"/>
              <a:cs typeface="+mn-cs"/>
            </a:endParaRPr>
          </a:p>
        </p:txBody>
      </p:sp>
      <p:sp>
        <p:nvSpPr>
          <p:cNvPr id="28" name="Shape 24"/>
          <p:cNvSpPr/>
          <p:nvPr/>
        </p:nvSpPr>
        <p:spPr>
          <a:xfrm>
            <a:off x="7422445" y="2067169"/>
            <a:ext cx="610857" cy="7055"/>
          </a:xfrm>
          <a:prstGeom prst="rect">
            <a:avLst/>
          </a:prstGeom>
          <a:solidFill>
            <a:srgbClr val="D9DCE3"/>
          </a:solidFill>
          <a:ln/>
        </p:spPr>
        <p:txBody>
          <a:bodyPr/>
          <a:lstStyle/>
          <a:p>
            <a:endParaRPr lang="es-CL"/>
          </a:p>
        </p:txBody>
      </p:sp>
      <p:sp>
        <p:nvSpPr>
          <p:cNvPr id="29" name="Text 25"/>
          <p:cNvSpPr/>
          <p:nvPr/>
        </p:nvSpPr>
        <p:spPr>
          <a:xfrm>
            <a:off x="7422445" y="1832240"/>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30" name="Shape 26"/>
          <p:cNvSpPr/>
          <p:nvPr/>
        </p:nvSpPr>
        <p:spPr>
          <a:xfrm>
            <a:off x="2667001" y="2309152"/>
            <a:ext cx="1307923" cy="7055"/>
          </a:xfrm>
          <a:prstGeom prst="rect">
            <a:avLst/>
          </a:prstGeom>
          <a:solidFill>
            <a:srgbClr val="D9DCE3"/>
          </a:solidFill>
          <a:ln/>
        </p:spPr>
        <p:txBody>
          <a:bodyPr/>
          <a:lstStyle/>
          <a:p>
            <a:endParaRPr lang="es-CL"/>
          </a:p>
        </p:txBody>
      </p:sp>
      <p:sp>
        <p:nvSpPr>
          <p:cNvPr id="31" name="Text 27"/>
          <p:cNvSpPr/>
          <p:nvPr/>
        </p:nvSpPr>
        <p:spPr>
          <a:xfrm>
            <a:off x="2717801" y="207422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Tarapacá</a:t>
            </a:r>
            <a:endParaRPr lang="en-US" sz="950" kern="1200" dirty="0">
              <a:solidFill>
                <a:prstClr val="black"/>
              </a:solidFill>
              <a:latin typeface="Calibri" panose="020F0502020204030204"/>
              <a:ea typeface="+mn-ea"/>
              <a:cs typeface="+mn-cs"/>
            </a:endParaRPr>
          </a:p>
        </p:txBody>
      </p:sp>
      <p:sp>
        <p:nvSpPr>
          <p:cNvPr id="32" name="Shape 28"/>
          <p:cNvSpPr/>
          <p:nvPr/>
        </p:nvSpPr>
        <p:spPr>
          <a:xfrm>
            <a:off x="3974924" y="2309152"/>
            <a:ext cx="1212673" cy="7055"/>
          </a:xfrm>
          <a:prstGeom prst="rect">
            <a:avLst/>
          </a:prstGeom>
          <a:solidFill>
            <a:srgbClr val="D9DCE3"/>
          </a:solidFill>
          <a:ln/>
        </p:spPr>
        <p:txBody>
          <a:bodyPr/>
          <a:lstStyle/>
          <a:p>
            <a:endParaRPr lang="es-CL"/>
          </a:p>
        </p:txBody>
      </p:sp>
      <p:sp>
        <p:nvSpPr>
          <p:cNvPr id="33" name="Text 29"/>
          <p:cNvSpPr/>
          <p:nvPr/>
        </p:nvSpPr>
        <p:spPr>
          <a:xfrm>
            <a:off x="4025724" y="207422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34" name="Shape 30"/>
          <p:cNvSpPr/>
          <p:nvPr/>
        </p:nvSpPr>
        <p:spPr>
          <a:xfrm>
            <a:off x="5187598" y="2309152"/>
            <a:ext cx="545923" cy="7055"/>
          </a:xfrm>
          <a:prstGeom prst="rect">
            <a:avLst/>
          </a:prstGeom>
          <a:solidFill>
            <a:srgbClr val="D9DCE3"/>
          </a:solidFill>
          <a:ln/>
        </p:spPr>
        <p:txBody>
          <a:bodyPr/>
          <a:lstStyle/>
          <a:p>
            <a:endParaRPr lang="es-CL"/>
          </a:p>
        </p:txBody>
      </p:sp>
      <p:sp>
        <p:nvSpPr>
          <p:cNvPr id="35" name="Text 31"/>
          <p:cNvSpPr/>
          <p:nvPr/>
        </p:nvSpPr>
        <p:spPr>
          <a:xfrm>
            <a:off x="5187598" y="207422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15</a:t>
            </a:r>
            <a:endParaRPr lang="en-US" sz="950" kern="1200" dirty="0">
              <a:solidFill>
                <a:prstClr val="black"/>
              </a:solidFill>
              <a:latin typeface="Calibri" panose="020F0502020204030204"/>
              <a:ea typeface="+mn-ea"/>
              <a:cs typeface="+mn-cs"/>
            </a:endParaRPr>
          </a:p>
        </p:txBody>
      </p:sp>
      <p:sp>
        <p:nvSpPr>
          <p:cNvPr id="36" name="Shape 32"/>
          <p:cNvSpPr/>
          <p:nvPr/>
        </p:nvSpPr>
        <p:spPr>
          <a:xfrm>
            <a:off x="5733521" y="2309152"/>
            <a:ext cx="1688923" cy="7055"/>
          </a:xfrm>
          <a:prstGeom prst="rect">
            <a:avLst/>
          </a:prstGeom>
          <a:solidFill>
            <a:srgbClr val="D9DCE3"/>
          </a:solidFill>
          <a:ln/>
        </p:spPr>
        <p:txBody>
          <a:bodyPr/>
          <a:lstStyle/>
          <a:p>
            <a:endParaRPr lang="es-CL"/>
          </a:p>
        </p:txBody>
      </p:sp>
      <p:sp>
        <p:nvSpPr>
          <p:cNvPr id="37" name="Shape 33"/>
          <p:cNvSpPr/>
          <p:nvPr/>
        </p:nvSpPr>
        <p:spPr>
          <a:xfrm>
            <a:off x="5784233" y="2144338"/>
            <a:ext cx="53247" cy="101534"/>
          </a:xfrm>
          <a:prstGeom prst="rect">
            <a:avLst/>
          </a:prstGeom>
          <a:solidFill>
            <a:srgbClr val="28D2C3"/>
          </a:solidFill>
          <a:ln/>
        </p:spPr>
        <p:txBody>
          <a:bodyPr/>
          <a:lstStyle/>
          <a:p>
            <a:endParaRPr lang="es-CL"/>
          </a:p>
        </p:txBody>
      </p:sp>
      <p:sp>
        <p:nvSpPr>
          <p:cNvPr id="38" name="Text 34"/>
          <p:cNvSpPr/>
          <p:nvPr/>
        </p:nvSpPr>
        <p:spPr>
          <a:xfrm>
            <a:off x="5900981" y="2124605"/>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39,8</a:t>
            </a:r>
            <a:endParaRPr lang="en-US" sz="950" kern="1200" dirty="0">
              <a:solidFill>
                <a:prstClr val="black"/>
              </a:solidFill>
              <a:latin typeface="Calibri" panose="020F0502020204030204"/>
              <a:ea typeface="+mn-ea"/>
              <a:cs typeface="+mn-cs"/>
            </a:endParaRPr>
          </a:p>
        </p:txBody>
      </p:sp>
      <p:sp>
        <p:nvSpPr>
          <p:cNvPr id="39" name="Shape 35"/>
          <p:cNvSpPr/>
          <p:nvPr/>
        </p:nvSpPr>
        <p:spPr>
          <a:xfrm>
            <a:off x="7422445" y="2309152"/>
            <a:ext cx="610857" cy="7055"/>
          </a:xfrm>
          <a:prstGeom prst="rect">
            <a:avLst/>
          </a:prstGeom>
          <a:solidFill>
            <a:srgbClr val="D9DCE3"/>
          </a:solidFill>
          <a:ln/>
        </p:spPr>
        <p:txBody>
          <a:bodyPr/>
          <a:lstStyle/>
          <a:p>
            <a:endParaRPr lang="es-CL"/>
          </a:p>
        </p:txBody>
      </p:sp>
      <p:sp>
        <p:nvSpPr>
          <p:cNvPr id="40" name="Text 36"/>
          <p:cNvSpPr/>
          <p:nvPr/>
        </p:nvSpPr>
        <p:spPr>
          <a:xfrm>
            <a:off x="7422445" y="207422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41" name="Shape 37"/>
          <p:cNvSpPr/>
          <p:nvPr/>
        </p:nvSpPr>
        <p:spPr>
          <a:xfrm>
            <a:off x="2667001" y="2551135"/>
            <a:ext cx="1307923" cy="7055"/>
          </a:xfrm>
          <a:prstGeom prst="rect">
            <a:avLst/>
          </a:prstGeom>
          <a:solidFill>
            <a:srgbClr val="D9DCE3"/>
          </a:solidFill>
          <a:ln/>
        </p:spPr>
        <p:txBody>
          <a:bodyPr/>
          <a:lstStyle/>
          <a:p>
            <a:endParaRPr lang="es-CL"/>
          </a:p>
        </p:txBody>
      </p:sp>
      <p:sp>
        <p:nvSpPr>
          <p:cNvPr id="42" name="Text 38"/>
          <p:cNvSpPr/>
          <p:nvPr/>
        </p:nvSpPr>
        <p:spPr>
          <a:xfrm>
            <a:off x="2717801" y="2316207"/>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Antofagasta</a:t>
            </a:r>
            <a:endParaRPr lang="en-US" sz="950" kern="1200" dirty="0">
              <a:solidFill>
                <a:prstClr val="black"/>
              </a:solidFill>
              <a:latin typeface="Calibri" panose="020F0502020204030204"/>
              <a:ea typeface="+mn-ea"/>
              <a:cs typeface="+mn-cs"/>
            </a:endParaRPr>
          </a:p>
        </p:txBody>
      </p:sp>
      <p:sp>
        <p:nvSpPr>
          <p:cNvPr id="43" name="Shape 39"/>
          <p:cNvSpPr/>
          <p:nvPr/>
        </p:nvSpPr>
        <p:spPr>
          <a:xfrm>
            <a:off x="3974924" y="2551135"/>
            <a:ext cx="1212673" cy="7055"/>
          </a:xfrm>
          <a:prstGeom prst="rect">
            <a:avLst/>
          </a:prstGeom>
          <a:solidFill>
            <a:srgbClr val="D9DCE3"/>
          </a:solidFill>
          <a:ln/>
        </p:spPr>
        <p:txBody>
          <a:bodyPr/>
          <a:lstStyle/>
          <a:p>
            <a:endParaRPr lang="es-CL"/>
          </a:p>
        </p:txBody>
      </p:sp>
      <p:sp>
        <p:nvSpPr>
          <p:cNvPr id="44" name="Text 40"/>
          <p:cNvSpPr/>
          <p:nvPr/>
        </p:nvSpPr>
        <p:spPr>
          <a:xfrm>
            <a:off x="4025724" y="2316207"/>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45" name="Shape 41"/>
          <p:cNvSpPr/>
          <p:nvPr/>
        </p:nvSpPr>
        <p:spPr>
          <a:xfrm>
            <a:off x="5187598" y="2551135"/>
            <a:ext cx="545923" cy="7055"/>
          </a:xfrm>
          <a:prstGeom prst="rect">
            <a:avLst/>
          </a:prstGeom>
          <a:solidFill>
            <a:srgbClr val="D9DCE3"/>
          </a:solidFill>
          <a:ln/>
        </p:spPr>
        <p:txBody>
          <a:bodyPr/>
          <a:lstStyle/>
          <a:p>
            <a:endParaRPr lang="es-CL"/>
          </a:p>
        </p:txBody>
      </p:sp>
      <p:sp>
        <p:nvSpPr>
          <p:cNvPr id="46" name="Text 42"/>
          <p:cNvSpPr/>
          <p:nvPr/>
        </p:nvSpPr>
        <p:spPr>
          <a:xfrm>
            <a:off x="5187598" y="2316207"/>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17</a:t>
            </a:r>
            <a:endParaRPr lang="en-US" sz="950" kern="1200" dirty="0">
              <a:solidFill>
                <a:prstClr val="black"/>
              </a:solidFill>
              <a:latin typeface="Calibri" panose="020F0502020204030204"/>
              <a:ea typeface="+mn-ea"/>
              <a:cs typeface="+mn-cs"/>
            </a:endParaRPr>
          </a:p>
        </p:txBody>
      </p:sp>
      <p:sp>
        <p:nvSpPr>
          <p:cNvPr id="47" name="Shape 43"/>
          <p:cNvSpPr/>
          <p:nvPr/>
        </p:nvSpPr>
        <p:spPr>
          <a:xfrm>
            <a:off x="5733521" y="2551135"/>
            <a:ext cx="1688923" cy="7055"/>
          </a:xfrm>
          <a:prstGeom prst="rect">
            <a:avLst/>
          </a:prstGeom>
          <a:solidFill>
            <a:srgbClr val="D9DCE3"/>
          </a:solidFill>
          <a:ln/>
        </p:spPr>
        <p:txBody>
          <a:bodyPr/>
          <a:lstStyle/>
          <a:p>
            <a:endParaRPr lang="es-CL"/>
          </a:p>
        </p:txBody>
      </p:sp>
      <p:sp>
        <p:nvSpPr>
          <p:cNvPr id="48" name="Shape 44"/>
          <p:cNvSpPr/>
          <p:nvPr/>
        </p:nvSpPr>
        <p:spPr>
          <a:xfrm>
            <a:off x="5784233" y="2386322"/>
            <a:ext cx="78934" cy="101534"/>
          </a:xfrm>
          <a:prstGeom prst="rect">
            <a:avLst/>
          </a:prstGeom>
          <a:solidFill>
            <a:srgbClr val="28D2C3"/>
          </a:solidFill>
          <a:ln/>
        </p:spPr>
        <p:txBody>
          <a:bodyPr/>
          <a:lstStyle/>
          <a:p>
            <a:endParaRPr lang="es-CL"/>
          </a:p>
        </p:txBody>
      </p:sp>
      <p:sp>
        <p:nvSpPr>
          <p:cNvPr id="49" name="Text 45"/>
          <p:cNvSpPr/>
          <p:nvPr/>
        </p:nvSpPr>
        <p:spPr>
          <a:xfrm>
            <a:off x="5926667" y="2366589"/>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59,0</a:t>
            </a:r>
            <a:endParaRPr lang="en-US" sz="950" kern="1200" dirty="0">
              <a:solidFill>
                <a:prstClr val="black"/>
              </a:solidFill>
              <a:latin typeface="Calibri" panose="020F0502020204030204"/>
              <a:ea typeface="+mn-ea"/>
              <a:cs typeface="+mn-cs"/>
            </a:endParaRPr>
          </a:p>
        </p:txBody>
      </p:sp>
      <p:sp>
        <p:nvSpPr>
          <p:cNvPr id="50" name="Shape 46"/>
          <p:cNvSpPr/>
          <p:nvPr/>
        </p:nvSpPr>
        <p:spPr>
          <a:xfrm>
            <a:off x="7422445" y="2551135"/>
            <a:ext cx="610857" cy="7055"/>
          </a:xfrm>
          <a:prstGeom prst="rect">
            <a:avLst/>
          </a:prstGeom>
          <a:solidFill>
            <a:srgbClr val="D9DCE3"/>
          </a:solidFill>
          <a:ln/>
        </p:spPr>
        <p:txBody>
          <a:bodyPr/>
          <a:lstStyle/>
          <a:p>
            <a:endParaRPr lang="es-CL"/>
          </a:p>
        </p:txBody>
      </p:sp>
      <p:sp>
        <p:nvSpPr>
          <p:cNvPr id="51" name="Text 47"/>
          <p:cNvSpPr/>
          <p:nvPr/>
        </p:nvSpPr>
        <p:spPr>
          <a:xfrm>
            <a:off x="7422445" y="2316207"/>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52" name="Shape 48"/>
          <p:cNvSpPr/>
          <p:nvPr/>
        </p:nvSpPr>
        <p:spPr>
          <a:xfrm>
            <a:off x="2667001" y="2793119"/>
            <a:ext cx="1307923" cy="7055"/>
          </a:xfrm>
          <a:prstGeom prst="rect">
            <a:avLst/>
          </a:prstGeom>
          <a:solidFill>
            <a:srgbClr val="D9DCE3"/>
          </a:solidFill>
          <a:ln/>
        </p:spPr>
        <p:txBody>
          <a:bodyPr/>
          <a:lstStyle/>
          <a:p>
            <a:endParaRPr lang="es-CL"/>
          </a:p>
        </p:txBody>
      </p:sp>
      <p:sp>
        <p:nvSpPr>
          <p:cNvPr id="53" name="Text 49"/>
          <p:cNvSpPr/>
          <p:nvPr/>
        </p:nvSpPr>
        <p:spPr>
          <a:xfrm>
            <a:off x="2717801" y="2558190"/>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Atacama</a:t>
            </a:r>
            <a:endParaRPr lang="en-US" sz="950" kern="1200" dirty="0">
              <a:solidFill>
                <a:prstClr val="black"/>
              </a:solidFill>
              <a:latin typeface="Calibri" panose="020F0502020204030204"/>
              <a:ea typeface="+mn-ea"/>
              <a:cs typeface="+mn-cs"/>
            </a:endParaRPr>
          </a:p>
        </p:txBody>
      </p:sp>
      <p:sp>
        <p:nvSpPr>
          <p:cNvPr id="54" name="Shape 50"/>
          <p:cNvSpPr/>
          <p:nvPr/>
        </p:nvSpPr>
        <p:spPr>
          <a:xfrm>
            <a:off x="3974924" y="2793119"/>
            <a:ext cx="1212673" cy="7055"/>
          </a:xfrm>
          <a:prstGeom prst="rect">
            <a:avLst/>
          </a:prstGeom>
          <a:solidFill>
            <a:srgbClr val="D9DCE3"/>
          </a:solidFill>
          <a:ln/>
        </p:spPr>
        <p:txBody>
          <a:bodyPr/>
          <a:lstStyle/>
          <a:p>
            <a:endParaRPr lang="es-CL"/>
          </a:p>
        </p:txBody>
      </p:sp>
      <p:sp>
        <p:nvSpPr>
          <p:cNvPr id="55" name="Text 51"/>
          <p:cNvSpPr/>
          <p:nvPr/>
        </p:nvSpPr>
        <p:spPr>
          <a:xfrm>
            <a:off x="4025724" y="2558190"/>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56" name="Shape 52"/>
          <p:cNvSpPr/>
          <p:nvPr/>
        </p:nvSpPr>
        <p:spPr>
          <a:xfrm>
            <a:off x="5187598" y="2793119"/>
            <a:ext cx="545923" cy="7055"/>
          </a:xfrm>
          <a:prstGeom prst="rect">
            <a:avLst/>
          </a:prstGeom>
          <a:solidFill>
            <a:srgbClr val="D9DCE3"/>
          </a:solidFill>
          <a:ln/>
        </p:spPr>
        <p:txBody>
          <a:bodyPr/>
          <a:lstStyle/>
          <a:p>
            <a:endParaRPr lang="es-CL"/>
          </a:p>
        </p:txBody>
      </p:sp>
      <p:sp>
        <p:nvSpPr>
          <p:cNvPr id="57" name="Text 53"/>
          <p:cNvSpPr/>
          <p:nvPr/>
        </p:nvSpPr>
        <p:spPr>
          <a:xfrm>
            <a:off x="5187598" y="2558190"/>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a:t>
            </a:r>
            <a:endParaRPr lang="en-US" sz="950" kern="1200" dirty="0">
              <a:solidFill>
                <a:prstClr val="black"/>
              </a:solidFill>
              <a:latin typeface="Calibri" panose="020F0502020204030204"/>
              <a:ea typeface="+mn-ea"/>
              <a:cs typeface="+mn-cs"/>
            </a:endParaRPr>
          </a:p>
        </p:txBody>
      </p:sp>
      <p:sp>
        <p:nvSpPr>
          <p:cNvPr id="58" name="Shape 54"/>
          <p:cNvSpPr/>
          <p:nvPr/>
        </p:nvSpPr>
        <p:spPr>
          <a:xfrm>
            <a:off x="5733521" y="2793119"/>
            <a:ext cx="1688923" cy="7055"/>
          </a:xfrm>
          <a:prstGeom prst="rect">
            <a:avLst/>
          </a:prstGeom>
          <a:solidFill>
            <a:srgbClr val="D9DCE3"/>
          </a:solidFill>
          <a:ln/>
        </p:spPr>
        <p:txBody>
          <a:bodyPr/>
          <a:lstStyle/>
          <a:p>
            <a:endParaRPr lang="es-CL"/>
          </a:p>
        </p:txBody>
      </p:sp>
      <p:sp>
        <p:nvSpPr>
          <p:cNvPr id="59" name="Shape 55"/>
          <p:cNvSpPr/>
          <p:nvPr/>
        </p:nvSpPr>
        <p:spPr>
          <a:xfrm>
            <a:off x="5784233" y="2628305"/>
            <a:ext cx="18962" cy="101534"/>
          </a:xfrm>
          <a:prstGeom prst="rect">
            <a:avLst/>
          </a:prstGeom>
          <a:solidFill>
            <a:srgbClr val="28D2C3"/>
          </a:solidFill>
          <a:ln/>
        </p:spPr>
        <p:txBody>
          <a:bodyPr/>
          <a:lstStyle/>
          <a:p>
            <a:endParaRPr lang="es-CL"/>
          </a:p>
        </p:txBody>
      </p:sp>
      <p:sp>
        <p:nvSpPr>
          <p:cNvPr id="60" name="Text 56"/>
          <p:cNvSpPr/>
          <p:nvPr/>
        </p:nvSpPr>
        <p:spPr>
          <a:xfrm>
            <a:off x="5866695" y="2608572"/>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12,1</a:t>
            </a:r>
            <a:endParaRPr lang="en-US" sz="950" kern="1200" dirty="0">
              <a:solidFill>
                <a:prstClr val="black"/>
              </a:solidFill>
              <a:latin typeface="Calibri" panose="020F0502020204030204"/>
              <a:ea typeface="+mn-ea"/>
              <a:cs typeface="+mn-cs"/>
            </a:endParaRPr>
          </a:p>
        </p:txBody>
      </p:sp>
      <p:sp>
        <p:nvSpPr>
          <p:cNvPr id="61" name="Shape 57"/>
          <p:cNvSpPr/>
          <p:nvPr/>
        </p:nvSpPr>
        <p:spPr>
          <a:xfrm>
            <a:off x="7422445" y="2793119"/>
            <a:ext cx="610857" cy="7055"/>
          </a:xfrm>
          <a:prstGeom prst="rect">
            <a:avLst/>
          </a:prstGeom>
          <a:solidFill>
            <a:srgbClr val="D9DCE3"/>
          </a:solidFill>
          <a:ln/>
        </p:spPr>
        <p:txBody>
          <a:bodyPr/>
          <a:lstStyle/>
          <a:p>
            <a:endParaRPr lang="es-CL"/>
          </a:p>
        </p:txBody>
      </p:sp>
      <p:sp>
        <p:nvSpPr>
          <p:cNvPr id="62" name="Text 58"/>
          <p:cNvSpPr/>
          <p:nvPr/>
        </p:nvSpPr>
        <p:spPr>
          <a:xfrm>
            <a:off x="7422445" y="2558190"/>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63" name="Shape 59"/>
          <p:cNvSpPr/>
          <p:nvPr/>
        </p:nvSpPr>
        <p:spPr>
          <a:xfrm>
            <a:off x="2667001" y="3035102"/>
            <a:ext cx="1307923" cy="7055"/>
          </a:xfrm>
          <a:prstGeom prst="rect">
            <a:avLst/>
          </a:prstGeom>
          <a:solidFill>
            <a:srgbClr val="D9DCE3"/>
          </a:solidFill>
          <a:ln/>
        </p:spPr>
        <p:txBody>
          <a:bodyPr/>
          <a:lstStyle/>
          <a:p>
            <a:endParaRPr lang="es-CL"/>
          </a:p>
        </p:txBody>
      </p:sp>
      <p:sp>
        <p:nvSpPr>
          <p:cNvPr id="64" name="Text 60"/>
          <p:cNvSpPr/>
          <p:nvPr/>
        </p:nvSpPr>
        <p:spPr>
          <a:xfrm>
            <a:off x="2717801" y="280017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Coquimbo</a:t>
            </a:r>
            <a:endParaRPr lang="en-US" sz="950" kern="1200" dirty="0">
              <a:solidFill>
                <a:prstClr val="black"/>
              </a:solidFill>
              <a:latin typeface="Calibri" panose="020F0502020204030204"/>
              <a:ea typeface="+mn-ea"/>
              <a:cs typeface="+mn-cs"/>
            </a:endParaRPr>
          </a:p>
        </p:txBody>
      </p:sp>
      <p:sp>
        <p:nvSpPr>
          <p:cNvPr id="65" name="Shape 61"/>
          <p:cNvSpPr/>
          <p:nvPr/>
        </p:nvSpPr>
        <p:spPr>
          <a:xfrm>
            <a:off x="3974924" y="3035102"/>
            <a:ext cx="1212673" cy="7055"/>
          </a:xfrm>
          <a:prstGeom prst="rect">
            <a:avLst/>
          </a:prstGeom>
          <a:solidFill>
            <a:srgbClr val="D9DCE3"/>
          </a:solidFill>
          <a:ln/>
        </p:spPr>
        <p:txBody>
          <a:bodyPr/>
          <a:lstStyle/>
          <a:p>
            <a:endParaRPr lang="es-CL"/>
          </a:p>
        </p:txBody>
      </p:sp>
      <p:sp>
        <p:nvSpPr>
          <p:cNvPr id="66" name="Text 62"/>
          <p:cNvSpPr/>
          <p:nvPr/>
        </p:nvSpPr>
        <p:spPr>
          <a:xfrm>
            <a:off x="4025724" y="280017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67" name="Shape 63"/>
          <p:cNvSpPr/>
          <p:nvPr/>
        </p:nvSpPr>
        <p:spPr>
          <a:xfrm>
            <a:off x="5187598" y="3035102"/>
            <a:ext cx="545923" cy="7055"/>
          </a:xfrm>
          <a:prstGeom prst="rect">
            <a:avLst/>
          </a:prstGeom>
          <a:solidFill>
            <a:srgbClr val="D9DCE3"/>
          </a:solidFill>
          <a:ln/>
        </p:spPr>
        <p:txBody>
          <a:bodyPr/>
          <a:lstStyle/>
          <a:p>
            <a:endParaRPr lang="es-CL"/>
          </a:p>
        </p:txBody>
      </p:sp>
      <p:sp>
        <p:nvSpPr>
          <p:cNvPr id="68" name="Text 64"/>
          <p:cNvSpPr/>
          <p:nvPr/>
        </p:nvSpPr>
        <p:spPr>
          <a:xfrm>
            <a:off x="5187598" y="280017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43</a:t>
            </a:r>
            <a:endParaRPr lang="en-US" sz="950" kern="1200" dirty="0">
              <a:solidFill>
                <a:prstClr val="black"/>
              </a:solidFill>
              <a:latin typeface="Calibri" panose="020F0502020204030204"/>
              <a:ea typeface="+mn-ea"/>
              <a:cs typeface="+mn-cs"/>
            </a:endParaRPr>
          </a:p>
        </p:txBody>
      </p:sp>
      <p:sp>
        <p:nvSpPr>
          <p:cNvPr id="69" name="Shape 65"/>
          <p:cNvSpPr/>
          <p:nvPr/>
        </p:nvSpPr>
        <p:spPr>
          <a:xfrm>
            <a:off x="5733521" y="3035102"/>
            <a:ext cx="1688923" cy="7055"/>
          </a:xfrm>
          <a:prstGeom prst="rect">
            <a:avLst/>
          </a:prstGeom>
          <a:solidFill>
            <a:srgbClr val="D9DCE3"/>
          </a:solidFill>
          <a:ln/>
        </p:spPr>
        <p:txBody>
          <a:bodyPr/>
          <a:lstStyle/>
          <a:p>
            <a:endParaRPr lang="es-CL"/>
          </a:p>
        </p:txBody>
      </p:sp>
      <p:sp>
        <p:nvSpPr>
          <p:cNvPr id="70" name="Shape 66"/>
          <p:cNvSpPr/>
          <p:nvPr/>
        </p:nvSpPr>
        <p:spPr>
          <a:xfrm>
            <a:off x="5784233" y="2870289"/>
            <a:ext cx="116857" cy="101534"/>
          </a:xfrm>
          <a:prstGeom prst="rect">
            <a:avLst/>
          </a:prstGeom>
          <a:solidFill>
            <a:srgbClr val="28D2C3"/>
          </a:solidFill>
          <a:ln/>
        </p:spPr>
        <p:txBody>
          <a:bodyPr/>
          <a:lstStyle/>
          <a:p>
            <a:endParaRPr lang="es-CL"/>
          </a:p>
        </p:txBody>
      </p:sp>
      <p:sp>
        <p:nvSpPr>
          <p:cNvPr id="71" name="Text 67"/>
          <p:cNvSpPr/>
          <p:nvPr/>
        </p:nvSpPr>
        <p:spPr>
          <a:xfrm>
            <a:off x="5964591" y="2850555"/>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87,3</a:t>
            </a:r>
            <a:endParaRPr lang="en-US" sz="950" kern="1200" dirty="0">
              <a:solidFill>
                <a:prstClr val="black"/>
              </a:solidFill>
              <a:latin typeface="Calibri" panose="020F0502020204030204"/>
              <a:ea typeface="+mn-ea"/>
              <a:cs typeface="+mn-cs"/>
            </a:endParaRPr>
          </a:p>
        </p:txBody>
      </p:sp>
      <p:sp>
        <p:nvSpPr>
          <p:cNvPr id="72" name="Shape 68"/>
          <p:cNvSpPr/>
          <p:nvPr/>
        </p:nvSpPr>
        <p:spPr>
          <a:xfrm>
            <a:off x="7422445" y="3035102"/>
            <a:ext cx="610857" cy="7055"/>
          </a:xfrm>
          <a:prstGeom prst="rect">
            <a:avLst/>
          </a:prstGeom>
          <a:solidFill>
            <a:srgbClr val="D9DCE3"/>
          </a:solidFill>
          <a:ln/>
        </p:spPr>
        <p:txBody>
          <a:bodyPr/>
          <a:lstStyle/>
          <a:p>
            <a:endParaRPr lang="es-CL"/>
          </a:p>
        </p:txBody>
      </p:sp>
      <p:sp>
        <p:nvSpPr>
          <p:cNvPr id="73" name="Text 69"/>
          <p:cNvSpPr/>
          <p:nvPr/>
        </p:nvSpPr>
        <p:spPr>
          <a:xfrm>
            <a:off x="7422445" y="280017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5</a:t>
            </a:r>
            <a:endParaRPr lang="en-US" sz="950" kern="1200" dirty="0">
              <a:solidFill>
                <a:prstClr val="black"/>
              </a:solidFill>
              <a:latin typeface="Calibri" panose="020F0502020204030204"/>
              <a:ea typeface="+mn-ea"/>
              <a:cs typeface="+mn-cs"/>
            </a:endParaRPr>
          </a:p>
        </p:txBody>
      </p:sp>
      <p:sp>
        <p:nvSpPr>
          <p:cNvPr id="74" name="Shape 70"/>
          <p:cNvSpPr/>
          <p:nvPr/>
        </p:nvSpPr>
        <p:spPr>
          <a:xfrm>
            <a:off x="2667001" y="3277086"/>
            <a:ext cx="1307923" cy="7055"/>
          </a:xfrm>
          <a:prstGeom prst="rect">
            <a:avLst/>
          </a:prstGeom>
          <a:solidFill>
            <a:srgbClr val="D9DCE3"/>
          </a:solidFill>
          <a:ln/>
        </p:spPr>
        <p:txBody>
          <a:bodyPr/>
          <a:lstStyle/>
          <a:p>
            <a:endParaRPr lang="es-CL"/>
          </a:p>
        </p:txBody>
      </p:sp>
      <p:sp>
        <p:nvSpPr>
          <p:cNvPr id="75" name="Text 71"/>
          <p:cNvSpPr/>
          <p:nvPr/>
        </p:nvSpPr>
        <p:spPr>
          <a:xfrm>
            <a:off x="2717801" y="3042157"/>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Valparaíso</a:t>
            </a:r>
            <a:endParaRPr lang="en-US" sz="950" kern="1200" dirty="0">
              <a:solidFill>
                <a:prstClr val="black"/>
              </a:solidFill>
              <a:latin typeface="Calibri" panose="020F0502020204030204"/>
              <a:ea typeface="+mn-ea"/>
              <a:cs typeface="+mn-cs"/>
            </a:endParaRPr>
          </a:p>
        </p:txBody>
      </p:sp>
      <p:sp>
        <p:nvSpPr>
          <p:cNvPr id="76" name="Shape 72"/>
          <p:cNvSpPr/>
          <p:nvPr/>
        </p:nvSpPr>
        <p:spPr>
          <a:xfrm>
            <a:off x="3974924" y="3277086"/>
            <a:ext cx="1212673" cy="7055"/>
          </a:xfrm>
          <a:prstGeom prst="rect">
            <a:avLst/>
          </a:prstGeom>
          <a:solidFill>
            <a:srgbClr val="D9DCE3"/>
          </a:solidFill>
          <a:ln/>
        </p:spPr>
        <p:txBody>
          <a:bodyPr/>
          <a:lstStyle/>
          <a:p>
            <a:endParaRPr lang="es-CL"/>
          </a:p>
        </p:txBody>
      </p:sp>
      <p:sp>
        <p:nvSpPr>
          <p:cNvPr id="77" name="Text 73"/>
          <p:cNvSpPr/>
          <p:nvPr/>
        </p:nvSpPr>
        <p:spPr>
          <a:xfrm>
            <a:off x="4025724" y="3042157"/>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78" name="Shape 74"/>
          <p:cNvSpPr/>
          <p:nvPr/>
        </p:nvSpPr>
        <p:spPr>
          <a:xfrm>
            <a:off x="5187598" y="3277086"/>
            <a:ext cx="545923" cy="7055"/>
          </a:xfrm>
          <a:prstGeom prst="rect">
            <a:avLst/>
          </a:prstGeom>
          <a:solidFill>
            <a:srgbClr val="D9DCE3"/>
          </a:solidFill>
          <a:ln/>
        </p:spPr>
        <p:txBody>
          <a:bodyPr/>
          <a:lstStyle/>
          <a:p>
            <a:endParaRPr lang="es-CL"/>
          </a:p>
        </p:txBody>
      </p:sp>
      <p:sp>
        <p:nvSpPr>
          <p:cNvPr id="79" name="Text 75"/>
          <p:cNvSpPr/>
          <p:nvPr/>
        </p:nvSpPr>
        <p:spPr>
          <a:xfrm>
            <a:off x="5187598" y="3042157"/>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77</a:t>
            </a:r>
            <a:endParaRPr lang="en-US" sz="950" kern="1200" dirty="0">
              <a:solidFill>
                <a:prstClr val="black"/>
              </a:solidFill>
              <a:latin typeface="Calibri" panose="020F0502020204030204"/>
              <a:ea typeface="+mn-ea"/>
              <a:cs typeface="+mn-cs"/>
            </a:endParaRPr>
          </a:p>
        </p:txBody>
      </p:sp>
      <p:sp>
        <p:nvSpPr>
          <p:cNvPr id="80" name="Shape 76"/>
          <p:cNvSpPr/>
          <p:nvPr/>
        </p:nvSpPr>
        <p:spPr>
          <a:xfrm>
            <a:off x="5733521" y="3277086"/>
            <a:ext cx="1688923" cy="7055"/>
          </a:xfrm>
          <a:prstGeom prst="rect">
            <a:avLst/>
          </a:prstGeom>
          <a:solidFill>
            <a:srgbClr val="D9DCE3"/>
          </a:solidFill>
          <a:ln/>
        </p:spPr>
        <p:txBody>
          <a:bodyPr/>
          <a:lstStyle/>
          <a:p>
            <a:endParaRPr lang="es-CL"/>
          </a:p>
        </p:txBody>
      </p:sp>
      <p:sp>
        <p:nvSpPr>
          <p:cNvPr id="81" name="Shape 77"/>
          <p:cNvSpPr/>
          <p:nvPr/>
        </p:nvSpPr>
        <p:spPr>
          <a:xfrm>
            <a:off x="5784233" y="3112272"/>
            <a:ext cx="255433" cy="101534"/>
          </a:xfrm>
          <a:prstGeom prst="rect">
            <a:avLst/>
          </a:prstGeom>
          <a:solidFill>
            <a:srgbClr val="28D2C3"/>
          </a:solidFill>
          <a:ln/>
        </p:spPr>
        <p:txBody>
          <a:bodyPr/>
          <a:lstStyle/>
          <a:p>
            <a:endParaRPr lang="es-CL"/>
          </a:p>
        </p:txBody>
      </p:sp>
      <p:sp>
        <p:nvSpPr>
          <p:cNvPr id="82" name="Text 78"/>
          <p:cNvSpPr/>
          <p:nvPr/>
        </p:nvSpPr>
        <p:spPr>
          <a:xfrm>
            <a:off x="6103166" y="3092539"/>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190,7</a:t>
            </a:r>
            <a:endParaRPr lang="en-US" sz="950" kern="1200" dirty="0">
              <a:solidFill>
                <a:prstClr val="black"/>
              </a:solidFill>
              <a:latin typeface="Calibri" panose="020F0502020204030204"/>
              <a:ea typeface="+mn-ea"/>
              <a:cs typeface="+mn-cs"/>
            </a:endParaRPr>
          </a:p>
        </p:txBody>
      </p:sp>
      <p:sp>
        <p:nvSpPr>
          <p:cNvPr id="83" name="Shape 79"/>
          <p:cNvSpPr/>
          <p:nvPr/>
        </p:nvSpPr>
        <p:spPr>
          <a:xfrm>
            <a:off x="7422445" y="3277086"/>
            <a:ext cx="610857" cy="7055"/>
          </a:xfrm>
          <a:prstGeom prst="rect">
            <a:avLst/>
          </a:prstGeom>
          <a:solidFill>
            <a:srgbClr val="D9DCE3"/>
          </a:solidFill>
          <a:ln/>
        </p:spPr>
        <p:txBody>
          <a:bodyPr/>
          <a:lstStyle/>
          <a:p>
            <a:endParaRPr lang="es-CL"/>
          </a:p>
        </p:txBody>
      </p:sp>
      <p:sp>
        <p:nvSpPr>
          <p:cNvPr id="84" name="Text 80"/>
          <p:cNvSpPr/>
          <p:nvPr/>
        </p:nvSpPr>
        <p:spPr>
          <a:xfrm>
            <a:off x="7422445" y="3042157"/>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9</a:t>
            </a:r>
            <a:endParaRPr lang="en-US" sz="950" kern="1200" dirty="0">
              <a:solidFill>
                <a:prstClr val="black"/>
              </a:solidFill>
              <a:latin typeface="Calibri" panose="020F0502020204030204"/>
              <a:ea typeface="+mn-ea"/>
              <a:cs typeface="+mn-cs"/>
            </a:endParaRPr>
          </a:p>
        </p:txBody>
      </p:sp>
      <p:sp>
        <p:nvSpPr>
          <p:cNvPr id="85" name="Shape 81"/>
          <p:cNvSpPr/>
          <p:nvPr/>
        </p:nvSpPr>
        <p:spPr>
          <a:xfrm>
            <a:off x="2667001" y="3519069"/>
            <a:ext cx="1307923" cy="7055"/>
          </a:xfrm>
          <a:prstGeom prst="rect">
            <a:avLst/>
          </a:prstGeom>
          <a:solidFill>
            <a:srgbClr val="D9DCE3"/>
          </a:solidFill>
          <a:ln/>
        </p:spPr>
        <p:txBody>
          <a:bodyPr/>
          <a:lstStyle/>
          <a:p>
            <a:endParaRPr lang="es-CL"/>
          </a:p>
        </p:txBody>
      </p:sp>
      <p:sp>
        <p:nvSpPr>
          <p:cNvPr id="86" name="Text 82"/>
          <p:cNvSpPr/>
          <p:nvPr/>
        </p:nvSpPr>
        <p:spPr>
          <a:xfrm>
            <a:off x="2717801" y="3284141"/>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Metropolitana</a:t>
            </a:r>
            <a:endParaRPr lang="en-US" sz="950" kern="1200" dirty="0">
              <a:solidFill>
                <a:prstClr val="black"/>
              </a:solidFill>
              <a:latin typeface="Calibri" panose="020F0502020204030204"/>
              <a:ea typeface="+mn-ea"/>
              <a:cs typeface="+mn-cs"/>
            </a:endParaRPr>
          </a:p>
        </p:txBody>
      </p:sp>
      <p:sp>
        <p:nvSpPr>
          <p:cNvPr id="87" name="Shape 83"/>
          <p:cNvSpPr/>
          <p:nvPr/>
        </p:nvSpPr>
        <p:spPr>
          <a:xfrm>
            <a:off x="3974924" y="3519069"/>
            <a:ext cx="1212673" cy="7055"/>
          </a:xfrm>
          <a:prstGeom prst="rect">
            <a:avLst/>
          </a:prstGeom>
          <a:solidFill>
            <a:srgbClr val="D9DCE3"/>
          </a:solidFill>
          <a:ln/>
        </p:spPr>
        <p:txBody>
          <a:bodyPr/>
          <a:lstStyle/>
          <a:p>
            <a:endParaRPr lang="es-CL"/>
          </a:p>
        </p:txBody>
      </p:sp>
      <p:sp>
        <p:nvSpPr>
          <p:cNvPr id="88" name="Text 84"/>
          <p:cNvSpPr/>
          <p:nvPr/>
        </p:nvSpPr>
        <p:spPr>
          <a:xfrm>
            <a:off x="4025724" y="3284141"/>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 Eglys</a:t>
            </a:r>
            <a:endParaRPr lang="en-US" sz="950" kern="1200" dirty="0">
              <a:solidFill>
                <a:prstClr val="black"/>
              </a:solidFill>
              <a:latin typeface="Calibri" panose="020F0502020204030204"/>
              <a:ea typeface="+mn-ea"/>
              <a:cs typeface="+mn-cs"/>
            </a:endParaRPr>
          </a:p>
        </p:txBody>
      </p:sp>
      <p:sp>
        <p:nvSpPr>
          <p:cNvPr id="89" name="Shape 85"/>
          <p:cNvSpPr/>
          <p:nvPr/>
        </p:nvSpPr>
        <p:spPr>
          <a:xfrm>
            <a:off x="5187598" y="3519069"/>
            <a:ext cx="545923" cy="7055"/>
          </a:xfrm>
          <a:prstGeom prst="rect">
            <a:avLst/>
          </a:prstGeom>
          <a:solidFill>
            <a:srgbClr val="D9DCE3"/>
          </a:solidFill>
          <a:ln/>
        </p:spPr>
        <p:txBody>
          <a:bodyPr/>
          <a:lstStyle/>
          <a:p>
            <a:endParaRPr lang="es-CL"/>
          </a:p>
        </p:txBody>
      </p:sp>
      <p:sp>
        <p:nvSpPr>
          <p:cNvPr id="90" name="Text 86"/>
          <p:cNvSpPr/>
          <p:nvPr/>
        </p:nvSpPr>
        <p:spPr>
          <a:xfrm>
            <a:off x="5187598" y="3284141"/>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303</a:t>
            </a:r>
            <a:endParaRPr lang="en-US" sz="950" kern="1200" dirty="0">
              <a:solidFill>
                <a:prstClr val="black"/>
              </a:solidFill>
              <a:latin typeface="Calibri" panose="020F0502020204030204"/>
              <a:ea typeface="+mn-ea"/>
              <a:cs typeface="+mn-cs"/>
            </a:endParaRPr>
          </a:p>
        </p:txBody>
      </p:sp>
      <p:sp>
        <p:nvSpPr>
          <p:cNvPr id="91" name="Shape 87"/>
          <p:cNvSpPr/>
          <p:nvPr/>
        </p:nvSpPr>
        <p:spPr>
          <a:xfrm>
            <a:off x="5733521" y="3519069"/>
            <a:ext cx="1688923" cy="7055"/>
          </a:xfrm>
          <a:prstGeom prst="rect">
            <a:avLst/>
          </a:prstGeom>
          <a:solidFill>
            <a:srgbClr val="D9DCE3"/>
          </a:solidFill>
          <a:ln/>
        </p:spPr>
        <p:txBody>
          <a:bodyPr/>
          <a:lstStyle/>
          <a:p>
            <a:endParaRPr lang="es-CL"/>
          </a:p>
        </p:txBody>
      </p:sp>
      <p:sp>
        <p:nvSpPr>
          <p:cNvPr id="92" name="Shape 88"/>
          <p:cNvSpPr/>
          <p:nvPr/>
        </p:nvSpPr>
        <p:spPr>
          <a:xfrm>
            <a:off x="5784233" y="3354256"/>
            <a:ext cx="1111250" cy="101534"/>
          </a:xfrm>
          <a:prstGeom prst="rect">
            <a:avLst/>
          </a:prstGeom>
          <a:solidFill>
            <a:srgbClr val="28D2C3"/>
          </a:solidFill>
          <a:ln/>
        </p:spPr>
        <p:txBody>
          <a:bodyPr/>
          <a:lstStyle/>
          <a:p>
            <a:endParaRPr lang="es-CL"/>
          </a:p>
        </p:txBody>
      </p:sp>
      <p:sp>
        <p:nvSpPr>
          <p:cNvPr id="93" name="Text 89"/>
          <p:cNvSpPr/>
          <p:nvPr/>
        </p:nvSpPr>
        <p:spPr>
          <a:xfrm>
            <a:off x="6958983" y="3334523"/>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829,5</a:t>
            </a:r>
            <a:endParaRPr lang="en-US" sz="950" kern="1200" dirty="0">
              <a:solidFill>
                <a:prstClr val="black"/>
              </a:solidFill>
              <a:latin typeface="Calibri" panose="020F0502020204030204"/>
              <a:ea typeface="+mn-ea"/>
              <a:cs typeface="+mn-cs"/>
            </a:endParaRPr>
          </a:p>
        </p:txBody>
      </p:sp>
      <p:sp>
        <p:nvSpPr>
          <p:cNvPr id="94" name="Shape 90"/>
          <p:cNvSpPr/>
          <p:nvPr/>
        </p:nvSpPr>
        <p:spPr>
          <a:xfrm>
            <a:off x="7422445" y="3519069"/>
            <a:ext cx="610857" cy="7055"/>
          </a:xfrm>
          <a:prstGeom prst="rect">
            <a:avLst/>
          </a:prstGeom>
          <a:solidFill>
            <a:srgbClr val="D9DCE3"/>
          </a:solidFill>
          <a:ln/>
        </p:spPr>
        <p:txBody>
          <a:bodyPr/>
          <a:lstStyle/>
          <a:p>
            <a:endParaRPr lang="es-CL"/>
          </a:p>
        </p:txBody>
      </p:sp>
      <p:sp>
        <p:nvSpPr>
          <p:cNvPr id="95" name="Text 91"/>
          <p:cNvSpPr/>
          <p:nvPr/>
        </p:nvSpPr>
        <p:spPr>
          <a:xfrm>
            <a:off x="7422445" y="3284141"/>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28</a:t>
            </a:r>
            <a:endParaRPr lang="en-US" sz="950" kern="1200" dirty="0">
              <a:solidFill>
                <a:prstClr val="black"/>
              </a:solidFill>
              <a:latin typeface="Calibri" panose="020F0502020204030204"/>
              <a:ea typeface="+mn-ea"/>
              <a:cs typeface="+mn-cs"/>
            </a:endParaRPr>
          </a:p>
        </p:txBody>
      </p:sp>
      <p:sp>
        <p:nvSpPr>
          <p:cNvPr id="96" name="Shape 92"/>
          <p:cNvSpPr/>
          <p:nvPr/>
        </p:nvSpPr>
        <p:spPr>
          <a:xfrm>
            <a:off x="2667001" y="3761053"/>
            <a:ext cx="1307923" cy="7055"/>
          </a:xfrm>
          <a:prstGeom prst="rect">
            <a:avLst/>
          </a:prstGeom>
          <a:solidFill>
            <a:srgbClr val="D9DCE3"/>
          </a:solidFill>
          <a:ln/>
        </p:spPr>
        <p:txBody>
          <a:bodyPr/>
          <a:lstStyle/>
          <a:p>
            <a:endParaRPr lang="es-CL"/>
          </a:p>
        </p:txBody>
      </p:sp>
      <p:sp>
        <p:nvSpPr>
          <p:cNvPr id="97" name="Text 93"/>
          <p:cNvSpPr/>
          <p:nvPr/>
        </p:nvSpPr>
        <p:spPr>
          <a:xfrm>
            <a:off x="2717801" y="3526124"/>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O'Higgins</a:t>
            </a:r>
            <a:endParaRPr lang="en-US" sz="950" kern="1200" dirty="0">
              <a:solidFill>
                <a:prstClr val="black"/>
              </a:solidFill>
              <a:latin typeface="Calibri" panose="020F0502020204030204"/>
              <a:ea typeface="+mn-ea"/>
              <a:cs typeface="+mn-cs"/>
            </a:endParaRPr>
          </a:p>
        </p:txBody>
      </p:sp>
      <p:sp>
        <p:nvSpPr>
          <p:cNvPr id="98" name="Shape 94"/>
          <p:cNvSpPr/>
          <p:nvPr/>
        </p:nvSpPr>
        <p:spPr>
          <a:xfrm>
            <a:off x="3974924" y="3761053"/>
            <a:ext cx="1212673" cy="7055"/>
          </a:xfrm>
          <a:prstGeom prst="rect">
            <a:avLst/>
          </a:prstGeom>
          <a:solidFill>
            <a:srgbClr val="D9DCE3"/>
          </a:solidFill>
          <a:ln/>
        </p:spPr>
        <p:txBody>
          <a:bodyPr/>
          <a:lstStyle/>
          <a:p>
            <a:endParaRPr lang="es-CL"/>
          </a:p>
        </p:txBody>
      </p:sp>
      <p:sp>
        <p:nvSpPr>
          <p:cNvPr id="99" name="Text 95"/>
          <p:cNvSpPr/>
          <p:nvPr/>
        </p:nvSpPr>
        <p:spPr>
          <a:xfrm>
            <a:off x="4025724" y="3526124"/>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00" name="Shape 96"/>
          <p:cNvSpPr/>
          <p:nvPr/>
        </p:nvSpPr>
        <p:spPr>
          <a:xfrm>
            <a:off x="5187598" y="3761053"/>
            <a:ext cx="545923" cy="7055"/>
          </a:xfrm>
          <a:prstGeom prst="rect">
            <a:avLst/>
          </a:prstGeom>
          <a:solidFill>
            <a:srgbClr val="D9DCE3"/>
          </a:solidFill>
          <a:ln/>
        </p:spPr>
        <p:txBody>
          <a:bodyPr/>
          <a:lstStyle/>
          <a:p>
            <a:endParaRPr lang="es-CL"/>
          </a:p>
        </p:txBody>
      </p:sp>
      <p:sp>
        <p:nvSpPr>
          <p:cNvPr id="101" name="Text 97"/>
          <p:cNvSpPr/>
          <p:nvPr/>
        </p:nvSpPr>
        <p:spPr>
          <a:xfrm>
            <a:off x="5187598" y="3526124"/>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32</a:t>
            </a:r>
            <a:endParaRPr lang="en-US" sz="950" kern="1200" dirty="0">
              <a:solidFill>
                <a:prstClr val="black"/>
              </a:solidFill>
              <a:latin typeface="Calibri" panose="020F0502020204030204"/>
              <a:ea typeface="+mn-ea"/>
              <a:cs typeface="+mn-cs"/>
            </a:endParaRPr>
          </a:p>
        </p:txBody>
      </p:sp>
      <p:sp>
        <p:nvSpPr>
          <p:cNvPr id="102" name="Shape 98"/>
          <p:cNvSpPr/>
          <p:nvPr/>
        </p:nvSpPr>
        <p:spPr>
          <a:xfrm>
            <a:off x="5733521" y="3761053"/>
            <a:ext cx="1688923" cy="7055"/>
          </a:xfrm>
          <a:prstGeom prst="rect">
            <a:avLst/>
          </a:prstGeom>
          <a:solidFill>
            <a:srgbClr val="D9DCE3"/>
          </a:solidFill>
          <a:ln/>
        </p:spPr>
        <p:txBody>
          <a:bodyPr/>
          <a:lstStyle/>
          <a:p>
            <a:endParaRPr lang="es-CL"/>
          </a:p>
        </p:txBody>
      </p:sp>
      <p:sp>
        <p:nvSpPr>
          <p:cNvPr id="103" name="Shape 99"/>
          <p:cNvSpPr/>
          <p:nvPr/>
        </p:nvSpPr>
        <p:spPr>
          <a:xfrm>
            <a:off x="5784233" y="3596240"/>
            <a:ext cx="95360" cy="101534"/>
          </a:xfrm>
          <a:prstGeom prst="rect">
            <a:avLst/>
          </a:prstGeom>
          <a:solidFill>
            <a:srgbClr val="282DF0"/>
          </a:solidFill>
          <a:ln/>
        </p:spPr>
        <p:txBody>
          <a:bodyPr/>
          <a:lstStyle/>
          <a:p>
            <a:endParaRPr lang="es-CL"/>
          </a:p>
        </p:txBody>
      </p:sp>
      <p:sp>
        <p:nvSpPr>
          <p:cNvPr id="104" name="Text 100"/>
          <p:cNvSpPr/>
          <p:nvPr/>
        </p:nvSpPr>
        <p:spPr>
          <a:xfrm>
            <a:off x="5943093" y="3576506"/>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71,2</a:t>
            </a:r>
            <a:endParaRPr lang="en-US" sz="950" kern="1200" dirty="0">
              <a:solidFill>
                <a:prstClr val="black"/>
              </a:solidFill>
              <a:latin typeface="Calibri" panose="020F0502020204030204"/>
              <a:ea typeface="+mn-ea"/>
              <a:cs typeface="+mn-cs"/>
            </a:endParaRPr>
          </a:p>
        </p:txBody>
      </p:sp>
      <p:sp>
        <p:nvSpPr>
          <p:cNvPr id="105" name="Shape 101"/>
          <p:cNvSpPr/>
          <p:nvPr/>
        </p:nvSpPr>
        <p:spPr>
          <a:xfrm>
            <a:off x="7422445" y="3761053"/>
            <a:ext cx="610857" cy="7055"/>
          </a:xfrm>
          <a:prstGeom prst="rect">
            <a:avLst/>
          </a:prstGeom>
          <a:solidFill>
            <a:srgbClr val="D9DCE3"/>
          </a:solidFill>
          <a:ln/>
        </p:spPr>
        <p:txBody>
          <a:bodyPr/>
          <a:lstStyle/>
          <a:p>
            <a:endParaRPr lang="es-CL"/>
          </a:p>
        </p:txBody>
      </p:sp>
      <p:sp>
        <p:nvSpPr>
          <p:cNvPr id="106" name="Text 102"/>
          <p:cNvSpPr/>
          <p:nvPr/>
        </p:nvSpPr>
        <p:spPr>
          <a:xfrm>
            <a:off x="7422445" y="3526124"/>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0</a:t>
            </a:r>
            <a:endParaRPr lang="en-US" sz="950" kern="1200" dirty="0">
              <a:solidFill>
                <a:prstClr val="black"/>
              </a:solidFill>
              <a:latin typeface="Calibri" panose="020F0502020204030204"/>
              <a:ea typeface="+mn-ea"/>
              <a:cs typeface="+mn-cs"/>
            </a:endParaRPr>
          </a:p>
        </p:txBody>
      </p:sp>
      <p:sp>
        <p:nvSpPr>
          <p:cNvPr id="107" name="Shape 103"/>
          <p:cNvSpPr/>
          <p:nvPr/>
        </p:nvSpPr>
        <p:spPr>
          <a:xfrm>
            <a:off x="2667001" y="4003037"/>
            <a:ext cx="1307923" cy="7055"/>
          </a:xfrm>
          <a:prstGeom prst="rect">
            <a:avLst/>
          </a:prstGeom>
          <a:solidFill>
            <a:srgbClr val="D9DCE3"/>
          </a:solidFill>
          <a:ln/>
        </p:spPr>
        <p:txBody>
          <a:bodyPr/>
          <a:lstStyle/>
          <a:p>
            <a:endParaRPr lang="es-CL"/>
          </a:p>
        </p:txBody>
      </p:sp>
      <p:sp>
        <p:nvSpPr>
          <p:cNvPr id="108" name="Text 104"/>
          <p:cNvSpPr/>
          <p:nvPr/>
        </p:nvSpPr>
        <p:spPr>
          <a:xfrm>
            <a:off x="2717801" y="3768108"/>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Maule</a:t>
            </a:r>
            <a:endParaRPr lang="en-US" sz="950" kern="1200" dirty="0">
              <a:solidFill>
                <a:prstClr val="black"/>
              </a:solidFill>
              <a:latin typeface="Calibri" panose="020F0502020204030204"/>
              <a:ea typeface="+mn-ea"/>
              <a:cs typeface="+mn-cs"/>
            </a:endParaRPr>
          </a:p>
        </p:txBody>
      </p:sp>
      <p:sp>
        <p:nvSpPr>
          <p:cNvPr id="109" name="Shape 105"/>
          <p:cNvSpPr/>
          <p:nvPr/>
        </p:nvSpPr>
        <p:spPr>
          <a:xfrm>
            <a:off x="3974924" y="4003037"/>
            <a:ext cx="1212673" cy="7055"/>
          </a:xfrm>
          <a:prstGeom prst="rect">
            <a:avLst/>
          </a:prstGeom>
          <a:solidFill>
            <a:srgbClr val="D9DCE3"/>
          </a:solidFill>
          <a:ln/>
        </p:spPr>
        <p:txBody>
          <a:bodyPr/>
          <a:lstStyle/>
          <a:p>
            <a:endParaRPr lang="es-CL"/>
          </a:p>
        </p:txBody>
      </p:sp>
      <p:sp>
        <p:nvSpPr>
          <p:cNvPr id="110" name="Text 106"/>
          <p:cNvSpPr/>
          <p:nvPr/>
        </p:nvSpPr>
        <p:spPr>
          <a:xfrm>
            <a:off x="4025724" y="3768108"/>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111" name="Shape 107"/>
          <p:cNvSpPr/>
          <p:nvPr/>
        </p:nvSpPr>
        <p:spPr>
          <a:xfrm>
            <a:off x="5187598" y="4003037"/>
            <a:ext cx="545923" cy="7055"/>
          </a:xfrm>
          <a:prstGeom prst="rect">
            <a:avLst/>
          </a:prstGeom>
          <a:solidFill>
            <a:srgbClr val="D9DCE3"/>
          </a:solidFill>
          <a:ln/>
        </p:spPr>
        <p:txBody>
          <a:bodyPr/>
          <a:lstStyle/>
          <a:p>
            <a:endParaRPr lang="es-CL"/>
          </a:p>
        </p:txBody>
      </p:sp>
      <p:sp>
        <p:nvSpPr>
          <p:cNvPr id="112" name="Text 108"/>
          <p:cNvSpPr/>
          <p:nvPr/>
        </p:nvSpPr>
        <p:spPr>
          <a:xfrm>
            <a:off x="5187598" y="3768108"/>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46</a:t>
            </a:r>
            <a:endParaRPr lang="en-US" sz="950" kern="1200" dirty="0">
              <a:solidFill>
                <a:prstClr val="black"/>
              </a:solidFill>
              <a:latin typeface="Calibri" panose="020F0502020204030204"/>
              <a:ea typeface="+mn-ea"/>
              <a:cs typeface="+mn-cs"/>
            </a:endParaRPr>
          </a:p>
        </p:txBody>
      </p:sp>
      <p:sp>
        <p:nvSpPr>
          <p:cNvPr id="113" name="Shape 109"/>
          <p:cNvSpPr/>
          <p:nvPr/>
        </p:nvSpPr>
        <p:spPr>
          <a:xfrm>
            <a:off x="5733521" y="4003037"/>
            <a:ext cx="1688923" cy="7055"/>
          </a:xfrm>
          <a:prstGeom prst="rect">
            <a:avLst/>
          </a:prstGeom>
          <a:solidFill>
            <a:srgbClr val="D9DCE3"/>
          </a:solidFill>
          <a:ln/>
        </p:spPr>
        <p:txBody>
          <a:bodyPr/>
          <a:lstStyle/>
          <a:p>
            <a:endParaRPr lang="es-CL"/>
          </a:p>
        </p:txBody>
      </p:sp>
      <p:sp>
        <p:nvSpPr>
          <p:cNvPr id="114" name="Shape 110"/>
          <p:cNvSpPr/>
          <p:nvPr/>
        </p:nvSpPr>
        <p:spPr>
          <a:xfrm>
            <a:off x="5784233" y="3838222"/>
            <a:ext cx="177161" cy="101534"/>
          </a:xfrm>
          <a:prstGeom prst="rect">
            <a:avLst/>
          </a:prstGeom>
          <a:solidFill>
            <a:srgbClr val="28D2C3"/>
          </a:solidFill>
          <a:ln/>
        </p:spPr>
        <p:txBody>
          <a:bodyPr/>
          <a:lstStyle/>
          <a:p>
            <a:endParaRPr lang="es-CL"/>
          </a:p>
        </p:txBody>
      </p:sp>
      <p:sp>
        <p:nvSpPr>
          <p:cNvPr id="115" name="Text 111"/>
          <p:cNvSpPr/>
          <p:nvPr/>
        </p:nvSpPr>
        <p:spPr>
          <a:xfrm>
            <a:off x="6024893" y="3818490"/>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132,3</a:t>
            </a:r>
            <a:endParaRPr lang="en-US" sz="950" kern="1200" dirty="0">
              <a:solidFill>
                <a:prstClr val="black"/>
              </a:solidFill>
              <a:latin typeface="Calibri" panose="020F0502020204030204"/>
              <a:ea typeface="+mn-ea"/>
              <a:cs typeface="+mn-cs"/>
            </a:endParaRPr>
          </a:p>
        </p:txBody>
      </p:sp>
      <p:sp>
        <p:nvSpPr>
          <p:cNvPr id="116" name="Shape 112"/>
          <p:cNvSpPr/>
          <p:nvPr/>
        </p:nvSpPr>
        <p:spPr>
          <a:xfrm>
            <a:off x="7422445" y="4003037"/>
            <a:ext cx="610857" cy="7055"/>
          </a:xfrm>
          <a:prstGeom prst="rect">
            <a:avLst/>
          </a:prstGeom>
          <a:solidFill>
            <a:srgbClr val="D9DCE3"/>
          </a:solidFill>
          <a:ln/>
        </p:spPr>
        <p:txBody>
          <a:bodyPr/>
          <a:lstStyle/>
          <a:p>
            <a:endParaRPr lang="es-CL"/>
          </a:p>
        </p:txBody>
      </p:sp>
      <p:sp>
        <p:nvSpPr>
          <p:cNvPr id="117" name="Text 113"/>
          <p:cNvSpPr/>
          <p:nvPr/>
        </p:nvSpPr>
        <p:spPr>
          <a:xfrm>
            <a:off x="7422445" y="3768108"/>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a:t>
            </a:r>
            <a:endParaRPr lang="en-US" sz="950" kern="1200" dirty="0">
              <a:solidFill>
                <a:prstClr val="black"/>
              </a:solidFill>
              <a:latin typeface="Calibri" panose="020F0502020204030204"/>
              <a:ea typeface="+mn-ea"/>
              <a:cs typeface="+mn-cs"/>
            </a:endParaRPr>
          </a:p>
        </p:txBody>
      </p:sp>
      <p:sp>
        <p:nvSpPr>
          <p:cNvPr id="118" name="Shape 114"/>
          <p:cNvSpPr/>
          <p:nvPr/>
        </p:nvSpPr>
        <p:spPr>
          <a:xfrm>
            <a:off x="2667001" y="4245020"/>
            <a:ext cx="1307923" cy="7055"/>
          </a:xfrm>
          <a:prstGeom prst="rect">
            <a:avLst/>
          </a:prstGeom>
          <a:solidFill>
            <a:srgbClr val="D9DCE3"/>
          </a:solidFill>
          <a:ln/>
        </p:spPr>
        <p:txBody>
          <a:bodyPr/>
          <a:lstStyle/>
          <a:p>
            <a:endParaRPr lang="es-CL"/>
          </a:p>
        </p:txBody>
      </p:sp>
      <p:sp>
        <p:nvSpPr>
          <p:cNvPr id="119" name="Text 115"/>
          <p:cNvSpPr/>
          <p:nvPr/>
        </p:nvSpPr>
        <p:spPr>
          <a:xfrm>
            <a:off x="2717801" y="4010091"/>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Ñuble</a:t>
            </a:r>
            <a:endParaRPr lang="en-US" sz="950" kern="1200" dirty="0">
              <a:solidFill>
                <a:prstClr val="black"/>
              </a:solidFill>
              <a:latin typeface="Calibri" panose="020F0502020204030204"/>
              <a:ea typeface="+mn-ea"/>
              <a:cs typeface="+mn-cs"/>
            </a:endParaRPr>
          </a:p>
        </p:txBody>
      </p:sp>
      <p:sp>
        <p:nvSpPr>
          <p:cNvPr id="120" name="Shape 116"/>
          <p:cNvSpPr/>
          <p:nvPr/>
        </p:nvSpPr>
        <p:spPr>
          <a:xfrm>
            <a:off x="3974924" y="4245020"/>
            <a:ext cx="1212673" cy="7055"/>
          </a:xfrm>
          <a:prstGeom prst="rect">
            <a:avLst/>
          </a:prstGeom>
          <a:solidFill>
            <a:srgbClr val="D9DCE3"/>
          </a:solidFill>
          <a:ln/>
        </p:spPr>
        <p:txBody>
          <a:bodyPr/>
          <a:lstStyle/>
          <a:p>
            <a:endParaRPr lang="es-CL"/>
          </a:p>
        </p:txBody>
      </p:sp>
      <p:sp>
        <p:nvSpPr>
          <p:cNvPr id="121" name="Text 117"/>
          <p:cNvSpPr/>
          <p:nvPr/>
        </p:nvSpPr>
        <p:spPr>
          <a:xfrm>
            <a:off x="4025724" y="4010091"/>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22" name="Shape 118"/>
          <p:cNvSpPr/>
          <p:nvPr/>
        </p:nvSpPr>
        <p:spPr>
          <a:xfrm>
            <a:off x="5187598" y="4245020"/>
            <a:ext cx="545923" cy="7055"/>
          </a:xfrm>
          <a:prstGeom prst="rect">
            <a:avLst/>
          </a:prstGeom>
          <a:solidFill>
            <a:srgbClr val="D9DCE3"/>
          </a:solidFill>
          <a:ln/>
        </p:spPr>
        <p:txBody>
          <a:bodyPr/>
          <a:lstStyle/>
          <a:p>
            <a:endParaRPr lang="es-CL"/>
          </a:p>
        </p:txBody>
      </p:sp>
      <p:sp>
        <p:nvSpPr>
          <p:cNvPr id="123" name="Text 119"/>
          <p:cNvSpPr/>
          <p:nvPr/>
        </p:nvSpPr>
        <p:spPr>
          <a:xfrm>
            <a:off x="5187598" y="4010091"/>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24</a:t>
            </a:r>
            <a:endParaRPr lang="en-US" sz="950" kern="1200" dirty="0">
              <a:solidFill>
                <a:prstClr val="black"/>
              </a:solidFill>
              <a:latin typeface="Calibri" panose="020F0502020204030204"/>
              <a:ea typeface="+mn-ea"/>
              <a:cs typeface="+mn-cs"/>
            </a:endParaRPr>
          </a:p>
        </p:txBody>
      </p:sp>
      <p:sp>
        <p:nvSpPr>
          <p:cNvPr id="124" name="Shape 120"/>
          <p:cNvSpPr/>
          <p:nvPr/>
        </p:nvSpPr>
        <p:spPr>
          <a:xfrm>
            <a:off x="5733521" y="4245020"/>
            <a:ext cx="1688923" cy="7055"/>
          </a:xfrm>
          <a:prstGeom prst="rect">
            <a:avLst/>
          </a:prstGeom>
          <a:solidFill>
            <a:srgbClr val="D9DCE3"/>
          </a:solidFill>
          <a:ln/>
        </p:spPr>
        <p:txBody>
          <a:bodyPr/>
          <a:lstStyle/>
          <a:p>
            <a:endParaRPr lang="es-CL"/>
          </a:p>
        </p:txBody>
      </p:sp>
      <p:sp>
        <p:nvSpPr>
          <p:cNvPr id="125" name="Shape 121"/>
          <p:cNvSpPr/>
          <p:nvPr/>
        </p:nvSpPr>
        <p:spPr>
          <a:xfrm>
            <a:off x="5784233" y="4080206"/>
            <a:ext cx="70555" cy="101534"/>
          </a:xfrm>
          <a:prstGeom prst="rect">
            <a:avLst/>
          </a:prstGeom>
          <a:solidFill>
            <a:srgbClr val="282DF0"/>
          </a:solidFill>
          <a:ln/>
        </p:spPr>
        <p:txBody>
          <a:bodyPr/>
          <a:lstStyle/>
          <a:p>
            <a:endParaRPr lang="es-CL"/>
          </a:p>
        </p:txBody>
      </p:sp>
      <p:sp>
        <p:nvSpPr>
          <p:cNvPr id="126" name="Text 122"/>
          <p:cNvSpPr/>
          <p:nvPr/>
        </p:nvSpPr>
        <p:spPr>
          <a:xfrm>
            <a:off x="5918289" y="4060473"/>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52,7</a:t>
            </a:r>
            <a:endParaRPr lang="en-US" sz="950" kern="1200" dirty="0">
              <a:solidFill>
                <a:prstClr val="black"/>
              </a:solidFill>
              <a:latin typeface="Calibri" panose="020F0502020204030204"/>
              <a:ea typeface="+mn-ea"/>
              <a:cs typeface="+mn-cs"/>
            </a:endParaRPr>
          </a:p>
        </p:txBody>
      </p:sp>
      <p:sp>
        <p:nvSpPr>
          <p:cNvPr id="127" name="Shape 123"/>
          <p:cNvSpPr/>
          <p:nvPr/>
        </p:nvSpPr>
        <p:spPr>
          <a:xfrm>
            <a:off x="7422445" y="4245020"/>
            <a:ext cx="610857" cy="7055"/>
          </a:xfrm>
          <a:prstGeom prst="rect">
            <a:avLst/>
          </a:prstGeom>
          <a:solidFill>
            <a:srgbClr val="D9DCE3"/>
          </a:solidFill>
          <a:ln/>
        </p:spPr>
        <p:txBody>
          <a:bodyPr/>
          <a:lstStyle/>
          <a:p>
            <a:endParaRPr lang="es-CL"/>
          </a:p>
        </p:txBody>
      </p:sp>
      <p:sp>
        <p:nvSpPr>
          <p:cNvPr id="128" name="Text 124"/>
          <p:cNvSpPr/>
          <p:nvPr/>
        </p:nvSpPr>
        <p:spPr>
          <a:xfrm>
            <a:off x="7422445" y="4010091"/>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29" name="Shape 125"/>
          <p:cNvSpPr/>
          <p:nvPr/>
        </p:nvSpPr>
        <p:spPr>
          <a:xfrm>
            <a:off x="2667001" y="4487003"/>
            <a:ext cx="1307923" cy="7055"/>
          </a:xfrm>
          <a:prstGeom prst="rect">
            <a:avLst/>
          </a:prstGeom>
          <a:solidFill>
            <a:srgbClr val="D9DCE3"/>
          </a:solidFill>
          <a:ln/>
        </p:spPr>
        <p:txBody>
          <a:bodyPr/>
          <a:lstStyle/>
          <a:p>
            <a:endParaRPr lang="es-CL"/>
          </a:p>
        </p:txBody>
      </p:sp>
      <p:sp>
        <p:nvSpPr>
          <p:cNvPr id="130" name="Text 126"/>
          <p:cNvSpPr/>
          <p:nvPr/>
        </p:nvSpPr>
        <p:spPr>
          <a:xfrm>
            <a:off x="2717801" y="4252075"/>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Bío Bío</a:t>
            </a:r>
            <a:endParaRPr lang="en-US" sz="950" kern="1200" dirty="0">
              <a:solidFill>
                <a:prstClr val="black"/>
              </a:solidFill>
              <a:latin typeface="Calibri" panose="020F0502020204030204"/>
              <a:ea typeface="+mn-ea"/>
              <a:cs typeface="+mn-cs"/>
            </a:endParaRPr>
          </a:p>
        </p:txBody>
      </p:sp>
      <p:sp>
        <p:nvSpPr>
          <p:cNvPr id="131" name="Shape 127"/>
          <p:cNvSpPr/>
          <p:nvPr/>
        </p:nvSpPr>
        <p:spPr>
          <a:xfrm>
            <a:off x="3974924" y="4487003"/>
            <a:ext cx="1212673" cy="7055"/>
          </a:xfrm>
          <a:prstGeom prst="rect">
            <a:avLst/>
          </a:prstGeom>
          <a:solidFill>
            <a:srgbClr val="D9DCE3"/>
          </a:solidFill>
          <a:ln/>
        </p:spPr>
        <p:txBody>
          <a:bodyPr/>
          <a:lstStyle/>
          <a:p>
            <a:endParaRPr lang="es-CL"/>
          </a:p>
        </p:txBody>
      </p:sp>
      <p:sp>
        <p:nvSpPr>
          <p:cNvPr id="132" name="Text 128"/>
          <p:cNvSpPr/>
          <p:nvPr/>
        </p:nvSpPr>
        <p:spPr>
          <a:xfrm>
            <a:off x="4025724" y="4252075"/>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133" name="Shape 129"/>
          <p:cNvSpPr/>
          <p:nvPr/>
        </p:nvSpPr>
        <p:spPr>
          <a:xfrm>
            <a:off x="5187598" y="4487003"/>
            <a:ext cx="545923" cy="7055"/>
          </a:xfrm>
          <a:prstGeom prst="rect">
            <a:avLst/>
          </a:prstGeom>
          <a:solidFill>
            <a:srgbClr val="D9DCE3"/>
          </a:solidFill>
          <a:ln/>
        </p:spPr>
        <p:txBody>
          <a:bodyPr/>
          <a:lstStyle/>
          <a:p>
            <a:endParaRPr lang="es-CL"/>
          </a:p>
        </p:txBody>
      </p:sp>
      <p:sp>
        <p:nvSpPr>
          <p:cNvPr id="134" name="Text 130"/>
          <p:cNvSpPr/>
          <p:nvPr/>
        </p:nvSpPr>
        <p:spPr>
          <a:xfrm>
            <a:off x="5187598" y="4252075"/>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81</a:t>
            </a:r>
            <a:endParaRPr lang="en-US" sz="950" kern="1200" dirty="0">
              <a:solidFill>
                <a:prstClr val="black"/>
              </a:solidFill>
              <a:latin typeface="Calibri" panose="020F0502020204030204"/>
              <a:ea typeface="+mn-ea"/>
              <a:cs typeface="+mn-cs"/>
            </a:endParaRPr>
          </a:p>
        </p:txBody>
      </p:sp>
      <p:sp>
        <p:nvSpPr>
          <p:cNvPr id="135" name="Shape 131"/>
          <p:cNvSpPr/>
          <p:nvPr/>
        </p:nvSpPr>
        <p:spPr>
          <a:xfrm>
            <a:off x="5733521" y="4487003"/>
            <a:ext cx="1688923" cy="7055"/>
          </a:xfrm>
          <a:prstGeom prst="rect">
            <a:avLst/>
          </a:prstGeom>
          <a:solidFill>
            <a:srgbClr val="D9DCE3"/>
          </a:solidFill>
          <a:ln/>
        </p:spPr>
        <p:txBody>
          <a:bodyPr/>
          <a:lstStyle/>
          <a:p>
            <a:endParaRPr lang="es-CL"/>
          </a:p>
        </p:txBody>
      </p:sp>
      <p:sp>
        <p:nvSpPr>
          <p:cNvPr id="136" name="Shape 132"/>
          <p:cNvSpPr/>
          <p:nvPr/>
        </p:nvSpPr>
        <p:spPr>
          <a:xfrm>
            <a:off x="5784233" y="4322190"/>
            <a:ext cx="380779" cy="101534"/>
          </a:xfrm>
          <a:prstGeom prst="rect">
            <a:avLst/>
          </a:prstGeom>
          <a:solidFill>
            <a:srgbClr val="28D2C3"/>
          </a:solidFill>
          <a:ln/>
        </p:spPr>
        <p:txBody>
          <a:bodyPr/>
          <a:lstStyle/>
          <a:p>
            <a:endParaRPr lang="es-CL"/>
          </a:p>
        </p:txBody>
      </p:sp>
      <p:sp>
        <p:nvSpPr>
          <p:cNvPr id="137" name="Text 133"/>
          <p:cNvSpPr/>
          <p:nvPr/>
        </p:nvSpPr>
        <p:spPr>
          <a:xfrm>
            <a:off x="6228513" y="4302457"/>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284,3</a:t>
            </a:r>
            <a:endParaRPr lang="en-US" sz="950" kern="1200" dirty="0">
              <a:solidFill>
                <a:prstClr val="black"/>
              </a:solidFill>
              <a:latin typeface="Calibri" panose="020F0502020204030204"/>
              <a:ea typeface="+mn-ea"/>
              <a:cs typeface="+mn-cs"/>
            </a:endParaRPr>
          </a:p>
        </p:txBody>
      </p:sp>
      <p:sp>
        <p:nvSpPr>
          <p:cNvPr id="138" name="Shape 134"/>
          <p:cNvSpPr/>
          <p:nvPr/>
        </p:nvSpPr>
        <p:spPr>
          <a:xfrm>
            <a:off x="7422445" y="4487003"/>
            <a:ext cx="610857" cy="7055"/>
          </a:xfrm>
          <a:prstGeom prst="rect">
            <a:avLst/>
          </a:prstGeom>
          <a:solidFill>
            <a:srgbClr val="D9DCE3"/>
          </a:solidFill>
          <a:ln/>
        </p:spPr>
        <p:txBody>
          <a:bodyPr/>
          <a:lstStyle/>
          <a:p>
            <a:endParaRPr lang="es-CL"/>
          </a:p>
        </p:txBody>
      </p:sp>
      <p:sp>
        <p:nvSpPr>
          <p:cNvPr id="139" name="Text 135"/>
          <p:cNvSpPr/>
          <p:nvPr/>
        </p:nvSpPr>
        <p:spPr>
          <a:xfrm>
            <a:off x="7422445" y="4252075"/>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11</a:t>
            </a:r>
            <a:endParaRPr lang="en-US" sz="950" kern="1200" dirty="0">
              <a:solidFill>
                <a:prstClr val="black"/>
              </a:solidFill>
              <a:latin typeface="Calibri" panose="020F0502020204030204"/>
              <a:ea typeface="+mn-ea"/>
              <a:cs typeface="+mn-cs"/>
            </a:endParaRPr>
          </a:p>
        </p:txBody>
      </p:sp>
      <p:sp>
        <p:nvSpPr>
          <p:cNvPr id="140" name="Shape 136"/>
          <p:cNvSpPr/>
          <p:nvPr/>
        </p:nvSpPr>
        <p:spPr>
          <a:xfrm>
            <a:off x="2667001" y="4728987"/>
            <a:ext cx="1307923" cy="7055"/>
          </a:xfrm>
          <a:prstGeom prst="rect">
            <a:avLst/>
          </a:prstGeom>
          <a:solidFill>
            <a:srgbClr val="D9DCE3"/>
          </a:solidFill>
          <a:ln/>
        </p:spPr>
        <p:txBody>
          <a:bodyPr/>
          <a:lstStyle/>
          <a:p>
            <a:endParaRPr lang="es-CL"/>
          </a:p>
        </p:txBody>
      </p:sp>
      <p:sp>
        <p:nvSpPr>
          <p:cNvPr id="141" name="Text 137"/>
          <p:cNvSpPr/>
          <p:nvPr/>
        </p:nvSpPr>
        <p:spPr>
          <a:xfrm>
            <a:off x="2717801" y="4494058"/>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Araucanía</a:t>
            </a:r>
            <a:endParaRPr lang="en-US" sz="950" kern="1200" dirty="0">
              <a:solidFill>
                <a:prstClr val="black"/>
              </a:solidFill>
              <a:latin typeface="Calibri" panose="020F0502020204030204"/>
              <a:ea typeface="+mn-ea"/>
              <a:cs typeface="+mn-cs"/>
            </a:endParaRPr>
          </a:p>
        </p:txBody>
      </p:sp>
      <p:sp>
        <p:nvSpPr>
          <p:cNvPr id="142" name="Shape 138"/>
          <p:cNvSpPr/>
          <p:nvPr/>
        </p:nvSpPr>
        <p:spPr>
          <a:xfrm>
            <a:off x="3974924" y="4728987"/>
            <a:ext cx="1212673" cy="7055"/>
          </a:xfrm>
          <a:prstGeom prst="rect">
            <a:avLst/>
          </a:prstGeom>
          <a:solidFill>
            <a:srgbClr val="D9DCE3"/>
          </a:solidFill>
          <a:ln/>
        </p:spPr>
        <p:txBody>
          <a:bodyPr/>
          <a:lstStyle/>
          <a:p>
            <a:endParaRPr lang="es-CL"/>
          </a:p>
        </p:txBody>
      </p:sp>
      <p:sp>
        <p:nvSpPr>
          <p:cNvPr id="143" name="Text 139"/>
          <p:cNvSpPr/>
          <p:nvPr/>
        </p:nvSpPr>
        <p:spPr>
          <a:xfrm>
            <a:off x="4025724" y="4494058"/>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44" name="Shape 140"/>
          <p:cNvSpPr/>
          <p:nvPr/>
        </p:nvSpPr>
        <p:spPr>
          <a:xfrm>
            <a:off x="5187598" y="4728987"/>
            <a:ext cx="545923" cy="7055"/>
          </a:xfrm>
          <a:prstGeom prst="rect">
            <a:avLst/>
          </a:prstGeom>
          <a:solidFill>
            <a:srgbClr val="D9DCE3"/>
          </a:solidFill>
          <a:ln/>
        </p:spPr>
        <p:txBody>
          <a:bodyPr/>
          <a:lstStyle/>
          <a:p>
            <a:endParaRPr lang="es-CL"/>
          </a:p>
        </p:txBody>
      </p:sp>
      <p:sp>
        <p:nvSpPr>
          <p:cNvPr id="145" name="Text 141"/>
          <p:cNvSpPr/>
          <p:nvPr/>
        </p:nvSpPr>
        <p:spPr>
          <a:xfrm>
            <a:off x="5187598" y="4494058"/>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33</a:t>
            </a:r>
            <a:endParaRPr lang="en-US" sz="950" kern="1200" dirty="0">
              <a:solidFill>
                <a:prstClr val="black"/>
              </a:solidFill>
              <a:latin typeface="Calibri" panose="020F0502020204030204"/>
              <a:ea typeface="+mn-ea"/>
              <a:cs typeface="+mn-cs"/>
            </a:endParaRPr>
          </a:p>
        </p:txBody>
      </p:sp>
      <p:sp>
        <p:nvSpPr>
          <p:cNvPr id="146" name="Shape 142"/>
          <p:cNvSpPr/>
          <p:nvPr/>
        </p:nvSpPr>
        <p:spPr>
          <a:xfrm>
            <a:off x="5733521" y="4728987"/>
            <a:ext cx="1688923" cy="7055"/>
          </a:xfrm>
          <a:prstGeom prst="rect">
            <a:avLst/>
          </a:prstGeom>
          <a:solidFill>
            <a:srgbClr val="D9DCE3"/>
          </a:solidFill>
          <a:ln/>
        </p:spPr>
        <p:txBody>
          <a:bodyPr/>
          <a:lstStyle/>
          <a:p>
            <a:endParaRPr lang="es-CL"/>
          </a:p>
        </p:txBody>
      </p:sp>
      <p:sp>
        <p:nvSpPr>
          <p:cNvPr id="147" name="Shape 143"/>
          <p:cNvSpPr/>
          <p:nvPr/>
        </p:nvSpPr>
        <p:spPr>
          <a:xfrm>
            <a:off x="5784233" y="4564173"/>
            <a:ext cx="213210" cy="101534"/>
          </a:xfrm>
          <a:prstGeom prst="rect">
            <a:avLst/>
          </a:prstGeom>
          <a:solidFill>
            <a:srgbClr val="282DF0"/>
          </a:solidFill>
          <a:ln/>
        </p:spPr>
        <p:txBody>
          <a:bodyPr/>
          <a:lstStyle/>
          <a:p>
            <a:endParaRPr lang="es-CL"/>
          </a:p>
        </p:txBody>
      </p:sp>
      <p:sp>
        <p:nvSpPr>
          <p:cNvPr id="148" name="Text 144"/>
          <p:cNvSpPr/>
          <p:nvPr/>
        </p:nvSpPr>
        <p:spPr>
          <a:xfrm>
            <a:off x="6060943" y="4544440"/>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159,2</a:t>
            </a:r>
            <a:endParaRPr lang="en-US" sz="950" kern="1200" dirty="0">
              <a:solidFill>
                <a:prstClr val="black"/>
              </a:solidFill>
              <a:latin typeface="Calibri" panose="020F0502020204030204"/>
              <a:ea typeface="+mn-ea"/>
              <a:cs typeface="+mn-cs"/>
            </a:endParaRPr>
          </a:p>
        </p:txBody>
      </p:sp>
      <p:sp>
        <p:nvSpPr>
          <p:cNvPr id="149" name="Shape 145"/>
          <p:cNvSpPr/>
          <p:nvPr/>
        </p:nvSpPr>
        <p:spPr>
          <a:xfrm>
            <a:off x="7422445" y="4728987"/>
            <a:ext cx="610857" cy="7055"/>
          </a:xfrm>
          <a:prstGeom prst="rect">
            <a:avLst/>
          </a:prstGeom>
          <a:solidFill>
            <a:srgbClr val="D9DCE3"/>
          </a:solidFill>
          <a:ln/>
        </p:spPr>
        <p:txBody>
          <a:bodyPr/>
          <a:lstStyle/>
          <a:p>
            <a:endParaRPr lang="es-CL"/>
          </a:p>
        </p:txBody>
      </p:sp>
      <p:sp>
        <p:nvSpPr>
          <p:cNvPr id="150" name="Text 146"/>
          <p:cNvSpPr/>
          <p:nvPr/>
        </p:nvSpPr>
        <p:spPr>
          <a:xfrm>
            <a:off x="7422445" y="4494058"/>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6</a:t>
            </a:r>
            <a:endParaRPr lang="en-US" sz="950" kern="1200" dirty="0">
              <a:solidFill>
                <a:prstClr val="black"/>
              </a:solidFill>
              <a:latin typeface="Calibri" panose="020F0502020204030204"/>
              <a:ea typeface="+mn-ea"/>
              <a:cs typeface="+mn-cs"/>
            </a:endParaRPr>
          </a:p>
        </p:txBody>
      </p:sp>
      <p:sp>
        <p:nvSpPr>
          <p:cNvPr id="151" name="Shape 147"/>
          <p:cNvSpPr/>
          <p:nvPr/>
        </p:nvSpPr>
        <p:spPr>
          <a:xfrm>
            <a:off x="2667001" y="4970971"/>
            <a:ext cx="1307923" cy="7055"/>
          </a:xfrm>
          <a:prstGeom prst="rect">
            <a:avLst/>
          </a:prstGeom>
          <a:solidFill>
            <a:srgbClr val="D9DCE3"/>
          </a:solidFill>
          <a:ln/>
        </p:spPr>
        <p:txBody>
          <a:bodyPr/>
          <a:lstStyle/>
          <a:p>
            <a:endParaRPr lang="es-CL"/>
          </a:p>
        </p:txBody>
      </p:sp>
      <p:sp>
        <p:nvSpPr>
          <p:cNvPr id="152" name="Text 148"/>
          <p:cNvSpPr/>
          <p:nvPr/>
        </p:nvSpPr>
        <p:spPr>
          <a:xfrm>
            <a:off x="2717801" y="4736042"/>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Los Ríos</a:t>
            </a:r>
            <a:endParaRPr lang="en-US" sz="950" kern="1200" dirty="0">
              <a:solidFill>
                <a:prstClr val="black"/>
              </a:solidFill>
              <a:latin typeface="Calibri" panose="020F0502020204030204"/>
              <a:ea typeface="+mn-ea"/>
              <a:cs typeface="+mn-cs"/>
            </a:endParaRPr>
          </a:p>
        </p:txBody>
      </p:sp>
      <p:sp>
        <p:nvSpPr>
          <p:cNvPr id="153" name="Shape 149"/>
          <p:cNvSpPr/>
          <p:nvPr/>
        </p:nvSpPr>
        <p:spPr>
          <a:xfrm>
            <a:off x="3974924" y="4970971"/>
            <a:ext cx="1212673" cy="7055"/>
          </a:xfrm>
          <a:prstGeom prst="rect">
            <a:avLst/>
          </a:prstGeom>
          <a:solidFill>
            <a:srgbClr val="D9DCE3"/>
          </a:solidFill>
          <a:ln/>
        </p:spPr>
        <p:txBody>
          <a:bodyPr/>
          <a:lstStyle/>
          <a:p>
            <a:endParaRPr lang="es-CL"/>
          </a:p>
        </p:txBody>
      </p:sp>
      <p:sp>
        <p:nvSpPr>
          <p:cNvPr id="154" name="Text 150"/>
          <p:cNvSpPr/>
          <p:nvPr/>
        </p:nvSpPr>
        <p:spPr>
          <a:xfrm>
            <a:off x="4025724" y="4736042"/>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55" name="Shape 151"/>
          <p:cNvSpPr/>
          <p:nvPr/>
        </p:nvSpPr>
        <p:spPr>
          <a:xfrm>
            <a:off x="5187598" y="4970971"/>
            <a:ext cx="545923" cy="7055"/>
          </a:xfrm>
          <a:prstGeom prst="rect">
            <a:avLst/>
          </a:prstGeom>
          <a:solidFill>
            <a:srgbClr val="D9DCE3"/>
          </a:solidFill>
          <a:ln/>
        </p:spPr>
        <p:txBody>
          <a:bodyPr/>
          <a:lstStyle/>
          <a:p>
            <a:endParaRPr lang="es-CL"/>
          </a:p>
        </p:txBody>
      </p:sp>
      <p:sp>
        <p:nvSpPr>
          <p:cNvPr id="156" name="Text 152"/>
          <p:cNvSpPr/>
          <p:nvPr/>
        </p:nvSpPr>
        <p:spPr>
          <a:xfrm>
            <a:off x="5187598" y="4736042"/>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157" name="Shape 153"/>
          <p:cNvSpPr/>
          <p:nvPr/>
        </p:nvSpPr>
        <p:spPr>
          <a:xfrm>
            <a:off x="5733521" y="4970971"/>
            <a:ext cx="1688923" cy="7055"/>
          </a:xfrm>
          <a:prstGeom prst="rect">
            <a:avLst/>
          </a:prstGeom>
          <a:solidFill>
            <a:srgbClr val="D9DCE3"/>
          </a:solidFill>
          <a:ln/>
        </p:spPr>
        <p:txBody>
          <a:bodyPr/>
          <a:lstStyle/>
          <a:p>
            <a:endParaRPr lang="es-CL"/>
          </a:p>
        </p:txBody>
      </p:sp>
      <p:sp>
        <p:nvSpPr>
          <p:cNvPr id="158" name="Shape 154"/>
          <p:cNvSpPr/>
          <p:nvPr/>
        </p:nvSpPr>
        <p:spPr>
          <a:xfrm>
            <a:off x="5784233" y="4806157"/>
            <a:ext cx="38034" cy="101534"/>
          </a:xfrm>
          <a:prstGeom prst="rect">
            <a:avLst/>
          </a:prstGeom>
          <a:solidFill>
            <a:srgbClr val="282DF0"/>
          </a:solidFill>
          <a:ln/>
        </p:spPr>
        <p:txBody>
          <a:bodyPr/>
          <a:lstStyle/>
          <a:p>
            <a:endParaRPr lang="es-CL"/>
          </a:p>
        </p:txBody>
      </p:sp>
      <p:sp>
        <p:nvSpPr>
          <p:cNvPr id="159" name="Text 155"/>
          <p:cNvSpPr/>
          <p:nvPr/>
        </p:nvSpPr>
        <p:spPr>
          <a:xfrm>
            <a:off x="5885767" y="4786423"/>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28,4</a:t>
            </a:r>
            <a:endParaRPr lang="en-US" sz="950" kern="1200" dirty="0">
              <a:solidFill>
                <a:prstClr val="black"/>
              </a:solidFill>
              <a:latin typeface="Calibri" panose="020F0502020204030204"/>
              <a:ea typeface="+mn-ea"/>
              <a:cs typeface="+mn-cs"/>
            </a:endParaRPr>
          </a:p>
        </p:txBody>
      </p:sp>
      <p:sp>
        <p:nvSpPr>
          <p:cNvPr id="160" name="Shape 156"/>
          <p:cNvSpPr/>
          <p:nvPr/>
        </p:nvSpPr>
        <p:spPr>
          <a:xfrm>
            <a:off x="7422445" y="4970971"/>
            <a:ext cx="610857" cy="7055"/>
          </a:xfrm>
          <a:prstGeom prst="rect">
            <a:avLst/>
          </a:prstGeom>
          <a:solidFill>
            <a:srgbClr val="D9DCE3"/>
          </a:solidFill>
          <a:ln/>
        </p:spPr>
        <p:txBody>
          <a:bodyPr/>
          <a:lstStyle/>
          <a:p>
            <a:endParaRPr lang="es-CL"/>
          </a:p>
        </p:txBody>
      </p:sp>
      <p:sp>
        <p:nvSpPr>
          <p:cNvPr id="161" name="Text 157"/>
          <p:cNvSpPr/>
          <p:nvPr/>
        </p:nvSpPr>
        <p:spPr>
          <a:xfrm>
            <a:off x="7422445" y="4736042"/>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0</a:t>
            </a:r>
            <a:endParaRPr lang="en-US" sz="950" kern="1200" dirty="0">
              <a:solidFill>
                <a:prstClr val="black"/>
              </a:solidFill>
              <a:latin typeface="Calibri" panose="020F0502020204030204"/>
              <a:ea typeface="+mn-ea"/>
              <a:cs typeface="+mn-cs"/>
            </a:endParaRPr>
          </a:p>
        </p:txBody>
      </p:sp>
      <p:sp>
        <p:nvSpPr>
          <p:cNvPr id="162" name="Shape 158"/>
          <p:cNvSpPr/>
          <p:nvPr/>
        </p:nvSpPr>
        <p:spPr>
          <a:xfrm>
            <a:off x="2667001" y="5212954"/>
            <a:ext cx="1307923" cy="7055"/>
          </a:xfrm>
          <a:prstGeom prst="rect">
            <a:avLst/>
          </a:prstGeom>
          <a:solidFill>
            <a:srgbClr val="D9DCE3"/>
          </a:solidFill>
          <a:ln/>
        </p:spPr>
        <p:txBody>
          <a:bodyPr/>
          <a:lstStyle/>
          <a:p>
            <a:endParaRPr lang="es-CL"/>
          </a:p>
        </p:txBody>
      </p:sp>
      <p:sp>
        <p:nvSpPr>
          <p:cNvPr id="163" name="Text 159"/>
          <p:cNvSpPr/>
          <p:nvPr/>
        </p:nvSpPr>
        <p:spPr>
          <a:xfrm>
            <a:off x="2717801" y="4978025"/>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Los Lagos</a:t>
            </a:r>
            <a:endParaRPr lang="en-US" sz="950" kern="1200" dirty="0">
              <a:solidFill>
                <a:prstClr val="black"/>
              </a:solidFill>
              <a:latin typeface="Calibri" panose="020F0502020204030204"/>
              <a:ea typeface="+mn-ea"/>
              <a:cs typeface="+mn-cs"/>
            </a:endParaRPr>
          </a:p>
        </p:txBody>
      </p:sp>
      <p:sp>
        <p:nvSpPr>
          <p:cNvPr id="164" name="Shape 160"/>
          <p:cNvSpPr/>
          <p:nvPr/>
        </p:nvSpPr>
        <p:spPr>
          <a:xfrm>
            <a:off x="3974924" y="5212954"/>
            <a:ext cx="1212673" cy="7055"/>
          </a:xfrm>
          <a:prstGeom prst="rect">
            <a:avLst/>
          </a:prstGeom>
          <a:solidFill>
            <a:srgbClr val="D9DCE3"/>
          </a:solidFill>
          <a:ln/>
        </p:spPr>
        <p:txBody>
          <a:bodyPr/>
          <a:lstStyle/>
          <a:p>
            <a:endParaRPr lang="es-CL"/>
          </a:p>
        </p:txBody>
      </p:sp>
      <p:sp>
        <p:nvSpPr>
          <p:cNvPr id="165" name="Text 161"/>
          <p:cNvSpPr/>
          <p:nvPr/>
        </p:nvSpPr>
        <p:spPr>
          <a:xfrm>
            <a:off x="4025724" y="4978025"/>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66" name="Shape 162"/>
          <p:cNvSpPr/>
          <p:nvPr/>
        </p:nvSpPr>
        <p:spPr>
          <a:xfrm>
            <a:off x="5187598" y="5212954"/>
            <a:ext cx="545923" cy="7055"/>
          </a:xfrm>
          <a:prstGeom prst="rect">
            <a:avLst/>
          </a:prstGeom>
          <a:solidFill>
            <a:srgbClr val="D9DCE3"/>
          </a:solidFill>
          <a:ln/>
        </p:spPr>
        <p:txBody>
          <a:bodyPr/>
          <a:lstStyle/>
          <a:p>
            <a:endParaRPr lang="es-CL"/>
          </a:p>
        </p:txBody>
      </p:sp>
      <p:sp>
        <p:nvSpPr>
          <p:cNvPr id="167" name="Text 163"/>
          <p:cNvSpPr/>
          <p:nvPr/>
        </p:nvSpPr>
        <p:spPr>
          <a:xfrm>
            <a:off x="5187598" y="4978025"/>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40</a:t>
            </a:r>
            <a:endParaRPr lang="en-US" sz="950" kern="1200" dirty="0">
              <a:solidFill>
                <a:prstClr val="black"/>
              </a:solidFill>
              <a:latin typeface="Calibri" panose="020F0502020204030204"/>
              <a:ea typeface="+mn-ea"/>
              <a:cs typeface="+mn-cs"/>
            </a:endParaRPr>
          </a:p>
        </p:txBody>
      </p:sp>
      <p:sp>
        <p:nvSpPr>
          <p:cNvPr id="168" name="Shape 164"/>
          <p:cNvSpPr/>
          <p:nvPr/>
        </p:nvSpPr>
        <p:spPr>
          <a:xfrm>
            <a:off x="5733521" y="5212954"/>
            <a:ext cx="1688923" cy="7055"/>
          </a:xfrm>
          <a:prstGeom prst="rect">
            <a:avLst/>
          </a:prstGeom>
          <a:solidFill>
            <a:srgbClr val="D9DCE3"/>
          </a:solidFill>
          <a:ln/>
        </p:spPr>
        <p:txBody>
          <a:bodyPr/>
          <a:lstStyle/>
          <a:p>
            <a:endParaRPr lang="es-CL"/>
          </a:p>
        </p:txBody>
      </p:sp>
      <p:sp>
        <p:nvSpPr>
          <p:cNvPr id="169" name="Shape 165"/>
          <p:cNvSpPr/>
          <p:nvPr/>
        </p:nvSpPr>
        <p:spPr>
          <a:xfrm>
            <a:off x="5784233" y="5048140"/>
            <a:ext cx="104290" cy="101534"/>
          </a:xfrm>
          <a:prstGeom prst="rect">
            <a:avLst/>
          </a:prstGeom>
          <a:solidFill>
            <a:srgbClr val="282DF0"/>
          </a:solidFill>
          <a:ln/>
        </p:spPr>
        <p:txBody>
          <a:bodyPr/>
          <a:lstStyle/>
          <a:p>
            <a:endParaRPr lang="es-CL"/>
          </a:p>
        </p:txBody>
      </p:sp>
      <p:sp>
        <p:nvSpPr>
          <p:cNvPr id="170" name="Text 166"/>
          <p:cNvSpPr/>
          <p:nvPr/>
        </p:nvSpPr>
        <p:spPr>
          <a:xfrm>
            <a:off x="5952023" y="5028407"/>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77,9</a:t>
            </a:r>
            <a:endParaRPr lang="en-US" sz="950" kern="1200" dirty="0">
              <a:solidFill>
                <a:prstClr val="black"/>
              </a:solidFill>
              <a:latin typeface="Calibri" panose="020F0502020204030204"/>
              <a:ea typeface="+mn-ea"/>
              <a:cs typeface="+mn-cs"/>
            </a:endParaRPr>
          </a:p>
        </p:txBody>
      </p:sp>
      <p:sp>
        <p:nvSpPr>
          <p:cNvPr id="171" name="Shape 167"/>
          <p:cNvSpPr/>
          <p:nvPr/>
        </p:nvSpPr>
        <p:spPr>
          <a:xfrm>
            <a:off x="7422445" y="5212954"/>
            <a:ext cx="610857" cy="7055"/>
          </a:xfrm>
          <a:prstGeom prst="rect">
            <a:avLst/>
          </a:prstGeom>
          <a:solidFill>
            <a:srgbClr val="D9DCE3"/>
          </a:solidFill>
          <a:ln/>
        </p:spPr>
        <p:txBody>
          <a:bodyPr/>
          <a:lstStyle/>
          <a:p>
            <a:endParaRPr lang="es-CL"/>
          </a:p>
        </p:txBody>
      </p:sp>
      <p:sp>
        <p:nvSpPr>
          <p:cNvPr id="172" name="Text 168"/>
          <p:cNvSpPr/>
          <p:nvPr/>
        </p:nvSpPr>
        <p:spPr>
          <a:xfrm>
            <a:off x="7422445" y="4978025"/>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173" name="Shape 169"/>
          <p:cNvSpPr/>
          <p:nvPr/>
        </p:nvSpPr>
        <p:spPr>
          <a:xfrm>
            <a:off x="2667001" y="5454937"/>
            <a:ext cx="1307923" cy="7055"/>
          </a:xfrm>
          <a:prstGeom prst="rect">
            <a:avLst/>
          </a:prstGeom>
          <a:solidFill>
            <a:srgbClr val="D9DCE3"/>
          </a:solidFill>
          <a:ln/>
        </p:spPr>
        <p:txBody>
          <a:bodyPr/>
          <a:lstStyle/>
          <a:p>
            <a:endParaRPr lang="es-CL"/>
          </a:p>
        </p:txBody>
      </p:sp>
      <p:sp>
        <p:nvSpPr>
          <p:cNvPr id="174" name="Text 170"/>
          <p:cNvSpPr/>
          <p:nvPr/>
        </p:nvSpPr>
        <p:spPr>
          <a:xfrm>
            <a:off x="2717801" y="5220009"/>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Aysén</a:t>
            </a:r>
            <a:endParaRPr lang="en-US" sz="950" kern="1200" dirty="0">
              <a:solidFill>
                <a:prstClr val="black"/>
              </a:solidFill>
              <a:latin typeface="Calibri" panose="020F0502020204030204"/>
              <a:ea typeface="+mn-ea"/>
              <a:cs typeface="+mn-cs"/>
            </a:endParaRPr>
          </a:p>
        </p:txBody>
      </p:sp>
      <p:sp>
        <p:nvSpPr>
          <p:cNvPr id="175" name="Shape 171"/>
          <p:cNvSpPr/>
          <p:nvPr/>
        </p:nvSpPr>
        <p:spPr>
          <a:xfrm>
            <a:off x="3974924" y="5454937"/>
            <a:ext cx="1212673" cy="7055"/>
          </a:xfrm>
          <a:prstGeom prst="rect">
            <a:avLst/>
          </a:prstGeom>
          <a:solidFill>
            <a:srgbClr val="D9DCE3"/>
          </a:solidFill>
          <a:ln/>
        </p:spPr>
        <p:txBody>
          <a:bodyPr/>
          <a:lstStyle/>
          <a:p>
            <a:endParaRPr lang="es-CL"/>
          </a:p>
        </p:txBody>
      </p:sp>
      <p:sp>
        <p:nvSpPr>
          <p:cNvPr id="176" name="Text 172"/>
          <p:cNvSpPr/>
          <p:nvPr/>
        </p:nvSpPr>
        <p:spPr>
          <a:xfrm>
            <a:off x="4025724" y="5220009"/>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77" name="Shape 173"/>
          <p:cNvSpPr/>
          <p:nvPr/>
        </p:nvSpPr>
        <p:spPr>
          <a:xfrm>
            <a:off x="5187598" y="5454937"/>
            <a:ext cx="545923" cy="7055"/>
          </a:xfrm>
          <a:prstGeom prst="rect">
            <a:avLst/>
          </a:prstGeom>
          <a:solidFill>
            <a:srgbClr val="D9DCE3"/>
          </a:solidFill>
          <a:ln/>
        </p:spPr>
        <p:txBody>
          <a:bodyPr/>
          <a:lstStyle/>
          <a:p>
            <a:endParaRPr lang="es-CL"/>
          </a:p>
        </p:txBody>
      </p:sp>
      <p:sp>
        <p:nvSpPr>
          <p:cNvPr id="178" name="Text 174"/>
          <p:cNvSpPr/>
          <p:nvPr/>
        </p:nvSpPr>
        <p:spPr>
          <a:xfrm>
            <a:off x="5187598" y="5220009"/>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a:t>
            </a:r>
            <a:endParaRPr lang="en-US" sz="950" kern="1200" dirty="0">
              <a:solidFill>
                <a:prstClr val="black"/>
              </a:solidFill>
              <a:latin typeface="Calibri" panose="020F0502020204030204"/>
              <a:ea typeface="+mn-ea"/>
              <a:cs typeface="+mn-cs"/>
            </a:endParaRPr>
          </a:p>
        </p:txBody>
      </p:sp>
      <p:sp>
        <p:nvSpPr>
          <p:cNvPr id="179" name="Shape 175"/>
          <p:cNvSpPr/>
          <p:nvPr/>
        </p:nvSpPr>
        <p:spPr>
          <a:xfrm>
            <a:off x="5733521" y="5454937"/>
            <a:ext cx="1688923" cy="7055"/>
          </a:xfrm>
          <a:prstGeom prst="rect">
            <a:avLst/>
          </a:prstGeom>
          <a:solidFill>
            <a:srgbClr val="D9DCE3"/>
          </a:solidFill>
          <a:ln/>
        </p:spPr>
        <p:txBody>
          <a:bodyPr/>
          <a:lstStyle/>
          <a:p>
            <a:endParaRPr lang="es-CL"/>
          </a:p>
        </p:txBody>
      </p:sp>
      <p:sp>
        <p:nvSpPr>
          <p:cNvPr id="180" name="Shape 176"/>
          <p:cNvSpPr/>
          <p:nvPr/>
        </p:nvSpPr>
        <p:spPr>
          <a:xfrm>
            <a:off x="5784233" y="5290124"/>
            <a:ext cx="21387" cy="101534"/>
          </a:xfrm>
          <a:prstGeom prst="rect">
            <a:avLst/>
          </a:prstGeom>
          <a:solidFill>
            <a:srgbClr val="282DF0"/>
          </a:solidFill>
          <a:ln/>
        </p:spPr>
        <p:txBody>
          <a:bodyPr/>
          <a:lstStyle/>
          <a:p>
            <a:endParaRPr lang="es-CL"/>
          </a:p>
        </p:txBody>
      </p:sp>
      <p:sp>
        <p:nvSpPr>
          <p:cNvPr id="181" name="Text 177"/>
          <p:cNvSpPr/>
          <p:nvPr/>
        </p:nvSpPr>
        <p:spPr>
          <a:xfrm>
            <a:off x="5869120" y="5270391"/>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16,0</a:t>
            </a:r>
            <a:endParaRPr lang="en-US" sz="950" kern="1200" dirty="0">
              <a:solidFill>
                <a:prstClr val="black"/>
              </a:solidFill>
              <a:latin typeface="Calibri" panose="020F0502020204030204"/>
              <a:ea typeface="+mn-ea"/>
              <a:cs typeface="+mn-cs"/>
            </a:endParaRPr>
          </a:p>
        </p:txBody>
      </p:sp>
      <p:sp>
        <p:nvSpPr>
          <p:cNvPr id="182" name="Shape 178"/>
          <p:cNvSpPr/>
          <p:nvPr/>
        </p:nvSpPr>
        <p:spPr>
          <a:xfrm>
            <a:off x="7422445" y="5454937"/>
            <a:ext cx="610857" cy="7055"/>
          </a:xfrm>
          <a:prstGeom prst="rect">
            <a:avLst/>
          </a:prstGeom>
          <a:solidFill>
            <a:srgbClr val="D9DCE3"/>
          </a:solidFill>
          <a:ln/>
        </p:spPr>
        <p:txBody>
          <a:bodyPr/>
          <a:lstStyle/>
          <a:p>
            <a:endParaRPr lang="es-CL"/>
          </a:p>
        </p:txBody>
      </p:sp>
      <p:sp>
        <p:nvSpPr>
          <p:cNvPr id="183" name="Text 179"/>
          <p:cNvSpPr/>
          <p:nvPr/>
        </p:nvSpPr>
        <p:spPr>
          <a:xfrm>
            <a:off x="7422445" y="5220009"/>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84" name="Shape 180"/>
          <p:cNvSpPr/>
          <p:nvPr/>
        </p:nvSpPr>
        <p:spPr>
          <a:xfrm>
            <a:off x="2667001" y="5696921"/>
            <a:ext cx="1307923" cy="7055"/>
          </a:xfrm>
          <a:prstGeom prst="rect">
            <a:avLst/>
          </a:prstGeom>
          <a:solidFill>
            <a:srgbClr val="D9DCE3"/>
          </a:solidFill>
          <a:ln/>
        </p:spPr>
        <p:txBody>
          <a:bodyPr/>
          <a:lstStyle/>
          <a:p>
            <a:endParaRPr lang="es-CL"/>
          </a:p>
        </p:txBody>
      </p:sp>
      <p:sp>
        <p:nvSpPr>
          <p:cNvPr id="185" name="Text 181"/>
          <p:cNvSpPr/>
          <p:nvPr/>
        </p:nvSpPr>
        <p:spPr>
          <a:xfrm>
            <a:off x="2717801" y="546199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Magallanes</a:t>
            </a:r>
            <a:endParaRPr lang="en-US" sz="950" kern="1200" dirty="0">
              <a:solidFill>
                <a:prstClr val="black"/>
              </a:solidFill>
              <a:latin typeface="Calibri" panose="020F0502020204030204"/>
              <a:ea typeface="+mn-ea"/>
              <a:cs typeface="+mn-cs"/>
            </a:endParaRPr>
          </a:p>
        </p:txBody>
      </p:sp>
      <p:sp>
        <p:nvSpPr>
          <p:cNvPr id="186" name="Shape 182"/>
          <p:cNvSpPr/>
          <p:nvPr/>
        </p:nvSpPr>
        <p:spPr>
          <a:xfrm>
            <a:off x="3974924" y="5696921"/>
            <a:ext cx="1212673" cy="7055"/>
          </a:xfrm>
          <a:prstGeom prst="rect">
            <a:avLst/>
          </a:prstGeom>
          <a:solidFill>
            <a:srgbClr val="D9DCE3"/>
          </a:solidFill>
          <a:ln/>
        </p:spPr>
        <p:txBody>
          <a:bodyPr/>
          <a:lstStyle/>
          <a:p>
            <a:endParaRPr lang="es-CL"/>
          </a:p>
        </p:txBody>
      </p:sp>
      <p:sp>
        <p:nvSpPr>
          <p:cNvPr id="187" name="Text 183"/>
          <p:cNvSpPr/>
          <p:nvPr/>
        </p:nvSpPr>
        <p:spPr>
          <a:xfrm>
            <a:off x="4025724" y="546199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88" name="Shape 184"/>
          <p:cNvSpPr/>
          <p:nvPr/>
        </p:nvSpPr>
        <p:spPr>
          <a:xfrm>
            <a:off x="5187598" y="5696921"/>
            <a:ext cx="545923" cy="7055"/>
          </a:xfrm>
          <a:prstGeom prst="rect">
            <a:avLst/>
          </a:prstGeom>
          <a:solidFill>
            <a:srgbClr val="D9DCE3"/>
          </a:solidFill>
          <a:ln/>
        </p:spPr>
        <p:txBody>
          <a:bodyPr/>
          <a:lstStyle/>
          <a:p>
            <a:endParaRPr lang="es-CL"/>
          </a:p>
        </p:txBody>
      </p:sp>
      <p:sp>
        <p:nvSpPr>
          <p:cNvPr id="189" name="Text 185"/>
          <p:cNvSpPr/>
          <p:nvPr/>
        </p:nvSpPr>
        <p:spPr>
          <a:xfrm>
            <a:off x="5187598" y="546199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11</a:t>
            </a:r>
            <a:endParaRPr lang="en-US" sz="950" kern="1200" dirty="0">
              <a:solidFill>
                <a:prstClr val="black"/>
              </a:solidFill>
              <a:latin typeface="Calibri" panose="020F0502020204030204"/>
              <a:ea typeface="+mn-ea"/>
              <a:cs typeface="+mn-cs"/>
            </a:endParaRPr>
          </a:p>
        </p:txBody>
      </p:sp>
      <p:sp>
        <p:nvSpPr>
          <p:cNvPr id="190" name="Shape 186"/>
          <p:cNvSpPr/>
          <p:nvPr/>
        </p:nvSpPr>
        <p:spPr>
          <a:xfrm>
            <a:off x="5733521" y="5696921"/>
            <a:ext cx="1688923" cy="7055"/>
          </a:xfrm>
          <a:prstGeom prst="rect">
            <a:avLst/>
          </a:prstGeom>
          <a:solidFill>
            <a:srgbClr val="D9DCE3"/>
          </a:solidFill>
          <a:ln/>
        </p:spPr>
        <p:txBody>
          <a:bodyPr/>
          <a:lstStyle/>
          <a:p>
            <a:endParaRPr lang="es-CL"/>
          </a:p>
        </p:txBody>
      </p:sp>
      <p:sp>
        <p:nvSpPr>
          <p:cNvPr id="191" name="Shape 187"/>
          <p:cNvSpPr/>
          <p:nvPr/>
        </p:nvSpPr>
        <p:spPr>
          <a:xfrm>
            <a:off x="5784233" y="5532107"/>
            <a:ext cx="53578" cy="101534"/>
          </a:xfrm>
          <a:prstGeom prst="rect">
            <a:avLst/>
          </a:prstGeom>
          <a:solidFill>
            <a:srgbClr val="282DF0"/>
          </a:solidFill>
          <a:ln/>
        </p:spPr>
        <p:txBody>
          <a:bodyPr/>
          <a:lstStyle/>
          <a:p>
            <a:endParaRPr lang="es-CL"/>
          </a:p>
        </p:txBody>
      </p:sp>
      <p:sp>
        <p:nvSpPr>
          <p:cNvPr id="192" name="Text 188"/>
          <p:cNvSpPr/>
          <p:nvPr/>
        </p:nvSpPr>
        <p:spPr>
          <a:xfrm>
            <a:off x="5901311" y="5512374"/>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40,0</a:t>
            </a:r>
            <a:endParaRPr lang="en-US" sz="950" kern="1200" dirty="0">
              <a:solidFill>
                <a:prstClr val="black"/>
              </a:solidFill>
              <a:latin typeface="Calibri" panose="020F0502020204030204"/>
              <a:ea typeface="+mn-ea"/>
              <a:cs typeface="+mn-cs"/>
            </a:endParaRPr>
          </a:p>
        </p:txBody>
      </p:sp>
      <p:sp>
        <p:nvSpPr>
          <p:cNvPr id="193" name="Shape 189"/>
          <p:cNvSpPr/>
          <p:nvPr/>
        </p:nvSpPr>
        <p:spPr>
          <a:xfrm>
            <a:off x="7422445" y="5696921"/>
            <a:ext cx="610857" cy="7055"/>
          </a:xfrm>
          <a:prstGeom prst="rect">
            <a:avLst/>
          </a:prstGeom>
          <a:solidFill>
            <a:srgbClr val="D9DCE3"/>
          </a:solidFill>
          <a:ln/>
        </p:spPr>
        <p:txBody>
          <a:bodyPr/>
          <a:lstStyle/>
          <a:p>
            <a:endParaRPr lang="es-CL"/>
          </a:p>
        </p:txBody>
      </p:sp>
      <p:sp>
        <p:nvSpPr>
          <p:cNvPr id="194" name="Text 190"/>
          <p:cNvSpPr/>
          <p:nvPr/>
        </p:nvSpPr>
        <p:spPr>
          <a:xfrm>
            <a:off x="7422445" y="546199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95" name="Shape 191"/>
          <p:cNvSpPr/>
          <p:nvPr/>
        </p:nvSpPr>
        <p:spPr>
          <a:xfrm>
            <a:off x="8445501" y="1663678"/>
            <a:ext cx="1206500" cy="2235178"/>
          </a:xfrm>
          <a:prstGeom prst="rect">
            <a:avLst/>
          </a:prstGeom>
          <a:solidFill>
            <a:srgbClr val="28D2C3"/>
          </a:solidFill>
          <a:ln w="21167">
            <a:solidFill>
              <a:srgbClr val="06201D"/>
            </a:solidFill>
            <a:prstDash val="solid"/>
          </a:ln>
        </p:spPr>
        <p:txBody>
          <a:bodyPr/>
          <a:lstStyle/>
          <a:p>
            <a:endParaRPr lang="es-CL"/>
          </a:p>
        </p:txBody>
      </p:sp>
      <p:sp>
        <p:nvSpPr>
          <p:cNvPr id="196" name="Text 192"/>
          <p:cNvSpPr/>
          <p:nvPr/>
        </p:nvSpPr>
        <p:spPr>
          <a:xfrm>
            <a:off x="8763398" y="2367359"/>
            <a:ext cx="570706"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Cristián Pérez</a:t>
            </a:r>
            <a:endParaRPr lang="en-US" sz="1100" kern="1200" dirty="0">
              <a:solidFill>
                <a:prstClr val="black"/>
              </a:solidFill>
              <a:latin typeface="Calibri" panose="020F0502020204030204"/>
              <a:ea typeface="+mn-ea"/>
              <a:cs typeface="+mn-cs"/>
            </a:endParaRPr>
          </a:p>
        </p:txBody>
      </p:sp>
      <p:sp>
        <p:nvSpPr>
          <p:cNvPr id="197" name="Text 193"/>
          <p:cNvSpPr/>
          <p:nvPr/>
        </p:nvSpPr>
        <p:spPr>
          <a:xfrm>
            <a:off x="8790297" y="2740533"/>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433</a:t>
            </a:r>
            <a:endParaRPr lang="en-US" sz="2200" kern="1200" dirty="0">
              <a:solidFill>
                <a:prstClr val="black"/>
              </a:solidFill>
              <a:latin typeface="Calibri" panose="020F0502020204030204"/>
              <a:ea typeface="+mn-ea"/>
              <a:cs typeface="+mn-cs"/>
            </a:endParaRPr>
          </a:p>
        </p:txBody>
      </p:sp>
      <p:sp>
        <p:nvSpPr>
          <p:cNvPr id="198" name="Text 194"/>
          <p:cNvSpPr/>
          <p:nvPr/>
        </p:nvSpPr>
        <p:spPr>
          <a:xfrm>
            <a:off x="8810581" y="3057922"/>
            <a:ext cx="476228" cy="162543"/>
          </a:xfrm>
          <a:prstGeom prst="rect">
            <a:avLst/>
          </a:prstGeom>
          <a:noFill/>
          <a:ln/>
        </p:spPr>
        <p:txBody>
          <a:bodyPr wrap="none" lIns="16933" tIns="16933" rIns="16933" bIns="16933" rtlCol="0" anchor="t">
            <a:normAutofit lnSpcReduction="10000"/>
          </a:bodyPr>
          <a:lstStyle/>
          <a:p>
            <a:pPr algn="ctr" defTabSz="609630">
              <a:lnSpc>
                <a:spcPct val="102316"/>
              </a:lnSpc>
              <a:buClrTx/>
            </a:pPr>
            <a:r>
              <a:rPr lang="en-US" sz="900" b="1" kern="1200" dirty="0">
                <a:solidFill>
                  <a:srgbClr val="FFFFFF"/>
                </a:solidFill>
                <a:latin typeface="Arial" pitchFamily="34" charset="0"/>
                <a:ea typeface="Arial" pitchFamily="34" charset="-122"/>
                <a:cs typeface="Arial" pitchFamily="34" charset="-120"/>
              </a:rPr>
              <a:t>clientes</a:t>
            </a:r>
            <a:endParaRPr lang="en-US" sz="900" kern="1200" dirty="0">
              <a:solidFill>
                <a:prstClr val="black"/>
              </a:solidFill>
              <a:latin typeface="Calibri" panose="020F0502020204030204"/>
              <a:ea typeface="+mn-ea"/>
              <a:cs typeface="+mn-cs"/>
            </a:endParaRPr>
          </a:p>
        </p:txBody>
      </p:sp>
      <p:sp>
        <p:nvSpPr>
          <p:cNvPr id="199" name="Shape 195"/>
          <p:cNvSpPr/>
          <p:nvPr/>
        </p:nvSpPr>
        <p:spPr>
          <a:xfrm>
            <a:off x="9779001" y="1663678"/>
            <a:ext cx="2082712" cy="2235178"/>
          </a:xfrm>
          <a:prstGeom prst="rect">
            <a:avLst/>
          </a:prstGeom>
          <a:ln w="21167">
            <a:solidFill>
              <a:srgbClr val="06201D"/>
            </a:solidFill>
            <a:prstDash val="solid"/>
          </a:ln>
        </p:spPr>
        <p:txBody>
          <a:bodyPr/>
          <a:lstStyle/>
          <a:p>
            <a:endParaRPr lang="es-CL"/>
          </a:p>
        </p:txBody>
      </p:sp>
      <p:sp>
        <p:nvSpPr>
          <p:cNvPr id="200" name="Text 196"/>
          <p:cNvSpPr/>
          <p:nvPr/>
        </p:nvSpPr>
        <p:spPr>
          <a:xfrm>
            <a:off x="9949868" y="2293055"/>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pPr>
            <a:r>
              <a:rPr lang="en-US" sz="950" kern="1200" dirty="0">
                <a:solidFill>
                  <a:srgbClr val="373C46"/>
                </a:solidFill>
                <a:latin typeface="Arial" pitchFamily="34" charset="0"/>
                <a:ea typeface="Arial" pitchFamily="34" charset="-122"/>
                <a:cs typeface="Arial" pitchFamily="34" charset="-120"/>
              </a:rPr>
              <a:t>Potencial: </a:t>
            </a:r>
            <a:r>
              <a:rPr lang="en-US" sz="950" b="1" kern="1200" dirty="0">
                <a:solidFill>
                  <a:srgbClr val="33448D"/>
                </a:solidFill>
                <a:latin typeface="Arial" pitchFamily="34" charset="0"/>
                <a:ea typeface="Arial" pitchFamily="34" charset="-122"/>
                <a:cs typeface="Arial" pitchFamily="34" charset="-120"/>
              </a:rPr>
              <a:t>MM$1.133,2</a:t>
            </a:r>
            <a:endParaRPr lang="en-US" sz="950" kern="1200" dirty="0">
              <a:solidFill>
                <a:prstClr val="black"/>
              </a:solidFill>
              <a:latin typeface="Calibri" panose="020F0502020204030204"/>
              <a:ea typeface="+mn-ea"/>
              <a:cs typeface="+mn-cs"/>
            </a:endParaRPr>
          </a:p>
        </p:txBody>
      </p:sp>
      <p:sp>
        <p:nvSpPr>
          <p:cNvPr id="201" name="Text 197"/>
          <p:cNvSpPr/>
          <p:nvPr/>
        </p:nvSpPr>
        <p:spPr>
          <a:xfrm>
            <a:off x="9949869" y="2455774"/>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9 regiones · Norte, Valparaíso, RM, Maule y Bío Bío</a:t>
            </a:r>
            <a:endParaRPr lang="en-US" sz="950" kern="1200" dirty="0">
              <a:solidFill>
                <a:prstClr val="black"/>
              </a:solidFill>
              <a:latin typeface="Calibri" panose="020F0502020204030204"/>
              <a:ea typeface="+mn-ea"/>
              <a:cs typeface="+mn-cs"/>
            </a:endParaRPr>
          </a:p>
        </p:txBody>
      </p:sp>
      <p:sp>
        <p:nvSpPr>
          <p:cNvPr id="202" name="Text 198"/>
          <p:cNvSpPr/>
          <p:nvPr/>
        </p:nvSpPr>
        <p:spPr>
          <a:xfrm>
            <a:off x="9949868" y="2781212"/>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Contratos vigentes: 43</a:t>
            </a:r>
            <a:endParaRPr lang="en-US" sz="950" kern="1200" dirty="0">
              <a:solidFill>
                <a:prstClr val="black"/>
              </a:solidFill>
              <a:latin typeface="Calibri" panose="020F0502020204030204"/>
              <a:ea typeface="+mn-ea"/>
              <a:cs typeface="+mn-cs"/>
            </a:endParaRPr>
          </a:p>
        </p:txBody>
      </p:sp>
      <p:sp>
        <p:nvSpPr>
          <p:cNvPr id="203" name="Text 199"/>
          <p:cNvSpPr/>
          <p:nvPr/>
        </p:nvSpPr>
        <p:spPr>
          <a:xfrm>
            <a:off x="9949869" y="2943931"/>
            <a:ext cx="1847551" cy="350837"/>
          </a:xfrm>
          <a:prstGeom prst="rect">
            <a:avLst/>
          </a:prstGeom>
          <a:noFill/>
          <a:ln/>
        </p:spPr>
        <p:txBody>
          <a:bodyPr wrap="square" lIns="16933" tIns="16933" rIns="16933" bIns="16933" rtlCol="0" anchor="t">
            <a:normAutofit/>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Bío Bío: 81 clientes · MM$284,3</a:t>
            </a:r>
            <a:endParaRPr lang="en-US" sz="950" kern="1200" dirty="0">
              <a:solidFill>
                <a:prstClr val="black"/>
              </a:solidFill>
              <a:latin typeface="Calibri" panose="020F0502020204030204"/>
              <a:ea typeface="+mn-ea"/>
              <a:cs typeface="+mn-cs"/>
            </a:endParaRPr>
          </a:p>
        </p:txBody>
      </p:sp>
      <p:sp>
        <p:nvSpPr>
          <p:cNvPr id="204" name="Shape 200"/>
          <p:cNvSpPr/>
          <p:nvPr/>
        </p:nvSpPr>
        <p:spPr>
          <a:xfrm>
            <a:off x="8445501" y="4025856"/>
            <a:ext cx="1206500" cy="2235178"/>
          </a:xfrm>
          <a:prstGeom prst="rect">
            <a:avLst/>
          </a:prstGeom>
          <a:solidFill>
            <a:srgbClr val="282DF0"/>
          </a:solidFill>
          <a:ln w="21167">
            <a:solidFill>
              <a:srgbClr val="06201D"/>
            </a:solidFill>
            <a:prstDash val="solid"/>
          </a:ln>
        </p:spPr>
        <p:txBody>
          <a:bodyPr/>
          <a:lstStyle/>
          <a:p>
            <a:endParaRPr lang="es-CL"/>
          </a:p>
        </p:txBody>
      </p:sp>
      <p:sp>
        <p:nvSpPr>
          <p:cNvPr id="205" name="Text 201"/>
          <p:cNvSpPr/>
          <p:nvPr/>
        </p:nvSpPr>
        <p:spPr>
          <a:xfrm>
            <a:off x="8751712" y="4729538"/>
            <a:ext cx="594078"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Eglys Ramírez</a:t>
            </a:r>
            <a:endParaRPr lang="en-US" sz="1100" kern="1200" dirty="0">
              <a:solidFill>
                <a:prstClr val="black"/>
              </a:solidFill>
              <a:latin typeface="Calibri" panose="020F0502020204030204"/>
              <a:ea typeface="+mn-ea"/>
              <a:cs typeface="+mn-cs"/>
            </a:endParaRPr>
          </a:p>
        </p:txBody>
      </p:sp>
      <p:sp>
        <p:nvSpPr>
          <p:cNvPr id="206" name="Text 202"/>
          <p:cNvSpPr/>
          <p:nvPr/>
        </p:nvSpPr>
        <p:spPr>
          <a:xfrm>
            <a:off x="8790297" y="5102710"/>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325</a:t>
            </a:r>
            <a:endParaRPr lang="en-US" sz="2200" kern="1200" dirty="0">
              <a:solidFill>
                <a:prstClr val="black"/>
              </a:solidFill>
              <a:latin typeface="Calibri" panose="020F0502020204030204"/>
              <a:ea typeface="+mn-ea"/>
              <a:cs typeface="+mn-cs"/>
            </a:endParaRPr>
          </a:p>
        </p:txBody>
      </p:sp>
      <p:sp>
        <p:nvSpPr>
          <p:cNvPr id="207" name="Text 203"/>
          <p:cNvSpPr/>
          <p:nvPr/>
        </p:nvSpPr>
        <p:spPr>
          <a:xfrm>
            <a:off x="8810581" y="5420100"/>
            <a:ext cx="476228" cy="162543"/>
          </a:xfrm>
          <a:prstGeom prst="rect">
            <a:avLst/>
          </a:prstGeom>
          <a:noFill/>
          <a:ln/>
        </p:spPr>
        <p:txBody>
          <a:bodyPr wrap="none" lIns="16933" tIns="16933" rIns="16933" bIns="16933" rtlCol="0" anchor="t">
            <a:normAutofit lnSpcReduction="10000"/>
          </a:bodyPr>
          <a:lstStyle/>
          <a:p>
            <a:pPr algn="ctr" defTabSz="609630">
              <a:lnSpc>
                <a:spcPct val="102316"/>
              </a:lnSpc>
              <a:buClrTx/>
            </a:pPr>
            <a:r>
              <a:rPr lang="en-US" sz="900" b="1" kern="1200" dirty="0">
                <a:solidFill>
                  <a:srgbClr val="FFFFFF"/>
                </a:solidFill>
                <a:latin typeface="Arial" pitchFamily="34" charset="0"/>
                <a:ea typeface="Arial" pitchFamily="34" charset="-122"/>
                <a:cs typeface="Arial" pitchFamily="34" charset="-120"/>
              </a:rPr>
              <a:t>clientes</a:t>
            </a:r>
            <a:endParaRPr lang="en-US" sz="900" kern="1200" dirty="0">
              <a:solidFill>
                <a:prstClr val="black"/>
              </a:solidFill>
              <a:latin typeface="Calibri" panose="020F0502020204030204"/>
              <a:ea typeface="+mn-ea"/>
              <a:cs typeface="+mn-cs"/>
            </a:endParaRPr>
          </a:p>
        </p:txBody>
      </p:sp>
      <p:sp>
        <p:nvSpPr>
          <p:cNvPr id="208" name="Shape 204"/>
          <p:cNvSpPr/>
          <p:nvPr/>
        </p:nvSpPr>
        <p:spPr>
          <a:xfrm>
            <a:off x="9779001" y="4025856"/>
            <a:ext cx="2082712" cy="2235178"/>
          </a:xfrm>
          <a:prstGeom prst="rect">
            <a:avLst/>
          </a:prstGeom>
          <a:ln w="21167">
            <a:solidFill>
              <a:srgbClr val="06201D"/>
            </a:solidFill>
            <a:prstDash val="solid"/>
          </a:ln>
        </p:spPr>
        <p:txBody>
          <a:bodyPr/>
          <a:lstStyle/>
          <a:p>
            <a:endParaRPr lang="es-CL"/>
          </a:p>
        </p:txBody>
      </p:sp>
      <p:sp>
        <p:nvSpPr>
          <p:cNvPr id="209" name="Text 205"/>
          <p:cNvSpPr/>
          <p:nvPr/>
        </p:nvSpPr>
        <p:spPr>
          <a:xfrm>
            <a:off x="9949868" y="4655234"/>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pPr>
            <a:r>
              <a:rPr lang="en-US" sz="950" kern="1200" dirty="0">
                <a:solidFill>
                  <a:srgbClr val="373C46"/>
                </a:solidFill>
                <a:latin typeface="Arial" pitchFamily="34" charset="0"/>
                <a:ea typeface="Arial" pitchFamily="34" charset="-122"/>
                <a:cs typeface="Arial" pitchFamily="34" charset="-120"/>
              </a:rPr>
              <a:t>Potencial: </a:t>
            </a:r>
            <a:r>
              <a:rPr lang="en-US" sz="950" b="1" kern="1200" dirty="0">
                <a:solidFill>
                  <a:srgbClr val="33448D"/>
                </a:solidFill>
                <a:latin typeface="Arial" pitchFamily="34" charset="0"/>
                <a:ea typeface="Arial" pitchFamily="34" charset="-122"/>
                <a:cs typeface="Arial" pitchFamily="34" charset="-120"/>
              </a:rPr>
              <a:t>MM$966,7</a:t>
            </a:r>
            <a:endParaRPr lang="en-US" sz="950" kern="1200" dirty="0">
              <a:solidFill>
                <a:prstClr val="black"/>
              </a:solidFill>
              <a:latin typeface="Calibri" panose="020F0502020204030204"/>
              <a:ea typeface="+mn-ea"/>
              <a:cs typeface="+mn-cs"/>
            </a:endParaRPr>
          </a:p>
        </p:txBody>
      </p:sp>
      <p:sp>
        <p:nvSpPr>
          <p:cNvPr id="210" name="Text 206"/>
          <p:cNvSpPr/>
          <p:nvPr/>
        </p:nvSpPr>
        <p:spPr>
          <a:xfrm>
            <a:off x="9949869" y="4817953"/>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8 regiones · RM, O'Higgins, Ñuble y Sur</a:t>
            </a:r>
            <a:endParaRPr lang="en-US" sz="950" kern="1200" dirty="0">
              <a:solidFill>
                <a:prstClr val="black"/>
              </a:solidFill>
              <a:latin typeface="Calibri" panose="020F0502020204030204"/>
              <a:ea typeface="+mn-ea"/>
              <a:cs typeface="+mn-cs"/>
            </a:endParaRPr>
          </a:p>
        </p:txBody>
      </p:sp>
      <p:sp>
        <p:nvSpPr>
          <p:cNvPr id="211" name="Text 207"/>
          <p:cNvSpPr/>
          <p:nvPr/>
        </p:nvSpPr>
        <p:spPr>
          <a:xfrm>
            <a:off x="9949868" y="5143390"/>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Contratos vigentes: 35</a:t>
            </a:r>
            <a:endParaRPr lang="en-US" sz="950" kern="1200" dirty="0">
              <a:solidFill>
                <a:prstClr val="black"/>
              </a:solidFill>
              <a:latin typeface="Calibri" panose="020F0502020204030204"/>
              <a:ea typeface="+mn-ea"/>
              <a:cs typeface="+mn-cs"/>
            </a:endParaRPr>
          </a:p>
        </p:txBody>
      </p:sp>
      <p:sp>
        <p:nvSpPr>
          <p:cNvPr id="212" name="Text 208"/>
          <p:cNvSpPr/>
          <p:nvPr/>
        </p:nvSpPr>
        <p:spPr>
          <a:xfrm>
            <a:off x="9949869" y="5306109"/>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Araucanía: 33 clientes · MM$159,2</a:t>
            </a:r>
            <a:endParaRPr lang="en-US" sz="950" kern="1200" dirty="0">
              <a:solidFill>
                <a:prstClr val="black"/>
              </a:solidFill>
              <a:latin typeface="Calibri" panose="020F0502020204030204"/>
              <a:ea typeface="+mn-ea"/>
              <a:cs typeface="+mn-cs"/>
            </a:endParaRPr>
          </a:p>
        </p:txBody>
      </p:sp>
      <p:sp>
        <p:nvSpPr>
          <p:cNvPr id="213" name="Text 209"/>
          <p:cNvSpPr/>
          <p:nvPr/>
        </p:nvSpPr>
        <p:spPr>
          <a:xfrm>
            <a:off x="6559507" y="6426179"/>
            <a:ext cx="5308601" cy="159455"/>
          </a:xfrm>
          <a:prstGeom prst="rect">
            <a:avLst/>
          </a:prstGeom>
          <a:noFill/>
          <a:ln/>
        </p:spPr>
        <p:txBody>
          <a:bodyPr wrap="square" lIns="16933" tIns="16933" rIns="16933" bIns="16933" rtlCol="0" anchor="t">
            <a:normAutofit lnSpcReduction="10000"/>
          </a:bodyPr>
          <a:lstStyle/>
          <a:p>
            <a:pPr algn="r" defTabSz="609630">
              <a:buClrTx/>
            </a:pPr>
            <a:r>
              <a:rPr lang="en-US" sz="900" kern="1200" dirty="0">
                <a:solidFill>
                  <a:srgbClr val="373C46"/>
                </a:solidFill>
                <a:latin typeface="Arial" pitchFamily="34" charset="0"/>
                <a:ea typeface="Arial" pitchFamily="34" charset="-122"/>
                <a:cs typeface="Arial" pitchFamily="34" charset="-120"/>
              </a:rPr>
              <a:t>Fuente: Cartera_clientes_ST_2026-09-25 · Límites regionales aproximados</a:t>
            </a:r>
            <a:endParaRPr lang="en-US" sz="900" kern="1200" dirty="0">
              <a:solidFill>
                <a:prstClr val="black"/>
              </a:solidFill>
              <a:latin typeface="Calibri" panose="020F0502020204030204"/>
              <a:ea typeface="+mn-ea"/>
              <a:cs typeface="+mn-cs"/>
            </a:endParaRPr>
          </a:p>
        </p:txBody>
      </p:sp>
      <p:pic>
        <p:nvPicPr>
          <p:cNvPr id="214" name="Image 2" descr="preencoded.png"/>
          <p:cNvPicPr>
            <a:picLocks noChangeAspect="1"/>
          </p:cNvPicPr>
          <p:nvPr/>
        </p:nvPicPr>
        <p:blipFill>
          <a:blip r:embed="rId5"/>
          <a:stretch>
            <a:fillRect/>
          </a:stretch>
        </p:blipFill>
        <p:spPr>
          <a:xfrm>
            <a:off x="330178" y="6400712"/>
            <a:ext cx="1225462" cy="279356"/>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1EB841FC-B618-1C11-FEF8-0DE525B274A1}"/>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441C2153-BEE1-4D2F-3298-A424146E2AC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Plan RM y Valparaíso</a:t>
            </a:r>
            <a:endParaRPr dirty="0"/>
          </a:p>
        </p:txBody>
      </p:sp>
      <p:sp>
        <p:nvSpPr>
          <p:cNvPr id="9" name="Rectángulo 8">
            <a:extLst>
              <a:ext uri="{FF2B5EF4-FFF2-40B4-BE49-F238E27FC236}">
                <a16:creationId xmlns:a16="http://schemas.microsoft.com/office/drawing/2014/main" id="{42990234-17A8-D4B8-0A83-5BDBDB4B3C1E}"/>
              </a:ext>
            </a:extLst>
          </p:cNvPr>
          <p:cNvSpPr/>
          <p:nvPr/>
        </p:nvSpPr>
        <p:spPr>
          <a:xfrm>
            <a:off x="304408" y="5003065"/>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De las propuestas anteriores, se reasignó con Foco en Valparaíso y Cristian la cartera de visitas y se les hizo un plan de visitas a cada uno de los 3 clientes para cubrir la totalidad del Potencial.</a:t>
            </a:r>
          </a:p>
          <a:p>
            <a:pPr marL="171450" lvl="1" indent="-171450">
              <a:buFont typeface="Arial" panose="020B0604020202020204" pitchFamily="34" charset="0"/>
              <a:buChar char="•"/>
            </a:pPr>
            <a:r>
              <a:rPr lang="es-MX" sz="900" dirty="0">
                <a:solidFill>
                  <a:schemeClr val="tx2"/>
                </a:solidFill>
              </a:rPr>
              <a:t>La Cartera completa se puede cubrir en 4 meses con un promedio de 3 visitas diarias </a:t>
            </a:r>
            <a:endParaRPr lang="es-CL" sz="1600" b="1" dirty="0">
              <a:solidFill>
                <a:schemeClr val="tx1"/>
              </a:solidFill>
            </a:endParaRPr>
          </a:p>
        </p:txBody>
      </p:sp>
      <p:pic>
        <p:nvPicPr>
          <p:cNvPr id="4" name="Imagen 3">
            <a:extLst>
              <a:ext uri="{FF2B5EF4-FFF2-40B4-BE49-F238E27FC236}">
                <a16:creationId xmlns:a16="http://schemas.microsoft.com/office/drawing/2014/main" id="{D69BC1F9-B081-E8C2-3D6C-3CC984165503}"/>
              </a:ext>
            </a:extLst>
          </p:cNvPr>
          <p:cNvPicPr>
            <a:picLocks noChangeAspect="1"/>
          </p:cNvPicPr>
          <p:nvPr/>
        </p:nvPicPr>
        <p:blipFill>
          <a:blip r:embed="rId3"/>
          <a:stretch>
            <a:fillRect/>
          </a:stretch>
        </p:blipFill>
        <p:spPr>
          <a:xfrm>
            <a:off x="291000" y="970340"/>
            <a:ext cx="11698084" cy="2905606"/>
          </a:xfrm>
          <a:prstGeom prst="rect">
            <a:avLst/>
          </a:prstGeom>
        </p:spPr>
      </p:pic>
    </p:spTree>
    <p:extLst>
      <p:ext uri="{BB962C8B-B14F-4D97-AF65-F5344CB8AC3E}">
        <p14:creationId xmlns:p14="http://schemas.microsoft.com/office/powerpoint/2010/main" val="31416250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55"/>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rgbClr val="7F7F7F"/>
              </a:buClr>
              <a:buSzPct val="100000"/>
              <a:buNone/>
            </a:pPr>
            <a:r>
              <a:rPr lang="es-CL" sz="2000" b="1" dirty="0">
                <a:solidFill>
                  <a:srgbClr val="7F7F7F"/>
                </a:solidFill>
              </a:rPr>
              <a:t>Anexos</a:t>
            </a:r>
            <a:endParaRPr dirty="0"/>
          </a:p>
          <a:p>
            <a:pPr marL="0" lvl="0" indent="0" algn="l" rtl="0">
              <a:lnSpc>
                <a:spcPct val="90000"/>
              </a:lnSpc>
              <a:spcBef>
                <a:spcPts val="1000"/>
              </a:spcBef>
              <a:spcAft>
                <a:spcPts val="0"/>
              </a:spcAft>
              <a:buClr>
                <a:srgbClr val="7F7F7F"/>
              </a:buClr>
              <a:buSzPct val="100000"/>
              <a:buNone/>
            </a:pPr>
            <a:r>
              <a:rPr lang="es-CL" dirty="0">
                <a:solidFill>
                  <a:srgbClr val="7F7F7F"/>
                </a:solidFill>
              </a:rPr>
              <a:t>21 septiembre 2026</a:t>
            </a:r>
            <a:endParaRPr dirty="0"/>
          </a:p>
        </p:txBody>
      </p:sp>
      <p:sp>
        <p:nvSpPr>
          <p:cNvPr id="628" name="Google Shape;628;p55"/>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629" name="Google Shape;629;p55"/>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630" name="Google Shape;630;p55"/>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631" name="Google Shape;631;p55"/>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E09B4B21-AFAE-2F87-9403-9732BC8FD60D}"/>
            </a:ext>
          </a:extLst>
        </p:cNvPr>
        <p:cNvGrpSpPr/>
        <p:nvPr/>
      </p:nvGrpSpPr>
      <p:grpSpPr>
        <a:xfrm>
          <a:off x="0" y="0"/>
          <a:ext cx="0" cy="0"/>
          <a:chOff x="0" y="0"/>
          <a:chExt cx="0" cy="0"/>
        </a:xfrm>
      </p:grpSpPr>
      <p:sp>
        <p:nvSpPr>
          <p:cNvPr id="489" name="Google Shape;489;p38">
            <a:extLst>
              <a:ext uri="{FF2B5EF4-FFF2-40B4-BE49-F238E27FC236}">
                <a16:creationId xmlns:a16="http://schemas.microsoft.com/office/drawing/2014/main" id="{9C89433C-9CE3-6CE8-BEEB-E04DFE2A263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Propuesta</a:t>
            </a:r>
            <a:endParaRPr dirty="0"/>
          </a:p>
        </p:txBody>
      </p:sp>
      <p:sp>
        <p:nvSpPr>
          <p:cNvPr id="3" name="Rectángulo 2">
            <a:extLst>
              <a:ext uri="{FF2B5EF4-FFF2-40B4-BE49-F238E27FC236}">
                <a16:creationId xmlns:a16="http://schemas.microsoft.com/office/drawing/2014/main" id="{7D319B1B-A781-DCC7-CA95-F8915EB147C5}"/>
              </a:ext>
            </a:extLst>
          </p:cNvPr>
          <p:cNvSpPr/>
          <p:nvPr/>
        </p:nvSpPr>
        <p:spPr>
          <a:xfrm>
            <a:off x="471000" y="1314000"/>
            <a:ext cx="4815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Potencial Región Metropolitana</a:t>
            </a:r>
            <a:endParaRPr lang="es-CL" sz="1100" b="1" dirty="0">
              <a:solidFill>
                <a:schemeClr val="tx1"/>
              </a:solidFill>
            </a:endParaRPr>
          </a:p>
        </p:txBody>
      </p:sp>
      <p:sp>
        <p:nvSpPr>
          <p:cNvPr id="5" name="Rectángulo 4">
            <a:extLst>
              <a:ext uri="{FF2B5EF4-FFF2-40B4-BE49-F238E27FC236}">
                <a16:creationId xmlns:a16="http://schemas.microsoft.com/office/drawing/2014/main" id="{5C7600A5-3E04-0EBE-F326-AF1FBD5E430E}"/>
              </a:ext>
            </a:extLst>
          </p:cNvPr>
          <p:cNvSpPr/>
          <p:nvPr/>
        </p:nvSpPr>
        <p:spPr>
          <a:xfrm>
            <a:off x="471000" y="3384000"/>
            <a:ext cx="48168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Región de Valparaíso</a:t>
            </a:r>
            <a:endParaRPr lang="es-CL" sz="1100" b="1" dirty="0">
              <a:solidFill>
                <a:schemeClr val="tx1"/>
              </a:solidFill>
            </a:endParaRPr>
          </a:p>
        </p:txBody>
      </p:sp>
      <p:sp>
        <p:nvSpPr>
          <p:cNvPr id="7" name="Rectángulo 6">
            <a:extLst>
              <a:ext uri="{FF2B5EF4-FFF2-40B4-BE49-F238E27FC236}">
                <a16:creationId xmlns:a16="http://schemas.microsoft.com/office/drawing/2014/main" id="{413B10CD-1511-1737-B231-C29B95F1598D}"/>
              </a:ext>
            </a:extLst>
          </p:cNvPr>
          <p:cNvSpPr/>
          <p:nvPr/>
        </p:nvSpPr>
        <p:spPr>
          <a:xfrm>
            <a:off x="471000" y="909927"/>
            <a:ext cx="1170000" cy="323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a:t>
            </a:r>
            <a:endParaRPr lang="es-CL" sz="800" b="1" dirty="0">
              <a:solidFill>
                <a:schemeClr val="tx1"/>
              </a:solidFill>
            </a:endParaRPr>
          </a:p>
        </p:txBody>
      </p:sp>
      <p:sp>
        <p:nvSpPr>
          <p:cNvPr id="9" name="Rectángulo 8">
            <a:extLst>
              <a:ext uri="{FF2B5EF4-FFF2-40B4-BE49-F238E27FC236}">
                <a16:creationId xmlns:a16="http://schemas.microsoft.com/office/drawing/2014/main" id="{30F675D9-F543-88DD-7751-0A853BB3D42E}"/>
              </a:ext>
            </a:extLst>
          </p:cNvPr>
          <p:cNvSpPr/>
          <p:nvPr/>
        </p:nvSpPr>
        <p:spPr>
          <a:xfrm>
            <a:off x="1686000" y="909927"/>
            <a:ext cx="1170000" cy="32328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a:t>
            </a:r>
            <a:endParaRPr lang="es-CL" sz="1100" b="1" dirty="0">
              <a:solidFill>
                <a:schemeClr val="tx1"/>
              </a:solidFill>
            </a:endParaRPr>
          </a:p>
        </p:txBody>
      </p:sp>
      <p:sp>
        <p:nvSpPr>
          <p:cNvPr id="11" name="Rectángulo 10">
            <a:extLst>
              <a:ext uri="{FF2B5EF4-FFF2-40B4-BE49-F238E27FC236}">
                <a16:creationId xmlns:a16="http://schemas.microsoft.com/office/drawing/2014/main" id="{6C14E108-8620-B259-4E10-4DACEB74CB1A}"/>
              </a:ext>
            </a:extLst>
          </p:cNvPr>
          <p:cNvSpPr/>
          <p:nvPr/>
        </p:nvSpPr>
        <p:spPr>
          <a:xfrm>
            <a:off x="2895500" y="909000"/>
            <a:ext cx="1310500" cy="32328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a:t>
            </a:r>
            <a:endParaRPr lang="es-CL" sz="1100" b="1" dirty="0">
              <a:solidFill>
                <a:schemeClr val="tx1"/>
              </a:solidFill>
            </a:endParaRPr>
          </a:p>
        </p:txBody>
      </p:sp>
      <p:sp>
        <p:nvSpPr>
          <p:cNvPr id="13" name="Rectángulo 12">
            <a:extLst>
              <a:ext uri="{FF2B5EF4-FFF2-40B4-BE49-F238E27FC236}">
                <a16:creationId xmlns:a16="http://schemas.microsoft.com/office/drawing/2014/main" id="{A227DE72-DA72-5717-250E-FD8D9244ED83}"/>
              </a:ext>
            </a:extLst>
          </p:cNvPr>
          <p:cNvSpPr/>
          <p:nvPr/>
        </p:nvSpPr>
        <p:spPr>
          <a:xfrm>
            <a:off x="471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MM$255,9</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15" name="Rectángulo 14">
            <a:extLst>
              <a:ext uri="{FF2B5EF4-FFF2-40B4-BE49-F238E27FC236}">
                <a16:creationId xmlns:a16="http://schemas.microsoft.com/office/drawing/2014/main" id="{22AD6056-81DB-572D-A826-6FB23C726F7C}"/>
              </a:ext>
            </a:extLst>
          </p:cNvPr>
          <p:cNvSpPr/>
          <p:nvPr/>
        </p:nvSpPr>
        <p:spPr>
          <a:xfrm>
            <a:off x="1686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MM$47,8</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1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17" name="Rectángulo 16">
            <a:extLst>
              <a:ext uri="{FF2B5EF4-FFF2-40B4-BE49-F238E27FC236}">
                <a16:creationId xmlns:a16="http://schemas.microsoft.com/office/drawing/2014/main" id="{46DAFAF9-3F86-8916-7A90-053CB7D2A59A}"/>
              </a:ext>
            </a:extLst>
          </p:cNvPr>
          <p:cNvSpPr/>
          <p:nvPr/>
        </p:nvSpPr>
        <p:spPr>
          <a:xfrm>
            <a:off x="2895500" y="1629000"/>
            <a:ext cx="13105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MM$484,1</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25" name="Rectángulo 24">
            <a:extLst>
              <a:ext uri="{FF2B5EF4-FFF2-40B4-BE49-F238E27FC236}">
                <a16:creationId xmlns:a16="http://schemas.microsoft.com/office/drawing/2014/main" id="{AD284749-6DB9-3697-1F8D-8102A17D62F9}"/>
              </a:ext>
            </a:extLst>
          </p:cNvPr>
          <p:cNvSpPr/>
          <p:nvPr/>
        </p:nvSpPr>
        <p:spPr>
          <a:xfrm>
            <a:off x="471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MM$83,4</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a:t>
            </a:r>
            <a:r>
              <a:rPr lang="es-MX" sz="900" dirty="0" err="1">
                <a:solidFill>
                  <a:schemeClr val="tx2"/>
                </a:solidFill>
              </a:rPr>
              <a:t>Eglys</a:t>
            </a:r>
            <a:r>
              <a:rPr lang="es-MX" sz="900" dirty="0">
                <a:solidFill>
                  <a:schemeClr val="tx2"/>
                </a:solidFill>
              </a:rPr>
              <a:t> Ramírez</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7" name="Rectángulo 26">
            <a:extLst>
              <a:ext uri="{FF2B5EF4-FFF2-40B4-BE49-F238E27FC236}">
                <a16:creationId xmlns:a16="http://schemas.microsoft.com/office/drawing/2014/main" id="{5B65E494-5D32-5179-F68E-8CDC32CC36A5}"/>
              </a:ext>
            </a:extLst>
          </p:cNvPr>
          <p:cNvSpPr/>
          <p:nvPr/>
        </p:nvSpPr>
        <p:spPr>
          <a:xfrm>
            <a:off x="1686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2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9" name="Rectángulo 28">
            <a:extLst>
              <a:ext uri="{FF2B5EF4-FFF2-40B4-BE49-F238E27FC236}">
                <a16:creationId xmlns:a16="http://schemas.microsoft.com/office/drawing/2014/main" id="{03667DE7-8627-3F85-175A-8A104C47BC96}"/>
              </a:ext>
            </a:extLst>
          </p:cNvPr>
          <p:cNvSpPr/>
          <p:nvPr/>
        </p:nvSpPr>
        <p:spPr>
          <a:xfrm>
            <a:off x="2895500" y="3743072"/>
            <a:ext cx="13105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KAM 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65D5F4BE-3DE9-479E-56D8-5148BBEBF8E3}"/>
              </a:ext>
            </a:extLst>
          </p:cNvPr>
          <p:cNvSpPr/>
          <p:nvPr/>
        </p:nvSpPr>
        <p:spPr>
          <a:xfrm>
            <a:off x="6108700" y="1470956"/>
            <a:ext cx="1546401" cy="19095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121 Clientes se concentra el 80% del Potencial de la Región Metropolitana (MM$634,5)</a:t>
            </a:r>
            <a:endParaRPr lang="es-CL" sz="1600" dirty="0">
              <a:solidFill>
                <a:schemeClr val="tx1"/>
              </a:solidFill>
            </a:endParaRPr>
          </a:p>
        </p:txBody>
      </p:sp>
      <p:sp>
        <p:nvSpPr>
          <p:cNvPr id="33" name="Triángulo isósceles 32">
            <a:extLst>
              <a:ext uri="{FF2B5EF4-FFF2-40B4-BE49-F238E27FC236}">
                <a16:creationId xmlns:a16="http://schemas.microsoft.com/office/drawing/2014/main" id="{ED54F256-508E-AFF5-BC74-F2115D5083FC}"/>
              </a:ext>
            </a:extLst>
          </p:cNvPr>
          <p:cNvSpPr/>
          <p:nvPr/>
        </p:nvSpPr>
        <p:spPr>
          <a:xfrm rot="5400000">
            <a:off x="4903500" y="232650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78D244A5-3572-CE36-750F-C3441AD99F31}"/>
              </a:ext>
            </a:extLst>
          </p:cNvPr>
          <p:cNvSpPr/>
          <p:nvPr/>
        </p:nvSpPr>
        <p:spPr>
          <a:xfrm>
            <a:off x="6132801" y="3846742"/>
            <a:ext cx="1546401" cy="17872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Mientras que Valparaíso en 35 clientes se concentra el 80% de potencial (MM$150,2)</a:t>
            </a:r>
            <a:endParaRPr lang="es-CL" sz="1600" dirty="0">
              <a:solidFill>
                <a:schemeClr val="tx1"/>
              </a:solidFill>
            </a:endParaRPr>
          </a:p>
        </p:txBody>
      </p:sp>
      <p:sp>
        <p:nvSpPr>
          <p:cNvPr id="37" name="Triángulo isósceles 36">
            <a:extLst>
              <a:ext uri="{FF2B5EF4-FFF2-40B4-BE49-F238E27FC236}">
                <a16:creationId xmlns:a16="http://schemas.microsoft.com/office/drawing/2014/main" id="{ABD6CB9F-F59D-B011-D6DB-3E84483AAC46}"/>
              </a:ext>
            </a:extLst>
          </p:cNvPr>
          <p:cNvSpPr/>
          <p:nvPr/>
        </p:nvSpPr>
        <p:spPr>
          <a:xfrm rot="5400000">
            <a:off x="4903500" y="459807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5" name="Triángulo isósceles 44">
            <a:extLst>
              <a:ext uri="{FF2B5EF4-FFF2-40B4-BE49-F238E27FC236}">
                <a16:creationId xmlns:a16="http://schemas.microsoft.com/office/drawing/2014/main" id="{8E8E6C9D-D3D4-4787-D84D-66A76E037395}"/>
              </a:ext>
            </a:extLst>
          </p:cNvPr>
          <p:cNvSpPr/>
          <p:nvPr/>
        </p:nvSpPr>
        <p:spPr>
          <a:xfrm rot="5400000">
            <a:off x="7108503" y="33840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1" name="Rectángulo 50">
            <a:extLst>
              <a:ext uri="{FF2B5EF4-FFF2-40B4-BE49-F238E27FC236}">
                <a16:creationId xmlns:a16="http://schemas.microsoft.com/office/drawing/2014/main" id="{6DA4D865-9D42-907F-08BA-A5672B255BDA}"/>
              </a:ext>
            </a:extLst>
          </p:cNvPr>
          <p:cNvSpPr/>
          <p:nvPr/>
        </p:nvSpPr>
        <p:spPr>
          <a:xfrm>
            <a:off x="8251300" y="1449000"/>
            <a:ext cx="3781501" cy="418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Grupo 1 ya se encuentra abordado en ambas regiones por Cristian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Ramirez</a:t>
            </a:r>
            <a:r>
              <a:rPr lang="es-MX" sz="900" dirty="0">
                <a:solidFill>
                  <a:schemeClr val="tx2"/>
                </a:solidFill>
              </a:rPr>
              <a:t>  20 Clientes – MM$339,3 (34%)</a:t>
            </a:r>
          </a:p>
          <a:p>
            <a:pPr marL="171450" lvl="1" indent="-171450">
              <a:buFont typeface="Arial" panose="020B0604020202020204" pitchFamily="34" charset="0"/>
              <a:buChar char="•"/>
            </a:pPr>
            <a:r>
              <a:rPr lang="es-MX" sz="900" dirty="0">
                <a:solidFill>
                  <a:schemeClr val="tx2"/>
                </a:solidFill>
              </a:rPr>
              <a:t>Mientras que para los Grupos 2, se abarquen con un </a:t>
            </a:r>
            <a:r>
              <a:rPr lang="es-MX" sz="900" b="1" dirty="0">
                <a:solidFill>
                  <a:schemeClr val="tx2"/>
                </a:solidFill>
              </a:rPr>
              <a:t>KAM perfil técnico (30 clientes)</a:t>
            </a:r>
            <a:r>
              <a:rPr lang="es-MX" sz="900" dirty="0">
                <a:solidFill>
                  <a:schemeClr val="tx2"/>
                </a:solidFill>
              </a:rPr>
              <a:t> junto con Apoyo el Alexis Flores</a:t>
            </a:r>
          </a:p>
          <a:p>
            <a:pPr marL="171450" lvl="1" indent="-171450">
              <a:buFont typeface="Arial" panose="020B0604020202020204" pitchFamily="34" charset="0"/>
              <a:buChar char="•"/>
            </a:pPr>
            <a:r>
              <a:rPr lang="es-MX" sz="900" b="1" dirty="0">
                <a:solidFill>
                  <a:schemeClr val="tx2"/>
                </a:solidFill>
              </a:rPr>
              <a:t>Y ese KAM también abarque los 60 clientes más prioritarios del Grupo 3 entre las dos regiones de tal manera que la Cartera sea cubierta en un plazo de 2 meses</a:t>
            </a:r>
          </a:p>
          <a:p>
            <a:pPr marL="171450" lvl="1" indent="-171450">
              <a:buFont typeface="Arial" panose="020B0604020202020204" pitchFamily="34" charset="0"/>
              <a:buChar char="•"/>
            </a:pPr>
            <a:r>
              <a:rPr lang="es-MX" sz="900" b="1" dirty="0">
                <a:solidFill>
                  <a:schemeClr val="tx2"/>
                </a:solidFill>
              </a:rPr>
              <a:t>Con esto, considerando solo una persona adicional se cubre el 70% del Potencial en las Regiones Metropolitana y Valparaíso</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En una segunda etapa, pasado este periodo de prospección existirán dos caminos: Contratación de un técnico para dar ejecución a los contratos conseguidos o un nuevo KAM para aumentar la prospección</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err="1">
                <a:solidFill>
                  <a:schemeClr val="tx2"/>
                </a:solidFill>
              </a:rPr>
              <a:t>Margenes</a:t>
            </a:r>
            <a:r>
              <a:rPr lang="es-MX" sz="900" b="1" dirty="0">
                <a:solidFill>
                  <a:schemeClr val="tx2"/>
                </a:solidFill>
              </a:rPr>
              <a:t> y potenciales están sujetos al levantamiento que realizará cada KAM en cada cliente</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El KAM se pagará logrando un 10% de los Clientes </a:t>
            </a:r>
            <a:r>
              <a:rPr lang="es-MX" sz="900" b="1" dirty="0" err="1">
                <a:solidFill>
                  <a:schemeClr val="tx2"/>
                </a:solidFill>
              </a:rPr>
              <a:t>Potneciales</a:t>
            </a:r>
            <a:r>
              <a:rPr lang="es-MX" sz="900" b="1" dirty="0">
                <a:solidFill>
                  <a:schemeClr val="tx2"/>
                </a:solidFill>
              </a:rPr>
              <a:t> </a:t>
            </a:r>
            <a:r>
              <a:rPr lang="es-MX" sz="900" b="1" dirty="0" err="1">
                <a:solidFill>
                  <a:schemeClr val="tx2"/>
                </a:solidFill>
              </a:rPr>
              <a:t>estimdos</a:t>
            </a:r>
            <a:endParaRPr lang="es-MX" sz="900" b="1" dirty="0">
              <a:solidFill>
                <a:schemeClr val="tx2"/>
              </a:solidFill>
            </a:endParaRPr>
          </a:p>
        </p:txBody>
      </p:sp>
      <p:sp>
        <p:nvSpPr>
          <p:cNvPr id="53" name="Rectángulo 52">
            <a:extLst>
              <a:ext uri="{FF2B5EF4-FFF2-40B4-BE49-F238E27FC236}">
                <a16:creationId xmlns:a16="http://schemas.microsoft.com/office/drawing/2014/main" id="{30336DB1-29D3-C367-88E3-A79857E6CC3F}"/>
              </a:ext>
            </a:extLst>
          </p:cNvPr>
          <p:cNvSpPr/>
          <p:nvPr/>
        </p:nvSpPr>
        <p:spPr>
          <a:xfrm>
            <a:off x="4341000" y="909000"/>
            <a:ext cx="945000" cy="3232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2"/>
                </a:solidFill>
              </a:rPr>
              <a:t>Total</a:t>
            </a:r>
            <a:endParaRPr lang="es-CL" sz="1100" b="1" dirty="0">
              <a:solidFill>
                <a:schemeClr val="tx2"/>
              </a:solidFill>
            </a:endParaRPr>
          </a:p>
        </p:txBody>
      </p:sp>
      <p:sp>
        <p:nvSpPr>
          <p:cNvPr id="55" name="Rectángulo 54">
            <a:extLst>
              <a:ext uri="{FF2B5EF4-FFF2-40B4-BE49-F238E27FC236}">
                <a16:creationId xmlns:a16="http://schemas.microsoft.com/office/drawing/2014/main" id="{31313765-CF83-B6B2-1BD9-843D1297242D}"/>
              </a:ext>
            </a:extLst>
          </p:cNvPr>
          <p:cNvSpPr/>
          <p:nvPr/>
        </p:nvSpPr>
        <p:spPr>
          <a:xfrm>
            <a:off x="4356901" y="1628999"/>
            <a:ext cx="945999"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MM$ 787,8</a:t>
            </a:r>
          </a:p>
          <a:p>
            <a:pPr marL="171450" indent="-171450">
              <a:buFont typeface="Arial" panose="020B0604020202020204" pitchFamily="34" charset="0"/>
              <a:buChar char="•"/>
            </a:pPr>
            <a:r>
              <a:rPr lang="es-MX" sz="900" b="1" dirty="0">
                <a:solidFill>
                  <a:schemeClr val="tx2"/>
                </a:solidFill>
              </a:rPr>
              <a:t>270 Clientes</a:t>
            </a:r>
            <a:endParaRPr lang="es-CL" sz="1600" b="1" dirty="0">
              <a:solidFill>
                <a:schemeClr val="tx1"/>
              </a:solidFill>
            </a:endParaRPr>
          </a:p>
        </p:txBody>
      </p:sp>
      <p:sp>
        <p:nvSpPr>
          <p:cNvPr id="57" name="Rectángulo 56">
            <a:extLst>
              <a:ext uri="{FF2B5EF4-FFF2-40B4-BE49-F238E27FC236}">
                <a16:creationId xmlns:a16="http://schemas.microsoft.com/office/drawing/2014/main" id="{FD3042F6-DF4F-BB10-96EE-C6E34C53E24F}"/>
              </a:ext>
            </a:extLst>
          </p:cNvPr>
          <p:cNvSpPr/>
          <p:nvPr/>
        </p:nvSpPr>
        <p:spPr>
          <a:xfrm>
            <a:off x="4341000" y="3743072"/>
            <a:ext cx="945999"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MM$184,9</a:t>
            </a:r>
          </a:p>
          <a:p>
            <a:pPr marL="171450" indent="-171450">
              <a:buFont typeface="Arial" panose="020B0604020202020204" pitchFamily="34" charset="0"/>
              <a:buChar char="•"/>
            </a:pPr>
            <a:r>
              <a:rPr lang="es-MX" sz="900" b="1" dirty="0">
                <a:solidFill>
                  <a:schemeClr val="tx2"/>
                </a:solidFill>
              </a:rPr>
              <a:t>65 Clientes</a:t>
            </a:r>
            <a:endParaRPr lang="es-CL" sz="1600" b="1" dirty="0">
              <a:solidFill>
                <a:schemeClr val="tx1"/>
              </a:solidFill>
            </a:endParaRPr>
          </a:p>
        </p:txBody>
      </p:sp>
      <p:sp>
        <p:nvSpPr>
          <p:cNvPr id="59" name="Rectángulo 58">
            <a:extLst>
              <a:ext uri="{FF2B5EF4-FFF2-40B4-BE49-F238E27FC236}">
                <a16:creationId xmlns:a16="http://schemas.microsoft.com/office/drawing/2014/main" id="{E9B290C5-F2C2-85BC-6FB2-75288F55C4D6}"/>
              </a:ext>
            </a:extLst>
          </p:cNvPr>
          <p:cNvSpPr/>
          <p:nvPr/>
        </p:nvSpPr>
        <p:spPr>
          <a:xfrm>
            <a:off x="4485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MM$339,3</a:t>
            </a:r>
          </a:p>
          <a:p>
            <a:pPr marL="171450" indent="-171450">
              <a:buFont typeface="Arial" panose="020B0604020202020204" pitchFamily="34" charset="0"/>
              <a:buChar char="•"/>
            </a:pPr>
            <a:r>
              <a:rPr lang="es-MX" sz="900" b="1" dirty="0">
                <a:solidFill>
                  <a:schemeClr val="tx2"/>
                </a:solidFill>
              </a:rPr>
              <a:t>20Clientes</a:t>
            </a:r>
            <a:r>
              <a:rPr lang="es-MX" sz="1600" b="1" dirty="0">
                <a:solidFill>
                  <a:schemeClr val="tx1"/>
                </a:solidFill>
              </a:rPr>
              <a:t>M</a:t>
            </a:r>
            <a:endParaRPr lang="es-CL" sz="1050" b="1" dirty="0">
              <a:solidFill>
                <a:schemeClr val="tx1"/>
              </a:solidFill>
            </a:endParaRPr>
          </a:p>
        </p:txBody>
      </p:sp>
      <p:sp>
        <p:nvSpPr>
          <p:cNvPr id="61" name="Rectángulo 60">
            <a:extLst>
              <a:ext uri="{FF2B5EF4-FFF2-40B4-BE49-F238E27FC236}">
                <a16:creationId xmlns:a16="http://schemas.microsoft.com/office/drawing/2014/main" id="{0958BC26-FD08-8CDF-71E9-8AD8152864FD}"/>
              </a:ext>
            </a:extLst>
          </p:cNvPr>
          <p:cNvSpPr/>
          <p:nvPr/>
        </p:nvSpPr>
        <p:spPr>
          <a:xfrm>
            <a:off x="16860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MM$79,19</a:t>
            </a:r>
          </a:p>
          <a:p>
            <a:pPr marL="171450" indent="-171450">
              <a:buFont typeface="Arial" panose="020B0604020202020204" pitchFamily="34" charset="0"/>
              <a:buChar char="•"/>
            </a:pPr>
            <a:r>
              <a:rPr lang="es-MX" sz="900" b="1" dirty="0">
                <a:solidFill>
                  <a:schemeClr val="tx2"/>
                </a:solidFill>
              </a:rPr>
              <a:t>30 </a:t>
            </a:r>
            <a:r>
              <a:rPr lang="es-MX" sz="900" b="1" dirty="0" err="1">
                <a:solidFill>
                  <a:schemeClr val="tx2"/>
                </a:solidFill>
              </a:rPr>
              <a:t>Clientes</a:t>
            </a:r>
            <a:r>
              <a:rPr lang="es-MX" sz="1600" b="1" dirty="0" err="1">
                <a:solidFill>
                  <a:schemeClr val="tx1"/>
                </a:solidFill>
              </a:rPr>
              <a:t>M</a:t>
            </a:r>
            <a:endParaRPr lang="es-CL" sz="1050" b="1" dirty="0">
              <a:solidFill>
                <a:schemeClr val="tx1"/>
              </a:solidFill>
            </a:endParaRPr>
          </a:p>
        </p:txBody>
      </p:sp>
      <p:sp>
        <p:nvSpPr>
          <p:cNvPr id="63" name="Rectángulo 62">
            <a:extLst>
              <a:ext uri="{FF2B5EF4-FFF2-40B4-BE49-F238E27FC236}">
                <a16:creationId xmlns:a16="http://schemas.microsoft.com/office/drawing/2014/main" id="{6F593A8E-08D4-C04E-7A91-2985F1EAF4C9}"/>
              </a:ext>
            </a:extLst>
          </p:cNvPr>
          <p:cNvSpPr/>
          <p:nvPr/>
        </p:nvSpPr>
        <p:spPr>
          <a:xfrm>
            <a:off x="2895500" y="5809810"/>
            <a:ext cx="13105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MM$553,7</a:t>
            </a:r>
          </a:p>
          <a:p>
            <a:pPr marL="171450" indent="-171450">
              <a:buFont typeface="Arial" panose="020B0604020202020204" pitchFamily="34" charset="0"/>
              <a:buChar char="•"/>
            </a:pPr>
            <a:r>
              <a:rPr lang="es-MX" sz="900" b="1" dirty="0">
                <a:solidFill>
                  <a:schemeClr val="tx2"/>
                </a:solidFill>
              </a:rPr>
              <a:t>285Clientes</a:t>
            </a:r>
            <a:endParaRPr lang="es-CL" sz="900" b="1" dirty="0">
              <a:solidFill>
                <a:schemeClr val="tx2"/>
              </a:solidFill>
            </a:endParaRPr>
          </a:p>
        </p:txBody>
      </p:sp>
      <p:sp>
        <p:nvSpPr>
          <p:cNvPr id="449" name="Rectángulo 448">
            <a:extLst>
              <a:ext uri="{FF2B5EF4-FFF2-40B4-BE49-F238E27FC236}">
                <a16:creationId xmlns:a16="http://schemas.microsoft.com/office/drawing/2014/main" id="{01287FEA-2769-9B74-619D-76E2746C5AA3}"/>
              </a:ext>
            </a:extLst>
          </p:cNvPr>
          <p:cNvSpPr/>
          <p:nvPr/>
        </p:nvSpPr>
        <p:spPr>
          <a:xfrm>
            <a:off x="4341000" y="5809810"/>
            <a:ext cx="9619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800" b="1" dirty="0">
                <a:solidFill>
                  <a:schemeClr val="tx2"/>
                </a:solidFill>
              </a:rPr>
              <a:t>Pot: MM$972,7</a:t>
            </a:r>
          </a:p>
          <a:p>
            <a:pPr marL="171450" indent="-171450">
              <a:buFont typeface="Arial" panose="020B0604020202020204" pitchFamily="34" charset="0"/>
              <a:buChar char="•"/>
            </a:pPr>
            <a:r>
              <a:rPr lang="es-MX" sz="800" b="1" dirty="0">
                <a:solidFill>
                  <a:schemeClr val="tx2"/>
                </a:solidFill>
              </a:rPr>
              <a:t>335 Clientes</a:t>
            </a:r>
            <a:endParaRPr lang="es-CL" sz="800" b="1" dirty="0">
              <a:solidFill>
                <a:schemeClr val="tx2"/>
              </a:solidFill>
            </a:endParaRPr>
          </a:p>
        </p:txBody>
      </p:sp>
    </p:spTree>
    <p:extLst>
      <p:ext uri="{BB962C8B-B14F-4D97-AF65-F5344CB8AC3E}">
        <p14:creationId xmlns:p14="http://schemas.microsoft.com/office/powerpoint/2010/main" val="20389117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3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Carta Gantt</a:t>
            </a:r>
            <a:endParaRPr/>
          </a:p>
        </p:txBody>
      </p:sp>
      <p:graphicFrame>
        <p:nvGraphicFramePr>
          <p:cNvPr id="490" name="Google Shape;490;p38"/>
          <p:cNvGraphicFramePr/>
          <p:nvPr>
            <p:extLst>
              <p:ext uri="{D42A27DB-BD31-4B8C-83A1-F6EECF244321}">
                <p14:modId xmlns:p14="http://schemas.microsoft.com/office/powerpoint/2010/main" val="1472118051"/>
              </p:ext>
            </p:extLst>
          </p:nvPr>
        </p:nvGraphicFramePr>
        <p:xfrm>
          <a:off x="620923" y="938703"/>
          <a:ext cx="9666100" cy="5211405"/>
        </p:xfrm>
        <a:graphic>
          <a:graphicData uri="http://schemas.openxmlformats.org/drawingml/2006/table">
            <a:tbl>
              <a:tblPr>
                <a:noFill/>
                <a:tableStyleId>{13D43741-7D58-4360-86AC-F6E32FA5FF39}</a:tableStyleId>
              </a:tblPr>
              <a:tblGrid>
                <a:gridCol w="473075">
                  <a:extLst>
                    <a:ext uri="{9D8B030D-6E8A-4147-A177-3AD203B41FA5}">
                      <a16:colId xmlns:a16="http://schemas.microsoft.com/office/drawing/2014/main" val="20000"/>
                    </a:ext>
                  </a:extLst>
                </a:gridCol>
                <a:gridCol w="1342500">
                  <a:extLst>
                    <a:ext uri="{9D8B030D-6E8A-4147-A177-3AD203B41FA5}">
                      <a16:colId xmlns:a16="http://schemas.microsoft.com/office/drawing/2014/main" val="20001"/>
                    </a:ext>
                  </a:extLst>
                </a:gridCol>
                <a:gridCol w="537000">
                  <a:extLst>
                    <a:ext uri="{9D8B030D-6E8A-4147-A177-3AD203B41FA5}">
                      <a16:colId xmlns:a16="http://schemas.microsoft.com/office/drawing/2014/main" val="20002"/>
                    </a:ext>
                  </a:extLst>
                </a:gridCol>
                <a:gridCol w="537000">
                  <a:extLst>
                    <a:ext uri="{9D8B030D-6E8A-4147-A177-3AD203B41FA5}">
                      <a16:colId xmlns:a16="http://schemas.microsoft.com/office/drawing/2014/main" val="20003"/>
                    </a:ext>
                  </a:extLst>
                </a:gridCol>
                <a:gridCol w="2416525">
                  <a:extLst>
                    <a:ext uri="{9D8B030D-6E8A-4147-A177-3AD203B41FA5}">
                      <a16:colId xmlns:a16="http://schemas.microsoft.com/office/drawing/2014/main" val="20004"/>
                    </a:ext>
                  </a:extLst>
                </a:gridCol>
                <a:gridCol w="843875">
                  <a:extLst>
                    <a:ext uri="{9D8B030D-6E8A-4147-A177-3AD203B41FA5}">
                      <a16:colId xmlns:a16="http://schemas.microsoft.com/office/drawing/2014/main" val="20005"/>
                    </a:ext>
                  </a:extLst>
                </a:gridCol>
                <a:gridCol w="703225">
                  <a:extLst>
                    <a:ext uri="{9D8B030D-6E8A-4147-A177-3AD203B41FA5}">
                      <a16:colId xmlns:a16="http://schemas.microsoft.com/office/drawing/2014/main" val="20006"/>
                    </a:ext>
                  </a:extLst>
                </a:gridCol>
                <a:gridCol w="703225">
                  <a:extLst>
                    <a:ext uri="{9D8B030D-6E8A-4147-A177-3AD203B41FA5}">
                      <a16:colId xmlns:a16="http://schemas.microsoft.com/office/drawing/2014/main" val="20007"/>
                    </a:ext>
                  </a:extLst>
                </a:gridCol>
                <a:gridCol w="703225">
                  <a:extLst>
                    <a:ext uri="{9D8B030D-6E8A-4147-A177-3AD203B41FA5}">
                      <a16:colId xmlns:a16="http://schemas.microsoft.com/office/drawing/2014/main" val="20008"/>
                    </a:ext>
                  </a:extLst>
                </a:gridCol>
                <a:gridCol w="703225">
                  <a:extLst>
                    <a:ext uri="{9D8B030D-6E8A-4147-A177-3AD203B41FA5}">
                      <a16:colId xmlns:a16="http://schemas.microsoft.com/office/drawing/2014/main" val="20009"/>
                    </a:ext>
                  </a:extLst>
                </a:gridCol>
                <a:gridCol w="703225">
                  <a:extLst>
                    <a:ext uri="{9D8B030D-6E8A-4147-A177-3AD203B41FA5}">
                      <a16:colId xmlns:a16="http://schemas.microsoft.com/office/drawing/2014/main" val="20010"/>
                    </a:ext>
                  </a:extLst>
                </a:gridCol>
              </a:tblGrid>
              <a:tr h="255175">
                <a:tc gridSpan="5">
                  <a:txBody>
                    <a:bodyPr/>
                    <a:lstStyle/>
                    <a:p>
                      <a:pPr marL="0" marR="0" lvl="0" indent="0" algn="l" rtl="0">
                        <a:spcBef>
                          <a:spcPts val="0"/>
                        </a:spcBef>
                        <a:spcAft>
                          <a:spcPts val="0"/>
                        </a:spcAft>
                        <a:buClr>
                          <a:srgbClr val="FFFFFF"/>
                        </a:buClr>
                        <a:buSzPts val="700"/>
                        <a:buFont typeface="Roboto"/>
                        <a:buNone/>
                      </a:pPr>
                      <a:r>
                        <a:rPr lang="es-CL" sz="900" b="1" i="0" u="none" strike="noStrike" cap="none">
                          <a:solidFill>
                            <a:srgbClr val="FFFFFF"/>
                          </a:solidFill>
                          <a:latin typeface="Roboto"/>
                          <a:ea typeface="Roboto"/>
                          <a:cs typeface="Roboto"/>
                          <a:sym typeface="Roboto"/>
                        </a:rPr>
                        <a:t>CARTA GANTT — PLAN TEMPORAL DE VISITAS TECSERVICE (SEP 2026 – FEB 2027)</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150075">
                <a:tc>
                  <a:txBody>
                    <a:bodyPr/>
                    <a:lstStyle/>
                    <a:p>
                      <a:pPr marL="0" marR="0" lvl="0" indent="0" algn="l" rtl="0">
                        <a:spcBef>
                          <a:spcPts val="0"/>
                        </a:spcBef>
                        <a:spcAft>
                          <a:spcPts val="0"/>
                        </a:spcAft>
                        <a:buClr>
                          <a:srgbClr val="FFFFFF"/>
                        </a:buClr>
                        <a:buSzPts val="500"/>
                        <a:buFont typeface="Roboto"/>
                        <a:buNone/>
                      </a:pPr>
                      <a:r>
                        <a:rPr lang="es-CL" sz="700" b="0" i="1"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341275">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Prior.</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Región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Eq.</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Pot.</a:t>
                      </a:r>
                      <a:br>
                        <a:rPr lang="es-CL" sz="800" b="1" i="0" u="none" strike="noStrike" cap="none">
                          <a:solidFill>
                            <a:srgbClr val="FFFFFF"/>
                          </a:solidFill>
                          <a:latin typeface="Roboto"/>
                          <a:ea typeface="Roboto"/>
                          <a:cs typeface="Roboto"/>
                          <a:sym typeface="Roboto"/>
                        </a:rPr>
                      </a:br>
                      <a:r>
                        <a:rPr lang="es-CL" sz="800" b="1" i="0" u="none" strike="noStrike" cap="none">
                          <a:solidFill>
                            <a:srgbClr val="FFFFFF"/>
                          </a:solidFill>
                          <a:latin typeface="Roboto"/>
                          <a:ea typeface="Roboto"/>
                          <a:cs typeface="Roboto"/>
                          <a:sym typeface="Roboto"/>
                        </a:rPr>
                        <a:t>MM$</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Acciones Clave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Sep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Oct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Nov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Dic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Ene 2027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Feb 2027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213700">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1</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Clr>
                          <a:srgbClr val="1F1F1F"/>
                        </a:buClr>
                        <a:buSzPts val="600"/>
                        <a:buFont typeface="Roboto"/>
                        <a:buNone/>
                      </a:pPr>
                      <a:r>
                        <a:rPr lang="es-CL" sz="800" b="1" i="0" u="none" strike="noStrike" cap="none" dirty="0">
                          <a:solidFill>
                            <a:srgbClr val="1F1F1F"/>
                          </a:solidFill>
                          <a:latin typeface="Roboto"/>
                          <a:ea typeface="Roboto"/>
                          <a:cs typeface="Roboto"/>
                          <a:sym typeface="Roboto"/>
                        </a:rPr>
                        <a:t>Metropolitana</a:t>
                      </a:r>
                      <a:endParaRPr sz="1800" dirty="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ctr" fontAlgn="ctr">
                        <a:buNone/>
                      </a:pPr>
                      <a:r>
                        <a:rPr lang="es-CL" sz="1000" b="1" i="0" u="none" strike="noStrike" dirty="0">
                          <a:solidFill>
                            <a:srgbClr val="1F1F1F"/>
                          </a:solidFill>
                          <a:effectLst/>
                          <a:latin typeface="Roboto" panose="02000000000000000000" pitchFamily="2" charset="0"/>
                        </a:rPr>
                        <a:t>215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ctr" fontAlgn="ctr">
                        <a:buNone/>
                      </a:pPr>
                      <a:r>
                        <a:rPr lang="es-CL" sz="1000" b="1" i="0" u="none" strike="noStrike">
                          <a:solidFill>
                            <a:srgbClr val="1F1F1F"/>
                          </a:solidFill>
                          <a:effectLst/>
                          <a:latin typeface="Roboto" panose="02000000000000000000" pitchFamily="2" charset="0"/>
                        </a:rPr>
                        <a:t>259,3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500"/>
                        <a:buFont typeface="Roboto"/>
                        <a:buNone/>
                      </a:pPr>
                      <a:r>
                        <a:rPr lang="es-CL" sz="700" b="1" i="0" u="none" strike="noStrike" cap="none">
                          <a:solidFill>
                            <a:srgbClr val="1F1F1F"/>
                          </a:solidFill>
                          <a:latin typeface="Roboto"/>
                          <a:ea typeface="Roboto"/>
                          <a:cs typeface="Roboto"/>
                          <a:sym typeface="Roboto"/>
                        </a:rPr>
                        <a:t>Reunión / Visita gerencial · Levantamiento técnico · Auditoría</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SEGUIMIENTO</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3"/>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2</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Bío Bío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125,4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3</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Araucanía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80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123,7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Contrato preventivo · Convenio insti…</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4</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Los Lagos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48,1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Reunión / Visita gerencial · Contrato preventivo · Programa …</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Maule</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64,9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12</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Ñuble</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35,3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13</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Los Ríos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26,4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5</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Valparaíso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CAMPAÑA</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10</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Magallanes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rowSpan="2"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TÉC. SUR</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B0F0"/>
                    </a:solidFill>
                  </a:tcPr>
                </a:tc>
                <a:tc rowSpan="2" hMerge="1">
                  <a:txBody>
                    <a:bodyPr/>
                    <a:lstStyle/>
                    <a:p>
                      <a:endParaRPr lang="es-CL"/>
                    </a:p>
                  </a:txBody>
                  <a:tcPr/>
                </a:tc>
                <a:tc rowSpan="2"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Aysén</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14,2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Programa preventivo · Evaluación de renovación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vMerge="1">
                  <a:txBody>
                    <a:bodyPr/>
                    <a:lstStyle/>
                    <a:p>
                      <a:endParaRPr lang="es-CL"/>
                    </a:p>
                  </a:txBody>
                  <a:tcPr/>
                </a:tc>
                <a:tc hMerge="1" vMerge="1">
                  <a:txBody>
                    <a:bodyPr/>
                    <a:lstStyle/>
                    <a:p>
                      <a:endParaRPr lang="es-CL"/>
                    </a:p>
                  </a:txBody>
                  <a:tcPr/>
                </a:tc>
                <a:tc hMerge="1" v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O'Higgins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46,8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CAMPAÑA</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8</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Antofagasta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46,2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rowSpan="3" gridSpan="2">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tc rowSpan="3" hMerge="1">
                  <a:txBody>
                    <a:bodyPr/>
                    <a:lstStyle/>
                    <a:p>
                      <a:endParaRPr lang="es-CL"/>
                    </a:p>
                  </a:txBody>
                  <a:tcPr/>
                </a:tc>
                <a:extLst>
                  <a:ext uri="{0D108BD9-81ED-4DB2-BD59-A6C34878D82A}">
                    <a16:rowId xmlns:a16="http://schemas.microsoft.com/office/drawing/2014/main" val="10014"/>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9</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Coquimbo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45,8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Programa preventivo</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5"/>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11</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Tarapacá</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26</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37,4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6"/>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14</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Arica y Parinacota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ctr" fontAlgn="ctr">
                        <a:buNone/>
                      </a:pPr>
                      <a:r>
                        <a:rPr lang="es-CL" sz="1000" b="0" i="0" u="none" strike="noStrike">
                          <a:solidFill>
                            <a:srgbClr val="1F1F1F"/>
                          </a:solidFill>
                          <a:effectLst/>
                          <a:latin typeface="Roboto" panose="02000000000000000000" pitchFamily="2" charset="0"/>
                        </a:rPr>
                        <a:t>16,1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7"/>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15</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Atacama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a:solidFill>
                            <a:srgbClr val="1F1F1F"/>
                          </a:solidFill>
                          <a:effectLst/>
                          <a:latin typeface="Roboto" panose="02000000000000000000" pitchFamily="2" charset="0"/>
                        </a:rPr>
                        <a:t>7</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ctr" fontAlgn="ctr">
                        <a:buNone/>
                      </a:pPr>
                      <a:r>
                        <a:rPr lang="es-CL" sz="1000" b="0" i="0" u="none" strike="noStrike" dirty="0">
                          <a:solidFill>
                            <a:srgbClr val="1F1F1F"/>
                          </a:solidFill>
                          <a:effectLst/>
                          <a:latin typeface="Roboto" panose="02000000000000000000" pitchFamily="2" charset="0"/>
                        </a:rPr>
                        <a:t>10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8"/>
                  </a:ext>
                </a:extLst>
              </a:tr>
              <a:tr h="215300">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Total</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1.105,0</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50075">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186600">
                <a:tc>
                  <a:txBody>
                    <a:bodyPr/>
                    <a:lstStyle/>
                    <a:p>
                      <a:pPr marL="0" marR="0" lvl="0" indent="0" algn="l" rtl="0">
                        <a:spcBef>
                          <a:spcPts val="0"/>
                        </a:spcBef>
                        <a:spcAft>
                          <a:spcPts val="0"/>
                        </a:spcAft>
                        <a:buClr>
                          <a:srgbClr val="006B3C"/>
                        </a:buClr>
                        <a:buSzPts val="1000"/>
                        <a:buFont typeface="Roboto"/>
                        <a:buNone/>
                      </a:pPr>
                      <a:r>
                        <a:rPr lang="es-CL" sz="1100" b="1" i="0" u="none" strike="noStrike" cap="none">
                          <a:solidFill>
                            <a:srgbClr val="006B3C"/>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EN EJECUCIÓN: Campaña ya iniciada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2E5D9F"/>
                        </a:buClr>
                        <a:buSzPts val="1000"/>
                        <a:buFont typeface="Roboto"/>
                        <a:buNone/>
                      </a:pPr>
                      <a:r>
                        <a:rPr lang="es-CL" sz="1100" b="1" i="0" u="none" strike="noStrike" cap="none">
                          <a:solidFill>
                            <a:srgbClr val="2E5D9F"/>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SEGUIMIENTO: Región Metropolitana – continuo</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7030A0"/>
                        </a:buClr>
                        <a:buSzPts val="1000"/>
                        <a:buFont typeface="Roboto"/>
                        <a:buNone/>
                      </a:pPr>
                      <a:r>
                        <a:rPr lang="es-CL" sz="1100" b="1" i="0" u="none" strike="noStrike" cap="none">
                          <a:solidFill>
                            <a:srgbClr val="7030A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3">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CAMPAÑA: Campaña programada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r h="221150">
                <a:tc>
                  <a:txBody>
                    <a:bodyPr/>
                    <a:lstStyle/>
                    <a:p>
                      <a:pPr marL="0" marR="0" lvl="0" indent="0" algn="l" rtl="0">
                        <a:spcBef>
                          <a:spcPts val="0"/>
                        </a:spcBef>
                        <a:spcAft>
                          <a:spcPts val="0"/>
                        </a:spcAft>
                        <a:buClr>
                          <a:srgbClr val="00B0F0"/>
                        </a:buClr>
                        <a:buSzPts val="1000"/>
                        <a:buFont typeface="Roboto"/>
                        <a:buNone/>
                      </a:pPr>
                      <a:r>
                        <a:rPr lang="es-CL" sz="1100" b="1" i="0" u="none" strike="noStrike" cap="none">
                          <a:solidFill>
                            <a:srgbClr val="00B0F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TÉC. SUR: Apoya técnico de la zona sur</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C00000"/>
                        </a:buClr>
                        <a:buSzPts val="1000"/>
                        <a:buFont typeface="Roboto"/>
                        <a:buNone/>
                      </a:pPr>
                      <a:r>
                        <a:rPr lang="es-CL" sz="1100" b="1" i="0" u="none" strike="noStrike" cap="none">
                          <a:solidFill>
                            <a:srgbClr val="C0000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TÉC. NORTE: Propuesta: técnico norte (base La Serena)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ED7D31"/>
                        </a:buClr>
                        <a:buSzPts val="1000"/>
                        <a:buFont typeface="Roboto"/>
                        <a:buNone/>
                      </a:pPr>
                      <a:r>
                        <a:rPr lang="es-CL" sz="1100" b="1" i="0" u="none" strike="noStrike" cap="none">
                          <a:solidFill>
                            <a:srgbClr val="ED7D31"/>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4">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ZONA NORTE: Ronda zona norte coordinada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22"/>
                  </a:ext>
                </a:extLst>
              </a:tr>
              <a:tr h="169575">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dirty="0">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3"/>
                  </a:ext>
                </a:extLst>
              </a:tr>
            </a:tbl>
          </a:graphicData>
        </a:graphic>
      </p:graphicFrame>
      <p:sp>
        <p:nvSpPr>
          <p:cNvPr id="491" name="Google Shape;491;p38"/>
          <p:cNvSpPr/>
          <p:nvPr/>
        </p:nvSpPr>
        <p:spPr>
          <a:xfrm>
            <a:off x="8706809" y="3492910"/>
            <a:ext cx="1759789" cy="2251494"/>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2" name="Google Shape;492;p38"/>
          <p:cNvSpPr/>
          <p:nvPr/>
        </p:nvSpPr>
        <p:spPr>
          <a:xfrm>
            <a:off x="10843404" y="3348687"/>
            <a:ext cx="1252030" cy="253993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En análisis, mismo técnico dedicado a operación de HLS (oct-27), puede generar prospección con anticipación de la zona norte</a:t>
            </a:r>
            <a:endParaRPr/>
          </a:p>
        </p:txBody>
      </p:sp>
      <p:sp>
        <p:nvSpPr>
          <p:cNvPr id="493" name="Google Shape;493;p38"/>
          <p:cNvSpPr/>
          <p:nvPr/>
        </p:nvSpPr>
        <p:spPr>
          <a:xfrm rot="5400000">
            <a:off x="10394831" y="4373594"/>
            <a:ext cx="586597" cy="215660"/>
          </a:xfrm>
          <a:prstGeom prst="triangle">
            <a:avLst>
              <a:gd name="adj" fmla="val 50000"/>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3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499" name="Google Shape;499;p3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0" name="Google Shape;500;p3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Metropolitana</a:t>
            </a:r>
            <a:endParaRPr/>
          </a:p>
        </p:txBody>
      </p:sp>
      <p:graphicFrame>
        <p:nvGraphicFramePr>
          <p:cNvPr id="3" name="Tabla 2">
            <a:extLst>
              <a:ext uri="{FF2B5EF4-FFF2-40B4-BE49-F238E27FC236}">
                <a16:creationId xmlns:a16="http://schemas.microsoft.com/office/drawing/2014/main" id="{8A49E7DC-669E-A5A1-E945-6F05BB672194}"/>
              </a:ext>
            </a:extLst>
          </p:cNvPr>
          <p:cNvGraphicFramePr>
            <a:graphicFrameLocks noGrp="1"/>
          </p:cNvGraphicFramePr>
          <p:nvPr>
            <p:extLst>
              <p:ext uri="{D42A27DB-BD31-4B8C-83A1-F6EECF244321}">
                <p14:modId xmlns:p14="http://schemas.microsoft.com/office/powerpoint/2010/main" val="1696117403"/>
              </p:ext>
            </p:extLst>
          </p:nvPr>
        </p:nvGraphicFramePr>
        <p:xfrm>
          <a:off x="476250" y="1299602"/>
          <a:ext cx="10515600" cy="4673645"/>
        </p:xfrm>
        <a:graphic>
          <a:graphicData uri="http://schemas.openxmlformats.org/drawingml/2006/table">
            <a:tbl>
              <a:tblPr/>
              <a:tblGrid>
                <a:gridCol w="2033331">
                  <a:extLst>
                    <a:ext uri="{9D8B030D-6E8A-4147-A177-3AD203B41FA5}">
                      <a16:colId xmlns:a16="http://schemas.microsoft.com/office/drawing/2014/main" val="868699452"/>
                    </a:ext>
                  </a:extLst>
                </a:gridCol>
                <a:gridCol w="534181">
                  <a:extLst>
                    <a:ext uri="{9D8B030D-6E8A-4147-A177-3AD203B41FA5}">
                      <a16:colId xmlns:a16="http://schemas.microsoft.com/office/drawing/2014/main" val="667893877"/>
                    </a:ext>
                  </a:extLst>
                </a:gridCol>
                <a:gridCol w="536334">
                  <a:extLst>
                    <a:ext uri="{9D8B030D-6E8A-4147-A177-3AD203B41FA5}">
                      <a16:colId xmlns:a16="http://schemas.microsoft.com/office/drawing/2014/main" val="3922950112"/>
                    </a:ext>
                  </a:extLst>
                </a:gridCol>
                <a:gridCol w="534181">
                  <a:extLst>
                    <a:ext uri="{9D8B030D-6E8A-4147-A177-3AD203B41FA5}">
                      <a16:colId xmlns:a16="http://schemas.microsoft.com/office/drawing/2014/main" val="2015536459"/>
                    </a:ext>
                  </a:extLst>
                </a:gridCol>
                <a:gridCol w="536334">
                  <a:extLst>
                    <a:ext uri="{9D8B030D-6E8A-4147-A177-3AD203B41FA5}">
                      <a16:colId xmlns:a16="http://schemas.microsoft.com/office/drawing/2014/main" val="82018761"/>
                    </a:ext>
                  </a:extLst>
                </a:gridCol>
                <a:gridCol w="534181">
                  <a:extLst>
                    <a:ext uri="{9D8B030D-6E8A-4147-A177-3AD203B41FA5}">
                      <a16:colId xmlns:a16="http://schemas.microsoft.com/office/drawing/2014/main" val="2752959678"/>
                    </a:ext>
                  </a:extLst>
                </a:gridCol>
                <a:gridCol w="536334">
                  <a:extLst>
                    <a:ext uri="{9D8B030D-6E8A-4147-A177-3AD203B41FA5}">
                      <a16:colId xmlns:a16="http://schemas.microsoft.com/office/drawing/2014/main" val="1864361789"/>
                    </a:ext>
                  </a:extLst>
                </a:gridCol>
                <a:gridCol w="628954">
                  <a:extLst>
                    <a:ext uri="{9D8B030D-6E8A-4147-A177-3AD203B41FA5}">
                      <a16:colId xmlns:a16="http://schemas.microsoft.com/office/drawing/2014/main" val="2144115479"/>
                    </a:ext>
                  </a:extLst>
                </a:gridCol>
                <a:gridCol w="626800">
                  <a:extLst>
                    <a:ext uri="{9D8B030D-6E8A-4147-A177-3AD203B41FA5}">
                      <a16:colId xmlns:a16="http://schemas.microsoft.com/office/drawing/2014/main" val="2248943678"/>
                    </a:ext>
                  </a:extLst>
                </a:gridCol>
                <a:gridCol w="947740">
                  <a:extLst>
                    <a:ext uri="{9D8B030D-6E8A-4147-A177-3AD203B41FA5}">
                      <a16:colId xmlns:a16="http://schemas.microsoft.com/office/drawing/2014/main" val="980898685"/>
                    </a:ext>
                  </a:extLst>
                </a:gridCol>
                <a:gridCol w="947740">
                  <a:extLst>
                    <a:ext uri="{9D8B030D-6E8A-4147-A177-3AD203B41FA5}">
                      <a16:colId xmlns:a16="http://schemas.microsoft.com/office/drawing/2014/main" val="3573969723"/>
                    </a:ext>
                  </a:extLst>
                </a:gridCol>
                <a:gridCol w="2119490">
                  <a:extLst>
                    <a:ext uri="{9D8B030D-6E8A-4147-A177-3AD203B41FA5}">
                      <a16:colId xmlns:a16="http://schemas.microsoft.com/office/drawing/2014/main" val="1867066501"/>
                    </a:ext>
                  </a:extLst>
                </a:gridCol>
              </a:tblGrid>
              <a:tr h="180037">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76829918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83072463"/>
                  </a:ext>
                </a:extLst>
              </a:tr>
              <a:tr h="644909">
                <a:tc>
                  <a:txBody>
                    <a:bodyPr/>
                    <a:lstStyle/>
                    <a:p>
                      <a:pPr algn="l" fontAlgn="ctr">
                        <a:buNone/>
                      </a:pPr>
                      <a:r>
                        <a:rPr lang="es-CL" sz="800" b="0" i="0" u="none" strike="noStrike" dirty="0">
                          <a:solidFill>
                            <a:schemeClr val="accent2"/>
                          </a:solidFill>
                          <a:effectLst/>
                          <a:latin typeface="Calibri" panose="020F0502020204030204" pitchFamily="34" charset="0"/>
                        </a:rPr>
                        <a:t>CLINICA MOVIL CENTINELA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140,6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Reunión gerencial.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Levantamiento técnico completo.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Oferta corporativa multiequipamiento.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marco trianual.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renovación escalonada para los equipos más antiguos.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91916942"/>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HOSPITAL CLINICO SAN BORJA-ARRIARAN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Visita conjunta Comercial + Servicio.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Presentar análisis de riesgo asociado a antigüedad.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por familias tecnológicas.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14299899"/>
                  </a:ext>
                </a:extLst>
              </a:tr>
              <a:tr h="322454">
                <a:tc>
                  <a:txBody>
                    <a:bodyPr/>
                    <a:lstStyle/>
                    <a:p>
                      <a:pPr algn="l" fontAlgn="ctr">
                        <a:buNone/>
                      </a:pPr>
                      <a:r>
                        <a:rPr lang="es-CL" sz="800" b="0" i="0" u="none" strike="noStrike">
                          <a:solidFill>
                            <a:schemeClr val="accent2"/>
                          </a:solidFill>
                          <a:effectLst/>
                          <a:latin typeface="Calibri" panose="020F0502020204030204" pitchFamily="34" charset="0"/>
                        </a:rPr>
                        <a:t>CLINICA ALEMANA DE SANTIAGO S 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Revisión de equipos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Presentar indicadores de disponibilidad.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Buscar acuerdo marco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90052276"/>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SAN JUAN DE DIOS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completo y propuesta de cobertura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58372964"/>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JUNAEB ESCUELA NUEVA ZELANDIA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130,1%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capacitación a usuarios y seguimiento para futuras renovaciones.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9203519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CESFAM STEGGER</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Integrar a rutas programadas de mantenimiento y oferta preventiva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3809553"/>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MUTUAL DE SEGURIDAD SANTIAGO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de disponibilidad operacional y mantenimiento preventivo periódico.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713908344"/>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CLINICA HOGAR BUENA SALUD S.P.A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Recuperación de activos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Presentación de indicadores de disponibilidad.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oportunidades de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25929470"/>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EJERCITO DE CHILE CENTRAL ODONTOLOGICA D</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para equipamiento odontológico.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Definición de equipamiento crítico.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88894736"/>
                  </a:ext>
                </a:extLst>
              </a:tr>
              <a:tr h="429939">
                <a:tc>
                  <a:txBody>
                    <a:bodyPr/>
                    <a:lstStyle/>
                    <a:p>
                      <a:pPr algn="l" fontAlgn="ctr">
                        <a:buNone/>
                      </a:pPr>
                      <a:r>
                        <a:rPr lang="es-CL" sz="800" b="0" i="0" u="none" strike="noStrike">
                          <a:solidFill>
                            <a:schemeClr val="accent2"/>
                          </a:solidFill>
                          <a:effectLst/>
                          <a:latin typeface="Calibri" panose="020F0502020204030204" pitchFamily="34" charset="0"/>
                        </a:rPr>
                        <a:t>NORDEN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Contrato de mantenimiento </a:t>
                      </a:r>
                      <a:r>
                        <a:rPr lang="es-CL" sz="800" b="0" i="0" u="none" strike="noStrike" dirty="0" err="1">
                          <a:solidFill>
                            <a:schemeClr val="accent2"/>
                          </a:solidFill>
                          <a:effectLst/>
                          <a:latin typeface="Calibri" panose="020F0502020204030204" pitchFamily="34" charset="0"/>
                        </a:rPr>
                        <a:t>multiequipamiento</a:t>
                      </a:r>
                      <a:r>
                        <a:rPr lang="es-CL" sz="800" b="0" i="0" u="none" strike="noStrike" dirty="0">
                          <a:solidFill>
                            <a:schemeClr val="accent2"/>
                          </a:solidFill>
                          <a:effectLst/>
                          <a:latin typeface="Calibri" panose="020F0502020204030204" pitchFamily="34" charset="0"/>
                        </a:rPr>
                        <a:t>.</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trimestral.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89915397"/>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259,3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774882238"/>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08" name="Google Shape;508;p4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9" name="Google Shape;509;p4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del Bío Bío</a:t>
            </a:r>
            <a:endParaRPr sz="1400">
              <a:solidFill>
                <a:srgbClr val="33448D"/>
              </a:solidFill>
              <a:latin typeface="Roboto"/>
              <a:ea typeface="Roboto"/>
              <a:cs typeface="Roboto"/>
              <a:sym typeface="Roboto"/>
            </a:endParaRPr>
          </a:p>
        </p:txBody>
      </p:sp>
      <p:graphicFrame>
        <p:nvGraphicFramePr>
          <p:cNvPr id="5" name="Tabla 4">
            <a:extLst>
              <a:ext uri="{FF2B5EF4-FFF2-40B4-BE49-F238E27FC236}">
                <a16:creationId xmlns:a16="http://schemas.microsoft.com/office/drawing/2014/main" id="{678458B1-D0D1-7FAE-8826-02558BAB2A26}"/>
              </a:ext>
            </a:extLst>
          </p:cNvPr>
          <p:cNvGraphicFramePr>
            <a:graphicFrameLocks noGrp="1"/>
          </p:cNvGraphicFramePr>
          <p:nvPr>
            <p:extLst>
              <p:ext uri="{D42A27DB-BD31-4B8C-83A1-F6EECF244321}">
                <p14:modId xmlns:p14="http://schemas.microsoft.com/office/powerpoint/2010/main" val="1621174682"/>
              </p:ext>
            </p:extLst>
          </p:nvPr>
        </p:nvGraphicFramePr>
        <p:xfrm>
          <a:off x="476250" y="1509152"/>
          <a:ext cx="10515600" cy="4551725"/>
        </p:xfrm>
        <a:graphic>
          <a:graphicData uri="http://schemas.openxmlformats.org/drawingml/2006/table">
            <a:tbl>
              <a:tblPr/>
              <a:tblGrid>
                <a:gridCol w="2033331">
                  <a:extLst>
                    <a:ext uri="{9D8B030D-6E8A-4147-A177-3AD203B41FA5}">
                      <a16:colId xmlns:a16="http://schemas.microsoft.com/office/drawing/2014/main" val="2170294125"/>
                    </a:ext>
                  </a:extLst>
                </a:gridCol>
                <a:gridCol w="534181">
                  <a:extLst>
                    <a:ext uri="{9D8B030D-6E8A-4147-A177-3AD203B41FA5}">
                      <a16:colId xmlns:a16="http://schemas.microsoft.com/office/drawing/2014/main" val="24606291"/>
                    </a:ext>
                  </a:extLst>
                </a:gridCol>
                <a:gridCol w="536334">
                  <a:extLst>
                    <a:ext uri="{9D8B030D-6E8A-4147-A177-3AD203B41FA5}">
                      <a16:colId xmlns:a16="http://schemas.microsoft.com/office/drawing/2014/main" val="474151117"/>
                    </a:ext>
                  </a:extLst>
                </a:gridCol>
                <a:gridCol w="534181">
                  <a:extLst>
                    <a:ext uri="{9D8B030D-6E8A-4147-A177-3AD203B41FA5}">
                      <a16:colId xmlns:a16="http://schemas.microsoft.com/office/drawing/2014/main" val="1599266791"/>
                    </a:ext>
                  </a:extLst>
                </a:gridCol>
                <a:gridCol w="536334">
                  <a:extLst>
                    <a:ext uri="{9D8B030D-6E8A-4147-A177-3AD203B41FA5}">
                      <a16:colId xmlns:a16="http://schemas.microsoft.com/office/drawing/2014/main" val="4124901652"/>
                    </a:ext>
                  </a:extLst>
                </a:gridCol>
                <a:gridCol w="534181">
                  <a:extLst>
                    <a:ext uri="{9D8B030D-6E8A-4147-A177-3AD203B41FA5}">
                      <a16:colId xmlns:a16="http://schemas.microsoft.com/office/drawing/2014/main" val="2594711402"/>
                    </a:ext>
                  </a:extLst>
                </a:gridCol>
                <a:gridCol w="536334">
                  <a:extLst>
                    <a:ext uri="{9D8B030D-6E8A-4147-A177-3AD203B41FA5}">
                      <a16:colId xmlns:a16="http://schemas.microsoft.com/office/drawing/2014/main" val="953242487"/>
                    </a:ext>
                  </a:extLst>
                </a:gridCol>
                <a:gridCol w="628954">
                  <a:extLst>
                    <a:ext uri="{9D8B030D-6E8A-4147-A177-3AD203B41FA5}">
                      <a16:colId xmlns:a16="http://schemas.microsoft.com/office/drawing/2014/main" val="1854090624"/>
                    </a:ext>
                  </a:extLst>
                </a:gridCol>
                <a:gridCol w="626800">
                  <a:extLst>
                    <a:ext uri="{9D8B030D-6E8A-4147-A177-3AD203B41FA5}">
                      <a16:colId xmlns:a16="http://schemas.microsoft.com/office/drawing/2014/main" val="1368969871"/>
                    </a:ext>
                  </a:extLst>
                </a:gridCol>
                <a:gridCol w="947740">
                  <a:extLst>
                    <a:ext uri="{9D8B030D-6E8A-4147-A177-3AD203B41FA5}">
                      <a16:colId xmlns:a16="http://schemas.microsoft.com/office/drawing/2014/main" val="883503361"/>
                    </a:ext>
                  </a:extLst>
                </a:gridCol>
                <a:gridCol w="947740">
                  <a:extLst>
                    <a:ext uri="{9D8B030D-6E8A-4147-A177-3AD203B41FA5}">
                      <a16:colId xmlns:a16="http://schemas.microsoft.com/office/drawing/2014/main" val="1930234578"/>
                    </a:ext>
                  </a:extLst>
                </a:gridCol>
                <a:gridCol w="2119490">
                  <a:extLst>
                    <a:ext uri="{9D8B030D-6E8A-4147-A177-3AD203B41FA5}">
                      <a16:colId xmlns:a16="http://schemas.microsoft.com/office/drawing/2014/main" val="178109771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14461554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4106371041"/>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CLINICA SANATORIO ALEMAN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Presentar riesgos de obsolescencia.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Paquete PM + correctivos.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Potenciar venta de repuestos.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25308979"/>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CE LOS TILOS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de soporte, auditoría técnica y 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69322115"/>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UNIVERSIDAD DEL DESARROLLO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académico y de soporte.</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Cobertura para laboratorios y simulación.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87845089"/>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CENTRAL ODONTOLGICA II ZONA NAVAL TALCAHUANO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anual preventivo, gestión institucional y stock de repuestos críticos.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21571"/>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CONSULTORIO NORTE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 y 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51595546"/>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CLINICA UNIVERSITARIA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completa de todos los equipos.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equipos fuera de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Presentación de contrato preventivo 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visitas semestrales desde la base Biobío.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Propuesta de stock crítico de repuestos.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Construcción de indicadores de disponibilidad para la administración clínica.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09143283"/>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UNIVERSIDAD DE CONCEPCION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de toda la base instalada.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Recuperar equipos sin seguimiento técnico.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9291446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LABORATORIO CLINICO CENTRAL LTDA.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de disponibilidad operacional y mantenimiento preventivo.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06598332"/>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CLINICA BIO BIO SPA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 y propuesta de contrato preventivo.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6904605"/>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I MUNICIPALIDAD DE TALCAHUANO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de mantenimiento.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Auditoría técnica de la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Identificación de equipos fuera de cobertura.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Gestión de repuestos críticos.</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semestral.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84960716"/>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193138384"/>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Plan de Acción Para Clientes por Región </a:t>
            </a:r>
            <a:endParaRPr/>
          </a:p>
        </p:txBody>
      </p:sp>
      <p:cxnSp>
        <p:nvCxnSpPr>
          <p:cNvPr id="516" name="Google Shape;516;p4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graphicFrame>
        <p:nvGraphicFramePr>
          <p:cNvPr id="3" name="Tabla 2">
            <a:extLst>
              <a:ext uri="{FF2B5EF4-FFF2-40B4-BE49-F238E27FC236}">
                <a16:creationId xmlns:a16="http://schemas.microsoft.com/office/drawing/2014/main" id="{3D42D46C-05DC-0D0D-6EF7-1A97B558A6B3}"/>
              </a:ext>
            </a:extLst>
          </p:cNvPr>
          <p:cNvGraphicFramePr>
            <a:graphicFrameLocks noGrp="1"/>
          </p:cNvGraphicFramePr>
          <p:nvPr>
            <p:extLst>
              <p:ext uri="{D42A27DB-BD31-4B8C-83A1-F6EECF244321}">
                <p14:modId xmlns:p14="http://schemas.microsoft.com/office/powerpoint/2010/main" val="4012638825"/>
              </p:ext>
            </p:extLst>
          </p:nvPr>
        </p:nvGraphicFramePr>
        <p:xfrm>
          <a:off x="304368" y="1412493"/>
          <a:ext cx="10515600" cy="3088685"/>
        </p:xfrm>
        <a:graphic>
          <a:graphicData uri="http://schemas.openxmlformats.org/drawingml/2006/table">
            <a:tbl>
              <a:tblPr/>
              <a:tblGrid>
                <a:gridCol w="2033331">
                  <a:extLst>
                    <a:ext uri="{9D8B030D-6E8A-4147-A177-3AD203B41FA5}">
                      <a16:colId xmlns:a16="http://schemas.microsoft.com/office/drawing/2014/main" val="2575788441"/>
                    </a:ext>
                  </a:extLst>
                </a:gridCol>
                <a:gridCol w="534181">
                  <a:extLst>
                    <a:ext uri="{9D8B030D-6E8A-4147-A177-3AD203B41FA5}">
                      <a16:colId xmlns:a16="http://schemas.microsoft.com/office/drawing/2014/main" val="1543417955"/>
                    </a:ext>
                  </a:extLst>
                </a:gridCol>
                <a:gridCol w="536334">
                  <a:extLst>
                    <a:ext uri="{9D8B030D-6E8A-4147-A177-3AD203B41FA5}">
                      <a16:colId xmlns:a16="http://schemas.microsoft.com/office/drawing/2014/main" val="927633647"/>
                    </a:ext>
                  </a:extLst>
                </a:gridCol>
                <a:gridCol w="534181">
                  <a:extLst>
                    <a:ext uri="{9D8B030D-6E8A-4147-A177-3AD203B41FA5}">
                      <a16:colId xmlns:a16="http://schemas.microsoft.com/office/drawing/2014/main" val="3964416628"/>
                    </a:ext>
                  </a:extLst>
                </a:gridCol>
                <a:gridCol w="536334">
                  <a:extLst>
                    <a:ext uri="{9D8B030D-6E8A-4147-A177-3AD203B41FA5}">
                      <a16:colId xmlns:a16="http://schemas.microsoft.com/office/drawing/2014/main" val="3486690187"/>
                    </a:ext>
                  </a:extLst>
                </a:gridCol>
                <a:gridCol w="534181">
                  <a:extLst>
                    <a:ext uri="{9D8B030D-6E8A-4147-A177-3AD203B41FA5}">
                      <a16:colId xmlns:a16="http://schemas.microsoft.com/office/drawing/2014/main" val="1868253624"/>
                    </a:ext>
                  </a:extLst>
                </a:gridCol>
                <a:gridCol w="536334">
                  <a:extLst>
                    <a:ext uri="{9D8B030D-6E8A-4147-A177-3AD203B41FA5}">
                      <a16:colId xmlns:a16="http://schemas.microsoft.com/office/drawing/2014/main" val="137649689"/>
                    </a:ext>
                  </a:extLst>
                </a:gridCol>
                <a:gridCol w="628954">
                  <a:extLst>
                    <a:ext uri="{9D8B030D-6E8A-4147-A177-3AD203B41FA5}">
                      <a16:colId xmlns:a16="http://schemas.microsoft.com/office/drawing/2014/main" val="1097560110"/>
                    </a:ext>
                  </a:extLst>
                </a:gridCol>
                <a:gridCol w="626800">
                  <a:extLst>
                    <a:ext uri="{9D8B030D-6E8A-4147-A177-3AD203B41FA5}">
                      <a16:colId xmlns:a16="http://schemas.microsoft.com/office/drawing/2014/main" val="3394696793"/>
                    </a:ext>
                  </a:extLst>
                </a:gridCol>
                <a:gridCol w="947740">
                  <a:extLst>
                    <a:ext uri="{9D8B030D-6E8A-4147-A177-3AD203B41FA5}">
                      <a16:colId xmlns:a16="http://schemas.microsoft.com/office/drawing/2014/main" val="525573804"/>
                    </a:ext>
                  </a:extLst>
                </a:gridCol>
                <a:gridCol w="947740">
                  <a:extLst>
                    <a:ext uri="{9D8B030D-6E8A-4147-A177-3AD203B41FA5}">
                      <a16:colId xmlns:a16="http://schemas.microsoft.com/office/drawing/2014/main" val="420370545"/>
                    </a:ext>
                  </a:extLst>
                </a:gridCol>
                <a:gridCol w="2119490">
                  <a:extLst>
                    <a:ext uri="{9D8B030D-6E8A-4147-A177-3AD203B41FA5}">
                      <a16:colId xmlns:a16="http://schemas.microsoft.com/office/drawing/2014/main" val="284235362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81655885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932210538"/>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CLINICA REÑACA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preventiva.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anual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55197405"/>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CENTRAL ODONTOLOGICA PRIMERA ZONA NAVAL VIÑA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de mantenimiento y soporte especializado.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487689128"/>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CENT. ODONT. DE VALPARAISO 1° ZONA NAVAL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fortalecimiento de vínculo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14886151"/>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CLINICO IST VIÑA DEL MAR</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de cobertura preventiva.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8575463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RAUL SILVA HENRIQUEZ</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Gestión mediante ruta regional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60288912"/>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QUILLOTA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de equipos.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parcial por criticidad.</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9158699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LLOLLEO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planificación de rutas.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4793078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LA LIGUA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97,4%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Levantamiento técnico y propuesta preventiva básica.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87440914"/>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QUILPUE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Evaluación de cobertura y propuesta de mantenimiento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34937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HANGA ROA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anual coordinado desde Santiago.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71717645"/>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77,0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2868816125"/>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23" name="Google Shape;523;p4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24" name="Google Shape;524;p4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la Araucanía</a:t>
            </a:r>
            <a:endParaRPr/>
          </a:p>
        </p:txBody>
      </p:sp>
      <p:graphicFrame>
        <p:nvGraphicFramePr>
          <p:cNvPr id="2" name="Tabla 1">
            <a:extLst>
              <a:ext uri="{FF2B5EF4-FFF2-40B4-BE49-F238E27FC236}">
                <a16:creationId xmlns:a16="http://schemas.microsoft.com/office/drawing/2014/main" id="{FDA81806-3802-B39E-9532-ABF5DEAA928A}"/>
              </a:ext>
            </a:extLst>
          </p:cNvPr>
          <p:cNvGraphicFramePr>
            <a:graphicFrameLocks noGrp="1"/>
          </p:cNvGraphicFramePr>
          <p:nvPr>
            <p:extLst>
              <p:ext uri="{D42A27DB-BD31-4B8C-83A1-F6EECF244321}">
                <p14:modId xmlns:p14="http://schemas.microsoft.com/office/powerpoint/2010/main" val="3992067627"/>
              </p:ext>
            </p:extLst>
          </p:nvPr>
        </p:nvGraphicFramePr>
        <p:xfrm>
          <a:off x="323850" y="1412677"/>
          <a:ext cx="10515600" cy="3239195"/>
        </p:xfrm>
        <a:graphic>
          <a:graphicData uri="http://schemas.openxmlformats.org/drawingml/2006/table">
            <a:tbl>
              <a:tblPr/>
              <a:tblGrid>
                <a:gridCol w="2033331">
                  <a:extLst>
                    <a:ext uri="{9D8B030D-6E8A-4147-A177-3AD203B41FA5}">
                      <a16:colId xmlns:a16="http://schemas.microsoft.com/office/drawing/2014/main" val="1144199533"/>
                    </a:ext>
                  </a:extLst>
                </a:gridCol>
                <a:gridCol w="534181">
                  <a:extLst>
                    <a:ext uri="{9D8B030D-6E8A-4147-A177-3AD203B41FA5}">
                      <a16:colId xmlns:a16="http://schemas.microsoft.com/office/drawing/2014/main" val="116906216"/>
                    </a:ext>
                  </a:extLst>
                </a:gridCol>
                <a:gridCol w="536334">
                  <a:extLst>
                    <a:ext uri="{9D8B030D-6E8A-4147-A177-3AD203B41FA5}">
                      <a16:colId xmlns:a16="http://schemas.microsoft.com/office/drawing/2014/main" val="2285819894"/>
                    </a:ext>
                  </a:extLst>
                </a:gridCol>
                <a:gridCol w="534181">
                  <a:extLst>
                    <a:ext uri="{9D8B030D-6E8A-4147-A177-3AD203B41FA5}">
                      <a16:colId xmlns:a16="http://schemas.microsoft.com/office/drawing/2014/main" val="1148912652"/>
                    </a:ext>
                  </a:extLst>
                </a:gridCol>
                <a:gridCol w="536334">
                  <a:extLst>
                    <a:ext uri="{9D8B030D-6E8A-4147-A177-3AD203B41FA5}">
                      <a16:colId xmlns:a16="http://schemas.microsoft.com/office/drawing/2014/main" val="1693041395"/>
                    </a:ext>
                  </a:extLst>
                </a:gridCol>
                <a:gridCol w="534181">
                  <a:extLst>
                    <a:ext uri="{9D8B030D-6E8A-4147-A177-3AD203B41FA5}">
                      <a16:colId xmlns:a16="http://schemas.microsoft.com/office/drawing/2014/main" val="1039202303"/>
                    </a:ext>
                  </a:extLst>
                </a:gridCol>
                <a:gridCol w="536334">
                  <a:extLst>
                    <a:ext uri="{9D8B030D-6E8A-4147-A177-3AD203B41FA5}">
                      <a16:colId xmlns:a16="http://schemas.microsoft.com/office/drawing/2014/main" val="839585326"/>
                    </a:ext>
                  </a:extLst>
                </a:gridCol>
                <a:gridCol w="628954">
                  <a:extLst>
                    <a:ext uri="{9D8B030D-6E8A-4147-A177-3AD203B41FA5}">
                      <a16:colId xmlns:a16="http://schemas.microsoft.com/office/drawing/2014/main" val="67270238"/>
                    </a:ext>
                  </a:extLst>
                </a:gridCol>
                <a:gridCol w="626800">
                  <a:extLst>
                    <a:ext uri="{9D8B030D-6E8A-4147-A177-3AD203B41FA5}">
                      <a16:colId xmlns:a16="http://schemas.microsoft.com/office/drawing/2014/main" val="2279381670"/>
                    </a:ext>
                  </a:extLst>
                </a:gridCol>
                <a:gridCol w="947740">
                  <a:extLst>
                    <a:ext uri="{9D8B030D-6E8A-4147-A177-3AD203B41FA5}">
                      <a16:colId xmlns:a16="http://schemas.microsoft.com/office/drawing/2014/main" val="2971662669"/>
                    </a:ext>
                  </a:extLst>
                </a:gridCol>
                <a:gridCol w="947740">
                  <a:extLst>
                    <a:ext uri="{9D8B030D-6E8A-4147-A177-3AD203B41FA5}">
                      <a16:colId xmlns:a16="http://schemas.microsoft.com/office/drawing/2014/main" val="3630663816"/>
                    </a:ext>
                  </a:extLst>
                </a:gridCol>
                <a:gridCol w="2119490">
                  <a:extLst>
                    <a:ext uri="{9D8B030D-6E8A-4147-A177-3AD203B41FA5}">
                      <a16:colId xmlns:a16="http://schemas.microsoft.com/office/drawing/2014/main" val="4126198284"/>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470740399"/>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043133897"/>
                  </a:ext>
                </a:extLst>
              </a:tr>
              <a:tr h="322454">
                <a:tc>
                  <a:txBody>
                    <a:bodyPr/>
                    <a:lstStyle/>
                    <a:p>
                      <a:pPr algn="l" fontAlgn="ctr">
                        <a:buNone/>
                      </a:pPr>
                      <a:r>
                        <a:rPr lang="es-CL" sz="800" b="0" i="0" u="none" strike="noStrike" dirty="0">
                          <a:solidFill>
                            <a:schemeClr val="accent2"/>
                          </a:solidFill>
                          <a:effectLst/>
                          <a:latin typeface="Calibri" panose="020F0502020204030204" pitchFamily="34" charset="0"/>
                        </a:rPr>
                        <a:t>HOSPITAL DE ANGOL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Campaña de recuperación de BI.</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Oferta de contrato preventivo.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equipos cercanos a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10368266"/>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UNIVERSIDAD DE LA FRONTERA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29,5%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Cobertura preventiva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17030912"/>
                  </a:ext>
                </a:extLst>
              </a:tr>
              <a:tr h="214970">
                <a:tc>
                  <a:txBody>
                    <a:bodyPr/>
                    <a:lstStyle/>
                    <a:p>
                      <a:pPr algn="l" fontAlgn="ctr">
                        <a:buNone/>
                      </a:pPr>
                      <a:r>
                        <a:rPr lang="es-CL" sz="800" b="0" i="0" u="none" strike="noStrike">
                          <a:solidFill>
                            <a:schemeClr val="accent2"/>
                          </a:solidFill>
                          <a:effectLst/>
                          <a:latin typeface="Calibri" panose="020F0502020204030204" pitchFamily="34" charset="0"/>
                        </a:rPr>
                        <a:t>HOSPITAL DE LAUTARO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127,8%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riesgo operativo y propuesta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1772752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VICTORIA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reuniones periódicas.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7256707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PUCON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regional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448043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TRAIGUEN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cobertura planificada.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526472049"/>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COLLIPULLI</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56,8%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evaluación de renovación.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1229658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LONQUIMAY</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 de soporte.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0875842"/>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ERCILLA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06529989"/>
                  </a:ext>
                </a:extLst>
              </a:tr>
              <a:tr h="752394">
                <a:tc>
                  <a:txBody>
                    <a:bodyPr/>
                    <a:lstStyle/>
                    <a:p>
                      <a:pPr algn="l" fontAlgn="ctr">
                        <a:buNone/>
                      </a:pPr>
                      <a:r>
                        <a:rPr lang="es-CL" sz="800" b="0" i="0" u="none" strike="noStrike">
                          <a:solidFill>
                            <a:schemeClr val="accent2"/>
                          </a:solidFill>
                          <a:effectLst/>
                          <a:latin typeface="Calibri" panose="020F0502020204030204" pitchFamily="34" charset="0"/>
                        </a:rPr>
                        <a:t>GOBIERNO REGIONAL DE LA ARAUCANIA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Reunión institucional.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Auditoría técnica de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Convenio institucional de mantenimiento.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Identificación de proyectos de inversión regional.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comercial semestral.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96103016"/>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70,4%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51495482"/>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31" name="Google Shape;531;p4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32" name="Google Shape;532;p4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del Maule</a:t>
            </a:r>
            <a:endParaRPr/>
          </a:p>
        </p:txBody>
      </p:sp>
      <p:graphicFrame>
        <p:nvGraphicFramePr>
          <p:cNvPr id="3" name="Tabla 2">
            <a:extLst>
              <a:ext uri="{FF2B5EF4-FFF2-40B4-BE49-F238E27FC236}">
                <a16:creationId xmlns:a16="http://schemas.microsoft.com/office/drawing/2014/main" id="{48D8B932-BB4A-D0DE-8A97-71C2444A7142}"/>
              </a:ext>
            </a:extLst>
          </p:cNvPr>
          <p:cNvGraphicFramePr>
            <a:graphicFrameLocks noGrp="1"/>
          </p:cNvGraphicFramePr>
          <p:nvPr>
            <p:extLst>
              <p:ext uri="{D42A27DB-BD31-4B8C-83A1-F6EECF244321}">
                <p14:modId xmlns:p14="http://schemas.microsoft.com/office/powerpoint/2010/main" val="3493804173"/>
              </p:ext>
            </p:extLst>
          </p:nvPr>
        </p:nvGraphicFramePr>
        <p:xfrm>
          <a:off x="323850" y="1436501"/>
          <a:ext cx="10515600" cy="2275271"/>
        </p:xfrm>
        <a:graphic>
          <a:graphicData uri="http://schemas.openxmlformats.org/drawingml/2006/table">
            <a:tbl>
              <a:tblPr/>
              <a:tblGrid>
                <a:gridCol w="2033331">
                  <a:extLst>
                    <a:ext uri="{9D8B030D-6E8A-4147-A177-3AD203B41FA5}">
                      <a16:colId xmlns:a16="http://schemas.microsoft.com/office/drawing/2014/main" val="3923036779"/>
                    </a:ext>
                  </a:extLst>
                </a:gridCol>
                <a:gridCol w="534181">
                  <a:extLst>
                    <a:ext uri="{9D8B030D-6E8A-4147-A177-3AD203B41FA5}">
                      <a16:colId xmlns:a16="http://schemas.microsoft.com/office/drawing/2014/main" val="359970525"/>
                    </a:ext>
                  </a:extLst>
                </a:gridCol>
                <a:gridCol w="536334">
                  <a:extLst>
                    <a:ext uri="{9D8B030D-6E8A-4147-A177-3AD203B41FA5}">
                      <a16:colId xmlns:a16="http://schemas.microsoft.com/office/drawing/2014/main" val="1735463668"/>
                    </a:ext>
                  </a:extLst>
                </a:gridCol>
                <a:gridCol w="534181">
                  <a:extLst>
                    <a:ext uri="{9D8B030D-6E8A-4147-A177-3AD203B41FA5}">
                      <a16:colId xmlns:a16="http://schemas.microsoft.com/office/drawing/2014/main" val="2715575203"/>
                    </a:ext>
                  </a:extLst>
                </a:gridCol>
                <a:gridCol w="536334">
                  <a:extLst>
                    <a:ext uri="{9D8B030D-6E8A-4147-A177-3AD203B41FA5}">
                      <a16:colId xmlns:a16="http://schemas.microsoft.com/office/drawing/2014/main" val="4093221359"/>
                    </a:ext>
                  </a:extLst>
                </a:gridCol>
                <a:gridCol w="534181">
                  <a:extLst>
                    <a:ext uri="{9D8B030D-6E8A-4147-A177-3AD203B41FA5}">
                      <a16:colId xmlns:a16="http://schemas.microsoft.com/office/drawing/2014/main" val="853004140"/>
                    </a:ext>
                  </a:extLst>
                </a:gridCol>
                <a:gridCol w="536334">
                  <a:extLst>
                    <a:ext uri="{9D8B030D-6E8A-4147-A177-3AD203B41FA5}">
                      <a16:colId xmlns:a16="http://schemas.microsoft.com/office/drawing/2014/main" val="2164696636"/>
                    </a:ext>
                  </a:extLst>
                </a:gridCol>
                <a:gridCol w="628954">
                  <a:extLst>
                    <a:ext uri="{9D8B030D-6E8A-4147-A177-3AD203B41FA5}">
                      <a16:colId xmlns:a16="http://schemas.microsoft.com/office/drawing/2014/main" val="3950083552"/>
                    </a:ext>
                  </a:extLst>
                </a:gridCol>
                <a:gridCol w="626800">
                  <a:extLst>
                    <a:ext uri="{9D8B030D-6E8A-4147-A177-3AD203B41FA5}">
                      <a16:colId xmlns:a16="http://schemas.microsoft.com/office/drawing/2014/main" val="875517337"/>
                    </a:ext>
                  </a:extLst>
                </a:gridCol>
                <a:gridCol w="947740">
                  <a:extLst>
                    <a:ext uri="{9D8B030D-6E8A-4147-A177-3AD203B41FA5}">
                      <a16:colId xmlns:a16="http://schemas.microsoft.com/office/drawing/2014/main" val="789934390"/>
                    </a:ext>
                  </a:extLst>
                </a:gridCol>
                <a:gridCol w="947740">
                  <a:extLst>
                    <a:ext uri="{9D8B030D-6E8A-4147-A177-3AD203B41FA5}">
                      <a16:colId xmlns:a16="http://schemas.microsoft.com/office/drawing/2014/main" val="4140069937"/>
                    </a:ext>
                  </a:extLst>
                </a:gridCol>
                <a:gridCol w="2119490">
                  <a:extLst>
                    <a:ext uri="{9D8B030D-6E8A-4147-A177-3AD203B41FA5}">
                      <a16:colId xmlns:a16="http://schemas.microsoft.com/office/drawing/2014/main" val="23211011"/>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4259996314"/>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603735766"/>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I. MUNICIPALIDAD DE PARRAL - DPTO SALUD</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90,6%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y programa preventivo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40005901"/>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63,5%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Levantamiento técnico institucional y propuesta de cobertura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64051319"/>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HOSPITAL BASE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89,4%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89,4%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Contrato preventivo institucional y soporte programado.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294899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CARABINEROS CURICO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de soporte técnico.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6402631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LONGAVI</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Incorporación a rutas preventivas regionales.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2570706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COLBUN</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84,4%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113,8%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104,0%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y seguimiento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8192734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RIO CLARO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58,9%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básica.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6049545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YERBAS BUENAS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85,4%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66,2%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73,9%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anual de mantenimiento.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851451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LAS AMERICAS TALCA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10303794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CLINICA PICHIMAPU SPA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155,6%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155,6%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Auditoría técnica y propuesta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66871791"/>
                  </a:ext>
                </a:extLst>
              </a:tr>
              <a:tr h="134356">
                <a:tc>
                  <a:txBody>
                    <a:bodyPr/>
                    <a:lstStyle/>
                    <a:p>
                      <a:pPr algn="l" fontAlgn="b">
                        <a:buNone/>
                      </a:pPr>
                      <a:r>
                        <a:rPr lang="es-CL" sz="800" b="1" i="0" u="none" strike="noStrike">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71,4%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20,8%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69,8%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32,6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853692144"/>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39" name="Google Shape;539;p4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0" name="Google Shape;540;p4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Los Lagos</a:t>
            </a:r>
            <a:endParaRPr/>
          </a:p>
        </p:txBody>
      </p:sp>
      <p:graphicFrame>
        <p:nvGraphicFramePr>
          <p:cNvPr id="4" name="Tabla 3">
            <a:extLst>
              <a:ext uri="{FF2B5EF4-FFF2-40B4-BE49-F238E27FC236}">
                <a16:creationId xmlns:a16="http://schemas.microsoft.com/office/drawing/2014/main" id="{F2EC0A13-5A9A-307A-3B9F-42D79B2C9CFD}"/>
              </a:ext>
            </a:extLst>
          </p:cNvPr>
          <p:cNvGraphicFramePr>
            <a:graphicFrameLocks noGrp="1"/>
          </p:cNvGraphicFramePr>
          <p:nvPr>
            <p:extLst>
              <p:ext uri="{D42A27DB-BD31-4B8C-83A1-F6EECF244321}">
                <p14:modId xmlns:p14="http://schemas.microsoft.com/office/powerpoint/2010/main" val="1769976062"/>
              </p:ext>
            </p:extLst>
          </p:nvPr>
        </p:nvGraphicFramePr>
        <p:xfrm>
          <a:off x="321854" y="1283475"/>
          <a:ext cx="10515600" cy="2391473"/>
        </p:xfrm>
        <a:graphic>
          <a:graphicData uri="http://schemas.openxmlformats.org/drawingml/2006/table">
            <a:tbl>
              <a:tblPr/>
              <a:tblGrid>
                <a:gridCol w="2033331">
                  <a:extLst>
                    <a:ext uri="{9D8B030D-6E8A-4147-A177-3AD203B41FA5}">
                      <a16:colId xmlns:a16="http://schemas.microsoft.com/office/drawing/2014/main" val="1838834232"/>
                    </a:ext>
                  </a:extLst>
                </a:gridCol>
                <a:gridCol w="534181">
                  <a:extLst>
                    <a:ext uri="{9D8B030D-6E8A-4147-A177-3AD203B41FA5}">
                      <a16:colId xmlns:a16="http://schemas.microsoft.com/office/drawing/2014/main" val="2051577177"/>
                    </a:ext>
                  </a:extLst>
                </a:gridCol>
                <a:gridCol w="536334">
                  <a:extLst>
                    <a:ext uri="{9D8B030D-6E8A-4147-A177-3AD203B41FA5}">
                      <a16:colId xmlns:a16="http://schemas.microsoft.com/office/drawing/2014/main" val="2202877435"/>
                    </a:ext>
                  </a:extLst>
                </a:gridCol>
                <a:gridCol w="534181">
                  <a:extLst>
                    <a:ext uri="{9D8B030D-6E8A-4147-A177-3AD203B41FA5}">
                      <a16:colId xmlns:a16="http://schemas.microsoft.com/office/drawing/2014/main" val="1750240823"/>
                    </a:ext>
                  </a:extLst>
                </a:gridCol>
                <a:gridCol w="536334">
                  <a:extLst>
                    <a:ext uri="{9D8B030D-6E8A-4147-A177-3AD203B41FA5}">
                      <a16:colId xmlns:a16="http://schemas.microsoft.com/office/drawing/2014/main" val="2009161650"/>
                    </a:ext>
                  </a:extLst>
                </a:gridCol>
                <a:gridCol w="534181">
                  <a:extLst>
                    <a:ext uri="{9D8B030D-6E8A-4147-A177-3AD203B41FA5}">
                      <a16:colId xmlns:a16="http://schemas.microsoft.com/office/drawing/2014/main" val="682114829"/>
                    </a:ext>
                  </a:extLst>
                </a:gridCol>
                <a:gridCol w="536334">
                  <a:extLst>
                    <a:ext uri="{9D8B030D-6E8A-4147-A177-3AD203B41FA5}">
                      <a16:colId xmlns:a16="http://schemas.microsoft.com/office/drawing/2014/main" val="1814091358"/>
                    </a:ext>
                  </a:extLst>
                </a:gridCol>
                <a:gridCol w="628954">
                  <a:extLst>
                    <a:ext uri="{9D8B030D-6E8A-4147-A177-3AD203B41FA5}">
                      <a16:colId xmlns:a16="http://schemas.microsoft.com/office/drawing/2014/main" val="2225516356"/>
                    </a:ext>
                  </a:extLst>
                </a:gridCol>
                <a:gridCol w="626800">
                  <a:extLst>
                    <a:ext uri="{9D8B030D-6E8A-4147-A177-3AD203B41FA5}">
                      <a16:colId xmlns:a16="http://schemas.microsoft.com/office/drawing/2014/main" val="4219516696"/>
                    </a:ext>
                  </a:extLst>
                </a:gridCol>
                <a:gridCol w="947740">
                  <a:extLst>
                    <a:ext uri="{9D8B030D-6E8A-4147-A177-3AD203B41FA5}">
                      <a16:colId xmlns:a16="http://schemas.microsoft.com/office/drawing/2014/main" val="3723427803"/>
                    </a:ext>
                  </a:extLst>
                </a:gridCol>
                <a:gridCol w="947740">
                  <a:extLst>
                    <a:ext uri="{9D8B030D-6E8A-4147-A177-3AD203B41FA5}">
                      <a16:colId xmlns:a16="http://schemas.microsoft.com/office/drawing/2014/main" val="3003473656"/>
                    </a:ext>
                  </a:extLst>
                </a:gridCol>
                <a:gridCol w="2119490">
                  <a:extLst>
                    <a:ext uri="{9D8B030D-6E8A-4147-A177-3AD203B41FA5}">
                      <a16:colId xmlns:a16="http://schemas.microsoft.com/office/drawing/2014/main" val="285139589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51650837"/>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470153671"/>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CESFAM ALERCE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utilizando base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52831656"/>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JUNAEB MODULO FRUTILLAR</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126,4%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111,6%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capacitación usuarios.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109000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HOSPITAL FUTALEUFU</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programada en rondas regionales.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3783993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CHUYACA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programada desde Osorno.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10130704"/>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REDSALUD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Recuperación de activos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programado.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72980215"/>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FRUTILLAR</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77,6%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77,6%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Ruta técnica trimestral.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inspección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85234734"/>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ANTONIO VARAS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99,7%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99,7%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Integración en rutas técnicas programadas.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59774229"/>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POSTA CHAUCHIL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103,1%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82,8%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93,0%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06346411"/>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POLICLINICO NAVAL DE PUERTO MONTT</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67,2%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67,2%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62555446"/>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CESFAM ENTRE LAGOS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117,5%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117,5%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82995755"/>
                  </a:ext>
                </a:extLst>
              </a:tr>
              <a:tr h="134356">
                <a:tc>
                  <a:txBody>
                    <a:bodyPr/>
                    <a:lstStyle/>
                    <a:p>
                      <a:pPr algn="l" fontAlgn="b">
                        <a:buNone/>
                      </a:pPr>
                      <a:r>
                        <a:rPr lang="es-CL" sz="800" b="1" i="0" u="none" strike="noStrike" dirty="0">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123,8%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61,1%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80,3%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48,1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24,0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065322363"/>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47" name="Google Shape;547;p45"/>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8" name="Google Shape;548;p45"/>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O’Higgins</a:t>
            </a:r>
            <a:endParaRPr/>
          </a:p>
        </p:txBody>
      </p:sp>
      <p:graphicFrame>
        <p:nvGraphicFramePr>
          <p:cNvPr id="3" name="Tabla 2">
            <a:extLst>
              <a:ext uri="{FF2B5EF4-FFF2-40B4-BE49-F238E27FC236}">
                <a16:creationId xmlns:a16="http://schemas.microsoft.com/office/drawing/2014/main" id="{7F711AEB-9048-C99A-BE11-216CCFEEEFCD}"/>
              </a:ext>
            </a:extLst>
          </p:cNvPr>
          <p:cNvGraphicFramePr>
            <a:graphicFrameLocks noGrp="1"/>
          </p:cNvGraphicFramePr>
          <p:nvPr>
            <p:extLst>
              <p:ext uri="{D42A27DB-BD31-4B8C-83A1-F6EECF244321}">
                <p14:modId xmlns:p14="http://schemas.microsoft.com/office/powerpoint/2010/main" val="1951201851"/>
              </p:ext>
            </p:extLst>
          </p:nvPr>
        </p:nvGraphicFramePr>
        <p:xfrm>
          <a:off x="390749" y="1413559"/>
          <a:ext cx="10515600" cy="2375437"/>
        </p:xfrm>
        <a:graphic>
          <a:graphicData uri="http://schemas.openxmlformats.org/drawingml/2006/table">
            <a:tbl>
              <a:tblPr/>
              <a:tblGrid>
                <a:gridCol w="2033331">
                  <a:extLst>
                    <a:ext uri="{9D8B030D-6E8A-4147-A177-3AD203B41FA5}">
                      <a16:colId xmlns:a16="http://schemas.microsoft.com/office/drawing/2014/main" val="15181618"/>
                    </a:ext>
                  </a:extLst>
                </a:gridCol>
                <a:gridCol w="534181">
                  <a:extLst>
                    <a:ext uri="{9D8B030D-6E8A-4147-A177-3AD203B41FA5}">
                      <a16:colId xmlns:a16="http://schemas.microsoft.com/office/drawing/2014/main" val="48032846"/>
                    </a:ext>
                  </a:extLst>
                </a:gridCol>
                <a:gridCol w="536334">
                  <a:extLst>
                    <a:ext uri="{9D8B030D-6E8A-4147-A177-3AD203B41FA5}">
                      <a16:colId xmlns:a16="http://schemas.microsoft.com/office/drawing/2014/main" val="2379226943"/>
                    </a:ext>
                  </a:extLst>
                </a:gridCol>
                <a:gridCol w="534181">
                  <a:extLst>
                    <a:ext uri="{9D8B030D-6E8A-4147-A177-3AD203B41FA5}">
                      <a16:colId xmlns:a16="http://schemas.microsoft.com/office/drawing/2014/main" val="2670224940"/>
                    </a:ext>
                  </a:extLst>
                </a:gridCol>
                <a:gridCol w="536334">
                  <a:extLst>
                    <a:ext uri="{9D8B030D-6E8A-4147-A177-3AD203B41FA5}">
                      <a16:colId xmlns:a16="http://schemas.microsoft.com/office/drawing/2014/main" val="4266877745"/>
                    </a:ext>
                  </a:extLst>
                </a:gridCol>
                <a:gridCol w="534181">
                  <a:extLst>
                    <a:ext uri="{9D8B030D-6E8A-4147-A177-3AD203B41FA5}">
                      <a16:colId xmlns:a16="http://schemas.microsoft.com/office/drawing/2014/main" val="13358072"/>
                    </a:ext>
                  </a:extLst>
                </a:gridCol>
                <a:gridCol w="536334">
                  <a:extLst>
                    <a:ext uri="{9D8B030D-6E8A-4147-A177-3AD203B41FA5}">
                      <a16:colId xmlns:a16="http://schemas.microsoft.com/office/drawing/2014/main" val="2000226942"/>
                    </a:ext>
                  </a:extLst>
                </a:gridCol>
                <a:gridCol w="628954">
                  <a:extLst>
                    <a:ext uri="{9D8B030D-6E8A-4147-A177-3AD203B41FA5}">
                      <a16:colId xmlns:a16="http://schemas.microsoft.com/office/drawing/2014/main" val="2045031694"/>
                    </a:ext>
                  </a:extLst>
                </a:gridCol>
                <a:gridCol w="626800">
                  <a:extLst>
                    <a:ext uri="{9D8B030D-6E8A-4147-A177-3AD203B41FA5}">
                      <a16:colId xmlns:a16="http://schemas.microsoft.com/office/drawing/2014/main" val="259336079"/>
                    </a:ext>
                  </a:extLst>
                </a:gridCol>
                <a:gridCol w="947740">
                  <a:extLst>
                    <a:ext uri="{9D8B030D-6E8A-4147-A177-3AD203B41FA5}">
                      <a16:colId xmlns:a16="http://schemas.microsoft.com/office/drawing/2014/main" val="3291935040"/>
                    </a:ext>
                  </a:extLst>
                </a:gridCol>
                <a:gridCol w="947740">
                  <a:extLst>
                    <a:ext uri="{9D8B030D-6E8A-4147-A177-3AD203B41FA5}">
                      <a16:colId xmlns:a16="http://schemas.microsoft.com/office/drawing/2014/main" val="3544664881"/>
                    </a:ext>
                  </a:extLst>
                </a:gridCol>
                <a:gridCol w="2119490">
                  <a:extLst>
                    <a:ext uri="{9D8B030D-6E8A-4147-A177-3AD203B41FA5}">
                      <a16:colId xmlns:a16="http://schemas.microsoft.com/office/drawing/2014/main" val="1267436647"/>
                    </a:ext>
                  </a:extLst>
                </a:gridCol>
              </a:tblGrid>
              <a:tr h="221973">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365435494"/>
                  </a:ext>
                </a:extLst>
              </a:tr>
              <a:tr h="331303">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551713494"/>
                  </a:ext>
                </a:extLst>
              </a:tr>
              <a:tr h="165651">
                <a:tc>
                  <a:txBody>
                    <a:bodyPr/>
                    <a:lstStyle/>
                    <a:p>
                      <a:pPr algn="l" fontAlgn="b">
                        <a:buNone/>
                      </a:pPr>
                      <a:r>
                        <a:rPr lang="es-CL" sz="800" b="0" i="0" u="none" strike="noStrike" dirty="0">
                          <a:solidFill>
                            <a:schemeClr val="accent2"/>
                          </a:solidFill>
                          <a:effectLst/>
                          <a:latin typeface="Calibri" panose="020F0502020204030204" pitchFamily="34" charset="0"/>
                        </a:rPr>
                        <a:t>CESFAM </a:t>
                      </a:r>
                      <a:r>
                        <a:rPr lang="es-CL" sz="800" b="0" i="0" u="none" strike="noStrike" dirty="0" err="1">
                          <a:solidFill>
                            <a:schemeClr val="accent2"/>
                          </a:solidFill>
                          <a:effectLst/>
                          <a:latin typeface="Calibri" panose="020F0502020204030204" pitchFamily="34" charset="0"/>
                        </a:rPr>
                        <a:t>N°</a:t>
                      </a:r>
                      <a:r>
                        <a:rPr lang="es-CL" sz="800" b="0" i="0" u="none" strike="noStrike" dirty="0">
                          <a:solidFill>
                            <a:schemeClr val="accent2"/>
                          </a:solidFill>
                          <a:effectLst/>
                          <a:latin typeface="Calibri" panose="020F0502020204030204" pitchFamily="34" charset="0"/>
                        </a:rPr>
                        <a:t> 2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160,1%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160,1%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Levantamiento técnico y propuesta institucional.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982496516"/>
                  </a:ext>
                </a:extLst>
              </a:tr>
              <a:tr h="165651">
                <a:tc>
                  <a:txBody>
                    <a:bodyPr/>
                    <a:lstStyle/>
                    <a:p>
                      <a:pPr algn="l" fontAlgn="b">
                        <a:buNone/>
                      </a:pPr>
                      <a:r>
                        <a:rPr lang="es-CL" sz="800" b="0" i="0" u="none" strike="noStrike" dirty="0">
                          <a:solidFill>
                            <a:schemeClr val="accent2"/>
                          </a:solidFill>
                          <a:effectLst/>
                          <a:latin typeface="Calibri" panose="020F0502020204030204" pitchFamily="34" charset="0"/>
                        </a:rPr>
                        <a:t>REDSALUD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Contrato institucional preventivo.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83700165"/>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REGIONAL DE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31,3%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45,0%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38,1%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y propuesta de soporte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68330118"/>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SAN VICENTE TAGUA TAGUA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75,5%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75,5%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preventiva programada.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855390530"/>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CESFAM N°1 RANCAGUA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80,7%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80,7%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básico.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1200350"/>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POSTA PAILIMO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Evaluación de activos y propuesta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46897832"/>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DE RENGO</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64,6%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88,5%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72,6%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Cobertura regional preventiva.</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69278644"/>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CESFAM RENGO ORIENTE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95,0%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79,2%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02349743"/>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HOSPITAL LITUECHE</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154,9%</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2,5</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Convenio institucional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85632303"/>
                  </a:ext>
                </a:extLst>
              </a:tr>
              <a:tr h="165651">
                <a:tc>
                  <a:txBody>
                    <a:bodyPr/>
                    <a:lstStyle/>
                    <a:p>
                      <a:pPr algn="l" fontAlgn="b">
                        <a:buNone/>
                      </a:pPr>
                      <a:r>
                        <a:rPr lang="es-CL" sz="800" b="0" i="0" u="none" strike="noStrike">
                          <a:solidFill>
                            <a:schemeClr val="accent2"/>
                          </a:solidFill>
                          <a:effectLst/>
                          <a:latin typeface="Calibri" panose="020F0502020204030204" pitchFamily="34" charset="0"/>
                        </a:rPr>
                        <a:t>SERVICIO SALUD O'HIGGINS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123,3%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regional.</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06406501"/>
                  </a:ext>
                </a:extLst>
              </a:tr>
              <a:tr h="165651">
                <a:tc>
                  <a:txBody>
                    <a:bodyPr/>
                    <a:lstStyle/>
                    <a:p>
                      <a:pPr algn="l" fontAlgn="b">
                        <a:buNone/>
                      </a:pPr>
                      <a:r>
                        <a:rPr lang="es-CL" sz="800" b="1" i="0" u="none" strike="noStrike" dirty="0">
                          <a:solidFill>
                            <a:srgbClr val="FFFFFF"/>
                          </a:solidFill>
                          <a:effectLst/>
                          <a:latin typeface="Calibri" panose="020F0502020204030204" pitchFamily="34" charset="0"/>
                        </a:rPr>
                        <a:t>TOTAL · 10 clientes</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140,6%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74,6%</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47</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125,3%</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46,8</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6718" marR="6718" marT="6718"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867733724"/>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55" name="Google Shape;555;p46"/>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56" name="Google Shape;556;p46"/>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Coquimbo</a:t>
            </a:r>
            <a:endParaRPr/>
          </a:p>
        </p:txBody>
      </p:sp>
      <p:graphicFrame>
        <p:nvGraphicFramePr>
          <p:cNvPr id="2" name="Tabla 1">
            <a:extLst>
              <a:ext uri="{FF2B5EF4-FFF2-40B4-BE49-F238E27FC236}">
                <a16:creationId xmlns:a16="http://schemas.microsoft.com/office/drawing/2014/main" id="{8FE44CF1-AB4F-9774-28C2-E530BB12DB16}"/>
              </a:ext>
            </a:extLst>
          </p:cNvPr>
          <p:cNvGraphicFramePr>
            <a:graphicFrameLocks noGrp="1"/>
          </p:cNvGraphicFramePr>
          <p:nvPr>
            <p:extLst>
              <p:ext uri="{D42A27DB-BD31-4B8C-83A1-F6EECF244321}">
                <p14:modId xmlns:p14="http://schemas.microsoft.com/office/powerpoint/2010/main" val="2233078090"/>
              </p:ext>
            </p:extLst>
          </p:nvPr>
        </p:nvGraphicFramePr>
        <p:xfrm>
          <a:off x="323850" y="1309814"/>
          <a:ext cx="10515600" cy="2159069"/>
        </p:xfrm>
        <a:graphic>
          <a:graphicData uri="http://schemas.openxmlformats.org/drawingml/2006/table">
            <a:tbl>
              <a:tblPr/>
              <a:tblGrid>
                <a:gridCol w="2033331">
                  <a:extLst>
                    <a:ext uri="{9D8B030D-6E8A-4147-A177-3AD203B41FA5}">
                      <a16:colId xmlns:a16="http://schemas.microsoft.com/office/drawing/2014/main" val="3891420176"/>
                    </a:ext>
                  </a:extLst>
                </a:gridCol>
                <a:gridCol w="534181">
                  <a:extLst>
                    <a:ext uri="{9D8B030D-6E8A-4147-A177-3AD203B41FA5}">
                      <a16:colId xmlns:a16="http://schemas.microsoft.com/office/drawing/2014/main" val="3862622323"/>
                    </a:ext>
                  </a:extLst>
                </a:gridCol>
                <a:gridCol w="536334">
                  <a:extLst>
                    <a:ext uri="{9D8B030D-6E8A-4147-A177-3AD203B41FA5}">
                      <a16:colId xmlns:a16="http://schemas.microsoft.com/office/drawing/2014/main" val="2560929326"/>
                    </a:ext>
                  </a:extLst>
                </a:gridCol>
                <a:gridCol w="534181">
                  <a:extLst>
                    <a:ext uri="{9D8B030D-6E8A-4147-A177-3AD203B41FA5}">
                      <a16:colId xmlns:a16="http://schemas.microsoft.com/office/drawing/2014/main" val="2384940147"/>
                    </a:ext>
                  </a:extLst>
                </a:gridCol>
                <a:gridCol w="536334">
                  <a:extLst>
                    <a:ext uri="{9D8B030D-6E8A-4147-A177-3AD203B41FA5}">
                      <a16:colId xmlns:a16="http://schemas.microsoft.com/office/drawing/2014/main" val="1096656461"/>
                    </a:ext>
                  </a:extLst>
                </a:gridCol>
                <a:gridCol w="534181">
                  <a:extLst>
                    <a:ext uri="{9D8B030D-6E8A-4147-A177-3AD203B41FA5}">
                      <a16:colId xmlns:a16="http://schemas.microsoft.com/office/drawing/2014/main" val="1607479385"/>
                    </a:ext>
                  </a:extLst>
                </a:gridCol>
                <a:gridCol w="536334">
                  <a:extLst>
                    <a:ext uri="{9D8B030D-6E8A-4147-A177-3AD203B41FA5}">
                      <a16:colId xmlns:a16="http://schemas.microsoft.com/office/drawing/2014/main" val="4200936384"/>
                    </a:ext>
                  </a:extLst>
                </a:gridCol>
                <a:gridCol w="628954">
                  <a:extLst>
                    <a:ext uri="{9D8B030D-6E8A-4147-A177-3AD203B41FA5}">
                      <a16:colId xmlns:a16="http://schemas.microsoft.com/office/drawing/2014/main" val="1640230141"/>
                    </a:ext>
                  </a:extLst>
                </a:gridCol>
                <a:gridCol w="626800">
                  <a:extLst>
                    <a:ext uri="{9D8B030D-6E8A-4147-A177-3AD203B41FA5}">
                      <a16:colId xmlns:a16="http://schemas.microsoft.com/office/drawing/2014/main" val="596251000"/>
                    </a:ext>
                  </a:extLst>
                </a:gridCol>
                <a:gridCol w="947740">
                  <a:extLst>
                    <a:ext uri="{9D8B030D-6E8A-4147-A177-3AD203B41FA5}">
                      <a16:colId xmlns:a16="http://schemas.microsoft.com/office/drawing/2014/main" val="1889200339"/>
                    </a:ext>
                  </a:extLst>
                </a:gridCol>
                <a:gridCol w="947740">
                  <a:extLst>
                    <a:ext uri="{9D8B030D-6E8A-4147-A177-3AD203B41FA5}">
                      <a16:colId xmlns:a16="http://schemas.microsoft.com/office/drawing/2014/main" val="4030447220"/>
                    </a:ext>
                  </a:extLst>
                </a:gridCol>
                <a:gridCol w="2119490">
                  <a:extLst>
                    <a:ext uri="{9D8B030D-6E8A-4147-A177-3AD203B41FA5}">
                      <a16:colId xmlns:a16="http://schemas.microsoft.com/office/drawing/2014/main" val="3242137848"/>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013994973"/>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78839089"/>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HOSPITAL LA SERENA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126,4%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Desarrollo de cuenta estratégica y propuesta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178073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EL SAUCE COQUIMBO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96575634"/>
                  </a:ext>
                </a:extLst>
              </a:tr>
              <a:tr h="134356">
                <a:tc>
                  <a:txBody>
                    <a:bodyPr/>
                    <a:lstStyle/>
                    <a:p>
                      <a:pPr algn="l" fontAlgn="ctr">
                        <a:buNone/>
                      </a:pPr>
                      <a:r>
                        <a:rPr lang="es-CL" sz="800" b="0" i="0" u="none" strike="noStrike" dirty="0">
                          <a:solidFill>
                            <a:schemeClr val="accent2"/>
                          </a:solidFill>
                          <a:effectLst/>
                          <a:latin typeface="Calibri" panose="020F0502020204030204" pitchFamily="34" charset="0"/>
                        </a:rPr>
                        <a:t>HOSPITAL DE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completa de base instalada.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093714756"/>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VENTA ENDOSCOPIA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comercial y generación de contratos.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152466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SAN JUAN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87,9%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5081190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LILA CORTES (TIERRAS BLANCAS)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4197188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PUNITAQUI</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148,8%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14108425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DE SALAMANCA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65,6%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7428613"/>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URBANO III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05729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CESFAM FRAY JORGE OVALLE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86,1%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programada.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864367028"/>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90,2%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33,8%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45,8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668316983"/>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63" name="Google Shape;563;p47"/>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64" name="Google Shape;564;p47"/>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Antofagasta</a:t>
            </a:r>
            <a:endParaRPr/>
          </a:p>
        </p:txBody>
      </p:sp>
      <p:graphicFrame>
        <p:nvGraphicFramePr>
          <p:cNvPr id="4" name="Tabla 3">
            <a:extLst>
              <a:ext uri="{FF2B5EF4-FFF2-40B4-BE49-F238E27FC236}">
                <a16:creationId xmlns:a16="http://schemas.microsoft.com/office/drawing/2014/main" id="{298ED0F2-620E-A309-BE64-F501D7B6D29D}"/>
              </a:ext>
            </a:extLst>
          </p:cNvPr>
          <p:cNvGraphicFramePr>
            <a:graphicFrameLocks noGrp="1"/>
          </p:cNvGraphicFramePr>
          <p:nvPr>
            <p:extLst>
              <p:ext uri="{D42A27DB-BD31-4B8C-83A1-F6EECF244321}">
                <p14:modId xmlns:p14="http://schemas.microsoft.com/office/powerpoint/2010/main" val="1819080364"/>
              </p:ext>
            </p:extLst>
          </p:nvPr>
        </p:nvGraphicFramePr>
        <p:xfrm>
          <a:off x="323850" y="1319145"/>
          <a:ext cx="10515600" cy="2391473"/>
        </p:xfrm>
        <a:graphic>
          <a:graphicData uri="http://schemas.openxmlformats.org/drawingml/2006/table">
            <a:tbl>
              <a:tblPr/>
              <a:tblGrid>
                <a:gridCol w="2033331">
                  <a:extLst>
                    <a:ext uri="{9D8B030D-6E8A-4147-A177-3AD203B41FA5}">
                      <a16:colId xmlns:a16="http://schemas.microsoft.com/office/drawing/2014/main" val="1726478162"/>
                    </a:ext>
                  </a:extLst>
                </a:gridCol>
                <a:gridCol w="534181">
                  <a:extLst>
                    <a:ext uri="{9D8B030D-6E8A-4147-A177-3AD203B41FA5}">
                      <a16:colId xmlns:a16="http://schemas.microsoft.com/office/drawing/2014/main" val="1643316585"/>
                    </a:ext>
                  </a:extLst>
                </a:gridCol>
                <a:gridCol w="536334">
                  <a:extLst>
                    <a:ext uri="{9D8B030D-6E8A-4147-A177-3AD203B41FA5}">
                      <a16:colId xmlns:a16="http://schemas.microsoft.com/office/drawing/2014/main" val="243648078"/>
                    </a:ext>
                  </a:extLst>
                </a:gridCol>
                <a:gridCol w="534181">
                  <a:extLst>
                    <a:ext uri="{9D8B030D-6E8A-4147-A177-3AD203B41FA5}">
                      <a16:colId xmlns:a16="http://schemas.microsoft.com/office/drawing/2014/main" val="997510466"/>
                    </a:ext>
                  </a:extLst>
                </a:gridCol>
                <a:gridCol w="536334">
                  <a:extLst>
                    <a:ext uri="{9D8B030D-6E8A-4147-A177-3AD203B41FA5}">
                      <a16:colId xmlns:a16="http://schemas.microsoft.com/office/drawing/2014/main" val="1924322014"/>
                    </a:ext>
                  </a:extLst>
                </a:gridCol>
                <a:gridCol w="534181">
                  <a:extLst>
                    <a:ext uri="{9D8B030D-6E8A-4147-A177-3AD203B41FA5}">
                      <a16:colId xmlns:a16="http://schemas.microsoft.com/office/drawing/2014/main" val="2246762991"/>
                    </a:ext>
                  </a:extLst>
                </a:gridCol>
                <a:gridCol w="536334">
                  <a:extLst>
                    <a:ext uri="{9D8B030D-6E8A-4147-A177-3AD203B41FA5}">
                      <a16:colId xmlns:a16="http://schemas.microsoft.com/office/drawing/2014/main" val="2776244872"/>
                    </a:ext>
                  </a:extLst>
                </a:gridCol>
                <a:gridCol w="628954">
                  <a:extLst>
                    <a:ext uri="{9D8B030D-6E8A-4147-A177-3AD203B41FA5}">
                      <a16:colId xmlns:a16="http://schemas.microsoft.com/office/drawing/2014/main" val="4135850488"/>
                    </a:ext>
                  </a:extLst>
                </a:gridCol>
                <a:gridCol w="626800">
                  <a:extLst>
                    <a:ext uri="{9D8B030D-6E8A-4147-A177-3AD203B41FA5}">
                      <a16:colId xmlns:a16="http://schemas.microsoft.com/office/drawing/2014/main" val="2992904081"/>
                    </a:ext>
                  </a:extLst>
                </a:gridCol>
                <a:gridCol w="947740">
                  <a:extLst>
                    <a:ext uri="{9D8B030D-6E8A-4147-A177-3AD203B41FA5}">
                      <a16:colId xmlns:a16="http://schemas.microsoft.com/office/drawing/2014/main" val="1234134"/>
                    </a:ext>
                  </a:extLst>
                </a:gridCol>
                <a:gridCol w="947740">
                  <a:extLst>
                    <a:ext uri="{9D8B030D-6E8A-4147-A177-3AD203B41FA5}">
                      <a16:colId xmlns:a16="http://schemas.microsoft.com/office/drawing/2014/main" val="1275206250"/>
                    </a:ext>
                  </a:extLst>
                </a:gridCol>
                <a:gridCol w="2119490">
                  <a:extLst>
                    <a:ext uri="{9D8B030D-6E8A-4147-A177-3AD203B41FA5}">
                      <a16:colId xmlns:a16="http://schemas.microsoft.com/office/drawing/2014/main" val="4193712710"/>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042356748"/>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912421110"/>
                  </a:ext>
                </a:extLst>
              </a:tr>
              <a:tr h="214970">
                <a:tc>
                  <a:txBody>
                    <a:bodyPr/>
                    <a:lstStyle/>
                    <a:p>
                      <a:pPr algn="l" fontAlgn="ctr">
                        <a:buNone/>
                      </a:pPr>
                      <a:r>
                        <a:rPr lang="es-CL" sz="800" b="0" i="0" u="none" strike="noStrike" dirty="0">
                          <a:solidFill>
                            <a:schemeClr val="accent2"/>
                          </a:solidFill>
                          <a:effectLst/>
                          <a:latin typeface="Calibri" panose="020F0502020204030204" pitchFamily="34" charset="0"/>
                        </a:rPr>
                        <a:t>HOSPITAL REGIONAL DE ANTOFAGASTA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113,7%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Cuenta estratégica regional y propuesta integral de mantenimiento.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9301290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CARLOS CISTERNA DE CALAMA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172,4%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cobertura institucional.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32504285"/>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DIAGNORAD ANTOFAGASTA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169,8%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169,8%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y disponibilidad operacional.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11667420"/>
                  </a:ext>
                </a:extLst>
              </a:tr>
              <a:tr h="134356">
                <a:tc>
                  <a:txBody>
                    <a:bodyPr/>
                    <a:lstStyle/>
                    <a:p>
                      <a:pPr algn="l" fontAlgn="ctr">
                        <a:buNone/>
                      </a:pPr>
                      <a:r>
                        <a:rPr lang="es-CL" sz="800" b="0" i="0" u="none" strike="noStrike" dirty="0">
                          <a:solidFill>
                            <a:schemeClr val="accent2"/>
                          </a:solidFill>
                          <a:effectLst/>
                          <a:latin typeface="Calibri" panose="020F0502020204030204" pitchFamily="34" charset="0"/>
                        </a:rPr>
                        <a:t>CLINICA REGIONAL LA PORTADA DE ANTOFAGASTA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36,7%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preventiva.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625179594"/>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HOSPITAL MEJILLONES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regional.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28901290"/>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SOCIEDAD VERDEJO Y VERDEJO LIMITADA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81,7%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básico de mantenimiento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234194011"/>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CENTRO OFTALMOLOGICO LASER CEOLA ANTOFAGASTA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soporte especializado.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14190907"/>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E.CL S.A.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73,3%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Levantamiento técnico y seguimiento comercial.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92035308"/>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POSTA RURAL CALETA PAPOSO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programada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37198136"/>
                  </a:ext>
                </a:extLst>
              </a:tr>
              <a:tr h="134356">
                <a:tc>
                  <a:txBody>
                    <a:bodyPr/>
                    <a:lstStyle/>
                    <a:p>
                      <a:pPr algn="l" fontAlgn="ctr">
                        <a:buNone/>
                      </a:pPr>
                      <a:r>
                        <a:rPr lang="es-CL" sz="800" b="0" i="0" u="none" strike="noStrike">
                          <a:solidFill>
                            <a:schemeClr val="accent2"/>
                          </a:solidFill>
                          <a:effectLst/>
                          <a:latin typeface="Calibri" panose="020F0502020204030204" pitchFamily="34" charset="0"/>
                        </a:rPr>
                        <a:t>CENTRO CLINICO BIOIMAGEN DENTAL Y CIA LTDA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63,5%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Servicio preventivo y soporte técnico.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65726022"/>
                  </a:ext>
                </a:extLst>
              </a:tr>
              <a:tr h="13435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89,9%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56,9%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98,5%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46,2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23,0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452502360"/>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71" name="Google Shape;571;p48"/>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72" name="Google Shape;572;p48"/>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Ñuble</a:t>
            </a:r>
            <a:endParaRPr/>
          </a:p>
        </p:txBody>
      </p:sp>
      <p:graphicFrame>
        <p:nvGraphicFramePr>
          <p:cNvPr id="4" name="Tabla 3">
            <a:extLst>
              <a:ext uri="{FF2B5EF4-FFF2-40B4-BE49-F238E27FC236}">
                <a16:creationId xmlns:a16="http://schemas.microsoft.com/office/drawing/2014/main" id="{03C4ED3A-0984-9E66-0985-699052E54AB7}"/>
              </a:ext>
            </a:extLst>
          </p:cNvPr>
          <p:cNvGraphicFramePr>
            <a:graphicFrameLocks noGrp="1"/>
          </p:cNvGraphicFramePr>
          <p:nvPr>
            <p:extLst>
              <p:ext uri="{D42A27DB-BD31-4B8C-83A1-F6EECF244321}">
                <p14:modId xmlns:p14="http://schemas.microsoft.com/office/powerpoint/2010/main" val="1575691112"/>
              </p:ext>
            </p:extLst>
          </p:nvPr>
        </p:nvGraphicFramePr>
        <p:xfrm>
          <a:off x="476250" y="1428436"/>
          <a:ext cx="10515599" cy="3095035"/>
        </p:xfrm>
        <a:graphic>
          <a:graphicData uri="http://schemas.openxmlformats.org/drawingml/2006/table">
            <a:tbl>
              <a:tblPr/>
              <a:tblGrid>
                <a:gridCol w="2263792">
                  <a:extLst>
                    <a:ext uri="{9D8B030D-6E8A-4147-A177-3AD203B41FA5}">
                      <a16:colId xmlns:a16="http://schemas.microsoft.com/office/drawing/2014/main" val="3430187272"/>
                    </a:ext>
                  </a:extLst>
                </a:gridCol>
                <a:gridCol w="594725">
                  <a:extLst>
                    <a:ext uri="{9D8B030D-6E8A-4147-A177-3AD203B41FA5}">
                      <a16:colId xmlns:a16="http://schemas.microsoft.com/office/drawing/2014/main" val="1044766397"/>
                    </a:ext>
                  </a:extLst>
                </a:gridCol>
                <a:gridCol w="597123">
                  <a:extLst>
                    <a:ext uri="{9D8B030D-6E8A-4147-A177-3AD203B41FA5}">
                      <a16:colId xmlns:a16="http://schemas.microsoft.com/office/drawing/2014/main" val="738969346"/>
                    </a:ext>
                  </a:extLst>
                </a:gridCol>
                <a:gridCol w="594725">
                  <a:extLst>
                    <a:ext uri="{9D8B030D-6E8A-4147-A177-3AD203B41FA5}">
                      <a16:colId xmlns:a16="http://schemas.microsoft.com/office/drawing/2014/main" val="3984064383"/>
                    </a:ext>
                  </a:extLst>
                </a:gridCol>
                <a:gridCol w="597123">
                  <a:extLst>
                    <a:ext uri="{9D8B030D-6E8A-4147-A177-3AD203B41FA5}">
                      <a16:colId xmlns:a16="http://schemas.microsoft.com/office/drawing/2014/main" val="3145917264"/>
                    </a:ext>
                  </a:extLst>
                </a:gridCol>
                <a:gridCol w="700240">
                  <a:extLst>
                    <a:ext uri="{9D8B030D-6E8A-4147-A177-3AD203B41FA5}">
                      <a16:colId xmlns:a16="http://schemas.microsoft.com/office/drawing/2014/main" val="3530027917"/>
                    </a:ext>
                  </a:extLst>
                </a:gridCol>
                <a:gridCol w="697842">
                  <a:extLst>
                    <a:ext uri="{9D8B030D-6E8A-4147-A177-3AD203B41FA5}">
                      <a16:colId xmlns:a16="http://schemas.microsoft.com/office/drawing/2014/main" val="356107017"/>
                    </a:ext>
                  </a:extLst>
                </a:gridCol>
                <a:gridCol w="1055157">
                  <a:extLst>
                    <a:ext uri="{9D8B030D-6E8A-4147-A177-3AD203B41FA5}">
                      <a16:colId xmlns:a16="http://schemas.microsoft.com/office/drawing/2014/main" val="3527424686"/>
                    </a:ext>
                  </a:extLst>
                </a:gridCol>
                <a:gridCol w="1055157">
                  <a:extLst>
                    <a:ext uri="{9D8B030D-6E8A-4147-A177-3AD203B41FA5}">
                      <a16:colId xmlns:a16="http://schemas.microsoft.com/office/drawing/2014/main" val="1254778409"/>
                    </a:ext>
                  </a:extLst>
                </a:gridCol>
                <a:gridCol w="2359715">
                  <a:extLst>
                    <a:ext uri="{9D8B030D-6E8A-4147-A177-3AD203B41FA5}">
                      <a16:colId xmlns:a16="http://schemas.microsoft.com/office/drawing/2014/main" val="275367435"/>
                    </a:ext>
                  </a:extLst>
                </a:gridCol>
              </a:tblGrid>
              <a:tr h="199400">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895400681"/>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604755345"/>
                  </a:ext>
                </a:extLst>
              </a:tr>
              <a:tr h="357134">
                <a:tc>
                  <a:txBody>
                    <a:bodyPr/>
                    <a:lstStyle/>
                    <a:p>
                      <a:pPr algn="l" fontAlgn="ctr">
                        <a:buNone/>
                      </a:pPr>
                      <a:r>
                        <a:rPr lang="es-CL" sz="800" b="0" i="0" u="none" strike="noStrike" dirty="0">
                          <a:solidFill>
                            <a:schemeClr val="accent2"/>
                          </a:solidFill>
                          <a:effectLst/>
                          <a:latin typeface="Calibri" panose="020F0502020204030204" pitchFamily="34" charset="0"/>
                        </a:rPr>
                        <a:t>CLINICA ANDES SALUD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de base instalada, propuesta de mantenimiento preventivo anual y presentación de indicadores de continuidad operacional.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9488602"/>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CLINICO HERMINDA MARTIN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56,2%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institucional, identificación de equipos sin cobertura y propuesta de contrato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8781855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COBQUECURA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preventivas regionales y programa anual de mantención.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665588280"/>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seguimiento de necesidades de renovación.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812995085"/>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PORTEZUELO ÑUBLE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60,7%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visitas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6701547"/>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ULTRAESTACION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Integración a rutas técnicas regionales y programa de inspección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85465429"/>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EL CARMEN DE CHILLAN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75,7%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base instalada y propuesta de cobertura institucional.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66410278"/>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JUNAEB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capacitación de usuarios y preparación para futuras renovaciones.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03617668"/>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ÑUBLE SAN NICOLAS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2330022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CHILLAN VIEJO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77760255"/>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48,5%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49,1%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35,3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17,7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645298756"/>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79" name="Google Shape;579;p4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0" name="Google Shape;580;p4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Magallanes</a:t>
            </a:r>
            <a:endParaRPr/>
          </a:p>
        </p:txBody>
      </p:sp>
      <p:graphicFrame>
        <p:nvGraphicFramePr>
          <p:cNvPr id="2" name="Tabla 1">
            <a:extLst>
              <a:ext uri="{FF2B5EF4-FFF2-40B4-BE49-F238E27FC236}">
                <a16:creationId xmlns:a16="http://schemas.microsoft.com/office/drawing/2014/main" id="{DCD5F107-DD79-41A3-596E-35D2E9CC4B73}"/>
              </a:ext>
            </a:extLst>
          </p:cNvPr>
          <p:cNvGraphicFramePr>
            <a:graphicFrameLocks noGrp="1"/>
          </p:cNvGraphicFramePr>
          <p:nvPr>
            <p:extLst>
              <p:ext uri="{D42A27DB-BD31-4B8C-83A1-F6EECF244321}">
                <p14:modId xmlns:p14="http://schemas.microsoft.com/office/powerpoint/2010/main" val="3331705424"/>
              </p:ext>
            </p:extLst>
          </p:nvPr>
        </p:nvGraphicFramePr>
        <p:xfrm>
          <a:off x="323850" y="1318080"/>
          <a:ext cx="10515599" cy="2543773"/>
        </p:xfrm>
        <a:graphic>
          <a:graphicData uri="http://schemas.openxmlformats.org/drawingml/2006/table">
            <a:tbl>
              <a:tblPr/>
              <a:tblGrid>
                <a:gridCol w="2263792">
                  <a:extLst>
                    <a:ext uri="{9D8B030D-6E8A-4147-A177-3AD203B41FA5}">
                      <a16:colId xmlns:a16="http://schemas.microsoft.com/office/drawing/2014/main" val="4030419861"/>
                    </a:ext>
                  </a:extLst>
                </a:gridCol>
                <a:gridCol w="594725">
                  <a:extLst>
                    <a:ext uri="{9D8B030D-6E8A-4147-A177-3AD203B41FA5}">
                      <a16:colId xmlns:a16="http://schemas.microsoft.com/office/drawing/2014/main" val="941585729"/>
                    </a:ext>
                  </a:extLst>
                </a:gridCol>
                <a:gridCol w="597123">
                  <a:extLst>
                    <a:ext uri="{9D8B030D-6E8A-4147-A177-3AD203B41FA5}">
                      <a16:colId xmlns:a16="http://schemas.microsoft.com/office/drawing/2014/main" val="339634820"/>
                    </a:ext>
                  </a:extLst>
                </a:gridCol>
                <a:gridCol w="594725">
                  <a:extLst>
                    <a:ext uri="{9D8B030D-6E8A-4147-A177-3AD203B41FA5}">
                      <a16:colId xmlns:a16="http://schemas.microsoft.com/office/drawing/2014/main" val="3699224793"/>
                    </a:ext>
                  </a:extLst>
                </a:gridCol>
                <a:gridCol w="597123">
                  <a:extLst>
                    <a:ext uri="{9D8B030D-6E8A-4147-A177-3AD203B41FA5}">
                      <a16:colId xmlns:a16="http://schemas.microsoft.com/office/drawing/2014/main" val="3207084613"/>
                    </a:ext>
                  </a:extLst>
                </a:gridCol>
                <a:gridCol w="700240">
                  <a:extLst>
                    <a:ext uri="{9D8B030D-6E8A-4147-A177-3AD203B41FA5}">
                      <a16:colId xmlns:a16="http://schemas.microsoft.com/office/drawing/2014/main" val="720940389"/>
                    </a:ext>
                  </a:extLst>
                </a:gridCol>
                <a:gridCol w="697842">
                  <a:extLst>
                    <a:ext uri="{9D8B030D-6E8A-4147-A177-3AD203B41FA5}">
                      <a16:colId xmlns:a16="http://schemas.microsoft.com/office/drawing/2014/main" val="334068349"/>
                    </a:ext>
                  </a:extLst>
                </a:gridCol>
                <a:gridCol w="1055157">
                  <a:extLst>
                    <a:ext uri="{9D8B030D-6E8A-4147-A177-3AD203B41FA5}">
                      <a16:colId xmlns:a16="http://schemas.microsoft.com/office/drawing/2014/main" val="3904029512"/>
                    </a:ext>
                  </a:extLst>
                </a:gridCol>
                <a:gridCol w="1055157">
                  <a:extLst>
                    <a:ext uri="{9D8B030D-6E8A-4147-A177-3AD203B41FA5}">
                      <a16:colId xmlns:a16="http://schemas.microsoft.com/office/drawing/2014/main" val="2409117679"/>
                    </a:ext>
                  </a:extLst>
                </a:gridCol>
                <a:gridCol w="2359715">
                  <a:extLst>
                    <a:ext uri="{9D8B030D-6E8A-4147-A177-3AD203B41FA5}">
                      <a16:colId xmlns:a16="http://schemas.microsoft.com/office/drawing/2014/main" val="2406755295"/>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34833503"/>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451425375"/>
                  </a:ext>
                </a:extLst>
              </a:tr>
              <a:tr h="148806">
                <a:tc>
                  <a:txBody>
                    <a:bodyPr/>
                    <a:lstStyle/>
                    <a:p>
                      <a:pPr algn="l" fontAlgn="ctr">
                        <a:buNone/>
                      </a:pPr>
                      <a:r>
                        <a:rPr lang="es-CL" sz="800" b="0" i="0" u="none" strike="noStrike" dirty="0">
                          <a:solidFill>
                            <a:schemeClr val="accent2"/>
                          </a:solidFill>
                          <a:effectLst/>
                          <a:latin typeface="Calibri" panose="020F0502020204030204" pitchFamily="34" charset="0"/>
                        </a:rPr>
                        <a:t>CESFAM THOMAS FENTON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163,5%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139,0%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soporte remoto prioritario.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30067166"/>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SOCIEDAD CMA-COSTANERA S.A.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92,7%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34732556"/>
                  </a:ext>
                </a:extLst>
              </a:tr>
              <a:tr h="148806">
                <a:tc>
                  <a:txBody>
                    <a:bodyPr/>
                    <a:lstStyle/>
                    <a:p>
                      <a:pPr algn="l" fontAlgn="ctr">
                        <a:buNone/>
                      </a:pPr>
                      <a:r>
                        <a:rPr lang="es-CL" sz="800" b="0" i="0" u="none" strike="noStrike" dirty="0">
                          <a:solidFill>
                            <a:schemeClr val="accent2"/>
                          </a:solidFill>
                          <a:effectLst/>
                          <a:latin typeface="Calibri" panose="020F0502020204030204" pitchFamily="34" charset="0"/>
                        </a:rPr>
                        <a:t>SERVICIOS ODONTOLOGICOS AMAR SPA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69,3%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comercial.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941109109"/>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CLINICO DE MAGALLANES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Contrato institucional de mantenimiento y continuidad operacional.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9402517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HOSPITAL  PUERTO WILLIAMS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100,5%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anual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54086698"/>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PUERTO NATALES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114,4%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114,4%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periódico y evaluación de renovación.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88769369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HOSPITAL DE PORVENIR</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mediante visitas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20795872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SERVICIO SALUD MAGALLANES, HOSPITAL DE PUNTA ARENA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regional para soporte técnico y renovación tecnológica futura.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99399627"/>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MAGALLANES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técnica y propuesta anual de soporte.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41931321"/>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CENTROS MEDICO IMET</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de disponibilidad operacional y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13748700"/>
                  </a:ext>
                </a:extLst>
              </a:tr>
              <a:tr h="148806">
                <a:tc>
                  <a:txBody>
                    <a:bodyPr/>
                    <a:lstStyle/>
                    <a:p>
                      <a:pPr algn="l" fontAlgn="ctr">
                        <a:buNone/>
                      </a:pPr>
                      <a:r>
                        <a:rPr lang="es-CL" sz="800" b="1" i="0" u="none" strike="noStrike" dirty="0">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88,1%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19,9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4078850515"/>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5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87" name="Google Shape;587;p5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8" name="Google Shape;588;p5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Tarapacá</a:t>
            </a:r>
            <a:endParaRPr/>
          </a:p>
        </p:txBody>
      </p:sp>
      <p:graphicFrame>
        <p:nvGraphicFramePr>
          <p:cNvPr id="2" name="Tabla 1">
            <a:extLst>
              <a:ext uri="{FF2B5EF4-FFF2-40B4-BE49-F238E27FC236}">
                <a16:creationId xmlns:a16="http://schemas.microsoft.com/office/drawing/2014/main" id="{EDB6F010-B599-FF21-6265-23C2FF1B7A28}"/>
              </a:ext>
            </a:extLst>
          </p:cNvPr>
          <p:cNvGraphicFramePr>
            <a:graphicFrameLocks noGrp="1"/>
          </p:cNvGraphicFramePr>
          <p:nvPr>
            <p:extLst>
              <p:ext uri="{D42A27DB-BD31-4B8C-83A1-F6EECF244321}">
                <p14:modId xmlns:p14="http://schemas.microsoft.com/office/powerpoint/2010/main" val="865722124"/>
              </p:ext>
            </p:extLst>
          </p:nvPr>
        </p:nvGraphicFramePr>
        <p:xfrm>
          <a:off x="323850" y="1308749"/>
          <a:ext cx="10515599" cy="2543773"/>
        </p:xfrm>
        <a:graphic>
          <a:graphicData uri="http://schemas.openxmlformats.org/drawingml/2006/table">
            <a:tbl>
              <a:tblPr/>
              <a:tblGrid>
                <a:gridCol w="2263792">
                  <a:extLst>
                    <a:ext uri="{9D8B030D-6E8A-4147-A177-3AD203B41FA5}">
                      <a16:colId xmlns:a16="http://schemas.microsoft.com/office/drawing/2014/main" val="3441848844"/>
                    </a:ext>
                  </a:extLst>
                </a:gridCol>
                <a:gridCol w="594725">
                  <a:extLst>
                    <a:ext uri="{9D8B030D-6E8A-4147-A177-3AD203B41FA5}">
                      <a16:colId xmlns:a16="http://schemas.microsoft.com/office/drawing/2014/main" val="1226010762"/>
                    </a:ext>
                  </a:extLst>
                </a:gridCol>
                <a:gridCol w="597123">
                  <a:extLst>
                    <a:ext uri="{9D8B030D-6E8A-4147-A177-3AD203B41FA5}">
                      <a16:colId xmlns:a16="http://schemas.microsoft.com/office/drawing/2014/main" val="1269131149"/>
                    </a:ext>
                  </a:extLst>
                </a:gridCol>
                <a:gridCol w="594725">
                  <a:extLst>
                    <a:ext uri="{9D8B030D-6E8A-4147-A177-3AD203B41FA5}">
                      <a16:colId xmlns:a16="http://schemas.microsoft.com/office/drawing/2014/main" val="1228548099"/>
                    </a:ext>
                  </a:extLst>
                </a:gridCol>
                <a:gridCol w="597123">
                  <a:extLst>
                    <a:ext uri="{9D8B030D-6E8A-4147-A177-3AD203B41FA5}">
                      <a16:colId xmlns:a16="http://schemas.microsoft.com/office/drawing/2014/main" val="1180520315"/>
                    </a:ext>
                  </a:extLst>
                </a:gridCol>
                <a:gridCol w="700240">
                  <a:extLst>
                    <a:ext uri="{9D8B030D-6E8A-4147-A177-3AD203B41FA5}">
                      <a16:colId xmlns:a16="http://schemas.microsoft.com/office/drawing/2014/main" val="3001520902"/>
                    </a:ext>
                  </a:extLst>
                </a:gridCol>
                <a:gridCol w="697842">
                  <a:extLst>
                    <a:ext uri="{9D8B030D-6E8A-4147-A177-3AD203B41FA5}">
                      <a16:colId xmlns:a16="http://schemas.microsoft.com/office/drawing/2014/main" val="3018181497"/>
                    </a:ext>
                  </a:extLst>
                </a:gridCol>
                <a:gridCol w="1055157">
                  <a:extLst>
                    <a:ext uri="{9D8B030D-6E8A-4147-A177-3AD203B41FA5}">
                      <a16:colId xmlns:a16="http://schemas.microsoft.com/office/drawing/2014/main" val="2655266897"/>
                    </a:ext>
                  </a:extLst>
                </a:gridCol>
                <a:gridCol w="1055157">
                  <a:extLst>
                    <a:ext uri="{9D8B030D-6E8A-4147-A177-3AD203B41FA5}">
                      <a16:colId xmlns:a16="http://schemas.microsoft.com/office/drawing/2014/main" val="1698330111"/>
                    </a:ext>
                  </a:extLst>
                </a:gridCol>
                <a:gridCol w="2359715">
                  <a:extLst>
                    <a:ext uri="{9D8B030D-6E8A-4147-A177-3AD203B41FA5}">
                      <a16:colId xmlns:a16="http://schemas.microsoft.com/office/drawing/2014/main" val="1291896348"/>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280517247"/>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100418635"/>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DE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completo de activos, propuesta institucional de mantenimiento y análisis de criticidad.</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04703303"/>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DOCTOR ERNESTO TORRES GALDAMES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57,5%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 y evaluación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69453491"/>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CESFAM PICA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 durante rondas zonales.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2431298"/>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PACHICA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06923637"/>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SERVICIO SALUD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84,0%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regional y soporte para futuros proyectos.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517914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SERVICLINICA IQUIQUE INMOBILIARIA S.A.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de contrato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208674531"/>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PEDRO PULGAR DE ALTO HOSPICIO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de activos.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778678535"/>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POSTA HUARA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134,1%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Cobertura preventiva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9547773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FACHS IQUIQUE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y planificación anual de servicios.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8743210"/>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DR. PEDRO PULGAR MELGAREJO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175,0%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175,0%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Programa preventivo y seguimiento de activos.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726951354"/>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89,2%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37,4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18,6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2368709775"/>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95" name="Google Shape;595;p5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96" name="Google Shape;596;p5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Los Ríos</a:t>
            </a:r>
            <a:endParaRPr/>
          </a:p>
        </p:txBody>
      </p:sp>
      <p:graphicFrame>
        <p:nvGraphicFramePr>
          <p:cNvPr id="2" name="Tabla 1">
            <a:extLst>
              <a:ext uri="{FF2B5EF4-FFF2-40B4-BE49-F238E27FC236}">
                <a16:creationId xmlns:a16="http://schemas.microsoft.com/office/drawing/2014/main" id="{A8483040-33A1-89BB-8D0E-32ADB0080E1D}"/>
              </a:ext>
            </a:extLst>
          </p:cNvPr>
          <p:cNvGraphicFramePr>
            <a:graphicFrameLocks noGrp="1"/>
          </p:cNvGraphicFramePr>
          <p:nvPr>
            <p:extLst>
              <p:ext uri="{D42A27DB-BD31-4B8C-83A1-F6EECF244321}">
                <p14:modId xmlns:p14="http://schemas.microsoft.com/office/powerpoint/2010/main" val="3361117720"/>
              </p:ext>
            </p:extLst>
          </p:nvPr>
        </p:nvGraphicFramePr>
        <p:xfrm>
          <a:off x="323850" y="1299602"/>
          <a:ext cx="10515599" cy="2599915"/>
        </p:xfrm>
        <a:graphic>
          <a:graphicData uri="http://schemas.openxmlformats.org/drawingml/2006/table">
            <a:tbl>
              <a:tblPr/>
              <a:tblGrid>
                <a:gridCol w="2263792">
                  <a:extLst>
                    <a:ext uri="{9D8B030D-6E8A-4147-A177-3AD203B41FA5}">
                      <a16:colId xmlns:a16="http://schemas.microsoft.com/office/drawing/2014/main" val="2820101251"/>
                    </a:ext>
                  </a:extLst>
                </a:gridCol>
                <a:gridCol w="594725">
                  <a:extLst>
                    <a:ext uri="{9D8B030D-6E8A-4147-A177-3AD203B41FA5}">
                      <a16:colId xmlns:a16="http://schemas.microsoft.com/office/drawing/2014/main" val="491253071"/>
                    </a:ext>
                  </a:extLst>
                </a:gridCol>
                <a:gridCol w="597123">
                  <a:extLst>
                    <a:ext uri="{9D8B030D-6E8A-4147-A177-3AD203B41FA5}">
                      <a16:colId xmlns:a16="http://schemas.microsoft.com/office/drawing/2014/main" val="3173380450"/>
                    </a:ext>
                  </a:extLst>
                </a:gridCol>
                <a:gridCol w="594725">
                  <a:extLst>
                    <a:ext uri="{9D8B030D-6E8A-4147-A177-3AD203B41FA5}">
                      <a16:colId xmlns:a16="http://schemas.microsoft.com/office/drawing/2014/main" val="3797686792"/>
                    </a:ext>
                  </a:extLst>
                </a:gridCol>
                <a:gridCol w="597123">
                  <a:extLst>
                    <a:ext uri="{9D8B030D-6E8A-4147-A177-3AD203B41FA5}">
                      <a16:colId xmlns:a16="http://schemas.microsoft.com/office/drawing/2014/main" val="2832477432"/>
                    </a:ext>
                  </a:extLst>
                </a:gridCol>
                <a:gridCol w="700240">
                  <a:extLst>
                    <a:ext uri="{9D8B030D-6E8A-4147-A177-3AD203B41FA5}">
                      <a16:colId xmlns:a16="http://schemas.microsoft.com/office/drawing/2014/main" val="3907585856"/>
                    </a:ext>
                  </a:extLst>
                </a:gridCol>
                <a:gridCol w="697842">
                  <a:extLst>
                    <a:ext uri="{9D8B030D-6E8A-4147-A177-3AD203B41FA5}">
                      <a16:colId xmlns:a16="http://schemas.microsoft.com/office/drawing/2014/main" val="851550535"/>
                    </a:ext>
                  </a:extLst>
                </a:gridCol>
                <a:gridCol w="1055157">
                  <a:extLst>
                    <a:ext uri="{9D8B030D-6E8A-4147-A177-3AD203B41FA5}">
                      <a16:colId xmlns:a16="http://schemas.microsoft.com/office/drawing/2014/main" val="1918643782"/>
                    </a:ext>
                  </a:extLst>
                </a:gridCol>
                <a:gridCol w="1055157">
                  <a:extLst>
                    <a:ext uri="{9D8B030D-6E8A-4147-A177-3AD203B41FA5}">
                      <a16:colId xmlns:a16="http://schemas.microsoft.com/office/drawing/2014/main" val="1225611388"/>
                    </a:ext>
                  </a:extLst>
                </a:gridCol>
                <a:gridCol w="2359715">
                  <a:extLst>
                    <a:ext uri="{9D8B030D-6E8A-4147-A177-3AD203B41FA5}">
                      <a16:colId xmlns:a16="http://schemas.microsoft.com/office/drawing/2014/main" val="35765935"/>
                    </a:ext>
                  </a:extLst>
                </a:gridCol>
              </a:tblGrid>
              <a:tr h="199400">
                <a:tc rowSpan="2">
                  <a:txBody>
                    <a:bodyPr/>
                    <a:lstStyle/>
                    <a:p>
                      <a:pPr algn="ctr" fontAlgn="ctr">
                        <a:buNone/>
                      </a:pPr>
                      <a:r>
                        <a:rPr lang="es-CL" sz="800" b="1" i="0" u="none" strike="noStrike" dirty="0">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796172640"/>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251249633"/>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DE LANCO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96,9%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94,8%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95,7%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técnica de activos y propuesta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1054881"/>
                  </a:ext>
                </a:extLst>
              </a:tr>
              <a:tr h="238089">
                <a:tc>
                  <a:txBody>
                    <a:bodyPr/>
                    <a:lstStyle/>
                    <a:p>
                      <a:pPr algn="l" fontAlgn="ctr">
                        <a:buNone/>
                      </a:pPr>
                      <a:r>
                        <a:rPr lang="es-CL" sz="800" b="0" i="0" u="none" strike="noStrike" dirty="0">
                          <a:solidFill>
                            <a:schemeClr val="accent2"/>
                          </a:solidFill>
                          <a:effectLst/>
                          <a:latin typeface="Calibri" panose="020F0502020204030204" pitchFamily="34" charset="0"/>
                        </a:rPr>
                        <a:t>HOSPITAL BASE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Cuenta estratégica regional, propuesta integral de mantenimiento y plan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2818775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COSTANERA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26,7%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340684854"/>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I.MUNICIPALIDAD DE LA UNION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115,6%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72,9%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107,9%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para soporte de equipamiento y servicios asociados.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22623695"/>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HOSPITAL DE LA UNION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128,3%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fortalecimiento de relación institucional.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71866989"/>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SOCIEDAD DE SERVICIOS MEDICOS Y ODONTOLOGICOS MERI</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y soporte programado.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76452572"/>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CLINICA ALEMANA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Auditoría preventiva y propuesta de cobertura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743300512"/>
                  </a:ext>
                </a:extLst>
              </a:tr>
              <a:tr h="238089">
                <a:tc>
                  <a:txBody>
                    <a:bodyPr/>
                    <a:lstStyle/>
                    <a:p>
                      <a:pPr algn="l" fontAlgn="ctr">
                        <a:buNone/>
                      </a:pPr>
                      <a:r>
                        <a:rPr lang="es-CL" sz="800" b="0" i="0" u="none" strike="noStrike">
                          <a:solidFill>
                            <a:schemeClr val="accent2"/>
                          </a:solidFill>
                          <a:effectLst/>
                          <a:latin typeface="Calibri" panose="020F0502020204030204" pitchFamily="34" charset="0"/>
                        </a:rPr>
                        <a:t>UNIVERSIDAD AUSTRAL DE VALDIVIA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Convenio institucional, soporte para laboratorios y cobertura preventiva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66342004"/>
                  </a:ext>
                </a:extLst>
              </a:tr>
              <a:tr h="148806">
                <a:tc>
                  <a:txBody>
                    <a:bodyPr/>
                    <a:lstStyle/>
                    <a:p>
                      <a:pPr algn="l" fontAlgn="ctr">
                        <a:buNone/>
                      </a:pPr>
                      <a:r>
                        <a:rPr lang="es-CL" sz="800" b="0" i="0" u="none" strike="noStrike">
                          <a:solidFill>
                            <a:schemeClr val="accent2"/>
                          </a:solidFill>
                          <a:effectLst/>
                          <a:latin typeface="Calibri" panose="020F0502020204030204" pitchFamily="34" charset="0"/>
                        </a:rPr>
                        <a:t>CESFAM FUTRONO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161,5%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800" b="0" i="0" u="none" strike="noStrike" dirty="0">
                          <a:solidFill>
                            <a:schemeClr val="accent2"/>
                          </a:solidFill>
                          <a:effectLst/>
                          <a:latin typeface="Calibri" panose="020F0502020204030204" pitchFamily="34" charset="0"/>
                        </a:rPr>
                        <a:t>Integración a rutas regionales programadas.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774807896"/>
                  </a:ext>
                </a:extLst>
              </a:tr>
              <a:tr h="148806">
                <a:tc>
                  <a:txBody>
                    <a:bodyPr/>
                    <a:lstStyle/>
                    <a:p>
                      <a:pPr algn="l" fontAlgn="ctr">
                        <a:buNone/>
                      </a:pPr>
                      <a:r>
                        <a:rPr lang="es-CL" sz="800" b="1" i="0" u="none" strike="noStrike">
                          <a:solidFill>
                            <a:srgbClr val="FFFFFF"/>
                          </a:solidFill>
                          <a:effectLst/>
                          <a:latin typeface="Calibri" panose="020F0502020204030204" pitchFamily="34" charset="0"/>
                        </a:rPr>
                        <a:t>TOTAL · 9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123,2%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101,5%</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26,4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849189824"/>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03" name="Google Shape;603;p5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04" name="Google Shape;604;p5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Arica y Parinacota</a:t>
            </a:r>
            <a:endParaRPr/>
          </a:p>
        </p:txBody>
      </p:sp>
      <p:graphicFrame>
        <p:nvGraphicFramePr>
          <p:cNvPr id="2" name="Tabla 1">
            <a:extLst>
              <a:ext uri="{FF2B5EF4-FFF2-40B4-BE49-F238E27FC236}">
                <a16:creationId xmlns:a16="http://schemas.microsoft.com/office/drawing/2014/main" id="{99BA2EC5-1EBA-470A-0BCB-97A78F52A8E5}"/>
              </a:ext>
            </a:extLst>
          </p:cNvPr>
          <p:cNvGraphicFramePr>
            <a:graphicFrameLocks noGrp="1"/>
          </p:cNvGraphicFramePr>
          <p:nvPr>
            <p:extLst>
              <p:ext uri="{D42A27DB-BD31-4B8C-83A1-F6EECF244321}">
                <p14:modId xmlns:p14="http://schemas.microsoft.com/office/powerpoint/2010/main" val="2010619502"/>
              </p:ext>
            </p:extLst>
          </p:nvPr>
        </p:nvGraphicFramePr>
        <p:xfrm>
          <a:off x="323850" y="1297178"/>
          <a:ext cx="10515599" cy="1948549"/>
        </p:xfrm>
        <a:graphic>
          <a:graphicData uri="http://schemas.openxmlformats.org/drawingml/2006/table">
            <a:tbl>
              <a:tblPr/>
              <a:tblGrid>
                <a:gridCol w="2263792">
                  <a:extLst>
                    <a:ext uri="{9D8B030D-6E8A-4147-A177-3AD203B41FA5}">
                      <a16:colId xmlns:a16="http://schemas.microsoft.com/office/drawing/2014/main" val="422538422"/>
                    </a:ext>
                  </a:extLst>
                </a:gridCol>
                <a:gridCol w="594725">
                  <a:extLst>
                    <a:ext uri="{9D8B030D-6E8A-4147-A177-3AD203B41FA5}">
                      <a16:colId xmlns:a16="http://schemas.microsoft.com/office/drawing/2014/main" val="8497601"/>
                    </a:ext>
                  </a:extLst>
                </a:gridCol>
                <a:gridCol w="597123">
                  <a:extLst>
                    <a:ext uri="{9D8B030D-6E8A-4147-A177-3AD203B41FA5}">
                      <a16:colId xmlns:a16="http://schemas.microsoft.com/office/drawing/2014/main" val="1840429145"/>
                    </a:ext>
                  </a:extLst>
                </a:gridCol>
                <a:gridCol w="594725">
                  <a:extLst>
                    <a:ext uri="{9D8B030D-6E8A-4147-A177-3AD203B41FA5}">
                      <a16:colId xmlns:a16="http://schemas.microsoft.com/office/drawing/2014/main" val="455852777"/>
                    </a:ext>
                  </a:extLst>
                </a:gridCol>
                <a:gridCol w="597123">
                  <a:extLst>
                    <a:ext uri="{9D8B030D-6E8A-4147-A177-3AD203B41FA5}">
                      <a16:colId xmlns:a16="http://schemas.microsoft.com/office/drawing/2014/main" val="449927079"/>
                    </a:ext>
                  </a:extLst>
                </a:gridCol>
                <a:gridCol w="700240">
                  <a:extLst>
                    <a:ext uri="{9D8B030D-6E8A-4147-A177-3AD203B41FA5}">
                      <a16:colId xmlns:a16="http://schemas.microsoft.com/office/drawing/2014/main" val="1810792471"/>
                    </a:ext>
                  </a:extLst>
                </a:gridCol>
                <a:gridCol w="697842">
                  <a:extLst>
                    <a:ext uri="{9D8B030D-6E8A-4147-A177-3AD203B41FA5}">
                      <a16:colId xmlns:a16="http://schemas.microsoft.com/office/drawing/2014/main" val="2941640246"/>
                    </a:ext>
                  </a:extLst>
                </a:gridCol>
                <a:gridCol w="1055157">
                  <a:extLst>
                    <a:ext uri="{9D8B030D-6E8A-4147-A177-3AD203B41FA5}">
                      <a16:colId xmlns:a16="http://schemas.microsoft.com/office/drawing/2014/main" val="1126836219"/>
                    </a:ext>
                  </a:extLst>
                </a:gridCol>
                <a:gridCol w="1055157">
                  <a:extLst>
                    <a:ext uri="{9D8B030D-6E8A-4147-A177-3AD203B41FA5}">
                      <a16:colId xmlns:a16="http://schemas.microsoft.com/office/drawing/2014/main" val="3075327234"/>
                    </a:ext>
                  </a:extLst>
                </a:gridCol>
                <a:gridCol w="2359715">
                  <a:extLst>
                    <a:ext uri="{9D8B030D-6E8A-4147-A177-3AD203B41FA5}">
                      <a16:colId xmlns:a16="http://schemas.microsoft.com/office/drawing/2014/main" val="1700607171"/>
                    </a:ext>
                  </a:extLst>
                </a:gridCol>
              </a:tblGrid>
              <a:tr h="199400">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350163206"/>
                  </a:ext>
                </a:extLst>
              </a:tr>
              <a:tr h="297611">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440841576"/>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CENTRO CLINICO MILITAR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8,2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Convenio institucional y programa anual de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1873533108"/>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SOCIEDAD ARICA SALUD LTDA.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de equipos e identificación de oportunidades de contrato.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835105546"/>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ARICALAB SPA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78,3%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básico anual.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475071051"/>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POLICLINICO GENARMERIA DE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83,3%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83,3%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institucional de soporte técnico.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97444032"/>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GENDARMERIA DE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57,3%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57,3%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dirty="0">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Convenio institucional y planificación anual de mantenimiento.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311040315"/>
                  </a:ext>
                </a:extLst>
              </a:tr>
              <a:tr h="221720">
                <a:tc>
                  <a:txBody>
                    <a:bodyPr/>
                    <a:lstStyle/>
                    <a:p>
                      <a:pPr algn="l" fontAlgn="b">
                        <a:buNone/>
                      </a:pPr>
                      <a:r>
                        <a:rPr lang="es-CL" sz="800" b="0" i="0" u="none" strike="noStrike">
                          <a:solidFill>
                            <a:schemeClr val="accent2"/>
                          </a:solidFill>
                          <a:effectLst/>
                          <a:latin typeface="Calibri" panose="020F0502020204030204" pitchFamily="34" charset="0"/>
                        </a:rPr>
                        <a:t>REDSALUD ARICA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71,9%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Evaluación de base instalada y generación de propuesta preventiva.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692081457"/>
                  </a:ext>
                </a:extLst>
              </a:tr>
              <a:tr h="148806">
                <a:tc>
                  <a:txBody>
                    <a:bodyPr/>
                    <a:lstStyle/>
                    <a:p>
                      <a:pPr algn="l" fontAlgn="b">
                        <a:buNone/>
                      </a:pPr>
                      <a:r>
                        <a:rPr lang="es-CL" sz="800" b="1" i="0" u="none" strike="noStrike">
                          <a:solidFill>
                            <a:srgbClr val="FFFFFF"/>
                          </a:solidFill>
                          <a:effectLst/>
                          <a:latin typeface="Calibri" panose="020F0502020204030204" pitchFamily="34" charset="0"/>
                        </a:rPr>
                        <a:t>TOTAL · 6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70,8%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77,7%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16,1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800" b="1" i="0" u="none" strike="noStrike">
                          <a:solidFill>
                            <a:srgbClr val="FFFFFF"/>
                          </a:solidFill>
                          <a:effectLst/>
                          <a:latin typeface="Calibri" panose="020F0502020204030204" pitchFamily="34" charset="0"/>
                        </a:rPr>
                        <a:t>8,1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8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298029992"/>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11" name="Google Shape;611;p5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12" name="Google Shape;612;p5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Atacama</a:t>
            </a:r>
            <a:endParaRPr/>
          </a:p>
        </p:txBody>
      </p:sp>
      <p:graphicFrame>
        <p:nvGraphicFramePr>
          <p:cNvPr id="2" name="Tabla 1">
            <a:extLst>
              <a:ext uri="{FF2B5EF4-FFF2-40B4-BE49-F238E27FC236}">
                <a16:creationId xmlns:a16="http://schemas.microsoft.com/office/drawing/2014/main" id="{DE170ECF-9D56-9595-8A3E-3D19E2B9E65D}"/>
              </a:ext>
            </a:extLst>
          </p:cNvPr>
          <p:cNvGraphicFramePr>
            <a:graphicFrameLocks noGrp="1"/>
          </p:cNvGraphicFramePr>
          <p:nvPr>
            <p:extLst>
              <p:ext uri="{D42A27DB-BD31-4B8C-83A1-F6EECF244321}">
                <p14:modId xmlns:p14="http://schemas.microsoft.com/office/powerpoint/2010/main" val="3642189925"/>
              </p:ext>
            </p:extLst>
          </p:nvPr>
        </p:nvGraphicFramePr>
        <p:xfrm>
          <a:off x="323850" y="1412677"/>
          <a:ext cx="10515599" cy="1846075"/>
        </p:xfrm>
        <a:graphic>
          <a:graphicData uri="http://schemas.openxmlformats.org/drawingml/2006/table">
            <a:tbl>
              <a:tblPr/>
              <a:tblGrid>
                <a:gridCol w="2263792">
                  <a:extLst>
                    <a:ext uri="{9D8B030D-6E8A-4147-A177-3AD203B41FA5}">
                      <a16:colId xmlns:a16="http://schemas.microsoft.com/office/drawing/2014/main" val="3916290276"/>
                    </a:ext>
                  </a:extLst>
                </a:gridCol>
                <a:gridCol w="594725">
                  <a:extLst>
                    <a:ext uri="{9D8B030D-6E8A-4147-A177-3AD203B41FA5}">
                      <a16:colId xmlns:a16="http://schemas.microsoft.com/office/drawing/2014/main" val="1437198727"/>
                    </a:ext>
                  </a:extLst>
                </a:gridCol>
                <a:gridCol w="597123">
                  <a:extLst>
                    <a:ext uri="{9D8B030D-6E8A-4147-A177-3AD203B41FA5}">
                      <a16:colId xmlns:a16="http://schemas.microsoft.com/office/drawing/2014/main" val="2928435468"/>
                    </a:ext>
                  </a:extLst>
                </a:gridCol>
                <a:gridCol w="594725">
                  <a:extLst>
                    <a:ext uri="{9D8B030D-6E8A-4147-A177-3AD203B41FA5}">
                      <a16:colId xmlns:a16="http://schemas.microsoft.com/office/drawing/2014/main" val="1122068939"/>
                    </a:ext>
                  </a:extLst>
                </a:gridCol>
                <a:gridCol w="597123">
                  <a:extLst>
                    <a:ext uri="{9D8B030D-6E8A-4147-A177-3AD203B41FA5}">
                      <a16:colId xmlns:a16="http://schemas.microsoft.com/office/drawing/2014/main" val="1003033973"/>
                    </a:ext>
                  </a:extLst>
                </a:gridCol>
                <a:gridCol w="700240">
                  <a:extLst>
                    <a:ext uri="{9D8B030D-6E8A-4147-A177-3AD203B41FA5}">
                      <a16:colId xmlns:a16="http://schemas.microsoft.com/office/drawing/2014/main" val="1648238007"/>
                    </a:ext>
                  </a:extLst>
                </a:gridCol>
                <a:gridCol w="697842">
                  <a:extLst>
                    <a:ext uri="{9D8B030D-6E8A-4147-A177-3AD203B41FA5}">
                      <a16:colId xmlns:a16="http://schemas.microsoft.com/office/drawing/2014/main" val="591027855"/>
                    </a:ext>
                  </a:extLst>
                </a:gridCol>
                <a:gridCol w="1055157">
                  <a:extLst>
                    <a:ext uri="{9D8B030D-6E8A-4147-A177-3AD203B41FA5}">
                      <a16:colId xmlns:a16="http://schemas.microsoft.com/office/drawing/2014/main" val="2925456750"/>
                    </a:ext>
                  </a:extLst>
                </a:gridCol>
                <a:gridCol w="1055157">
                  <a:extLst>
                    <a:ext uri="{9D8B030D-6E8A-4147-A177-3AD203B41FA5}">
                      <a16:colId xmlns:a16="http://schemas.microsoft.com/office/drawing/2014/main" val="3897000090"/>
                    </a:ext>
                  </a:extLst>
                </a:gridCol>
                <a:gridCol w="2359715">
                  <a:extLst>
                    <a:ext uri="{9D8B030D-6E8A-4147-A177-3AD203B41FA5}">
                      <a16:colId xmlns:a16="http://schemas.microsoft.com/office/drawing/2014/main" val="3926348349"/>
                    </a:ext>
                  </a:extLst>
                </a:gridCol>
              </a:tblGrid>
              <a:tr h="199400">
                <a:tc rowSpan="2">
                  <a:txBody>
                    <a:bodyPr/>
                    <a:lstStyle/>
                    <a:p>
                      <a:pPr algn="ctr" fontAlgn="ctr">
                        <a:buNone/>
                      </a:pPr>
                      <a:r>
                        <a:rPr lang="es-CL" sz="700" b="1" i="0" u="none" strike="noStrike">
                          <a:solidFill>
                            <a:srgbClr val="FFFFFF"/>
                          </a:solidFill>
                          <a:effectLst/>
                          <a:latin typeface="Calibri" panose="020F0502020204030204" pitchFamily="34" charset="0"/>
                        </a:rPr>
                        <a:t>Cliente</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700" b="1" i="0" u="none" strike="noStrike">
                          <a:solidFill>
                            <a:srgbClr val="1A1A1A"/>
                          </a:solidFill>
                          <a:effectLst/>
                          <a:latin typeface="Calibri" panose="020F0502020204030204" pitchFamily="34" charset="0"/>
                        </a:rPr>
                        <a:t>Dental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700" b="1" i="0" u="none" strike="noStrike">
                          <a:solidFill>
                            <a:srgbClr val="FFFFFF"/>
                          </a:solidFill>
                          <a:effectLst/>
                          <a:latin typeface="Calibri" panose="020F0502020204030204" pitchFamily="34" charset="0"/>
                        </a:rPr>
                        <a:t>Esterilización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700" b="1" i="0" u="none" strike="noStrike">
                          <a:solidFill>
                            <a:srgbClr val="FFFFFF"/>
                          </a:solidFill>
                          <a:effectLst/>
                          <a:latin typeface="Calibri" panose="020F0502020204030204" pitchFamily="34" charset="0"/>
                        </a:rPr>
                        <a:t>Base Instalada Total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700" b="1" i="0" u="none" strike="noStrike">
                          <a:solidFill>
                            <a:srgbClr val="FFFFFF"/>
                          </a:solidFill>
                          <a:effectLst/>
                          <a:latin typeface="Calibri" panose="020F0502020204030204" pitchFamily="34" charset="0"/>
                        </a:rPr>
                        <a:t>Pot. Mantenimiento MM$</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Roboto" panose="02000000000000000000" pitchFamily="2" charset="0"/>
                        </a:rPr>
                        <a:t>Margen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a:solidFill>
                            <a:srgbClr val="FFFFFF"/>
                          </a:solidFill>
                          <a:effectLst/>
                          <a:latin typeface="Calibri" panose="020F0502020204030204" pitchFamily="34" charset="0"/>
                        </a:rPr>
                        <a:t>Plan de Acción</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2194801861"/>
                  </a:ext>
                </a:extLst>
              </a:tr>
              <a:tr h="297611">
                <a:tc vMerge="1">
                  <a:txBody>
                    <a:bodyPr/>
                    <a:lstStyle/>
                    <a:p>
                      <a:endParaRPr lang="es-CL"/>
                    </a:p>
                  </a:txBody>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341389207"/>
                  </a:ext>
                </a:extLst>
              </a:tr>
              <a:tr h="221720">
                <a:tc>
                  <a:txBody>
                    <a:bodyPr/>
                    <a:lstStyle/>
                    <a:p>
                      <a:pPr algn="l" fontAlgn="b">
                        <a:buNone/>
                      </a:pPr>
                      <a:r>
                        <a:rPr lang="es-CL" sz="800" b="0" i="0" u="none" strike="noStrike" dirty="0">
                          <a:solidFill>
                            <a:schemeClr val="accent2"/>
                          </a:solidFill>
                          <a:effectLst/>
                          <a:latin typeface="Calibri" panose="020F0502020204030204" pitchFamily="34" charset="0"/>
                        </a:rPr>
                        <a:t>CLINICA ATACAMA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Auditoría técnica, propuesta preventiva y evaluación de renovación tecnológica.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565266961"/>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CESFAM PEDRO LEON GALLO COPIAPO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104,2%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seguimiento técnico.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2319818823"/>
                  </a:ext>
                </a:extLst>
              </a:tr>
              <a:tr h="148806">
                <a:tc>
                  <a:txBody>
                    <a:bodyPr/>
                    <a:lstStyle/>
                    <a:p>
                      <a:pPr algn="l" fontAlgn="b">
                        <a:buNone/>
                      </a:pPr>
                      <a:r>
                        <a:rPr lang="es-CL" sz="800" b="0" i="0" u="none" strike="noStrike" dirty="0">
                          <a:solidFill>
                            <a:schemeClr val="accent2"/>
                          </a:solidFill>
                          <a:effectLst/>
                          <a:latin typeface="Calibri" panose="020F0502020204030204" pitchFamily="34" charset="0"/>
                        </a:rPr>
                        <a:t>HOSPITAL DE VALLENAR</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76,1%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Levantamiento institucional y propuesta anual de cobertura.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1617533554"/>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VARGAS ROJAS SOC.RESP. LTDA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70,0%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básico de mantenimiento preventivo.</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26358115"/>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HOSPITAL FLORENCIO VARGAS DIAZ</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65,8%</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b">
                        <a:buNone/>
                      </a:pPr>
                      <a:r>
                        <a:rPr lang="es-CL" sz="800" b="0" i="0" u="none" strike="noStrike">
                          <a:solidFill>
                            <a:schemeClr val="accent2"/>
                          </a:solidFill>
                          <a:effectLst/>
                          <a:latin typeface="Calibri" panose="020F0502020204030204" pitchFamily="34" charset="0"/>
                        </a:rPr>
                        <a:t>1,2</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dirty="0">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institucional y análisis de criticidad.</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3998735227"/>
                  </a:ext>
                </a:extLst>
              </a:tr>
              <a:tr h="148806">
                <a:tc>
                  <a:txBody>
                    <a:bodyPr/>
                    <a:lstStyle/>
                    <a:p>
                      <a:pPr algn="l" fontAlgn="b">
                        <a:buNone/>
                      </a:pPr>
                      <a:r>
                        <a:rPr lang="es-CL" sz="800" b="0" i="0" u="none" strike="noStrike">
                          <a:solidFill>
                            <a:schemeClr val="accent2"/>
                          </a:solidFill>
                          <a:effectLst/>
                          <a:latin typeface="Calibri" panose="020F0502020204030204" pitchFamily="34" charset="0"/>
                        </a:rPr>
                        <a:t>CESFAM FREIRINA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231,7%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programada.</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extLst>
                  <a:ext uri="{0D108BD9-81ED-4DB2-BD59-A6C34878D82A}">
                    <a16:rowId xmlns:a16="http://schemas.microsoft.com/office/drawing/2014/main" val="929640758"/>
                  </a:ext>
                </a:extLst>
              </a:tr>
              <a:tr h="148806">
                <a:tc>
                  <a:txBody>
                    <a:bodyPr/>
                    <a:lstStyle/>
                    <a:p>
                      <a:pPr algn="l" fontAlgn="b">
                        <a:buNone/>
                      </a:pPr>
                      <a:r>
                        <a:rPr lang="es-CL" sz="700" b="1" i="0" u="none" strike="noStrike">
                          <a:solidFill>
                            <a:srgbClr val="FFFFFF"/>
                          </a:solidFill>
                          <a:effectLst/>
                          <a:latin typeface="Calibri" panose="020F0502020204030204" pitchFamily="34" charset="0"/>
                        </a:rPr>
                        <a:t>TOTAL · 6 clientes</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121,1%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4</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76,3%</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7</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93,1%</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10,0</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700" b="1" i="0" u="none" strike="noStrike">
                          <a:solidFill>
                            <a:srgbClr val="FFFFFF"/>
                          </a:solidFill>
                          <a:effectLst/>
                          <a:latin typeface="Calibri" panose="020F0502020204030204" pitchFamily="34" charset="0"/>
                        </a:rPr>
                        <a:t>4,9</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700" b="1" i="0" u="none" strike="noStrike" dirty="0">
                          <a:solidFill>
                            <a:srgbClr val="FFFFFF"/>
                          </a:solidFill>
                          <a:effectLst/>
                          <a:latin typeface="Calibri" panose="020F0502020204030204" pitchFamily="34" charset="0"/>
                        </a:rPr>
                        <a:t> </a:t>
                      </a:r>
                    </a:p>
                  </a:txBody>
                  <a:tcPr marL="7440" marR="7440" marT="7440"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426452126"/>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19" name="Google Shape;619;p5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20" name="Google Shape;620;p5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Aysén</a:t>
            </a:r>
            <a:endParaRPr/>
          </a:p>
        </p:txBody>
      </p:sp>
      <p:graphicFrame>
        <p:nvGraphicFramePr>
          <p:cNvPr id="4" name="Tabla 3">
            <a:extLst>
              <a:ext uri="{FF2B5EF4-FFF2-40B4-BE49-F238E27FC236}">
                <a16:creationId xmlns:a16="http://schemas.microsoft.com/office/drawing/2014/main" id="{E316565C-4A78-7F68-2873-F51136F11703}"/>
              </a:ext>
            </a:extLst>
          </p:cNvPr>
          <p:cNvGraphicFramePr>
            <a:graphicFrameLocks noGrp="1"/>
          </p:cNvGraphicFramePr>
          <p:nvPr>
            <p:extLst>
              <p:ext uri="{D42A27DB-BD31-4B8C-83A1-F6EECF244321}">
                <p14:modId xmlns:p14="http://schemas.microsoft.com/office/powerpoint/2010/main" val="941366969"/>
              </p:ext>
            </p:extLst>
          </p:nvPr>
        </p:nvGraphicFramePr>
        <p:xfrm>
          <a:off x="330230" y="1390526"/>
          <a:ext cx="10515600" cy="2696053"/>
        </p:xfrm>
        <a:graphic>
          <a:graphicData uri="http://schemas.openxmlformats.org/drawingml/2006/table">
            <a:tbl>
              <a:tblPr/>
              <a:tblGrid>
                <a:gridCol w="2033331">
                  <a:extLst>
                    <a:ext uri="{9D8B030D-6E8A-4147-A177-3AD203B41FA5}">
                      <a16:colId xmlns:a16="http://schemas.microsoft.com/office/drawing/2014/main" val="3774879871"/>
                    </a:ext>
                  </a:extLst>
                </a:gridCol>
                <a:gridCol w="534181">
                  <a:extLst>
                    <a:ext uri="{9D8B030D-6E8A-4147-A177-3AD203B41FA5}">
                      <a16:colId xmlns:a16="http://schemas.microsoft.com/office/drawing/2014/main" val="2619755888"/>
                    </a:ext>
                  </a:extLst>
                </a:gridCol>
                <a:gridCol w="536334">
                  <a:extLst>
                    <a:ext uri="{9D8B030D-6E8A-4147-A177-3AD203B41FA5}">
                      <a16:colId xmlns:a16="http://schemas.microsoft.com/office/drawing/2014/main" val="3902245419"/>
                    </a:ext>
                  </a:extLst>
                </a:gridCol>
                <a:gridCol w="534181">
                  <a:extLst>
                    <a:ext uri="{9D8B030D-6E8A-4147-A177-3AD203B41FA5}">
                      <a16:colId xmlns:a16="http://schemas.microsoft.com/office/drawing/2014/main" val="3102648205"/>
                    </a:ext>
                  </a:extLst>
                </a:gridCol>
                <a:gridCol w="536334">
                  <a:extLst>
                    <a:ext uri="{9D8B030D-6E8A-4147-A177-3AD203B41FA5}">
                      <a16:colId xmlns:a16="http://schemas.microsoft.com/office/drawing/2014/main" val="4020945144"/>
                    </a:ext>
                  </a:extLst>
                </a:gridCol>
                <a:gridCol w="534181">
                  <a:extLst>
                    <a:ext uri="{9D8B030D-6E8A-4147-A177-3AD203B41FA5}">
                      <a16:colId xmlns:a16="http://schemas.microsoft.com/office/drawing/2014/main" val="2756601262"/>
                    </a:ext>
                  </a:extLst>
                </a:gridCol>
                <a:gridCol w="536334">
                  <a:extLst>
                    <a:ext uri="{9D8B030D-6E8A-4147-A177-3AD203B41FA5}">
                      <a16:colId xmlns:a16="http://schemas.microsoft.com/office/drawing/2014/main" val="992327153"/>
                    </a:ext>
                  </a:extLst>
                </a:gridCol>
                <a:gridCol w="628954">
                  <a:extLst>
                    <a:ext uri="{9D8B030D-6E8A-4147-A177-3AD203B41FA5}">
                      <a16:colId xmlns:a16="http://schemas.microsoft.com/office/drawing/2014/main" val="930332273"/>
                    </a:ext>
                  </a:extLst>
                </a:gridCol>
                <a:gridCol w="626800">
                  <a:extLst>
                    <a:ext uri="{9D8B030D-6E8A-4147-A177-3AD203B41FA5}">
                      <a16:colId xmlns:a16="http://schemas.microsoft.com/office/drawing/2014/main" val="2730243090"/>
                    </a:ext>
                  </a:extLst>
                </a:gridCol>
                <a:gridCol w="947740">
                  <a:extLst>
                    <a:ext uri="{9D8B030D-6E8A-4147-A177-3AD203B41FA5}">
                      <a16:colId xmlns:a16="http://schemas.microsoft.com/office/drawing/2014/main" val="124650231"/>
                    </a:ext>
                  </a:extLst>
                </a:gridCol>
                <a:gridCol w="947740">
                  <a:extLst>
                    <a:ext uri="{9D8B030D-6E8A-4147-A177-3AD203B41FA5}">
                      <a16:colId xmlns:a16="http://schemas.microsoft.com/office/drawing/2014/main" val="2949787827"/>
                    </a:ext>
                  </a:extLst>
                </a:gridCol>
                <a:gridCol w="2119490">
                  <a:extLst>
                    <a:ext uri="{9D8B030D-6E8A-4147-A177-3AD203B41FA5}">
                      <a16:colId xmlns:a16="http://schemas.microsoft.com/office/drawing/2014/main" val="77911662"/>
                    </a:ext>
                  </a:extLst>
                </a:gridCol>
              </a:tblGrid>
              <a:tr h="180037">
                <a:tc rowSpan="2">
                  <a:txBody>
                    <a:bodyPr/>
                    <a:lstStyle/>
                    <a:p>
                      <a:pPr algn="ctr" fontAlgn="ctr">
                        <a:buNone/>
                      </a:pPr>
                      <a:r>
                        <a:rPr lang="es-CL" sz="600" b="1" i="0" u="none" strike="noStrike">
                          <a:solidFill>
                            <a:srgbClr val="FFFFFF"/>
                          </a:solidFill>
                          <a:effectLst/>
                          <a:latin typeface="Calibri" panose="020F0502020204030204" pitchFamily="34" charset="0"/>
                        </a:rPr>
                        <a:t>Cliente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600" b="1" i="0" u="none" strike="noStrike">
                          <a:solidFill>
                            <a:srgbClr val="1A1A1A"/>
                          </a:solidFill>
                          <a:effectLst/>
                          <a:latin typeface="Calibri" panose="020F0502020204030204" pitchFamily="34" charset="0"/>
                        </a:rPr>
                        <a:t>Dental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Esterilización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600" b="1" i="0" u="none" strike="noStrike">
                          <a:solidFill>
                            <a:srgbClr val="1A1A1A"/>
                          </a:solidFill>
                          <a:effectLst/>
                          <a:latin typeface="Calibri" panose="020F0502020204030204" pitchFamily="34" charset="0"/>
                        </a:rPr>
                        <a:t>Endoscopía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Base Instalada Total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600" b="1" i="0" u="none" strike="noStrike">
                          <a:solidFill>
                            <a:srgbClr val="FFFFFF"/>
                          </a:solidFill>
                          <a:effectLst/>
                          <a:latin typeface="Calibri" panose="020F0502020204030204" pitchFamily="34" charset="0"/>
                        </a:rPr>
                        <a:t>Pot. Mantenimiento MM$</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Roboto" panose="02000000000000000000" pitchFamily="2" charset="0"/>
                        </a:rPr>
                        <a:t>Margen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Calibri" panose="020F0502020204030204" pitchFamily="34" charset="0"/>
                        </a:rPr>
                        <a:t>Plan de Acción</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3429533828"/>
                  </a:ext>
                </a:extLst>
              </a:tr>
              <a:tr h="268712">
                <a:tc vMerge="1">
                  <a:txBody>
                    <a:bodyPr/>
                    <a:lstStyle/>
                    <a:p>
                      <a:endParaRPr lang="es-CL"/>
                    </a:p>
                  </a:txBody>
                  <a:tcPr/>
                </a:tc>
                <a:tc>
                  <a:txBody>
                    <a:bodyPr/>
                    <a:lstStyle/>
                    <a:p>
                      <a:pPr algn="ctr" fontAlgn="ctr">
                        <a:buNone/>
                      </a:pPr>
                      <a:r>
                        <a:rPr lang="es-CL" sz="6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6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6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1A1A1A"/>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600" b="1" i="0" u="none" strike="noStrike">
                          <a:solidFill>
                            <a:srgbClr val="1A1A1A"/>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600" b="1" i="0" u="none" strike="noStrike">
                          <a:solidFill>
                            <a:srgbClr val="FFFFFF"/>
                          </a:solidFill>
                          <a:effectLst/>
                          <a:latin typeface="Calibri" panose="020F0502020204030204" pitchFamily="34" charset="0"/>
                        </a:rPr>
                        <a:t>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Calibri" panose="020F0502020204030204" pitchFamily="34" charset="0"/>
                        </a:rPr>
                        <a:t>% Vida Útil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644057400"/>
                  </a:ext>
                </a:extLst>
              </a:tr>
              <a:tr h="134356">
                <a:tc>
                  <a:txBody>
                    <a:bodyPr/>
                    <a:lstStyle/>
                    <a:p>
                      <a:pPr algn="l" fontAlgn="b">
                        <a:buNone/>
                      </a:pPr>
                      <a:r>
                        <a:rPr lang="es-CL" sz="800" b="0" i="0" u="none" strike="noStrike" dirty="0">
                          <a:solidFill>
                            <a:schemeClr val="accent2"/>
                          </a:solidFill>
                          <a:effectLst/>
                          <a:latin typeface="Calibri" panose="020F0502020204030204" pitchFamily="34" charset="0"/>
                        </a:rPr>
                        <a:t>HOSPITAL DE COCHRANE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59,7%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anual y evaluación periódica de equipos.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098556037"/>
                  </a:ext>
                </a:extLst>
              </a:tr>
              <a:tr h="200190">
                <a:tc>
                  <a:txBody>
                    <a:bodyPr/>
                    <a:lstStyle/>
                    <a:p>
                      <a:pPr algn="l" fontAlgn="b">
                        <a:buNone/>
                      </a:pPr>
                      <a:r>
                        <a:rPr lang="es-CL" sz="800" b="0" i="0" u="none" strike="noStrike" dirty="0">
                          <a:solidFill>
                            <a:schemeClr val="accent2"/>
                          </a:solidFill>
                          <a:effectLst/>
                          <a:latin typeface="Calibri" panose="020F0502020204030204" pitchFamily="34" charset="0"/>
                        </a:rPr>
                        <a:t>CESFAM LA JUNTA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175,0%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121,7%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3,9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a:solidFill>
                            <a:schemeClr val="accent2"/>
                          </a:solidFill>
                          <a:effectLst/>
                          <a:latin typeface="Calibri" panose="020F0502020204030204" pitchFamily="34" charset="0"/>
                        </a:rPr>
                        <a:t>Programa preventivo programado e integración a rutas regionales.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57335236"/>
                  </a:ext>
                </a:extLst>
              </a:tr>
              <a:tr h="759112">
                <a:tc>
                  <a:txBody>
                    <a:bodyPr/>
                    <a:lstStyle/>
                    <a:p>
                      <a:pPr algn="l" fontAlgn="b">
                        <a:buNone/>
                      </a:pPr>
                      <a:r>
                        <a:rPr lang="es-CL" sz="800" b="0" i="0" u="none" strike="noStrike">
                          <a:solidFill>
                            <a:schemeClr val="accent2"/>
                          </a:solidFill>
                          <a:effectLst/>
                          <a:latin typeface="Calibri" panose="020F0502020204030204" pitchFamily="34" charset="0"/>
                        </a:rPr>
                        <a:t>MUN. DE CHILE CHICO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48,3%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48,3%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dirty="0">
                          <a:solidFill>
                            <a:schemeClr val="accent2"/>
                          </a:solidFill>
                          <a:effectLst/>
                          <a:latin typeface="Calibri" panose="020F0502020204030204" pitchFamily="34" charset="0"/>
                        </a:rPr>
                        <a:t>2,9</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Auditoría técnica de base instalada.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Programa preventivo anual.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Incorporación a rutas regionales programadas.</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Convenio institucional de soporte técnico.</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Evaluación de renovación tecnológica.</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Seguimiento de continuidad operacional.</a:t>
                      </a:r>
                      <a:br>
                        <a:rPr lang="es-CL" sz="800" b="0" i="0" u="none" strike="noStrike" dirty="0">
                          <a:solidFill>
                            <a:schemeClr val="accent2"/>
                          </a:solidFill>
                          <a:effectLst/>
                          <a:latin typeface="Calibri" panose="020F0502020204030204" pitchFamily="34" charset="0"/>
                        </a:rPr>
                      </a:br>
                      <a:r>
                        <a:rPr lang="es-CL" sz="800" b="0" i="0" u="none" strike="noStrike" dirty="0">
                          <a:solidFill>
                            <a:schemeClr val="accent2"/>
                          </a:solidFill>
                          <a:effectLst/>
                          <a:latin typeface="Calibri" panose="020F0502020204030204" pitchFamily="34" charset="0"/>
                        </a:rPr>
                        <a:t>Revisión de equipos fuera de cobertura.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493998745"/>
                  </a:ext>
                </a:extLst>
              </a:tr>
              <a:tr h="200190">
                <a:tc>
                  <a:txBody>
                    <a:bodyPr/>
                    <a:lstStyle/>
                    <a:p>
                      <a:pPr algn="l" fontAlgn="b">
                        <a:buNone/>
                      </a:pPr>
                      <a:r>
                        <a:rPr lang="es-CL" sz="800" b="0" i="0" u="none" strike="noStrike">
                          <a:solidFill>
                            <a:schemeClr val="accent2"/>
                          </a:solidFill>
                          <a:effectLst/>
                          <a:latin typeface="Calibri" panose="020F0502020204030204" pitchFamily="34" charset="0"/>
                        </a:rPr>
                        <a:t>HOSPITAL DE COYHAIQUE</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68,4%</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2,0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dirty="0">
                          <a:solidFill>
                            <a:schemeClr val="accent2"/>
                          </a:solidFill>
                          <a:effectLst/>
                          <a:latin typeface="Calibri" panose="020F0502020204030204" pitchFamily="34" charset="0"/>
                        </a:rPr>
                        <a:t>1,0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Cuenta regional principal, propuesta institucional de mantenimiento y renovación tecnológica.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644238658"/>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CECOSF CHACABUCO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171,7%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Mantención preventiva básica y seguimiento anual.</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277507492"/>
                  </a:ext>
                </a:extLst>
              </a:tr>
              <a:tr h="134356">
                <a:tc>
                  <a:txBody>
                    <a:bodyPr/>
                    <a:lstStyle/>
                    <a:p>
                      <a:pPr algn="l" fontAlgn="b">
                        <a:buNone/>
                      </a:pPr>
                      <a:r>
                        <a:rPr lang="es-CL" sz="800" b="0" i="0" u="none" strike="noStrike">
                          <a:solidFill>
                            <a:schemeClr val="accent2"/>
                          </a:solidFill>
                          <a:effectLst/>
                          <a:latin typeface="Calibri" panose="020F0502020204030204" pitchFamily="34" charset="0"/>
                        </a:rPr>
                        <a:t>POSTA BAHÍA MURTA</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76,0%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800" b="0" i="0" u="none" strike="noStrike">
                          <a:solidFill>
                            <a:schemeClr val="accent2"/>
                          </a:solidFill>
                          <a:effectLst/>
                          <a:latin typeface="Calibri" panose="020F0502020204030204" pitchFamily="34" charset="0"/>
                        </a:rPr>
                        <a:t>0,6</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800" b="0" i="0" u="none" strike="noStrike" dirty="0">
                          <a:solidFill>
                            <a:schemeClr val="accent2"/>
                          </a:solidFill>
                          <a:effectLst/>
                          <a:latin typeface="Calibri" panose="020F0502020204030204" pitchFamily="34" charset="0"/>
                        </a:rPr>
                        <a:t>Cobertura preventiva anual y soporte remoto prioritario.</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8730499"/>
                  </a:ext>
                </a:extLst>
              </a:tr>
              <a:tr h="134356">
                <a:tc>
                  <a:txBody>
                    <a:bodyPr/>
                    <a:lstStyle/>
                    <a:p>
                      <a:pPr algn="l" fontAlgn="b">
                        <a:buNone/>
                      </a:pPr>
                      <a:r>
                        <a:rPr lang="es-CL" sz="600" b="1" i="0" u="none" strike="noStrike">
                          <a:solidFill>
                            <a:srgbClr val="FFFFFF"/>
                          </a:solidFill>
                          <a:effectLst/>
                          <a:latin typeface="Calibri" panose="020F0502020204030204" pitchFamily="34" charset="0"/>
                        </a:rPr>
                        <a:t>TOTAL · 6 clientes</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124,7%</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59,0%</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81,8%</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14,2</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Calibri" panose="020F0502020204030204" pitchFamily="34" charset="0"/>
                        </a:rPr>
                        <a:t>7,1</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600" b="1" i="0" u="none" strike="noStrike" dirty="0">
                          <a:solidFill>
                            <a:srgbClr val="FFFFFF"/>
                          </a:solidFill>
                          <a:effectLst/>
                          <a:latin typeface="Calibri" panose="020F0502020204030204" pitchFamily="34" charset="0"/>
                        </a:rPr>
                        <a:t> </a:t>
                      </a:r>
                    </a:p>
                  </a:txBody>
                  <a:tcPr marL="6718" marR="6718"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3905395208"/>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Estructura Operativa 2026</a:t>
            </a:r>
            <a:endParaRPr sz="2700" b="0" i="0" u="none" strike="noStrike" cap="none">
              <a:solidFill>
                <a:srgbClr val="FFFFFF"/>
              </a:solidFill>
              <a:latin typeface="Roboto"/>
              <a:ea typeface="Roboto"/>
              <a:cs typeface="Roboto"/>
              <a:sym typeface="Roboto"/>
            </a:endParaRPr>
          </a:p>
        </p:txBody>
      </p:sp>
      <p:sp>
        <p:nvSpPr>
          <p:cNvPr id="637" name="Google Shape;637;p56"/>
          <p:cNvSpPr/>
          <p:nvPr/>
        </p:nvSpPr>
        <p:spPr>
          <a:xfrm>
            <a:off x="4810504" y="810883"/>
            <a:ext cx="2716380" cy="777240"/>
          </a:xfrm>
          <a:prstGeom prst="roundRect">
            <a:avLst>
              <a:gd name="adj" fmla="val 5882"/>
            </a:avLst>
          </a:prstGeom>
          <a:solidFill>
            <a:srgbClr val="21295C"/>
          </a:solidFill>
          <a:ln w="12700" cap="flat" cmpd="sng">
            <a:solidFill>
              <a:srgbClr val="21295C"/>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8" name="Google Shape;638;p56"/>
          <p:cNvSpPr/>
          <p:nvPr/>
        </p:nvSpPr>
        <p:spPr>
          <a:xfrm>
            <a:off x="4212184" y="789615"/>
            <a:ext cx="3931920" cy="77724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C9D3F0"/>
              </a:buClr>
              <a:buSzPts val="1050"/>
              <a:buFont typeface="Calibri"/>
              <a:buNone/>
            </a:pPr>
            <a:r>
              <a:rPr lang="es-CL" sz="1050" b="1">
                <a:solidFill>
                  <a:srgbClr val="C9D3F0"/>
                </a:solidFill>
                <a:latin typeface="Calibri"/>
                <a:ea typeface="Calibri"/>
                <a:cs typeface="Calibri"/>
                <a:sym typeface="Calibri"/>
              </a:rPr>
              <a:t>LIDERAZGO EJECUTIVO</a:t>
            </a:r>
            <a:endParaRPr sz="10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50"/>
              <a:buFont typeface="Calibri"/>
              <a:buNone/>
            </a:pPr>
            <a:r>
              <a:rPr lang="es-CL" sz="1150" b="1">
                <a:solidFill>
                  <a:srgbClr val="FFFFFF"/>
                </a:solidFill>
                <a:latin typeface="Calibri"/>
                <a:ea typeface="Calibri"/>
                <a:cs typeface="Calibri"/>
                <a:sym typeface="Calibri"/>
              </a:rPr>
              <a:t>Marcelo Ruminot — Gerente General</a:t>
            </a:r>
            <a:endParaRPr sz="1050">
              <a:solidFill>
                <a:schemeClr val="dk1"/>
              </a:solidFill>
              <a:latin typeface="Arial"/>
              <a:ea typeface="Arial"/>
              <a:cs typeface="Arial"/>
              <a:sym typeface="Arial"/>
            </a:endParaRPr>
          </a:p>
        </p:txBody>
      </p:sp>
      <p:cxnSp>
        <p:nvCxnSpPr>
          <p:cNvPr id="639" name="Google Shape;639;p56"/>
          <p:cNvCxnSpPr/>
          <p:nvPr/>
        </p:nvCxnSpPr>
        <p:spPr>
          <a:xfrm>
            <a:off x="6095848" y="2524089"/>
            <a:ext cx="0" cy="274320"/>
          </a:xfrm>
          <a:prstGeom prst="straightConnector1">
            <a:avLst/>
          </a:prstGeom>
          <a:noFill/>
          <a:ln w="15875" cap="flat" cmpd="sng">
            <a:solidFill>
              <a:srgbClr val="94A3B8"/>
            </a:solidFill>
            <a:prstDash val="solid"/>
            <a:round/>
            <a:headEnd type="none" w="sm" len="sm"/>
            <a:tailEnd type="none" w="sm" len="sm"/>
          </a:ln>
        </p:spPr>
      </p:cxnSp>
      <p:cxnSp>
        <p:nvCxnSpPr>
          <p:cNvPr id="640" name="Google Shape;640;p56"/>
          <p:cNvCxnSpPr/>
          <p:nvPr/>
        </p:nvCxnSpPr>
        <p:spPr>
          <a:xfrm>
            <a:off x="1802740" y="279840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41" name="Google Shape;641;p56"/>
          <p:cNvCxnSpPr/>
          <p:nvPr/>
        </p:nvCxnSpPr>
        <p:spPr>
          <a:xfrm>
            <a:off x="1802740"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2" name="Google Shape;642;p56"/>
          <p:cNvCxnSpPr/>
          <p:nvPr/>
        </p:nvCxnSpPr>
        <p:spPr>
          <a:xfrm>
            <a:off x="4664812"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3" name="Google Shape;643;p56"/>
          <p:cNvCxnSpPr/>
          <p:nvPr/>
        </p:nvCxnSpPr>
        <p:spPr>
          <a:xfrm>
            <a:off x="7526884"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4" name="Google Shape;644;p56"/>
          <p:cNvCxnSpPr/>
          <p:nvPr/>
        </p:nvCxnSpPr>
        <p:spPr>
          <a:xfrm>
            <a:off x="10388956" y="2798409"/>
            <a:ext cx="0" cy="91440"/>
          </a:xfrm>
          <a:prstGeom prst="straightConnector1">
            <a:avLst/>
          </a:prstGeom>
          <a:noFill/>
          <a:ln w="15875" cap="flat" cmpd="sng">
            <a:solidFill>
              <a:srgbClr val="94A3B8"/>
            </a:solidFill>
            <a:prstDash val="solid"/>
            <a:round/>
            <a:headEnd type="none" w="sm" len="sm"/>
            <a:tailEnd type="none" w="sm" len="sm"/>
          </a:ln>
        </p:spPr>
      </p:cxnSp>
      <p:sp>
        <p:nvSpPr>
          <p:cNvPr id="645" name="Google Shape;645;p56"/>
          <p:cNvSpPr/>
          <p:nvPr/>
        </p:nvSpPr>
        <p:spPr>
          <a:xfrm>
            <a:off x="454000"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6" name="Google Shape;646;p56"/>
          <p:cNvSpPr/>
          <p:nvPr/>
        </p:nvSpPr>
        <p:spPr>
          <a:xfrm>
            <a:off x="499720"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INGENIERÍA DE PROYECTOS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Camilo Alexis Morales Aguilera</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Ingeniero de Soluciones Estratégicas</a:t>
            </a:r>
            <a:endParaRPr sz="950">
              <a:solidFill>
                <a:schemeClr val="dk1"/>
              </a:solidFill>
              <a:latin typeface="Arial"/>
              <a:ea typeface="Arial"/>
              <a:cs typeface="Arial"/>
              <a:sym typeface="Arial"/>
            </a:endParaRPr>
          </a:p>
        </p:txBody>
      </p:sp>
      <p:sp>
        <p:nvSpPr>
          <p:cNvPr id="647" name="Google Shape;647;p56"/>
          <p:cNvSpPr/>
          <p:nvPr/>
        </p:nvSpPr>
        <p:spPr>
          <a:xfrm>
            <a:off x="3316072"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8" name="Google Shape;648;p56"/>
          <p:cNvSpPr/>
          <p:nvPr/>
        </p:nvSpPr>
        <p:spPr>
          <a:xfrm>
            <a:off x="3361792"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GESTIÓN COMERCIAL (KAM SERVICIOS)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Cristian Silvano Pérez Ramirez — Ejec. de Servicio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Eglys Anadris Ramirez Caraballo — Ejec. de Servicio</a:t>
            </a:r>
            <a:endParaRPr sz="950">
              <a:solidFill>
                <a:schemeClr val="dk1"/>
              </a:solidFill>
              <a:latin typeface="Arial"/>
              <a:ea typeface="Arial"/>
              <a:cs typeface="Arial"/>
              <a:sym typeface="Arial"/>
            </a:endParaRPr>
          </a:p>
        </p:txBody>
      </p:sp>
      <p:sp>
        <p:nvSpPr>
          <p:cNvPr id="649" name="Google Shape;649;p56"/>
          <p:cNvSpPr/>
          <p:nvPr/>
        </p:nvSpPr>
        <p:spPr>
          <a:xfrm>
            <a:off x="6178144"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0" name="Google Shape;650;p56"/>
          <p:cNvSpPr/>
          <p:nvPr/>
        </p:nvSpPr>
        <p:spPr>
          <a:xfrm>
            <a:off x="6223864"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ATENCIÓN AL CLIENTE</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Matilde Rebeca Carrillo Castillo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Jefe de Servicio al Cliente</a:t>
            </a:r>
            <a:endParaRPr sz="950">
              <a:solidFill>
                <a:schemeClr val="dk1"/>
              </a:solidFill>
              <a:latin typeface="Arial"/>
              <a:ea typeface="Arial"/>
              <a:cs typeface="Arial"/>
              <a:sym typeface="Arial"/>
            </a:endParaRPr>
          </a:p>
        </p:txBody>
      </p:sp>
      <p:sp>
        <p:nvSpPr>
          <p:cNvPr id="651" name="Google Shape;651;p56"/>
          <p:cNvSpPr/>
          <p:nvPr/>
        </p:nvSpPr>
        <p:spPr>
          <a:xfrm>
            <a:off x="9040216"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2" name="Google Shape;652;p56"/>
          <p:cNvSpPr/>
          <p:nvPr/>
        </p:nvSpPr>
        <p:spPr>
          <a:xfrm>
            <a:off x="9085936"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SOPORTE OPERATIVO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Edson De Morais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Asistente de Coordinación</a:t>
            </a:r>
            <a:endParaRPr sz="950">
              <a:solidFill>
                <a:schemeClr val="dk1"/>
              </a:solidFill>
              <a:latin typeface="Arial"/>
              <a:ea typeface="Arial"/>
              <a:cs typeface="Arial"/>
              <a:sym typeface="Arial"/>
            </a:endParaRPr>
          </a:p>
        </p:txBody>
      </p:sp>
      <p:cxnSp>
        <p:nvCxnSpPr>
          <p:cNvPr id="653" name="Google Shape;653;p56"/>
          <p:cNvCxnSpPr/>
          <p:nvPr/>
        </p:nvCxnSpPr>
        <p:spPr>
          <a:xfrm>
            <a:off x="7526884" y="3849969"/>
            <a:ext cx="0" cy="274320"/>
          </a:xfrm>
          <a:prstGeom prst="straightConnector1">
            <a:avLst/>
          </a:prstGeom>
          <a:noFill/>
          <a:ln w="15875" cap="flat" cmpd="sng">
            <a:solidFill>
              <a:srgbClr val="94A3B8"/>
            </a:solidFill>
            <a:prstDash val="solid"/>
            <a:round/>
            <a:headEnd type="none" w="sm" len="sm"/>
            <a:tailEnd type="none" w="sm" len="sm"/>
          </a:ln>
        </p:spPr>
      </p:cxnSp>
      <p:cxnSp>
        <p:nvCxnSpPr>
          <p:cNvPr id="654" name="Google Shape;654;p56"/>
          <p:cNvCxnSpPr/>
          <p:nvPr/>
        </p:nvCxnSpPr>
        <p:spPr>
          <a:xfrm>
            <a:off x="1802740" y="412428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55" name="Google Shape;655;p56"/>
          <p:cNvCxnSpPr/>
          <p:nvPr/>
        </p:nvCxnSpPr>
        <p:spPr>
          <a:xfrm>
            <a:off x="1802740"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6" name="Google Shape;656;p56"/>
          <p:cNvCxnSpPr/>
          <p:nvPr/>
        </p:nvCxnSpPr>
        <p:spPr>
          <a:xfrm>
            <a:off x="4664812"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7" name="Google Shape;657;p56"/>
          <p:cNvCxnSpPr/>
          <p:nvPr/>
        </p:nvCxnSpPr>
        <p:spPr>
          <a:xfrm>
            <a:off x="7526884"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8" name="Google Shape;658;p56"/>
          <p:cNvCxnSpPr/>
          <p:nvPr/>
        </p:nvCxnSpPr>
        <p:spPr>
          <a:xfrm>
            <a:off x="10388956" y="4124289"/>
            <a:ext cx="0" cy="182880"/>
          </a:xfrm>
          <a:prstGeom prst="straightConnector1">
            <a:avLst/>
          </a:prstGeom>
          <a:noFill/>
          <a:ln w="15875" cap="flat" cmpd="sng">
            <a:solidFill>
              <a:srgbClr val="94A3B8"/>
            </a:solidFill>
            <a:prstDash val="solid"/>
            <a:round/>
            <a:headEnd type="none" w="sm" len="sm"/>
            <a:tailEnd type="none" w="sm" len="sm"/>
          </a:ln>
        </p:spPr>
      </p:cxnSp>
      <p:sp>
        <p:nvSpPr>
          <p:cNvPr id="659" name="Google Shape;659;p56"/>
          <p:cNvSpPr/>
          <p:nvPr/>
        </p:nvSpPr>
        <p:spPr>
          <a:xfrm>
            <a:off x="454000"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0" name="Google Shape;660;p56"/>
          <p:cNvSpPr/>
          <p:nvPr/>
        </p:nvSpPr>
        <p:spPr>
          <a:xfrm>
            <a:off x="499720"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EQUIPO ATENCIÓN AL CLIENTE</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C. Alvarado, P. Guzman,</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M.A. Colina, E. Galvez</a:t>
            </a:r>
            <a:endParaRPr sz="900">
              <a:solidFill>
                <a:schemeClr val="dk1"/>
              </a:solidFill>
              <a:latin typeface="Arial"/>
              <a:ea typeface="Arial"/>
              <a:cs typeface="Arial"/>
              <a:sym typeface="Arial"/>
            </a:endParaRPr>
          </a:p>
        </p:txBody>
      </p:sp>
      <p:sp>
        <p:nvSpPr>
          <p:cNvPr id="661" name="Google Shape;661;p56"/>
          <p:cNvSpPr/>
          <p:nvPr/>
        </p:nvSpPr>
        <p:spPr>
          <a:xfrm>
            <a:off x="3316072"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2" name="Google Shape;662;p56"/>
          <p:cNvSpPr/>
          <p:nvPr/>
        </p:nvSpPr>
        <p:spPr>
          <a:xfrm>
            <a:off x="3361792"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Jonathan Valerio Sumoza Ávila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10 Técnicos: J. Pino, L. Quezada, M. Cerpa,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I. Muñoz, M. Gutiérrez, P. Esteves, F. Toloza,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M. Montenegro, I. Miranda, D. Torres</a:t>
            </a:r>
            <a:endParaRPr sz="900">
              <a:solidFill>
                <a:schemeClr val="dk1"/>
              </a:solidFill>
              <a:latin typeface="Arial"/>
              <a:ea typeface="Arial"/>
              <a:cs typeface="Arial"/>
              <a:sym typeface="Arial"/>
            </a:endParaRPr>
          </a:p>
        </p:txBody>
      </p:sp>
      <p:sp>
        <p:nvSpPr>
          <p:cNvPr id="663" name="Google Shape;663;p56"/>
          <p:cNvSpPr/>
          <p:nvPr/>
        </p:nvSpPr>
        <p:spPr>
          <a:xfrm>
            <a:off x="6178144"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4" name="Google Shape;664;p56"/>
          <p:cNvSpPr/>
          <p:nvPr/>
        </p:nvSpPr>
        <p:spPr>
          <a:xfrm>
            <a:off x="6223864"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B</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Cristian Rohr Toro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9 Técnicos: R. Leiva, E. Valle, C. Castro,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Labado, N. Rodríguez</a:t>
            </a:r>
            <a:r>
              <a:rPr lang="es-CL" sz="800" b="1">
                <a:solidFill>
                  <a:srgbClr val="FF0000"/>
                </a:solidFill>
                <a:latin typeface="Calibri"/>
                <a:ea typeface="Calibri"/>
                <a:cs typeface="Calibri"/>
                <a:sym typeface="Calibri"/>
              </a:rPr>
              <a:t>, T. Rojas</a:t>
            </a:r>
            <a:r>
              <a:rPr lang="es-CL" sz="800">
                <a:solidFill>
                  <a:srgbClr val="FFFFFF"/>
                </a:solidFill>
                <a:latin typeface="Calibri"/>
                <a:ea typeface="Calibri"/>
                <a:cs typeface="Calibri"/>
                <a:sym typeface="Calibri"/>
              </a:rPr>
              <a:t>,</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Arnaiz, E. Acevedo, C. Mayorga</a:t>
            </a:r>
            <a:endParaRPr sz="900">
              <a:solidFill>
                <a:schemeClr val="dk1"/>
              </a:solidFill>
              <a:latin typeface="Arial"/>
              <a:ea typeface="Arial"/>
              <a:cs typeface="Arial"/>
              <a:sym typeface="Arial"/>
            </a:endParaRPr>
          </a:p>
        </p:txBody>
      </p:sp>
      <p:sp>
        <p:nvSpPr>
          <p:cNvPr id="665" name="Google Shape;665;p56"/>
          <p:cNvSpPr/>
          <p:nvPr/>
        </p:nvSpPr>
        <p:spPr>
          <a:xfrm>
            <a:off x="9040216"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6" name="Google Shape;666;p56"/>
          <p:cNvSpPr/>
          <p:nvPr/>
        </p:nvSpPr>
        <p:spPr>
          <a:xfrm>
            <a:off x="9085936"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ESPECIALIDAD ENDOSCOPIA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G. Ramirez, N. Martinez,</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N. Técnico (En Contratación)</a:t>
            </a:r>
            <a:endParaRPr sz="900">
              <a:solidFill>
                <a:schemeClr val="dk1"/>
              </a:solidFill>
              <a:latin typeface="Arial"/>
              <a:ea typeface="Arial"/>
              <a:cs typeface="Arial"/>
              <a:sym typeface="Arial"/>
            </a:endParaRPr>
          </a:p>
        </p:txBody>
      </p:sp>
      <p:sp>
        <p:nvSpPr>
          <p:cNvPr id="667" name="Google Shape;667;p56"/>
          <p:cNvSpPr/>
          <p:nvPr/>
        </p:nvSpPr>
        <p:spPr>
          <a:xfrm>
            <a:off x="4810504" y="1862443"/>
            <a:ext cx="2697480" cy="661646"/>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ctr" anchorCtr="0">
            <a:noAutofit/>
          </a:bodyPr>
          <a:lstStyle/>
          <a:p>
            <a:pPr marL="0" marR="0" lvl="0" indent="0" algn="ctr" rtl="0">
              <a:lnSpc>
                <a:spcPct val="105000"/>
              </a:lnSpc>
              <a:spcBef>
                <a:spcPts val="0"/>
              </a:spcBef>
              <a:spcAft>
                <a:spcPts val="0"/>
              </a:spcAft>
              <a:buNone/>
            </a:pPr>
            <a:r>
              <a:rPr lang="es-CL" sz="1150" b="1">
                <a:solidFill>
                  <a:srgbClr val="BFE3F0"/>
                </a:solidFill>
                <a:latin typeface="Calibri"/>
                <a:ea typeface="Calibri"/>
                <a:cs typeface="Calibri"/>
                <a:sym typeface="Calibri"/>
              </a:rPr>
              <a:t>Alexis Flores — Sub Gerente Técnico</a:t>
            </a:r>
            <a:endParaRPr/>
          </a:p>
        </p:txBody>
      </p:sp>
      <p:cxnSp>
        <p:nvCxnSpPr>
          <p:cNvPr id="668" name="Google Shape;668;p56"/>
          <p:cNvCxnSpPr/>
          <p:nvPr/>
        </p:nvCxnSpPr>
        <p:spPr>
          <a:xfrm>
            <a:off x="6095848" y="1588123"/>
            <a:ext cx="0" cy="274320"/>
          </a:xfrm>
          <a:prstGeom prst="straightConnector1">
            <a:avLst/>
          </a:prstGeom>
          <a:noFill/>
          <a:ln w="15875" cap="flat" cmpd="sng">
            <a:solidFill>
              <a:srgbClr val="94A3B8"/>
            </a:solidFill>
            <a:prstDash val="solid"/>
            <a:round/>
            <a:headEnd type="none" w="sm" len="sm"/>
            <a:tailEnd type="none" w="sm" len="sm"/>
          </a:ln>
        </p:spPr>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Cómo funciona el plan de carrera de técnicos de servicio</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1 · Ingreso</a:t>
            </a:r>
            <a:endParaRPr lang="en-US" sz="1300" kern="1200" dirty="0">
              <a:solidFill>
                <a:prstClr val="black"/>
              </a:solidFill>
              <a:latin typeface="Calibri" panose="020F0502020204030204"/>
              <a:ea typeface="+mn-ea"/>
              <a:cs typeface="+mn-cs"/>
            </a:endParaRPr>
          </a:p>
        </p:txBody>
      </p:sp>
      <p:sp>
        <p:nvSpPr>
          <p:cNvPr id="9" name="Text 4"/>
          <p:cNvSpPr/>
          <p:nvPr/>
        </p:nvSpPr>
        <p:spPr>
          <a:xfrm>
            <a:off x="635000"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Todo técnico ingresa como Trainee y comienza su formación y las evaluaciones del área.</a:t>
            </a:r>
            <a:endParaRPr lang="en-US" sz="1200" kern="1200" dirty="0">
              <a:solidFill>
                <a:prstClr val="black"/>
              </a:solidFill>
              <a:latin typeface="Calibri" panose="020F0502020204030204"/>
              <a:ea typeface="+mn-ea"/>
              <a:cs typeface="+mn-cs"/>
            </a:endParaRPr>
          </a:p>
        </p:txBody>
      </p:sp>
      <p:sp>
        <p:nvSpPr>
          <p:cNvPr id="10" name="Shape 5"/>
          <p:cNvSpPr/>
          <p:nvPr/>
        </p:nvSpPr>
        <p:spPr>
          <a:xfrm>
            <a:off x="3397250"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 name="Text 6"/>
          <p:cNvSpPr/>
          <p:nvPr/>
        </p:nvSpPr>
        <p:spPr>
          <a:xfrm>
            <a:off x="339725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2 · Cumplimiento</a:t>
            </a:r>
            <a:endParaRPr lang="en-US" sz="1300" kern="1200" dirty="0">
              <a:solidFill>
                <a:prstClr val="black"/>
              </a:solidFill>
              <a:latin typeface="Calibri" panose="020F0502020204030204"/>
              <a:ea typeface="+mn-ea"/>
              <a:cs typeface="+mn-cs"/>
            </a:endParaRPr>
          </a:p>
        </p:txBody>
      </p:sp>
      <p:sp>
        <p:nvSpPr>
          <p:cNvPr id="12" name="Text 7"/>
          <p:cNvSpPr/>
          <p:nvPr/>
        </p:nvSpPr>
        <p:spPr>
          <a:xfrm>
            <a:off x="3397250"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Para subir debe cumplir todos los requisitos del nivel siguiente. No basta con cumplir solo algunos.</a:t>
            </a:r>
            <a:endParaRPr lang="en-US" sz="1200" kern="1200" dirty="0">
              <a:solidFill>
                <a:prstClr val="black"/>
              </a:solidFill>
              <a:latin typeface="Calibri" panose="020F0502020204030204"/>
              <a:ea typeface="+mn-ea"/>
              <a:cs typeface="+mn-cs"/>
            </a:endParaRPr>
          </a:p>
        </p:txBody>
      </p:sp>
      <p:sp>
        <p:nvSpPr>
          <p:cNvPr id="13" name="Shape 8"/>
          <p:cNvSpPr/>
          <p:nvPr/>
        </p:nvSpPr>
        <p:spPr>
          <a:xfrm>
            <a:off x="6159501"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615950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3 · Cambio de tramo</a:t>
            </a:r>
            <a:endParaRPr lang="en-US" sz="1300" kern="1200" dirty="0">
              <a:solidFill>
                <a:prstClr val="black"/>
              </a:solidFill>
              <a:latin typeface="Calibri" panose="020F0502020204030204"/>
              <a:ea typeface="+mn-ea"/>
              <a:cs typeface="+mn-cs"/>
            </a:endParaRPr>
          </a:p>
        </p:txBody>
      </p:sp>
      <p:sp>
        <p:nvSpPr>
          <p:cNvPr id="15" name="Text 10"/>
          <p:cNvSpPr/>
          <p:nvPr/>
        </p:nvSpPr>
        <p:spPr>
          <a:xfrm>
            <a:off x="6159501" y="1496439"/>
            <a:ext cx="2714308" cy="436607"/>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Se avanza un nivel a la vez y el sueldo pasa a la banda salarial del nuevo nivel.</a:t>
            </a:r>
            <a:endParaRPr lang="en-US" sz="1200" kern="1200" dirty="0">
              <a:solidFill>
                <a:prstClr val="black"/>
              </a:solidFill>
              <a:latin typeface="Calibri" panose="020F0502020204030204"/>
              <a:ea typeface="+mn-ea"/>
              <a:cs typeface="+mn-cs"/>
            </a:endParaRPr>
          </a:p>
        </p:txBody>
      </p:sp>
      <p:sp>
        <p:nvSpPr>
          <p:cNvPr id="16" name="Shape 11"/>
          <p:cNvSpPr/>
          <p:nvPr/>
        </p:nvSpPr>
        <p:spPr>
          <a:xfrm>
            <a:off x="8921751"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7" name="Text 12"/>
          <p:cNvSpPr/>
          <p:nvPr/>
        </p:nvSpPr>
        <p:spPr>
          <a:xfrm>
            <a:off x="892175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4 · Bono</a:t>
            </a:r>
            <a:endParaRPr lang="en-US" sz="1300" kern="1200" dirty="0">
              <a:solidFill>
                <a:prstClr val="black"/>
              </a:solidFill>
              <a:latin typeface="Calibri" panose="020F0502020204030204"/>
              <a:ea typeface="+mn-ea"/>
              <a:cs typeface="+mn-cs"/>
            </a:endParaRPr>
          </a:p>
        </p:txBody>
      </p:sp>
      <p:sp>
        <p:nvSpPr>
          <p:cNvPr id="18" name="Text 13"/>
          <p:cNvSpPr/>
          <p:nvPr/>
        </p:nvSpPr>
        <p:spPr>
          <a:xfrm>
            <a:off x="8921751"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Al subir a Intermedio o a Senior se paga un bono único por el cambio de tramo.</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3649927"/>
            <a:ext cx="2635250" cy="1892212"/>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812712" y="38022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5E57"/>
                </a:solidFill>
                <a:latin typeface="Figtree" pitchFamily="34" charset="0"/>
                <a:ea typeface="Figtree" pitchFamily="34" charset="-122"/>
                <a:cs typeface="Figtree" pitchFamily="34" charset="-120"/>
              </a:rPr>
              <a:t>Trainee</a:t>
            </a:r>
            <a:endParaRPr lang="en-US" sz="1800" kern="1200" dirty="0">
              <a:solidFill>
                <a:prstClr val="black"/>
              </a:solidFill>
              <a:latin typeface="Calibri" panose="020F0502020204030204"/>
              <a:ea typeface="+mn-ea"/>
              <a:cs typeface="+mn-cs"/>
            </a:endParaRPr>
          </a:p>
        </p:txBody>
      </p:sp>
      <p:sp>
        <p:nvSpPr>
          <p:cNvPr id="21" name="Text 16"/>
          <p:cNvSpPr/>
          <p:nvPr/>
        </p:nvSpPr>
        <p:spPr>
          <a:xfrm>
            <a:off x="812712" y="4140950"/>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Nivel de ingreso</a:t>
            </a:r>
            <a:endParaRPr lang="en-US" sz="1200" kern="1200" dirty="0">
              <a:solidFill>
                <a:prstClr val="black"/>
              </a:solidFill>
              <a:latin typeface="Calibri" panose="020F0502020204030204"/>
              <a:ea typeface="+mn-ea"/>
              <a:cs typeface="+mn-cs"/>
            </a:endParaRPr>
          </a:p>
        </p:txBody>
      </p:sp>
      <p:sp>
        <p:nvSpPr>
          <p:cNvPr id="22" name="Text 17"/>
          <p:cNvSpPr/>
          <p:nvPr/>
        </p:nvSpPr>
        <p:spPr>
          <a:xfrm>
            <a:off x="812712"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5E57"/>
                </a:solidFill>
                <a:latin typeface="Figtree" pitchFamily="34" charset="0"/>
                <a:ea typeface="Figtree" pitchFamily="34" charset="-122"/>
                <a:cs typeface="Figtree" pitchFamily="34" charset="-120"/>
              </a:rPr>
              <a:t>Sin requisitos de entrada</a:t>
            </a:r>
            <a:endParaRPr lang="en-US" sz="1200" kern="1200" dirty="0">
              <a:solidFill>
                <a:prstClr val="black"/>
              </a:solidFill>
              <a:latin typeface="Calibri" panose="020F0502020204030204"/>
              <a:ea typeface="+mn-ea"/>
              <a:cs typeface="+mn-cs"/>
            </a:endParaRPr>
          </a:p>
        </p:txBody>
      </p:sp>
      <p:sp>
        <p:nvSpPr>
          <p:cNvPr id="23" name="Text 18"/>
          <p:cNvSpPr/>
          <p:nvPr/>
        </p:nvSpPr>
        <p:spPr>
          <a:xfrm>
            <a:off x="81271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5E57"/>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397250" y="3205427"/>
            <a:ext cx="2635250" cy="2336712"/>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574962" y="33577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3D39"/>
                </a:solidFill>
                <a:latin typeface="Figtree" pitchFamily="34" charset="0"/>
                <a:ea typeface="Figtree" pitchFamily="34" charset="-122"/>
                <a:cs typeface="Figtree" pitchFamily="34" charset="-120"/>
              </a:rPr>
              <a:t>Junior</a:t>
            </a:r>
            <a:endParaRPr lang="en-US" sz="1800" kern="1200" dirty="0">
              <a:solidFill>
                <a:prstClr val="black"/>
              </a:solidFill>
              <a:latin typeface="Calibri" panose="020F0502020204030204"/>
              <a:ea typeface="+mn-ea"/>
              <a:cs typeface="+mn-cs"/>
            </a:endParaRPr>
          </a:p>
        </p:txBody>
      </p:sp>
      <p:sp>
        <p:nvSpPr>
          <p:cNvPr id="26" name="Text 21"/>
          <p:cNvSpPr/>
          <p:nvPr/>
        </p:nvSpPr>
        <p:spPr>
          <a:xfrm>
            <a:off x="3574962" y="36964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 6 meses de antigüedad</a:t>
            </a:r>
            <a:endParaRPr lang="en-US" sz="1200" kern="1200" dirty="0">
              <a:solidFill>
                <a:prstClr val="black"/>
              </a:solidFill>
              <a:latin typeface="Calibri" panose="020F0502020204030204"/>
              <a:ea typeface="+mn-ea"/>
              <a:cs typeface="+mn-cs"/>
            </a:endParaRPr>
          </a:p>
        </p:txBody>
      </p:sp>
      <p:sp>
        <p:nvSpPr>
          <p:cNvPr id="27" name="Text 22"/>
          <p:cNvSpPr/>
          <p:nvPr/>
        </p:nvSpPr>
        <p:spPr>
          <a:xfrm>
            <a:off x="3574962" y="4338505"/>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Productividad ≥ 1,4</a:t>
            </a:r>
            <a:endParaRPr lang="en-US" sz="1200" kern="1200" dirty="0">
              <a:solidFill>
                <a:prstClr val="black"/>
              </a:solidFill>
              <a:latin typeface="Calibri" panose="020F0502020204030204"/>
              <a:ea typeface="+mn-ea"/>
              <a:cs typeface="+mn-cs"/>
            </a:endParaRPr>
          </a:p>
        </p:txBody>
      </p:sp>
      <p:sp>
        <p:nvSpPr>
          <p:cNvPr id="28" name="Text 23"/>
          <p:cNvSpPr/>
          <p:nvPr/>
        </p:nvSpPr>
        <p:spPr>
          <a:xfrm>
            <a:off x="3574962" y="4592506"/>
            <a:ext cx="2348221" cy="575733"/>
          </a:xfrm>
          <a:prstGeom prst="rect">
            <a:avLst/>
          </a:prstGeom>
          <a:noFill/>
          <a:ln/>
        </p:spPr>
        <p:txBody>
          <a:bodyPr wrap="square" lIns="16933" tIns="16933" rIns="16933" bIns="16933" rtlCol="0" anchor="t">
            <a:normAutofit/>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Preventivo (50) · Correctivo/Diag. (30) · 1 especialidad</a:t>
            </a:r>
            <a:endParaRPr lang="en-US" sz="1200" kern="1200" dirty="0">
              <a:solidFill>
                <a:prstClr val="black"/>
              </a:solidFill>
              <a:latin typeface="Calibri" panose="020F0502020204030204"/>
              <a:ea typeface="+mn-ea"/>
              <a:cs typeface="+mn-cs"/>
            </a:endParaRPr>
          </a:p>
        </p:txBody>
      </p:sp>
      <p:sp>
        <p:nvSpPr>
          <p:cNvPr id="29" name="Text 24"/>
          <p:cNvSpPr/>
          <p:nvPr/>
        </p:nvSpPr>
        <p:spPr>
          <a:xfrm>
            <a:off x="357496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30" name="Shape 25"/>
          <p:cNvSpPr/>
          <p:nvPr/>
        </p:nvSpPr>
        <p:spPr>
          <a:xfrm>
            <a:off x="6159501" y="2760927"/>
            <a:ext cx="2635250" cy="2781212"/>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6337212" y="29132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3D39"/>
                </a:solidFill>
                <a:latin typeface="Figtree" pitchFamily="34" charset="0"/>
                <a:ea typeface="Figtree" pitchFamily="34" charset="-122"/>
                <a:cs typeface="Figtree" pitchFamily="34" charset="-120"/>
              </a:rPr>
              <a:t>Intermedio</a:t>
            </a:r>
            <a:endParaRPr lang="en-US" sz="1800" kern="1200" dirty="0">
              <a:solidFill>
                <a:prstClr val="black"/>
              </a:solidFill>
              <a:latin typeface="Calibri" panose="020F0502020204030204"/>
              <a:ea typeface="+mn-ea"/>
              <a:cs typeface="+mn-cs"/>
            </a:endParaRPr>
          </a:p>
        </p:txBody>
      </p:sp>
      <p:sp>
        <p:nvSpPr>
          <p:cNvPr id="32" name="Text 27"/>
          <p:cNvSpPr/>
          <p:nvPr/>
        </p:nvSpPr>
        <p:spPr>
          <a:xfrm>
            <a:off x="6337212" y="32519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 8 meses · contrato indefinido</a:t>
            </a:r>
            <a:endParaRPr lang="en-US" sz="1200" kern="1200" dirty="0">
              <a:solidFill>
                <a:prstClr val="black"/>
              </a:solidFill>
              <a:latin typeface="Calibri" panose="020F0502020204030204"/>
              <a:ea typeface="+mn-ea"/>
              <a:cs typeface="+mn-cs"/>
            </a:endParaRPr>
          </a:p>
        </p:txBody>
      </p:sp>
      <p:sp>
        <p:nvSpPr>
          <p:cNvPr id="33" name="Text 28"/>
          <p:cNvSpPr/>
          <p:nvPr/>
        </p:nvSpPr>
        <p:spPr>
          <a:xfrm>
            <a:off x="6337212" y="3908117"/>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Productividad ≥ 1,6</a:t>
            </a:r>
            <a:endParaRPr lang="en-US" sz="1200" kern="1200" dirty="0">
              <a:solidFill>
                <a:prstClr val="black"/>
              </a:solidFill>
              <a:latin typeface="Calibri" panose="020F0502020204030204"/>
              <a:ea typeface="+mn-ea"/>
              <a:cs typeface="+mn-cs"/>
            </a:endParaRPr>
          </a:p>
        </p:txBody>
      </p:sp>
      <p:sp>
        <p:nvSpPr>
          <p:cNvPr id="34" name="Text 29"/>
          <p:cNvSpPr/>
          <p:nvPr/>
        </p:nvSpPr>
        <p:spPr>
          <a:xfrm>
            <a:off x="6337212" y="4162117"/>
            <a:ext cx="2348221" cy="759178"/>
          </a:xfrm>
          <a:prstGeom prst="rect">
            <a:avLst/>
          </a:prstGeom>
          <a:noFill/>
          <a:ln/>
        </p:spPr>
        <p:txBody>
          <a:bodyPr wrap="square" lIns="16933" tIns="16933" rIns="16933" bIns="16933" rtlCol="0" anchor="t">
            <a:normAutofit/>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Preventivo (80) · Correctivo/Diag. (80) · Instalaciones (2) · 2 especialidades</a:t>
            </a:r>
            <a:endParaRPr lang="en-US" sz="1200" kern="1200" dirty="0">
              <a:solidFill>
                <a:prstClr val="black"/>
              </a:solidFill>
              <a:latin typeface="Calibri" panose="020F0502020204030204"/>
              <a:ea typeface="+mn-ea"/>
              <a:cs typeface="+mn-cs"/>
            </a:endParaRPr>
          </a:p>
        </p:txBody>
      </p:sp>
      <p:sp>
        <p:nvSpPr>
          <p:cNvPr id="35" name="Text 30"/>
          <p:cNvSpPr/>
          <p:nvPr/>
        </p:nvSpPr>
        <p:spPr>
          <a:xfrm>
            <a:off x="6337212"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$1.350.000 – $1.500.000</a:t>
            </a:r>
            <a:endParaRPr lang="en-US" sz="1200" kern="1200" dirty="0">
              <a:solidFill>
                <a:prstClr val="black"/>
              </a:solidFill>
              <a:latin typeface="Calibri" panose="020F0502020204030204"/>
              <a:ea typeface="+mn-ea"/>
              <a:cs typeface="+mn-cs"/>
            </a:endParaRPr>
          </a:p>
        </p:txBody>
      </p:sp>
      <p:sp>
        <p:nvSpPr>
          <p:cNvPr id="36" name="Text 31"/>
          <p:cNvSpPr/>
          <p:nvPr/>
        </p:nvSpPr>
        <p:spPr>
          <a:xfrm>
            <a:off x="633721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Bono $300.000</a:t>
            </a:r>
            <a:endParaRPr lang="en-US" sz="1200" kern="1200" dirty="0">
              <a:solidFill>
                <a:prstClr val="black"/>
              </a:solidFill>
              <a:latin typeface="Calibri" panose="020F0502020204030204"/>
              <a:ea typeface="+mn-ea"/>
              <a:cs typeface="+mn-cs"/>
            </a:endParaRPr>
          </a:p>
        </p:txBody>
      </p:sp>
      <p:sp>
        <p:nvSpPr>
          <p:cNvPr id="37" name="Shape 32"/>
          <p:cNvSpPr/>
          <p:nvPr/>
        </p:nvSpPr>
        <p:spPr>
          <a:xfrm>
            <a:off x="8921751" y="2316427"/>
            <a:ext cx="2635250" cy="3225712"/>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9099463" y="24687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FFFFFF"/>
                </a:solidFill>
                <a:latin typeface="Figtree" pitchFamily="34" charset="0"/>
                <a:ea typeface="Figtree" pitchFamily="34" charset="-122"/>
                <a:cs typeface="Figtree" pitchFamily="34" charset="-120"/>
              </a:rPr>
              <a:t>Senior</a:t>
            </a:r>
            <a:endParaRPr lang="en-US" sz="1800" kern="1200" dirty="0">
              <a:solidFill>
                <a:prstClr val="black"/>
              </a:solidFill>
              <a:latin typeface="Calibri" panose="020F0502020204030204"/>
              <a:ea typeface="+mn-ea"/>
              <a:cs typeface="+mn-cs"/>
            </a:endParaRPr>
          </a:p>
        </p:txBody>
      </p:sp>
      <p:sp>
        <p:nvSpPr>
          <p:cNvPr id="39" name="Text 34"/>
          <p:cNvSpPr/>
          <p:nvPr/>
        </p:nvSpPr>
        <p:spPr>
          <a:xfrm>
            <a:off x="9099463" y="28074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 18 meses · contrato indefinido</a:t>
            </a:r>
            <a:endParaRPr lang="en-US" sz="1200" kern="1200" dirty="0">
              <a:solidFill>
                <a:prstClr val="black"/>
              </a:solidFill>
              <a:latin typeface="Calibri" panose="020F0502020204030204"/>
              <a:ea typeface="+mn-ea"/>
              <a:cs typeface="+mn-cs"/>
            </a:endParaRPr>
          </a:p>
        </p:txBody>
      </p:sp>
      <p:sp>
        <p:nvSpPr>
          <p:cNvPr id="40" name="Text 35"/>
          <p:cNvSpPr/>
          <p:nvPr/>
        </p:nvSpPr>
        <p:spPr>
          <a:xfrm>
            <a:off x="9099463" y="3908117"/>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FFFFFF"/>
                </a:solidFill>
                <a:latin typeface="Figtree" pitchFamily="34" charset="0"/>
                <a:ea typeface="Figtree" pitchFamily="34" charset="-122"/>
                <a:cs typeface="Figtree" pitchFamily="34" charset="-120"/>
              </a:rPr>
              <a:t>Productividad ≥ 1,8</a:t>
            </a:r>
            <a:endParaRPr lang="en-US" sz="1200" kern="1200" dirty="0">
              <a:solidFill>
                <a:prstClr val="black"/>
              </a:solidFill>
              <a:latin typeface="Calibri" panose="020F0502020204030204"/>
              <a:ea typeface="+mn-ea"/>
              <a:cs typeface="+mn-cs"/>
            </a:endParaRPr>
          </a:p>
        </p:txBody>
      </p:sp>
      <p:sp>
        <p:nvSpPr>
          <p:cNvPr id="41" name="Text 36"/>
          <p:cNvSpPr/>
          <p:nvPr/>
        </p:nvSpPr>
        <p:spPr>
          <a:xfrm>
            <a:off x="9099463" y="4162117"/>
            <a:ext cx="2348221" cy="759178"/>
          </a:xfrm>
          <a:prstGeom prst="rect">
            <a:avLst/>
          </a:prstGeom>
          <a:noFill/>
          <a:ln/>
        </p:spPr>
        <p:txBody>
          <a:bodyPr wrap="square" lIns="16933" tIns="16933" rIns="16933" bIns="16933" rtlCol="0" anchor="t">
            <a:normAutofit/>
          </a:bodyPr>
          <a:lstStyle/>
          <a:p>
            <a:pPr defTabSz="609630">
              <a:buClrTx/>
            </a:pPr>
            <a:r>
              <a:rPr lang="en-US" sz="1200" kern="1200" dirty="0">
                <a:solidFill>
                  <a:srgbClr val="FFFFFF"/>
                </a:solidFill>
                <a:latin typeface="Figtree" pitchFamily="34" charset="0"/>
                <a:ea typeface="Figtree" pitchFamily="34" charset="-122"/>
                <a:cs typeface="Figtree" pitchFamily="34" charset="-120"/>
              </a:rPr>
              <a:t>Preventivo (100) · Correctivo/Diag. (200) · Instalaciones (5) · 3 especialidades</a:t>
            </a:r>
            <a:endParaRPr lang="en-US" sz="1200" kern="1200" dirty="0">
              <a:solidFill>
                <a:prstClr val="black"/>
              </a:solidFill>
              <a:latin typeface="Calibri" panose="020F0502020204030204"/>
              <a:ea typeface="+mn-ea"/>
              <a:cs typeface="+mn-cs"/>
            </a:endParaRPr>
          </a:p>
        </p:txBody>
      </p:sp>
      <p:sp>
        <p:nvSpPr>
          <p:cNvPr id="42" name="Text 37"/>
          <p:cNvSpPr/>
          <p:nvPr/>
        </p:nvSpPr>
        <p:spPr>
          <a:xfrm>
            <a:off x="9099463"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$1.550.000 – $1.850.000</a:t>
            </a:r>
            <a:endParaRPr lang="en-US" sz="1200" kern="1200" dirty="0">
              <a:solidFill>
                <a:prstClr val="black"/>
              </a:solidFill>
              <a:latin typeface="Calibri" panose="020F0502020204030204"/>
              <a:ea typeface="+mn-ea"/>
              <a:cs typeface="+mn-cs"/>
            </a:endParaRPr>
          </a:p>
        </p:txBody>
      </p:sp>
      <p:sp>
        <p:nvSpPr>
          <p:cNvPr id="43" name="Text 38"/>
          <p:cNvSpPr/>
          <p:nvPr/>
        </p:nvSpPr>
        <p:spPr>
          <a:xfrm>
            <a:off x="9099463"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Bono $400.000</a:t>
            </a:r>
            <a:endParaRPr lang="en-US" sz="1200" kern="1200" dirty="0">
              <a:solidFill>
                <a:prstClr val="black"/>
              </a:solidFill>
              <a:latin typeface="Calibri" panose="020F0502020204030204"/>
              <a:ea typeface="+mn-ea"/>
              <a:cs typeface="+mn-cs"/>
            </a:endParaRPr>
          </a:p>
        </p:txBody>
      </p:sp>
      <p:sp>
        <p:nvSpPr>
          <p:cNvPr id="44" name="Shape 39"/>
          <p:cNvSpPr/>
          <p:nvPr/>
        </p:nvSpPr>
        <p:spPr>
          <a:xfrm>
            <a:off x="635000" y="5745317"/>
            <a:ext cx="10922001" cy="393568"/>
          </a:xfrm>
          <a:prstGeom prst="rect">
            <a:avLst/>
          </a:prstGeom>
          <a:solidFill>
            <a:srgbClr val="F2F3F5"/>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5" name="Text 40"/>
          <p:cNvSpPr/>
          <p:nvPr/>
        </p:nvSpPr>
        <p:spPr>
          <a:xfrm>
            <a:off x="812712" y="5850379"/>
            <a:ext cx="1522754" cy="208845"/>
          </a:xfrm>
          <a:prstGeom prst="rect">
            <a:avLst/>
          </a:prstGeom>
          <a:noFill/>
          <a:ln/>
        </p:spPr>
        <p:txBody>
          <a:bodyPr wrap="non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 todos los niveles</a:t>
            </a:r>
            <a:endParaRPr lang="en-US" sz="1200" kern="1200" dirty="0">
              <a:solidFill>
                <a:prstClr val="black"/>
              </a:solidFill>
              <a:latin typeface="Calibri" panose="020F0502020204030204"/>
              <a:ea typeface="+mn-ea"/>
              <a:cs typeface="+mn-cs"/>
            </a:endParaRPr>
          </a:p>
        </p:txBody>
      </p:sp>
      <p:sp>
        <p:nvSpPr>
          <p:cNvPr id="46" name="Text 41"/>
          <p:cNvSpPr/>
          <p:nvPr/>
        </p:nvSpPr>
        <p:spPr>
          <a:xfrm>
            <a:off x="2374746" y="5846851"/>
            <a:ext cx="2635746"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Desempeño ≥ acorde a lo esperado</a:t>
            </a:r>
            <a:endParaRPr lang="en-US" sz="1200" kern="1200" dirty="0">
              <a:solidFill>
                <a:prstClr val="black"/>
              </a:solidFill>
              <a:latin typeface="Calibri" panose="020F0502020204030204"/>
              <a:ea typeface="+mn-ea"/>
              <a:cs typeface="+mn-cs"/>
            </a:endParaRPr>
          </a:p>
        </p:txBody>
      </p:sp>
      <p:sp>
        <p:nvSpPr>
          <p:cNvPr id="47" name="Text 42"/>
          <p:cNvSpPr/>
          <p:nvPr/>
        </p:nvSpPr>
        <p:spPr>
          <a:xfrm>
            <a:off x="4948591" y="5846851"/>
            <a:ext cx="1289800"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Formación ≥ 95%</a:t>
            </a:r>
            <a:endParaRPr lang="en-US" sz="1200" kern="1200" dirty="0">
              <a:solidFill>
                <a:prstClr val="black"/>
              </a:solidFill>
              <a:latin typeface="Calibri" panose="020F0502020204030204"/>
              <a:ea typeface="+mn-ea"/>
              <a:cs typeface="+mn-cs"/>
            </a:endParaRPr>
          </a:p>
        </p:txBody>
      </p:sp>
      <p:sp>
        <p:nvSpPr>
          <p:cNvPr id="48" name="Text 43"/>
          <p:cNvSpPr/>
          <p:nvPr/>
        </p:nvSpPr>
        <p:spPr>
          <a:xfrm>
            <a:off x="6298848" y="5846851"/>
            <a:ext cx="1302533"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teórica ≥ 80%</a:t>
            </a:r>
            <a:endParaRPr lang="en-US" sz="1200" kern="1200" dirty="0">
              <a:solidFill>
                <a:prstClr val="black"/>
              </a:solidFill>
              <a:latin typeface="Calibri" panose="020F0502020204030204"/>
              <a:ea typeface="+mn-ea"/>
              <a:cs typeface="+mn-cs"/>
            </a:endParaRPr>
          </a:p>
        </p:txBody>
      </p:sp>
      <p:sp>
        <p:nvSpPr>
          <p:cNvPr id="49" name="Text 44"/>
          <p:cNvSpPr/>
          <p:nvPr/>
        </p:nvSpPr>
        <p:spPr>
          <a:xfrm>
            <a:off x="7660680" y="5846851"/>
            <a:ext cx="1381357"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práctica ≥ 90%</a:t>
            </a:r>
            <a:endParaRPr lang="en-US" sz="1200" kern="1200" dirty="0">
              <a:solidFill>
                <a:prstClr val="black"/>
              </a:solidFill>
              <a:latin typeface="Calibri" panose="020F0502020204030204"/>
              <a:ea typeface="+mn-ea"/>
              <a:cs typeface="+mn-cs"/>
            </a:endParaRPr>
          </a:p>
        </p:txBody>
      </p:sp>
      <p:pic>
        <p:nvPicPr>
          <p:cNvPr id="50"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51"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52"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53" name="Text 45"/>
          <p:cNvSpPr/>
          <p:nvPr/>
        </p:nvSpPr>
        <p:spPr>
          <a:xfrm>
            <a:off x="11798874" y="6484056"/>
            <a:ext cx="11374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Status de cada técnico en el plan de carrera</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246519"/>
            <a:ext cx="2095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0" y="986896"/>
            <a:ext cx="2158365"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Técnico</a:t>
            </a:r>
            <a:endParaRPr lang="en-US" sz="1200" kern="1200" dirty="0">
              <a:solidFill>
                <a:prstClr val="black"/>
              </a:solidFill>
              <a:latin typeface="Calibri" panose="020F0502020204030204"/>
              <a:ea typeface="+mn-ea"/>
              <a:cs typeface="+mn-cs"/>
            </a:endParaRPr>
          </a:p>
        </p:txBody>
      </p:sp>
      <p:sp>
        <p:nvSpPr>
          <p:cNvPr id="9" name="Shape 4"/>
          <p:cNvSpPr/>
          <p:nvPr/>
        </p:nvSpPr>
        <p:spPr>
          <a:xfrm>
            <a:off x="2730500" y="1246519"/>
            <a:ext cx="1206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 name="Text 5"/>
          <p:cNvSpPr/>
          <p:nvPr/>
        </p:nvSpPr>
        <p:spPr>
          <a:xfrm>
            <a:off x="2730500" y="986896"/>
            <a:ext cx="12573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Nivel actual</a:t>
            </a:r>
            <a:endParaRPr lang="en-US" sz="1200" kern="1200" dirty="0">
              <a:solidFill>
                <a:prstClr val="black"/>
              </a:solidFill>
              <a:latin typeface="Calibri" panose="020F0502020204030204"/>
              <a:ea typeface="+mn-ea"/>
              <a:cs typeface="+mn-cs"/>
            </a:endParaRPr>
          </a:p>
        </p:txBody>
      </p:sp>
      <p:sp>
        <p:nvSpPr>
          <p:cNvPr id="11" name="Shape 6"/>
          <p:cNvSpPr/>
          <p:nvPr/>
        </p:nvSpPr>
        <p:spPr>
          <a:xfrm>
            <a:off x="3937000" y="1246519"/>
            <a:ext cx="1651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 name="Text 7"/>
          <p:cNvSpPr/>
          <p:nvPr/>
        </p:nvSpPr>
        <p:spPr>
          <a:xfrm>
            <a:off x="3937000" y="986896"/>
            <a:ext cx="1701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Supervisor</a:t>
            </a:r>
            <a:endParaRPr lang="en-US" sz="1200" kern="1200" dirty="0">
              <a:solidFill>
                <a:prstClr val="black"/>
              </a:solidFill>
              <a:latin typeface="Calibri" panose="020F0502020204030204"/>
              <a:ea typeface="+mn-ea"/>
              <a:cs typeface="+mn-cs"/>
            </a:endParaRPr>
          </a:p>
        </p:txBody>
      </p:sp>
      <p:sp>
        <p:nvSpPr>
          <p:cNvPr id="13" name="Shape 8"/>
          <p:cNvSpPr/>
          <p:nvPr/>
        </p:nvSpPr>
        <p:spPr>
          <a:xfrm>
            <a:off x="5588001" y="1246519"/>
            <a:ext cx="1270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5588001" y="986896"/>
            <a:ext cx="1320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Próximo nivel</a:t>
            </a:r>
            <a:endParaRPr lang="en-US" sz="1200" kern="1200" dirty="0">
              <a:solidFill>
                <a:prstClr val="black"/>
              </a:solidFill>
              <a:latin typeface="Calibri" panose="020F0502020204030204"/>
              <a:ea typeface="+mn-ea"/>
              <a:cs typeface="+mn-cs"/>
            </a:endParaRPr>
          </a:p>
        </p:txBody>
      </p:sp>
      <p:sp>
        <p:nvSpPr>
          <p:cNvPr id="15" name="Shape 10"/>
          <p:cNvSpPr/>
          <p:nvPr/>
        </p:nvSpPr>
        <p:spPr>
          <a:xfrm>
            <a:off x="6858000" y="1246519"/>
            <a:ext cx="2794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 name="Text 11"/>
          <p:cNvSpPr/>
          <p:nvPr/>
        </p:nvSpPr>
        <p:spPr>
          <a:xfrm>
            <a:off x="6858000" y="986896"/>
            <a:ext cx="287782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Para subir necesita</a:t>
            </a:r>
            <a:endParaRPr lang="en-US" sz="1200" kern="1200" dirty="0">
              <a:solidFill>
                <a:prstClr val="black"/>
              </a:solidFill>
              <a:latin typeface="Calibri" panose="020F0502020204030204"/>
              <a:ea typeface="+mn-ea"/>
              <a:cs typeface="+mn-cs"/>
            </a:endParaRPr>
          </a:p>
        </p:txBody>
      </p:sp>
      <p:sp>
        <p:nvSpPr>
          <p:cNvPr id="17" name="Shape 12"/>
          <p:cNvSpPr/>
          <p:nvPr/>
        </p:nvSpPr>
        <p:spPr>
          <a:xfrm>
            <a:off x="9652001" y="1246519"/>
            <a:ext cx="1905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8" name="Text 13"/>
          <p:cNvSpPr/>
          <p:nvPr/>
        </p:nvSpPr>
        <p:spPr>
          <a:xfrm>
            <a:off x="9652001" y="986896"/>
            <a:ext cx="196215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Al subir</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155475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635000" y="131425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Eduardo Acevedo</a:t>
            </a:r>
            <a:endParaRPr lang="en-US" sz="1200" kern="1200" dirty="0">
              <a:solidFill>
                <a:prstClr val="black"/>
              </a:solidFill>
              <a:latin typeface="Calibri" panose="020F0502020204030204"/>
              <a:ea typeface="+mn-ea"/>
              <a:cs typeface="+mn-cs"/>
            </a:endParaRPr>
          </a:p>
        </p:txBody>
      </p:sp>
      <p:sp>
        <p:nvSpPr>
          <p:cNvPr id="21" name="Shape 16"/>
          <p:cNvSpPr/>
          <p:nvPr/>
        </p:nvSpPr>
        <p:spPr>
          <a:xfrm>
            <a:off x="2730500" y="155475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2" name="Shape 17"/>
          <p:cNvSpPr/>
          <p:nvPr/>
        </p:nvSpPr>
        <p:spPr>
          <a:xfrm>
            <a:off x="2730500" y="1295246"/>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3" name="Text 18"/>
          <p:cNvSpPr/>
          <p:nvPr/>
        </p:nvSpPr>
        <p:spPr>
          <a:xfrm>
            <a:off x="2806701" y="1314296"/>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937000" y="155475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937000" y="131425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26" name="Shape 21"/>
          <p:cNvSpPr/>
          <p:nvPr/>
        </p:nvSpPr>
        <p:spPr>
          <a:xfrm>
            <a:off x="5588001" y="155475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7" name="Text 22"/>
          <p:cNvSpPr/>
          <p:nvPr/>
        </p:nvSpPr>
        <p:spPr>
          <a:xfrm>
            <a:off x="5588001" y="131425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28" name="Shape 23"/>
          <p:cNvSpPr/>
          <p:nvPr/>
        </p:nvSpPr>
        <p:spPr>
          <a:xfrm>
            <a:off x="6858000" y="155828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9" name="Text 24"/>
          <p:cNvSpPr/>
          <p:nvPr/>
        </p:nvSpPr>
        <p:spPr>
          <a:xfrm>
            <a:off x="6858000" y="1310724"/>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30" name="Shape 25"/>
          <p:cNvSpPr/>
          <p:nvPr/>
        </p:nvSpPr>
        <p:spPr>
          <a:xfrm>
            <a:off x="9652001" y="1554759"/>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9652001" y="1314251"/>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32" name="Shape 27"/>
          <p:cNvSpPr/>
          <p:nvPr/>
        </p:nvSpPr>
        <p:spPr>
          <a:xfrm>
            <a:off x="635000" y="1866526"/>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3" name="Text 28"/>
          <p:cNvSpPr/>
          <p:nvPr/>
        </p:nvSpPr>
        <p:spPr>
          <a:xfrm>
            <a:off x="635000" y="1626019"/>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Daniel Torres</a:t>
            </a:r>
            <a:endParaRPr lang="en-US" sz="1200" kern="1200" dirty="0">
              <a:solidFill>
                <a:prstClr val="black"/>
              </a:solidFill>
              <a:latin typeface="Calibri" panose="020F0502020204030204"/>
              <a:ea typeface="+mn-ea"/>
              <a:cs typeface="+mn-cs"/>
            </a:endParaRPr>
          </a:p>
        </p:txBody>
      </p:sp>
      <p:sp>
        <p:nvSpPr>
          <p:cNvPr id="34" name="Shape 29"/>
          <p:cNvSpPr/>
          <p:nvPr/>
        </p:nvSpPr>
        <p:spPr>
          <a:xfrm>
            <a:off x="2730500" y="1866526"/>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5" name="Shape 30"/>
          <p:cNvSpPr/>
          <p:nvPr/>
        </p:nvSpPr>
        <p:spPr>
          <a:xfrm>
            <a:off x="2730500" y="1607013"/>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6" name="Text 31"/>
          <p:cNvSpPr/>
          <p:nvPr/>
        </p:nvSpPr>
        <p:spPr>
          <a:xfrm>
            <a:off x="2806701" y="1626063"/>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37" name="Shape 32"/>
          <p:cNvSpPr/>
          <p:nvPr/>
        </p:nvSpPr>
        <p:spPr>
          <a:xfrm>
            <a:off x="3937000" y="1866526"/>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3937000" y="1626019"/>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39" name="Shape 34"/>
          <p:cNvSpPr/>
          <p:nvPr/>
        </p:nvSpPr>
        <p:spPr>
          <a:xfrm>
            <a:off x="5588001" y="1866526"/>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0" name="Text 35"/>
          <p:cNvSpPr/>
          <p:nvPr/>
        </p:nvSpPr>
        <p:spPr>
          <a:xfrm>
            <a:off x="5588001" y="1626019"/>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41" name="Shape 36"/>
          <p:cNvSpPr/>
          <p:nvPr/>
        </p:nvSpPr>
        <p:spPr>
          <a:xfrm>
            <a:off x="6858000" y="1870054"/>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2" name="Text 37"/>
          <p:cNvSpPr/>
          <p:nvPr/>
        </p:nvSpPr>
        <p:spPr>
          <a:xfrm>
            <a:off x="6858000" y="1622491"/>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43" name="Shape 38"/>
          <p:cNvSpPr/>
          <p:nvPr/>
        </p:nvSpPr>
        <p:spPr>
          <a:xfrm>
            <a:off x="9652001" y="1866526"/>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4" name="Text 39"/>
          <p:cNvSpPr/>
          <p:nvPr/>
        </p:nvSpPr>
        <p:spPr>
          <a:xfrm>
            <a:off x="9652001" y="1626019"/>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45" name="Shape 40"/>
          <p:cNvSpPr/>
          <p:nvPr/>
        </p:nvSpPr>
        <p:spPr>
          <a:xfrm>
            <a:off x="635000" y="217829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6" name="Text 41"/>
          <p:cNvSpPr/>
          <p:nvPr/>
        </p:nvSpPr>
        <p:spPr>
          <a:xfrm>
            <a:off x="635000" y="1937787"/>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Christopher Amesty</a:t>
            </a:r>
            <a:endParaRPr lang="en-US" sz="1200" kern="1200" dirty="0">
              <a:solidFill>
                <a:prstClr val="black"/>
              </a:solidFill>
              <a:latin typeface="Calibri" panose="020F0502020204030204"/>
              <a:ea typeface="+mn-ea"/>
              <a:cs typeface="+mn-cs"/>
            </a:endParaRPr>
          </a:p>
        </p:txBody>
      </p:sp>
      <p:sp>
        <p:nvSpPr>
          <p:cNvPr id="47" name="Shape 42"/>
          <p:cNvSpPr/>
          <p:nvPr/>
        </p:nvSpPr>
        <p:spPr>
          <a:xfrm>
            <a:off x="2730500" y="217829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8" name="Shape 43"/>
          <p:cNvSpPr/>
          <p:nvPr/>
        </p:nvSpPr>
        <p:spPr>
          <a:xfrm>
            <a:off x="2730500" y="1918781"/>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9" name="Text 44"/>
          <p:cNvSpPr/>
          <p:nvPr/>
        </p:nvSpPr>
        <p:spPr>
          <a:xfrm>
            <a:off x="2806701" y="1937831"/>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50" name="Shape 45"/>
          <p:cNvSpPr/>
          <p:nvPr/>
        </p:nvSpPr>
        <p:spPr>
          <a:xfrm>
            <a:off x="3937000" y="217829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1" name="Text 46"/>
          <p:cNvSpPr/>
          <p:nvPr/>
        </p:nvSpPr>
        <p:spPr>
          <a:xfrm>
            <a:off x="3937000" y="1937787"/>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52" name="Shape 47"/>
          <p:cNvSpPr/>
          <p:nvPr/>
        </p:nvSpPr>
        <p:spPr>
          <a:xfrm>
            <a:off x="5588001" y="217829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3" name="Text 48"/>
          <p:cNvSpPr/>
          <p:nvPr/>
        </p:nvSpPr>
        <p:spPr>
          <a:xfrm>
            <a:off x="5588001" y="1937787"/>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54" name="Shape 49"/>
          <p:cNvSpPr/>
          <p:nvPr/>
        </p:nvSpPr>
        <p:spPr>
          <a:xfrm>
            <a:off x="6858000" y="218182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5" name="Text 50"/>
          <p:cNvSpPr/>
          <p:nvPr/>
        </p:nvSpPr>
        <p:spPr>
          <a:xfrm>
            <a:off x="6858000" y="1934259"/>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56" name="Shape 51"/>
          <p:cNvSpPr/>
          <p:nvPr/>
        </p:nvSpPr>
        <p:spPr>
          <a:xfrm>
            <a:off x="9652001" y="217829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7" name="Text 52"/>
          <p:cNvSpPr/>
          <p:nvPr/>
        </p:nvSpPr>
        <p:spPr>
          <a:xfrm>
            <a:off x="9652001" y="1937787"/>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58" name="Shape 53"/>
          <p:cNvSpPr/>
          <p:nvPr/>
        </p:nvSpPr>
        <p:spPr>
          <a:xfrm>
            <a:off x="635000" y="249006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9" name="Text 54"/>
          <p:cNvSpPr/>
          <p:nvPr/>
        </p:nvSpPr>
        <p:spPr>
          <a:xfrm>
            <a:off x="635000" y="2249554"/>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Danko Vasquez</a:t>
            </a:r>
            <a:endParaRPr lang="en-US" sz="1200" kern="1200" dirty="0">
              <a:solidFill>
                <a:prstClr val="black"/>
              </a:solidFill>
              <a:latin typeface="Calibri" panose="020F0502020204030204"/>
              <a:ea typeface="+mn-ea"/>
              <a:cs typeface="+mn-cs"/>
            </a:endParaRPr>
          </a:p>
        </p:txBody>
      </p:sp>
      <p:sp>
        <p:nvSpPr>
          <p:cNvPr id="60" name="Shape 55"/>
          <p:cNvSpPr/>
          <p:nvPr/>
        </p:nvSpPr>
        <p:spPr>
          <a:xfrm>
            <a:off x="2730500" y="249006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1" name="Shape 56"/>
          <p:cNvSpPr/>
          <p:nvPr/>
        </p:nvSpPr>
        <p:spPr>
          <a:xfrm>
            <a:off x="2730500" y="2230548"/>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2" name="Text 57"/>
          <p:cNvSpPr/>
          <p:nvPr/>
        </p:nvSpPr>
        <p:spPr>
          <a:xfrm>
            <a:off x="2806701" y="2249598"/>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63" name="Shape 58"/>
          <p:cNvSpPr/>
          <p:nvPr/>
        </p:nvSpPr>
        <p:spPr>
          <a:xfrm>
            <a:off x="3937000" y="249006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4" name="Text 59"/>
          <p:cNvSpPr/>
          <p:nvPr/>
        </p:nvSpPr>
        <p:spPr>
          <a:xfrm>
            <a:off x="3937000" y="2249554"/>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65" name="Shape 60"/>
          <p:cNvSpPr/>
          <p:nvPr/>
        </p:nvSpPr>
        <p:spPr>
          <a:xfrm>
            <a:off x="5588001" y="249006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6" name="Text 61"/>
          <p:cNvSpPr/>
          <p:nvPr/>
        </p:nvSpPr>
        <p:spPr>
          <a:xfrm>
            <a:off x="5588001" y="2249554"/>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67" name="Shape 62"/>
          <p:cNvSpPr/>
          <p:nvPr/>
        </p:nvSpPr>
        <p:spPr>
          <a:xfrm>
            <a:off x="6858000" y="249358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8" name="Text 63"/>
          <p:cNvSpPr/>
          <p:nvPr/>
        </p:nvSpPr>
        <p:spPr>
          <a:xfrm>
            <a:off x="6858000" y="2246026"/>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69" name="Shape 64"/>
          <p:cNvSpPr/>
          <p:nvPr/>
        </p:nvSpPr>
        <p:spPr>
          <a:xfrm>
            <a:off x="9652001" y="249006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0" name="Text 65"/>
          <p:cNvSpPr/>
          <p:nvPr/>
        </p:nvSpPr>
        <p:spPr>
          <a:xfrm>
            <a:off x="9652001" y="2249554"/>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71" name="Shape 66"/>
          <p:cNvSpPr/>
          <p:nvPr/>
        </p:nvSpPr>
        <p:spPr>
          <a:xfrm>
            <a:off x="635000" y="2801828"/>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2" name="Text 67"/>
          <p:cNvSpPr/>
          <p:nvPr/>
        </p:nvSpPr>
        <p:spPr>
          <a:xfrm>
            <a:off x="635000" y="256132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Gabriel Gomez</a:t>
            </a:r>
            <a:endParaRPr lang="en-US" sz="1200" kern="1200" dirty="0">
              <a:solidFill>
                <a:prstClr val="black"/>
              </a:solidFill>
              <a:latin typeface="Calibri" panose="020F0502020204030204"/>
              <a:ea typeface="+mn-ea"/>
              <a:cs typeface="+mn-cs"/>
            </a:endParaRPr>
          </a:p>
        </p:txBody>
      </p:sp>
      <p:sp>
        <p:nvSpPr>
          <p:cNvPr id="73" name="Shape 68"/>
          <p:cNvSpPr/>
          <p:nvPr/>
        </p:nvSpPr>
        <p:spPr>
          <a:xfrm>
            <a:off x="2730500" y="2801828"/>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4" name="Shape 69"/>
          <p:cNvSpPr/>
          <p:nvPr/>
        </p:nvSpPr>
        <p:spPr>
          <a:xfrm>
            <a:off x="2730500" y="2542315"/>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5" name="Text 70"/>
          <p:cNvSpPr/>
          <p:nvPr/>
        </p:nvSpPr>
        <p:spPr>
          <a:xfrm>
            <a:off x="2806701" y="2561365"/>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76" name="Shape 71"/>
          <p:cNvSpPr/>
          <p:nvPr/>
        </p:nvSpPr>
        <p:spPr>
          <a:xfrm>
            <a:off x="3937000" y="2801828"/>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7" name="Text 72"/>
          <p:cNvSpPr/>
          <p:nvPr/>
        </p:nvSpPr>
        <p:spPr>
          <a:xfrm>
            <a:off x="3937000" y="256132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78" name="Shape 73"/>
          <p:cNvSpPr/>
          <p:nvPr/>
        </p:nvSpPr>
        <p:spPr>
          <a:xfrm>
            <a:off x="5588001" y="2801828"/>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9" name="Text 74"/>
          <p:cNvSpPr/>
          <p:nvPr/>
        </p:nvSpPr>
        <p:spPr>
          <a:xfrm>
            <a:off x="5588001" y="256132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80" name="Shape 75"/>
          <p:cNvSpPr/>
          <p:nvPr/>
        </p:nvSpPr>
        <p:spPr>
          <a:xfrm>
            <a:off x="6858000" y="2805356"/>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1" name="Text 76"/>
          <p:cNvSpPr/>
          <p:nvPr/>
        </p:nvSpPr>
        <p:spPr>
          <a:xfrm>
            <a:off x="6858000" y="2557793"/>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82" name="Shape 77"/>
          <p:cNvSpPr/>
          <p:nvPr/>
        </p:nvSpPr>
        <p:spPr>
          <a:xfrm>
            <a:off x="9652001" y="2801828"/>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3" name="Text 78"/>
          <p:cNvSpPr/>
          <p:nvPr/>
        </p:nvSpPr>
        <p:spPr>
          <a:xfrm>
            <a:off x="9652001" y="2561321"/>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84" name="Shape 79"/>
          <p:cNvSpPr/>
          <p:nvPr/>
        </p:nvSpPr>
        <p:spPr>
          <a:xfrm>
            <a:off x="635000" y="320531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5" name="Text 80"/>
          <p:cNvSpPr/>
          <p:nvPr/>
        </p:nvSpPr>
        <p:spPr>
          <a:xfrm>
            <a:off x="635000" y="296481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Maximiliano Cerpa</a:t>
            </a:r>
            <a:endParaRPr lang="en-US" sz="1200" kern="1200" dirty="0">
              <a:solidFill>
                <a:prstClr val="black"/>
              </a:solidFill>
              <a:latin typeface="Calibri" panose="020F0502020204030204"/>
              <a:ea typeface="+mn-ea"/>
              <a:cs typeface="+mn-cs"/>
            </a:endParaRPr>
          </a:p>
        </p:txBody>
      </p:sp>
      <p:sp>
        <p:nvSpPr>
          <p:cNvPr id="86" name="Shape 81"/>
          <p:cNvSpPr/>
          <p:nvPr/>
        </p:nvSpPr>
        <p:spPr>
          <a:xfrm>
            <a:off x="2730500" y="320531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7" name="Shape 82"/>
          <p:cNvSpPr/>
          <p:nvPr/>
        </p:nvSpPr>
        <p:spPr>
          <a:xfrm>
            <a:off x="2730501" y="2945805"/>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8" name="Text 83"/>
          <p:cNvSpPr/>
          <p:nvPr/>
        </p:nvSpPr>
        <p:spPr>
          <a:xfrm>
            <a:off x="2806701" y="2964855"/>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89" name="Shape 84"/>
          <p:cNvSpPr/>
          <p:nvPr/>
        </p:nvSpPr>
        <p:spPr>
          <a:xfrm>
            <a:off x="3937000" y="320531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0" name="Text 85"/>
          <p:cNvSpPr/>
          <p:nvPr/>
        </p:nvSpPr>
        <p:spPr>
          <a:xfrm>
            <a:off x="3937000" y="296481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91" name="Shape 86"/>
          <p:cNvSpPr/>
          <p:nvPr/>
        </p:nvSpPr>
        <p:spPr>
          <a:xfrm>
            <a:off x="5588001" y="320531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2" name="Text 87"/>
          <p:cNvSpPr/>
          <p:nvPr/>
        </p:nvSpPr>
        <p:spPr>
          <a:xfrm>
            <a:off x="5588001" y="296481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93" name="Shape 88"/>
          <p:cNvSpPr/>
          <p:nvPr/>
        </p:nvSpPr>
        <p:spPr>
          <a:xfrm>
            <a:off x="6858000" y="330056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4" name="Text 89"/>
          <p:cNvSpPr/>
          <p:nvPr/>
        </p:nvSpPr>
        <p:spPr>
          <a:xfrm>
            <a:off x="6858000" y="2869561"/>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95" name="Shape 90"/>
          <p:cNvSpPr/>
          <p:nvPr/>
        </p:nvSpPr>
        <p:spPr>
          <a:xfrm>
            <a:off x="9652001" y="3297040"/>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6" name="Text 91"/>
          <p:cNvSpPr/>
          <p:nvPr/>
        </p:nvSpPr>
        <p:spPr>
          <a:xfrm>
            <a:off x="9652001" y="2873089"/>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97" name="Shape 92"/>
          <p:cNvSpPr/>
          <p:nvPr/>
        </p:nvSpPr>
        <p:spPr>
          <a:xfrm>
            <a:off x="635000" y="370052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8" name="Text 93"/>
          <p:cNvSpPr/>
          <p:nvPr/>
        </p:nvSpPr>
        <p:spPr>
          <a:xfrm>
            <a:off x="635000" y="3460023"/>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Nicolás Rodriguez</a:t>
            </a:r>
            <a:endParaRPr lang="en-US" sz="1200" kern="1200" dirty="0">
              <a:solidFill>
                <a:prstClr val="black"/>
              </a:solidFill>
              <a:latin typeface="Calibri" panose="020F0502020204030204"/>
              <a:ea typeface="+mn-ea"/>
              <a:cs typeface="+mn-cs"/>
            </a:endParaRPr>
          </a:p>
        </p:txBody>
      </p:sp>
      <p:sp>
        <p:nvSpPr>
          <p:cNvPr id="99" name="Shape 94"/>
          <p:cNvSpPr/>
          <p:nvPr/>
        </p:nvSpPr>
        <p:spPr>
          <a:xfrm>
            <a:off x="2730500" y="370052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0" name="Shape 95"/>
          <p:cNvSpPr/>
          <p:nvPr/>
        </p:nvSpPr>
        <p:spPr>
          <a:xfrm>
            <a:off x="2730501" y="3441017"/>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1" name="Text 96"/>
          <p:cNvSpPr/>
          <p:nvPr/>
        </p:nvSpPr>
        <p:spPr>
          <a:xfrm>
            <a:off x="2806701" y="3460067"/>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102" name="Shape 97"/>
          <p:cNvSpPr/>
          <p:nvPr/>
        </p:nvSpPr>
        <p:spPr>
          <a:xfrm>
            <a:off x="3937000" y="370052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3" name="Text 98"/>
          <p:cNvSpPr/>
          <p:nvPr/>
        </p:nvSpPr>
        <p:spPr>
          <a:xfrm>
            <a:off x="3937000" y="3460023"/>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04" name="Shape 99"/>
          <p:cNvSpPr/>
          <p:nvPr/>
        </p:nvSpPr>
        <p:spPr>
          <a:xfrm>
            <a:off x="5588001" y="370052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5" name="Text 100"/>
          <p:cNvSpPr/>
          <p:nvPr/>
        </p:nvSpPr>
        <p:spPr>
          <a:xfrm>
            <a:off x="5588001" y="3460023"/>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06" name="Shape 101"/>
          <p:cNvSpPr/>
          <p:nvPr/>
        </p:nvSpPr>
        <p:spPr>
          <a:xfrm>
            <a:off x="6858000" y="379577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7" name="Text 102"/>
          <p:cNvSpPr/>
          <p:nvPr/>
        </p:nvSpPr>
        <p:spPr>
          <a:xfrm>
            <a:off x="6858000" y="3364773"/>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108" name="Shape 103"/>
          <p:cNvSpPr/>
          <p:nvPr/>
        </p:nvSpPr>
        <p:spPr>
          <a:xfrm>
            <a:off x="9652001" y="379225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9" name="Text 104"/>
          <p:cNvSpPr/>
          <p:nvPr/>
        </p:nvSpPr>
        <p:spPr>
          <a:xfrm>
            <a:off x="9652001" y="3368300"/>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110" name="Shape 105"/>
          <p:cNvSpPr/>
          <p:nvPr/>
        </p:nvSpPr>
        <p:spPr>
          <a:xfrm>
            <a:off x="635000" y="419574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1" name="Text 106"/>
          <p:cNvSpPr/>
          <p:nvPr/>
        </p:nvSpPr>
        <p:spPr>
          <a:xfrm>
            <a:off x="635000" y="3955235"/>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Ayron Arnaiz</a:t>
            </a:r>
            <a:endParaRPr lang="en-US" sz="1200" kern="1200" dirty="0">
              <a:solidFill>
                <a:prstClr val="black"/>
              </a:solidFill>
              <a:latin typeface="Calibri" panose="020F0502020204030204"/>
              <a:ea typeface="+mn-ea"/>
              <a:cs typeface="+mn-cs"/>
            </a:endParaRPr>
          </a:p>
        </p:txBody>
      </p:sp>
      <p:sp>
        <p:nvSpPr>
          <p:cNvPr id="112" name="Shape 107"/>
          <p:cNvSpPr/>
          <p:nvPr/>
        </p:nvSpPr>
        <p:spPr>
          <a:xfrm>
            <a:off x="2730500" y="419574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3" name="Shape 108"/>
          <p:cNvSpPr/>
          <p:nvPr/>
        </p:nvSpPr>
        <p:spPr>
          <a:xfrm>
            <a:off x="2730501" y="3936229"/>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4" name="Text 109"/>
          <p:cNvSpPr/>
          <p:nvPr/>
        </p:nvSpPr>
        <p:spPr>
          <a:xfrm>
            <a:off x="2806701" y="3955279"/>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115" name="Shape 110"/>
          <p:cNvSpPr/>
          <p:nvPr/>
        </p:nvSpPr>
        <p:spPr>
          <a:xfrm>
            <a:off x="3937000" y="419574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6" name="Text 111"/>
          <p:cNvSpPr/>
          <p:nvPr/>
        </p:nvSpPr>
        <p:spPr>
          <a:xfrm>
            <a:off x="3937000" y="3955235"/>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17" name="Shape 112"/>
          <p:cNvSpPr/>
          <p:nvPr/>
        </p:nvSpPr>
        <p:spPr>
          <a:xfrm>
            <a:off x="5588001" y="419574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8" name="Text 113"/>
          <p:cNvSpPr/>
          <p:nvPr/>
        </p:nvSpPr>
        <p:spPr>
          <a:xfrm>
            <a:off x="5588001" y="3955235"/>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19" name="Shape 114"/>
          <p:cNvSpPr/>
          <p:nvPr/>
        </p:nvSpPr>
        <p:spPr>
          <a:xfrm>
            <a:off x="6858000" y="429099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0" name="Text 115"/>
          <p:cNvSpPr/>
          <p:nvPr/>
        </p:nvSpPr>
        <p:spPr>
          <a:xfrm>
            <a:off x="6858000" y="3859985"/>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121" name="Shape 116"/>
          <p:cNvSpPr/>
          <p:nvPr/>
        </p:nvSpPr>
        <p:spPr>
          <a:xfrm>
            <a:off x="9652001" y="428746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2" name="Text 117"/>
          <p:cNvSpPr/>
          <p:nvPr/>
        </p:nvSpPr>
        <p:spPr>
          <a:xfrm>
            <a:off x="9652001" y="3863512"/>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123" name="Shape 118"/>
          <p:cNvSpPr/>
          <p:nvPr/>
        </p:nvSpPr>
        <p:spPr>
          <a:xfrm>
            <a:off x="635000" y="469095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4" name="Text 119"/>
          <p:cNvSpPr/>
          <p:nvPr/>
        </p:nvSpPr>
        <p:spPr>
          <a:xfrm>
            <a:off x="635000" y="4450446"/>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Luis Quezada</a:t>
            </a:r>
            <a:endParaRPr lang="en-US" sz="1200" kern="1200" dirty="0">
              <a:solidFill>
                <a:prstClr val="black"/>
              </a:solidFill>
              <a:latin typeface="Calibri" panose="020F0502020204030204"/>
              <a:ea typeface="+mn-ea"/>
              <a:cs typeface="+mn-cs"/>
            </a:endParaRPr>
          </a:p>
        </p:txBody>
      </p:sp>
      <p:sp>
        <p:nvSpPr>
          <p:cNvPr id="125" name="Shape 120"/>
          <p:cNvSpPr/>
          <p:nvPr/>
        </p:nvSpPr>
        <p:spPr>
          <a:xfrm>
            <a:off x="2730500" y="469095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6" name="Shape 121"/>
          <p:cNvSpPr/>
          <p:nvPr/>
        </p:nvSpPr>
        <p:spPr>
          <a:xfrm>
            <a:off x="2730501" y="4431441"/>
            <a:ext cx="921191" cy="221368"/>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7" name="Text 122"/>
          <p:cNvSpPr/>
          <p:nvPr/>
        </p:nvSpPr>
        <p:spPr>
          <a:xfrm>
            <a:off x="2806700" y="4450491"/>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28" name="Shape 123"/>
          <p:cNvSpPr/>
          <p:nvPr/>
        </p:nvSpPr>
        <p:spPr>
          <a:xfrm>
            <a:off x="3937000" y="469095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9" name="Text 124"/>
          <p:cNvSpPr/>
          <p:nvPr/>
        </p:nvSpPr>
        <p:spPr>
          <a:xfrm>
            <a:off x="3937000" y="4450446"/>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130" name="Shape 125"/>
          <p:cNvSpPr/>
          <p:nvPr/>
        </p:nvSpPr>
        <p:spPr>
          <a:xfrm>
            <a:off x="5588001" y="469095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1" name="Text 126"/>
          <p:cNvSpPr/>
          <p:nvPr/>
        </p:nvSpPr>
        <p:spPr>
          <a:xfrm>
            <a:off x="5588001" y="4450446"/>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32" name="Shape 127"/>
          <p:cNvSpPr/>
          <p:nvPr/>
        </p:nvSpPr>
        <p:spPr>
          <a:xfrm>
            <a:off x="6858000" y="4786203"/>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3" name="Text 128"/>
          <p:cNvSpPr/>
          <p:nvPr/>
        </p:nvSpPr>
        <p:spPr>
          <a:xfrm>
            <a:off x="6858000" y="4355196"/>
            <a:ext cx="2877820" cy="399256"/>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34" name="Shape 129"/>
          <p:cNvSpPr/>
          <p:nvPr/>
        </p:nvSpPr>
        <p:spPr>
          <a:xfrm>
            <a:off x="9652001" y="4782675"/>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5" name="Text 130"/>
          <p:cNvSpPr/>
          <p:nvPr/>
        </p:nvSpPr>
        <p:spPr>
          <a:xfrm>
            <a:off x="9652001" y="4358724"/>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$1,55–1,85 MM · bono $400 mil</a:t>
            </a:r>
            <a:endParaRPr lang="en-US" sz="1200" kern="1200" dirty="0">
              <a:solidFill>
                <a:prstClr val="black"/>
              </a:solidFill>
              <a:latin typeface="Calibri" panose="020F0502020204030204"/>
              <a:ea typeface="+mn-ea"/>
              <a:cs typeface="+mn-cs"/>
            </a:endParaRPr>
          </a:p>
        </p:txBody>
      </p:sp>
      <p:sp>
        <p:nvSpPr>
          <p:cNvPr id="136" name="Shape 131"/>
          <p:cNvSpPr/>
          <p:nvPr/>
        </p:nvSpPr>
        <p:spPr>
          <a:xfrm>
            <a:off x="635000" y="518616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7" name="Text 132"/>
          <p:cNvSpPr/>
          <p:nvPr/>
        </p:nvSpPr>
        <p:spPr>
          <a:xfrm>
            <a:off x="635000" y="4945658"/>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Enzo Valle</a:t>
            </a:r>
            <a:endParaRPr lang="en-US" sz="1200" kern="1200" dirty="0">
              <a:solidFill>
                <a:prstClr val="black"/>
              </a:solidFill>
              <a:latin typeface="Calibri" panose="020F0502020204030204"/>
              <a:ea typeface="+mn-ea"/>
              <a:cs typeface="+mn-cs"/>
            </a:endParaRPr>
          </a:p>
        </p:txBody>
      </p:sp>
      <p:sp>
        <p:nvSpPr>
          <p:cNvPr id="138" name="Shape 133"/>
          <p:cNvSpPr/>
          <p:nvPr/>
        </p:nvSpPr>
        <p:spPr>
          <a:xfrm>
            <a:off x="2730500" y="518616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9" name="Shape 134"/>
          <p:cNvSpPr/>
          <p:nvPr/>
        </p:nvSpPr>
        <p:spPr>
          <a:xfrm>
            <a:off x="2730501" y="4926652"/>
            <a:ext cx="921191" cy="221368"/>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0" name="Text 135"/>
          <p:cNvSpPr/>
          <p:nvPr/>
        </p:nvSpPr>
        <p:spPr>
          <a:xfrm>
            <a:off x="2806700" y="4945702"/>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41" name="Shape 136"/>
          <p:cNvSpPr/>
          <p:nvPr/>
        </p:nvSpPr>
        <p:spPr>
          <a:xfrm>
            <a:off x="3937000" y="518616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2" name="Text 137"/>
          <p:cNvSpPr/>
          <p:nvPr/>
        </p:nvSpPr>
        <p:spPr>
          <a:xfrm>
            <a:off x="3937000" y="4945658"/>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43" name="Shape 138"/>
          <p:cNvSpPr/>
          <p:nvPr/>
        </p:nvSpPr>
        <p:spPr>
          <a:xfrm>
            <a:off x="5588001" y="518616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4" name="Text 139"/>
          <p:cNvSpPr/>
          <p:nvPr/>
        </p:nvSpPr>
        <p:spPr>
          <a:xfrm>
            <a:off x="5588001" y="4945658"/>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45" name="Shape 140"/>
          <p:cNvSpPr/>
          <p:nvPr/>
        </p:nvSpPr>
        <p:spPr>
          <a:xfrm>
            <a:off x="6858000" y="528141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6" name="Text 141"/>
          <p:cNvSpPr/>
          <p:nvPr/>
        </p:nvSpPr>
        <p:spPr>
          <a:xfrm>
            <a:off x="6858000" y="4850408"/>
            <a:ext cx="2877820" cy="399256"/>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47" name="Shape 142"/>
          <p:cNvSpPr/>
          <p:nvPr/>
        </p:nvSpPr>
        <p:spPr>
          <a:xfrm>
            <a:off x="9652001" y="527788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8" name="Text 143"/>
          <p:cNvSpPr/>
          <p:nvPr/>
        </p:nvSpPr>
        <p:spPr>
          <a:xfrm>
            <a:off x="9652001" y="4853936"/>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$1,55–1,85 MM · bono $400 mil</a:t>
            </a:r>
            <a:endParaRPr lang="en-US" sz="1200" kern="1200" dirty="0">
              <a:solidFill>
                <a:prstClr val="black"/>
              </a:solidFill>
              <a:latin typeface="Calibri" panose="020F0502020204030204"/>
              <a:ea typeface="+mn-ea"/>
              <a:cs typeface="+mn-cs"/>
            </a:endParaRPr>
          </a:p>
        </p:txBody>
      </p:sp>
      <p:sp>
        <p:nvSpPr>
          <p:cNvPr id="149" name="Shape 144"/>
          <p:cNvSpPr/>
          <p:nvPr/>
        </p:nvSpPr>
        <p:spPr>
          <a:xfrm>
            <a:off x="635000" y="558612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0" name="Text 145"/>
          <p:cNvSpPr/>
          <p:nvPr/>
        </p:nvSpPr>
        <p:spPr>
          <a:xfrm>
            <a:off x="635000" y="5345620"/>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Ricardo Leiva</a:t>
            </a:r>
            <a:endParaRPr lang="en-US" sz="1200" kern="1200" dirty="0">
              <a:solidFill>
                <a:prstClr val="black"/>
              </a:solidFill>
              <a:latin typeface="Calibri" panose="020F0502020204030204"/>
              <a:ea typeface="+mn-ea"/>
              <a:cs typeface="+mn-cs"/>
            </a:endParaRPr>
          </a:p>
        </p:txBody>
      </p:sp>
      <p:sp>
        <p:nvSpPr>
          <p:cNvPr id="151" name="Shape 146"/>
          <p:cNvSpPr/>
          <p:nvPr/>
        </p:nvSpPr>
        <p:spPr>
          <a:xfrm>
            <a:off x="2730500" y="558612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2" name="Shape 147"/>
          <p:cNvSpPr/>
          <p:nvPr/>
        </p:nvSpPr>
        <p:spPr>
          <a:xfrm>
            <a:off x="2730501" y="5326614"/>
            <a:ext cx="601927" cy="221368"/>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3" name="Text 148"/>
          <p:cNvSpPr/>
          <p:nvPr/>
        </p:nvSpPr>
        <p:spPr>
          <a:xfrm>
            <a:off x="2806700" y="5345664"/>
            <a:ext cx="50972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54" name="Shape 149"/>
          <p:cNvSpPr/>
          <p:nvPr/>
        </p:nvSpPr>
        <p:spPr>
          <a:xfrm>
            <a:off x="3937000" y="558612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5" name="Text 150"/>
          <p:cNvSpPr/>
          <p:nvPr/>
        </p:nvSpPr>
        <p:spPr>
          <a:xfrm>
            <a:off x="3937000" y="5345620"/>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56" name="Shape 151"/>
          <p:cNvSpPr/>
          <p:nvPr/>
        </p:nvSpPr>
        <p:spPr>
          <a:xfrm>
            <a:off x="5588001" y="558612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7" name="Text 152"/>
          <p:cNvSpPr/>
          <p:nvPr/>
        </p:nvSpPr>
        <p:spPr>
          <a:xfrm>
            <a:off x="5588001" y="5345620"/>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Nivel máximo</a:t>
            </a:r>
            <a:endParaRPr lang="en-US" sz="1200" kern="1200" dirty="0">
              <a:solidFill>
                <a:prstClr val="black"/>
              </a:solidFill>
              <a:latin typeface="Calibri" panose="020F0502020204030204"/>
              <a:ea typeface="+mn-ea"/>
              <a:cs typeface="+mn-cs"/>
            </a:endParaRPr>
          </a:p>
        </p:txBody>
      </p:sp>
      <p:sp>
        <p:nvSpPr>
          <p:cNvPr id="158" name="Shape 153"/>
          <p:cNvSpPr/>
          <p:nvPr/>
        </p:nvSpPr>
        <p:spPr>
          <a:xfrm>
            <a:off x="6858000" y="558612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9" name="Text 154"/>
          <p:cNvSpPr/>
          <p:nvPr/>
        </p:nvSpPr>
        <p:spPr>
          <a:xfrm>
            <a:off x="6858000" y="5345620"/>
            <a:ext cx="287782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Mantener estándares Senior</a:t>
            </a:r>
            <a:endParaRPr lang="en-US" sz="1200" kern="1200" dirty="0">
              <a:solidFill>
                <a:prstClr val="black"/>
              </a:solidFill>
              <a:latin typeface="Calibri" panose="020F0502020204030204"/>
              <a:ea typeface="+mn-ea"/>
              <a:cs typeface="+mn-cs"/>
            </a:endParaRPr>
          </a:p>
        </p:txBody>
      </p:sp>
      <p:sp>
        <p:nvSpPr>
          <p:cNvPr id="160" name="Shape 155"/>
          <p:cNvSpPr/>
          <p:nvPr/>
        </p:nvSpPr>
        <p:spPr>
          <a:xfrm>
            <a:off x="9652001" y="558612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1" name="Text 156"/>
          <p:cNvSpPr/>
          <p:nvPr/>
        </p:nvSpPr>
        <p:spPr>
          <a:xfrm>
            <a:off x="9652001" y="5345620"/>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a:t>
            </a:r>
            <a:endParaRPr lang="en-US" sz="1200" kern="1200" dirty="0">
              <a:solidFill>
                <a:prstClr val="black"/>
              </a:solidFill>
              <a:latin typeface="Calibri" panose="020F0502020204030204"/>
              <a:ea typeface="+mn-ea"/>
              <a:cs typeface="+mn-cs"/>
            </a:endParaRPr>
          </a:p>
        </p:txBody>
      </p:sp>
      <p:sp>
        <p:nvSpPr>
          <p:cNvPr id="162" name="Text 157"/>
          <p:cNvSpPr/>
          <p:nvPr/>
        </p:nvSpPr>
        <p:spPr>
          <a:xfrm>
            <a:off x="635000" y="5650332"/>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Juan Pino</a:t>
            </a:r>
            <a:endParaRPr lang="en-US" sz="1200" kern="1200" dirty="0">
              <a:solidFill>
                <a:prstClr val="black"/>
              </a:solidFill>
              <a:latin typeface="Calibri" panose="020F0502020204030204"/>
              <a:ea typeface="+mn-ea"/>
              <a:cs typeface="+mn-cs"/>
            </a:endParaRPr>
          </a:p>
        </p:txBody>
      </p:sp>
      <p:sp>
        <p:nvSpPr>
          <p:cNvPr id="163" name="Shape 158"/>
          <p:cNvSpPr/>
          <p:nvPr/>
        </p:nvSpPr>
        <p:spPr>
          <a:xfrm>
            <a:off x="2730501" y="5631325"/>
            <a:ext cx="601927" cy="221368"/>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4" name="Text 159"/>
          <p:cNvSpPr/>
          <p:nvPr/>
        </p:nvSpPr>
        <p:spPr>
          <a:xfrm>
            <a:off x="2806700" y="5650375"/>
            <a:ext cx="50972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65" name="Text 160"/>
          <p:cNvSpPr/>
          <p:nvPr/>
        </p:nvSpPr>
        <p:spPr>
          <a:xfrm>
            <a:off x="3937000" y="5650332"/>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166" name="Text 161"/>
          <p:cNvSpPr/>
          <p:nvPr/>
        </p:nvSpPr>
        <p:spPr>
          <a:xfrm>
            <a:off x="5588001" y="5650332"/>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Nivel máximo</a:t>
            </a:r>
            <a:endParaRPr lang="en-US" sz="1200" kern="1200" dirty="0">
              <a:solidFill>
                <a:prstClr val="black"/>
              </a:solidFill>
              <a:latin typeface="Calibri" panose="020F0502020204030204"/>
              <a:ea typeface="+mn-ea"/>
              <a:cs typeface="+mn-cs"/>
            </a:endParaRPr>
          </a:p>
        </p:txBody>
      </p:sp>
      <p:sp>
        <p:nvSpPr>
          <p:cNvPr id="167" name="Text 162"/>
          <p:cNvSpPr/>
          <p:nvPr/>
        </p:nvSpPr>
        <p:spPr>
          <a:xfrm>
            <a:off x="6858000" y="5650332"/>
            <a:ext cx="287782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Mantener estándares Senior</a:t>
            </a:r>
            <a:endParaRPr lang="en-US" sz="1200" kern="1200" dirty="0">
              <a:solidFill>
                <a:prstClr val="black"/>
              </a:solidFill>
              <a:latin typeface="Calibri" panose="020F0502020204030204"/>
              <a:ea typeface="+mn-ea"/>
              <a:cs typeface="+mn-cs"/>
            </a:endParaRPr>
          </a:p>
        </p:txBody>
      </p:sp>
      <p:sp>
        <p:nvSpPr>
          <p:cNvPr id="168" name="Text 163"/>
          <p:cNvSpPr/>
          <p:nvPr/>
        </p:nvSpPr>
        <p:spPr>
          <a:xfrm>
            <a:off x="9652001" y="5650332"/>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a:t>
            </a:r>
            <a:endParaRPr lang="en-US" sz="1200" kern="1200" dirty="0">
              <a:solidFill>
                <a:prstClr val="black"/>
              </a:solidFill>
              <a:latin typeface="Calibri" panose="020F0502020204030204"/>
              <a:ea typeface="+mn-ea"/>
              <a:cs typeface="+mn-cs"/>
            </a:endParaRPr>
          </a:p>
        </p:txBody>
      </p:sp>
      <p:sp>
        <p:nvSpPr>
          <p:cNvPr id="169" name="Text 164"/>
          <p:cNvSpPr/>
          <p:nvPr/>
        </p:nvSpPr>
        <p:spPr>
          <a:xfrm>
            <a:off x="635000" y="6005050"/>
            <a:ext cx="12014201"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Challenge y requisitos comunes según lámina 1. El avance individual (meses cumplidos, productividad, evaluaciones) se completa con los datos de cada técnico.</a:t>
            </a:r>
            <a:endParaRPr lang="en-US" sz="1200" kern="1200" dirty="0">
              <a:solidFill>
                <a:prstClr val="black"/>
              </a:solidFill>
              <a:latin typeface="Calibri" panose="020F0502020204030204"/>
              <a:ea typeface="+mn-ea"/>
              <a:cs typeface="+mn-cs"/>
            </a:endParaRPr>
          </a:p>
        </p:txBody>
      </p:sp>
      <p:pic>
        <p:nvPicPr>
          <p:cNvPr id="170"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171"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172"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173" name="Text 165"/>
          <p:cNvSpPr/>
          <p:nvPr/>
        </p:nvSpPr>
        <p:spPr>
          <a:xfrm>
            <a:off x="11776605" y="6484056"/>
            <a:ext cx="136018"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2</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Status de cada ingeniero de servicio en el plan de carrera</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232408"/>
            <a:ext cx="2095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0" y="972785"/>
            <a:ext cx="2158365"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Ingeniero</a:t>
            </a:r>
            <a:endParaRPr lang="en-US" sz="1200" kern="1200" dirty="0">
              <a:solidFill>
                <a:prstClr val="black"/>
              </a:solidFill>
              <a:latin typeface="Calibri" panose="020F0502020204030204"/>
              <a:ea typeface="+mn-ea"/>
              <a:cs typeface="+mn-cs"/>
            </a:endParaRPr>
          </a:p>
        </p:txBody>
      </p:sp>
      <p:sp>
        <p:nvSpPr>
          <p:cNvPr id="9" name="Shape 4"/>
          <p:cNvSpPr/>
          <p:nvPr/>
        </p:nvSpPr>
        <p:spPr>
          <a:xfrm>
            <a:off x="2730500" y="1232408"/>
            <a:ext cx="1206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 name="Text 5"/>
          <p:cNvSpPr/>
          <p:nvPr/>
        </p:nvSpPr>
        <p:spPr>
          <a:xfrm>
            <a:off x="2730500" y="972785"/>
            <a:ext cx="12573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Nivel actual</a:t>
            </a:r>
            <a:endParaRPr lang="en-US" sz="1200" kern="1200" dirty="0">
              <a:solidFill>
                <a:prstClr val="black"/>
              </a:solidFill>
              <a:latin typeface="Calibri" panose="020F0502020204030204"/>
              <a:ea typeface="+mn-ea"/>
              <a:cs typeface="+mn-cs"/>
            </a:endParaRPr>
          </a:p>
        </p:txBody>
      </p:sp>
      <p:sp>
        <p:nvSpPr>
          <p:cNvPr id="11" name="Shape 6"/>
          <p:cNvSpPr/>
          <p:nvPr/>
        </p:nvSpPr>
        <p:spPr>
          <a:xfrm>
            <a:off x="3937000" y="1232408"/>
            <a:ext cx="1651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 name="Text 7"/>
          <p:cNvSpPr/>
          <p:nvPr/>
        </p:nvSpPr>
        <p:spPr>
          <a:xfrm>
            <a:off x="3937000" y="972785"/>
            <a:ext cx="1701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Supervisor</a:t>
            </a:r>
            <a:endParaRPr lang="en-US" sz="1200" kern="1200" dirty="0">
              <a:solidFill>
                <a:prstClr val="black"/>
              </a:solidFill>
              <a:latin typeface="Calibri" panose="020F0502020204030204"/>
              <a:ea typeface="+mn-ea"/>
              <a:cs typeface="+mn-cs"/>
            </a:endParaRPr>
          </a:p>
        </p:txBody>
      </p:sp>
      <p:sp>
        <p:nvSpPr>
          <p:cNvPr id="13" name="Shape 8"/>
          <p:cNvSpPr/>
          <p:nvPr/>
        </p:nvSpPr>
        <p:spPr>
          <a:xfrm>
            <a:off x="5588001" y="1232408"/>
            <a:ext cx="1270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5588001" y="972785"/>
            <a:ext cx="1320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Próximo nivel</a:t>
            </a:r>
            <a:endParaRPr lang="en-US" sz="1200" kern="1200" dirty="0">
              <a:solidFill>
                <a:prstClr val="black"/>
              </a:solidFill>
              <a:latin typeface="Calibri" panose="020F0502020204030204"/>
              <a:ea typeface="+mn-ea"/>
              <a:cs typeface="+mn-cs"/>
            </a:endParaRPr>
          </a:p>
        </p:txBody>
      </p:sp>
      <p:sp>
        <p:nvSpPr>
          <p:cNvPr id="15" name="Shape 10"/>
          <p:cNvSpPr/>
          <p:nvPr/>
        </p:nvSpPr>
        <p:spPr>
          <a:xfrm>
            <a:off x="6858000" y="1232408"/>
            <a:ext cx="2794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 name="Text 11"/>
          <p:cNvSpPr/>
          <p:nvPr/>
        </p:nvSpPr>
        <p:spPr>
          <a:xfrm>
            <a:off x="6858000" y="972785"/>
            <a:ext cx="287782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Para subir necesita</a:t>
            </a:r>
            <a:endParaRPr lang="en-US" sz="1200" kern="1200" dirty="0">
              <a:solidFill>
                <a:prstClr val="black"/>
              </a:solidFill>
              <a:latin typeface="Calibri" panose="020F0502020204030204"/>
              <a:ea typeface="+mn-ea"/>
              <a:cs typeface="+mn-cs"/>
            </a:endParaRPr>
          </a:p>
        </p:txBody>
      </p:sp>
      <p:sp>
        <p:nvSpPr>
          <p:cNvPr id="17" name="Shape 12"/>
          <p:cNvSpPr/>
          <p:nvPr/>
        </p:nvSpPr>
        <p:spPr>
          <a:xfrm>
            <a:off x="9652001" y="1232408"/>
            <a:ext cx="1905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8" name="Text 13"/>
          <p:cNvSpPr/>
          <p:nvPr/>
        </p:nvSpPr>
        <p:spPr>
          <a:xfrm>
            <a:off x="9652001" y="972785"/>
            <a:ext cx="196215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Al subir</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172122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635000" y="1436313"/>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Ignacio Miranda</a:t>
            </a:r>
            <a:endParaRPr lang="en-US" sz="1200" kern="1200" dirty="0">
              <a:solidFill>
                <a:prstClr val="black"/>
              </a:solidFill>
              <a:latin typeface="Calibri" panose="020F0502020204030204"/>
              <a:ea typeface="+mn-ea"/>
              <a:cs typeface="+mn-cs"/>
            </a:endParaRPr>
          </a:p>
        </p:txBody>
      </p:sp>
      <p:sp>
        <p:nvSpPr>
          <p:cNvPr id="21" name="Shape 16"/>
          <p:cNvSpPr/>
          <p:nvPr/>
        </p:nvSpPr>
        <p:spPr>
          <a:xfrm>
            <a:off x="2730500" y="172122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2" name="Shape 17"/>
          <p:cNvSpPr/>
          <p:nvPr/>
        </p:nvSpPr>
        <p:spPr>
          <a:xfrm>
            <a:off x="2730500" y="1417285"/>
            <a:ext cx="669727" cy="221368"/>
          </a:xfrm>
          <a:prstGeom prst="rect">
            <a:avLst/>
          </a:prstGeom>
          <a:solidFill>
            <a:srgbClr val="C9CBF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3" name="Text 18"/>
          <p:cNvSpPr/>
          <p:nvPr/>
        </p:nvSpPr>
        <p:spPr>
          <a:xfrm>
            <a:off x="2806701" y="1436335"/>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1E2190"/>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937000" y="172122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937000" y="1436313"/>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26" name="Shape 21"/>
          <p:cNvSpPr/>
          <p:nvPr/>
        </p:nvSpPr>
        <p:spPr>
          <a:xfrm>
            <a:off x="5588001" y="172122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7" name="Text 22"/>
          <p:cNvSpPr/>
          <p:nvPr/>
        </p:nvSpPr>
        <p:spPr>
          <a:xfrm>
            <a:off x="5588001" y="1436313"/>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28" name="Shape 23"/>
          <p:cNvSpPr/>
          <p:nvPr/>
        </p:nvSpPr>
        <p:spPr>
          <a:xfrm>
            <a:off x="6858000" y="181647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9" name="Text 24"/>
          <p:cNvSpPr/>
          <p:nvPr/>
        </p:nvSpPr>
        <p:spPr>
          <a:xfrm>
            <a:off x="6858000" y="1341063"/>
            <a:ext cx="2877820" cy="3992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1,4 · challenge Junior</a:t>
            </a:r>
            <a:endParaRPr lang="en-US" sz="1200" kern="1200" dirty="0">
              <a:solidFill>
                <a:prstClr val="black"/>
              </a:solidFill>
              <a:latin typeface="Calibri" panose="020F0502020204030204"/>
              <a:ea typeface="+mn-ea"/>
              <a:cs typeface="+mn-cs"/>
            </a:endParaRPr>
          </a:p>
        </p:txBody>
      </p:sp>
      <p:sp>
        <p:nvSpPr>
          <p:cNvPr id="30" name="Shape 25"/>
          <p:cNvSpPr/>
          <p:nvPr/>
        </p:nvSpPr>
        <p:spPr>
          <a:xfrm>
            <a:off x="9652001" y="1812948"/>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9652001" y="1344591"/>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$400 mil</a:t>
            </a:r>
            <a:endParaRPr lang="en-US" sz="1200" kern="1200" dirty="0">
              <a:solidFill>
                <a:prstClr val="black"/>
              </a:solidFill>
              <a:latin typeface="Calibri" panose="020F0502020204030204"/>
              <a:ea typeface="+mn-ea"/>
              <a:cs typeface="+mn-cs"/>
            </a:endParaRPr>
          </a:p>
        </p:txBody>
      </p:sp>
      <p:sp>
        <p:nvSpPr>
          <p:cNvPr id="32" name="Shape 27"/>
          <p:cNvSpPr/>
          <p:nvPr/>
        </p:nvSpPr>
        <p:spPr>
          <a:xfrm>
            <a:off x="635000" y="230529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3" name="Text 28"/>
          <p:cNvSpPr/>
          <p:nvPr/>
        </p:nvSpPr>
        <p:spPr>
          <a:xfrm>
            <a:off x="635000" y="2020381"/>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Ignacio Muñoz</a:t>
            </a:r>
            <a:endParaRPr lang="en-US" sz="1200" kern="1200" dirty="0">
              <a:solidFill>
                <a:prstClr val="black"/>
              </a:solidFill>
              <a:latin typeface="Calibri" panose="020F0502020204030204"/>
              <a:ea typeface="+mn-ea"/>
              <a:cs typeface="+mn-cs"/>
            </a:endParaRPr>
          </a:p>
        </p:txBody>
      </p:sp>
      <p:sp>
        <p:nvSpPr>
          <p:cNvPr id="34" name="Shape 29"/>
          <p:cNvSpPr/>
          <p:nvPr/>
        </p:nvSpPr>
        <p:spPr>
          <a:xfrm>
            <a:off x="2730500" y="230529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5" name="Shape 30"/>
          <p:cNvSpPr/>
          <p:nvPr/>
        </p:nvSpPr>
        <p:spPr>
          <a:xfrm>
            <a:off x="2730501" y="2001353"/>
            <a:ext cx="595643" cy="221368"/>
          </a:xfrm>
          <a:prstGeom prst="rect">
            <a:avLst/>
          </a:prstGeom>
          <a:solidFill>
            <a:srgbClr val="8F93F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6" name="Text 31"/>
          <p:cNvSpPr/>
          <p:nvPr/>
        </p:nvSpPr>
        <p:spPr>
          <a:xfrm>
            <a:off x="2806701" y="2020403"/>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37" name="Shape 32"/>
          <p:cNvSpPr/>
          <p:nvPr/>
        </p:nvSpPr>
        <p:spPr>
          <a:xfrm>
            <a:off x="3937000" y="230529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3937000" y="2020381"/>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39" name="Shape 34"/>
          <p:cNvSpPr/>
          <p:nvPr/>
        </p:nvSpPr>
        <p:spPr>
          <a:xfrm>
            <a:off x="5588001" y="230529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0" name="Text 35"/>
          <p:cNvSpPr/>
          <p:nvPr/>
        </p:nvSpPr>
        <p:spPr>
          <a:xfrm>
            <a:off x="5588001" y="2020381"/>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41" name="Shape 36"/>
          <p:cNvSpPr/>
          <p:nvPr/>
        </p:nvSpPr>
        <p:spPr>
          <a:xfrm>
            <a:off x="6858000" y="2400543"/>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2" name="Text 37"/>
          <p:cNvSpPr/>
          <p:nvPr/>
        </p:nvSpPr>
        <p:spPr>
          <a:xfrm>
            <a:off x="6858000" y="1925131"/>
            <a:ext cx="2877820" cy="3992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12 meses · prod. ≥ 1,6 · challenge Intermedio</a:t>
            </a:r>
            <a:endParaRPr lang="en-US" sz="1200" kern="1200" dirty="0">
              <a:solidFill>
                <a:prstClr val="black"/>
              </a:solidFill>
              <a:latin typeface="Calibri" panose="020F0502020204030204"/>
              <a:ea typeface="+mn-ea"/>
              <a:cs typeface="+mn-cs"/>
            </a:endParaRPr>
          </a:p>
        </p:txBody>
      </p:sp>
      <p:sp>
        <p:nvSpPr>
          <p:cNvPr id="43" name="Shape 38"/>
          <p:cNvSpPr/>
          <p:nvPr/>
        </p:nvSpPr>
        <p:spPr>
          <a:xfrm>
            <a:off x="9652001" y="2397015"/>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4" name="Text 39"/>
          <p:cNvSpPr/>
          <p:nvPr/>
        </p:nvSpPr>
        <p:spPr>
          <a:xfrm>
            <a:off x="9652001" y="1928658"/>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 MM · bono $400 mil</a:t>
            </a:r>
            <a:endParaRPr lang="en-US" sz="1200" kern="1200" dirty="0">
              <a:solidFill>
                <a:prstClr val="black"/>
              </a:solidFill>
              <a:latin typeface="Calibri" panose="020F0502020204030204"/>
              <a:ea typeface="+mn-ea"/>
              <a:cs typeface="+mn-cs"/>
            </a:endParaRPr>
          </a:p>
        </p:txBody>
      </p:sp>
      <p:sp>
        <p:nvSpPr>
          <p:cNvPr id="45" name="Shape 40"/>
          <p:cNvSpPr/>
          <p:nvPr/>
        </p:nvSpPr>
        <p:spPr>
          <a:xfrm>
            <a:off x="635000" y="288936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6" name="Text 41"/>
          <p:cNvSpPr/>
          <p:nvPr/>
        </p:nvSpPr>
        <p:spPr>
          <a:xfrm>
            <a:off x="635000" y="2604448"/>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Paulo Esteves</a:t>
            </a:r>
            <a:endParaRPr lang="en-US" sz="1200" kern="1200" dirty="0">
              <a:solidFill>
                <a:prstClr val="black"/>
              </a:solidFill>
              <a:latin typeface="Calibri" panose="020F0502020204030204"/>
              <a:ea typeface="+mn-ea"/>
              <a:cs typeface="+mn-cs"/>
            </a:endParaRPr>
          </a:p>
        </p:txBody>
      </p:sp>
      <p:sp>
        <p:nvSpPr>
          <p:cNvPr id="47" name="Shape 42"/>
          <p:cNvSpPr/>
          <p:nvPr/>
        </p:nvSpPr>
        <p:spPr>
          <a:xfrm>
            <a:off x="2730500" y="288936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8" name="Shape 43"/>
          <p:cNvSpPr/>
          <p:nvPr/>
        </p:nvSpPr>
        <p:spPr>
          <a:xfrm>
            <a:off x="2730501" y="2585420"/>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9" name="Text 44"/>
          <p:cNvSpPr/>
          <p:nvPr/>
        </p:nvSpPr>
        <p:spPr>
          <a:xfrm>
            <a:off x="2806700" y="2604470"/>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50" name="Shape 45"/>
          <p:cNvSpPr/>
          <p:nvPr/>
        </p:nvSpPr>
        <p:spPr>
          <a:xfrm>
            <a:off x="3937000" y="288936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1" name="Text 46"/>
          <p:cNvSpPr/>
          <p:nvPr/>
        </p:nvSpPr>
        <p:spPr>
          <a:xfrm>
            <a:off x="3937000" y="2604448"/>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52" name="Shape 47"/>
          <p:cNvSpPr/>
          <p:nvPr/>
        </p:nvSpPr>
        <p:spPr>
          <a:xfrm>
            <a:off x="5588001" y="288936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3" name="Text 48"/>
          <p:cNvSpPr/>
          <p:nvPr/>
        </p:nvSpPr>
        <p:spPr>
          <a:xfrm>
            <a:off x="5588001" y="2604448"/>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54" name="Shape 49"/>
          <p:cNvSpPr/>
          <p:nvPr/>
        </p:nvSpPr>
        <p:spPr>
          <a:xfrm>
            <a:off x="6858000" y="298461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5" name="Text 50"/>
          <p:cNvSpPr/>
          <p:nvPr/>
        </p:nvSpPr>
        <p:spPr>
          <a:xfrm>
            <a:off x="6858000" y="2509198"/>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56" name="Shape 51"/>
          <p:cNvSpPr/>
          <p:nvPr/>
        </p:nvSpPr>
        <p:spPr>
          <a:xfrm>
            <a:off x="9652001" y="298108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7" name="Text 52"/>
          <p:cNvSpPr/>
          <p:nvPr/>
        </p:nvSpPr>
        <p:spPr>
          <a:xfrm>
            <a:off x="9652001" y="2512726"/>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58" name="Shape 53"/>
          <p:cNvSpPr/>
          <p:nvPr/>
        </p:nvSpPr>
        <p:spPr>
          <a:xfrm>
            <a:off x="635000" y="347342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9" name="Text 54"/>
          <p:cNvSpPr/>
          <p:nvPr/>
        </p:nvSpPr>
        <p:spPr>
          <a:xfrm>
            <a:off x="635000" y="3188516"/>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Maximiliano Gutierrez</a:t>
            </a:r>
            <a:endParaRPr lang="en-US" sz="1200" kern="1200" dirty="0">
              <a:solidFill>
                <a:prstClr val="black"/>
              </a:solidFill>
              <a:latin typeface="Calibri" panose="020F0502020204030204"/>
              <a:ea typeface="+mn-ea"/>
              <a:cs typeface="+mn-cs"/>
            </a:endParaRPr>
          </a:p>
        </p:txBody>
      </p:sp>
      <p:sp>
        <p:nvSpPr>
          <p:cNvPr id="60" name="Shape 55"/>
          <p:cNvSpPr/>
          <p:nvPr/>
        </p:nvSpPr>
        <p:spPr>
          <a:xfrm>
            <a:off x="2730500" y="347342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1" name="Shape 56"/>
          <p:cNvSpPr/>
          <p:nvPr/>
        </p:nvSpPr>
        <p:spPr>
          <a:xfrm>
            <a:off x="2730501" y="3169488"/>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2" name="Text 57"/>
          <p:cNvSpPr/>
          <p:nvPr/>
        </p:nvSpPr>
        <p:spPr>
          <a:xfrm>
            <a:off x="2806700" y="3188538"/>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63" name="Shape 58"/>
          <p:cNvSpPr/>
          <p:nvPr/>
        </p:nvSpPr>
        <p:spPr>
          <a:xfrm>
            <a:off x="3937000" y="347342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4" name="Text 59"/>
          <p:cNvSpPr/>
          <p:nvPr/>
        </p:nvSpPr>
        <p:spPr>
          <a:xfrm>
            <a:off x="3937000" y="3188516"/>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65" name="Shape 60"/>
          <p:cNvSpPr/>
          <p:nvPr/>
        </p:nvSpPr>
        <p:spPr>
          <a:xfrm>
            <a:off x="5588001" y="347342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6" name="Text 61"/>
          <p:cNvSpPr/>
          <p:nvPr/>
        </p:nvSpPr>
        <p:spPr>
          <a:xfrm>
            <a:off x="5588001" y="3188516"/>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67" name="Shape 62"/>
          <p:cNvSpPr/>
          <p:nvPr/>
        </p:nvSpPr>
        <p:spPr>
          <a:xfrm>
            <a:off x="6858000" y="356867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8" name="Text 63"/>
          <p:cNvSpPr/>
          <p:nvPr/>
        </p:nvSpPr>
        <p:spPr>
          <a:xfrm>
            <a:off x="6858000" y="3093266"/>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69" name="Shape 64"/>
          <p:cNvSpPr/>
          <p:nvPr/>
        </p:nvSpPr>
        <p:spPr>
          <a:xfrm>
            <a:off x="9652001" y="356515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0" name="Text 65"/>
          <p:cNvSpPr/>
          <p:nvPr/>
        </p:nvSpPr>
        <p:spPr>
          <a:xfrm>
            <a:off x="9652001" y="3096794"/>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71" name="Shape 66"/>
          <p:cNvSpPr/>
          <p:nvPr/>
        </p:nvSpPr>
        <p:spPr>
          <a:xfrm>
            <a:off x="635000" y="405749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2" name="Text 67"/>
          <p:cNvSpPr/>
          <p:nvPr/>
        </p:nvSpPr>
        <p:spPr>
          <a:xfrm>
            <a:off x="635000" y="3772584"/>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Mario Montenegro</a:t>
            </a:r>
            <a:endParaRPr lang="en-US" sz="1200" kern="1200" dirty="0">
              <a:solidFill>
                <a:prstClr val="black"/>
              </a:solidFill>
              <a:latin typeface="Calibri" panose="020F0502020204030204"/>
              <a:ea typeface="+mn-ea"/>
              <a:cs typeface="+mn-cs"/>
            </a:endParaRPr>
          </a:p>
        </p:txBody>
      </p:sp>
      <p:sp>
        <p:nvSpPr>
          <p:cNvPr id="73" name="Shape 68"/>
          <p:cNvSpPr/>
          <p:nvPr/>
        </p:nvSpPr>
        <p:spPr>
          <a:xfrm>
            <a:off x="2730500" y="405749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4" name="Shape 69"/>
          <p:cNvSpPr/>
          <p:nvPr/>
        </p:nvSpPr>
        <p:spPr>
          <a:xfrm>
            <a:off x="2730501" y="3753556"/>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5" name="Text 70"/>
          <p:cNvSpPr/>
          <p:nvPr/>
        </p:nvSpPr>
        <p:spPr>
          <a:xfrm>
            <a:off x="2806700" y="3772606"/>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76" name="Shape 71"/>
          <p:cNvSpPr/>
          <p:nvPr/>
        </p:nvSpPr>
        <p:spPr>
          <a:xfrm>
            <a:off x="3937000" y="405749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7" name="Text 72"/>
          <p:cNvSpPr/>
          <p:nvPr/>
        </p:nvSpPr>
        <p:spPr>
          <a:xfrm>
            <a:off x="3937000" y="3772584"/>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78" name="Shape 73"/>
          <p:cNvSpPr/>
          <p:nvPr/>
        </p:nvSpPr>
        <p:spPr>
          <a:xfrm>
            <a:off x="5588001" y="405749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9" name="Text 74"/>
          <p:cNvSpPr/>
          <p:nvPr/>
        </p:nvSpPr>
        <p:spPr>
          <a:xfrm>
            <a:off x="5588001" y="3772584"/>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80" name="Shape 75"/>
          <p:cNvSpPr/>
          <p:nvPr/>
        </p:nvSpPr>
        <p:spPr>
          <a:xfrm>
            <a:off x="6858000" y="415274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1" name="Text 76"/>
          <p:cNvSpPr/>
          <p:nvPr/>
        </p:nvSpPr>
        <p:spPr>
          <a:xfrm>
            <a:off x="6858000" y="3677334"/>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82" name="Shape 77"/>
          <p:cNvSpPr/>
          <p:nvPr/>
        </p:nvSpPr>
        <p:spPr>
          <a:xfrm>
            <a:off x="9652001" y="4149219"/>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3" name="Text 78"/>
          <p:cNvSpPr/>
          <p:nvPr/>
        </p:nvSpPr>
        <p:spPr>
          <a:xfrm>
            <a:off x="9652001" y="3680862"/>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84" name="Shape 79"/>
          <p:cNvSpPr/>
          <p:nvPr/>
        </p:nvSpPr>
        <p:spPr>
          <a:xfrm>
            <a:off x="635000" y="464156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5" name="Text 80"/>
          <p:cNvSpPr/>
          <p:nvPr/>
        </p:nvSpPr>
        <p:spPr>
          <a:xfrm>
            <a:off x="635000" y="4356651"/>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Camila Castro</a:t>
            </a:r>
            <a:endParaRPr lang="en-US" sz="1200" kern="1200" dirty="0">
              <a:solidFill>
                <a:prstClr val="black"/>
              </a:solidFill>
              <a:latin typeface="Calibri" panose="020F0502020204030204"/>
              <a:ea typeface="+mn-ea"/>
              <a:cs typeface="+mn-cs"/>
            </a:endParaRPr>
          </a:p>
        </p:txBody>
      </p:sp>
      <p:sp>
        <p:nvSpPr>
          <p:cNvPr id="86" name="Shape 81"/>
          <p:cNvSpPr/>
          <p:nvPr/>
        </p:nvSpPr>
        <p:spPr>
          <a:xfrm>
            <a:off x="2730500" y="464156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7" name="Shape 82"/>
          <p:cNvSpPr/>
          <p:nvPr/>
        </p:nvSpPr>
        <p:spPr>
          <a:xfrm>
            <a:off x="2730501" y="4337623"/>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8" name="Text 83"/>
          <p:cNvSpPr/>
          <p:nvPr/>
        </p:nvSpPr>
        <p:spPr>
          <a:xfrm>
            <a:off x="2806700" y="4356673"/>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89" name="Shape 84"/>
          <p:cNvSpPr/>
          <p:nvPr/>
        </p:nvSpPr>
        <p:spPr>
          <a:xfrm>
            <a:off x="3937000" y="464156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0" name="Text 85"/>
          <p:cNvSpPr/>
          <p:nvPr/>
        </p:nvSpPr>
        <p:spPr>
          <a:xfrm>
            <a:off x="3937000" y="4356651"/>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91" name="Shape 86"/>
          <p:cNvSpPr/>
          <p:nvPr/>
        </p:nvSpPr>
        <p:spPr>
          <a:xfrm>
            <a:off x="5588001" y="464156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2" name="Text 87"/>
          <p:cNvSpPr/>
          <p:nvPr/>
        </p:nvSpPr>
        <p:spPr>
          <a:xfrm>
            <a:off x="5588001" y="4356651"/>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93" name="Shape 88"/>
          <p:cNvSpPr/>
          <p:nvPr/>
        </p:nvSpPr>
        <p:spPr>
          <a:xfrm>
            <a:off x="6858000" y="473681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4" name="Text 89"/>
          <p:cNvSpPr/>
          <p:nvPr/>
        </p:nvSpPr>
        <p:spPr>
          <a:xfrm>
            <a:off x="6858000" y="4261401"/>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95" name="Shape 90"/>
          <p:cNvSpPr/>
          <p:nvPr/>
        </p:nvSpPr>
        <p:spPr>
          <a:xfrm>
            <a:off x="9652001" y="473328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6" name="Text 91"/>
          <p:cNvSpPr/>
          <p:nvPr/>
        </p:nvSpPr>
        <p:spPr>
          <a:xfrm>
            <a:off x="9652001" y="4264930"/>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97" name="Text 92"/>
          <p:cNvSpPr/>
          <p:nvPr/>
        </p:nvSpPr>
        <p:spPr>
          <a:xfrm>
            <a:off x="635000" y="4940719"/>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Andrés Labado</a:t>
            </a:r>
            <a:endParaRPr lang="en-US" sz="1200" kern="1200" dirty="0">
              <a:solidFill>
                <a:prstClr val="black"/>
              </a:solidFill>
              <a:latin typeface="Calibri" panose="020F0502020204030204"/>
              <a:ea typeface="+mn-ea"/>
              <a:cs typeface="+mn-cs"/>
            </a:endParaRPr>
          </a:p>
        </p:txBody>
      </p:sp>
      <p:sp>
        <p:nvSpPr>
          <p:cNvPr id="98" name="Shape 93"/>
          <p:cNvSpPr/>
          <p:nvPr/>
        </p:nvSpPr>
        <p:spPr>
          <a:xfrm>
            <a:off x="2730501" y="4921691"/>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9" name="Text 94"/>
          <p:cNvSpPr/>
          <p:nvPr/>
        </p:nvSpPr>
        <p:spPr>
          <a:xfrm>
            <a:off x="2806700" y="4940741"/>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00" name="Text 95"/>
          <p:cNvSpPr/>
          <p:nvPr/>
        </p:nvSpPr>
        <p:spPr>
          <a:xfrm>
            <a:off x="3937000" y="4940719"/>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01" name="Text 96"/>
          <p:cNvSpPr/>
          <p:nvPr/>
        </p:nvSpPr>
        <p:spPr>
          <a:xfrm>
            <a:off x="5588001" y="4940719"/>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02" name="Text 97"/>
          <p:cNvSpPr/>
          <p:nvPr/>
        </p:nvSpPr>
        <p:spPr>
          <a:xfrm>
            <a:off x="6858000" y="4845469"/>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03" name="Text 98"/>
          <p:cNvSpPr/>
          <p:nvPr/>
        </p:nvSpPr>
        <p:spPr>
          <a:xfrm>
            <a:off x="9652001" y="4848998"/>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104" name="Shape 99"/>
          <p:cNvSpPr/>
          <p:nvPr/>
        </p:nvSpPr>
        <p:spPr>
          <a:xfrm>
            <a:off x="635000" y="5473237"/>
            <a:ext cx="10922001" cy="393568"/>
          </a:xfrm>
          <a:prstGeom prst="rect">
            <a:avLst/>
          </a:prstGeom>
          <a:solidFill>
            <a:srgbClr val="F2F3F5"/>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5" name="Text 100"/>
          <p:cNvSpPr/>
          <p:nvPr/>
        </p:nvSpPr>
        <p:spPr>
          <a:xfrm>
            <a:off x="812712" y="5578300"/>
            <a:ext cx="1522754" cy="208845"/>
          </a:xfrm>
          <a:prstGeom prst="rect">
            <a:avLst/>
          </a:prstGeom>
          <a:noFill/>
          <a:ln/>
        </p:spPr>
        <p:txBody>
          <a:bodyPr wrap="non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 todos los niveles</a:t>
            </a:r>
            <a:endParaRPr lang="en-US" sz="1200" kern="1200" dirty="0">
              <a:solidFill>
                <a:prstClr val="black"/>
              </a:solidFill>
              <a:latin typeface="Calibri" panose="020F0502020204030204"/>
              <a:ea typeface="+mn-ea"/>
              <a:cs typeface="+mn-cs"/>
            </a:endParaRPr>
          </a:p>
        </p:txBody>
      </p:sp>
      <p:sp>
        <p:nvSpPr>
          <p:cNvPr id="106" name="Text 101"/>
          <p:cNvSpPr/>
          <p:nvPr/>
        </p:nvSpPr>
        <p:spPr>
          <a:xfrm>
            <a:off x="2374746" y="5574771"/>
            <a:ext cx="2635746"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Desempeño ≥ acorde a lo esperado</a:t>
            </a:r>
            <a:endParaRPr lang="en-US" sz="1200" kern="1200" dirty="0">
              <a:solidFill>
                <a:prstClr val="black"/>
              </a:solidFill>
              <a:latin typeface="Calibri" panose="020F0502020204030204"/>
              <a:ea typeface="+mn-ea"/>
              <a:cs typeface="+mn-cs"/>
            </a:endParaRPr>
          </a:p>
        </p:txBody>
      </p:sp>
      <p:sp>
        <p:nvSpPr>
          <p:cNvPr id="107" name="Text 102"/>
          <p:cNvSpPr/>
          <p:nvPr/>
        </p:nvSpPr>
        <p:spPr>
          <a:xfrm>
            <a:off x="4948591" y="5574771"/>
            <a:ext cx="1289800"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Formación ≥ 95%</a:t>
            </a:r>
            <a:endParaRPr lang="en-US" sz="1200" kern="1200" dirty="0">
              <a:solidFill>
                <a:prstClr val="black"/>
              </a:solidFill>
              <a:latin typeface="Calibri" panose="020F0502020204030204"/>
              <a:ea typeface="+mn-ea"/>
              <a:cs typeface="+mn-cs"/>
            </a:endParaRPr>
          </a:p>
        </p:txBody>
      </p:sp>
      <p:sp>
        <p:nvSpPr>
          <p:cNvPr id="108" name="Text 103"/>
          <p:cNvSpPr/>
          <p:nvPr/>
        </p:nvSpPr>
        <p:spPr>
          <a:xfrm>
            <a:off x="6298848" y="5574771"/>
            <a:ext cx="1302533"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teórica ≥ 80%</a:t>
            </a:r>
            <a:endParaRPr lang="en-US" sz="1200" kern="1200" dirty="0">
              <a:solidFill>
                <a:prstClr val="black"/>
              </a:solidFill>
              <a:latin typeface="Calibri" panose="020F0502020204030204"/>
              <a:ea typeface="+mn-ea"/>
              <a:cs typeface="+mn-cs"/>
            </a:endParaRPr>
          </a:p>
        </p:txBody>
      </p:sp>
      <p:sp>
        <p:nvSpPr>
          <p:cNvPr id="109" name="Text 104"/>
          <p:cNvSpPr/>
          <p:nvPr/>
        </p:nvSpPr>
        <p:spPr>
          <a:xfrm>
            <a:off x="7660680" y="5574771"/>
            <a:ext cx="2599609"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práctica ≥ 90% (Trainee ≥ 80%)</a:t>
            </a:r>
            <a:endParaRPr lang="en-US" sz="1200" kern="1200" dirty="0">
              <a:solidFill>
                <a:prstClr val="black"/>
              </a:solidFill>
              <a:latin typeface="Calibri" panose="020F0502020204030204"/>
              <a:ea typeface="+mn-ea"/>
              <a:cs typeface="+mn-cs"/>
            </a:endParaRPr>
          </a:p>
        </p:txBody>
      </p:sp>
      <p:sp>
        <p:nvSpPr>
          <p:cNvPr id="110" name="Text 105"/>
          <p:cNvSpPr/>
          <p:nvPr/>
        </p:nvSpPr>
        <p:spPr>
          <a:xfrm>
            <a:off x="635000" y="6019161"/>
            <a:ext cx="12014201"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Hoy no hay ingenieros en nivel Senior. El avance individual se completa con los datos de cada ingeniero.</a:t>
            </a:r>
            <a:endParaRPr lang="en-US" sz="1200" kern="1200" dirty="0">
              <a:solidFill>
                <a:prstClr val="black"/>
              </a:solidFill>
              <a:latin typeface="Calibri" panose="020F0502020204030204"/>
              <a:ea typeface="+mn-ea"/>
              <a:cs typeface="+mn-cs"/>
            </a:endParaRPr>
          </a:p>
        </p:txBody>
      </p:sp>
      <p:pic>
        <p:nvPicPr>
          <p:cNvPr id="111"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112"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113"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114" name="Text 106"/>
          <p:cNvSpPr/>
          <p:nvPr/>
        </p:nvSpPr>
        <p:spPr>
          <a:xfrm>
            <a:off x="11778920" y="6484056"/>
            <a:ext cx="133703"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3</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73"/>
        <p:cNvGrpSpPr/>
        <p:nvPr/>
      </p:nvGrpSpPr>
      <p:grpSpPr>
        <a:xfrm>
          <a:off x="0" y="0"/>
          <a:ext cx="0" cy="0"/>
          <a:chOff x="0" y="0"/>
          <a:chExt cx="0" cy="0"/>
        </a:xfrm>
      </p:grpSpPr>
      <p:sp>
        <p:nvSpPr>
          <p:cNvPr id="674" name="Google Shape;674;p57"/>
          <p:cNvSpPr/>
          <p:nvPr/>
        </p:nvSpPr>
        <p:spPr>
          <a:xfrm>
            <a:off x="274320" y="45720"/>
            <a:ext cx="1164031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03640"/>
              </a:buClr>
              <a:buSzPts val="1700"/>
              <a:buFont typeface="Calibri"/>
              <a:buNone/>
            </a:pPr>
            <a:r>
              <a:rPr lang="es-CL" sz="1700" b="1">
                <a:solidFill>
                  <a:srgbClr val="303640"/>
                </a:solidFill>
                <a:latin typeface="Calibri"/>
                <a:ea typeface="Calibri"/>
                <a:cs typeface="Calibri"/>
                <a:sym typeface="Calibri"/>
              </a:rPr>
              <a:t>Flujo de Atención al Cliente — Servicio Técnico</a:t>
            </a:r>
            <a:endParaRPr sz="1700">
              <a:solidFill>
                <a:schemeClr val="dk1"/>
              </a:solidFill>
              <a:latin typeface="Arial"/>
              <a:ea typeface="Arial"/>
              <a:cs typeface="Arial"/>
              <a:sym typeface="Arial"/>
            </a:endParaRPr>
          </a:p>
        </p:txBody>
      </p:sp>
      <p:sp>
        <p:nvSpPr>
          <p:cNvPr id="675" name="Google Shape;675;p57"/>
          <p:cNvSpPr/>
          <p:nvPr/>
        </p:nvSpPr>
        <p:spPr>
          <a:xfrm>
            <a:off x="3657600" y="374904"/>
            <a:ext cx="182880" cy="137160"/>
          </a:xfrm>
          <a:prstGeom prst="roundRect">
            <a:avLst>
              <a:gd name="adj" fmla="val 2666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6" name="Google Shape;676;p57"/>
          <p:cNvSpPr/>
          <p:nvPr/>
        </p:nvSpPr>
        <p:spPr>
          <a:xfrm>
            <a:off x="3877056" y="329184"/>
            <a:ext cx="5486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Paso</a:t>
            </a:r>
            <a:endParaRPr sz="750">
              <a:solidFill>
                <a:schemeClr val="dk1"/>
              </a:solidFill>
              <a:latin typeface="Arial"/>
              <a:ea typeface="Arial"/>
              <a:cs typeface="Arial"/>
              <a:sym typeface="Arial"/>
            </a:endParaRPr>
          </a:p>
        </p:txBody>
      </p:sp>
      <p:sp>
        <p:nvSpPr>
          <p:cNvPr id="677" name="Google Shape;677;p57"/>
          <p:cNvSpPr/>
          <p:nvPr/>
        </p:nvSpPr>
        <p:spPr>
          <a:xfrm>
            <a:off x="4572000" y="338328"/>
            <a:ext cx="201168" cy="201168"/>
          </a:xfrm>
          <a:prstGeom prst="diamond">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8" name="Google Shape;678;p57"/>
          <p:cNvSpPr/>
          <p:nvPr/>
        </p:nvSpPr>
        <p:spPr>
          <a:xfrm>
            <a:off x="4809744" y="329184"/>
            <a:ext cx="7315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Decisión</a:t>
            </a:r>
            <a:endParaRPr sz="750">
              <a:solidFill>
                <a:schemeClr val="dk1"/>
              </a:solidFill>
              <a:latin typeface="Arial"/>
              <a:ea typeface="Arial"/>
              <a:cs typeface="Arial"/>
              <a:sym typeface="Arial"/>
            </a:endParaRPr>
          </a:p>
        </p:txBody>
      </p:sp>
      <p:sp>
        <p:nvSpPr>
          <p:cNvPr id="679" name="Google Shape;679;p57"/>
          <p:cNvSpPr/>
          <p:nvPr/>
        </p:nvSpPr>
        <p:spPr>
          <a:xfrm>
            <a:off x="5669280" y="374904"/>
            <a:ext cx="274320" cy="137160"/>
          </a:xfrm>
          <a:prstGeom prst="roundRect">
            <a:avLst>
              <a:gd name="adj" fmla="val 4666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0" name="Google Shape;680;p57"/>
          <p:cNvSpPr/>
          <p:nvPr/>
        </p:nvSpPr>
        <p:spPr>
          <a:xfrm>
            <a:off x="5989320" y="329184"/>
            <a:ext cx="1920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SLA / tiempo de respuesta</a:t>
            </a:r>
            <a:endParaRPr sz="750">
              <a:solidFill>
                <a:schemeClr val="dk1"/>
              </a:solidFill>
              <a:latin typeface="Arial"/>
              <a:ea typeface="Arial"/>
              <a:cs typeface="Arial"/>
              <a:sym typeface="Arial"/>
            </a:endParaRPr>
          </a:p>
        </p:txBody>
      </p:sp>
      <p:sp>
        <p:nvSpPr>
          <p:cNvPr id="681" name="Google Shape;681;p57"/>
          <p:cNvSpPr/>
          <p:nvPr/>
        </p:nvSpPr>
        <p:spPr>
          <a:xfrm>
            <a:off x="274320" y="768096"/>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2" name="Google Shape;682;p57"/>
          <p:cNvSpPr/>
          <p:nvPr/>
        </p:nvSpPr>
        <p:spPr>
          <a:xfrm>
            <a:off x="274320" y="768096"/>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INICIO</a:t>
            </a:r>
            <a:endParaRPr sz="900">
              <a:solidFill>
                <a:schemeClr val="dk1"/>
              </a:solidFill>
              <a:latin typeface="Arial"/>
              <a:ea typeface="Arial"/>
              <a:cs typeface="Arial"/>
              <a:sym typeface="Arial"/>
            </a:endParaRPr>
          </a:p>
        </p:txBody>
      </p:sp>
      <p:cxnSp>
        <p:nvCxnSpPr>
          <p:cNvPr id="683" name="Google Shape;683;p57"/>
          <p:cNvCxnSpPr/>
          <p:nvPr/>
        </p:nvCxnSpPr>
        <p:spPr>
          <a:xfrm>
            <a:off x="118872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4" name="Google Shape;684;p57"/>
          <p:cNvSpPr/>
          <p:nvPr/>
        </p:nvSpPr>
        <p:spPr>
          <a:xfrm>
            <a:off x="1371600" y="658368"/>
            <a:ext cx="2286000" cy="475488"/>
          </a:xfrm>
          <a:prstGeom prst="roundRect">
            <a:avLst>
              <a:gd name="adj" fmla="val 6316"/>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5" name="Google Shape;685;p57"/>
          <p:cNvSpPr/>
          <p:nvPr/>
        </p:nvSpPr>
        <p:spPr>
          <a:xfrm>
            <a:off x="1463040" y="704088"/>
            <a:ext cx="2103120"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1. Recepción de requerimiento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Asistente recibe el caso en Salesforce (mail/fono) y asigna Coordinador.</a:t>
            </a:r>
            <a:endParaRPr sz="840">
              <a:solidFill>
                <a:schemeClr val="dk1"/>
              </a:solidFill>
              <a:latin typeface="Arial"/>
              <a:ea typeface="Arial"/>
              <a:cs typeface="Arial"/>
              <a:sym typeface="Arial"/>
            </a:endParaRPr>
          </a:p>
        </p:txBody>
      </p:sp>
      <p:sp>
        <p:nvSpPr>
          <p:cNvPr id="686" name="Google Shape;686;p57"/>
          <p:cNvSpPr/>
          <p:nvPr/>
        </p:nvSpPr>
        <p:spPr>
          <a:xfrm>
            <a:off x="2971800" y="41148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7" name="Google Shape;687;p57"/>
          <p:cNvSpPr/>
          <p:nvPr/>
        </p:nvSpPr>
        <p:spPr>
          <a:xfrm>
            <a:off x="2971800" y="41148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60 min</a:t>
            </a:r>
            <a:endParaRPr sz="760">
              <a:solidFill>
                <a:schemeClr val="dk1"/>
              </a:solidFill>
              <a:latin typeface="Arial"/>
              <a:ea typeface="Arial"/>
              <a:cs typeface="Arial"/>
              <a:sym typeface="Arial"/>
            </a:endParaRPr>
          </a:p>
        </p:txBody>
      </p:sp>
      <p:cxnSp>
        <p:nvCxnSpPr>
          <p:cNvPr id="688" name="Google Shape;688;p57"/>
          <p:cNvCxnSpPr/>
          <p:nvPr/>
        </p:nvCxnSpPr>
        <p:spPr>
          <a:xfrm>
            <a:off x="365760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9" name="Google Shape;689;p57"/>
          <p:cNvSpPr/>
          <p:nvPr/>
        </p:nvSpPr>
        <p:spPr>
          <a:xfrm>
            <a:off x="3840480" y="566928"/>
            <a:ext cx="1554480" cy="96012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0" name="Google Shape;690;p57"/>
          <p:cNvSpPr/>
          <p:nvPr/>
        </p:nvSpPr>
        <p:spPr>
          <a:xfrm>
            <a:off x="3895344" y="621792"/>
            <a:ext cx="1444752" cy="85039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visita técnica?</a:t>
            </a:r>
            <a:endParaRPr sz="760">
              <a:solidFill>
                <a:schemeClr val="dk1"/>
              </a:solidFill>
              <a:latin typeface="Arial"/>
              <a:ea typeface="Arial"/>
              <a:cs typeface="Arial"/>
              <a:sym typeface="Arial"/>
            </a:endParaRPr>
          </a:p>
        </p:txBody>
      </p:sp>
      <p:cxnSp>
        <p:nvCxnSpPr>
          <p:cNvPr id="691" name="Google Shape;691;p57"/>
          <p:cNvCxnSpPr/>
          <p:nvPr/>
        </p:nvCxnSpPr>
        <p:spPr>
          <a:xfrm>
            <a:off x="5120640" y="1042416"/>
            <a:ext cx="3383280" cy="0"/>
          </a:xfrm>
          <a:prstGeom prst="straightConnector1">
            <a:avLst/>
          </a:prstGeom>
          <a:noFill/>
          <a:ln w="19050" cap="flat" cmpd="sng">
            <a:solidFill>
              <a:srgbClr val="303640"/>
            </a:solidFill>
            <a:prstDash val="solid"/>
            <a:round/>
            <a:headEnd type="none" w="sm" len="sm"/>
            <a:tailEnd type="none" w="sm" len="sm"/>
          </a:ln>
        </p:spPr>
      </p:cxnSp>
      <p:cxnSp>
        <p:nvCxnSpPr>
          <p:cNvPr id="692" name="Google Shape;692;p57"/>
          <p:cNvCxnSpPr/>
          <p:nvPr/>
        </p:nvCxnSpPr>
        <p:spPr>
          <a:xfrm>
            <a:off x="8503920" y="1042416"/>
            <a:ext cx="0" cy="768096"/>
          </a:xfrm>
          <a:prstGeom prst="straightConnector1">
            <a:avLst/>
          </a:prstGeom>
          <a:noFill/>
          <a:ln w="19050" cap="flat" cmpd="sng">
            <a:solidFill>
              <a:srgbClr val="303640"/>
            </a:solidFill>
            <a:prstDash val="solid"/>
            <a:round/>
            <a:headEnd type="none" w="sm" len="sm"/>
            <a:tailEnd type="triangle" w="med" len="med"/>
          </a:ln>
        </p:spPr>
      </p:cxnSp>
      <p:sp>
        <p:nvSpPr>
          <p:cNvPr id="693" name="Google Shape;693;p57"/>
          <p:cNvSpPr/>
          <p:nvPr/>
        </p:nvSpPr>
        <p:spPr>
          <a:xfrm>
            <a:off x="8275320" y="1307592"/>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 name="Google Shape;694;p57"/>
          <p:cNvSpPr/>
          <p:nvPr/>
        </p:nvSpPr>
        <p:spPr>
          <a:xfrm>
            <a:off x="8275320" y="1307592"/>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cxnSp>
        <p:nvCxnSpPr>
          <p:cNvPr id="695" name="Google Shape;695;p57"/>
          <p:cNvCxnSpPr/>
          <p:nvPr/>
        </p:nvCxnSpPr>
        <p:spPr>
          <a:xfrm>
            <a:off x="960120" y="1225296"/>
            <a:ext cx="2880360" cy="0"/>
          </a:xfrm>
          <a:prstGeom prst="straightConnector1">
            <a:avLst/>
          </a:prstGeom>
          <a:noFill/>
          <a:ln w="19050" cap="flat" cmpd="sng">
            <a:solidFill>
              <a:srgbClr val="303640"/>
            </a:solidFill>
            <a:prstDash val="solid"/>
            <a:round/>
            <a:headEnd type="none" w="sm" len="sm"/>
            <a:tailEnd type="none" w="sm" len="sm"/>
          </a:ln>
        </p:spPr>
      </p:cxnSp>
      <p:cxnSp>
        <p:nvCxnSpPr>
          <p:cNvPr id="696" name="Google Shape;696;p57"/>
          <p:cNvCxnSpPr/>
          <p:nvPr/>
        </p:nvCxnSpPr>
        <p:spPr>
          <a:xfrm>
            <a:off x="960120" y="1225296"/>
            <a:ext cx="0" cy="3090672"/>
          </a:xfrm>
          <a:prstGeom prst="straightConnector1">
            <a:avLst/>
          </a:prstGeom>
          <a:noFill/>
          <a:ln w="19050" cap="flat" cmpd="sng">
            <a:solidFill>
              <a:srgbClr val="303640"/>
            </a:solidFill>
            <a:prstDash val="solid"/>
            <a:round/>
            <a:headEnd type="none" w="sm" len="sm"/>
            <a:tailEnd type="triangle" w="med" len="med"/>
          </a:ln>
        </p:spPr>
      </p:cxnSp>
      <p:sp>
        <p:nvSpPr>
          <p:cNvPr id="697" name="Google Shape;697;p57"/>
          <p:cNvSpPr/>
          <p:nvPr/>
        </p:nvSpPr>
        <p:spPr>
          <a:xfrm>
            <a:off x="749808" y="137160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8" name="Google Shape;698;p57"/>
          <p:cNvSpPr/>
          <p:nvPr/>
        </p:nvSpPr>
        <p:spPr>
          <a:xfrm>
            <a:off x="749808" y="137160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699" name="Google Shape;699;p57"/>
          <p:cNvSpPr/>
          <p:nvPr/>
        </p:nvSpPr>
        <p:spPr>
          <a:xfrm>
            <a:off x="4023360" y="1810512"/>
            <a:ext cx="7863840" cy="237744"/>
          </a:xfrm>
          <a:prstGeom prst="roundRect">
            <a:avLst>
              <a:gd name="adj" fmla="val 2307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 name="Google Shape;700;p57"/>
          <p:cNvSpPr/>
          <p:nvPr/>
        </p:nvSpPr>
        <p:spPr>
          <a:xfrm>
            <a:off x="4023360" y="1810512"/>
            <a:ext cx="78638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s-CL" sz="850" b="1">
                <a:solidFill>
                  <a:srgbClr val="FFFFFF"/>
                </a:solidFill>
                <a:latin typeface="Calibri"/>
                <a:ea typeface="Calibri"/>
                <a:cs typeface="Calibri"/>
                <a:sym typeface="Calibri"/>
              </a:rPr>
              <a:t>CAMINO A  ·  Visita técnica</a:t>
            </a:r>
            <a:endParaRPr sz="850">
              <a:solidFill>
                <a:schemeClr val="dk1"/>
              </a:solidFill>
              <a:latin typeface="Arial"/>
              <a:ea typeface="Arial"/>
              <a:cs typeface="Arial"/>
              <a:sym typeface="Arial"/>
            </a:endParaRPr>
          </a:p>
        </p:txBody>
      </p:sp>
      <p:sp>
        <p:nvSpPr>
          <p:cNvPr id="701" name="Google Shape;701;p57"/>
          <p:cNvSpPr/>
          <p:nvPr/>
        </p:nvSpPr>
        <p:spPr>
          <a:xfrm>
            <a:off x="4133088" y="2340864"/>
            <a:ext cx="146304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2" name="Google Shape;702;p57"/>
          <p:cNvSpPr/>
          <p:nvPr/>
        </p:nvSpPr>
        <p:spPr>
          <a:xfrm>
            <a:off x="4187952" y="2395728"/>
            <a:ext cx="135331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¿Contrato /</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Garantía?</a:t>
            </a:r>
            <a:endParaRPr sz="760">
              <a:solidFill>
                <a:schemeClr val="dk1"/>
              </a:solidFill>
              <a:latin typeface="Arial"/>
              <a:ea typeface="Arial"/>
              <a:cs typeface="Arial"/>
              <a:sym typeface="Arial"/>
            </a:endParaRPr>
          </a:p>
        </p:txBody>
      </p:sp>
      <p:cxnSp>
        <p:nvCxnSpPr>
          <p:cNvPr id="703" name="Google Shape;703;p57"/>
          <p:cNvCxnSpPr/>
          <p:nvPr/>
        </p:nvCxnSpPr>
        <p:spPr>
          <a:xfrm>
            <a:off x="5596128" y="2715768"/>
            <a:ext cx="301752" cy="0"/>
          </a:xfrm>
          <a:prstGeom prst="straightConnector1">
            <a:avLst/>
          </a:prstGeom>
          <a:noFill/>
          <a:ln w="19050" cap="flat" cmpd="sng">
            <a:solidFill>
              <a:srgbClr val="303640"/>
            </a:solidFill>
            <a:prstDash val="solid"/>
            <a:round/>
            <a:headEnd type="none" w="sm" len="sm"/>
            <a:tailEnd type="triangle" w="med" len="med"/>
          </a:ln>
        </p:spPr>
      </p:cxnSp>
      <p:sp>
        <p:nvSpPr>
          <p:cNvPr id="704" name="Google Shape;704;p57"/>
          <p:cNvSpPr/>
          <p:nvPr/>
        </p:nvSpPr>
        <p:spPr>
          <a:xfrm>
            <a:off x="589788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5" name="Google Shape;705;p57"/>
          <p:cNvSpPr/>
          <p:nvPr/>
        </p:nvSpPr>
        <p:spPr>
          <a:xfrm>
            <a:off x="598932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2. Asignación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Coordinador contacta y programa la visita.</a:t>
            </a:r>
            <a:endParaRPr sz="840">
              <a:solidFill>
                <a:schemeClr val="dk1"/>
              </a:solidFill>
              <a:latin typeface="Arial"/>
              <a:ea typeface="Arial"/>
              <a:cs typeface="Arial"/>
              <a:sym typeface="Arial"/>
            </a:endParaRPr>
          </a:p>
        </p:txBody>
      </p:sp>
      <p:sp>
        <p:nvSpPr>
          <p:cNvPr id="706" name="Google Shape;706;p57"/>
          <p:cNvSpPr/>
          <p:nvPr/>
        </p:nvSpPr>
        <p:spPr>
          <a:xfrm>
            <a:off x="6603797" y="2112264"/>
            <a:ext cx="985723"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7" name="Google Shape;707;p57"/>
          <p:cNvSpPr/>
          <p:nvPr/>
        </p:nvSpPr>
        <p:spPr>
          <a:xfrm>
            <a:off x="6603797" y="2112264"/>
            <a:ext cx="985723"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Según contrato</a:t>
            </a:r>
            <a:endParaRPr sz="760">
              <a:solidFill>
                <a:schemeClr val="dk1"/>
              </a:solidFill>
              <a:latin typeface="Arial"/>
              <a:ea typeface="Arial"/>
              <a:cs typeface="Arial"/>
              <a:sym typeface="Arial"/>
            </a:endParaRPr>
          </a:p>
        </p:txBody>
      </p:sp>
      <p:cxnSp>
        <p:nvCxnSpPr>
          <p:cNvPr id="708" name="Google Shape;708;p57"/>
          <p:cNvCxnSpPr/>
          <p:nvPr/>
        </p:nvCxnSpPr>
        <p:spPr>
          <a:xfrm>
            <a:off x="758952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09" name="Google Shape;709;p57"/>
          <p:cNvSpPr/>
          <p:nvPr/>
        </p:nvSpPr>
        <p:spPr>
          <a:xfrm>
            <a:off x="777240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0" name="Google Shape;710;p57"/>
          <p:cNvSpPr/>
          <p:nvPr/>
        </p:nvSpPr>
        <p:spPr>
          <a:xfrm>
            <a:off x="786384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3. Agendamiento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Consola de despachador Field Service.</a:t>
            </a:r>
            <a:endParaRPr sz="840">
              <a:solidFill>
                <a:schemeClr val="dk1"/>
              </a:solidFill>
              <a:latin typeface="Arial"/>
              <a:ea typeface="Arial"/>
              <a:cs typeface="Arial"/>
              <a:sym typeface="Arial"/>
            </a:endParaRPr>
          </a:p>
        </p:txBody>
      </p:sp>
      <p:sp>
        <p:nvSpPr>
          <p:cNvPr id="711" name="Google Shape;711;p57"/>
          <p:cNvSpPr/>
          <p:nvPr/>
        </p:nvSpPr>
        <p:spPr>
          <a:xfrm>
            <a:off x="8097926" y="2112264"/>
            <a:ext cx="1366114"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2" name="Google Shape;712;p57"/>
          <p:cNvSpPr/>
          <p:nvPr/>
        </p:nvSpPr>
        <p:spPr>
          <a:xfrm>
            <a:off x="8097926" y="2112264"/>
            <a:ext cx="1366114"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Contrato · si no, 96 h</a:t>
            </a:r>
            <a:endParaRPr sz="760">
              <a:solidFill>
                <a:schemeClr val="dk1"/>
              </a:solidFill>
              <a:latin typeface="Arial"/>
              <a:ea typeface="Arial"/>
              <a:cs typeface="Arial"/>
              <a:sym typeface="Arial"/>
            </a:endParaRPr>
          </a:p>
        </p:txBody>
      </p:sp>
      <p:cxnSp>
        <p:nvCxnSpPr>
          <p:cNvPr id="713" name="Google Shape;713;p57"/>
          <p:cNvCxnSpPr/>
          <p:nvPr/>
        </p:nvCxnSpPr>
        <p:spPr>
          <a:xfrm>
            <a:off x="946404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14" name="Google Shape;714;p57"/>
          <p:cNvSpPr/>
          <p:nvPr/>
        </p:nvSpPr>
        <p:spPr>
          <a:xfrm>
            <a:off x="964692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5" name="Google Shape;715;p57"/>
          <p:cNvSpPr/>
          <p:nvPr/>
        </p:nvSpPr>
        <p:spPr>
          <a:xfrm>
            <a:off x="973836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4. Correo con OT y fecha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envía la Orden de Trabajo y la fecha al cliente.</a:t>
            </a:r>
            <a:endParaRPr sz="840">
              <a:solidFill>
                <a:schemeClr val="dk1"/>
              </a:solidFill>
              <a:latin typeface="Arial"/>
              <a:ea typeface="Arial"/>
              <a:cs typeface="Arial"/>
              <a:sym typeface="Arial"/>
            </a:endParaRPr>
          </a:p>
        </p:txBody>
      </p:sp>
      <p:cxnSp>
        <p:nvCxnSpPr>
          <p:cNvPr id="716" name="Google Shape;716;p57"/>
          <p:cNvCxnSpPr/>
          <p:nvPr/>
        </p:nvCxnSpPr>
        <p:spPr>
          <a:xfrm>
            <a:off x="10492740" y="3072384"/>
            <a:ext cx="0" cy="347472"/>
          </a:xfrm>
          <a:prstGeom prst="straightConnector1">
            <a:avLst/>
          </a:prstGeom>
          <a:noFill/>
          <a:ln w="19050" cap="flat" cmpd="sng">
            <a:solidFill>
              <a:srgbClr val="303640"/>
            </a:solidFill>
            <a:prstDash val="solid"/>
            <a:round/>
            <a:headEnd type="none" w="sm" len="sm"/>
            <a:tailEnd type="triangle" w="med" len="med"/>
          </a:ln>
        </p:spPr>
      </p:cxnSp>
      <p:sp>
        <p:nvSpPr>
          <p:cNvPr id="717" name="Google Shape;717;p57"/>
          <p:cNvSpPr/>
          <p:nvPr/>
        </p:nvSpPr>
        <p:spPr>
          <a:xfrm>
            <a:off x="964692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8" name="Google Shape;718;p57"/>
          <p:cNvSpPr/>
          <p:nvPr/>
        </p:nvSpPr>
        <p:spPr>
          <a:xfrm>
            <a:off x="973836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5. 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el caso y se notifica al cliente.</a:t>
            </a:r>
            <a:endParaRPr sz="840">
              <a:solidFill>
                <a:schemeClr val="dk1"/>
              </a:solidFill>
              <a:latin typeface="Arial"/>
              <a:ea typeface="Arial"/>
              <a:cs typeface="Arial"/>
              <a:sym typeface="Arial"/>
            </a:endParaRPr>
          </a:p>
        </p:txBody>
      </p:sp>
      <p:sp>
        <p:nvSpPr>
          <p:cNvPr id="719" name="Google Shape;719;p57"/>
          <p:cNvSpPr/>
          <p:nvPr/>
        </p:nvSpPr>
        <p:spPr>
          <a:xfrm>
            <a:off x="10652760" y="3172968"/>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0" name="Google Shape;720;p57"/>
          <p:cNvSpPr/>
          <p:nvPr/>
        </p:nvSpPr>
        <p:spPr>
          <a:xfrm>
            <a:off x="10652760" y="3172968"/>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21" name="Google Shape;721;p57"/>
          <p:cNvCxnSpPr/>
          <p:nvPr/>
        </p:nvCxnSpPr>
        <p:spPr>
          <a:xfrm>
            <a:off x="946404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2" name="Google Shape;722;p57"/>
          <p:cNvSpPr/>
          <p:nvPr/>
        </p:nvSpPr>
        <p:spPr>
          <a:xfrm>
            <a:off x="777240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3" name="Google Shape;723;p57"/>
          <p:cNvSpPr/>
          <p:nvPr/>
        </p:nvSpPr>
        <p:spPr>
          <a:xfrm>
            <a:off x="786384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6. Gestión de Recursos</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Pasajes, hospedaje, vehículos y viáticos.</a:t>
            </a:r>
            <a:endParaRPr sz="840">
              <a:solidFill>
                <a:schemeClr val="dk1"/>
              </a:solidFill>
              <a:latin typeface="Arial"/>
              <a:ea typeface="Arial"/>
              <a:cs typeface="Arial"/>
              <a:sym typeface="Arial"/>
            </a:endParaRPr>
          </a:p>
        </p:txBody>
      </p:sp>
      <p:cxnSp>
        <p:nvCxnSpPr>
          <p:cNvPr id="724" name="Google Shape;724;p57"/>
          <p:cNvCxnSpPr/>
          <p:nvPr/>
        </p:nvCxnSpPr>
        <p:spPr>
          <a:xfrm>
            <a:off x="758952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5" name="Google Shape;725;p57"/>
          <p:cNvSpPr/>
          <p:nvPr/>
        </p:nvSpPr>
        <p:spPr>
          <a:xfrm>
            <a:off x="589788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6" name="Google Shape;726;p57"/>
          <p:cNvSpPr/>
          <p:nvPr/>
        </p:nvSpPr>
        <p:spPr>
          <a:xfrm>
            <a:off x="598932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7. Planificación y Ejecución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Ejecución del servicio técnico en terreno.</a:t>
            </a:r>
            <a:endParaRPr sz="840">
              <a:solidFill>
                <a:schemeClr val="dk1"/>
              </a:solidFill>
              <a:latin typeface="Arial"/>
              <a:ea typeface="Arial"/>
              <a:cs typeface="Arial"/>
              <a:sym typeface="Arial"/>
            </a:endParaRPr>
          </a:p>
        </p:txBody>
      </p:sp>
      <p:cxnSp>
        <p:nvCxnSpPr>
          <p:cNvPr id="727" name="Google Shape;727;p57"/>
          <p:cNvCxnSpPr/>
          <p:nvPr/>
        </p:nvCxnSpPr>
        <p:spPr>
          <a:xfrm>
            <a:off x="5596128" y="3776472"/>
            <a:ext cx="301752" cy="0"/>
          </a:xfrm>
          <a:prstGeom prst="straightConnector1">
            <a:avLst/>
          </a:prstGeom>
          <a:noFill/>
          <a:ln w="19050" cap="flat" cmpd="sng">
            <a:solidFill>
              <a:srgbClr val="303640"/>
            </a:solidFill>
            <a:prstDash val="solid"/>
            <a:round/>
            <a:headEnd type="triangle" w="med" len="med"/>
            <a:tailEnd type="none" w="sm" len="sm"/>
          </a:ln>
        </p:spPr>
      </p:cxnSp>
      <p:sp>
        <p:nvSpPr>
          <p:cNvPr id="728" name="Google Shape;728;p57"/>
          <p:cNvSpPr/>
          <p:nvPr/>
        </p:nvSpPr>
        <p:spPr>
          <a:xfrm>
            <a:off x="4023360" y="3419856"/>
            <a:ext cx="1572768"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9" name="Google Shape;729;p57"/>
          <p:cNvSpPr/>
          <p:nvPr/>
        </p:nvSpPr>
        <p:spPr>
          <a:xfrm>
            <a:off x="4114800" y="3465576"/>
            <a:ext cx="1389888"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8. Revisión y Cierre</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Revisión, facturación y cierre administrativo.</a:t>
            </a:r>
            <a:endParaRPr sz="840">
              <a:solidFill>
                <a:schemeClr val="dk1"/>
              </a:solidFill>
              <a:latin typeface="Arial"/>
              <a:ea typeface="Arial"/>
              <a:cs typeface="Arial"/>
              <a:sym typeface="Arial"/>
            </a:endParaRPr>
          </a:p>
        </p:txBody>
      </p:sp>
      <p:cxnSp>
        <p:nvCxnSpPr>
          <p:cNvPr id="730" name="Google Shape;730;p57"/>
          <p:cNvCxnSpPr/>
          <p:nvPr/>
        </p:nvCxnSpPr>
        <p:spPr>
          <a:xfrm>
            <a:off x="2148840" y="3776472"/>
            <a:ext cx="1874520" cy="0"/>
          </a:xfrm>
          <a:prstGeom prst="straightConnector1">
            <a:avLst/>
          </a:prstGeom>
          <a:noFill/>
          <a:ln w="19050" cap="flat" cmpd="sng">
            <a:solidFill>
              <a:srgbClr val="303640"/>
            </a:solidFill>
            <a:prstDash val="solid"/>
            <a:round/>
            <a:headEnd type="triangle" w="med" len="med"/>
            <a:tailEnd type="none" w="sm" len="sm"/>
          </a:ln>
        </p:spPr>
      </p:cxnSp>
      <p:sp>
        <p:nvSpPr>
          <p:cNvPr id="731" name="Google Shape;731;p57"/>
          <p:cNvSpPr/>
          <p:nvPr/>
        </p:nvSpPr>
        <p:spPr>
          <a:xfrm>
            <a:off x="1188720" y="3547872"/>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2" name="Google Shape;732;p57"/>
          <p:cNvSpPr/>
          <p:nvPr/>
        </p:nvSpPr>
        <p:spPr>
          <a:xfrm>
            <a:off x="1188720" y="3547872"/>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sp>
        <p:nvSpPr>
          <p:cNvPr id="733" name="Google Shape;733;p57"/>
          <p:cNvSpPr/>
          <p:nvPr/>
        </p:nvSpPr>
        <p:spPr>
          <a:xfrm>
            <a:off x="274320" y="4315968"/>
            <a:ext cx="7955280" cy="237744"/>
          </a:xfrm>
          <a:prstGeom prst="roundRect">
            <a:avLst>
              <a:gd name="adj" fmla="val 2307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4" name="Google Shape;734;p57"/>
          <p:cNvSpPr/>
          <p:nvPr/>
        </p:nvSpPr>
        <p:spPr>
          <a:xfrm>
            <a:off x="274320" y="4315968"/>
            <a:ext cx="795528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CAMINO B  ·  Solicitud de cotización</a:t>
            </a:r>
            <a:endParaRPr sz="850">
              <a:solidFill>
                <a:schemeClr val="dk1"/>
              </a:solidFill>
              <a:latin typeface="Arial"/>
              <a:ea typeface="Arial"/>
              <a:cs typeface="Arial"/>
              <a:sym typeface="Arial"/>
            </a:endParaRPr>
          </a:p>
        </p:txBody>
      </p:sp>
      <p:sp>
        <p:nvSpPr>
          <p:cNvPr id="735" name="Google Shape;735;p57"/>
          <p:cNvSpPr/>
          <p:nvPr/>
        </p:nvSpPr>
        <p:spPr>
          <a:xfrm>
            <a:off x="274320" y="4818888"/>
            <a:ext cx="141732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6" name="Google Shape;736;p57"/>
          <p:cNvSpPr/>
          <p:nvPr/>
        </p:nvSpPr>
        <p:spPr>
          <a:xfrm>
            <a:off x="329184" y="4873752"/>
            <a:ext cx="130759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cotización?</a:t>
            </a:r>
            <a:endParaRPr sz="760">
              <a:solidFill>
                <a:schemeClr val="dk1"/>
              </a:solidFill>
              <a:latin typeface="Arial"/>
              <a:ea typeface="Arial"/>
              <a:cs typeface="Arial"/>
              <a:sym typeface="Arial"/>
            </a:endParaRPr>
          </a:p>
        </p:txBody>
      </p:sp>
      <p:cxnSp>
        <p:nvCxnSpPr>
          <p:cNvPr id="737" name="Google Shape;737;p57"/>
          <p:cNvCxnSpPr/>
          <p:nvPr/>
        </p:nvCxnSpPr>
        <p:spPr>
          <a:xfrm>
            <a:off x="16916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38" name="Google Shape;738;p57"/>
          <p:cNvSpPr/>
          <p:nvPr/>
        </p:nvSpPr>
        <p:spPr>
          <a:xfrm>
            <a:off x="1874520" y="4864608"/>
            <a:ext cx="19202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9" name="Google Shape;739;p57"/>
          <p:cNvSpPr/>
          <p:nvPr/>
        </p:nvSpPr>
        <p:spPr>
          <a:xfrm>
            <a:off x="1965960" y="4910328"/>
            <a:ext cx="17373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Generar oportunidad</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Cotización en Salesforce enviada al cliente.</a:t>
            </a:r>
            <a:endParaRPr sz="840">
              <a:solidFill>
                <a:schemeClr val="dk1"/>
              </a:solidFill>
              <a:latin typeface="Arial"/>
              <a:ea typeface="Arial"/>
              <a:cs typeface="Arial"/>
              <a:sym typeface="Arial"/>
            </a:endParaRPr>
          </a:p>
        </p:txBody>
      </p:sp>
      <p:sp>
        <p:nvSpPr>
          <p:cNvPr id="740" name="Google Shape;740;p57"/>
          <p:cNvSpPr/>
          <p:nvPr/>
        </p:nvSpPr>
        <p:spPr>
          <a:xfrm>
            <a:off x="3108960" y="461772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1" name="Google Shape;741;p57"/>
          <p:cNvSpPr/>
          <p:nvPr/>
        </p:nvSpPr>
        <p:spPr>
          <a:xfrm>
            <a:off x="3108960" y="461772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24 h</a:t>
            </a:r>
            <a:endParaRPr sz="760">
              <a:solidFill>
                <a:schemeClr val="dk1"/>
              </a:solidFill>
              <a:latin typeface="Arial"/>
              <a:ea typeface="Arial"/>
              <a:cs typeface="Arial"/>
              <a:sym typeface="Arial"/>
            </a:endParaRPr>
          </a:p>
        </p:txBody>
      </p:sp>
      <p:cxnSp>
        <p:nvCxnSpPr>
          <p:cNvPr id="742" name="Google Shape;742;p57"/>
          <p:cNvCxnSpPr/>
          <p:nvPr/>
        </p:nvCxnSpPr>
        <p:spPr>
          <a:xfrm>
            <a:off x="379476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3" name="Google Shape;743;p57"/>
          <p:cNvSpPr/>
          <p:nvPr/>
        </p:nvSpPr>
        <p:spPr>
          <a:xfrm>
            <a:off x="3977640" y="4818888"/>
            <a:ext cx="137160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4" name="Google Shape;744;p57"/>
          <p:cNvSpPr/>
          <p:nvPr/>
        </p:nvSpPr>
        <p:spPr>
          <a:xfrm>
            <a:off x="4032504" y="4873752"/>
            <a:ext cx="126187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¿Cliente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acepta?</a:t>
            </a:r>
            <a:endParaRPr sz="760">
              <a:solidFill>
                <a:schemeClr val="dk1"/>
              </a:solidFill>
              <a:latin typeface="Arial"/>
              <a:ea typeface="Arial"/>
              <a:cs typeface="Arial"/>
              <a:sym typeface="Arial"/>
            </a:endParaRPr>
          </a:p>
        </p:txBody>
      </p:sp>
      <p:cxnSp>
        <p:nvCxnSpPr>
          <p:cNvPr id="745" name="Google Shape;745;p57"/>
          <p:cNvCxnSpPr/>
          <p:nvPr/>
        </p:nvCxnSpPr>
        <p:spPr>
          <a:xfrm>
            <a:off x="53492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6" name="Google Shape;746;p57"/>
          <p:cNvSpPr/>
          <p:nvPr/>
        </p:nvSpPr>
        <p:spPr>
          <a:xfrm>
            <a:off x="5532120" y="4864608"/>
            <a:ext cx="2148840" cy="640080"/>
          </a:xfrm>
          <a:prstGeom prst="roundRect">
            <a:avLst>
              <a:gd name="adj" fmla="val 8571"/>
            </a:avLst>
          </a:prstGeom>
          <a:solidFill>
            <a:srgbClr val="EAFBFB"/>
          </a:solidFill>
          <a:ln w="15875" cap="flat" cmpd="sng">
            <a:solidFill>
              <a:srgbClr val="3AD1D1"/>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7" name="Google Shape;747;p57"/>
          <p:cNvSpPr/>
          <p:nvPr/>
        </p:nvSpPr>
        <p:spPr>
          <a:xfrm>
            <a:off x="5669280" y="4864608"/>
            <a:ext cx="1874520" cy="6400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 Continúa en Camino A</a:t>
            </a:r>
            <a:endParaRPr sz="76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2. Asignación</a:t>
            </a:r>
            <a:endParaRPr sz="760">
              <a:solidFill>
                <a:schemeClr val="dk1"/>
              </a:solidFill>
              <a:latin typeface="Arial"/>
              <a:ea typeface="Arial"/>
              <a:cs typeface="Arial"/>
              <a:sym typeface="Arial"/>
            </a:endParaRPr>
          </a:p>
        </p:txBody>
      </p:sp>
      <p:cxnSp>
        <p:nvCxnSpPr>
          <p:cNvPr id="748" name="Google Shape;748;p57"/>
          <p:cNvCxnSpPr/>
          <p:nvPr/>
        </p:nvCxnSpPr>
        <p:spPr>
          <a:xfrm>
            <a:off x="98298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49" name="Google Shape;749;p57"/>
          <p:cNvSpPr/>
          <p:nvPr/>
        </p:nvSpPr>
        <p:spPr>
          <a:xfrm>
            <a:off x="27432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0" name="Google Shape;750;p57"/>
          <p:cNvSpPr/>
          <p:nvPr/>
        </p:nvSpPr>
        <p:spPr>
          <a:xfrm>
            <a:off x="36576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cxnSp>
        <p:nvCxnSpPr>
          <p:cNvPr id="751" name="Google Shape;751;p57"/>
          <p:cNvCxnSpPr/>
          <p:nvPr/>
        </p:nvCxnSpPr>
        <p:spPr>
          <a:xfrm>
            <a:off x="2057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2" name="Google Shape;752;p57"/>
          <p:cNvSpPr/>
          <p:nvPr/>
        </p:nvSpPr>
        <p:spPr>
          <a:xfrm>
            <a:off x="224028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3" name="Google Shape;753;p57"/>
          <p:cNvSpPr/>
          <p:nvPr/>
        </p:nvSpPr>
        <p:spPr>
          <a:xfrm>
            <a:off x="224028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54" name="Google Shape;754;p57"/>
          <p:cNvCxnSpPr/>
          <p:nvPr/>
        </p:nvCxnSpPr>
        <p:spPr>
          <a:xfrm>
            <a:off x="466344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55" name="Google Shape;755;p57"/>
          <p:cNvSpPr/>
          <p:nvPr/>
        </p:nvSpPr>
        <p:spPr>
          <a:xfrm>
            <a:off x="3794760" y="5852160"/>
            <a:ext cx="16916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6" name="Google Shape;756;p57"/>
          <p:cNvSpPr/>
          <p:nvPr/>
        </p:nvSpPr>
        <p:spPr>
          <a:xfrm>
            <a:off x="3886200" y="5897880"/>
            <a:ext cx="15087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Oportunidad perdida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la oportunidad en Salesforce.</a:t>
            </a:r>
            <a:endParaRPr sz="840">
              <a:solidFill>
                <a:schemeClr val="dk1"/>
              </a:solidFill>
              <a:latin typeface="Arial"/>
              <a:ea typeface="Arial"/>
              <a:cs typeface="Arial"/>
              <a:sym typeface="Arial"/>
            </a:endParaRPr>
          </a:p>
        </p:txBody>
      </p:sp>
      <p:cxnSp>
        <p:nvCxnSpPr>
          <p:cNvPr id="757" name="Google Shape;757;p57"/>
          <p:cNvCxnSpPr/>
          <p:nvPr/>
        </p:nvCxnSpPr>
        <p:spPr>
          <a:xfrm>
            <a:off x="5486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8" name="Google Shape;758;p57"/>
          <p:cNvSpPr/>
          <p:nvPr/>
        </p:nvSpPr>
        <p:spPr>
          <a:xfrm>
            <a:off x="566928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9" name="Google Shape;759;p57"/>
          <p:cNvSpPr/>
          <p:nvPr/>
        </p:nvSpPr>
        <p:spPr>
          <a:xfrm>
            <a:off x="576072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sp>
        <p:nvSpPr>
          <p:cNvPr id="760" name="Google Shape;760;p57"/>
          <p:cNvSpPr/>
          <p:nvPr/>
        </p:nvSpPr>
        <p:spPr>
          <a:xfrm>
            <a:off x="6766560" y="5605272"/>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1" name="Google Shape;761;p57"/>
          <p:cNvSpPr/>
          <p:nvPr/>
        </p:nvSpPr>
        <p:spPr>
          <a:xfrm>
            <a:off x="6766560" y="5605272"/>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62" name="Google Shape;762;p57"/>
          <p:cNvCxnSpPr/>
          <p:nvPr/>
        </p:nvCxnSpPr>
        <p:spPr>
          <a:xfrm>
            <a:off x="745236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63" name="Google Shape;763;p57"/>
          <p:cNvSpPr/>
          <p:nvPr/>
        </p:nvSpPr>
        <p:spPr>
          <a:xfrm>
            <a:off x="763524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4" name="Google Shape;764;p57"/>
          <p:cNvSpPr/>
          <p:nvPr/>
        </p:nvSpPr>
        <p:spPr>
          <a:xfrm>
            <a:off x="763524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65" name="Google Shape;765;p57"/>
          <p:cNvCxnSpPr/>
          <p:nvPr/>
        </p:nvCxnSpPr>
        <p:spPr>
          <a:xfrm rot="10800000" flipH="1">
            <a:off x="960120" y="2730489"/>
            <a:ext cx="3172968" cy="21855"/>
          </a:xfrm>
          <a:prstGeom prst="straightConnector1">
            <a:avLst/>
          </a:prstGeom>
          <a:noFill/>
          <a:ln w="19050" cap="flat" cmpd="sng">
            <a:solidFill>
              <a:srgbClr val="303640"/>
            </a:solidFill>
            <a:prstDash val="solid"/>
            <a:round/>
            <a:headEnd type="none" w="sm" len="sm"/>
            <a:tailEnd type="none" w="sm" len="sm"/>
          </a:ln>
        </p:spPr>
      </p:cxnSp>
      <p:sp>
        <p:nvSpPr>
          <p:cNvPr id="766" name="Google Shape;766;p57"/>
          <p:cNvSpPr/>
          <p:nvPr/>
        </p:nvSpPr>
        <p:spPr>
          <a:xfrm>
            <a:off x="1781355" y="260604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7" name="Google Shape;767;p57"/>
          <p:cNvSpPr/>
          <p:nvPr/>
        </p:nvSpPr>
        <p:spPr>
          <a:xfrm>
            <a:off x="1781355" y="260604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768" name="Google Shape;768;p57"/>
          <p:cNvSpPr/>
          <p:nvPr/>
        </p:nvSpPr>
        <p:spPr>
          <a:xfrm>
            <a:off x="5417734" y="2596609"/>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9" name="Google Shape;769;p57"/>
          <p:cNvSpPr/>
          <p:nvPr/>
        </p:nvSpPr>
        <p:spPr>
          <a:xfrm>
            <a:off x="5417734" y="2596609"/>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sp>
        <p:nvSpPr>
          <p:cNvPr id="770" name="Google Shape;770;p57"/>
          <p:cNvSpPr/>
          <p:nvPr/>
        </p:nvSpPr>
        <p:spPr>
          <a:xfrm>
            <a:off x="4480560" y="5514868"/>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1" name="Google Shape;771;p57"/>
          <p:cNvSpPr/>
          <p:nvPr/>
        </p:nvSpPr>
        <p:spPr>
          <a:xfrm>
            <a:off x="4480560" y="5514868"/>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58"/>
          <p:cNvSpPr txBox="1"/>
          <p:nvPr/>
        </p:nvSpPr>
        <p:spPr>
          <a:xfrm>
            <a:off x="397024" y="274439"/>
            <a:ext cx="10081120" cy="34624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3448D"/>
              </a:buClr>
              <a:buSzPts val="2250"/>
              <a:buFont typeface="Calibri"/>
              <a:buNone/>
            </a:pPr>
            <a:r>
              <a:rPr lang="es-CL" sz="2250" b="1" i="0" u="none" strike="noStrike" cap="none">
                <a:solidFill>
                  <a:srgbClr val="33448D"/>
                </a:solidFill>
                <a:latin typeface="Calibri"/>
                <a:ea typeface="Calibri"/>
                <a:cs typeface="Calibri"/>
                <a:sym typeface="Calibri"/>
              </a:rPr>
              <a:t>Segmentación Clientes TECSERVICE</a:t>
            </a:r>
            <a:endParaRPr/>
          </a:p>
        </p:txBody>
      </p:sp>
      <p:pic>
        <p:nvPicPr>
          <p:cNvPr id="777" name="Google Shape;777;p58"/>
          <p:cNvPicPr preferRelativeResize="0"/>
          <p:nvPr/>
        </p:nvPicPr>
        <p:blipFill rotWithShape="1">
          <a:blip r:embed="rId3">
            <a:alphaModFix/>
          </a:blip>
          <a:srcRect r="73077"/>
          <a:stretch/>
        </p:blipFill>
        <p:spPr>
          <a:xfrm>
            <a:off x="10776520" y="37422"/>
            <a:ext cx="504056" cy="584616"/>
          </a:xfrm>
          <a:prstGeom prst="rect">
            <a:avLst/>
          </a:prstGeom>
          <a:noFill/>
          <a:ln>
            <a:noFill/>
          </a:ln>
        </p:spPr>
      </p:pic>
      <p:sp>
        <p:nvSpPr>
          <p:cNvPr id="778" name="Google Shape;778;p58"/>
          <p:cNvSpPr/>
          <p:nvPr/>
        </p:nvSpPr>
        <p:spPr>
          <a:xfrm>
            <a:off x="767408" y="1196752"/>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Tamaño</a:t>
            </a:r>
            <a:endParaRPr sz="1600" b="1" i="0" u="none" strike="noStrike" cap="none">
              <a:solidFill>
                <a:srgbClr val="FFFFFF"/>
              </a:solidFill>
              <a:latin typeface="Arial"/>
              <a:ea typeface="Arial"/>
              <a:cs typeface="Arial"/>
              <a:sym typeface="Arial"/>
            </a:endParaRPr>
          </a:p>
        </p:txBody>
      </p:sp>
      <p:sp>
        <p:nvSpPr>
          <p:cNvPr id="779" name="Google Shape;779;p58"/>
          <p:cNvSpPr/>
          <p:nvPr/>
        </p:nvSpPr>
        <p:spPr>
          <a:xfrm>
            <a:off x="767408" y="2708920"/>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Importancia</a:t>
            </a:r>
            <a:endParaRPr sz="1600" b="1" i="0" u="none" strike="noStrike" cap="none">
              <a:solidFill>
                <a:srgbClr val="FFFFFF"/>
              </a:solidFill>
              <a:latin typeface="Arial"/>
              <a:ea typeface="Arial"/>
              <a:cs typeface="Arial"/>
              <a:sym typeface="Arial"/>
            </a:endParaRPr>
          </a:p>
        </p:txBody>
      </p:sp>
      <p:sp>
        <p:nvSpPr>
          <p:cNvPr id="780" name="Google Shape;780;p58"/>
          <p:cNvSpPr/>
          <p:nvPr/>
        </p:nvSpPr>
        <p:spPr>
          <a:xfrm>
            <a:off x="767408" y="4221088"/>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Complejidad</a:t>
            </a:r>
            <a:endParaRPr sz="1600" b="1" i="0" u="none" strike="noStrike" cap="none">
              <a:solidFill>
                <a:srgbClr val="FFFFFF"/>
              </a:solidFill>
              <a:latin typeface="Arial"/>
              <a:ea typeface="Arial"/>
              <a:cs typeface="Arial"/>
              <a:sym typeface="Arial"/>
            </a:endParaRPr>
          </a:p>
        </p:txBody>
      </p:sp>
      <p:sp>
        <p:nvSpPr>
          <p:cNvPr id="781" name="Google Shape;781;p58"/>
          <p:cNvSpPr/>
          <p:nvPr/>
        </p:nvSpPr>
        <p:spPr>
          <a:xfrm>
            <a:off x="767408" y="5733256"/>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Potencial</a:t>
            </a:r>
            <a:endParaRPr sz="1600" b="1" i="0" u="none" strike="noStrike" cap="none">
              <a:solidFill>
                <a:srgbClr val="FFFFFF"/>
              </a:solidFill>
              <a:latin typeface="Arial"/>
              <a:ea typeface="Arial"/>
              <a:cs typeface="Arial"/>
              <a:sym typeface="Arial"/>
            </a:endParaRPr>
          </a:p>
        </p:txBody>
      </p:sp>
      <p:sp>
        <p:nvSpPr>
          <p:cNvPr id="782" name="Google Shape;782;p58"/>
          <p:cNvSpPr/>
          <p:nvPr/>
        </p:nvSpPr>
        <p:spPr>
          <a:xfrm>
            <a:off x="263352" y="6381328"/>
            <a:ext cx="1296144" cy="288032"/>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sp>
        <p:nvSpPr>
          <p:cNvPr id="783" name="Google Shape;783;p58"/>
          <p:cNvSpPr/>
          <p:nvPr/>
        </p:nvSpPr>
        <p:spPr>
          <a:xfrm>
            <a:off x="2078902" y="1196752"/>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$M/Margen</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Base Instalada</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 Visitas</a:t>
            </a:r>
            <a:endParaRPr sz="1200" b="0" i="0" u="none" strike="noStrike" cap="none">
              <a:solidFill>
                <a:srgbClr val="373C46"/>
              </a:solidFill>
              <a:latin typeface="Arial"/>
              <a:ea typeface="Arial"/>
              <a:cs typeface="Arial"/>
              <a:sym typeface="Arial"/>
            </a:endParaRPr>
          </a:p>
        </p:txBody>
      </p:sp>
      <p:sp>
        <p:nvSpPr>
          <p:cNvPr id="784" name="Google Shape;784;p58"/>
          <p:cNvSpPr/>
          <p:nvPr/>
        </p:nvSpPr>
        <p:spPr>
          <a:xfrm>
            <a:off x="2150910" y="2708920"/>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Referencia en el Mercado</a:t>
            </a:r>
            <a:endParaRPr sz="1200" b="0" i="0" u="none" strike="noStrike" cap="none">
              <a:solidFill>
                <a:srgbClr val="373C46"/>
              </a:solidFill>
              <a:latin typeface="Arial"/>
              <a:ea typeface="Arial"/>
              <a:cs typeface="Arial"/>
              <a:sym typeface="Arial"/>
            </a:endParaRPr>
          </a:p>
        </p:txBody>
      </p:sp>
      <p:sp>
        <p:nvSpPr>
          <p:cNvPr id="785" name="Google Shape;785;p58"/>
          <p:cNvSpPr/>
          <p:nvPr/>
        </p:nvSpPr>
        <p:spPr>
          <a:xfrm>
            <a:off x="2150910" y="422108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Equipamiento / Proceso Complejo (# Cirugías)</a:t>
            </a:r>
            <a:endParaRPr sz="1200" b="0" i="0" u="none" strike="noStrike" cap="none">
              <a:solidFill>
                <a:srgbClr val="373C46"/>
              </a:solidFill>
              <a:latin typeface="Arial"/>
              <a:ea typeface="Arial"/>
              <a:cs typeface="Arial"/>
              <a:sym typeface="Arial"/>
            </a:endParaRPr>
          </a:p>
        </p:txBody>
      </p:sp>
      <p:sp>
        <p:nvSpPr>
          <p:cNvPr id="786" name="Google Shape;786;p58"/>
          <p:cNvSpPr/>
          <p:nvPr/>
        </p:nvSpPr>
        <p:spPr>
          <a:xfrm>
            <a:off x="2150910" y="574219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Negocios Futuros (Pipeline)</a:t>
            </a:r>
            <a:endParaRPr sz="1200" b="0" i="0" u="none" strike="noStrike" cap="none">
              <a:solidFill>
                <a:srgbClr val="373C46"/>
              </a:solidFill>
              <a:latin typeface="Arial"/>
              <a:ea typeface="Arial"/>
              <a:cs typeface="Arial"/>
              <a:sym typeface="Arial"/>
            </a:endParaRPr>
          </a:p>
        </p:txBody>
      </p:sp>
      <p:sp>
        <p:nvSpPr>
          <p:cNvPr id="787" name="Google Shape;787;p58"/>
          <p:cNvSpPr/>
          <p:nvPr/>
        </p:nvSpPr>
        <p:spPr>
          <a:xfrm rot="5400000">
            <a:off x="1930833" y="3531523"/>
            <a:ext cx="4536504" cy="216024"/>
          </a:xfrm>
          <a:prstGeom prst="triangle">
            <a:avLst>
              <a:gd name="adj" fmla="val 50000"/>
            </a:avLst>
          </a:prstGeom>
          <a:solidFill>
            <a:srgbClr val="D8D8D8"/>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pic>
        <p:nvPicPr>
          <p:cNvPr id="788" name="Google Shape;788;p58"/>
          <p:cNvPicPr preferRelativeResize="0"/>
          <p:nvPr/>
        </p:nvPicPr>
        <p:blipFill rotWithShape="1">
          <a:blip r:embed="rId4">
            <a:alphaModFix/>
          </a:blip>
          <a:srcRect r="22241"/>
          <a:stretch/>
        </p:blipFill>
        <p:spPr>
          <a:xfrm>
            <a:off x="4440201" y="1007246"/>
            <a:ext cx="7516688" cy="3501874"/>
          </a:xfrm>
          <a:prstGeom prst="rect">
            <a:avLst/>
          </a:prstGeom>
          <a:noFill/>
          <a:ln>
            <a:noFill/>
          </a:ln>
        </p:spPr>
      </p:pic>
      <p:pic>
        <p:nvPicPr>
          <p:cNvPr id="789" name="Google Shape;789;p58"/>
          <p:cNvPicPr preferRelativeResize="0"/>
          <p:nvPr/>
        </p:nvPicPr>
        <p:blipFill rotWithShape="1">
          <a:blip r:embed="rId5">
            <a:alphaModFix/>
          </a:blip>
          <a:srcRect/>
          <a:stretch/>
        </p:blipFill>
        <p:spPr>
          <a:xfrm>
            <a:off x="4440201" y="4652714"/>
            <a:ext cx="7384622" cy="125076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59"/>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1600"/>
              <a:buFont typeface="Play"/>
              <a:buNone/>
            </a:pPr>
            <a:endParaRPr/>
          </a:p>
        </p:txBody>
      </p:sp>
      <p:sp>
        <p:nvSpPr>
          <p:cNvPr id="795" name="Google Shape;795;p59"/>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p>
            <a:pPr marL="228600" lvl="0" indent="-127000" algn="l" rtl="0">
              <a:lnSpc>
                <a:spcPct val="90000"/>
              </a:lnSpc>
              <a:spcBef>
                <a:spcPts val="0"/>
              </a:spcBef>
              <a:spcAft>
                <a:spcPts val="0"/>
              </a:spcAft>
              <a:buClr>
                <a:schemeClr val="lt2"/>
              </a:buClr>
              <a:buSzPts val="1600"/>
              <a:buNone/>
            </a:pPr>
            <a:endParaRPr/>
          </a:p>
        </p:txBody>
      </p:sp>
      <p:sp>
        <p:nvSpPr>
          <p:cNvPr id="796" name="Google Shape;796;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L"/>
              <a:t>84</a:t>
            </a:fld>
            <a:endParaRPr/>
          </a:p>
        </p:txBody>
      </p:sp>
      <p:sp>
        <p:nvSpPr>
          <p:cNvPr id="797" name="Google Shape;797;p5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Lógica Ciudades Satelites - Hub</a:t>
            </a:r>
            <a:endParaRPr sz="2700" b="0" i="0" u="none" strike="noStrike" cap="none">
              <a:solidFill>
                <a:srgbClr val="FFFFFF"/>
              </a:solidFill>
              <a:latin typeface="Roboto"/>
              <a:ea typeface="Roboto"/>
              <a:cs typeface="Roboto"/>
              <a:sym typeface="Roboto"/>
            </a:endParaRPr>
          </a:p>
        </p:txBody>
      </p:sp>
      <p:sp>
        <p:nvSpPr>
          <p:cNvPr id="798" name="Google Shape;798;p59"/>
          <p:cNvSpPr/>
          <p:nvPr/>
        </p:nvSpPr>
        <p:spPr>
          <a:xfrm>
            <a:off x="10345949" y="5272208"/>
            <a:ext cx="1777041" cy="448580"/>
          </a:xfrm>
          <a:prstGeom prst="rect">
            <a:avLst/>
          </a:prstGeom>
          <a:noFill/>
          <a:ln>
            <a:noFill/>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2"/>
              </a:buClr>
              <a:buSzPts val="1050"/>
              <a:buFont typeface="Arial"/>
              <a:buChar char="•"/>
            </a:pPr>
            <a:r>
              <a:rPr lang="es-CL" sz="1050">
                <a:solidFill>
                  <a:schemeClr val="lt2"/>
                </a:solidFill>
                <a:latin typeface="Roboto"/>
                <a:ea typeface="Roboto"/>
                <a:cs typeface="Roboto"/>
                <a:sym typeface="Roboto"/>
              </a:rPr>
              <a:t>-</a:t>
            </a:r>
            <a:endParaRPr sz="1050">
              <a:solidFill>
                <a:schemeClr val="lt2"/>
              </a:solidFill>
              <a:latin typeface="Roboto"/>
              <a:ea typeface="Roboto"/>
              <a:cs typeface="Roboto"/>
              <a:sym typeface="Roboto"/>
            </a:endParaRPr>
          </a:p>
        </p:txBody>
      </p:sp>
      <p:pic>
        <p:nvPicPr>
          <p:cNvPr id="799" name="Google Shape;799;p59"/>
          <p:cNvPicPr preferRelativeResize="0"/>
          <p:nvPr/>
        </p:nvPicPr>
        <p:blipFill rotWithShape="1">
          <a:blip r:embed="rId3">
            <a:alphaModFix/>
          </a:blip>
          <a:srcRect/>
          <a:stretch/>
        </p:blipFill>
        <p:spPr>
          <a:xfrm>
            <a:off x="117656" y="883246"/>
            <a:ext cx="2675710" cy="5351418"/>
          </a:xfrm>
          <a:prstGeom prst="rect">
            <a:avLst/>
          </a:prstGeom>
          <a:noFill/>
          <a:ln>
            <a:noFill/>
          </a:ln>
        </p:spPr>
      </p:pic>
      <p:sp>
        <p:nvSpPr>
          <p:cNvPr id="800" name="Google Shape;800;p59"/>
          <p:cNvSpPr/>
          <p:nvPr/>
        </p:nvSpPr>
        <p:spPr>
          <a:xfrm>
            <a:off x="1461506" y="4023360"/>
            <a:ext cx="539932" cy="1697428"/>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1" name="Google Shape;801;p59"/>
          <p:cNvSpPr/>
          <p:nvPr/>
        </p:nvSpPr>
        <p:spPr>
          <a:xfrm>
            <a:off x="1461589" y="3352800"/>
            <a:ext cx="539932" cy="670560"/>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2" name="Google Shape;802;p59"/>
          <p:cNvSpPr/>
          <p:nvPr/>
        </p:nvSpPr>
        <p:spPr>
          <a:xfrm>
            <a:off x="1461589" y="865994"/>
            <a:ext cx="539932" cy="2496872"/>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803" name="Google Shape;803;p59"/>
          <p:cNvGraphicFramePr/>
          <p:nvPr/>
        </p:nvGraphicFramePr>
        <p:xfrm>
          <a:off x="3225801" y="855928"/>
          <a:ext cx="8704950" cy="5378650"/>
        </p:xfrm>
        <a:graphic>
          <a:graphicData uri="http://schemas.openxmlformats.org/drawingml/2006/table">
            <a:tbl>
              <a:tblPr firstRow="1" bandRow="1">
                <a:noFill/>
                <a:tableStyleId>{C37305D2-9BBB-409F-AAFB-F33DB949016B}</a:tableStyleId>
              </a:tblPr>
              <a:tblGrid>
                <a:gridCol w="2114950">
                  <a:extLst>
                    <a:ext uri="{9D8B030D-6E8A-4147-A177-3AD203B41FA5}">
                      <a16:colId xmlns:a16="http://schemas.microsoft.com/office/drawing/2014/main" val="20000"/>
                    </a:ext>
                  </a:extLst>
                </a:gridCol>
                <a:gridCol w="3688350">
                  <a:extLst>
                    <a:ext uri="{9D8B030D-6E8A-4147-A177-3AD203B41FA5}">
                      <a16:colId xmlns:a16="http://schemas.microsoft.com/office/drawing/2014/main" val="20001"/>
                    </a:ext>
                  </a:extLst>
                </a:gridCol>
                <a:gridCol w="2901650">
                  <a:extLst>
                    <a:ext uri="{9D8B030D-6E8A-4147-A177-3AD203B41FA5}">
                      <a16:colId xmlns:a16="http://schemas.microsoft.com/office/drawing/2014/main" val="20002"/>
                    </a:ext>
                  </a:extLst>
                </a:gridCol>
              </a:tblGrid>
              <a:tr h="368925">
                <a:tc>
                  <a:txBody>
                    <a:bodyPr/>
                    <a:lstStyle/>
                    <a:p>
                      <a:pPr marL="0" marR="0" lvl="0" indent="0" algn="l" rtl="0">
                        <a:spcBef>
                          <a:spcPts val="0"/>
                        </a:spcBef>
                        <a:spcAft>
                          <a:spcPts val="0"/>
                        </a:spcAft>
                        <a:buNone/>
                      </a:pPr>
                      <a:r>
                        <a:rPr lang="es-CL" sz="1000" u="none" strike="noStrike" cap="none">
                          <a:solidFill>
                            <a:schemeClr val="dk1"/>
                          </a:solidFill>
                        </a:rPr>
                        <a:t>Región</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Región que presta Servicios (Camionetas/Bodegas/Coordinación/Jefatura)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Tipo de Ciudad (Hub / Satélite / Receptora)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11400">
                <a:tc>
                  <a:txBody>
                    <a:bodyPr/>
                    <a:lstStyle/>
                    <a:p>
                      <a:pPr marL="0" marR="0" lvl="0" indent="0" algn="l" rtl="0">
                        <a:spcBef>
                          <a:spcPts val="0"/>
                        </a:spcBef>
                        <a:spcAft>
                          <a:spcPts val="0"/>
                        </a:spcAft>
                        <a:buNone/>
                      </a:pPr>
                      <a:r>
                        <a:rPr lang="es-CL" sz="1000" b="0">
                          <a:solidFill>
                            <a:schemeClr val="lt2"/>
                          </a:solidFill>
                        </a:rPr>
                        <a:t>Arica y Parinacota – XV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11400">
                <a:tc>
                  <a:txBody>
                    <a:bodyPr/>
                    <a:lstStyle/>
                    <a:p>
                      <a:pPr marL="0" marR="0" lvl="0" indent="0" algn="l" rtl="0">
                        <a:spcBef>
                          <a:spcPts val="0"/>
                        </a:spcBef>
                        <a:spcAft>
                          <a:spcPts val="0"/>
                        </a:spcAft>
                        <a:buNone/>
                      </a:pPr>
                      <a:r>
                        <a:rPr lang="es-CL" sz="1000" b="0">
                          <a:solidFill>
                            <a:schemeClr val="lt2"/>
                          </a:solidFill>
                        </a:rPr>
                        <a:t>Tarapacá – 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11400">
                <a:tc>
                  <a:txBody>
                    <a:bodyPr/>
                    <a:lstStyle/>
                    <a:p>
                      <a:pPr marL="0" marR="0" lvl="0" indent="0" algn="l" rtl="0">
                        <a:spcBef>
                          <a:spcPts val="0"/>
                        </a:spcBef>
                        <a:spcAft>
                          <a:spcPts val="0"/>
                        </a:spcAft>
                        <a:buNone/>
                      </a:pPr>
                      <a:r>
                        <a:rPr lang="es-CL" sz="1000" b="0">
                          <a:solidFill>
                            <a:schemeClr val="lt2"/>
                          </a:solidFill>
                        </a:rPr>
                        <a:t>Antofagasta – 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11400">
                <a:tc>
                  <a:txBody>
                    <a:bodyPr/>
                    <a:lstStyle/>
                    <a:p>
                      <a:pPr marL="0" marR="0" lvl="0" indent="0" algn="l" rtl="0">
                        <a:spcBef>
                          <a:spcPts val="0"/>
                        </a:spcBef>
                        <a:spcAft>
                          <a:spcPts val="0"/>
                        </a:spcAft>
                        <a:buNone/>
                      </a:pPr>
                      <a:r>
                        <a:rPr lang="es-CL" sz="1000" b="0">
                          <a:solidFill>
                            <a:schemeClr val="lt2"/>
                          </a:solidFill>
                        </a:rPr>
                        <a:t>Atacama – III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11400">
                <a:tc>
                  <a:txBody>
                    <a:bodyPr/>
                    <a:lstStyle/>
                    <a:p>
                      <a:pPr marL="0" marR="0" lvl="0" indent="0" algn="l" rtl="0">
                        <a:spcBef>
                          <a:spcPts val="0"/>
                        </a:spcBef>
                        <a:spcAft>
                          <a:spcPts val="0"/>
                        </a:spcAft>
                        <a:buNone/>
                      </a:pPr>
                      <a:r>
                        <a:rPr lang="es-CL" sz="1000" b="0">
                          <a:solidFill>
                            <a:schemeClr val="lt2"/>
                          </a:solidFill>
                        </a:rPr>
                        <a:t>Coquimbo – 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311400">
                <a:tc>
                  <a:txBody>
                    <a:bodyPr/>
                    <a:lstStyle/>
                    <a:p>
                      <a:pPr marL="0" marR="0" lvl="0" indent="0" algn="l" rtl="0">
                        <a:spcBef>
                          <a:spcPts val="0"/>
                        </a:spcBef>
                        <a:spcAft>
                          <a:spcPts val="0"/>
                        </a:spcAft>
                        <a:buNone/>
                      </a:pPr>
                      <a:r>
                        <a:rPr lang="es-CL" sz="1000" b="0">
                          <a:solidFill>
                            <a:schemeClr val="lt2"/>
                          </a:solidFill>
                        </a:rPr>
                        <a:t>Valparaíso – 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6"/>
                  </a:ext>
                </a:extLst>
              </a:tr>
              <a:tr h="311400">
                <a:tc>
                  <a:txBody>
                    <a:bodyPr/>
                    <a:lstStyle/>
                    <a:p>
                      <a:pPr marL="0" marR="0" lvl="0" indent="0" algn="l" rtl="0">
                        <a:spcBef>
                          <a:spcPts val="0"/>
                        </a:spcBef>
                        <a:spcAft>
                          <a:spcPts val="0"/>
                        </a:spcAft>
                        <a:buNone/>
                      </a:pPr>
                      <a:r>
                        <a:rPr lang="es-CL" sz="1000" b="0">
                          <a:solidFill>
                            <a:schemeClr val="dk1"/>
                          </a:solidFill>
                        </a:rPr>
                        <a:t>Metropolitana de Santiago – 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0">
                          <a:solidFill>
                            <a:schemeClr val="dk1"/>
                          </a:solidFill>
                        </a:rPr>
                        <a:t>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1">
                          <a:solidFill>
                            <a:schemeClr val="dk1"/>
                          </a:solidFill>
                        </a:rPr>
                        <a:t>Hub</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extLst>
                  <a:ext uri="{0D108BD9-81ED-4DB2-BD59-A6C34878D82A}">
                    <a16:rowId xmlns:a16="http://schemas.microsoft.com/office/drawing/2014/main" val="10007"/>
                  </a:ext>
                </a:extLst>
              </a:tr>
              <a:tr h="311400">
                <a:tc>
                  <a:txBody>
                    <a:bodyPr/>
                    <a:lstStyle/>
                    <a:p>
                      <a:pPr marL="0" marR="0" lvl="0" indent="0" algn="l" rtl="0">
                        <a:spcBef>
                          <a:spcPts val="0"/>
                        </a:spcBef>
                        <a:spcAft>
                          <a:spcPts val="0"/>
                        </a:spcAft>
                        <a:buNone/>
                      </a:pPr>
                      <a:r>
                        <a:rPr lang="es-CL" sz="1000" b="0">
                          <a:solidFill>
                            <a:schemeClr val="lt2"/>
                          </a:solidFill>
                        </a:rPr>
                        <a:t>O’Higgins – 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8"/>
                  </a:ext>
                </a:extLst>
              </a:tr>
              <a:tr h="311400">
                <a:tc>
                  <a:txBody>
                    <a:bodyPr/>
                    <a:lstStyle/>
                    <a:p>
                      <a:pPr marL="0" marR="0" lvl="0" indent="0" algn="l" rtl="0">
                        <a:spcBef>
                          <a:spcPts val="0"/>
                        </a:spcBef>
                        <a:spcAft>
                          <a:spcPts val="0"/>
                        </a:spcAft>
                        <a:buNone/>
                      </a:pPr>
                      <a:r>
                        <a:rPr lang="es-CL" sz="1000" b="0">
                          <a:solidFill>
                            <a:schemeClr val="lt2"/>
                          </a:solidFill>
                        </a:rPr>
                        <a:t>Maule – VII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9"/>
                  </a:ext>
                </a:extLst>
              </a:tr>
              <a:tr h="311400">
                <a:tc>
                  <a:txBody>
                    <a:bodyPr/>
                    <a:lstStyle/>
                    <a:p>
                      <a:pPr marL="0" marR="0" lvl="0" indent="0" algn="l" rtl="0">
                        <a:spcBef>
                          <a:spcPts val="0"/>
                        </a:spcBef>
                        <a:spcAft>
                          <a:spcPts val="0"/>
                        </a:spcAft>
                        <a:buNone/>
                      </a:pPr>
                      <a:r>
                        <a:rPr lang="es-CL" sz="1000" b="0">
                          <a:solidFill>
                            <a:schemeClr val="lt2"/>
                          </a:solidFill>
                        </a:rPr>
                        <a:t>Ñuble – XVI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VIII y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0"/>
                  </a:ext>
                </a:extLst>
              </a:tr>
              <a:tr h="311400">
                <a:tc>
                  <a:txBody>
                    <a:bodyPr/>
                    <a:lstStyle/>
                    <a:p>
                      <a:pPr marL="0" marR="0" lvl="0" indent="0" algn="l" rtl="0">
                        <a:spcBef>
                          <a:spcPts val="0"/>
                        </a:spcBef>
                        <a:spcAft>
                          <a:spcPts val="0"/>
                        </a:spcAft>
                        <a:buNone/>
                      </a:pPr>
                      <a:r>
                        <a:rPr lang="es-CL" sz="1000" b="1">
                          <a:solidFill>
                            <a:schemeClr val="dk1"/>
                          </a:solidFill>
                        </a:rPr>
                        <a:t>Bio Bio – 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311400">
                <a:tc>
                  <a:txBody>
                    <a:bodyPr/>
                    <a:lstStyle/>
                    <a:p>
                      <a:pPr marL="0" marR="0" lvl="0" indent="0" algn="l" rtl="0">
                        <a:spcBef>
                          <a:spcPts val="0"/>
                        </a:spcBef>
                        <a:spcAft>
                          <a:spcPts val="0"/>
                        </a:spcAft>
                        <a:buNone/>
                      </a:pPr>
                      <a:r>
                        <a:rPr lang="es-CL" sz="1000" b="0">
                          <a:solidFill>
                            <a:schemeClr val="lt2"/>
                          </a:solidFill>
                        </a:rPr>
                        <a:t>La Araucanía – IX</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VIII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2"/>
                  </a:ext>
                </a:extLst>
              </a:tr>
              <a:tr h="311400">
                <a:tc>
                  <a:txBody>
                    <a:bodyPr/>
                    <a:lstStyle/>
                    <a:p>
                      <a:pPr marL="0" marR="0" lvl="0" indent="0" algn="l" rtl="0">
                        <a:spcBef>
                          <a:spcPts val="0"/>
                        </a:spcBef>
                        <a:spcAft>
                          <a:spcPts val="0"/>
                        </a:spcAft>
                        <a:buNone/>
                      </a:pPr>
                      <a:r>
                        <a:rPr lang="es-CL" sz="1000" b="0">
                          <a:solidFill>
                            <a:schemeClr val="lt2"/>
                          </a:solidFill>
                        </a:rPr>
                        <a:t>Los Ríos – XIV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3"/>
                  </a:ext>
                </a:extLst>
              </a:tr>
              <a:tr h="311400">
                <a:tc>
                  <a:txBody>
                    <a:bodyPr/>
                    <a:lstStyle/>
                    <a:p>
                      <a:pPr marL="0" marR="0" lvl="0" indent="0" algn="l" rtl="0">
                        <a:spcBef>
                          <a:spcPts val="0"/>
                        </a:spcBef>
                        <a:spcAft>
                          <a:spcPts val="0"/>
                        </a:spcAft>
                        <a:buNone/>
                      </a:pPr>
                      <a:r>
                        <a:rPr lang="es-CL" sz="1000" b="1">
                          <a:solidFill>
                            <a:schemeClr val="dk1"/>
                          </a:solidFill>
                        </a:rPr>
                        <a:t>Los Lagos - 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r h="311400">
                <a:tc>
                  <a:txBody>
                    <a:bodyPr/>
                    <a:lstStyle/>
                    <a:p>
                      <a:pPr marL="0" marR="0" lvl="0" indent="0" algn="l" rtl="0">
                        <a:spcBef>
                          <a:spcPts val="0"/>
                        </a:spcBef>
                        <a:spcAft>
                          <a:spcPts val="0"/>
                        </a:spcAft>
                        <a:buNone/>
                      </a:pPr>
                      <a:r>
                        <a:rPr lang="es-CL" sz="1000" b="0">
                          <a:solidFill>
                            <a:schemeClr val="lt2"/>
                          </a:solidFill>
                        </a:rPr>
                        <a:t>Aysén – XI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5"/>
                  </a:ext>
                </a:extLst>
              </a:tr>
              <a:tr h="311400">
                <a:tc>
                  <a:txBody>
                    <a:bodyPr/>
                    <a:lstStyle/>
                    <a:p>
                      <a:pPr marL="0" marR="0" lvl="0" indent="0" algn="l" rtl="0">
                        <a:spcBef>
                          <a:spcPts val="0"/>
                        </a:spcBef>
                        <a:spcAft>
                          <a:spcPts val="0"/>
                        </a:spcAft>
                        <a:buNone/>
                      </a:pPr>
                      <a:r>
                        <a:rPr lang="es-CL" sz="1000" b="0">
                          <a:solidFill>
                            <a:schemeClr val="lt2"/>
                          </a:solidFill>
                        </a:rPr>
                        <a:t>Magallanes - XII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8"/>
        <p:cNvGrpSpPr/>
        <p:nvPr/>
      </p:nvGrpSpPr>
      <p:grpSpPr>
        <a:xfrm>
          <a:off x="0" y="0"/>
          <a:ext cx="0" cy="0"/>
          <a:chOff x="0" y="0"/>
          <a:chExt cx="0" cy="0"/>
        </a:xfrm>
      </p:grpSpPr>
      <p:sp>
        <p:nvSpPr>
          <p:cNvPr id="809" name="Google Shape;809;p60"/>
          <p:cNvSpPr/>
          <p:nvPr/>
        </p:nvSpPr>
        <p:spPr>
          <a:xfrm>
            <a:off x="330200" y="127000"/>
            <a:ext cx="9779000" cy="279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500" b="1">
                <a:solidFill>
                  <a:srgbClr val="373C46"/>
                </a:solidFill>
                <a:latin typeface="Quattrocento Sans"/>
                <a:ea typeface="Quattrocento Sans"/>
                <a:cs typeface="Quattrocento Sans"/>
                <a:sym typeface="Quattrocento Sans"/>
              </a:rPr>
              <a:t>Arquitectura de sistemas actual (AS IS)</a:t>
            </a:r>
            <a:endParaRPr sz="1500">
              <a:solidFill>
                <a:srgbClr val="000000"/>
              </a:solidFill>
              <a:latin typeface="Calibri"/>
              <a:ea typeface="Calibri"/>
              <a:cs typeface="Calibri"/>
              <a:sym typeface="Calibri"/>
            </a:endParaRPr>
          </a:p>
        </p:txBody>
      </p:sp>
      <p:sp>
        <p:nvSpPr>
          <p:cNvPr id="810" name="Google Shape;810;p60"/>
          <p:cNvSpPr/>
          <p:nvPr/>
        </p:nvSpPr>
        <p:spPr>
          <a:xfrm>
            <a:off x="330200" y="431800"/>
            <a:ext cx="9779000"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50">
                <a:solidFill>
                  <a:srgbClr val="6E7480"/>
                </a:solidFill>
                <a:latin typeface="Quattrocento Sans"/>
                <a:ea typeface="Quattrocento Sans"/>
                <a:cs typeface="Quattrocento Sans"/>
                <a:sym typeface="Quattrocento Sans"/>
              </a:rPr>
              <a:t>Qué información se aloja en cada plataforma y cómo se conectan entre sí</a:t>
            </a:r>
            <a:endParaRPr sz="750">
              <a:solidFill>
                <a:srgbClr val="000000"/>
              </a:solidFill>
              <a:latin typeface="Calibri"/>
              <a:ea typeface="Calibri"/>
              <a:cs typeface="Calibri"/>
              <a:sym typeface="Calibri"/>
            </a:endParaRPr>
          </a:p>
        </p:txBody>
      </p:sp>
      <p:sp>
        <p:nvSpPr>
          <p:cNvPr id="811" name="Google Shape;811;p60"/>
          <p:cNvSpPr/>
          <p:nvPr/>
        </p:nvSpPr>
        <p:spPr>
          <a:xfrm>
            <a:off x="0" y="717550"/>
            <a:ext cx="12192000" cy="50800"/>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2" name="Google Shape;812;p60" descr="preencoded.png"/>
          <p:cNvPicPr preferRelativeResize="0"/>
          <p:nvPr/>
        </p:nvPicPr>
        <p:blipFill rotWithShape="1">
          <a:blip r:embed="rId3">
            <a:alphaModFix/>
          </a:blip>
          <a:srcRect/>
          <a:stretch/>
        </p:blipFill>
        <p:spPr>
          <a:xfrm>
            <a:off x="10813554" y="139700"/>
            <a:ext cx="289818" cy="279400"/>
          </a:xfrm>
          <a:prstGeom prst="rect">
            <a:avLst/>
          </a:prstGeom>
          <a:noFill/>
          <a:ln>
            <a:noFill/>
          </a:ln>
        </p:spPr>
      </p:pic>
      <p:pic>
        <p:nvPicPr>
          <p:cNvPr id="813" name="Google Shape;813;p60" descr="preencoded.png"/>
          <p:cNvPicPr preferRelativeResize="0"/>
          <p:nvPr/>
        </p:nvPicPr>
        <p:blipFill rotWithShape="1">
          <a:blip r:embed="rId4">
            <a:alphaModFix/>
          </a:blip>
          <a:srcRect/>
          <a:stretch/>
        </p:blipFill>
        <p:spPr>
          <a:xfrm>
            <a:off x="11217672" y="139700"/>
            <a:ext cx="278309" cy="279400"/>
          </a:xfrm>
          <a:prstGeom prst="rect">
            <a:avLst/>
          </a:prstGeom>
          <a:noFill/>
          <a:ln>
            <a:noFill/>
          </a:ln>
        </p:spPr>
      </p:pic>
      <p:pic>
        <p:nvPicPr>
          <p:cNvPr id="814" name="Google Shape;814;p60" descr="preencoded.png"/>
          <p:cNvPicPr preferRelativeResize="0"/>
          <p:nvPr/>
        </p:nvPicPr>
        <p:blipFill rotWithShape="1">
          <a:blip r:embed="rId5">
            <a:alphaModFix/>
          </a:blip>
          <a:srcRect/>
          <a:stretch/>
        </p:blipFill>
        <p:spPr>
          <a:xfrm>
            <a:off x="11610281" y="139700"/>
            <a:ext cx="251519" cy="279400"/>
          </a:xfrm>
          <a:prstGeom prst="rect">
            <a:avLst/>
          </a:prstGeom>
          <a:noFill/>
          <a:ln>
            <a:noFill/>
          </a:ln>
        </p:spPr>
      </p:pic>
      <p:sp>
        <p:nvSpPr>
          <p:cNvPr id="815" name="Google Shape;815;p60"/>
          <p:cNvSpPr/>
          <p:nvPr/>
        </p:nvSpPr>
        <p:spPr>
          <a:xfrm>
            <a:off x="330200" y="95250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DE APLICACIONES DE NEGOCIO</a:t>
            </a:r>
            <a:endParaRPr sz="675">
              <a:solidFill>
                <a:srgbClr val="000000"/>
              </a:solidFill>
              <a:latin typeface="Calibri"/>
              <a:ea typeface="Calibri"/>
              <a:cs typeface="Calibri"/>
              <a:sym typeface="Calibri"/>
            </a:endParaRPr>
          </a:p>
        </p:txBody>
      </p:sp>
      <p:sp>
        <p:nvSpPr>
          <p:cNvPr id="816" name="Google Shape;816;p60"/>
          <p:cNvSpPr/>
          <p:nvPr/>
        </p:nvSpPr>
        <p:spPr>
          <a:xfrm>
            <a:off x="330200" y="1155700"/>
            <a:ext cx="5487095" cy="2927350"/>
          </a:xfrm>
          <a:prstGeom prst="roundRect">
            <a:avLst>
              <a:gd name="adj" fmla="val 3037"/>
            </a:avLst>
          </a:prstGeom>
          <a:solidFill>
            <a:srgbClr val="FBFBFF"/>
          </a:solidFill>
          <a:ln w="9525" cap="flat" cmpd="sng">
            <a:solidFill>
              <a:srgbClr val="C9CB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60"/>
          <p:cNvSpPr/>
          <p:nvPr/>
        </p:nvSpPr>
        <p:spPr>
          <a:xfrm>
            <a:off x="463550" y="1292225"/>
            <a:ext cx="50800" cy="50800"/>
          </a:xfrm>
          <a:prstGeom prst="ellipse">
            <a:avLst/>
          </a:prstGeom>
          <a:solidFill>
            <a:srgbClr val="282D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60"/>
          <p:cNvSpPr/>
          <p:nvPr/>
        </p:nvSpPr>
        <p:spPr>
          <a:xfrm>
            <a:off x="577850" y="1263650"/>
            <a:ext cx="2915037"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282DF0"/>
                </a:solidFill>
                <a:latin typeface="Quattrocento Sans"/>
                <a:ea typeface="Quattrocento Sans"/>
                <a:cs typeface="Quattrocento Sans"/>
                <a:sym typeface="Quattrocento Sans"/>
              </a:rPr>
              <a:t>PLATAFORMA SALESFORCE · UNA SOLA BASE DE DATOS</a:t>
            </a:r>
            <a:endParaRPr sz="650">
              <a:solidFill>
                <a:srgbClr val="000000"/>
              </a:solidFill>
              <a:latin typeface="Calibri"/>
              <a:ea typeface="Calibri"/>
              <a:cs typeface="Calibri"/>
              <a:sym typeface="Calibri"/>
            </a:endParaRPr>
          </a:p>
        </p:txBody>
      </p:sp>
      <p:sp>
        <p:nvSpPr>
          <p:cNvPr id="819" name="Google Shape;819;p60"/>
          <p:cNvSpPr/>
          <p:nvPr/>
        </p:nvSpPr>
        <p:spPr>
          <a:xfrm>
            <a:off x="438151" y="1447800"/>
            <a:ext cx="25847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60" descr="preencoded.png"/>
          <p:cNvSpPr/>
          <p:nvPr/>
        </p:nvSpPr>
        <p:spPr>
          <a:xfrm>
            <a:off x="571500" y="1619250"/>
            <a:ext cx="417215" cy="292100"/>
          </a:xfrm>
          <a:prstGeom prst="rect">
            <a:avLst/>
          </a:prstGeom>
          <a:noFill/>
          <a:ln>
            <a:noFill/>
          </a:ln>
        </p:spPr>
        <p:txBody>
          <a:bodyPr/>
          <a:lstStyle/>
          <a:p>
            <a:endParaRPr lang="es-CL"/>
          </a:p>
        </p:txBody>
      </p:sp>
      <p:sp>
        <p:nvSpPr>
          <p:cNvPr id="821" name="Google Shape;821;p60"/>
          <p:cNvSpPr/>
          <p:nvPr/>
        </p:nvSpPr>
        <p:spPr>
          <a:xfrm>
            <a:off x="571500" y="2025650"/>
            <a:ext cx="2549853"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Salesforce CRM</a:t>
            </a:r>
            <a:endParaRPr sz="1000">
              <a:solidFill>
                <a:srgbClr val="000000"/>
              </a:solidFill>
              <a:latin typeface="Calibri"/>
              <a:ea typeface="Calibri"/>
              <a:cs typeface="Calibri"/>
              <a:sym typeface="Calibri"/>
            </a:endParaRPr>
          </a:p>
        </p:txBody>
      </p:sp>
      <p:sp>
        <p:nvSpPr>
          <p:cNvPr id="822" name="Google Shape;822;p60"/>
          <p:cNvSpPr/>
          <p:nvPr/>
        </p:nvSpPr>
        <p:spPr>
          <a:xfrm>
            <a:off x="571500" y="2216150"/>
            <a:ext cx="2549853"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comercial</a:t>
            </a:r>
            <a:endParaRPr sz="650">
              <a:solidFill>
                <a:srgbClr val="000000"/>
              </a:solidFill>
              <a:latin typeface="Calibri"/>
              <a:ea typeface="Calibri"/>
              <a:cs typeface="Calibri"/>
              <a:sym typeface="Calibri"/>
            </a:endParaRPr>
          </a:p>
        </p:txBody>
      </p:sp>
      <p:sp>
        <p:nvSpPr>
          <p:cNvPr id="823" name="Google Shape;823;p60"/>
          <p:cNvSpPr/>
          <p:nvPr/>
        </p:nvSpPr>
        <p:spPr>
          <a:xfrm>
            <a:off x="571500" y="2425700"/>
            <a:ext cx="2549853"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24" name="Google Shape;824;p60"/>
          <p:cNvSpPr/>
          <p:nvPr/>
        </p:nvSpPr>
        <p:spPr>
          <a:xfrm>
            <a:off x="571500" y="2590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Ficha de clientes</a:t>
            </a:r>
            <a:endParaRPr sz="725">
              <a:solidFill>
                <a:srgbClr val="000000"/>
              </a:solidFill>
              <a:latin typeface="Calibri"/>
              <a:ea typeface="Calibri"/>
              <a:cs typeface="Calibri"/>
              <a:sym typeface="Calibri"/>
            </a:endParaRPr>
          </a:p>
        </p:txBody>
      </p:sp>
      <p:sp>
        <p:nvSpPr>
          <p:cNvPr id="825" name="Google Shape;825;p60"/>
          <p:cNvSpPr/>
          <p:nvPr/>
        </p:nvSpPr>
        <p:spPr>
          <a:xfrm>
            <a:off x="571500" y="2781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Equipos instalados</a:t>
            </a:r>
            <a:endParaRPr sz="725">
              <a:solidFill>
                <a:srgbClr val="000000"/>
              </a:solidFill>
              <a:latin typeface="Calibri"/>
              <a:ea typeface="Calibri"/>
              <a:cs typeface="Calibri"/>
              <a:sym typeface="Calibri"/>
            </a:endParaRPr>
          </a:p>
        </p:txBody>
      </p:sp>
      <p:sp>
        <p:nvSpPr>
          <p:cNvPr id="826" name="Google Shape;826;p60"/>
          <p:cNvSpPr/>
          <p:nvPr/>
        </p:nvSpPr>
        <p:spPr>
          <a:xfrm>
            <a:off x="571500" y="2971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Contratos</a:t>
            </a:r>
            <a:endParaRPr sz="725">
              <a:solidFill>
                <a:srgbClr val="000000"/>
              </a:solidFill>
              <a:latin typeface="Calibri"/>
              <a:ea typeface="Calibri"/>
              <a:cs typeface="Calibri"/>
              <a:sym typeface="Calibri"/>
            </a:endParaRPr>
          </a:p>
        </p:txBody>
      </p:sp>
      <p:sp>
        <p:nvSpPr>
          <p:cNvPr id="827" name="Google Shape;827;p60"/>
          <p:cNvSpPr/>
          <p:nvPr/>
        </p:nvSpPr>
        <p:spPr>
          <a:xfrm>
            <a:off x="571500" y="3162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Casos de servicio</a:t>
            </a:r>
            <a:endParaRPr sz="725">
              <a:solidFill>
                <a:srgbClr val="000000"/>
              </a:solidFill>
              <a:latin typeface="Calibri"/>
              <a:ea typeface="Calibri"/>
              <a:cs typeface="Calibri"/>
              <a:sym typeface="Calibri"/>
            </a:endParaRPr>
          </a:p>
        </p:txBody>
      </p:sp>
      <p:sp>
        <p:nvSpPr>
          <p:cNvPr id="828" name="Google Shape;828;p60"/>
          <p:cNvSpPr/>
          <p:nvPr/>
        </p:nvSpPr>
        <p:spPr>
          <a:xfrm>
            <a:off x="571500" y="3352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Solicitudes de facturación</a:t>
            </a:r>
            <a:endParaRPr sz="725">
              <a:solidFill>
                <a:srgbClr val="000000"/>
              </a:solidFill>
              <a:latin typeface="Calibri"/>
              <a:ea typeface="Calibri"/>
              <a:cs typeface="Calibri"/>
              <a:sym typeface="Calibri"/>
            </a:endParaRPr>
          </a:p>
        </p:txBody>
      </p:sp>
      <p:sp>
        <p:nvSpPr>
          <p:cNvPr id="829" name="Google Shape;829;p60"/>
          <p:cNvSpPr/>
          <p:nvPr/>
        </p:nvSpPr>
        <p:spPr>
          <a:xfrm>
            <a:off x="571500" y="3543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Gestión comercial</a:t>
            </a:r>
            <a:endParaRPr sz="725">
              <a:solidFill>
                <a:srgbClr val="000000"/>
              </a:solidFill>
              <a:latin typeface="Calibri"/>
              <a:ea typeface="Calibri"/>
              <a:cs typeface="Calibri"/>
              <a:sym typeface="Calibri"/>
            </a:endParaRPr>
          </a:p>
        </p:txBody>
      </p:sp>
      <p:sp>
        <p:nvSpPr>
          <p:cNvPr id="830" name="Google Shape;830;p60"/>
          <p:cNvSpPr/>
          <p:nvPr/>
        </p:nvSpPr>
        <p:spPr>
          <a:xfrm>
            <a:off x="3124497" y="1447800"/>
            <a:ext cx="25848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1" name="Google Shape;831;p60" descr="preencoded.png"/>
          <p:cNvPicPr preferRelativeResize="0"/>
          <p:nvPr/>
        </p:nvPicPr>
        <p:blipFill rotWithShape="1">
          <a:blip r:embed="rId6">
            <a:alphaModFix/>
          </a:blip>
          <a:srcRect/>
          <a:stretch/>
        </p:blipFill>
        <p:spPr>
          <a:xfrm>
            <a:off x="3257848" y="1638300"/>
            <a:ext cx="841077" cy="254000"/>
          </a:xfrm>
          <a:prstGeom prst="rect">
            <a:avLst/>
          </a:prstGeom>
          <a:noFill/>
          <a:ln>
            <a:noFill/>
          </a:ln>
        </p:spPr>
      </p:pic>
      <p:sp>
        <p:nvSpPr>
          <p:cNvPr id="832" name="Google Shape;832;p60"/>
          <p:cNvSpPr/>
          <p:nvPr/>
        </p:nvSpPr>
        <p:spPr>
          <a:xfrm>
            <a:off x="3257848" y="2025650"/>
            <a:ext cx="2549961"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Field Service</a:t>
            </a:r>
            <a:endParaRPr sz="1000">
              <a:solidFill>
                <a:srgbClr val="000000"/>
              </a:solidFill>
              <a:latin typeface="Calibri"/>
              <a:ea typeface="Calibri"/>
              <a:cs typeface="Calibri"/>
              <a:sym typeface="Calibri"/>
            </a:endParaRPr>
          </a:p>
        </p:txBody>
      </p:sp>
      <p:sp>
        <p:nvSpPr>
          <p:cNvPr id="833" name="Google Shape;833;p60"/>
          <p:cNvSpPr/>
          <p:nvPr/>
        </p:nvSpPr>
        <p:spPr>
          <a:xfrm>
            <a:off x="3257848" y="2216150"/>
            <a:ext cx="254996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de servicio técnico</a:t>
            </a:r>
            <a:endParaRPr sz="650">
              <a:solidFill>
                <a:srgbClr val="000000"/>
              </a:solidFill>
              <a:latin typeface="Calibri"/>
              <a:ea typeface="Calibri"/>
              <a:cs typeface="Calibri"/>
              <a:sym typeface="Calibri"/>
            </a:endParaRPr>
          </a:p>
        </p:txBody>
      </p:sp>
      <p:sp>
        <p:nvSpPr>
          <p:cNvPr id="834" name="Google Shape;834;p60"/>
          <p:cNvSpPr/>
          <p:nvPr/>
        </p:nvSpPr>
        <p:spPr>
          <a:xfrm>
            <a:off x="3257848" y="2425700"/>
            <a:ext cx="2549961"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35" name="Google Shape;835;p60"/>
          <p:cNvSpPr/>
          <p:nvPr/>
        </p:nvSpPr>
        <p:spPr>
          <a:xfrm>
            <a:off x="3257848" y="2590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Órdenes de trabajo (OT)</a:t>
            </a:r>
            <a:endParaRPr sz="725">
              <a:solidFill>
                <a:srgbClr val="000000"/>
              </a:solidFill>
              <a:latin typeface="Calibri"/>
              <a:ea typeface="Calibri"/>
              <a:cs typeface="Calibri"/>
              <a:sym typeface="Calibri"/>
            </a:endParaRPr>
          </a:p>
        </p:txBody>
      </p:sp>
      <p:sp>
        <p:nvSpPr>
          <p:cNvPr id="836" name="Google Shape;836;p60"/>
          <p:cNvSpPr/>
          <p:nvPr/>
        </p:nvSpPr>
        <p:spPr>
          <a:xfrm>
            <a:off x="3257848" y="2781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Agenda y visitas</a:t>
            </a:r>
            <a:endParaRPr sz="725">
              <a:solidFill>
                <a:srgbClr val="000000"/>
              </a:solidFill>
              <a:latin typeface="Calibri"/>
              <a:ea typeface="Calibri"/>
              <a:cs typeface="Calibri"/>
              <a:sym typeface="Calibri"/>
            </a:endParaRPr>
          </a:p>
        </p:txBody>
      </p:sp>
      <p:sp>
        <p:nvSpPr>
          <p:cNvPr id="837" name="Google Shape;837;p60"/>
          <p:cNvSpPr/>
          <p:nvPr/>
        </p:nvSpPr>
        <p:spPr>
          <a:xfrm>
            <a:off x="3257848" y="2971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Planificación de técnicos</a:t>
            </a:r>
            <a:endParaRPr sz="725">
              <a:solidFill>
                <a:srgbClr val="000000"/>
              </a:solidFill>
              <a:latin typeface="Calibri"/>
              <a:ea typeface="Calibri"/>
              <a:cs typeface="Calibri"/>
              <a:sym typeface="Calibri"/>
            </a:endParaRPr>
          </a:p>
        </p:txBody>
      </p:sp>
      <p:sp>
        <p:nvSpPr>
          <p:cNvPr id="838" name="Google Shape;838;p60"/>
          <p:cNvSpPr/>
          <p:nvPr/>
        </p:nvSpPr>
        <p:spPr>
          <a:xfrm>
            <a:off x="3257848" y="3162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Repuestos utilizados</a:t>
            </a:r>
            <a:endParaRPr sz="725">
              <a:solidFill>
                <a:srgbClr val="000000"/>
              </a:solidFill>
              <a:latin typeface="Calibri"/>
              <a:ea typeface="Calibri"/>
              <a:cs typeface="Calibri"/>
              <a:sym typeface="Calibri"/>
            </a:endParaRPr>
          </a:p>
        </p:txBody>
      </p:sp>
      <p:sp>
        <p:nvSpPr>
          <p:cNvPr id="839" name="Google Shape;839;p60"/>
          <p:cNvSpPr/>
          <p:nvPr/>
        </p:nvSpPr>
        <p:spPr>
          <a:xfrm>
            <a:off x="3257848" y="3352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Registro de actividades</a:t>
            </a:r>
            <a:endParaRPr sz="725">
              <a:solidFill>
                <a:srgbClr val="000000"/>
              </a:solidFill>
              <a:latin typeface="Calibri"/>
              <a:ea typeface="Calibri"/>
              <a:cs typeface="Calibri"/>
              <a:sym typeface="Calibri"/>
            </a:endParaRPr>
          </a:p>
        </p:txBody>
      </p:sp>
      <p:sp>
        <p:nvSpPr>
          <p:cNvPr id="840" name="Google Shape;840;p60"/>
          <p:cNvSpPr/>
          <p:nvPr/>
        </p:nvSpPr>
        <p:spPr>
          <a:xfrm>
            <a:off x="3257848" y="3543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Cierre técnico</a:t>
            </a:r>
            <a:endParaRPr sz="725">
              <a:solidFill>
                <a:srgbClr val="000000"/>
              </a:solidFill>
              <a:latin typeface="Calibri"/>
              <a:ea typeface="Calibri"/>
              <a:cs typeface="Calibri"/>
              <a:sym typeface="Calibri"/>
            </a:endParaRPr>
          </a:p>
        </p:txBody>
      </p:sp>
      <p:sp>
        <p:nvSpPr>
          <p:cNvPr id="841" name="Google Shape;841;p60"/>
          <p:cNvSpPr/>
          <p:nvPr/>
        </p:nvSpPr>
        <p:spPr>
          <a:xfrm>
            <a:off x="463550" y="3867150"/>
            <a:ext cx="5747514"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Integración nativa: ambas aplicaciones comparten datos sin interfaces.</a:t>
            </a:r>
            <a:endParaRPr sz="650">
              <a:solidFill>
                <a:srgbClr val="000000"/>
              </a:solidFill>
              <a:latin typeface="Calibri"/>
              <a:ea typeface="Calibri"/>
              <a:cs typeface="Calibri"/>
              <a:sym typeface="Calibri"/>
            </a:endParaRPr>
          </a:p>
        </p:txBody>
      </p:sp>
      <p:sp>
        <p:nvSpPr>
          <p:cNvPr id="842" name="Google Shape;842;p60"/>
          <p:cNvSpPr/>
          <p:nvPr/>
        </p:nvSpPr>
        <p:spPr>
          <a:xfrm>
            <a:off x="5956995" y="1155700"/>
            <a:ext cx="2933005" cy="2927350"/>
          </a:xfrm>
          <a:prstGeom prst="roundRect">
            <a:avLst>
              <a:gd name="adj" fmla="val 3037"/>
            </a:avLst>
          </a:prstGeom>
          <a:solidFill>
            <a:srgbClr val="F8F9FA"/>
          </a:solidFill>
          <a:ln w="9525" cap="flat" cmpd="sng">
            <a:solidFill>
              <a:srgbClr val="B9C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60"/>
          <p:cNvSpPr/>
          <p:nvPr/>
        </p:nvSpPr>
        <p:spPr>
          <a:xfrm>
            <a:off x="6090345" y="1292225"/>
            <a:ext cx="50800" cy="50800"/>
          </a:xfrm>
          <a:prstGeom prst="ellipse">
            <a:avLst/>
          </a:prstGeom>
          <a:solidFill>
            <a:srgbClr val="5A64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60"/>
          <p:cNvSpPr/>
          <p:nvPr/>
        </p:nvSpPr>
        <p:spPr>
          <a:xfrm>
            <a:off x="6204645" y="1263650"/>
            <a:ext cx="94352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5A6472"/>
                </a:solidFill>
                <a:latin typeface="Quattrocento Sans"/>
                <a:ea typeface="Quattrocento Sans"/>
                <a:cs typeface="Quattrocento Sans"/>
                <a:sym typeface="Quattrocento Sans"/>
              </a:rPr>
              <a:t>PLATAFORMA ERP</a:t>
            </a:r>
            <a:endParaRPr sz="650">
              <a:solidFill>
                <a:srgbClr val="000000"/>
              </a:solidFill>
              <a:latin typeface="Calibri"/>
              <a:ea typeface="Calibri"/>
              <a:cs typeface="Calibri"/>
              <a:sym typeface="Calibri"/>
            </a:endParaRPr>
          </a:p>
        </p:txBody>
      </p:sp>
      <p:sp>
        <p:nvSpPr>
          <p:cNvPr id="845" name="Google Shape;845;p60"/>
          <p:cNvSpPr/>
          <p:nvPr/>
        </p:nvSpPr>
        <p:spPr>
          <a:xfrm>
            <a:off x="6064945" y="1447800"/>
            <a:ext cx="2717105" cy="2152650"/>
          </a:xfrm>
          <a:prstGeom prst="roundRect">
            <a:avLst>
              <a:gd name="adj" fmla="val 295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60" descr="preencoded.png"/>
          <p:cNvSpPr/>
          <p:nvPr/>
        </p:nvSpPr>
        <p:spPr>
          <a:xfrm>
            <a:off x="6198295" y="1612900"/>
            <a:ext cx="615355" cy="304800"/>
          </a:xfrm>
          <a:prstGeom prst="rect">
            <a:avLst/>
          </a:prstGeom>
          <a:noFill/>
          <a:ln>
            <a:noFill/>
          </a:ln>
        </p:spPr>
        <p:txBody>
          <a:bodyPr/>
          <a:lstStyle/>
          <a:p>
            <a:endParaRPr lang="es-CL"/>
          </a:p>
        </p:txBody>
      </p:sp>
      <p:sp>
        <p:nvSpPr>
          <p:cNvPr id="847" name="Google Shape;847;p60"/>
          <p:cNvSpPr/>
          <p:nvPr/>
        </p:nvSpPr>
        <p:spPr>
          <a:xfrm>
            <a:off x="6198295" y="2025650"/>
            <a:ext cx="2695446"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SAP</a:t>
            </a:r>
            <a:endParaRPr sz="1000">
              <a:solidFill>
                <a:srgbClr val="000000"/>
              </a:solidFill>
              <a:latin typeface="Calibri"/>
              <a:ea typeface="Calibri"/>
              <a:cs typeface="Calibri"/>
              <a:sym typeface="Calibri"/>
            </a:endParaRPr>
          </a:p>
        </p:txBody>
      </p:sp>
      <p:sp>
        <p:nvSpPr>
          <p:cNvPr id="848" name="Google Shape;848;p60"/>
          <p:cNvSpPr/>
          <p:nvPr/>
        </p:nvSpPr>
        <p:spPr>
          <a:xfrm>
            <a:off x="6198295" y="2216150"/>
            <a:ext cx="269544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financiero y administrativo</a:t>
            </a:r>
            <a:endParaRPr sz="650">
              <a:solidFill>
                <a:srgbClr val="000000"/>
              </a:solidFill>
              <a:latin typeface="Calibri"/>
              <a:ea typeface="Calibri"/>
              <a:cs typeface="Calibri"/>
              <a:sym typeface="Calibri"/>
            </a:endParaRPr>
          </a:p>
        </p:txBody>
      </p:sp>
      <p:sp>
        <p:nvSpPr>
          <p:cNvPr id="849" name="Google Shape;849;p60"/>
          <p:cNvSpPr/>
          <p:nvPr/>
        </p:nvSpPr>
        <p:spPr>
          <a:xfrm>
            <a:off x="6198295" y="2425700"/>
            <a:ext cx="2695446"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50" name="Google Shape;850;p60"/>
          <p:cNvSpPr/>
          <p:nvPr/>
        </p:nvSpPr>
        <p:spPr>
          <a:xfrm>
            <a:off x="6198295" y="2590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Compras</a:t>
            </a:r>
            <a:endParaRPr sz="725">
              <a:solidFill>
                <a:srgbClr val="000000"/>
              </a:solidFill>
              <a:latin typeface="Calibri"/>
              <a:ea typeface="Calibri"/>
              <a:cs typeface="Calibri"/>
              <a:sym typeface="Calibri"/>
            </a:endParaRPr>
          </a:p>
        </p:txBody>
      </p:sp>
      <p:sp>
        <p:nvSpPr>
          <p:cNvPr id="851" name="Google Shape;851;p60"/>
          <p:cNvSpPr/>
          <p:nvPr/>
        </p:nvSpPr>
        <p:spPr>
          <a:xfrm>
            <a:off x="6198295" y="2781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Inventario</a:t>
            </a:r>
            <a:endParaRPr sz="725">
              <a:solidFill>
                <a:srgbClr val="000000"/>
              </a:solidFill>
              <a:latin typeface="Calibri"/>
              <a:ea typeface="Calibri"/>
              <a:cs typeface="Calibri"/>
              <a:sym typeface="Calibri"/>
            </a:endParaRPr>
          </a:p>
        </p:txBody>
      </p:sp>
      <p:sp>
        <p:nvSpPr>
          <p:cNvPr id="852" name="Google Shape;852;p60"/>
          <p:cNvSpPr/>
          <p:nvPr/>
        </p:nvSpPr>
        <p:spPr>
          <a:xfrm>
            <a:off x="6198295" y="2971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Facturación</a:t>
            </a:r>
            <a:endParaRPr sz="725">
              <a:solidFill>
                <a:srgbClr val="000000"/>
              </a:solidFill>
              <a:latin typeface="Calibri"/>
              <a:ea typeface="Calibri"/>
              <a:cs typeface="Calibri"/>
              <a:sym typeface="Calibri"/>
            </a:endParaRPr>
          </a:p>
        </p:txBody>
      </p:sp>
      <p:sp>
        <p:nvSpPr>
          <p:cNvPr id="853" name="Google Shape;853;p60"/>
          <p:cNvSpPr/>
          <p:nvPr/>
        </p:nvSpPr>
        <p:spPr>
          <a:xfrm>
            <a:off x="6198295" y="3162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Finanzas y contabilidad</a:t>
            </a:r>
            <a:endParaRPr sz="725">
              <a:solidFill>
                <a:srgbClr val="000000"/>
              </a:solidFill>
              <a:latin typeface="Calibri"/>
              <a:ea typeface="Calibri"/>
              <a:cs typeface="Calibri"/>
              <a:sym typeface="Calibri"/>
            </a:endParaRPr>
          </a:p>
        </p:txBody>
      </p:sp>
      <p:sp>
        <p:nvSpPr>
          <p:cNvPr id="854" name="Google Shape;854;p60"/>
          <p:cNvSpPr/>
          <p:nvPr/>
        </p:nvSpPr>
        <p:spPr>
          <a:xfrm>
            <a:off x="6198295" y="3352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Control de gestión</a:t>
            </a:r>
            <a:endParaRPr sz="725">
              <a:solidFill>
                <a:srgbClr val="000000"/>
              </a:solidFill>
              <a:latin typeface="Calibri"/>
              <a:ea typeface="Calibri"/>
              <a:cs typeface="Calibri"/>
              <a:sym typeface="Calibri"/>
            </a:endParaRPr>
          </a:p>
        </p:txBody>
      </p:sp>
      <p:sp>
        <p:nvSpPr>
          <p:cNvPr id="855" name="Google Shape;855;p60"/>
          <p:cNvSpPr/>
          <p:nvPr/>
        </p:nvSpPr>
        <p:spPr>
          <a:xfrm>
            <a:off x="6090345" y="3676650"/>
            <a:ext cx="293801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Fuente única de la información contable y de inventario.</a:t>
            </a:r>
            <a:endParaRPr sz="650">
              <a:solidFill>
                <a:srgbClr val="000000"/>
              </a:solidFill>
              <a:latin typeface="Calibri"/>
              <a:ea typeface="Calibri"/>
              <a:cs typeface="Calibri"/>
              <a:sym typeface="Calibri"/>
            </a:endParaRPr>
          </a:p>
        </p:txBody>
      </p:sp>
      <p:sp>
        <p:nvSpPr>
          <p:cNvPr id="856" name="Google Shape;856;p60"/>
          <p:cNvSpPr/>
          <p:nvPr/>
        </p:nvSpPr>
        <p:spPr>
          <a:xfrm>
            <a:off x="330200" y="4248150"/>
            <a:ext cx="8559800" cy="342900"/>
          </a:xfrm>
          <a:prstGeom prst="roundRect">
            <a:avLst>
              <a:gd name="adj" fmla="val 22222"/>
            </a:avLst>
          </a:prstGeom>
          <a:solidFill>
            <a:srgbClr val="F7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0"/>
          <p:cNvSpPr/>
          <p:nvPr/>
        </p:nvSpPr>
        <p:spPr>
          <a:xfrm>
            <a:off x="330200" y="458470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0"/>
          <p:cNvSpPr/>
          <p:nvPr/>
        </p:nvSpPr>
        <p:spPr>
          <a:xfrm>
            <a:off x="330200" y="424815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0"/>
          <p:cNvSpPr/>
          <p:nvPr/>
        </p:nvSpPr>
        <p:spPr>
          <a:xfrm>
            <a:off x="330200" y="4248150"/>
            <a:ext cx="25400" cy="342900"/>
          </a:xfrm>
          <a:prstGeom prst="rect">
            <a:avLst/>
          </a:prstGeom>
          <a:solidFill>
            <a:srgbClr val="0B6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0"/>
          <p:cNvSpPr/>
          <p:nvPr/>
        </p:nvSpPr>
        <p:spPr>
          <a:xfrm>
            <a:off x="8883650" y="4248150"/>
            <a:ext cx="6350" cy="34290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60"/>
          <p:cNvSpPr/>
          <p:nvPr/>
        </p:nvSpPr>
        <p:spPr>
          <a:xfrm>
            <a:off x="482600" y="4368800"/>
            <a:ext cx="1640602" cy="127000"/>
          </a:xfrm>
          <a:prstGeom prst="rect">
            <a:avLst/>
          </a:prstGeom>
          <a:noFill/>
          <a:ln>
            <a:noFill/>
          </a:ln>
        </p:spPr>
        <p:txBody>
          <a:bodyPr spcFirstLastPara="1" wrap="square" lIns="16925" tIns="16925" rIns="16925" bIns="16925" anchor="t" anchorCtr="0">
            <a:normAutofit/>
          </a:bodyPr>
          <a:lstStyle/>
          <a:p>
            <a:pPr marL="0" marR="0" lvl="0" indent="0" algn="l" rtl="0">
              <a:lnSpc>
                <a:spcPct val="90000"/>
              </a:lnSpc>
              <a:spcBef>
                <a:spcPts val="0"/>
              </a:spcBef>
              <a:spcAft>
                <a:spcPts val="0"/>
              </a:spcAft>
              <a:buNone/>
            </a:pPr>
            <a:r>
              <a:rPr lang="es-CL" sz="625" b="1">
                <a:solidFill>
                  <a:srgbClr val="0B6E6A"/>
                </a:solidFill>
                <a:latin typeface="Quattrocento Sans"/>
                <a:ea typeface="Quattrocento Sans"/>
                <a:cs typeface="Quattrocento Sans"/>
                <a:sym typeface="Quattrocento Sans"/>
              </a:rPr>
              <a:t>INTERFAZ ENTRE PLATAFORMAS</a:t>
            </a:r>
            <a:endParaRPr sz="625">
              <a:solidFill>
                <a:srgbClr val="000000"/>
              </a:solidFill>
              <a:latin typeface="Calibri"/>
              <a:ea typeface="Calibri"/>
              <a:cs typeface="Calibri"/>
              <a:sym typeface="Calibri"/>
            </a:endParaRPr>
          </a:p>
        </p:txBody>
      </p:sp>
      <p:sp>
        <p:nvSpPr>
          <p:cNvPr id="862" name="Google Shape;862;p60"/>
          <p:cNvSpPr/>
          <p:nvPr/>
        </p:nvSpPr>
        <p:spPr>
          <a:xfrm>
            <a:off x="2075656" y="4356100"/>
            <a:ext cx="734909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44505F"/>
                </a:solidFill>
                <a:latin typeface="Quattrocento Sans"/>
                <a:ea typeface="Quattrocento Sans"/>
                <a:cs typeface="Quattrocento Sans"/>
                <a:sym typeface="Quattrocento Sans"/>
              </a:rPr>
              <a:t>Salesforce → SAP: la solicitud de facturación es hoy el único punto de traspaso entre CRM/servicio y el ERP, con actividades manuales de por medio.</a:t>
            </a:r>
            <a:endParaRPr sz="725">
              <a:solidFill>
                <a:srgbClr val="000000"/>
              </a:solidFill>
              <a:latin typeface="Calibri"/>
              <a:ea typeface="Calibri"/>
              <a:cs typeface="Calibri"/>
              <a:sym typeface="Calibri"/>
            </a:endParaRPr>
          </a:p>
        </p:txBody>
      </p:sp>
      <p:sp>
        <p:nvSpPr>
          <p:cNvPr id="863" name="Google Shape;863;p60"/>
          <p:cNvSpPr/>
          <p:nvPr/>
        </p:nvSpPr>
        <p:spPr>
          <a:xfrm>
            <a:off x="330200" y="475615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DOCUMENTAL Y COLABORATIVA</a:t>
            </a:r>
            <a:endParaRPr sz="675">
              <a:solidFill>
                <a:srgbClr val="000000"/>
              </a:solidFill>
              <a:latin typeface="Calibri"/>
              <a:ea typeface="Calibri"/>
              <a:cs typeface="Calibri"/>
              <a:sym typeface="Calibri"/>
            </a:endParaRPr>
          </a:p>
        </p:txBody>
      </p:sp>
      <p:sp>
        <p:nvSpPr>
          <p:cNvPr id="864" name="Google Shape;864;p60"/>
          <p:cNvSpPr/>
          <p:nvPr/>
        </p:nvSpPr>
        <p:spPr>
          <a:xfrm>
            <a:off x="330200" y="4959351"/>
            <a:ext cx="2171700" cy="1088231"/>
          </a:xfrm>
          <a:prstGeom prst="roundRect">
            <a:avLst>
              <a:gd name="adj" fmla="val 7002"/>
            </a:avLst>
          </a:prstGeom>
          <a:solidFill>
            <a:srgbClr val="F8F9FA"/>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5" name="Google Shape;865;p60" descr="preencoded.png"/>
          <p:cNvPicPr preferRelativeResize="0"/>
          <p:nvPr/>
        </p:nvPicPr>
        <p:blipFill rotWithShape="1">
          <a:blip r:embed="rId7">
            <a:alphaModFix/>
          </a:blip>
          <a:srcRect/>
          <a:stretch/>
        </p:blipFill>
        <p:spPr>
          <a:xfrm>
            <a:off x="463550" y="5080000"/>
            <a:ext cx="295870" cy="330200"/>
          </a:xfrm>
          <a:prstGeom prst="rect">
            <a:avLst/>
          </a:prstGeom>
          <a:noFill/>
          <a:ln>
            <a:noFill/>
          </a:ln>
        </p:spPr>
      </p:pic>
      <p:pic>
        <p:nvPicPr>
          <p:cNvPr id="866" name="Google Shape;866;p60" descr="preencoded.png"/>
          <p:cNvPicPr preferRelativeResize="0"/>
          <p:nvPr/>
        </p:nvPicPr>
        <p:blipFill rotWithShape="1">
          <a:blip r:embed="rId8">
            <a:alphaModFix/>
          </a:blip>
          <a:srcRect/>
          <a:stretch/>
        </p:blipFill>
        <p:spPr>
          <a:xfrm>
            <a:off x="861020" y="5162550"/>
            <a:ext cx="523776" cy="165100"/>
          </a:xfrm>
          <a:prstGeom prst="rect">
            <a:avLst/>
          </a:prstGeom>
          <a:noFill/>
          <a:ln>
            <a:noFill/>
          </a:ln>
        </p:spPr>
      </p:pic>
      <p:sp>
        <p:nvSpPr>
          <p:cNvPr id="867" name="Google Shape;867;p60"/>
          <p:cNvSpPr/>
          <p:nvPr/>
        </p:nvSpPr>
        <p:spPr>
          <a:xfrm>
            <a:off x="463550" y="5499101"/>
            <a:ext cx="1962150" cy="300831"/>
          </a:xfrm>
          <a:prstGeom prst="rect">
            <a:avLst/>
          </a:prstGeom>
          <a:noFill/>
          <a:ln>
            <a:noFill/>
          </a:ln>
        </p:spPr>
        <p:txBody>
          <a:bodyPr spcFirstLastPara="1" wrap="square" lIns="16925" tIns="16925" rIns="16925" bIns="16925" anchor="t" anchorCtr="0">
            <a:normAutofit/>
          </a:bodyPr>
          <a:lstStyle/>
          <a:p>
            <a:pPr marL="0" marR="0" lvl="0" indent="0" algn="l" rtl="0">
              <a:lnSpc>
                <a:spcPct val="114211"/>
              </a:lnSpc>
              <a:spcBef>
                <a:spcPts val="0"/>
              </a:spcBef>
              <a:spcAft>
                <a:spcPts val="0"/>
              </a:spcAft>
              <a:buNone/>
            </a:pPr>
            <a:r>
              <a:rPr lang="es-CL" sz="700">
                <a:solidFill>
                  <a:srgbClr val="55606E"/>
                </a:solidFill>
                <a:latin typeface="Quattrocento Sans"/>
                <a:ea typeface="Quattrocento Sans"/>
                <a:cs typeface="Quattrocento Sans"/>
                <a:sym typeface="Quattrocento Sans"/>
              </a:rPr>
              <a:t>Repositorio corporativo y entorno colaborativo transversal a todas las áreas.</a:t>
            </a:r>
            <a:endParaRPr sz="700">
              <a:solidFill>
                <a:srgbClr val="000000"/>
              </a:solidFill>
              <a:latin typeface="Calibri"/>
              <a:ea typeface="Calibri"/>
              <a:cs typeface="Calibri"/>
              <a:sym typeface="Calibri"/>
            </a:endParaRPr>
          </a:p>
        </p:txBody>
      </p:sp>
      <p:sp>
        <p:nvSpPr>
          <p:cNvPr id="868" name="Google Shape;868;p60"/>
          <p:cNvSpPr/>
          <p:nvPr/>
        </p:nvSpPr>
        <p:spPr>
          <a:xfrm>
            <a:off x="26416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0"/>
          <p:cNvSpPr/>
          <p:nvPr/>
        </p:nvSpPr>
        <p:spPr>
          <a:xfrm>
            <a:off x="26416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0"/>
          <p:cNvSpPr/>
          <p:nvPr/>
        </p:nvSpPr>
        <p:spPr>
          <a:xfrm>
            <a:off x="26416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0"/>
          <p:cNvSpPr/>
          <p:nvPr/>
        </p:nvSpPr>
        <p:spPr>
          <a:xfrm>
            <a:off x="46418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0"/>
          <p:cNvSpPr/>
          <p:nvPr/>
        </p:nvSpPr>
        <p:spPr>
          <a:xfrm>
            <a:off x="27749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Biblioteca documental</a:t>
            </a:r>
            <a:endParaRPr sz="800">
              <a:solidFill>
                <a:srgbClr val="000000"/>
              </a:solidFill>
              <a:latin typeface="Calibri"/>
              <a:ea typeface="Calibri"/>
              <a:cs typeface="Calibri"/>
              <a:sym typeface="Calibri"/>
            </a:endParaRPr>
          </a:p>
        </p:txBody>
      </p:sp>
      <p:sp>
        <p:nvSpPr>
          <p:cNvPr id="873" name="Google Shape;873;p60"/>
          <p:cNvSpPr/>
          <p:nvPr/>
        </p:nvSpPr>
        <p:spPr>
          <a:xfrm>
            <a:off x="27749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Manuales Certificados Contratos Informes</a:t>
            </a:r>
            <a:endParaRPr sz="700">
              <a:solidFill>
                <a:srgbClr val="000000"/>
              </a:solidFill>
              <a:latin typeface="Calibri"/>
              <a:ea typeface="Calibri"/>
              <a:cs typeface="Calibri"/>
              <a:sym typeface="Calibri"/>
            </a:endParaRPr>
          </a:p>
        </p:txBody>
      </p:sp>
      <p:sp>
        <p:nvSpPr>
          <p:cNvPr id="874" name="Google Shape;874;p60"/>
          <p:cNvSpPr/>
          <p:nvPr/>
        </p:nvSpPr>
        <p:spPr>
          <a:xfrm>
            <a:off x="47625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60"/>
          <p:cNvSpPr/>
          <p:nvPr/>
        </p:nvSpPr>
        <p:spPr>
          <a:xfrm>
            <a:off x="47625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0"/>
          <p:cNvSpPr/>
          <p:nvPr/>
        </p:nvSpPr>
        <p:spPr>
          <a:xfrm>
            <a:off x="47625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0"/>
          <p:cNvSpPr/>
          <p:nvPr/>
        </p:nvSpPr>
        <p:spPr>
          <a:xfrm>
            <a:off x="67627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0"/>
          <p:cNvSpPr/>
          <p:nvPr/>
        </p:nvSpPr>
        <p:spPr>
          <a:xfrm>
            <a:off x="48958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Licitaciones y propuestas</a:t>
            </a:r>
            <a:endParaRPr sz="800">
              <a:solidFill>
                <a:srgbClr val="000000"/>
              </a:solidFill>
              <a:latin typeface="Calibri"/>
              <a:ea typeface="Calibri"/>
              <a:cs typeface="Calibri"/>
              <a:sym typeface="Calibri"/>
            </a:endParaRPr>
          </a:p>
        </p:txBody>
      </p:sp>
      <p:sp>
        <p:nvSpPr>
          <p:cNvPr id="879" name="Google Shape;879;p60"/>
          <p:cNvSpPr/>
          <p:nvPr/>
        </p:nvSpPr>
        <p:spPr>
          <a:xfrm>
            <a:off x="48958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Bases Evaluaciones Respuestas Documentación</a:t>
            </a:r>
            <a:endParaRPr sz="700">
              <a:solidFill>
                <a:srgbClr val="000000"/>
              </a:solidFill>
              <a:latin typeface="Calibri"/>
              <a:ea typeface="Calibri"/>
              <a:cs typeface="Calibri"/>
              <a:sym typeface="Calibri"/>
            </a:endParaRPr>
          </a:p>
        </p:txBody>
      </p:sp>
      <p:sp>
        <p:nvSpPr>
          <p:cNvPr id="880" name="Google Shape;880;p60"/>
          <p:cNvSpPr/>
          <p:nvPr/>
        </p:nvSpPr>
        <p:spPr>
          <a:xfrm>
            <a:off x="68834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0"/>
          <p:cNvSpPr/>
          <p:nvPr/>
        </p:nvSpPr>
        <p:spPr>
          <a:xfrm>
            <a:off x="68834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0"/>
          <p:cNvSpPr/>
          <p:nvPr/>
        </p:nvSpPr>
        <p:spPr>
          <a:xfrm>
            <a:off x="68834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60"/>
          <p:cNvSpPr/>
          <p:nvPr/>
        </p:nvSpPr>
        <p:spPr>
          <a:xfrm>
            <a:off x="88836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0"/>
          <p:cNvSpPr/>
          <p:nvPr/>
        </p:nvSpPr>
        <p:spPr>
          <a:xfrm>
            <a:off x="70167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Procesos interáreas</a:t>
            </a:r>
            <a:endParaRPr sz="800">
              <a:solidFill>
                <a:srgbClr val="000000"/>
              </a:solidFill>
              <a:latin typeface="Calibri"/>
              <a:ea typeface="Calibri"/>
              <a:cs typeface="Calibri"/>
              <a:sym typeface="Calibri"/>
            </a:endParaRPr>
          </a:p>
        </p:txBody>
      </p:sp>
      <p:sp>
        <p:nvSpPr>
          <p:cNvPr id="885" name="Google Shape;885;p60"/>
          <p:cNvSpPr/>
          <p:nvPr/>
        </p:nvSpPr>
        <p:spPr>
          <a:xfrm>
            <a:off x="70167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Proyectos Directorio Procedimientos Colaboración</a:t>
            </a:r>
            <a:endParaRPr sz="700">
              <a:solidFill>
                <a:srgbClr val="000000"/>
              </a:solidFill>
              <a:latin typeface="Calibri"/>
              <a:ea typeface="Calibri"/>
              <a:cs typeface="Calibri"/>
              <a:sym typeface="Calibri"/>
            </a:endParaRPr>
          </a:p>
        </p:txBody>
      </p:sp>
      <p:sp>
        <p:nvSpPr>
          <p:cNvPr id="886" name="Google Shape;886;p60"/>
          <p:cNvSpPr/>
          <p:nvPr/>
        </p:nvSpPr>
        <p:spPr>
          <a:xfrm>
            <a:off x="9118600" y="9525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MENSAJE EJECUTIVO</a:t>
            </a:r>
            <a:endParaRPr sz="675">
              <a:solidFill>
                <a:srgbClr val="000000"/>
              </a:solidFill>
              <a:latin typeface="Calibri"/>
              <a:ea typeface="Calibri"/>
              <a:cs typeface="Calibri"/>
              <a:sym typeface="Calibri"/>
            </a:endParaRPr>
          </a:p>
        </p:txBody>
      </p:sp>
      <p:sp>
        <p:nvSpPr>
          <p:cNvPr id="887" name="Google Shape;887;p60"/>
          <p:cNvSpPr/>
          <p:nvPr/>
        </p:nvSpPr>
        <p:spPr>
          <a:xfrm>
            <a:off x="9118600" y="1155700"/>
            <a:ext cx="2825496" cy="4826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44505F"/>
                </a:solidFill>
                <a:latin typeface="Quattrocento Sans"/>
                <a:ea typeface="Quattrocento Sans"/>
                <a:cs typeface="Quattrocento Sans"/>
                <a:sym typeface="Quattrocento Sans"/>
              </a:rPr>
              <a:t>Tres plataformas sostienen la operación: Salesforce (clientes y servicio), SAP (finanzas) y SharePoint / OneDrive (documentos). Cada dato tiene un único lugar donde vive.</a:t>
            </a:r>
            <a:endParaRPr sz="750">
              <a:solidFill>
                <a:srgbClr val="000000"/>
              </a:solidFill>
              <a:latin typeface="Calibri"/>
              <a:ea typeface="Calibri"/>
              <a:cs typeface="Calibri"/>
              <a:sym typeface="Calibri"/>
            </a:endParaRPr>
          </a:p>
        </p:txBody>
      </p:sp>
      <p:sp>
        <p:nvSpPr>
          <p:cNvPr id="888" name="Google Shape;888;p60"/>
          <p:cNvSpPr/>
          <p:nvPr/>
        </p:nvSpPr>
        <p:spPr>
          <a:xfrm>
            <a:off x="9118600" y="18034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FORTALEZAS ACTUALES</a:t>
            </a:r>
            <a:endParaRPr sz="675">
              <a:solidFill>
                <a:srgbClr val="000000"/>
              </a:solidFill>
              <a:latin typeface="Calibri"/>
              <a:ea typeface="Calibri"/>
              <a:cs typeface="Calibri"/>
              <a:sym typeface="Calibri"/>
            </a:endParaRPr>
          </a:p>
        </p:txBody>
      </p:sp>
      <p:sp>
        <p:nvSpPr>
          <p:cNvPr id="889" name="Google Shape;889;p60"/>
          <p:cNvSpPr/>
          <p:nvPr/>
        </p:nvSpPr>
        <p:spPr>
          <a:xfrm>
            <a:off x="9118600" y="2019301"/>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0"/>
          <p:cNvSpPr/>
          <p:nvPr/>
        </p:nvSpPr>
        <p:spPr>
          <a:xfrm>
            <a:off x="9251951" y="2139951"/>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1" name="Google Shape;891;p60"/>
          <p:cNvSpPr/>
          <p:nvPr/>
        </p:nvSpPr>
        <p:spPr>
          <a:xfrm>
            <a:off x="9396313" y="2139951"/>
            <a:ext cx="2380139"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Estandarización del proceso comercial y de servicio.</a:t>
            </a:r>
            <a:endParaRPr sz="750">
              <a:solidFill>
                <a:srgbClr val="000000"/>
              </a:solidFill>
              <a:latin typeface="Calibri"/>
              <a:ea typeface="Calibri"/>
              <a:cs typeface="Calibri"/>
              <a:sym typeface="Calibri"/>
            </a:endParaRPr>
          </a:p>
        </p:txBody>
      </p:sp>
      <p:sp>
        <p:nvSpPr>
          <p:cNvPr id="892" name="Google Shape;892;p60"/>
          <p:cNvSpPr/>
          <p:nvPr/>
        </p:nvSpPr>
        <p:spPr>
          <a:xfrm>
            <a:off x="9118600" y="2505076"/>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0"/>
          <p:cNvSpPr/>
          <p:nvPr/>
        </p:nvSpPr>
        <p:spPr>
          <a:xfrm>
            <a:off x="9251951" y="2625726"/>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4" name="Google Shape;894;p60"/>
          <p:cNvSpPr/>
          <p:nvPr/>
        </p:nvSpPr>
        <p:spPr>
          <a:xfrm>
            <a:off x="9396314" y="2625726"/>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Trazabilidad desde la creación del caso hasta la solicitud de facturación.</a:t>
            </a:r>
            <a:endParaRPr sz="750">
              <a:solidFill>
                <a:srgbClr val="000000"/>
              </a:solidFill>
              <a:latin typeface="Calibri"/>
              <a:ea typeface="Calibri"/>
              <a:cs typeface="Calibri"/>
              <a:sym typeface="Calibri"/>
            </a:endParaRPr>
          </a:p>
        </p:txBody>
      </p:sp>
      <p:sp>
        <p:nvSpPr>
          <p:cNvPr id="895" name="Google Shape;895;p60"/>
          <p:cNvSpPr/>
          <p:nvPr/>
        </p:nvSpPr>
        <p:spPr>
          <a:xfrm>
            <a:off x="9118600" y="3133726"/>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0"/>
          <p:cNvSpPr/>
          <p:nvPr/>
        </p:nvSpPr>
        <p:spPr>
          <a:xfrm>
            <a:off x="9251951" y="3254376"/>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7" name="Google Shape;897;p60"/>
          <p:cNvSpPr/>
          <p:nvPr/>
        </p:nvSpPr>
        <p:spPr>
          <a:xfrm>
            <a:off x="9396314" y="3254376"/>
            <a:ext cx="2161421"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Gestión centralizada de OT y recursos técnicos.</a:t>
            </a:r>
            <a:endParaRPr sz="750">
              <a:solidFill>
                <a:srgbClr val="000000"/>
              </a:solidFill>
              <a:latin typeface="Calibri"/>
              <a:ea typeface="Calibri"/>
              <a:cs typeface="Calibri"/>
              <a:sym typeface="Calibri"/>
            </a:endParaRPr>
          </a:p>
        </p:txBody>
      </p:sp>
      <p:sp>
        <p:nvSpPr>
          <p:cNvPr id="898" name="Google Shape;898;p60"/>
          <p:cNvSpPr/>
          <p:nvPr/>
        </p:nvSpPr>
        <p:spPr>
          <a:xfrm>
            <a:off x="9118600" y="3619500"/>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0"/>
          <p:cNvSpPr/>
          <p:nvPr/>
        </p:nvSpPr>
        <p:spPr>
          <a:xfrm>
            <a:off x="9251951" y="3740150"/>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900" name="Google Shape;900;p60"/>
          <p:cNvSpPr/>
          <p:nvPr/>
        </p:nvSpPr>
        <p:spPr>
          <a:xfrm>
            <a:off x="9396314" y="3740150"/>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Plataforma colaborativa para trabajo transversal entre áreas.</a:t>
            </a:r>
            <a:endParaRPr sz="750">
              <a:solidFill>
                <a:srgbClr val="000000"/>
              </a:solidFill>
              <a:latin typeface="Calibri"/>
              <a:ea typeface="Calibri"/>
              <a:cs typeface="Calibri"/>
              <a:sym typeface="Calibri"/>
            </a:endParaRPr>
          </a:p>
        </p:txBody>
      </p:sp>
      <p:sp>
        <p:nvSpPr>
          <p:cNvPr id="901" name="Google Shape;901;p60"/>
          <p:cNvSpPr/>
          <p:nvPr/>
        </p:nvSpPr>
        <p:spPr>
          <a:xfrm>
            <a:off x="9118600" y="436245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DESAFÍO FUTURO</a:t>
            </a:r>
            <a:endParaRPr sz="675">
              <a:solidFill>
                <a:srgbClr val="000000"/>
              </a:solidFill>
              <a:latin typeface="Calibri"/>
              <a:ea typeface="Calibri"/>
              <a:cs typeface="Calibri"/>
              <a:sym typeface="Calibri"/>
            </a:endParaRPr>
          </a:p>
        </p:txBody>
      </p:sp>
      <p:sp>
        <p:nvSpPr>
          <p:cNvPr id="902" name="Google Shape;902;p60"/>
          <p:cNvSpPr/>
          <p:nvPr/>
        </p:nvSpPr>
        <p:spPr>
          <a:xfrm>
            <a:off x="9118600" y="4578350"/>
            <a:ext cx="2743200" cy="1117600"/>
          </a:xfrm>
          <a:prstGeom prst="roundRect">
            <a:avLst>
              <a:gd name="adj" fmla="val 6818"/>
            </a:avLst>
          </a:prstGeom>
          <a:solidFill>
            <a:srgbClr val="373C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0"/>
          <p:cNvSpPr/>
          <p:nvPr/>
        </p:nvSpPr>
        <p:spPr>
          <a:xfrm>
            <a:off x="9283700" y="4730750"/>
            <a:ext cx="2654300" cy="1651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28D2C3"/>
                </a:solidFill>
                <a:latin typeface="Quattrocento Sans"/>
                <a:ea typeface="Quattrocento Sans"/>
                <a:cs typeface="Quattrocento Sans"/>
                <a:sym typeface="Quattrocento Sans"/>
              </a:rPr>
              <a:t>Salesforce + Field Service + SAP</a:t>
            </a:r>
            <a:endParaRPr sz="850">
              <a:solidFill>
                <a:srgbClr val="000000"/>
              </a:solidFill>
              <a:latin typeface="Calibri"/>
              <a:ea typeface="Calibri"/>
              <a:cs typeface="Calibri"/>
              <a:sym typeface="Calibri"/>
            </a:endParaRPr>
          </a:p>
        </p:txBody>
      </p:sp>
      <p:sp>
        <p:nvSpPr>
          <p:cNvPr id="904" name="Google Shape;904;p60"/>
          <p:cNvSpPr/>
          <p:nvPr/>
        </p:nvSpPr>
        <p:spPr>
          <a:xfrm>
            <a:off x="9283700" y="4933950"/>
            <a:ext cx="2485390" cy="6350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E3E6EA"/>
                </a:solidFill>
                <a:latin typeface="Quattrocento Sans"/>
                <a:ea typeface="Quattrocento Sans"/>
                <a:cs typeface="Quattrocento Sans"/>
                <a:sym typeface="Quattrocento Sans"/>
              </a:rPr>
              <a:t>Profundizar la integración entre las tres plataformas, reduciendo actividades manuales, mejorando la visibilidad gerencial y permitiendo un crecimiento escalable de la organización.</a:t>
            </a:r>
            <a:endParaRPr sz="750">
              <a:solidFill>
                <a:srgbClr val="000000"/>
              </a:solidFill>
              <a:latin typeface="Calibri"/>
              <a:ea typeface="Calibri"/>
              <a:cs typeface="Calibri"/>
              <a:sym typeface="Calibri"/>
            </a:endParaRPr>
          </a:p>
        </p:txBody>
      </p:sp>
      <p:pic>
        <p:nvPicPr>
          <p:cNvPr id="905" name="Google Shape;905;p60" descr="preencoded.png"/>
          <p:cNvPicPr preferRelativeResize="0"/>
          <p:nvPr/>
        </p:nvPicPr>
        <p:blipFill rotWithShape="1">
          <a:blip r:embed="rId9">
            <a:alphaModFix/>
          </a:blip>
          <a:srcRect/>
          <a:stretch/>
        </p:blipFill>
        <p:spPr>
          <a:xfrm>
            <a:off x="330200" y="6502400"/>
            <a:ext cx="819051" cy="190500"/>
          </a:xfrm>
          <a:prstGeom prst="rect">
            <a:avLst/>
          </a:prstGeom>
          <a:noFill/>
          <a:ln>
            <a:noFill/>
          </a:ln>
        </p:spPr>
      </p:pic>
      <p:pic>
        <p:nvPicPr>
          <p:cNvPr id="906" name="Google Shape;906;p60" descr="preencoded.png"/>
          <p:cNvPicPr preferRelativeResize="0"/>
          <p:nvPr/>
        </p:nvPicPr>
        <p:blipFill rotWithShape="1">
          <a:blip r:embed="rId10">
            <a:alphaModFix/>
          </a:blip>
          <a:srcRect/>
          <a:stretch/>
        </p:blipFill>
        <p:spPr>
          <a:xfrm>
            <a:off x="1339751" y="6515100"/>
            <a:ext cx="820142" cy="165100"/>
          </a:xfrm>
          <a:prstGeom prst="rect">
            <a:avLst/>
          </a:prstGeom>
          <a:noFill/>
          <a:ln>
            <a:noFill/>
          </a:ln>
        </p:spPr>
      </p:pic>
      <p:pic>
        <p:nvPicPr>
          <p:cNvPr id="907" name="Google Shape;907;p60" descr="preencoded.png"/>
          <p:cNvPicPr preferRelativeResize="0"/>
          <p:nvPr/>
        </p:nvPicPr>
        <p:blipFill rotWithShape="1">
          <a:blip r:embed="rId11">
            <a:alphaModFix/>
          </a:blip>
          <a:srcRect/>
          <a:stretch/>
        </p:blipFill>
        <p:spPr>
          <a:xfrm>
            <a:off x="2350393" y="6515100"/>
            <a:ext cx="597991" cy="165100"/>
          </a:xfrm>
          <a:prstGeom prst="rect">
            <a:avLst/>
          </a:prstGeom>
          <a:noFill/>
          <a:ln>
            <a:noFill/>
          </a:ln>
        </p:spPr>
      </p:pic>
    </p:spTree>
  </p:cSld>
  <p:clrMapOvr>
    <a:masterClrMapping/>
  </p:clrMapOvr>
</p:sld>
</file>

<file path=ppt/theme/theme1.xml><?xml version="1.0" encoding="utf-8"?>
<a:theme xmlns:a="http://schemas.openxmlformats.org/drawingml/2006/main" name="12_Blank">
  <a:themeElements>
    <a:clrScheme name="Custom 1">
      <a:dk1>
        <a:srgbClr val="33448D"/>
      </a:dk1>
      <a:lt1>
        <a:srgbClr val="FFFFFF"/>
      </a:lt1>
      <a:dk2>
        <a:srgbClr val="33448D"/>
      </a:dk2>
      <a:lt2>
        <a:srgbClr val="FFFFFF"/>
      </a:lt2>
      <a:accent1>
        <a:srgbClr val="B6BFDF"/>
      </a:accent1>
      <a:accent2>
        <a:srgbClr val="33448D"/>
      </a:accent2>
      <a:accent3>
        <a:srgbClr val="7686BA"/>
      </a:accent3>
      <a:accent4>
        <a:srgbClr val="8F9A28"/>
      </a:accent4>
      <a:accent5>
        <a:srgbClr val="4BACC6"/>
      </a:accent5>
      <a:accent6>
        <a:srgbClr val="808080"/>
      </a:accent6>
      <a:hlink>
        <a:srgbClr val="7686BA"/>
      </a:hlink>
      <a:folHlink>
        <a:srgbClr val="BDCB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plate Presentación Directorio">
  <a:themeElements>
    <a:clrScheme name="GEMCO S.A">
      <a:dk1>
        <a:srgbClr val="FFFFFF"/>
      </a:dk1>
      <a:lt1>
        <a:srgbClr val="282DF0"/>
      </a:lt1>
      <a:dk2>
        <a:srgbClr val="FFFFFF"/>
      </a:dk2>
      <a:lt2>
        <a:srgbClr val="373C46"/>
      </a:lt2>
      <a:accent1>
        <a:srgbClr val="28D2C3"/>
      </a:accent1>
      <a:accent2>
        <a:srgbClr val="373C46"/>
      </a:accent2>
      <a:accent3>
        <a:srgbClr val="282DF0"/>
      </a:accent3>
      <a:accent4>
        <a:srgbClr val="D20101"/>
      </a:accent4>
      <a:accent5>
        <a:srgbClr val="FF8425"/>
      </a:accent5>
      <a:accent6>
        <a:srgbClr val="0070C0"/>
      </a:accent6>
      <a:hlink>
        <a:srgbClr val="4D94D8"/>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4C69FAA-C6C8-4DC7-AE72-DAE9C6D23E29}">
  <we:reference id="WA200010725" version="1.0.0.1" store="Omex" storeType="OMEX"/>
  <we:alternateReferences>
    <we:reference id="WA200010725" version="1.0.0.1" store="WA200010725" storeType="OMEX"/>
  </we:alternateReferences>
  <we:properties>
    <we:property name="claude.fileId" value="&quot;9a3538e1-4a6f-4f31-9b4f-b4fc6b482e6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672</TotalTime>
  <Words>17897</Words>
  <Application>Microsoft Office PowerPoint</Application>
  <PresentationFormat>Panorámica</PresentationFormat>
  <Paragraphs>5060</Paragraphs>
  <Slides>85</Slides>
  <Notes>85</Notes>
  <HiddenSlides>0</HiddenSlides>
  <MMClips>0</MMClips>
  <ScaleCrop>false</ScaleCrop>
  <HeadingPairs>
    <vt:vector size="6" baseType="variant">
      <vt:variant>
        <vt:lpstr>Fuentes usadas</vt:lpstr>
      </vt:variant>
      <vt:variant>
        <vt:i4>9</vt:i4>
      </vt:variant>
      <vt:variant>
        <vt:lpstr>Tema</vt:lpstr>
      </vt:variant>
      <vt:variant>
        <vt:i4>4</vt:i4>
      </vt:variant>
      <vt:variant>
        <vt:lpstr>Títulos de diapositiva</vt:lpstr>
      </vt:variant>
      <vt:variant>
        <vt:i4>85</vt:i4>
      </vt:variant>
    </vt:vector>
  </HeadingPairs>
  <TitlesOfParts>
    <vt:vector size="98" baseType="lpstr">
      <vt:lpstr>Figtree</vt:lpstr>
      <vt:lpstr>Quattrocento Sans</vt:lpstr>
      <vt:lpstr>Play</vt:lpstr>
      <vt:lpstr>Calibri</vt:lpstr>
      <vt:lpstr>Aptos Narrow</vt:lpstr>
      <vt:lpstr>Roboto</vt:lpstr>
      <vt:lpstr>Noto Sans Symbols</vt:lpstr>
      <vt:lpstr>Arial</vt:lpstr>
      <vt:lpstr>Aptos</vt:lpstr>
      <vt:lpstr>12_Blank</vt:lpstr>
      <vt:lpstr>Template Presentación Directorio</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Cristian Valenzuela</dc:creator>
  <cp:lastModifiedBy>Cristian  Vera</cp:lastModifiedBy>
  <cp:revision>30</cp:revision>
  <dcterms:created xsi:type="dcterms:W3CDTF">2026-09-12T02:09:26Z</dcterms:created>
  <dcterms:modified xsi:type="dcterms:W3CDTF">2026-10-16T20:25:51Z</dcterms:modified>
</cp:coreProperties>
</file>