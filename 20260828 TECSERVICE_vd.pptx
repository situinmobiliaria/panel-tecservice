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71" r:id="rId2"/>
  </p:sldMasterIdLst>
  <p:notesMasterIdLst>
    <p:notesMasterId r:id="rId33"/>
  </p:notesMasterIdLst>
  <p:sldIdLst>
    <p:sldId id="3479" r:id="rId3"/>
    <p:sldId id="4510" r:id="rId4"/>
    <p:sldId id="4508" r:id="rId5"/>
    <p:sldId id="4509" r:id="rId6"/>
    <p:sldId id="4511" r:id="rId7"/>
    <p:sldId id="4485" r:id="rId8"/>
    <p:sldId id="4512" r:id="rId9"/>
    <p:sldId id="4501" r:id="rId10"/>
    <p:sldId id="4513" r:id="rId11"/>
    <p:sldId id="4525" r:id="rId12"/>
    <p:sldId id="4514" r:id="rId13"/>
    <p:sldId id="4490" r:id="rId14"/>
    <p:sldId id="4515" r:id="rId15"/>
    <p:sldId id="4492" r:id="rId16"/>
    <p:sldId id="4526" r:id="rId17"/>
    <p:sldId id="4516" r:id="rId18"/>
    <p:sldId id="4528" r:id="rId19"/>
    <p:sldId id="4517" r:id="rId20"/>
    <p:sldId id="4518" r:id="rId21"/>
    <p:sldId id="4520" r:id="rId22"/>
    <p:sldId id="4521" r:id="rId23"/>
    <p:sldId id="4524" r:id="rId24"/>
    <p:sldId id="4522" r:id="rId25"/>
    <p:sldId id="4523" r:id="rId26"/>
    <p:sldId id="4527" r:id="rId27"/>
    <p:sldId id="4504" r:id="rId28"/>
    <p:sldId id="4481" r:id="rId29"/>
    <p:sldId id="256" r:id="rId30"/>
    <p:sldId id="4433" r:id="rId31"/>
    <p:sldId id="448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871CFB-A862-232B-38E4-0A449C4D52D4}" name="Juan Brante" initials="JB" userId="S::juanmartin.brante@gemco.cl::2d934aa3-8c0d-4387-9df7-f807e231c45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1E23"/>
    <a:srgbClr val="090C83"/>
    <a:srgbClr val="0E12C4"/>
    <a:srgbClr val="7E81F6"/>
    <a:srgbClr val="A9ABF9"/>
    <a:srgbClr val="D4D5FC"/>
    <a:srgbClr val="FFC000"/>
    <a:srgbClr val="28D2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68" autoAdjust="0"/>
    <p:restoredTop sz="94610"/>
  </p:normalViewPr>
  <p:slideViewPr>
    <p:cSldViewPr snapToGrid="0" snapToObjects="1">
      <p:cViewPr>
        <p:scale>
          <a:sx n="66" d="100"/>
          <a:sy n="66" d="100"/>
        </p:scale>
        <p:origin x="882"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1584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10"/>
          </p:nvPr>
        </p:nvSpPr>
        <p:spPr/>
        <p:txBody>
          <a:bodyPr/>
          <a:lstStyle/>
          <a:p>
            <a:pPr marL="0" marR="0" lvl="0" indent="0" algn="r" defTabSz="911291" rtl="0" eaLnBrk="1" fontAlgn="auto" latinLnBrk="0" hangingPunct="1">
              <a:lnSpc>
                <a:spcPct val="100000"/>
              </a:lnSpc>
              <a:spcBef>
                <a:spcPts val="0"/>
              </a:spcBef>
              <a:spcAft>
                <a:spcPts val="0"/>
              </a:spcAft>
              <a:buClrTx/>
              <a:buSzTx/>
              <a:buFontTx/>
              <a:buNone/>
              <a:tabLst/>
              <a:defRPr/>
            </a:pPr>
            <a:fld id="{BF051669-530A-40E5-9930-DD427FD6772A}" type="slidenum">
              <a:rPr kumimoji="0" lang="es-C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1291" rtl="0" eaLnBrk="1" fontAlgn="auto" latinLnBrk="0" hangingPunct="1">
                <a:lnSpc>
                  <a:spcPct val="100000"/>
                </a:lnSpc>
                <a:spcBef>
                  <a:spcPts val="0"/>
                </a:spcBef>
                <a:spcAft>
                  <a:spcPts val="0"/>
                </a:spcAft>
                <a:buClrTx/>
                <a:buSzTx/>
                <a:buFontTx/>
                <a:buNone/>
                <a:tabLst/>
                <a:defRPr/>
              </a:pPr>
              <a:t>1</a:t>
            </a:fld>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2123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D67F-E2C6-AF8E-1006-60113D458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F25F4-C5C0-C6D2-0314-4F919DD56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B752D-65A1-56A1-8B20-C3DD6916BE77}"/>
              </a:ext>
            </a:extLst>
          </p:cNvPr>
          <p:cNvSpPr>
            <a:spLocks noGrp="1"/>
          </p:cNvSpPr>
          <p:nvPr>
            <p:ph type="body" idx="1"/>
          </p:nvPr>
        </p:nvSpPr>
        <p:spPr/>
        <p:txBody>
          <a:bodyPr/>
          <a:lstStyle/>
          <a:p>
            <a:endParaRPr lang="es-CL" dirty="0"/>
          </a:p>
        </p:txBody>
      </p:sp>
      <p:sp>
        <p:nvSpPr>
          <p:cNvPr id="4" name="Slide Number Placeholder 3">
            <a:extLst>
              <a:ext uri="{FF2B5EF4-FFF2-40B4-BE49-F238E27FC236}">
                <a16:creationId xmlns:a16="http://schemas.microsoft.com/office/drawing/2014/main" id="{8CEFF530-7A85-54C2-E3E7-392E375FF4D8}"/>
              </a:ext>
            </a:extLst>
          </p:cNvPr>
          <p:cNvSpPr>
            <a:spLocks noGrp="1"/>
          </p:cNvSpPr>
          <p:nvPr>
            <p:ph type="sldNum" sz="quarter" idx="10"/>
          </p:nvPr>
        </p:nvSpPr>
        <p:spPr/>
        <p:txBody>
          <a:bodyPr/>
          <a:lstStyle/>
          <a:p>
            <a:pPr marL="0" marR="0" lvl="0" indent="0" algn="r" defTabSz="911291" rtl="0" eaLnBrk="1" fontAlgn="auto" latinLnBrk="0" hangingPunct="1">
              <a:lnSpc>
                <a:spcPct val="100000"/>
              </a:lnSpc>
              <a:spcBef>
                <a:spcPts val="0"/>
              </a:spcBef>
              <a:spcAft>
                <a:spcPts val="0"/>
              </a:spcAft>
              <a:buClrTx/>
              <a:buSzTx/>
              <a:buFontTx/>
              <a:buNone/>
              <a:tabLst/>
              <a:defRPr/>
            </a:pPr>
            <a:fld id="{BF051669-530A-40E5-9930-DD427FD6772A}" type="slidenum">
              <a:rPr kumimoji="0" lang="es-C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1291" rtl="0" eaLnBrk="1" fontAlgn="auto" latinLnBrk="0" hangingPunct="1">
                <a:lnSpc>
                  <a:spcPct val="100000"/>
                </a:lnSpc>
                <a:spcBef>
                  <a:spcPts val="0"/>
                </a:spcBef>
                <a:spcAft>
                  <a:spcPts val="0"/>
                </a:spcAft>
                <a:buClrTx/>
                <a:buSzTx/>
                <a:buFontTx/>
                <a:buNone/>
                <a:tabLst/>
                <a:defRPr/>
              </a:pPr>
              <a:t>26</a:t>
            </a:fld>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08809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chart" Target="../charts/chart3.xml"/></Relationships>
</file>

<file path=ppt/slideLayouts/_rels/slideLayout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chart" Target="../charts/chart9.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2.jpeg"/><Relationship Id="rId2" Type="http://schemas.openxmlformats.org/officeDocument/2006/relationships/slideMaster" Target="../slideMasters/slideMaster2.xml"/><Relationship Id="rId1" Type="http://schemas.openxmlformats.org/officeDocument/2006/relationships/tags" Target="../tags/tag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3.png"/><Relationship Id="rId5" Type="http://schemas.openxmlformats.org/officeDocument/2006/relationships/image" Target="../media/image28.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DE1D0A-D627-B3D9-1CE5-E6535085500F}"/>
              </a:ext>
            </a:extLst>
          </p:cNvPr>
          <p:cNvSpPr>
            <a:spLocks noGrp="1" noRot="1" noMove="1" noResize="1" noEditPoints="1" noAdjustHandles="1" noChangeArrowheads="1" noChangeShapeType="1"/>
          </p:cNvSpPr>
          <p:nvPr>
            <p:ph type="ctrTitle" hasCustomPrompt="1"/>
          </p:nvPr>
        </p:nvSpPr>
        <p:spPr>
          <a:xfrm>
            <a:off x="838200" y="1887763"/>
            <a:ext cx="4091609" cy="1292087"/>
          </a:xfrm>
        </p:spPr>
        <p:txBody>
          <a:bodyPr anchor="b">
            <a:normAutofit/>
          </a:bodyPr>
          <a:lstStyle>
            <a:lvl1pPr algn="l">
              <a:defRPr sz="4400" b="1"/>
            </a:lvl1pPr>
          </a:lstStyle>
          <a:p>
            <a:r>
              <a:rPr lang="es-ES" dirty="0"/>
              <a:t>Presentación </a:t>
            </a:r>
            <a:br>
              <a:rPr lang="es-ES" dirty="0"/>
            </a:br>
            <a:r>
              <a:rPr lang="es-ES" dirty="0"/>
              <a:t>Directorio 2024</a:t>
            </a:r>
            <a:endParaRPr lang="es-CL" dirty="0"/>
          </a:p>
        </p:txBody>
      </p:sp>
      <p:sp>
        <p:nvSpPr>
          <p:cNvPr id="3" name="Subtítulo 2">
            <a:extLst>
              <a:ext uri="{FF2B5EF4-FFF2-40B4-BE49-F238E27FC236}">
                <a16:creationId xmlns:a16="http://schemas.microsoft.com/office/drawing/2014/main" id="{B467E16A-E3F8-0866-9701-AF6F8EC37A58}"/>
              </a:ext>
            </a:extLst>
          </p:cNvPr>
          <p:cNvSpPr>
            <a:spLocks noGrp="1" noRot="1" noMove="1" noResize="1" noEditPoints="1" noAdjustHandles="1" noChangeArrowheads="1" noChangeShapeType="1"/>
          </p:cNvSpPr>
          <p:nvPr>
            <p:ph type="subTitle" idx="1" hasCustomPrompt="1"/>
          </p:nvPr>
        </p:nvSpPr>
        <p:spPr>
          <a:xfrm>
            <a:off x="838200" y="3381857"/>
            <a:ext cx="9144000" cy="304040"/>
          </a:xfrm>
        </p:spPr>
        <p:txBody>
          <a:bodyPr>
            <a:normAutofit/>
          </a:bodyPr>
          <a:lstStyle>
            <a:lvl1pPr marL="0" indent="0" algn="l">
              <a:buNone/>
              <a:defRPr sz="16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Registro y análisis tres empresas</a:t>
            </a:r>
            <a:endParaRPr lang="es-CL" dirty="0"/>
          </a:p>
        </p:txBody>
      </p:sp>
      <p:sp>
        <p:nvSpPr>
          <p:cNvPr id="4" name="Marcador de fecha 3">
            <a:extLst>
              <a:ext uri="{FF2B5EF4-FFF2-40B4-BE49-F238E27FC236}">
                <a16:creationId xmlns:a16="http://schemas.microsoft.com/office/drawing/2014/main" id="{5158AAE9-2FA4-0A23-5264-8B5A601DF586}"/>
              </a:ext>
            </a:extLst>
          </p:cNvPr>
          <p:cNvSpPr>
            <a:spLocks noGrp="1" noRot="1" noMove="1" noResize="1" noEditPoints="1" noAdjustHandles="1" noChangeArrowheads="1" noChangeShapeType="1"/>
          </p:cNvSpPr>
          <p:nvPr>
            <p:ph type="dt" sz="half" idx="10"/>
          </p:nvPr>
        </p:nvSpPr>
        <p:spPr>
          <a:xfrm>
            <a:off x="838200" y="4440950"/>
            <a:ext cx="2743200" cy="365125"/>
          </a:xfrm>
        </p:spPr>
        <p:txBody>
          <a:bodyPr/>
          <a:lstStyle>
            <a:lvl1pPr>
              <a:defRPr/>
            </a:lvl1pPr>
          </a:lstStyle>
          <a:p>
            <a:endParaRPr lang="es-CL"/>
          </a:p>
        </p:txBody>
      </p:sp>
      <p:sp>
        <p:nvSpPr>
          <p:cNvPr id="6" name="Marcador de número de diapositiva 5">
            <a:extLst>
              <a:ext uri="{FF2B5EF4-FFF2-40B4-BE49-F238E27FC236}">
                <a16:creationId xmlns:a16="http://schemas.microsoft.com/office/drawing/2014/main" id="{B2998349-144E-3A22-3848-9269ED3098FC}"/>
              </a:ext>
            </a:extLst>
          </p:cNvPr>
          <p:cNvSpPr>
            <a:spLocks noGrp="1" noRot="1" noMove="1" noResize="1" noEditPoints="1" noAdjustHandles="1" noChangeArrowheads="1" noChangeShapeType="1"/>
          </p:cNvSpPr>
          <p:nvPr>
            <p:ph type="sldNum" sz="quarter" idx="12"/>
          </p:nvPr>
        </p:nvSpPr>
        <p:spPr/>
        <p:txBody>
          <a:bodyPr/>
          <a:lstStyle>
            <a:lvl1pPr>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B5116622-47B0-7546-76CD-1EAA5E8ED5EE}"/>
              </a:ext>
            </a:extLst>
          </p:cNvPr>
          <p:cNvSpPr/>
          <p:nvPr/>
        </p:nvSpPr>
        <p:spPr>
          <a:xfrm>
            <a:off x="0" y="3875730"/>
            <a:ext cx="12192000" cy="365125"/>
          </a:xfrm>
          <a:prstGeom prst="rect">
            <a:avLst/>
          </a:prstGeom>
          <a:solidFill>
            <a:schemeClr val="tx2"/>
          </a:solidFill>
          <a:ln>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pic>
        <p:nvPicPr>
          <p:cNvPr id="8" name="Imagen 7" descr="Logotipo&#10;&#10;Descripción generada automáticamente">
            <a:extLst>
              <a:ext uri="{FF2B5EF4-FFF2-40B4-BE49-F238E27FC236}">
                <a16:creationId xmlns:a16="http://schemas.microsoft.com/office/drawing/2014/main" id="{59D0726C-C7F9-B06D-1314-039B9B4284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2" t="34306" r="20346" b="32837"/>
          <a:stretch/>
        </p:blipFill>
        <p:spPr>
          <a:xfrm>
            <a:off x="7315291" y="5315205"/>
            <a:ext cx="1890650" cy="607897"/>
          </a:xfrm>
          <a:prstGeom prst="rect">
            <a:avLst/>
          </a:prstGeom>
        </p:spPr>
      </p:pic>
      <p:pic>
        <p:nvPicPr>
          <p:cNvPr id="9" name="Imagen 8" descr="Logotipo&#10;&#10;Descripción generada automáticamente">
            <a:extLst>
              <a:ext uri="{FF2B5EF4-FFF2-40B4-BE49-F238E27FC236}">
                <a16:creationId xmlns:a16="http://schemas.microsoft.com/office/drawing/2014/main" id="{CA5EE16D-4AAD-7832-C005-88F1E1D5B02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0608" t="35437" r="29155" b="37556"/>
          <a:stretch/>
        </p:blipFill>
        <p:spPr>
          <a:xfrm>
            <a:off x="5136382" y="5350936"/>
            <a:ext cx="1420828" cy="536435"/>
          </a:xfrm>
          <a:prstGeom prst="rect">
            <a:avLst/>
          </a:prstGeom>
        </p:spPr>
      </p:pic>
      <p:pic>
        <p:nvPicPr>
          <p:cNvPr id="10" name="Imagen 9" descr="Logotipo&#10;&#10;Descripción generada automáticamente con confianza media">
            <a:extLst>
              <a:ext uri="{FF2B5EF4-FFF2-40B4-BE49-F238E27FC236}">
                <a16:creationId xmlns:a16="http://schemas.microsoft.com/office/drawing/2014/main" id="{327D8D8A-F398-F494-5073-9D9E60AB958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151" t="29551" r="17156" b="29573"/>
          <a:stretch/>
        </p:blipFill>
        <p:spPr>
          <a:xfrm>
            <a:off x="2641453" y="5315205"/>
            <a:ext cx="1736849" cy="607897"/>
          </a:xfrm>
          <a:prstGeom prst="rect">
            <a:avLst/>
          </a:prstGeom>
        </p:spPr>
      </p:pic>
    </p:spTree>
    <p:extLst>
      <p:ext uri="{BB962C8B-B14F-4D97-AF65-F5344CB8AC3E}">
        <p14:creationId xmlns:p14="http://schemas.microsoft.com/office/powerpoint/2010/main" val="2527934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Diapositiva de 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DE1D0A-D627-B3D9-1CE5-E6535085500F}"/>
              </a:ext>
            </a:extLst>
          </p:cNvPr>
          <p:cNvSpPr>
            <a:spLocks noGrp="1" noRot="1" noMove="1" noResize="1" noEditPoints="1" noAdjustHandles="1" noChangeArrowheads="1" noChangeShapeType="1"/>
          </p:cNvSpPr>
          <p:nvPr>
            <p:ph type="ctrTitle" hasCustomPrompt="1"/>
          </p:nvPr>
        </p:nvSpPr>
        <p:spPr>
          <a:xfrm>
            <a:off x="838200" y="1887763"/>
            <a:ext cx="4091609" cy="1292087"/>
          </a:xfrm>
        </p:spPr>
        <p:txBody>
          <a:bodyPr anchor="b">
            <a:normAutofit/>
          </a:bodyPr>
          <a:lstStyle>
            <a:lvl1pPr algn="l">
              <a:defRPr sz="4400" b="1">
                <a:solidFill>
                  <a:schemeClr val="bg2"/>
                </a:solidFill>
              </a:defRPr>
            </a:lvl1pPr>
          </a:lstStyle>
          <a:p>
            <a:r>
              <a:rPr lang="es-ES" dirty="0"/>
              <a:t>Presentación </a:t>
            </a:r>
            <a:br>
              <a:rPr lang="es-ES" dirty="0"/>
            </a:br>
            <a:r>
              <a:rPr lang="es-ES" dirty="0"/>
              <a:t>Directorio 2024</a:t>
            </a:r>
            <a:endParaRPr lang="es-CL" dirty="0"/>
          </a:p>
        </p:txBody>
      </p:sp>
      <p:sp>
        <p:nvSpPr>
          <p:cNvPr id="3" name="Subtítulo 2">
            <a:extLst>
              <a:ext uri="{FF2B5EF4-FFF2-40B4-BE49-F238E27FC236}">
                <a16:creationId xmlns:a16="http://schemas.microsoft.com/office/drawing/2014/main" id="{B467E16A-E3F8-0866-9701-AF6F8EC37A58}"/>
              </a:ext>
            </a:extLst>
          </p:cNvPr>
          <p:cNvSpPr>
            <a:spLocks noGrp="1" noRot="1" noMove="1" noResize="1" noEditPoints="1" noAdjustHandles="1" noChangeArrowheads="1" noChangeShapeType="1"/>
          </p:cNvSpPr>
          <p:nvPr>
            <p:ph type="subTitle" idx="1" hasCustomPrompt="1"/>
          </p:nvPr>
        </p:nvSpPr>
        <p:spPr>
          <a:xfrm>
            <a:off x="838200" y="3300756"/>
            <a:ext cx="9144000" cy="304040"/>
          </a:xfrm>
        </p:spPr>
        <p:txBody>
          <a:bodyPr>
            <a:normAutofit/>
          </a:bodyPr>
          <a:lstStyle>
            <a:lvl1pPr marL="0" indent="0" algn="l">
              <a:buNone/>
              <a:defRPr sz="1600" i="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Registro y análisis tres empresas</a:t>
            </a:r>
            <a:endParaRPr lang="es-CL" dirty="0"/>
          </a:p>
        </p:txBody>
      </p:sp>
      <p:sp>
        <p:nvSpPr>
          <p:cNvPr id="4" name="Marcador de fecha 3">
            <a:extLst>
              <a:ext uri="{FF2B5EF4-FFF2-40B4-BE49-F238E27FC236}">
                <a16:creationId xmlns:a16="http://schemas.microsoft.com/office/drawing/2014/main" id="{5158AAE9-2FA4-0A23-5264-8B5A601DF586}"/>
              </a:ext>
            </a:extLst>
          </p:cNvPr>
          <p:cNvSpPr>
            <a:spLocks noGrp="1" noRot="1" noMove="1" noResize="1" noEditPoints="1" noAdjustHandles="1" noChangeArrowheads="1" noChangeShapeType="1"/>
          </p:cNvSpPr>
          <p:nvPr>
            <p:ph type="dt" sz="half" idx="10"/>
          </p:nvPr>
        </p:nvSpPr>
        <p:spPr>
          <a:xfrm>
            <a:off x="9585434" y="5080092"/>
            <a:ext cx="1263869" cy="442885"/>
          </a:xfrm>
        </p:spPr>
        <p:txBody>
          <a:bodyPr/>
          <a:lstStyle>
            <a:lvl1pPr>
              <a:defRPr>
                <a:solidFill>
                  <a:schemeClr val="bg2"/>
                </a:solidFill>
              </a:defRPr>
            </a:lvl1pPr>
          </a:lstStyle>
          <a:p>
            <a:endParaRPr lang="es-CL"/>
          </a:p>
        </p:txBody>
      </p:sp>
      <p:sp>
        <p:nvSpPr>
          <p:cNvPr id="6" name="Marcador de número de diapositiva 5">
            <a:extLst>
              <a:ext uri="{FF2B5EF4-FFF2-40B4-BE49-F238E27FC236}">
                <a16:creationId xmlns:a16="http://schemas.microsoft.com/office/drawing/2014/main" id="{B2998349-144E-3A22-3848-9269ED3098FC}"/>
              </a:ext>
            </a:extLst>
          </p:cNvPr>
          <p:cNvSpPr>
            <a:spLocks noGrp="1" noRot="1" noMove="1" noResize="1" noEditPoints="1" noAdjustHandles="1" noChangeArrowheads="1" noChangeShapeType="1"/>
          </p:cNvSpPr>
          <p:nvPr>
            <p:ph type="sldNum" sz="quarter" idx="12"/>
          </p:nvPr>
        </p:nvSpPr>
        <p:spPr/>
        <p:txBody>
          <a:bodyPr/>
          <a:lstStyle>
            <a:lvl1pPr>
              <a:defRPr>
                <a:solidFill>
                  <a:schemeClr val="bg2"/>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B5116622-47B0-7546-76CD-1EAA5E8ED5EE}"/>
              </a:ext>
            </a:extLst>
          </p:cNvPr>
          <p:cNvSpPr>
            <a:spLocks noGrp="1" noRot="1" noMove="1" noResize="1" noEditPoints="1" noAdjustHandles="1" noChangeArrowheads="1" noChangeShapeType="1"/>
          </p:cNvSpPr>
          <p:nvPr/>
        </p:nvSpPr>
        <p:spPr>
          <a:xfrm>
            <a:off x="0" y="3875730"/>
            <a:ext cx="12192000" cy="933428"/>
          </a:xfrm>
          <a:prstGeom prst="rect">
            <a:avLst/>
          </a:prstGeom>
          <a:solidFill>
            <a:schemeClr val="bg1"/>
          </a:solidFill>
          <a:ln>
            <a:solidFill>
              <a:schemeClr val="accent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pic>
        <p:nvPicPr>
          <p:cNvPr id="8" name="Imagen 7" descr="Logotipo&#10;&#10;Descripción generada automáticamente">
            <a:extLst>
              <a:ext uri="{FF2B5EF4-FFF2-40B4-BE49-F238E27FC236}">
                <a16:creationId xmlns:a16="http://schemas.microsoft.com/office/drawing/2014/main" id="{59D0726C-C7F9-B06D-1314-039B9B428441}"/>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2172" t="34306" r="20346" b="32837"/>
          <a:stretch/>
        </p:blipFill>
        <p:spPr>
          <a:xfrm>
            <a:off x="7346822" y="4068265"/>
            <a:ext cx="1890650" cy="607897"/>
          </a:xfrm>
          <a:prstGeom prst="rect">
            <a:avLst/>
          </a:prstGeom>
        </p:spPr>
      </p:pic>
      <p:pic>
        <p:nvPicPr>
          <p:cNvPr id="9" name="Imagen 8" descr="Logotipo&#10;&#10;Descripción generada automáticamente">
            <a:extLst>
              <a:ext uri="{FF2B5EF4-FFF2-40B4-BE49-F238E27FC236}">
                <a16:creationId xmlns:a16="http://schemas.microsoft.com/office/drawing/2014/main" id="{CA5EE16D-4AAD-7832-C005-88F1E1D5B024}"/>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30608" t="35437" r="29155" b="37556"/>
          <a:stretch/>
        </p:blipFill>
        <p:spPr>
          <a:xfrm>
            <a:off x="5304548" y="4127570"/>
            <a:ext cx="1295949" cy="489287"/>
          </a:xfrm>
          <a:prstGeom prst="rect">
            <a:avLst/>
          </a:prstGeom>
        </p:spPr>
      </p:pic>
      <p:pic>
        <p:nvPicPr>
          <p:cNvPr id="10" name="Imagen 9" descr="Logotipo&#10;&#10;Descripción generada automáticamente con confianza media">
            <a:extLst>
              <a:ext uri="{FF2B5EF4-FFF2-40B4-BE49-F238E27FC236}">
                <a16:creationId xmlns:a16="http://schemas.microsoft.com/office/drawing/2014/main" id="{327D8D8A-F398-F494-5073-9D9E60AB958E}"/>
              </a:ext>
            </a:extLst>
          </p:cNvPr>
          <p:cNvPicPr>
            <a:picLocks noGrp="1" noRot="1" noChangeAspect="1" noMove="1" noResize="1" noEditPoints="1" noAdjustHandles="1" noChangeArrowheads="1" noChangeShapeType="1" noCrop="1"/>
          </p:cNvPicPr>
          <p:nvPr/>
        </p:nvPicPr>
        <p:blipFill rotWithShape="1">
          <a:blip r:embed="rId4" cstate="print">
            <a:extLst>
              <a:ext uri="{28A0092B-C50C-407E-A947-70E740481C1C}">
                <a14:useLocalDpi xmlns:a14="http://schemas.microsoft.com/office/drawing/2010/main" val="0"/>
              </a:ext>
            </a:extLst>
          </a:blip>
          <a:srcRect l="17151" t="29551" r="17156" b="29573"/>
          <a:stretch/>
        </p:blipFill>
        <p:spPr>
          <a:xfrm>
            <a:off x="2672984" y="4068265"/>
            <a:ext cx="1736849" cy="607897"/>
          </a:xfrm>
          <a:prstGeom prst="rect">
            <a:avLst/>
          </a:prstGeom>
        </p:spPr>
      </p:pic>
    </p:spTree>
    <p:extLst>
      <p:ext uri="{BB962C8B-B14F-4D97-AF65-F5344CB8AC3E}">
        <p14:creationId xmlns:p14="http://schemas.microsoft.com/office/powerpoint/2010/main" val="1476348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3BC65-66CB-742F-E7D1-719647B6BB04}"/>
              </a:ext>
            </a:extLst>
          </p:cNvPr>
          <p:cNvSpPr>
            <a:spLocks noGrp="1"/>
          </p:cNvSpPr>
          <p:nvPr>
            <p:ph type="title" hasCustomPrompt="1"/>
          </p:nvPr>
        </p:nvSpPr>
        <p:spPr>
          <a:xfrm>
            <a:off x="330200" y="227185"/>
            <a:ext cx="3042920" cy="315912"/>
          </a:xfrm>
        </p:spPr>
        <p:txBody>
          <a:bodyPr>
            <a:noAutofit/>
          </a:bodyPr>
          <a:lstStyle>
            <a:lvl1pPr>
              <a:defRPr sz="1600" b="1">
                <a:solidFill>
                  <a:schemeClr val="bg1"/>
                </a:solidFill>
              </a:defRPr>
            </a:lvl1pPr>
          </a:lstStyle>
          <a:p>
            <a:r>
              <a:rPr lang="es-ES" dirty="0"/>
              <a:t>[Para Gemco]</a:t>
            </a:r>
            <a:endParaRPr lang="es-CL" dirty="0"/>
          </a:p>
        </p:txBody>
      </p:sp>
      <p:sp>
        <p:nvSpPr>
          <p:cNvPr id="3" name="Marcador de contenido 2">
            <a:extLst>
              <a:ext uri="{FF2B5EF4-FFF2-40B4-BE49-F238E27FC236}">
                <a16:creationId xmlns:a16="http://schemas.microsoft.com/office/drawing/2014/main" id="{8176296B-2803-99C3-E086-B1D9E581FB9F}"/>
              </a:ext>
            </a:extLst>
          </p:cNvPr>
          <p:cNvSpPr>
            <a:spLocks noGrp="1"/>
          </p:cNvSpPr>
          <p:nvPr>
            <p:ph idx="1"/>
          </p:nvPr>
        </p:nvSpPr>
        <p:spPr>
          <a:xfrm>
            <a:off x="330200" y="1117123"/>
            <a:ext cx="11557000" cy="483854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dirty="0"/>
          </a:p>
        </p:txBody>
      </p:sp>
      <p:sp>
        <p:nvSpPr>
          <p:cNvPr id="6" name="Marcador de número de diapositiva 5">
            <a:extLst>
              <a:ext uri="{FF2B5EF4-FFF2-40B4-BE49-F238E27FC236}">
                <a16:creationId xmlns:a16="http://schemas.microsoft.com/office/drawing/2014/main" id="{2532A733-770F-17A8-A28F-E809E536EB06}"/>
              </a:ext>
            </a:extLst>
          </p:cNvPr>
          <p:cNvSpPr>
            <a:spLocks noGrp="1"/>
          </p:cNvSpPr>
          <p:nvPr>
            <p:ph type="sldNum" sz="quarter" idx="12"/>
          </p:nvPr>
        </p:nvSpPr>
        <p:spPr/>
        <p:txBody>
          <a:bodyPr/>
          <a:lstStyle>
            <a:lvl1pPr>
              <a:defRPr>
                <a:solidFill>
                  <a:schemeClr val="bg1"/>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5B2A9F76-F1D9-BFAE-4E79-AD016DC11DDB}"/>
              </a:ext>
            </a:extLst>
          </p:cNvPr>
          <p:cNvSpPr/>
          <p:nvPr/>
        </p:nvSpPr>
        <p:spPr>
          <a:xfrm>
            <a:off x="0" y="716439"/>
            <a:ext cx="12192000" cy="54000"/>
          </a:xfrm>
          <a:prstGeom prst="rect">
            <a:avLst/>
          </a:prstGeom>
          <a:solidFill>
            <a:srgbClr val="28D2C3"/>
          </a:solidFill>
          <a:ln>
            <a:solidFill>
              <a:srgbClr val="28D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s-CL" dirty="0">
              <a:solidFill>
                <a:schemeClr val="bg2"/>
              </a:solidFill>
            </a:endParaRPr>
          </a:p>
        </p:txBody>
      </p:sp>
      <p:pic>
        <p:nvPicPr>
          <p:cNvPr id="9" name="Imagen 8" descr="Logotipo&#10;&#10;Descripción generada automáticamente con confianza media">
            <a:extLst>
              <a:ext uri="{FF2B5EF4-FFF2-40B4-BE49-F238E27FC236}">
                <a16:creationId xmlns:a16="http://schemas.microsoft.com/office/drawing/2014/main" id="{A6F09156-E6B0-E539-861A-F6BC2C2503F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0891" t="36963" r="19860" b="39084"/>
          <a:stretch/>
        </p:blipFill>
        <p:spPr>
          <a:xfrm>
            <a:off x="330200" y="6399764"/>
            <a:ext cx="1223729" cy="278296"/>
          </a:xfrm>
          <a:prstGeom prst="rect">
            <a:avLst/>
          </a:prstGeom>
        </p:spPr>
      </p:pic>
      <p:pic>
        <p:nvPicPr>
          <p:cNvPr id="10" name="Imagen 9" descr="Logotipo&#10;&#10;Descripción generada automáticamente con confianza media">
            <a:extLst>
              <a:ext uri="{FF2B5EF4-FFF2-40B4-BE49-F238E27FC236}">
                <a16:creationId xmlns:a16="http://schemas.microsoft.com/office/drawing/2014/main" id="{622F8D55-3E52-0052-68D7-AD1AEF9F129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6688" t="36963" r="19860" b="39084"/>
          <a:stretch/>
        </p:blipFill>
        <p:spPr>
          <a:xfrm>
            <a:off x="11415224" y="126683"/>
            <a:ext cx="471976" cy="472749"/>
          </a:xfrm>
          <a:prstGeom prst="rect">
            <a:avLst/>
          </a:prstGeom>
        </p:spPr>
      </p:pic>
    </p:spTree>
    <p:extLst>
      <p:ext uri="{BB962C8B-B14F-4D97-AF65-F5344CB8AC3E}">
        <p14:creationId xmlns:p14="http://schemas.microsoft.com/office/powerpoint/2010/main" val="3142063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ítulo y objetos">
    <p:bg>
      <p:bgPr>
        <a:solidFill>
          <a:schemeClr val="tx1"/>
        </a:solidFill>
        <a:effectLst/>
      </p:bgPr>
    </p:bg>
    <p:spTree>
      <p:nvGrpSpPr>
        <p:cNvPr id="1" name=""/>
        <p:cNvGrpSpPr/>
        <p:nvPr/>
      </p:nvGrpSpPr>
      <p:grpSpPr>
        <a:xfrm>
          <a:off x="0" y="0"/>
          <a:ext cx="0" cy="0"/>
          <a:chOff x="0" y="0"/>
          <a:chExt cx="0" cy="0"/>
        </a:xfrm>
      </p:grpSpPr>
      <p:pic>
        <p:nvPicPr>
          <p:cNvPr id="8" name="Imagen 7" descr="Logotipo&#10;&#10;Descripción generada automáticamente">
            <a:extLst>
              <a:ext uri="{FF2B5EF4-FFF2-40B4-BE49-F238E27FC236}">
                <a16:creationId xmlns:a16="http://schemas.microsoft.com/office/drawing/2014/main" id="{DCA3A5E1-C66D-BD36-68BB-1AD80BDF501C}"/>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66086" t="41594" r="23859" b="41159"/>
          <a:stretch/>
        </p:blipFill>
        <p:spPr>
          <a:xfrm>
            <a:off x="11415224" y="148488"/>
            <a:ext cx="444782" cy="429137"/>
          </a:xfrm>
          <a:prstGeom prst="rect">
            <a:avLst/>
          </a:prstGeom>
        </p:spPr>
      </p:pic>
      <p:pic>
        <p:nvPicPr>
          <p:cNvPr id="5" name="Imagen 4" descr="Logotipo&#10;&#10;Descripción generada automáticamente">
            <a:extLst>
              <a:ext uri="{FF2B5EF4-FFF2-40B4-BE49-F238E27FC236}">
                <a16:creationId xmlns:a16="http://schemas.microsoft.com/office/drawing/2014/main" id="{AFD1B541-DBEC-7D97-32F4-5CECC7343591}"/>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24782" t="41594" r="23859" b="41159"/>
          <a:stretch/>
        </p:blipFill>
        <p:spPr>
          <a:xfrm>
            <a:off x="330200" y="6399764"/>
            <a:ext cx="1473330" cy="278296"/>
          </a:xfrm>
          <a:prstGeom prst="rect">
            <a:avLst/>
          </a:prstGeom>
        </p:spPr>
      </p:pic>
      <p:sp>
        <p:nvSpPr>
          <p:cNvPr id="2" name="Título 1">
            <a:extLst>
              <a:ext uri="{FF2B5EF4-FFF2-40B4-BE49-F238E27FC236}">
                <a16:creationId xmlns:a16="http://schemas.microsoft.com/office/drawing/2014/main" id="{3073BC65-66CB-742F-E7D1-719647B6BB04}"/>
              </a:ext>
            </a:extLst>
          </p:cNvPr>
          <p:cNvSpPr>
            <a:spLocks noGrp="1" noRot="1" noMove="1" noResize="1" noEditPoints="1" noAdjustHandles="1" noChangeArrowheads="1" noChangeShapeType="1"/>
          </p:cNvSpPr>
          <p:nvPr>
            <p:ph type="title" hasCustomPrompt="1"/>
          </p:nvPr>
        </p:nvSpPr>
        <p:spPr>
          <a:xfrm>
            <a:off x="330200" y="126683"/>
            <a:ext cx="3042920" cy="315912"/>
          </a:xfrm>
        </p:spPr>
        <p:txBody>
          <a:bodyPr>
            <a:noAutofit/>
          </a:bodyPr>
          <a:lstStyle>
            <a:lvl1pPr>
              <a:defRPr sz="1600" b="1">
                <a:solidFill>
                  <a:schemeClr val="accent2"/>
                </a:solidFill>
              </a:defRPr>
            </a:lvl1pPr>
          </a:lstStyle>
          <a:p>
            <a:r>
              <a:rPr lang="es-ES" dirty="0"/>
              <a:t>[Para </a:t>
            </a:r>
            <a:r>
              <a:rPr lang="es-ES" dirty="0" err="1"/>
              <a:t>Incardia</a:t>
            </a:r>
            <a:r>
              <a:rPr lang="es-ES" dirty="0"/>
              <a:t>]</a:t>
            </a:r>
            <a:endParaRPr lang="es-CL" dirty="0"/>
          </a:p>
        </p:txBody>
      </p:sp>
      <p:sp>
        <p:nvSpPr>
          <p:cNvPr id="3" name="Marcador de contenido 2">
            <a:extLst>
              <a:ext uri="{FF2B5EF4-FFF2-40B4-BE49-F238E27FC236}">
                <a16:creationId xmlns:a16="http://schemas.microsoft.com/office/drawing/2014/main" id="{8176296B-2803-99C3-E086-B1D9E581FB9F}"/>
              </a:ext>
            </a:extLst>
          </p:cNvPr>
          <p:cNvSpPr>
            <a:spLocks noGrp="1" noRot="1" noMove="1" noResize="1" noEditPoints="1" noAdjustHandles="1" noChangeArrowheads="1" noChangeShapeType="1"/>
          </p:cNvSpPr>
          <p:nvPr>
            <p:ph idx="1"/>
          </p:nvPr>
        </p:nvSpPr>
        <p:spPr>
          <a:xfrm>
            <a:off x="330200" y="1117123"/>
            <a:ext cx="11557000" cy="483854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dirty="0"/>
          </a:p>
        </p:txBody>
      </p:sp>
      <p:sp>
        <p:nvSpPr>
          <p:cNvPr id="6" name="Marcador de número de diapositiva 5">
            <a:extLst>
              <a:ext uri="{FF2B5EF4-FFF2-40B4-BE49-F238E27FC236}">
                <a16:creationId xmlns:a16="http://schemas.microsoft.com/office/drawing/2014/main" id="{2532A733-770F-17A8-A28F-E809E536EB06}"/>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2"/>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5B2A9F76-F1D9-BFAE-4E79-AD016DC11DDB}"/>
              </a:ext>
            </a:extLst>
          </p:cNvPr>
          <p:cNvSpPr>
            <a:spLocks/>
          </p:cNvSpPr>
          <p:nvPr/>
        </p:nvSpPr>
        <p:spPr>
          <a:xfrm>
            <a:off x="0" y="716439"/>
            <a:ext cx="12192000" cy="54000"/>
          </a:xfrm>
          <a:prstGeom prst="rect">
            <a:avLst/>
          </a:prstGeom>
          <a:solidFill>
            <a:schemeClr val="accent4"/>
          </a:solidFill>
          <a:ln>
            <a:solidFill>
              <a:schemeClr val="accent4"/>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533067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ítulo y objetos">
    <p:bg>
      <p:bgPr>
        <a:solidFill>
          <a:schemeClr val="tx1"/>
        </a:solidFill>
        <a:effectLst/>
      </p:bgPr>
    </p:bg>
    <p:spTree>
      <p:nvGrpSpPr>
        <p:cNvPr id="1" name=""/>
        <p:cNvGrpSpPr/>
        <p:nvPr/>
      </p:nvGrpSpPr>
      <p:grpSpPr>
        <a:xfrm>
          <a:off x="0" y="0"/>
          <a:ext cx="0" cy="0"/>
          <a:chOff x="0" y="0"/>
          <a:chExt cx="0" cy="0"/>
        </a:xfrm>
      </p:grpSpPr>
      <p:pic>
        <p:nvPicPr>
          <p:cNvPr id="10" name="Imagen 9" descr="Interfaz de usuario gráfica, Logotipo&#10;&#10;Descripción generada automáticamente">
            <a:extLst>
              <a:ext uri="{FF2B5EF4-FFF2-40B4-BE49-F238E27FC236}">
                <a16:creationId xmlns:a16="http://schemas.microsoft.com/office/drawing/2014/main" id="{6F241967-3A0F-1E4D-6375-9832F531C955}"/>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59166" t="39627" r="31417" b="41778"/>
          <a:stretch/>
        </p:blipFill>
        <p:spPr>
          <a:xfrm>
            <a:off x="11415225" y="102371"/>
            <a:ext cx="471976" cy="503746"/>
          </a:xfrm>
          <a:prstGeom prst="rect">
            <a:avLst/>
          </a:prstGeom>
        </p:spPr>
      </p:pic>
      <p:sp>
        <p:nvSpPr>
          <p:cNvPr id="2" name="Título 1">
            <a:extLst>
              <a:ext uri="{FF2B5EF4-FFF2-40B4-BE49-F238E27FC236}">
                <a16:creationId xmlns:a16="http://schemas.microsoft.com/office/drawing/2014/main" id="{3073BC65-66CB-742F-E7D1-719647B6BB04}"/>
              </a:ext>
            </a:extLst>
          </p:cNvPr>
          <p:cNvSpPr>
            <a:spLocks noGrp="1" noRot="1" noMove="1" noResize="1" noEditPoints="1" noAdjustHandles="1" noChangeArrowheads="1" noChangeShapeType="1"/>
          </p:cNvSpPr>
          <p:nvPr>
            <p:ph type="title" hasCustomPrompt="1"/>
          </p:nvPr>
        </p:nvSpPr>
        <p:spPr>
          <a:xfrm>
            <a:off x="330200" y="126683"/>
            <a:ext cx="3042920" cy="315912"/>
          </a:xfrm>
        </p:spPr>
        <p:txBody>
          <a:bodyPr>
            <a:noAutofit/>
          </a:bodyPr>
          <a:lstStyle>
            <a:lvl1pPr>
              <a:defRPr sz="1600" b="1">
                <a:solidFill>
                  <a:schemeClr val="accent6"/>
                </a:solidFill>
              </a:defRPr>
            </a:lvl1pPr>
          </a:lstStyle>
          <a:p>
            <a:r>
              <a:rPr lang="es-ES" dirty="0"/>
              <a:t>[Para MMQ]</a:t>
            </a:r>
            <a:endParaRPr lang="es-CL" dirty="0"/>
          </a:p>
        </p:txBody>
      </p:sp>
      <p:sp>
        <p:nvSpPr>
          <p:cNvPr id="3" name="Marcador de contenido 2">
            <a:extLst>
              <a:ext uri="{FF2B5EF4-FFF2-40B4-BE49-F238E27FC236}">
                <a16:creationId xmlns:a16="http://schemas.microsoft.com/office/drawing/2014/main" id="{8176296B-2803-99C3-E086-B1D9E581FB9F}"/>
              </a:ext>
            </a:extLst>
          </p:cNvPr>
          <p:cNvSpPr>
            <a:spLocks noGrp="1" noRot="1" noMove="1" noResize="1" noEditPoints="1" noAdjustHandles="1" noChangeArrowheads="1" noChangeShapeType="1"/>
          </p:cNvSpPr>
          <p:nvPr>
            <p:ph idx="1"/>
          </p:nvPr>
        </p:nvSpPr>
        <p:spPr>
          <a:xfrm>
            <a:off x="330200" y="1117123"/>
            <a:ext cx="11557000" cy="483854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dirty="0"/>
          </a:p>
        </p:txBody>
      </p:sp>
      <p:sp>
        <p:nvSpPr>
          <p:cNvPr id="6" name="Marcador de número de diapositiva 5">
            <a:extLst>
              <a:ext uri="{FF2B5EF4-FFF2-40B4-BE49-F238E27FC236}">
                <a16:creationId xmlns:a16="http://schemas.microsoft.com/office/drawing/2014/main" id="{2532A733-770F-17A8-A28F-E809E536EB06}"/>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2"/>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5B2A9F76-F1D9-BFAE-4E79-AD016DC11DDB}"/>
              </a:ext>
            </a:extLst>
          </p:cNvPr>
          <p:cNvSpPr>
            <a:spLocks/>
          </p:cNvSpPr>
          <p:nvPr/>
        </p:nvSpPr>
        <p:spPr>
          <a:xfrm>
            <a:off x="0" y="716439"/>
            <a:ext cx="12192000" cy="54000"/>
          </a:xfrm>
          <a:prstGeom prst="rect">
            <a:avLst/>
          </a:prstGeom>
          <a:solidFill>
            <a:schemeClr val="accent5"/>
          </a:solidFill>
          <a:ln>
            <a:solidFill>
              <a:schemeClr val="accent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p>
        </p:txBody>
      </p:sp>
      <p:pic>
        <p:nvPicPr>
          <p:cNvPr id="9" name="Imagen 8" descr="Interfaz de usuario gráfica, Logotipo&#10;&#10;Descripción generada automáticamente">
            <a:extLst>
              <a:ext uri="{FF2B5EF4-FFF2-40B4-BE49-F238E27FC236}">
                <a16:creationId xmlns:a16="http://schemas.microsoft.com/office/drawing/2014/main" id="{0BBCF0A4-7359-BD5C-15EE-F885DA4D911E}"/>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32750" t="39627" r="31417" b="41778"/>
          <a:stretch/>
        </p:blipFill>
        <p:spPr>
          <a:xfrm>
            <a:off x="351220" y="6369269"/>
            <a:ext cx="1057873" cy="308790"/>
          </a:xfrm>
          <a:prstGeom prst="rect">
            <a:avLst/>
          </a:prstGeom>
        </p:spPr>
      </p:pic>
    </p:spTree>
    <p:extLst>
      <p:ext uri="{BB962C8B-B14F-4D97-AF65-F5344CB8AC3E}">
        <p14:creationId xmlns:p14="http://schemas.microsoft.com/office/powerpoint/2010/main" val="489304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ítulo y objetos">
    <p:bg>
      <p:bgPr>
        <a:solidFill>
          <a:schemeClr val="tx1"/>
        </a:solidFill>
        <a:effectLst/>
      </p:bgPr>
    </p:bg>
    <p:spTree>
      <p:nvGrpSpPr>
        <p:cNvPr id="1" name=""/>
        <p:cNvGrpSpPr/>
        <p:nvPr/>
      </p:nvGrpSpPr>
      <p:grpSpPr>
        <a:xfrm>
          <a:off x="0" y="0"/>
          <a:ext cx="0" cy="0"/>
          <a:chOff x="0" y="0"/>
          <a:chExt cx="0" cy="0"/>
        </a:xfrm>
      </p:grpSpPr>
      <p:pic>
        <p:nvPicPr>
          <p:cNvPr id="10" name="Imagen 9" descr="Interfaz de usuario gráfica, Logotipo&#10;&#10;Descripción generada automáticamente">
            <a:extLst>
              <a:ext uri="{FF2B5EF4-FFF2-40B4-BE49-F238E27FC236}">
                <a16:creationId xmlns:a16="http://schemas.microsoft.com/office/drawing/2014/main" id="{6F241967-3A0F-1E4D-6375-9832F531C955}"/>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59166" t="39627" r="31417" b="41778"/>
          <a:stretch/>
        </p:blipFill>
        <p:spPr>
          <a:xfrm>
            <a:off x="11442419" y="75771"/>
            <a:ext cx="471976" cy="503746"/>
          </a:xfrm>
          <a:prstGeom prst="rect">
            <a:avLst/>
          </a:prstGeom>
        </p:spPr>
      </p:pic>
      <p:sp>
        <p:nvSpPr>
          <p:cNvPr id="2" name="Título 1">
            <a:extLst>
              <a:ext uri="{FF2B5EF4-FFF2-40B4-BE49-F238E27FC236}">
                <a16:creationId xmlns:a16="http://schemas.microsoft.com/office/drawing/2014/main" id="{3073BC65-66CB-742F-E7D1-719647B6BB04}"/>
              </a:ext>
            </a:extLst>
          </p:cNvPr>
          <p:cNvSpPr>
            <a:spLocks noGrp="1" noRot="1" noMove="1" noResize="1" noEditPoints="1" noAdjustHandles="1" noChangeArrowheads="1" noChangeShapeType="1"/>
          </p:cNvSpPr>
          <p:nvPr>
            <p:ph type="title" hasCustomPrompt="1"/>
          </p:nvPr>
        </p:nvSpPr>
        <p:spPr>
          <a:xfrm>
            <a:off x="330200" y="126683"/>
            <a:ext cx="3042920" cy="315912"/>
          </a:xfrm>
        </p:spPr>
        <p:txBody>
          <a:bodyPr>
            <a:noAutofit/>
          </a:bodyPr>
          <a:lstStyle>
            <a:lvl1pPr>
              <a:defRPr sz="1600" b="1">
                <a:solidFill>
                  <a:schemeClr val="bg2"/>
                </a:solidFill>
              </a:defRPr>
            </a:lvl1pPr>
          </a:lstStyle>
          <a:p>
            <a:r>
              <a:rPr lang="es-ES" dirty="0"/>
              <a:t>[Para tres Empresas]</a:t>
            </a:r>
            <a:endParaRPr lang="es-CL" dirty="0"/>
          </a:p>
        </p:txBody>
      </p:sp>
      <p:sp>
        <p:nvSpPr>
          <p:cNvPr id="3" name="Marcador de contenido 2">
            <a:extLst>
              <a:ext uri="{FF2B5EF4-FFF2-40B4-BE49-F238E27FC236}">
                <a16:creationId xmlns:a16="http://schemas.microsoft.com/office/drawing/2014/main" id="{8176296B-2803-99C3-E086-B1D9E581FB9F}"/>
              </a:ext>
            </a:extLst>
          </p:cNvPr>
          <p:cNvSpPr>
            <a:spLocks noGrp="1" noRot="1" noMove="1" noResize="1" noEditPoints="1" noAdjustHandles="1" noChangeArrowheads="1" noChangeShapeType="1"/>
          </p:cNvSpPr>
          <p:nvPr>
            <p:ph idx="1"/>
          </p:nvPr>
        </p:nvSpPr>
        <p:spPr>
          <a:xfrm>
            <a:off x="330200" y="1117123"/>
            <a:ext cx="11557000" cy="483854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dirty="0"/>
          </a:p>
        </p:txBody>
      </p:sp>
      <p:sp>
        <p:nvSpPr>
          <p:cNvPr id="6" name="Marcador de número de diapositiva 5">
            <a:extLst>
              <a:ext uri="{FF2B5EF4-FFF2-40B4-BE49-F238E27FC236}">
                <a16:creationId xmlns:a16="http://schemas.microsoft.com/office/drawing/2014/main" id="{2532A733-770F-17A8-A28F-E809E536EB06}"/>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2"/>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5B2A9F76-F1D9-BFAE-4E79-AD016DC11DDB}"/>
              </a:ext>
            </a:extLst>
          </p:cNvPr>
          <p:cNvSpPr>
            <a:spLocks/>
          </p:cNvSpPr>
          <p:nvPr/>
        </p:nvSpPr>
        <p:spPr>
          <a:xfrm>
            <a:off x="0" y="716439"/>
            <a:ext cx="12192000" cy="54000"/>
          </a:xfrm>
          <a:prstGeom prst="rect">
            <a:avLst/>
          </a:prstGeom>
          <a:solidFill>
            <a:schemeClr val="accent1"/>
          </a:solid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solidFill>
                <a:schemeClr val="accent1"/>
              </a:solidFill>
            </a:endParaRPr>
          </a:p>
        </p:txBody>
      </p:sp>
      <p:pic>
        <p:nvPicPr>
          <p:cNvPr id="4" name="Imagen 3" descr="Logotipo&#10;&#10;Descripción generada automáticamente">
            <a:extLst>
              <a:ext uri="{FF2B5EF4-FFF2-40B4-BE49-F238E27FC236}">
                <a16:creationId xmlns:a16="http://schemas.microsoft.com/office/drawing/2014/main" id="{EE9925A4-E7C5-7355-8F04-DBFEADCC8B9D}"/>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66086" t="41594" r="23859" b="41159"/>
          <a:stretch/>
        </p:blipFill>
        <p:spPr>
          <a:xfrm>
            <a:off x="10970443" y="133379"/>
            <a:ext cx="444782" cy="429137"/>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66CD04C5-5F4C-1F5E-28C6-994103189D5D}"/>
              </a:ext>
            </a:extLst>
          </p:cNvPr>
          <p:cNvPicPr>
            <a:picLocks noGrp="1" noRot="1" noChangeAspect="1" noMove="1" noResize="1" noEditPoints="1" noAdjustHandles="1" noChangeArrowheads="1" noChangeShapeType="1" noCrop="1"/>
          </p:cNvPicPr>
          <p:nvPr/>
        </p:nvPicPr>
        <p:blipFill rotWithShape="1">
          <a:blip r:embed="rId4" cstate="print">
            <a:extLst>
              <a:ext uri="{28A0092B-C50C-407E-A947-70E740481C1C}">
                <a14:useLocalDpi xmlns:a14="http://schemas.microsoft.com/office/drawing/2010/main" val="0"/>
              </a:ext>
            </a:extLst>
          </a:blip>
          <a:srcRect l="66688" t="36963" r="19860" b="39084"/>
          <a:stretch/>
        </p:blipFill>
        <p:spPr>
          <a:xfrm>
            <a:off x="10510092" y="102371"/>
            <a:ext cx="471976" cy="472749"/>
          </a:xfrm>
          <a:prstGeom prst="rect">
            <a:avLst/>
          </a:prstGeom>
        </p:spPr>
      </p:pic>
      <p:grpSp>
        <p:nvGrpSpPr>
          <p:cNvPr id="17" name="Grupo 16">
            <a:extLst>
              <a:ext uri="{FF2B5EF4-FFF2-40B4-BE49-F238E27FC236}">
                <a16:creationId xmlns:a16="http://schemas.microsoft.com/office/drawing/2014/main" id="{22175FAC-163C-EC1A-E128-83D29FE67E8C}"/>
              </a:ext>
            </a:extLst>
          </p:cNvPr>
          <p:cNvGrpSpPr>
            <a:grpSpLocks noGrp="1" noUngrp="1" noRot="1" noMove="1" noResize="1"/>
          </p:cNvGrpSpPr>
          <p:nvPr/>
        </p:nvGrpSpPr>
        <p:grpSpPr>
          <a:xfrm>
            <a:off x="330200" y="6416593"/>
            <a:ext cx="3814681" cy="304882"/>
            <a:chOff x="717990" y="3332097"/>
            <a:chExt cx="10730146" cy="876191"/>
          </a:xfrm>
        </p:grpSpPr>
        <p:pic>
          <p:nvPicPr>
            <p:cNvPr id="14" name="Imagen 13" descr="Interfaz de usuario gráfica, Logotipo&#10;&#10;Descripción generada automáticamente">
              <a:extLst>
                <a:ext uri="{FF2B5EF4-FFF2-40B4-BE49-F238E27FC236}">
                  <a16:creationId xmlns:a16="http://schemas.microsoft.com/office/drawing/2014/main" id="{9381D2E3-1576-B2A8-77B3-F7B24EE592EE}"/>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val="0"/>
                </a:ext>
              </a:extLst>
            </a:blip>
            <a:srcRect l="31429" t="39683" r="30089" b="41390"/>
            <a:stretch/>
          </p:blipFill>
          <p:spPr>
            <a:xfrm>
              <a:off x="8654758" y="3386689"/>
              <a:ext cx="2793378" cy="772817"/>
            </a:xfrm>
            <a:prstGeom prst="rect">
              <a:avLst/>
            </a:prstGeom>
          </p:spPr>
        </p:pic>
        <p:pic>
          <p:nvPicPr>
            <p:cNvPr id="15" name="Imagen 14" descr="Logotipo&#10;&#10;Descripción generada automáticamente">
              <a:extLst>
                <a:ext uri="{FF2B5EF4-FFF2-40B4-BE49-F238E27FC236}">
                  <a16:creationId xmlns:a16="http://schemas.microsoft.com/office/drawing/2014/main" id="{03073938-2017-8B36-38CA-BAB58191E864}"/>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val="0"/>
                </a:ext>
              </a:extLst>
            </a:blip>
            <a:srcRect l="24752" t="40142" r="19087" b="39788"/>
            <a:stretch/>
          </p:blipFill>
          <p:spPr>
            <a:xfrm>
              <a:off x="4295868" y="3332097"/>
              <a:ext cx="4358890" cy="876191"/>
            </a:xfrm>
            <a:prstGeom prst="rect">
              <a:avLst/>
            </a:prstGeom>
          </p:spPr>
        </p:pic>
        <p:pic>
          <p:nvPicPr>
            <p:cNvPr id="16" name="Imagen 15" descr="Logotipo&#10;&#10;Descripción generada automáticamente con confianza media">
              <a:extLst>
                <a:ext uri="{FF2B5EF4-FFF2-40B4-BE49-F238E27FC236}">
                  <a16:creationId xmlns:a16="http://schemas.microsoft.com/office/drawing/2014/main" id="{2A5FFF06-8F69-D6D4-52CE-10B26D9CFB0C}"/>
                </a:ext>
              </a:extLst>
            </p:cNvPr>
            <p:cNvPicPr>
              <a:picLocks noGrp="1" noRot="1" noChangeAspect="1" noMove="1" noResize="1" noEditPoints="1" noAdjustHandles="1" noChangeArrowheads="1" noChangeShapeType="1" noCrop="1"/>
            </p:cNvPicPr>
            <p:nvPr userDrawn="1"/>
          </p:nvPicPr>
          <p:blipFill rotWithShape="1">
            <a:blip r:embed="rId7" cstate="print">
              <a:extLst>
                <a:ext uri="{28A0092B-C50C-407E-A947-70E740481C1C}">
                  <a14:useLocalDpi xmlns:a14="http://schemas.microsoft.com/office/drawing/2010/main" val="0"/>
                </a:ext>
              </a:extLst>
            </a:blip>
            <a:srcRect l="21780" t="37407" r="20664" b="38788"/>
            <a:stretch/>
          </p:blipFill>
          <p:spPr>
            <a:xfrm>
              <a:off x="717990" y="3383785"/>
              <a:ext cx="3321748" cy="772817"/>
            </a:xfrm>
            <a:prstGeom prst="rect">
              <a:avLst/>
            </a:prstGeom>
          </p:spPr>
        </p:pic>
      </p:grpSp>
    </p:spTree>
    <p:extLst>
      <p:ext uri="{BB962C8B-B14F-4D97-AF65-F5344CB8AC3E}">
        <p14:creationId xmlns:p14="http://schemas.microsoft.com/office/powerpoint/2010/main" val="1590237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ítulo y objetos">
    <p:bg>
      <p:bgPr>
        <a:solidFill>
          <a:schemeClr val="tx1"/>
        </a:solidFill>
        <a:effectLst/>
      </p:bgPr>
    </p:bg>
    <p:spTree>
      <p:nvGrpSpPr>
        <p:cNvPr id="1" name=""/>
        <p:cNvGrpSpPr/>
        <p:nvPr/>
      </p:nvGrpSpPr>
      <p:grpSpPr>
        <a:xfrm>
          <a:off x="0" y="0"/>
          <a:ext cx="0" cy="0"/>
          <a:chOff x="0" y="0"/>
          <a:chExt cx="0" cy="0"/>
        </a:xfrm>
      </p:grpSpPr>
      <p:pic>
        <p:nvPicPr>
          <p:cNvPr id="10" name="Imagen 9" descr="Interfaz de usuario gráfica, Logotipo&#10;&#10;Descripción generada automáticamente">
            <a:extLst>
              <a:ext uri="{FF2B5EF4-FFF2-40B4-BE49-F238E27FC236}">
                <a16:creationId xmlns:a16="http://schemas.microsoft.com/office/drawing/2014/main" id="{6F241967-3A0F-1E4D-6375-9832F531C955}"/>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59166" t="39627" r="31417" b="41778"/>
          <a:stretch/>
        </p:blipFill>
        <p:spPr>
          <a:xfrm>
            <a:off x="11442419" y="75771"/>
            <a:ext cx="471976" cy="503746"/>
          </a:xfrm>
          <a:prstGeom prst="rect">
            <a:avLst/>
          </a:prstGeom>
        </p:spPr>
      </p:pic>
      <p:sp>
        <p:nvSpPr>
          <p:cNvPr id="2" name="Título 1">
            <a:extLst>
              <a:ext uri="{FF2B5EF4-FFF2-40B4-BE49-F238E27FC236}">
                <a16:creationId xmlns:a16="http://schemas.microsoft.com/office/drawing/2014/main" id="{3073BC65-66CB-742F-E7D1-719647B6BB04}"/>
              </a:ext>
            </a:extLst>
          </p:cNvPr>
          <p:cNvSpPr>
            <a:spLocks noGrp="1" noRot="1" noMove="1" noResize="1" noEditPoints="1" noAdjustHandles="1" noChangeArrowheads="1" noChangeShapeType="1"/>
          </p:cNvSpPr>
          <p:nvPr>
            <p:ph type="title" hasCustomPrompt="1"/>
          </p:nvPr>
        </p:nvSpPr>
        <p:spPr>
          <a:xfrm>
            <a:off x="330200" y="126683"/>
            <a:ext cx="3042920" cy="315912"/>
          </a:xfrm>
        </p:spPr>
        <p:txBody>
          <a:bodyPr>
            <a:noAutofit/>
          </a:bodyPr>
          <a:lstStyle>
            <a:lvl1pPr>
              <a:defRPr sz="1600" b="1">
                <a:solidFill>
                  <a:schemeClr val="bg2"/>
                </a:solidFill>
              </a:defRPr>
            </a:lvl1pPr>
          </a:lstStyle>
          <a:p>
            <a:r>
              <a:rPr lang="es-ES" dirty="0"/>
              <a:t>[Para tres Empresas]</a:t>
            </a:r>
            <a:endParaRPr lang="es-CL" dirty="0"/>
          </a:p>
        </p:txBody>
      </p:sp>
      <p:sp>
        <p:nvSpPr>
          <p:cNvPr id="3" name="Marcador de contenido 2">
            <a:extLst>
              <a:ext uri="{FF2B5EF4-FFF2-40B4-BE49-F238E27FC236}">
                <a16:creationId xmlns:a16="http://schemas.microsoft.com/office/drawing/2014/main" id="{8176296B-2803-99C3-E086-B1D9E581FB9F}"/>
              </a:ext>
            </a:extLst>
          </p:cNvPr>
          <p:cNvSpPr>
            <a:spLocks noGrp="1" noRot="1" noMove="1" noResize="1" noEditPoints="1" noAdjustHandles="1" noChangeArrowheads="1" noChangeShapeType="1"/>
          </p:cNvSpPr>
          <p:nvPr>
            <p:ph idx="1"/>
          </p:nvPr>
        </p:nvSpPr>
        <p:spPr>
          <a:xfrm>
            <a:off x="330200" y="1117123"/>
            <a:ext cx="11557000" cy="483854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dirty="0"/>
          </a:p>
        </p:txBody>
      </p:sp>
      <p:sp>
        <p:nvSpPr>
          <p:cNvPr id="6" name="Marcador de número de diapositiva 5">
            <a:extLst>
              <a:ext uri="{FF2B5EF4-FFF2-40B4-BE49-F238E27FC236}">
                <a16:creationId xmlns:a16="http://schemas.microsoft.com/office/drawing/2014/main" id="{2532A733-770F-17A8-A28F-E809E536EB06}"/>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2"/>
                </a:solidFill>
              </a:defRPr>
            </a:lvl1pPr>
          </a:lstStyle>
          <a:p>
            <a:fld id="{040A357F-9693-446B-B851-CFA52F9A264B}" type="slidenum">
              <a:rPr lang="es-CL" smtClean="0"/>
              <a:t>‹Nº›</a:t>
            </a:fld>
            <a:endParaRPr lang="es-CL"/>
          </a:p>
        </p:txBody>
      </p:sp>
      <p:sp>
        <p:nvSpPr>
          <p:cNvPr id="7" name="Rectángulo 6">
            <a:extLst>
              <a:ext uri="{FF2B5EF4-FFF2-40B4-BE49-F238E27FC236}">
                <a16:creationId xmlns:a16="http://schemas.microsoft.com/office/drawing/2014/main" id="{5B2A9F76-F1D9-BFAE-4E79-AD016DC11DDB}"/>
              </a:ext>
            </a:extLst>
          </p:cNvPr>
          <p:cNvSpPr>
            <a:spLocks/>
          </p:cNvSpPr>
          <p:nvPr/>
        </p:nvSpPr>
        <p:spPr>
          <a:xfrm>
            <a:off x="0" y="716439"/>
            <a:ext cx="12192000" cy="54000"/>
          </a:xfrm>
          <a:prstGeom prst="rect">
            <a:avLst/>
          </a:prstGeom>
          <a:solidFill>
            <a:schemeClr val="accent1"/>
          </a:solid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solidFill>
                <a:schemeClr val="accent1"/>
              </a:solidFill>
            </a:endParaRPr>
          </a:p>
        </p:txBody>
      </p:sp>
      <p:pic>
        <p:nvPicPr>
          <p:cNvPr id="4" name="Imagen 3" descr="Logotipo&#10;&#10;Descripción generada automáticamente">
            <a:extLst>
              <a:ext uri="{FF2B5EF4-FFF2-40B4-BE49-F238E27FC236}">
                <a16:creationId xmlns:a16="http://schemas.microsoft.com/office/drawing/2014/main" id="{EE9925A4-E7C5-7355-8F04-DBFEADCC8B9D}"/>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66086" t="41594" r="23859" b="41159"/>
          <a:stretch/>
        </p:blipFill>
        <p:spPr>
          <a:xfrm>
            <a:off x="10970443" y="133379"/>
            <a:ext cx="444782" cy="429137"/>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66CD04C5-5F4C-1F5E-28C6-994103189D5D}"/>
              </a:ext>
            </a:extLst>
          </p:cNvPr>
          <p:cNvPicPr>
            <a:picLocks noGrp="1" noRot="1" noChangeAspect="1" noMove="1" noResize="1" noEditPoints="1" noAdjustHandles="1" noChangeArrowheads="1" noChangeShapeType="1" noCrop="1"/>
          </p:cNvPicPr>
          <p:nvPr/>
        </p:nvPicPr>
        <p:blipFill rotWithShape="1">
          <a:blip r:embed="rId4" cstate="print">
            <a:extLst>
              <a:ext uri="{28A0092B-C50C-407E-A947-70E740481C1C}">
                <a14:useLocalDpi xmlns:a14="http://schemas.microsoft.com/office/drawing/2010/main" val="0"/>
              </a:ext>
            </a:extLst>
          </a:blip>
          <a:srcRect l="66688" t="36963" r="19860" b="39084"/>
          <a:stretch/>
        </p:blipFill>
        <p:spPr>
          <a:xfrm>
            <a:off x="10510092" y="102371"/>
            <a:ext cx="471976" cy="472749"/>
          </a:xfrm>
          <a:prstGeom prst="rect">
            <a:avLst/>
          </a:prstGeom>
        </p:spPr>
      </p:pic>
    </p:spTree>
    <p:extLst>
      <p:ext uri="{BB962C8B-B14F-4D97-AF65-F5344CB8AC3E}">
        <p14:creationId xmlns:p14="http://schemas.microsoft.com/office/powerpoint/2010/main" val="4166908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ación">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B4579-338A-7A65-7257-6C0BCC0568CA}"/>
              </a:ext>
            </a:extLst>
          </p:cNvPr>
          <p:cNvSpPr>
            <a:spLocks noGrp="1"/>
          </p:cNvSpPr>
          <p:nvPr>
            <p:ph type="title" hasCustomPrompt="1"/>
          </p:nvPr>
        </p:nvSpPr>
        <p:spPr>
          <a:xfrm>
            <a:off x="839788" y="365126"/>
            <a:ext cx="10515600" cy="605082"/>
          </a:xfrm>
        </p:spPr>
        <p:txBody>
          <a:bodyPr>
            <a:normAutofit/>
          </a:bodyPr>
          <a:lstStyle>
            <a:lvl1pPr>
              <a:defRPr sz="3000">
                <a:solidFill>
                  <a:schemeClr val="bg2"/>
                </a:solidFill>
              </a:defRPr>
            </a:lvl1pPr>
          </a:lstStyle>
          <a:p>
            <a:r>
              <a:rPr lang="es-ES" dirty="0"/>
              <a:t>Colores Corporativos [Para gráficos]</a:t>
            </a:r>
            <a:endParaRPr lang="es-CL" dirty="0"/>
          </a:p>
        </p:txBody>
      </p:sp>
      <p:sp>
        <p:nvSpPr>
          <p:cNvPr id="10" name="Google Shape;110;p21">
            <a:extLst>
              <a:ext uri="{FF2B5EF4-FFF2-40B4-BE49-F238E27FC236}">
                <a16:creationId xmlns:a16="http://schemas.microsoft.com/office/drawing/2014/main" id="{5BD40DBA-4614-3CB8-A68F-989C3E3B7A80}"/>
              </a:ext>
            </a:extLst>
          </p:cNvPr>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Colores Gráficos Gemco:</a:t>
            </a:r>
            <a:endParaRPr dirty="0">
              <a:solidFill>
                <a:schemeClr val="bg2"/>
              </a:solidFill>
            </a:endParaRPr>
          </a:p>
        </p:txBody>
      </p:sp>
      <p:sp>
        <p:nvSpPr>
          <p:cNvPr id="11" name="Rectángulo: esquinas redondeadas 10">
            <a:extLst>
              <a:ext uri="{FF2B5EF4-FFF2-40B4-BE49-F238E27FC236}">
                <a16:creationId xmlns:a16="http://schemas.microsoft.com/office/drawing/2014/main" id="{D3EDA6D2-5C02-B6CE-9F38-F9D1BDCE2FA9}"/>
              </a:ext>
            </a:extLst>
          </p:cNvPr>
          <p:cNvSpPr/>
          <p:nvPr/>
        </p:nvSpPr>
        <p:spPr>
          <a:xfrm>
            <a:off x="1051673" y="1909103"/>
            <a:ext cx="1382486" cy="1175657"/>
          </a:xfrm>
          <a:prstGeom prst="roundRect">
            <a:avLst/>
          </a:prstGeom>
          <a:solidFill>
            <a:srgbClr val="282DF0"/>
          </a:solidFill>
          <a:ln>
            <a:solidFill>
              <a:srgbClr val="282D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12" name="Rectángulo: esquinas redondeadas 11">
            <a:extLst>
              <a:ext uri="{FF2B5EF4-FFF2-40B4-BE49-F238E27FC236}">
                <a16:creationId xmlns:a16="http://schemas.microsoft.com/office/drawing/2014/main" id="{7D402414-3725-42D0-6A49-3CCCD4307C04}"/>
              </a:ext>
            </a:extLst>
          </p:cNvPr>
          <p:cNvSpPr/>
          <p:nvPr/>
        </p:nvSpPr>
        <p:spPr>
          <a:xfrm>
            <a:off x="2655987" y="1909102"/>
            <a:ext cx="1382486" cy="1175657"/>
          </a:xfrm>
          <a:prstGeom prst="roundRect">
            <a:avLst/>
          </a:prstGeom>
          <a:solidFill>
            <a:srgbClr val="28D2C3"/>
          </a:solidFill>
          <a:ln>
            <a:solidFill>
              <a:srgbClr val="28D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13" name="Rectángulo: esquinas redondeadas 12">
            <a:extLst>
              <a:ext uri="{FF2B5EF4-FFF2-40B4-BE49-F238E27FC236}">
                <a16:creationId xmlns:a16="http://schemas.microsoft.com/office/drawing/2014/main" id="{C1BA7221-A889-6908-4933-C5F7CBA3DA68}"/>
              </a:ext>
            </a:extLst>
          </p:cNvPr>
          <p:cNvSpPr/>
          <p:nvPr/>
        </p:nvSpPr>
        <p:spPr>
          <a:xfrm>
            <a:off x="4260301" y="1909102"/>
            <a:ext cx="1382486" cy="1175657"/>
          </a:xfrm>
          <a:prstGeom prst="roundRect">
            <a:avLst/>
          </a:prstGeom>
          <a:solidFill>
            <a:srgbClr val="373C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14" name="Google Shape;110;p21">
            <a:extLst>
              <a:ext uri="{FF2B5EF4-FFF2-40B4-BE49-F238E27FC236}">
                <a16:creationId xmlns:a16="http://schemas.microsoft.com/office/drawing/2014/main" id="{009F6B01-38A0-66A9-5C90-023200DA5DB5}"/>
              </a:ext>
            </a:extLst>
          </p:cNvPr>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40 45 240 </a:t>
            </a:r>
            <a:endParaRPr dirty="0">
              <a:solidFill>
                <a:schemeClr val="bg2"/>
              </a:solidFill>
            </a:endParaRPr>
          </a:p>
        </p:txBody>
      </p:sp>
      <p:sp>
        <p:nvSpPr>
          <p:cNvPr id="15" name="Google Shape;110;p21">
            <a:extLst>
              <a:ext uri="{FF2B5EF4-FFF2-40B4-BE49-F238E27FC236}">
                <a16:creationId xmlns:a16="http://schemas.microsoft.com/office/drawing/2014/main" id="{5F963D25-AB39-14EB-88E2-FE7DC0BBCA30}"/>
              </a:ext>
            </a:extLst>
          </p:cNvPr>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40 210  195 </a:t>
            </a:r>
            <a:endParaRPr dirty="0">
              <a:solidFill>
                <a:schemeClr val="bg2"/>
              </a:solidFill>
            </a:endParaRPr>
          </a:p>
        </p:txBody>
      </p:sp>
      <p:sp>
        <p:nvSpPr>
          <p:cNvPr id="16" name="Google Shape;110;p21">
            <a:extLst>
              <a:ext uri="{FF2B5EF4-FFF2-40B4-BE49-F238E27FC236}">
                <a16:creationId xmlns:a16="http://schemas.microsoft.com/office/drawing/2014/main" id="{7A856AB4-4682-4B68-11BF-0370CE42800B}"/>
              </a:ext>
            </a:extLst>
          </p:cNvPr>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55 60 70 </a:t>
            </a:r>
            <a:endParaRPr dirty="0">
              <a:solidFill>
                <a:schemeClr val="bg2"/>
              </a:solidFill>
            </a:endParaRPr>
          </a:p>
        </p:txBody>
      </p:sp>
      <p:sp>
        <p:nvSpPr>
          <p:cNvPr id="17" name="Google Shape;110;p21">
            <a:extLst>
              <a:ext uri="{FF2B5EF4-FFF2-40B4-BE49-F238E27FC236}">
                <a16:creationId xmlns:a16="http://schemas.microsoft.com/office/drawing/2014/main" id="{10EB496C-0A0C-4CAC-55DE-91ACF592BE2A}"/>
              </a:ext>
            </a:extLst>
          </p:cNvPr>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Colores Gráficos MMQ:</a:t>
            </a:r>
            <a:endParaRPr dirty="0">
              <a:solidFill>
                <a:schemeClr val="bg2"/>
              </a:solidFill>
            </a:endParaRPr>
          </a:p>
        </p:txBody>
      </p:sp>
      <p:sp>
        <p:nvSpPr>
          <p:cNvPr id="18" name="Rectángulo: esquinas redondeadas 17">
            <a:extLst>
              <a:ext uri="{FF2B5EF4-FFF2-40B4-BE49-F238E27FC236}">
                <a16:creationId xmlns:a16="http://schemas.microsoft.com/office/drawing/2014/main" id="{28C0BDD2-0BCE-ED20-46EE-B05A18820384}"/>
              </a:ext>
            </a:extLst>
          </p:cNvPr>
          <p:cNvSpPr/>
          <p:nvPr/>
        </p:nvSpPr>
        <p:spPr>
          <a:xfrm>
            <a:off x="1051673" y="4237780"/>
            <a:ext cx="1382486" cy="1175657"/>
          </a:xfrm>
          <a:prstGeom prst="roundRect">
            <a:avLst/>
          </a:prstGeom>
          <a:solidFill>
            <a:srgbClr val="0074BF"/>
          </a:solidFill>
          <a:ln>
            <a:solidFill>
              <a:srgbClr val="007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19" name="Rectángulo: esquinas redondeadas 18">
            <a:extLst>
              <a:ext uri="{FF2B5EF4-FFF2-40B4-BE49-F238E27FC236}">
                <a16:creationId xmlns:a16="http://schemas.microsoft.com/office/drawing/2014/main" id="{6F613421-517D-AD00-97D6-64F75ED3C699}"/>
              </a:ext>
            </a:extLst>
          </p:cNvPr>
          <p:cNvSpPr/>
          <p:nvPr/>
        </p:nvSpPr>
        <p:spPr>
          <a:xfrm>
            <a:off x="2655987" y="4237779"/>
            <a:ext cx="1382486" cy="1175657"/>
          </a:xfrm>
          <a:prstGeom prst="roundRect">
            <a:avLst/>
          </a:prstGeom>
          <a:solidFill>
            <a:srgbClr val="FF7016"/>
          </a:solidFill>
          <a:ln>
            <a:solidFill>
              <a:srgbClr val="FF70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20" name="Rectángulo: esquinas redondeadas 19">
            <a:extLst>
              <a:ext uri="{FF2B5EF4-FFF2-40B4-BE49-F238E27FC236}">
                <a16:creationId xmlns:a16="http://schemas.microsoft.com/office/drawing/2014/main" id="{3A069209-A6AC-83F3-8D26-48D87619A4DC}"/>
              </a:ext>
            </a:extLst>
          </p:cNvPr>
          <p:cNvSpPr/>
          <p:nvPr/>
        </p:nvSpPr>
        <p:spPr>
          <a:xfrm>
            <a:off x="4260301" y="4237779"/>
            <a:ext cx="1382486" cy="1175657"/>
          </a:xfrm>
          <a:prstGeom prst="roundRect">
            <a:avLst/>
          </a:prstGeom>
          <a:solidFill>
            <a:srgbClr val="373C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21" name="Google Shape;110;p21">
            <a:extLst>
              <a:ext uri="{FF2B5EF4-FFF2-40B4-BE49-F238E27FC236}">
                <a16:creationId xmlns:a16="http://schemas.microsoft.com/office/drawing/2014/main" id="{AC91902C-BC9B-23BA-4D2C-C0E084B3E63A}"/>
              </a:ext>
            </a:extLst>
          </p:cNvPr>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0  116 191</a:t>
            </a:r>
            <a:endParaRPr dirty="0">
              <a:solidFill>
                <a:schemeClr val="bg2"/>
              </a:solidFill>
            </a:endParaRPr>
          </a:p>
        </p:txBody>
      </p:sp>
      <p:sp>
        <p:nvSpPr>
          <p:cNvPr id="22" name="Google Shape;110;p21">
            <a:extLst>
              <a:ext uri="{FF2B5EF4-FFF2-40B4-BE49-F238E27FC236}">
                <a16:creationId xmlns:a16="http://schemas.microsoft.com/office/drawing/2014/main" id="{D6E20E96-94A1-3749-6989-790603387C89}"/>
              </a:ext>
            </a:extLst>
          </p:cNvPr>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255 132 37 </a:t>
            </a:r>
            <a:endParaRPr dirty="0">
              <a:solidFill>
                <a:schemeClr val="bg2"/>
              </a:solidFill>
            </a:endParaRPr>
          </a:p>
        </p:txBody>
      </p:sp>
      <p:sp>
        <p:nvSpPr>
          <p:cNvPr id="23" name="Google Shape;110;p21">
            <a:extLst>
              <a:ext uri="{FF2B5EF4-FFF2-40B4-BE49-F238E27FC236}">
                <a16:creationId xmlns:a16="http://schemas.microsoft.com/office/drawing/2014/main" id="{7AED9F46-357F-F742-C743-A98E140C95DC}"/>
              </a:ext>
            </a:extLst>
          </p:cNvPr>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55 60 70 </a:t>
            </a:r>
            <a:endParaRPr dirty="0">
              <a:solidFill>
                <a:schemeClr val="bg2"/>
              </a:solidFill>
            </a:endParaRPr>
          </a:p>
        </p:txBody>
      </p:sp>
      <p:sp>
        <p:nvSpPr>
          <p:cNvPr id="24" name="Google Shape;110;p21">
            <a:extLst>
              <a:ext uri="{FF2B5EF4-FFF2-40B4-BE49-F238E27FC236}">
                <a16:creationId xmlns:a16="http://schemas.microsoft.com/office/drawing/2014/main" id="{C9A42E2F-2306-8459-78DA-9201C1301046}"/>
              </a:ext>
            </a:extLst>
          </p:cNvPr>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Colores Gráficos Incardia:</a:t>
            </a:r>
            <a:endParaRPr dirty="0">
              <a:solidFill>
                <a:schemeClr val="bg2"/>
              </a:solidFill>
            </a:endParaRPr>
          </a:p>
        </p:txBody>
      </p:sp>
      <p:sp>
        <p:nvSpPr>
          <p:cNvPr id="25" name="Rectángulo: esquinas redondeadas 24">
            <a:extLst>
              <a:ext uri="{FF2B5EF4-FFF2-40B4-BE49-F238E27FC236}">
                <a16:creationId xmlns:a16="http://schemas.microsoft.com/office/drawing/2014/main" id="{5109D8DB-1899-7ABB-1746-5A624427D252}"/>
              </a:ext>
            </a:extLst>
          </p:cNvPr>
          <p:cNvSpPr/>
          <p:nvPr/>
        </p:nvSpPr>
        <p:spPr>
          <a:xfrm>
            <a:off x="6725915" y="3257282"/>
            <a:ext cx="1382486" cy="1175657"/>
          </a:xfrm>
          <a:prstGeom prst="roundRect">
            <a:avLst/>
          </a:prstGeom>
          <a:solidFill>
            <a:srgbClr val="D30101"/>
          </a:solidFill>
          <a:ln>
            <a:solidFill>
              <a:srgbClr val="D301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26" name="Rectángulo: esquinas redondeadas 25">
            <a:extLst>
              <a:ext uri="{FF2B5EF4-FFF2-40B4-BE49-F238E27FC236}">
                <a16:creationId xmlns:a16="http://schemas.microsoft.com/office/drawing/2014/main" id="{4110C25B-36AD-BF92-2E4F-D2E4914020EC}"/>
              </a:ext>
            </a:extLst>
          </p:cNvPr>
          <p:cNvSpPr/>
          <p:nvPr/>
        </p:nvSpPr>
        <p:spPr>
          <a:xfrm>
            <a:off x="8330229" y="3257281"/>
            <a:ext cx="1382486" cy="1175657"/>
          </a:xfrm>
          <a:prstGeom prst="roundRect">
            <a:avLst/>
          </a:prstGeom>
          <a:solidFill>
            <a:srgbClr val="28D2C3"/>
          </a:solidFill>
          <a:ln>
            <a:solidFill>
              <a:srgbClr val="28D2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27" name="Rectángulo: esquinas redondeadas 26">
            <a:extLst>
              <a:ext uri="{FF2B5EF4-FFF2-40B4-BE49-F238E27FC236}">
                <a16:creationId xmlns:a16="http://schemas.microsoft.com/office/drawing/2014/main" id="{80B71F4D-4746-2637-33F3-83226D5FC414}"/>
              </a:ext>
            </a:extLst>
          </p:cNvPr>
          <p:cNvSpPr/>
          <p:nvPr/>
        </p:nvSpPr>
        <p:spPr>
          <a:xfrm>
            <a:off x="9972902" y="3257281"/>
            <a:ext cx="1382486" cy="1175657"/>
          </a:xfrm>
          <a:prstGeom prst="roundRect">
            <a:avLst/>
          </a:prstGeom>
          <a:solidFill>
            <a:srgbClr val="373C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bg2"/>
              </a:solidFill>
            </a:endParaRPr>
          </a:p>
        </p:txBody>
      </p:sp>
      <p:sp>
        <p:nvSpPr>
          <p:cNvPr id="28" name="Google Shape;110;p21">
            <a:extLst>
              <a:ext uri="{FF2B5EF4-FFF2-40B4-BE49-F238E27FC236}">
                <a16:creationId xmlns:a16="http://schemas.microsoft.com/office/drawing/2014/main" id="{05AEA127-B260-DD47-C3D0-5E036B818496}"/>
              </a:ext>
            </a:extLst>
          </p:cNvPr>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lvl="0"/>
            <a:r>
              <a:rPr lang="es" sz="1050" dirty="0">
                <a:solidFill>
                  <a:schemeClr val="bg2"/>
                </a:solidFill>
                <a:highlight>
                  <a:srgbClr val="FFFFFF"/>
                </a:highlight>
              </a:rPr>
              <a:t>RGB : 210 01 01</a:t>
            </a:r>
            <a:endParaRPr dirty="0">
              <a:solidFill>
                <a:schemeClr val="bg2"/>
              </a:solidFill>
            </a:endParaRPr>
          </a:p>
        </p:txBody>
      </p:sp>
      <p:sp>
        <p:nvSpPr>
          <p:cNvPr id="29" name="Google Shape;110;p21">
            <a:extLst>
              <a:ext uri="{FF2B5EF4-FFF2-40B4-BE49-F238E27FC236}">
                <a16:creationId xmlns:a16="http://schemas.microsoft.com/office/drawing/2014/main" id="{42EB0379-6835-7562-97C1-6034C83E20A5}"/>
              </a:ext>
            </a:extLst>
          </p:cNvPr>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40 210  195 </a:t>
            </a:r>
            <a:endParaRPr dirty="0">
              <a:solidFill>
                <a:schemeClr val="bg2"/>
              </a:solidFill>
            </a:endParaRPr>
          </a:p>
        </p:txBody>
      </p:sp>
      <p:sp>
        <p:nvSpPr>
          <p:cNvPr id="30" name="Google Shape;110;p21">
            <a:extLst>
              <a:ext uri="{FF2B5EF4-FFF2-40B4-BE49-F238E27FC236}">
                <a16:creationId xmlns:a16="http://schemas.microsoft.com/office/drawing/2014/main" id="{47345A2F-57B8-A0C9-48EF-8B13DBBC693E}"/>
              </a:ext>
            </a:extLst>
          </p:cNvPr>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050" dirty="0">
                <a:solidFill>
                  <a:schemeClr val="bg2"/>
                </a:solidFill>
                <a:highlight>
                  <a:srgbClr val="FFFFFF"/>
                </a:highlight>
              </a:rPr>
              <a:t>RGB : 55 60 70 </a:t>
            </a:r>
            <a:endParaRPr dirty="0">
              <a:solidFill>
                <a:schemeClr val="bg2"/>
              </a:solidFill>
            </a:endParaRPr>
          </a:p>
        </p:txBody>
      </p:sp>
      <p:pic>
        <p:nvPicPr>
          <p:cNvPr id="31" name="Imagen 30" descr="Interfaz de usuario gráfica, Logotipo&#10;&#10;Descripción generada automáticamente">
            <a:extLst>
              <a:ext uri="{FF2B5EF4-FFF2-40B4-BE49-F238E27FC236}">
                <a16:creationId xmlns:a16="http://schemas.microsoft.com/office/drawing/2014/main" id="{95E1A922-4A45-7BAC-540B-8940AC38254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429" t="39683" r="30089" b="41390"/>
          <a:stretch/>
        </p:blipFill>
        <p:spPr>
          <a:xfrm>
            <a:off x="8373335" y="6159751"/>
            <a:ext cx="1105337" cy="305803"/>
          </a:xfrm>
          <a:prstGeom prst="rect">
            <a:avLst/>
          </a:prstGeom>
        </p:spPr>
      </p:pic>
      <p:pic>
        <p:nvPicPr>
          <p:cNvPr id="32" name="Imagen 31" descr="Logotipo&#10;&#10;Descripción generada automáticamente">
            <a:extLst>
              <a:ext uri="{FF2B5EF4-FFF2-40B4-BE49-F238E27FC236}">
                <a16:creationId xmlns:a16="http://schemas.microsoft.com/office/drawing/2014/main" id="{6A405FD2-9FDD-8D3B-93E3-6E043F441C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752" t="40142" r="19087" b="39788"/>
          <a:stretch/>
        </p:blipFill>
        <p:spPr>
          <a:xfrm>
            <a:off x="9478672" y="6132431"/>
            <a:ext cx="1793138" cy="360443"/>
          </a:xfrm>
          <a:prstGeom prst="rect">
            <a:avLst/>
          </a:prstGeom>
        </p:spPr>
      </p:pic>
      <p:pic>
        <p:nvPicPr>
          <p:cNvPr id="33" name="Imagen 32" descr="Logotipo&#10;&#10;Descripción generada automáticamente con confianza media">
            <a:extLst>
              <a:ext uri="{FF2B5EF4-FFF2-40B4-BE49-F238E27FC236}">
                <a16:creationId xmlns:a16="http://schemas.microsoft.com/office/drawing/2014/main" id="{F8860255-9151-52E6-EBF5-5471172CC4A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780" t="37407" r="20664" b="38788"/>
          <a:stretch/>
        </p:blipFill>
        <p:spPr>
          <a:xfrm>
            <a:off x="6955017" y="6158486"/>
            <a:ext cx="1325283" cy="308332"/>
          </a:xfrm>
          <a:prstGeom prst="rect">
            <a:avLst/>
          </a:prstGeom>
        </p:spPr>
      </p:pic>
    </p:spTree>
    <p:extLst>
      <p:ext uri="{BB962C8B-B14F-4D97-AF65-F5344CB8AC3E}">
        <p14:creationId xmlns:p14="http://schemas.microsoft.com/office/powerpoint/2010/main" val="221535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Comparación">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B4579-338A-7A65-7257-6C0BCC0568CA}"/>
              </a:ext>
            </a:extLst>
          </p:cNvPr>
          <p:cNvSpPr>
            <a:spLocks noGrp="1"/>
          </p:cNvSpPr>
          <p:nvPr>
            <p:ph type="title" hasCustomPrompt="1"/>
          </p:nvPr>
        </p:nvSpPr>
        <p:spPr>
          <a:xfrm>
            <a:off x="839788" y="365126"/>
            <a:ext cx="10515600" cy="605082"/>
          </a:xfrm>
        </p:spPr>
        <p:txBody>
          <a:bodyPr>
            <a:normAutofit/>
          </a:bodyPr>
          <a:lstStyle>
            <a:lvl1pPr>
              <a:defRPr sz="3000" b="0">
                <a:solidFill>
                  <a:schemeClr val="bg2"/>
                </a:solidFill>
              </a:defRPr>
            </a:lvl1pPr>
          </a:lstStyle>
          <a:p>
            <a:r>
              <a:rPr lang="es-ES" dirty="0"/>
              <a:t>Gráficos Gemco</a:t>
            </a:r>
            <a:endParaRPr lang="es-CL" dirty="0"/>
          </a:p>
        </p:txBody>
      </p:sp>
      <p:graphicFrame>
        <p:nvGraphicFramePr>
          <p:cNvPr id="5" name="Gráfico 4">
            <a:extLst>
              <a:ext uri="{FF2B5EF4-FFF2-40B4-BE49-F238E27FC236}">
                <a16:creationId xmlns:a16="http://schemas.microsoft.com/office/drawing/2014/main" id="{34C931E2-B3C4-739C-1E06-364DC44254A8}"/>
              </a:ext>
            </a:extLst>
          </p:cNvPr>
          <p:cNvGraphicFramePr/>
          <p:nvPr>
            <p:extLst>
              <p:ext uri="{D42A27DB-BD31-4B8C-83A1-F6EECF244321}">
                <p14:modId xmlns:p14="http://schemas.microsoft.com/office/powerpoint/2010/main" val="1975693941"/>
              </p:ext>
            </p:extLst>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Gráfico 5">
            <a:extLst>
              <a:ext uri="{FF2B5EF4-FFF2-40B4-BE49-F238E27FC236}">
                <a16:creationId xmlns:a16="http://schemas.microsoft.com/office/drawing/2014/main" id="{20C6CDBD-BD9D-9439-7E37-8E62DB61EF1A}"/>
              </a:ext>
            </a:extLst>
          </p:cNvPr>
          <p:cNvGraphicFramePr/>
          <p:nvPr>
            <p:extLst>
              <p:ext uri="{D42A27DB-BD31-4B8C-83A1-F6EECF244321}">
                <p14:modId xmlns:p14="http://schemas.microsoft.com/office/powerpoint/2010/main" val="3965968520"/>
              </p:ext>
            </p:extLst>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Gráfico 6">
            <a:extLst>
              <a:ext uri="{FF2B5EF4-FFF2-40B4-BE49-F238E27FC236}">
                <a16:creationId xmlns:a16="http://schemas.microsoft.com/office/drawing/2014/main" id="{C233A2C1-CCFD-74D2-BD71-080C75C39C0F}"/>
              </a:ext>
            </a:extLst>
          </p:cNvPr>
          <p:cNvGraphicFramePr/>
          <p:nvPr>
            <p:extLst>
              <p:ext uri="{D42A27DB-BD31-4B8C-83A1-F6EECF244321}">
                <p14:modId xmlns:p14="http://schemas.microsoft.com/office/powerpoint/2010/main" val="2664241132"/>
              </p:ext>
            </p:extLst>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agen 7" descr="Logotipo&#10;&#10;Descripción generada automáticamente con confianza media">
            <a:extLst>
              <a:ext uri="{FF2B5EF4-FFF2-40B4-BE49-F238E27FC236}">
                <a16:creationId xmlns:a16="http://schemas.microsoft.com/office/drawing/2014/main" id="{2587871F-EA31-D514-ABFC-B1F6C0B428B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0891" t="36963" r="19860" b="39084"/>
          <a:stretch/>
        </p:blipFill>
        <p:spPr>
          <a:xfrm>
            <a:off x="330200" y="6399764"/>
            <a:ext cx="1223729" cy="278296"/>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9A727BAB-D387-264E-6CD9-3E92AB46FD9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6688" t="36963" r="19860" b="39084"/>
          <a:stretch/>
        </p:blipFill>
        <p:spPr>
          <a:xfrm>
            <a:off x="11415224" y="126683"/>
            <a:ext cx="471976" cy="472749"/>
          </a:xfrm>
          <a:prstGeom prst="rect">
            <a:avLst/>
          </a:prstGeom>
        </p:spPr>
      </p:pic>
    </p:spTree>
    <p:extLst>
      <p:ext uri="{BB962C8B-B14F-4D97-AF65-F5344CB8AC3E}">
        <p14:creationId xmlns:p14="http://schemas.microsoft.com/office/powerpoint/2010/main" val="1293790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Comparación">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B4579-338A-7A65-7257-6C0BCC0568CA}"/>
              </a:ext>
            </a:extLst>
          </p:cNvPr>
          <p:cNvSpPr>
            <a:spLocks noGrp="1"/>
          </p:cNvSpPr>
          <p:nvPr>
            <p:ph type="title" hasCustomPrompt="1"/>
          </p:nvPr>
        </p:nvSpPr>
        <p:spPr>
          <a:xfrm>
            <a:off x="839788" y="365126"/>
            <a:ext cx="10515600" cy="605082"/>
          </a:xfrm>
        </p:spPr>
        <p:txBody>
          <a:bodyPr>
            <a:normAutofit/>
          </a:bodyPr>
          <a:lstStyle>
            <a:lvl1pPr>
              <a:defRPr sz="3000" b="0">
                <a:solidFill>
                  <a:schemeClr val="bg2"/>
                </a:solidFill>
              </a:defRPr>
            </a:lvl1pPr>
          </a:lstStyle>
          <a:p>
            <a:r>
              <a:rPr lang="es-ES" dirty="0"/>
              <a:t>Gráficos </a:t>
            </a:r>
            <a:r>
              <a:rPr lang="es-ES" dirty="0" err="1"/>
              <a:t>Incardia</a:t>
            </a:r>
            <a:endParaRPr lang="es-CL" dirty="0"/>
          </a:p>
        </p:txBody>
      </p:sp>
      <p:pic>
        <p:nvPicPr>
          <p:cNvPr id="8" name="Imagen 7" descr="Logotipo&#10;&#10;Descripción generada automáticamente">
            <a:extLst>
              <a:ext uri="{FF2B5EF4-FFF2-40B4-BE49-F238E27FC236}">
                <a16:creationId xmlns:a16="http://schemas.microsoft.com/office/drawing/2014/main" id="{A03014A7-8803-1111-A52E-2C4E7E7A41B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782" t="41594" r="23859" b="41159"/>
          <a:stretch/>
        </p:blipFill>
        <p:spPr>
          <a:xfrm>
            <a:off x="330200" y="6399764"/>
            <a:ext cx="1473330" cy="278296"/>
          </a:xfrm>
          <a:prstGeom prst="rect">
            <a:avLst/>
          </a:prstGeom>
        </p:spPr>
      </p:pic>
      <p:graphicFrame>
        <p:nvGraphicFramePr>
          <p:cNvPr id="10" name="Gráfico 9">
            <a:extLst>
              <a:ext uri="{FF2B5EF4-FFF2-40B4-BE49-F238E27FC236}">
                <a16:creationId xmlns:a16="http://schemas.microsoft.com/office/drawing/2014/main" id="{04CC33FB-7C5F-32FB-E459-100A191F98CB}"/>
              </a:ext>
            </a:extLst>
          </p:cNvPr>
          <p:cNvGraphicFramePr/>
          <p:nvPr>
            <p:extLst>
              <p:ext uri="{D42A27DB-BD31-4B8C-83A1-F6EECF244321}">
                <p14:modId xmlns:p14="http://schemas.microsoft.com/office/powerpoint/2010/main" val="2239461986"/>
              </p:ext>
            </p:extLst>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Gráfico 10">
            <a:extLst>
              <a:ext uri="{FF2B5EF4-FFF2-40B4-BE49-F238E27FC236}">
                <a16:creationId xmlns:a16="http://schemas.microsoft.com/office/drawing/2014/main" id="{C772BF0A-A1DE-5033-C30F-E3CD1B1F0C70}"/>
              </a:ext>
            </a:extLst>
          </p:cNvPr>
          <p:cNvGraphicFramePr/>
          <p:nvPr>
            <p:extLst>
              <p:ext uri="{D42A27DB-BD31-4B8C-83A1-F6EECF244321}">
                <p14:modId xmlns:p14="http://schemas.microsoft.com/office/powerpoint/2010/main" val="3691279021"/>
              </p:ext>
            </p:extLst>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Gráfico 11">
            <a:extLst>
              <a:ext uri="{FF2B5EF4-FFF2-40B4-BE49-F238E27FC236}">
                <a16:creationId xmlns:a16="http://schemas.microsoft.com/office/drawing/2014/main" id="{A00B4D20-264B-5BC6-5D6C-625D5E9C8F6D}"/>
              </a:ext>
            </a:extLst>
          </p:cNvPr>
          <p:cNvGraphicFramePr/>
          <p:nvPr>
            <p:extLst>
              <p:ext uri="{D42A27DB-BD31-4B8C-83A1-F6EECF244321}">
                <p14:modId xmlns:p14="http://schemas.microsoft.com/office/powerpoint/2010/main" val="4115772481"/>
              </p:ext>
            </p:extLst>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3" name="Imagen 12" descr="Logotipo&#10;&#10;Descripción generada automáticamente">
            <a:extLst>
              <a:ext uri="{FF2B5EF4-FFF2-40B4-BE49-F238E27FC236}">
                <a16:creationId xmlns:a16="http://schemas.microsoft.com/office/drawing/2014/main" id="{5DF41BE2-404C-DC85-CE54-8A659C504F2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6086" t="41594" r="23859" b="41159"/>
          <a:stretch/>
        </p:blipFill>
        <p:spPr>
          <a:xfrm>
            <a:off x="11415224" y="148488"/>
            <a:ext cx="444782" cy="429137"/>
          </a:xfrm>
          <a:prstGeom prst="rect">
            <a:avLst/>
          </a:prstGeom>
        </p:spPr>
      </p:pic>
    </p:spTree>
    <p:extLst>
      <p:ext uri="{BB962C8B-B14F-4D97-AF65-F5344CB8AC3E}">
        <p14:creationId xmlns:p14="http://schemas.microsoft.com/office/powerpoint/2010/main" val="2150168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Comparación">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B4579-338A-7A65-7257-6C0BCC0568CA}"/>
              </a:ext>
            </a:extLst>
          </p:cNvPr>
          <p:cNvSpPr>
            <a:spLocks noGrp="1"/>
          </p:cNvSpPr>
          <p:nvPr>
            <p:ph type="title" hasCustomPrompt="1"/>
          </p:nvPr>
        </p:nvSpPr>
        <p:spPr>
          <a:xfrm>
            <a:off x="839788" y="365126"/>
            <a:ext cx="10515600" cy="605082"/>
          </a:xfrm>
        </p:spPr>
        <p:txBody>
          <a:bodyPr>
            <a:normAutofit/>
          </a:bodyPr>
          <a:lstStyle>
            <a:lvl1pPr>
              <a:defRPr sz="3000" b="0">
                <a:solidFill>
                  <a:schemeClr val="bg2"/>
                </a:solidFill>
              </a:defRPr>
            </a:lvl1pPr>
          </a:lstStyle>
          <a:p>
            <a:r>
              <a:rPr lang="es-ES" dirty="0"/>
              <a:t>Gráficos MMQ</a:t>
            </a:r>
            <a:endParaRPr lang="es-CL" dirty="0"/>
          </a:p>
        </p:txBody>
      </p:sp>
      <p:graphicFrame>
        <p:nvGraphicFramePr>
          <p:cNvPr id="3" name="Gráfico 2">
            <a:extLst>
              <a:ext uri="{FF2B5EF4-FFF2-40B4-BE49-F238E27FC236}">
                <a16:creationId xmlns:a16="http://schemas.microsoft.com/office/drawing/2014/main" id="{C06FE752-731A-A2B2-8A90-EEFAFFC539AC}"/>
              </a:ext>
            </a:extLst>
          </p:cNvPr>
          <p:cNvGraphicFramePr/>
          <p:nvPr>
            <p:extLst>
              <p:ext uri="{D42A27DB-BD31-4B8C-83A1-F6EECF244321}">
                <p14:modId xmlns:p14="http://schemas.microsoft.com/office/powerpoint/2010/main" val="2312029918"/>
              </p:ext>
            </p:extLst>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Gráfico 3">
            <a:extLst>
              <a:ext uri="{FF2B5EF4-FFF2-40B4-BE49-F238E27FC236}">
                <a16:creationId xmlns:a16="http://schemas.microsoft.com/office/drawing/2014/main" id="{907D2D83-08E9-2390-DA1D-878BF5C582E9}"/>
              </a:ext>
            </a:extLst>
          </p:cNvPr>
          <p:cNvGraphicFramePr/>
          <p:nvPr>
            <p:extLst>
              <p:ext uri="{D42A27DB-BD31-4B8C-83A1-F6EECF244321}">
                <p14:modId xmlns:p14="http://schemas.microsoft.com/office/powerpoint/2010/main" val="1093564275"/>
              </p:ext>
            </p:extLst>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áfico 4">
            <a:extLst>
              <a:ext uri="{FF2B5EF4-FFF2-40B4-BE49-F238E27FC236}">
                <a16:creationId xmlns:a16="http://schemas.microsoft.com/office/drawing/2014/main" id="{F36D52B5-E99B-5112-91B1-859E8B231A9A}"/>
              </a:ext>
            </a:extLst>
          </p:cNvPr>
          <p:cNvGraphicFramePr/>
          <p:nvPr>
            <p:extLst>
              <p:ext uri="{D42A27DB-BD31-4B8C-83A1-F6EECF244321}">
                <p14:modId xmlns:p14="http://schemas.microsoft.com/office/powerpoint/2010/main" val="2325012202"/>
              </p:ext>
            </p:extLst>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6" name="Imagen 5" descr="Interfaz de usuario gráfica, Logotipo&#10;&#10;Descripción generada automáticamente">
            <a:extLst>
              <a:ext uri="{FF2B5EF4-FFF2-40B4-BE49-F238E27FC236}">
                <a16:creationId xmlns:a16="http://schemas.microsoft.com/office/drawing/2014/main" id="{6BB27844-E579-E385-0A99-04B248C6FDD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2750" t="39627" r="31417" b="41778"/>
          <a:stretch/>
        </p:blipFill>
        <p:spPr>
          <a:xfrm>
            <a:off x="351220" y="6369269"/>
            <a:ext cx="1057873" cy="308790"/>
          </a:xfrm>
          <a:prstGeom prst="rect">
            <a:avLst/>
          </a:prstGeom>
        </p:spPr>
      </p:pic>
      <p:pic>
        <p:nvPicPr>
          <p:cNvPr id="7" name="Imagen 6" descr="Interfaz de usuario gráfica, Logotipo&#10;&#10;Descripción generada automáticamente">
            <a:extLst>
              <a:ext uri="{FF2B5EF4-FFF2-40B4-BE49-F238E27FC236}">
                <a16:creationId xmlns:a16="http://schemas.microsoft.com/office/drawing/2014/main" id="{E7A89C09-3D84-16D4-4037-41212FD40AC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9166" t="39627" r="31417" b="41778"/>
          <a:stretch/>
        </p:blipFill>
        <p:spPr>
          <a:xfrm>
            <a:off x="11415225" y="102371"/>
            <a:ext cx="471976" cy="503746"/>
          </a:xfrm>
          <a:prstGeom prst="rect">
            <a:avLst/>
          </a:prstGeom>
        </p:spPr>
      </p:pic>
    </p:spTree>
    <p:extLst>
      <p:ext uri="{BB962C8B-B14F-4D97-AF65-F5344CB8AC3E}">
        <p14:creationId xmlns:p14="http://schemas.microsoft.com/office/powerpoint/2010/main" val="1046665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Comparación">
    <p:bg>
      <p:bgPr>
        <a:solidFill>
          <a:schemeClr val="tx1"/>
        </a:solidFill>
        <a:effectLst/>
      </p:bgPr>
    </p:bg>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7D6FD11A-6EFB-57FE-1E05-410F888BD9C6}"/>
              </a:ext>
            </a:extLst>
          </p:cNvPr>
          <p:cNvSpPr/>
          <p:nvPr/>
        </p:nvSpPr>
        <p:spPr>
          <a:xfrm>
            <a:off x="-10510" y="1179213"/>
            <a:ext cx="12192000" cy="1574816"/>
          </a:xfrm>
          <a:prstGeom prst="rect">
            <a:avLst/>
          </a:prstGeom>
          <a:solidFill>
            <a:schemeClr val="accent1"/>
          </a:solid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p>
        </p:txBody>
      </p:sp>
      <p:sp>
        <p:nvSpPr>
          <p:cNvPr id="8" name="Título 1">
            <a:extLst>
              <a:ext uri="{FF2B5EF4-FFF2-40B4-BE49-F238E27FC236}">
                <a16:creationId xmlns:a16="http://schemas.microsoft.com/office/drawing/2014/main" id="{9D9BF5B8-C3BF-4FAC-3303-92EF6DDF1E95}"/>
              </a:ext>
            </a:extLst>
          </p:cNvPr>
          <p:cNvSpPr>
            <a:spLocks noGrp="1"/>
          </p:cNvSpPr>
          <p:nvPr>
            <p:ph type="title" hasCustomPrompt="1"/>
          </p:nvPr>
        </p:nvSpPr>
        <p:spPr>
          <a:xfrm>
            <a:off x="839788" y="365126"/>
            <a:ext cx="10515600" cy="605082"/>
          </a:xfrm>
        </p:spPr>
        <p:txBody>
          <a:bodyPr>
            <a:normAutofit/>
          </a:bodyPr>
          <a:lstStyle>
            <a:lvl1pPr>
              <a:defRPr sz="3000" b="0">
                <a:solidFill>
                  <a:schemeClr val="bg2"/>
                </a:solidFill>
              </a:defRPr>
            </a:lvl1pPr>
          </a:lstStyle>
          <a:p>
            <a:r>
              <a:rPr lang="es-ES" dirty="0"/>
              <a:t>LOGOS E ISOTIPOS</a:t>
            </a:r>
            <a:endParaRPr lang="es-CL" dirty="0"/>
          </a:p>
        </p:txBody>
      </p:sp>
      <p:pic>
        <p:nvPicPr>
          <p:cNvPr id="9" name="Imagen 8" descr="Logotipo&#10;&#10;Descripción generada automáticamente">
            <a:extLst>
              <a:ext uri="{FF2B5EF4-FFF2-40B4-BE49-F238E27FC236}">
                <a16:creationId xmlns:a16="http://schemas.microsoft.com/office/drawing/2014/main" id="{31CE4F30-E469-6DFD-45CA-7CAF11F1A5B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2" t="34306" r="20346" b="32837"/>
          <a:stretch/>
        </p:blipFill>
        <p:spPr>
          <a:xfrm>
            <a:off x="4471612" y="1311120"/>
            <a:ext cx="4142322" cy="1331873"/>
          </a:xfrm>
          <a:prstGeom prst="rect">
            <a:avLst/>
          </a:prstGeom>
        </p:spPr>
      </p:pic>
      <p:pic>
        <p:nvPicPr>
          <p:cNvPr id="10" name="Imagen 9" descr="Logotipo&#10;&#10;Descripción generada automáticamente">
            <a:extLst>
              <a:ext uri="{FF2B5EF4-FFF2-40B4-BE49-F238E27FC236}">
                <a16:creationId xmlns:a16="http://schemas.microsoft.com/office/drawing/2014/main" id="{8B62DD23-9ACE-B1A8-D4B1-84380B8414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0608" t="35437" r="29155" b="37556"/>
          <a:stretch/>
        </p:blipFill>
        <p:spPr>
          <a:xfrm>
            <a:off x="8915958" y="1480479"/>
            <a:ext cx="2630517" cy="993154"/>
          </a:xfrm>
          <a:prstGeom prst="rect">
            <a:avLst/>
          </a:prstGeom>
        </p:spPr>
      </p:pic>
      <p:pic>
        <p:nvPicPr>
          <p:cNvPr id="11" name="Imagen 10" descr="Logotipo&#10;&#10;Descripción generada automáticamente con confianza media">
            <a:extLst>
              <a:ext uri="{FF2B5EF4-FFF2-40B4-BE49-F238E27FC236}">
                <a16:creationId xmlns:a16="http://schemas.microsoft.com/office/drawing/2014/main" id="{8742EBAF-7E18-982D-83F9-1D2BDA19E31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151" t="29551" r="17156" b="29573"/>
          <a:stretch/>
        </p:blipFill>
        <p:spPr>
          <a:xfrm>
            <a:off x="909799" y="1410689"/>
            <a:ext cx="3314381" cy="1160033"/>
          </a:xfrm>
          <a:prstGeom prst="rect">
            <a:avLst/>
          </a:prstGeom>
        </p:spPr>
      </p:pic>
      <p:pic>
        <p:nvPicPr>
          <p:cNvPr id="12" name="Imagen 11" descr="Interfaz de usuario gráfica, Logotipo&#10;&#10;Descripción generada automáticamente">
            <a:extLst>
              <a:ext uri="{FF2B5EF4-FFF2-40B4-BE49-F238E27FC236}">
                <a16:creationId xmlns:a16="http://schemas.microsoft.com/office/drawing/2014/main" id="{5664E6EA-C185-954C-21ED-F495F542D8A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1429" t="39683" r="30089" b="41390"/>
          <a:stretch/>
        </p:blipFill>
        <p:spPr>
          <a:xfrm>
            <a:off x="8907005" y="3092179"/>
            <a:ext cx="2528249" cy="699466"/>
          </a:xfrm>
          <a:prstGeom prst="rect">
            <a:avLst/>
          </a:prstGeom>
        </p:spPr>
      </p:pic>
      <p:pic>
        <p:nvPicPr>
          <p:cNvPr id="13" name="Imagen 12" descr="Logotipo&#10;&#10;Descripción generada automáticamente">
            <a:extLst>
              <a:ext uri="{FF2B5EF4-FFF2-40B4-BE49-F238E27FC236}">
                <a16:creationId xmlns:a16="http://schemas.microsoft.com/office/drawing/2014/main" id="{9C16AFF4-9849-6A9B-94FF-E1D3B41A0A3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4752" t="40142" r="19087" b="39788"/>
          <a:stretch/>
        </p:blipFill>
        <p:spPr>
          <a:xfrm>
            <a:off x="4548115" y="3047398"/>
            <a:ext cx="3945173" cy="793029"/>
          </a:xfrm>
          <a:prstGeom prst="rect">
            <a:avLst/>
          </a:prstGeom>
        </p:spPr>
      </p:pic>
      <p:pic>
        <p:nvPicPr>
          <p:cNvPr id="14" name="Imagen 13" descr="Logotipo&#10;&#10;Descripción generada automáticamente con confianza media">
            <a:extLst>
              <a:ext uri="{FF2B5EF4-FFF2-40B4-BE49-F238E27FC236}">
                <a16:creationId xmlns:a16="http://schemas.microsoft.com/office/drawing/2014/main" id="{7C91566E-3D2B-B1D4-FF35-1F68161E9EA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1780" t="37407" r="20664" b="38788"/>
          <a:stretch/>
        </p:blipFill>
        <p:spPr>
          <a:xfrm>
            <a:off x="970237" y="3089275"/>
            <a:ext cx="3006470" cy="699466"/>
          </a:xfrm>
          <a:prstGeom prst="rect">
            <a:avLst/>
          </a:prstGeom>
        </p:spPr>
      </p:pic>
      <p:sp>
        <p:nvSpPr>
          <p:cNvPr id="16" name="Rectángulo 15">
            <a:extLst>
              <a:ext uri="{FF2B5EF4-FFF2-40B4-BE49-F238E27FC236}">
                <a16:creationId xmlns:a16="http://schemas.microsoft.com/office/drawing/2014/main" id="{4D9C2E62-9904-BD85-2069-365BB3C88541}"/>
              </a:ext>
            </a:extLst>
          </p:cNvPr>
          <p:cNvSpPr/>
          <p:nvPr/>
        </p:nvSpPr>
        <p:spPr>
          <a:xfrm>
            <a:off x="-10510" y="4175673"/>
            <a:ext cx="12192000" cy="1371207"/>
          </a:xfrm>
          <a:prstGeom prst="rect">
            <a:avLst/>
          </a:prstGeom>
          <a:solidFill>
            <a:schemeClr val="accent1"/>
          </a:solidFill>
          <a:ln>
            <a:solidFill>
              <a:schemeClr val="accent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dirty="0"/>
          </a:p>
        </p:txBody>
      </p:sp>
      <p:pic>
        <p:nvPicPr>
          <p:cNvPr id="20" name="Imagen 19" descr="Logotipo&#10;&#10;Descripción generada automáticamente con confianza media">
            <a:extLst>
              <a:ext uri="{FF2B5EF4-FFF2-40B4-BE49-F238E27FC236}">
                <a16:creationId xmlns:a16="http://schemas.microsoft.com/office/drawing/2014/main" id="{06DB308E-306F-9082-54DE-2E2DCAA4C589}"/>
              </a:ext>
            </a:extLst>
          </p:cNvPr>
          <p:cNvPicPr>
            <a:picLocks noChangeAspect="1"/>
          </p:cNvPicPr>
          <p:nvPr/>
        </p:nvPicPr>
        <p:blipFill rotWithShape="1">
          <a:blip r:embed="rId8">
            <a:extLst>
              <a:ext uri="{28A0092B-C50C-407E-A947-70E740481C1C}">
                <a14:useLocalDpi xmlns:a14="http://schemas.microsoft.com/office/drawing/2010/main" val="0"/>
              </a:ext>
            </a:extLst>
          </a:blip>
          <a:srcRect l="66461" t="38757" r="17156" b="40400"/>
          <a:stretch/>
        </p:blipFill>
        <p:spPr>
          <a:xfrm>
            <a:off x="1731618" y="4293580"/>
            <a:ext cx="1670742" cy="1195598"/>
          </a:xfrm>
          <a:prstGeom prst="rect">
            <a:avLst/>
          </a:prstGeom>
        </p:spPr>
      </p:pic>
      <p:pic>
        <p:nvPicPr>
          <p:cNvPr id="22" name="Imagen 21" descr="Logotipo&#10;&#10;Descripción generada automáticamente con confianza media">
            <a:extLst>
              <a:ext uri="{FF2B5EF4-FFF2-40B4-BE49-F238E27FC236}">
                <a16:creationId xmlns:a16="http://schemas.microsoft.com/office/drawing/2014/main" id="{5C6DDB30-937A-4139-E8E5-F8824E3F165E}"/>
              </a:ext>
            </a:extLst>
          </p:cNvPr>
          <p:cNvPicPr>
            <a:picLocks noChangeAspect="1"/>
          </p:cNvPicPr>
          <p:nvPr/>
        </p:nvPicPr>
        <p:blipFill rotWithShape="1">
          <a:blip r:embed="rId8">
            <a:extLst>
              <a:ext uri="{28A0092B-C50C-407E-A947-70E740481C1C}">
                <a14:useLocalDpi xmlns:a14="http://schemas.microsoft.com/office/drawing/2010/main" val="0"/>
              </a:ext>
            </a:extLst>
          </a:blip>
          <a:srcRect l="66461" t="38757" r="17156" b="40400"/>
          <a:stretch/>
        </p:blipFill>
        <p:spPr>
          <a:xfrm>
            <a:off x="5563731" y="4293580"/>
            <a:ext cx="1670742" cy="1195598"/>
          </a:xfrm>
          <a:prstGeom prst="rect">
            <a:avLst/>
          </a:prstGeom>
        </p:spPr>
      </p:pic>
      <p:pic>
        <p:nvPicPr>
          <p:cNvPr id="23" name="Imagen 22" descr="Logotipo&#10;&#10;Descripción generada automáticamente con confianza media">
            <a:extLst>
              <a:ext uri="{FF2B5EF4-FFF2-40B4-BE49-F238E27FC236}">
                <a16:creationId xmlns:a16="http://schemas.microsoft.com/office/drawing/2014/main" id="{23CCB5EB-2FB0-A5C3-0618-6944B3B1A137}"/>
              </a:ext>
            </a:extLst>
          </p:cNvPr>
          <p:cNvPicPr>
            <a:picLocks noChangeAspect="1"/>
          </p:cNvPicPr>
          <p:nvPr/>
        </p:nvPicPr>
        <p:blipFill rotWithShape="1">
          <a:blip r:embed="rId8">
            <a:extLst>
              <a:ext uri="{28A0092B-C50C-407E-A947-70E740481C1C}">
                <a14:useLocalDpi xmlns:a14="http://schemas.microsoft.com/office/drawing/2010/main" val="0"/>
              </a:ext>
            </a:extLst>
          </a:blip>
          <a:srcRect l="66461" t="38757" r="17156" b="40400"/>
          <a:stretch/>
        </p:blipFill>
        <p:spPr>
          <a:xfrm>
            <a:off x="9395845" y="4276628"/>
            <a:ext cx="1670742" cy="1195598"/>
          </a:xfrm>
          <a:prstGeom prst="rect">
            <a:avLst/>
          </a:prstGeom>
        </p:spPr>
      </p:pic>
      <p:pic>
        <p:nvPicPr>
          <p:cNvPr id="24" name="Imagen 23" descr="Logotipo&#10;&#10;Descripción generada automáticamente con confianza media">
            <a:extLst>
              <a:ext uri="{FF2B5EF4-FFF2-40B4-BE49-F238E27FC236}">
                <a16:creationId xmlns:a16="http://schemas.microsoft.com/office/drawing/2014/main" id="{2393BF16-7581-A73B-0DB6-FE5DD0D9D583}"/>
              </a:ext>
            </a:extLst>
          </p:cNvPr>
          <p:cNvPicPr>
            <a:picLocks noChangeAspect="1"/>
          </p:cNvPicPr>
          <p:nvPr/>
        </p:nvPicPr>
        <p:blipFill rotWithShape="1">
          <a:blip r:embed="rId9">
            <a:extLst>
              <a:ext uri="{28A0092B-C50C-407E-A947-70E740481C1C}">
                <a14:useLocalDpi xmlns:a14="http://schemas.microsoft.com/office/drawing/2010/main" val="0"/>
              </a:ext>
            </a:extLst>
          </a:blip>
          <a:srcRect l="66510" t="37407" r="20664" b="38788"/>
          <a:stretch/>
        </p:blipFill>
        <p:spPr>
          <a:xfrm>
            <a:off x="1731618" y="5562353"/>
            <a:ext cx="1346858" cy="1406171"/>
          </a:xfrm>
          <a:prstGeom prst="rect">
            <a:avLst/>
          </a:prstGeom>
        </p:spPr>
      </p:pic>
      <p:pic>
        <p:nvPicPr>
          <p:cNvPr id="25" name="Imagen 24" descr="Logotipo&#10;&#10;Descripción generada automáticamente">
            <a:extLst>
              <a:ext uri="{FF2B5EF4-FFF2-40B4-BE49-F238E27FC236}">
                <a16:creationId xmlns:a16="http://schemas.microsoft.com/office/drawing/2014/main" id="{FAF28C1C-7EB1-88E0-1EB9-6ACAFEF831FF}"/>
              </a:ext>
            </a:extLst>
          </p:cNvPr>
          <p:cNvPicPr>
            <a:picLocks noChangeAspect="1"/>
          </p:cNvPicPr>
          <p:nvPr/>
        </p:nvPicPr>
        <p:blipFill rotWithShape="1">
          <a:blip r:embed="rId6">
            <a:extLst>
              <a:ext uri="{28A0092B-C50C-407E-A947-70E740481C1C}">
                <a14:useLocalDpi xmlns:a14="http://schemas.microsoft.com/office/drawing/2010/main" val="0"/>
              </a:ext>
            </a:extLst>
          </a:blip>
          <a:srcRect l="65686" t="40142" r="19087" b="39788"/>
          <a:stretch/>
        </p:blipFill>
        <p:spPr>
          <a:xfrm>
            <a:off x="5353837" y="5472226"/>
            <a:ext cx="2090530" cy="1549901"/>
          </a:xfrm>
          <a:prstGeom prst="rect">
            <a:avLst/>
          </a:prstGeom>
        </p:spPr>
      </p:pic>
      <p:pic>
        <p:nvPicPr>
          <p:cNvPr id="26" name="Imagen 25" descr="Interfaz de usuario gráfica, Logotipo&#10;&#10;Descripción generada automáticamente">
            <a:extLst>
              <a:ext uri="{FF2B5EF4-FFF2-40B4-BE49-F238E27FC236}">
                <a16:creationId xmlns:a16="http://schemas.microsoft.com/office/drawing/2014/main" id="{261CC1FB-2E8B-9D2E-8C02-62A73868841D}"/>
              </a:ext>
            </a:extLst>
          </p:cNvPr>
          <p:cNvPicPr>
            <a:picLocks noChangeAspect="1"/>
          </p:cNvPicPr>
          <p:nvPr/>
        </p:nvPicPr>
        <p:blipFill rotWithShape="1">
          <a:blip r:embed="rId5">
            <a:extLst>
              <a:ext uri="{28A0092B-C50C-407E-A947-70E740481C1C}">
                <a14:useLocalDpi xmlns:a14="http://schemas.microsoft.com/office/drawing/2010/main" val="0"/>
              </a:ext>
            </a:extLst>
          </a:blip>
          <a:srcRect l="58616" t="39683" r="30089" b="41390"/>
          <a:stretch/>
        </p:blipFill>
        <p:spPr>
          <a:xfrm>
            <a:off x="9395845" y="5393708"/>
            <a:ext cx="1670742" cy="1574816"/>
          </a:xfrm>
          <a:prstGeom prst="rect">
            <a:avLst/>
          </a:prstGeom>
        </p:spPr>
      </p:pic>
    </p:spTree>
    <p:extLst>
      <p:ext uri="{BB962C8B-B14F-4D97-AF65-F5344CB8AC3E}">
        <p14:creationId xmlns:p14="http://schemas.microsoft.com/office/powerpoint/2010/main" val="43554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Diapositiva de título">
    <p:spTree>
      <p:nvGrpSpPr>
        <p:cNvPr id="1" name=""/>
        <p:cNvGrpSpPr/>
        <p:nvPr/>
      </p:nvGrpSpPr>
      <p:grpSpPr>
        <a:xfrm>
          <a:off x="0" y="0"/>
          <a:ext cx="0" cy="0"/>
          <a:chOff x="0" y="0"/>
          <a:chExt cx="0" cy="0"/>
        </a:xfrm>
      </p:grpSpPr>
      <p:pic>
        <p:nvPicPr>
          <p:cNvPr id="8" name="Imagen 7" descr="Logotipo&#10;&#10;Descripción generada automáticamente">
            <a:extLst>
              <a:ext uri="{FF2B5EF4-FFF2-40B4-BE49-F238E27FC236}">
                <a16:creationId xmlns:a16="http://schemas.microsoft.com/office/drawing/2014/main" id="{59D0726C-C7F9-B06D-1314-039B9B4284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2" t="34306" r="20346" b="32837"/>
          <a:stretch/>
        </p:blipFill>
        <p:spPr>
          <a:xfrm>
            <a:off x="4387529" y="2919202"/>
            <a:ext cx="4142322" cy="1331873"/>
          </a:xfrm>
          <a:prstGeom prst="rect">
            <a:avLst/>
          </a:prstGeom>
        </p:spPr>
      </p:pic>
      <p:pic>
        <p:nvPicPr>
          <p:cNvPr id="9" name="Imagen 8" descr="Logotipo&#10;&#10;Descripción generada automáticamente">
            <a:extLst>
              <a:ext uri="{FF2B5EF4-FFF2-40B4-BE49-F238E27FC236}">
                <a16:creationId xmlns:a16="http://schemas.microsoft.com/office/drawing/2014/main" id="{CA5EE16D-4AAD-7832-C005-88F1E1D5B02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0608" t="35437" r="29155" b="37556"/>
          <a:stretch/>
        </p:blipFill>
        <p:spPr>
          <a:xfrm>
            <a:off x="8831875" y="3088561"/>
            <a:ext cx="2630517" cy="993154"/>
          </a:xfrm>
          <a:prstGeom prst="rect">
            <a:avLst/>
          </a:prstGeom>
        </p:spPr>
      </p:pic>
      <p:pic>
        <p:nvPicPr>
          <p:cNvPr id="10" name="Imagen 9" descr="Logotipo&#10;&#10;Descripción generada automáticamente con confianza media">
            <a:extLst>
              <a:ext uri="{FF2B5EF4-FFF2-40B4-BE49-F238E27FC236}">
                <a16:creationId xmlns:a16="http://schemas.microsoft.com/office/drawing/2014/main" id="{327D8D8A-F398-F494-5073-9D9E60AB958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151" t="29551" r="17156" b="29573"/>
          <a:stretch/>
        </p:blipFill>
        <p:spPr>
          <a:xfrm>
            <a:off x="825716" y="3018771"/>
            <a:ext cx="3314381" cy="1160033"/>
          </a:xfrm>
          <a:prstGeom prst="rect">
            <a:avLst/>
          </a:prstGeom>
        </p:spPr>
      </p:pic>
    </p:spTree>
    <p:extLst>
      <p:ext uri="{BB962C8B-B14F-4D97-AF65-F5344CB8AC3E}">
        <p14:creationId xmlns:p14="http://schemas.microsoft.com/office/powerpoint/2010/main" val="2816507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Diapositiva de título">
    <p:bg>
      <p:bgPr>
        <a:solidFill>
          <a:schemeClr val="tx1"/>
        </a:solidFill>
        <a:effectLst/>
      </p:bgPr>
    </p:bg>
    <p:spTree>
      <p:nvGrpSpPr>
        <p:cNvPr id="1" name=""/>
        <p:cNvGrpSpPr/>
        <p:nvPr/>
      </p:nvGrpSpPr>
      <p:grpSpPr>
        <a:xfrm>
          <a:off x="0" y="0"/>
          <a:ext cx="0" cy="0"/>
          <a:chOff x="0" y="0"/>
          <a:chExt cx="0" cy="0"/>
        </a:xfrm>
      </p:grpSpPr>
      <p:pic>
        <p:nvPicPr>
          <p:cNvPr id="5" name="Imagen 4" descr="Interfaz de usuario gráfica, Logotipo&#10;&#10;Descripción generada automáticamente">
            <a:extLst>
              <a:ext uri="{FF2B5EF4-FFF2-40B4-BE49-F238E27FC236}">
                <a16:creationId xmlns:a16="http://schemas.microsoft.com/office/drawing/2014/main" id="{88BD85FA-7825-15C7-9B47-BBEC5BFC750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1429" t="39683" r="30089" b="41390"/>
          <a:stretch/>
        </p:blipFill>
        <p:spPr>
          <a:xfrm>
            <a:off x="8654758" y="3386689"/>
            <a:ext cx="2793378" cy="772817"/>
          </a:xfrm>
          <a:prstGeom prst="rect">
            <a:avLst/>
          </a:prstGeom>
        </p:spPr>
      </p:pic>
      <p:pic>
        <p:nvPicPr>
          <p:cNvPr id="11" name="Imagen 10" descr="Logotipo&#10;&#10;Descripción generada automáticamente">
            <a:extLst>
              <a:ext uri="{FF2B5EF4-FFF2-40B4-BE49-F238E27FC236}">
                <a16:creationId xmlns:a16="http://schemas.microsoft.com/office/drawing/2014/main" id="{E3400746-C6AB-BFAB-4164-2D2A70BAA41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752" t="40142" r="19087" b="39788"/>
          <a:stretch/>
        </p:blipFill>
        <p:spPr>
          <a:xfrm>
            <a:off x="4295868" y="3332097"/>
            <a:ext cx="4358890" cy="876191"/>
          </a:xfrm>
          <a:prstGeom prst="rect">
            <a:avLst/>
          </a:prstGeom>
        </p:spPr>
      </p:pic>
      <p:pic>
        <p:nvPicPr>
          <p:cNvPr id="12" name="Imagen 11" descr="Logotipo&#10;&#10;Descripción generada automáticamente con confianza media">
            <a:extLst>
              <a:ext uri="{FF2B5EF4-FFF2-40B4-BE49-F238E27FC236}">
                <a16:creationId xmlns:a16="http://schemas.microsoft.com/office/drawing/2014/main" id="{62AAD7F4-8154-12C7-AFD5-1A6C13A79C8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780" t="37407" r="20664" b="38788"/>
          <a:stretch/>
        </p:blipFill>
        <p:spPr>
          <a:xfrm>
            <a:off x="717990" y="3383785"/>
            <a:ext cx="3321748" cy="772817"/>
          </a:xfrm>
          <a:prstGeom prst="rect">
            <a:avLst/>
          </a:prstGeom>
        </p:spPr>
      </p:pic>
    </p:spTree>
    <p:extLst>
      <p:ext uri="{BB962C8B-B14F-4D97-AF65-F5344CB8AC3E}">
        <p14:creationId xmlns:p14="http://schemas.microsoft.com/office/powerpoint/2010/main" val="420419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5B9881-7AF7-0627-6CB5-764958135C17}"/>
              </a:ext>
            </a:extLst>
          </p:cNvPr>
          <p:cNvSpPr>
            <a:spLocks noGrp="1"/>
          </p:cNvSpPr>
          <p:nvPr>
            <p:ph type="title"/>
          </p:nvPr>
        </p:nvSpPr>
        <p:spPr>
          <a:xfrm>
            <a:off x="839788" y="457200"/>
            <a:ext cx="3932237" cy="1600200"/>
          </a:xfrm>
        </p:spPr>
        <p:txBody>
          <a:bodyPr anchor="b"/>
          <a:lstStyle>
            <a:lvl1pPr>
              <a:defRPr sz="3200" b="1"/>
            </a:lvl1pPr>
          </a:lstStyle>
          <a:p>
            <a:r>
              <a:rPr lang="es-ES"/>
              <a:t>Haga clic para modificar el estilo de título del patrón</a:t>
            </a:r>
            <a:endParaRPr lang="es-CL" dirty="0"/>
          </a:p>
        </p:txBody>
      </p:sp>
      <p:sp>
        <p:nvSpPr>
          <p:cNvPr id="3" name="Marcador de posición de imagen 2">
            <a:extLst>
              <a:ext uri="{FF2B5EF4-FFF2-40B4-BE49-F238E27FC236}">
                <a16:creationId xmlns:a16="http://schemas.microsoft.com/office/drawing/2014/main" id="{06FF015E-ACD5-6760-BDBE-38086AE572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L" dirty="0"/>
          </a:p>
        </p:txBody>
      </p:sp>
      <p:sp>
        <p:nvSpPr>
          <p:cNvPr id="4" name="Marcador de texto 3">
            <a:extLst>
              <a:ext uri="{FF2B5EF4-FFF2-40B4-BE49-F238E27FC236}">
                <a16:creationId xmlns:a16="http://schemas.microsoft.com/office/drawing/2014/main" id="{7F79CA1D-6FBF-6A92-2259-B3DBC6DE1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Marcador de número de diapositiva 6">
            <a:extLst>
              <a:ext uri="{FF2B5EF4-FFF2-40B4-BE49-F238E27FC236}">
                <a16:creationId xmlns:a16="http://schemas.microsoft.com/office/drawing/2014/main" id="{9A300F35-A55B-2BC0-60F1-76FC5C9E29C2}"/>
              </a:ext>
            </a:extLst>
          </p:cNvPr>
          <p:cNvSpPr>
            <a:spLocks noGrp="1"/>
          </p:cNvSpPr>
          <p:nvPr>
            <p:ph type="sldNum" sz="quarter" idx="12"/>
          </p:nvPr>
        </p:nvSpPr>
        <p:spPr/>
        <p:txBody>
          <a:bodyPr/>
          <a:lstStyle/>
          <a:p>
            <a:fld id="{040A357F-9693-446B-B851-CFA52F9A264B}" type="slidenum">
              <a:rPr lang="es-CL" smtClean="0"/>
              <a:t>‹Nº›</a:t>
            </a:fld>
            <a:endParaRPr lang="es-CL"/>
          </a:p>
        </p:txBody>
      </p:sp>
      <p:pic>
        <p:nvPicPr>
          <p:cNvPr id="8" name="Imagen 7" descr="Logotipo&#10;&#10;Descripción generada automáticamente con confianza media">
            <a:extLst>
              <a:ext uri="{FF2B5EF4-FFF2-40B4-BE49-F238E27FC236}">
                <a16:creationId xmlns:a16="http://schemas.microsoft.com/office/drawing/2014/main" id="{7267668F-2CA1-3181-7D41-DD80B70444E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6347" t="37239" r="17528" b="37878"/>
          <a:stretch/>
        </p:blipFill>
        <p:spPr>
          <a:xfrm>
            <a:off x="11399520" y="126683"/>
            <a:ext cx="576281" cy="500244"/>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1B446B01-3575-6DBB-36B2-85A2D139F8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151" t="29551" r="17156" b="29573"/>
          <a:stretch/>
        </p:blipFill>
        <p:spPr>
          <a:xfrm>
            <a:off x="717120" y="6156100"/>
            <a:ext cx="1398284" cy="489399"/>
          </a:xfrm>
          <a:prstGeom prst="rect">
            <a:avLst/>
          </a:prstGeom>
        </p:spPr>
      </p:pic>
    </p:spTree>
    <p:extLst>
      <p:ext uri="{BB962C8B-B14F-4D97-AF65-F5344CB8AC3E}">
        <p14:creationId xmlns:p14="http://schemas.microsoft.com/office/powerpoint/2010/main" val="2854304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1_Imagen con título">
    <p:bg>
      <p:bgPr>
        <a:solidFill>
          <a:schemeClr val="accent1"/>
        </a:solidFill>
        <a:effectLst/>
      </p:bgPr>
    </p:bg>
    <p:spTree>
      <p:nvGrpSpPr>
        <p:cNvPr id="1" name=""/>
        <p:cNvGrpSpPr/>
        <p:nvPr/>
      </p:nvGrpSpPr>
      <p:grpSpPr>
        <a:xfrm>
          <a:off x="0" y="0"/>
          <a:ext cx="0" cy="0"/>
          <a:chOff x="0" y="0"/>
          <a:chExt cx="0" cy="0"/>
        </a:xfrm>
      </p:grpSpPr>
      <p:pic>
        <p:nvPicPr>
          <p:cNvPr id="9" name="Imagen 8" descr="Logotipo&#10;&#10;Descripción generada automáticamente con confianza media">
            <a:extLst>
              <a:ext uri="{FF2B5EF4-FFF2-40B4-BE49-F238E27FC236}">
                <a16:creationId xmlns:a16="http://schemas.microsoft.com/office/drawing/2014/main" id="{90A32AC3-3355-F43B-38F6-D05CF043196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6347" t="37239" r="17528" b="37878"/>
          <a:stretch/>
        </p:blipFill>
        <p:spPr>
          <a:xfrm>
            <a:off x="11399520" y="126683"/>
            <a:ext cx="576281" cy="500244"/>
          </a:xfrm>
          <a:prstGeom prst="rect">
            <a:avLst/>
          </a:prstGeom>
        </p:spPr>
      </p:pic>
      <p:sp>
        <p:nvSpPr>
          <p:cNvPr id="2" name="Título 1">
            <a:extLst>
              <a:ext uri="{FF2B5EF4-FFF2-40B4-BE49-F238E27FC236}">
                <a16:creationId xmlns:a16="http://schemas.microsoft.com/office/drawing/2014/main" id="{165B9881-7AF7-0627-6CB5-764958135C17}"/>
              </a:ext>
            </a:extLst>
          </p:cNvPr>
          <p:cNvSpPr>
            <a:spLocks noGrp="1"/>
          </p:cNvSpPr>
          <p:nvPr>
            <p:ph type="title"/>
          </p:nvPr>
        </p:nvSpPr>
        <p:spPr>
          <a:xfrm>
            <a:off x="839788" y="457200"/>
            <a:ext cx="3932237" cy="1600200"/>
          </a:xfrm>
        </p:spPr>
        <p:txBody>
          <a:bodyPr anchor="b"/>
          <a:lstStyle>
            <a:lvl1pPr>
              <a:defRPr sz="3200" b="1">
                <a:solidFill>
                  <a:schemeClr val="bg2"/>
                </a:solidFill>
              </a:defRPr>
            </a:lvl1pPr>
          </a:lstStyle>
          <a:p>
            <a:r>
              <a:rPr lang="es-ES"/>
              <a:t>Haga clic para modificar el estilo de título del patrón</a:t>
            </a:r>
            <a:endParaRPr lang="es-CL" dirty="0"/>
          </a:p>
        </p:txBody>
      </p:sp>
      <p:sp>
        <p:nvSpPr>
          <p:cNvPr id="3" name="Marcador de posición de imagen 2">
            <a:extLst>
              <a:ext uri="{FF2B5EF4-FFF2-40B4-BE49-F238E27FC236}">
                <a16:creationId xmlns:a16="http://schemas.microsoft.com/office/drawing/2014/main" id="{06FF015E-ACD5-6760-BDBE-38086AE57280}"/>
              </a:ext>
            </a:extLst>
          </p:cNvPr>
          <p:cNvSpPr>
            <a:spLocks noGrp="1"/>
          </p:cNvSpPr>
          <p:nvPr>
            <p:ph type="pic" idx="1"/>
          </p:nvPr>
        </p:nvSpPr>
        <p:spPr>
          <a:xfrm>
            <a:off x="5183188" y="987425"/>
            <a:ext cx="6172200" cy="4873625"/>
          </a:xfrm>
        </p:spPr>
        <p:txBody>
          <a:bodyPr/>
          <a:lstStyle>
            <a:lvl1pPr marL="0" indent="0">
              <a:buNone/>
              <a:defRPr sz="3200">
                <a:solidFill>
                  <a:schemeClr val="bg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L" dirty="0"/>
          </a:p>
        </p:txBody>
      </p:sp>
      <p:sp>
        <p:nvSpPr>
          <p:cNvPr id="4" name="Marcador de texto 3">
            <a:extLst>
              <a:ext uri="{FF2B5EF4-FFF2-40B4-BE49-F238E27FC236}">
                <a16:creationId xmlns:a16="http://schemas.microsoft.com/office/drawing/2014/main" id="{7F79CA1D-6FBF-6A92-2259-B3DBC6DE1D2B}"/>
              </a:ext>
            </a:extLst>
          </p:cNvPr>
          <p:cNvSpPr>
            <a:spLocks noGrp="1"/>
          </p:cNvSpPr>
          <p:nvPr>
            <p:ph type="body" sz="half" idx="2"/>
          </p:nvPr>
        </p:nvSpPr>
        <p:spPr>
          <a:xfrm>
            <a:off x="839788" y="2057400"/>
            <a:ext cx="3932237" cy="3811588"/>
          </a:xfrm>
        </p:spPr>
        <p:txBody>
          <a:bodyPr/>
          <a:lstStyle>
            <a:lvl1pPr marL="0" indent="0">
              <a:buNone/>
              <a:defRPr sz="16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Marcador de número de diapositiva 6">
            <a:extLst>
              <a:ext uri="{FF2B5EF4-FFF2-40B4-BE49-F238E27FC236}">
                <a16:creationId xmlns:a16="http://schemas.microsoft.com/office/drawing/2014/main" id="{9A300F35-A55B-2BC0-60F1-76FC5C9E29C2}"/>
              </a:ext>
            </a:extLst>
          </p:cNvPr>
          <p:cNvSpPr>
            <a:spLocks noGrp="1"/>
          </p:cNvSpPr>
          <p:nvPr>
            <p:ph type="sldNum" sz="quarter" idx="12"/>
          </p:nvPr>
        </p:nvSpPr>
        <p:spPr/>
        <p:txBody>
          <a:bodyPr/>
          <a:lstStyle>
            <a:lvl1pPr>
              <a:defRPr>
                <a:solidFill>
                  <a:schemeClr val="tx1"/>
                </a:solidFill>
              </a:defRPr>
            </a:lvl1pPr>
          </a:lstStyle>
          <a:p>
            <a:fld id="{040A357F-9693-446B-B851-CFA52F9A264B}" type="slidenum">
              <a:rPr lang="es-CL" smtClean="0"/>
              <a:t>‹Nº›</a:t>
            </a:fld>
            <a:endParaRPr lang="es-CL"/>
          </a:p>
        </p:txBody>
      </p:sp>
      <p:pic>
        <p:nvPicPr>
          <p:cNvPr id="10" name="Imagen 9" descr="Logotipo&#10;&#10;Descripción generada automáticamente con confianza media">
            <a:extLst>
              <a:ext uri="{FF2B5EF4-FFF2-40B4-BE49-F238E27FC236}">
                <a16:creationId xmlns:a16="http://schemas.microsoft.com/office/drawing/2014/main" id="{3B8F967B-B4B8-41A5-3350-243BEB298E7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151" t="29551" r="17156" b="29573"/>
          <a:stretch/>
        </p:blipFill>
        <p:spPr>
          <a:xfrm>
            <a:off x="717120" y="6156100"/>
            <a:ext cx="1398284" cy="489399"/>
          </a:xfrm>
          <a:prstGeom prst="rect">
            <a:avLst/>
          </a:prstGeom>
        </p:spPr>
      </p:pic>
    </p:spTree>
    <p:extLst>
      <p:ext uri="{BB962C8B-B14F-4D97-AF65-F5344CB8AC3E}">
        <p14:creationId xmlns:p14="http://schemas.microsoft.com/office/powerpoint/2010/main" val="2948113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2_Imagen con título">
    <p:bg>
      <p:bgPr>
        <a:solidFill>
          <a:schemeClr val="accent4"/>
        </a:solidFill>
        <a:effectLst/>
      </p:bgPr>
    </p:bg>
    <p:spTree>
      <p:nvGrpSpPr>
        <p:cNvPr id="1" name=""/>
        <p:cNvGrpSpPr/>
        <p:nvPr/>
      </p:nvGrpSpPr>
      <p:grpSpPr>
        <a:xfrm>
          <a:off x="0" y="0"/>
          <a:ext cx="0" cy="0"/>
          <a:chOff x="0" y="0"/>
          <a:chExt cx="0" cy="0"/>
        </a:xfrm>
      </p:grpSpPr>
      <p:pic>
        <p:nvPicPr>
          <p:cNvPr id="11" name="Imagen 10" descr="Logotipo&#10;&#10;Descripción generada automáticamente">
            <a:extLst>
              <a:ext uri="{FF2B5EF4-FFF2-40B4-BE49-F238E27FC236}">
                <a16:creationId xmlns:a16="http://schemas.microsoft.com/office/drawing/2014/main" id="{24A46CCD-615D-EE11-E30B-4E0C0F086C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2" t="34306" r="20346" b="32837"/>
          <a:stretch/>
        </p:blipFill>
        <p:spPr>
          <a:xfrm>
            <a:off x="674921" y="6113578"/>
            <a:ext cx="1890650" cy="607897"/>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90A32AC3-3355-F43B-38F6-D05CF043196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6347" t="37239" r="17528" b="37878"/>
          <a:stretch/>
        </p:blipFill>
        <p:spPr>
          <a:xfrm>
            <a:off x="11399520" y="126683"/>
            <a:ext cx="576281" cy="500244"/>
          </a:xfrm>
          <a:prstGeom prst="rect">
            <a:avLst/>
          </a:prstGeom>
        </p:spPr>
      </p:pic>
      <p:sp>
        <p:nvSpPr>
          <p:cNvPr id="2" name="Título 1">
            <a:extLst>
              <a:ext uri="{FF2B5EF4-FFF2-40B4-BE49-F238E27FC236}">
                <a16:creationId xmlns:a16="http://schemas.microsoft.com/office/drawing/2014/main" id="{165B9881-7AF7-0627-6CB5-764958135C17}"/>
              </a:ext>
            </a:extLst>
          </p:cNvPr>
          <p:cNvSpPr>
            <a:spLocks noGrp="1"/>
          </p:cNvSpPr>
          <p:nvPr>
            <p:ph type="title"/>
          </p:nvPr>
        </p:nvSpPr>
        <p:spPr>
          <a:xfrm>
            <a:off x="839788" y="457200"/>
            <a:ext cx="3932237" cy="1600200"/>
          </a:xfrm>
        </p:spPr>
        <p:txBody>
          <a:bodyPr anchor="b"/>
          <a:lstStyle>
            <a:lvl1pPr>
              <a:defRPr sz="3200" b="1">
                <a:solidFill>
                  <a:schemeClr val="tx1"/>
                </a:solidFill>
              </a:defRPr>
            </a:lvl1pPr>
          </a:lstStyle>
          <a:p>
            <a:r>
              <a:rPr lang="es-ES"/>
              <a:t>Haga clic para modificar el estilo de título del patrón</a:t>
            </a:r>
            <a:endParaRPr lang="es-CL" dirty="0"/>
          </a:p>
        </p:txBody>
      </p:sp>
      <p:sp>
        <p:nvSpPr>
          <p:cNvPr id="3" name="Marcador de posición de imagen 2">
            <a:extLst>
              <a:ext uri="{FF2B5EF4-FFF2-40B4-BE49-F238E27FC236}">
                <a16:creationId xmlns:a16="http://schemas.microsoft.com/office/drawing/2014/main" id="{06FF015E-ACD5-6760-BDBE-38086AE57280}"/>
              </a:ext>
            </a:extLst>
          </p:cNvPr>
          <p:cNvSpPr>
            <a:spLocks noGrp="1"/>
          </p:cNvSpPr>
          <p:nvPr>
            <p:ph type="pic" idx="1"/>
          </p:nvPr>
        </p:nvSpPr>
        <p:spPr>
          <a:xfrm>
            <a:off x="5183188" y="987425"/>
            <a:ext cx="6172200" cy="4873625"/>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L" dirty="0"/>
          </a:p>
        </p:txBody>
      </p:sp>
      <p:sp>
        <p:nvSpPr>
          <p:cNvPr id="4" name="Marcador de texto 3">
            <a:extLst>
              <a:ext uri="{FF2B5EF4-FFF2-40B4-BE49-F238E27FC236}">
                <a16:creationId xmlns:a16="http://schemas.microsoft.com/office/drawing/2014/main" id="{7F79CA1D-6FBF-6A92-2259-B3DBC6DE1D2B}"/>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Marcador de número de diapositiva 6">
            <a:extLst>
              <a:ext uri="{FF2B5EF4-FFF2-40B4-BE49-F238E27FC236}">
                <a16:creationId xmlns:a16="http://schemas.microsoft.com/office/drawing/2014/main" id="{9A300F35-A55B-2BC0-60F1-76FC5C9E29C2}"/>
              </a:ext>
            </a:extLst>
          </p:cNvPr>
          <p:cNvSpPr>
            <a:spLocks noGrp="1"/>
          </p:cNvSpPr>
          <p:nvPr>
            <p:ph type="sldNum" sz="quarter" idx="12"/>
          </p:nvPr>
        </p:nvSpPr>
        <p:spPr/>
        <p:txBody>
          <a:bodyPr/>
          <a:lstStyle>
            <a:lvl1pPr>
              <a:defRPr>
                <a:solidFill>
                  <a:schemeClr val="tx1"/>
                </a:solidFill>
              </a:defRPr>
            </a:lvl1pPr>
          </a:lstStyle>
          <a:p>
            <a:fld id="{040A357F-9693-446B-B851-CFA52F9A264B}" type="slidenum">
              <a:rPr lang="es-CL" smtClean="0"/>
              <a:t>‹Nº›</a:t>
            </a:fld>
            <a:endParaRPr lang="es-CL"/>
          </a:p>
        </p:txBody>
      </p:sp>
    </p:spTree>
    <p:extLst>
      <p:ext uri="{BB962C8B-B14F-4D97-AF65-F5344CB8AC3E}">
        <p14:creationId xmlns:p14="http://schemas.microsoft.com/office/powerpoint/2010/main" val="3541448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3_Imagen con título">
    <p:bg>
      <p:bgPr>
        <a:solidFill>
          <a:schemeClr val="accent5"/>
        </a:solidFill>
        <a:effectLst/>
      </p:bgPr>
    </p:bg>
    <p:spTree>
      <p:nvGrpSpPr>
        <p:cNvPr id="1" name=""/>
        <p:cNvGrpSpPr/>
        <p:nvPr/>
      </p:nvGrpSpPr>
      <p:grpSpPr>
        <a:xfrm>
          <a:off x="0" y="0"/>
          <a:ext cx="0" cy="0"/>
          <a:chOff x="0" y="0"/>
          <a:chExt cx="0" cy="0"/>
        </a:xfrm>
      </p:grpSpPr>
      <p:pic>
        <p:nvPicPr>
          <p:cNvPr id="10" name="Imagen 9" descr="Logotipo&#10;&#10;Descripción generada automáticamente">
            <a:extLst>
              <a:ext uri="{FF2B5EF4-FFF2-40B4-BE49-F238E27FC236}">
                <a16:creationId xmlns:a16="http://schemas.microsoft.com/office/drawing/2014/main" id="{F20E93E7-9AF4-191A-32FF-D25D35334F3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0608" t="35437" r="29155" b="37556"/>
          <a:stretch/>
        </p:blipFill>
        <p:spPr>
          <a:xfrm>
            <a:off x="717120" y="6119502"/>
            <a:ext cx="1275453" cy="481548"/>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90A32AC3-3355-F43B-38F6-D05CF043196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6347" t="37239" r="17528" b="37878"/>
          <a:stretch/>
        </p:blipFill>
        <p:spPr>
          <a:xfrm>
            <a:off x="11399520" y="126683"/>
            <a:ext cx="576281" cy="500244"/>
          </a:xfrm>
          <a:prstGeom prst="rect">
            <a:avLst/>
          </a:prstGeom>
        </p:spPr>
      </p:pic>
      <p:sp>
        <p:nvSpPr>
          <p:cNvPr id="2" name="Título 1">
            <a:extLst>
              <a:ext uri="{FF2B5EF4-FFF2-40B4-BE49-F238E27FC236}">
                <a16:creationId xmlns:a16="http://schemas.microsoft.com/office/drawing/2014/main" id="{165B9881-7AF7-0627-6CB5-764958135C17}"/>
              </a:ext>
            </a:extLst>
          </p:cNvPr>
          <p:cNvSpPr>
            <a:spLocks noGrp="1"/>
          </p:cNvSpPr>
          <p:nvPr>
            <p:ph type="title"/>
          </p:nvPr>
        </p:nvSpPr>
        <p:spPr>
          <a:xfrm>
            <a:off x="839788" y="457200"/>
            <a:ext cx="3932237" cy="1600200"/>
          </a:xfrm>
        </p:spPr>
        <p:txBody>
          <a:bodyPr anchor="b"/>
          <a:lstStyle>
            <a:lvl1pPr>
              <a:defRPr sz="3200" b="1">
                <a:solidFill>
                  <a:schemeClr val="tx1"/>
                </a:solidFill>
              </a:defRPr>
            </a:lvl1pPr>
          </a:lstStyle>
          <a:p>
            <a:r>
              <a:rPr lang="es-ES"/>
              <a:t>Haga clic para modificar el estilo de título del patrón</a:t>
            </a:r>
            <a:endParaRPr lang="es-CL" dirty="0"/>
          </a:p>
        </p:txBody>
      </p:sp>
      <p:sp>
        <p:nvSpPr>
          <p:cNvPr id="3" name="Marcador de posición de imagen 2">
            <a:extLst>
              <a:ext uri="{FF2B5EF4-FFF2-40B4-BE49-F238E27FC236}">
                <a16:creationId xmlns:a16="http://schemas.microsoft.com/office/drawing/2014/main" id="{06FF015E-ACD5-6760-BDBE-38086AE57280}"/>
              </a:ext>
            </a:extLst>
          </p:cNvPr>
          <p:cNvSpPr>
            <a:spLocks noGrp="1"/>
          </p:cNvSpPr>
          <p:nvPr>
            <p:ph type="pic" idx="1"/>
          </p:nvPr>
        </p:nvSpPr>
        <p:spPr>
          <a:xfrm>
            <a:off x="5183188" y="987425"/>
            <a:ext cx="6172200" cy="4873625"/>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L" dirty="0"/>
          </a:p>
        </p:txBody>
      </p:sp>
      <p:sp>
        <p:nvSpPr>
          <p:cNvPr id="4" name="Marcador de texto 3">
            <a:extLst>
              <a:ext uri="{FF2B5EF4-FFF2-40B4-BE49-F238E27FC236}">
                <a16:creationId xmlns:a16="http://schemas.microsoft.com/office/drawing/2014/main" id="{7F79CA1D-6FBF-6A92-2259-B3DBC6DE1D2B}"/>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Marcador de número de diapositiva 6">
            <a:extLst>
              <a:ext uri="{FF2B5EF4-FFF2-40B4-BE49-F238E27FC236}">
                <a16:creationId xmlns:a16="http://schemas.microsoft.com/office/drawing/2014/main" id="{9A300F35-A55B-2BC0-60F1-76FC5C9E29C2}"/>
              </a:ext>
            </a:extLst>
          </p:cNvPr>
          <p:cNvSpPr>
            <a:spLocks noGrp="1"/>
          </p:cNvSpPr>
          <p:nvPr>
            <p:ph type="sldNum" sz="quarter" idx="12"/>
          </p:nvPr>
        </p:nvSpPr>
        <p:spPr/>
        <p:txBody>
          <a:bodyPr/>
          <a:lstStyle>
            <a:lvl1pPr>
              <a:defRPr>
                <a:solidFill>
                  <a:schemeClr val="tx1"/>
                </a:solidFill>
              </a:defRPr>
            </a:lvl1pPr>
          </a:lstStyle>
          <a:p>
            <a:fld id="{040A357F-9693-446B-B851-CFA52F9A264B}" type="slidenum">
              <a:rPr lang="es-CL" smtClean="0"/>
              <a:t>‹Nº›</a:t>
            </a:fld>
            <a:endParaRPr lang="es-CL"/>
          </a:p>
        </p:txBody>
      </p:sp>
    </p:spTree>
    <p:extLst>
      <p:ext uri="{BB962C8B-B14F-4D97-AF65-F5344CB8AC3E}">
        <p14:creationId xmlns:p14="http://schemas.microsoft.com/office/powerpoint/2010/main" val="31360625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ó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1E9E03-7433-EC28-0D56-CDE18BE09791}"/>
              </a:ext>
            </a:extLst>
          </p:cNvPr>
          <p:cNvSpPr>
            <a:spLocks noGrp="1"/>
          </p:cNvSpPr>
          <p:nvPr>
            <p:ph type="title"/>
          </p:nvPr>
        </p:nvSpPr>
        <p:spPr>
          <a:xfrm>
            <a:off x="551384" y="302459"/>
            <a:ext cx="10081120" cy="246221"/>
          </a:xfrm>
        </p:spPr>
        <p:txBody>
          <a:bodyPr/>
          <a:lstStyle/>
          <a:p>
            <a:r>
              <a:rPr lang="es-MX" dirty="0"/>
              <a:t>Haz clic para modificar el estilo de título del patrón</a:t>
            </a:r>
            <a:endParaRPr lang="es-CL" dirty="0"/>
          </a:p>
        </p:txBody>
      </p:sp>
    </p:spTree>
    <p:extLst>
      <p:ext uri="{BB962C8B-B14F-4D97-AF65-F5344CB8AC3E}">
        <p14:creationId xmlns:p14="http://schemas.microsoft.com/office/powerpoint/2010/main" val="2482834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34D11-10DB-6703-124B-453DD53812D0}"/>
              </a:ext>
            </a:extLst>
          </p:cNvPr>
          <p:cNvSpPr>
            <a:spLocks noGrp="1"/>
          </p:cNvSpPr>
          <p:nvPr>
            <p:ph type="title"/>
          </p:nvPr>
        </p:nvSpPr>
        <p:spPr/>
        <p:txBody>
          <a:bodyPr/>
          <a:lstStyle/>
          <a:p>
            <a:r>
              <a:rPr lang="es-MX" dirty="0"/>
              <a:t>Haz clic para modificar el estilo de título del patrón</a:t>
            </a:r>
            <a:endParaRPr lang="es-CL" dirty="0"/>
          </a:p>
        </p:txBody>
      </p:sp>
      <p:sp>
        <p:nvSpPr>
          <p:cNvPr id="3" name="CuadroTexto 2">
            <a:extLst>
              <a:ext uri="{FF2B5EF4-FFF2-40B4-BE49-F238E27FC236}">
                <a16:creationId xmlns:a16="http://schemas.microsoft.com/office/drawing/2014/main" id="{3806C9B1-147C-B407-D80C-28787A96EDC3}"/>
              </a:ext>
            </a:extLst>
          </p:cNvPr>
          <p:cNvSpPr txBox="1"/>
          <p:nvPr userDrawn="1"/>
        </p:nvSpPr>
        <p:spPr>
          <a:xfrm>
            <a:off x="11443317" y="506027"/>
            <a:ext cx="0" cy="0"/>
          </a:xfrm>
          <a:prstGeom prst="rect">
            <a:avLst/>
          </a:prstGeom>
          <a:solidFill>
            <a:schemeClr val="bg1"/>
          </a:solidFill>
          <a:ln w="9525">
            <a:solidFill>
              <a:schemeClr val="accent1"/>
            </a:solidFill>
            <a:miter lim="800000"/>
            <a:headEnd/>
            <a:tailEnd/>
          </a:ln>
          <a:effectLst/>
        </p:spPr>
        <p:txBody>
          <a:bodyPr vert="horz" wrap="none" lIns="72009" tIns="72009" rIns="72009" bIns="72009" numCol="1" rtlCol="0" anchor="t" anchorCtr="0" compatLnSpc="1">
            <a:prstTxWarp prst="textNoShape">
              <a:avLst/>
            </a:prstTxWarp>
            <a:noAutofit/>
          </a:bodyPr>
          <a:lstStyle/>
          <a:p>
            <a:pPr marL="1587" indent="0">
              <a:buNone/>
            </a:pPr>
            <a:endParaRPr lang="es-CL" sz="1200" dirty="0"/>
          </a:p>
        </p:txBody>
      </p:sp>
    </p:spTree>
    <p:extLst>
      <p:ext uri="{BB962C8B-B14F-4D97-AF65-F5344CB8AC3E}">
        <p14:creationId xmlns:p14="http://schemas.microsoft.com/office/powerpoint/2010/main" val="25787014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993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extLst>
              <p:ext uri="{D42A27DB-BD31-4B8C-83A1-F6EECF244321}">
                <p14:modId xmlns:p14="http://schemas.microsoft.com/office/powerpoint/2010/main" val="4275347600"/>
              </p:ext>
            </p:extLst>
          </p:nvPr>
        </p:nvGraphicFramePr>
        <p:xfrm>
          <a:off x="2183" y="1638"/>
          <a:ext cx="2159" cy="1619"/>
        </p:xfrm>
        <a:graphic>
          <a:graphicData uri="http://schemas.openxmlformats.org/presentationml/2006/ole">
            <mc:AlternateContent xmlns:mc="http://schemas.openxmlformats.org/markup-compatibility/2006">
              <mc:Choice xmlns:v="urn:schemas-microsoft-com:vml" Requires="v">
                <p:oleObj name="Diapositiva de think-cell" r:id="rId3" imgW="360" imgH="360" progId="TCLayout.ActiveDocument.1">
                  <p:embed/>
                </p:oleObj>
              </mc:Choice>
              <mc:Fallback>
                <p:oleObj name="Diapositiva de think-cell" r:id="rId3" imgW="360" imgH="360" progId="TCLayout.ActiveDocument.1">
                  <p:embed/>
                  <p:pic>
                    <p:nvPicPr>
                      <p:cNvPr id="2" name="Object 1" hidden="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3" y="1638"/>
                        <a:ext cx="2159" cy="1619"/>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1" name="Rectangle 549"/>
          <p:cNvSpPr>
            <a:spLocks noChangeArrowheads="1"/>
          </p:cNvSpPr>
          <p:nvPr userDrawn="1"/>
        </p:nvSpPr>
        <p:spPr bwMode="auto">
          <a:xfrm>
            <a:off x="0" y="4034798"/>
            <a:ext cx="12192000" cy="299652"/>
          </a:xfrm>
          <a:prstGeom prst="rect">
            <a:avLst/>
          </a:prstGeom>
          <a:solidFill>
            <a:srgbClr val="2C73BB"/>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12" name="Rectangle 550"/>
          <p:cNvSpPr>
            <a:spLocks noChangeArrowheads="1"/>
          </p:cNvSpPr>
          <p:nvPr userDrawn="1"/>
        </p:nvSpPr>
        <p:spPr bwMode="auto">
          <a:xfrm>
            <a:off x="0" y="4316626"/>
            <a:ext cx="12192000" cy="115001"/>
          </a:xfrm>
          <a:prstGeom prst="rect">
            <a:avLst/>
          </a:prstGeom>
          <a:solidFill>
            <a:srgbClr val="47ADCF"/>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13" name="Rectangle 551"/>
          <p:cNvSpPr>
            <a:spLocks noChangeArrowheads="1"/>
          </p:cNvSpPr>
          <p:nvPr userDrawn="1"/>
        </p:nvSpPr>
        <p:spPr bwMode="auto">
          <a:xfrm>
            <a:off x="0" y="6696026"/>
            <a:ext cx="12192000" cy="161974"/>
          </a:xfrm>
          <a:prstGeom prst="rect">
            <a:avLst/>
          </a:prstGeom>
          <a:solidFill>
            <a:srgbClr val="51A83D"/>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4" name="Working Draft Text" hidden="1"/>
          <p:cNvSpPr txBox="1">
            <a:spLocks noChangeArrowheads="1"/>
          </p:cNvSpPr>
          <p:nvPr/>
        </p:nvSpPr>
        <p:spPr bwMode="auto">
          <a:xfrm>
            <a:off x="961106" y="349865"/>
            <a:ext cx="993862"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b="1" dirty="0">
                <a:solidFill>
                  <a:srgbClr val="33448D"/>
                </a:solidFill>
                <a:latin typeface="Arial"/>
              </a:rPr>
              <a:t>WORKING DRAFT</a:t>
            </a:r>
          </a:p>
        </p:txBody>
      </p:sp>
      <p:sp>
        <p:nvSpPr>
          <p:cNvPr id="5" name="doc id" hidden="1"/>
          <p:cNvSpPr txBox="1">
            <a:spLocks noChangeArrowheads="1"/>
          </p:cNvSpPr>
          <p:nvPr/>
        </p:nvSpPr>
        <p:spPr bwMode="auto">
          <a:xfrm>
            <a:off x="11485749" y="37255"/>
            <a:ext cx="401720" cy="1247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r" defTabSz="912850" eaLnBrk="1" fontAlgn="base" hangingPunct="1">
              <a:spcBef>
                <a:spcPct val="0"/>
              </a:spcBef>
              <a:spcAft>
                <a:spcPct val="0"/>
              </a:spcAft>
              <a:defRPr/>
            </a:pPr>
            <a:endParaRPr lang="es-CL" sz="800" dirty="0">
              <a:solidFill>
                <a:srgbClr val="33448D"/>
              </a:solidFill>
              <a:latin typeface="Arial"/>
            </a:endParaRPr>
          </a:p>
        </p:txBody>
      </p:sp>
      <p:sp>
        <p:nvSpPr>
          <p:cNvPr id="6" name="Working Draft" hidden="1"/>
          <p:cNvSpPr txBox="1">
            <a:spLocks noChangeArrowheads="1"/>
          </p:cNvSpPr>
          <p:nvPr/>
        </p:nvSpPr>
        <p:spPr bwMode="auto">
          <a:xfrm>
            <a:off x="961129" y="508600"/>
            <a:ext cx="2975173"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dirty="0" err="1">
                <a:solidFill>
                  <a:srgbClr val="33448D"/>
                </a:solidFill>
                <a:latin typeface="Arial"/>
              </a:rPr>
              <a:t>Last</a:t>
            </a:r>
            <a:r>
              <a:rPr lang="es-CL" sz="900" dirty="0">
                <a:solidFill>
                  <a:srgbClr val="33448D"/>
                </a:solidFill>
                <a:latin typeface="Arial"/>
              </a:rPr>
              <a:t> </a:t>
            </a:r>
            <a:r>
              <a:rPr lang="es-CL" sz="900" dirty="0" err="1">
                <a:solidFill>
                  <a:srgbClr val="33448D"/>
                </a:solidFill>
                <a:latin typeface="Arial"/>
              </a:rPr>
              <a:t>Modified</a:t>
            </a:r>
            <a:r>
              <a:rPr lang="es-CL" sz="900" dirty="0">
                <a:solidFill>
                  <a:srgbClr val="33448D"/>
                </a:solidFill>
                <a:latin typeface="Arial"/>
              </a:rPr>
              <a:t> 01-07-2014 13:41 </a:t>
            </a:r>
            <a:r>
              <a:rPr lang="es-CL" sz="900" dirty="0" err="1">
                <a:solidFill>
                  <a:srgbClr val="33448D"/>
                </a:solidFill>
                <a:latin typeface="Arial"/>
              </a:rPr>
              <a:t>Pacific</a:t>
            </a:r>
            <a:r>
              <a:rPr lang="es-CL" sz="900" dirty="0">
                <a:solidFill>
                  <a:srgbClr val="33448D"/>
                </a:solidFill>
                <a:latin typeface="Arial"/>
              </a:rPr>
              <a:t> SA Standard Time</a:t>
            </a:r>
          </a:p>
        </p:txBody>
      </p:sp>
      <p:sp>
        <p:nvSpPr>
          <p:cNvPr id="7" name="Printed" hidden="1"/>
          <p:cNvSpPr txBox="1">
            <a:spLocks noChangeArrowheads="1"/>
          </p:cNvSpPr>
          <p:nvPr/>
        </p:nvSpPr>
        <p:spPr bwMode="auto">
          <a:xfrm>
            <a:off x="961111" y="668969"/>
            <a:ext cx="2654573"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dirty="0" err="1">
                <a:solidFill>
                  <a:srgbClr val="33448D"/>
                </a:solidFill>
                <a:latin typeface="Arial"/>
              </a:rPr>
              <a:t>Printed</a:t>
            </a:r>
            <a:r>
              <a:rPr lang="es-CL" sz="900" dirty="0">
                <a:solidFill>
                  <a:srgbClr val="33448D"/>
                </a:solidFill>
                <a:latin typeface="Arial"/>
              </a:rPr>
              <a:t> 25-06-2014 18:06 </a:t>
            </a:r>
            <a:r>
              <a:rPr lang="es-CL" sz="900" dirty="0" err="1">
                <a:solidFill>
                  <a:srgbClr val="33448D"/>
                </a:solidFill>
                <a:latin typeface="Arial"/>
              </a:rPr>
              <a:t>Pacific</a:t>
            </a:r>
            <a:r>
              <a:rPr lang="es-CL" sz="900" dirty="0">
                <a:solidFill>
                  <a:srgbClr val="33448D"/>
                </a:solidFill>
                <a:latin typeface="Arial"/>
              </a:rPr>
              <a:t> SA Standard Time</a:t>
            </a:r>
          </a:p>
        </p:txBody>
      </p:sp>
      <p:pic>
        <p:nvPicPr>
          <p:cNvPr id="8" name="Imagen 7">
            <a:extLst>
              <a:ext uri="{FF2B5EF4-FFF2-40B4-BE49-F238E27FC236}">
                <a16:creationId xmlns:a16="http://schemas.microsoft.com/office/drawing/2014/main" id="{BBF44046-100D-1773-B084-56F56BD7383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2376597" y="5048676"/>
            <a:ext cx="2223747" cy="766810"/>
          </a:xfrm>
          <a:prstGeom prst="rect">
            <a:avLst/>
          </a:prstGeom>
        </p:spPr>
      </p:pic>
      <p:pic>
        <p:nvPicPr>
          <p:cNvPr id="9" name="Picture 2">
            <a:extLst>
              <a:ext uri="{FF2B5EF4-FFF2-40B4-BE49-F238E27FC236}">
                <a16:creationId xmlns:a16="http://schemas.microsoft.com/office/drawing/2014/main" id="{EEFBA749-C78A-B365-23DC-7F0704E24849}"/>
              </a:ext>
            </a:extLst>
          </p:cNvPr>
          <p:cNvPicPr>
            <a:picLocks noChangeAspect="1" noChangeArrowheads="1"/>
          </p:cNvPicPr>
          <p:nvPr userDrawn="1"/>
        </p:nvPicPr>
        <p:blipFill>
          <a:blip r:embed="rId6" cstate="print">
            <a:extLst>
              <a:ext uri="{28A0092B-C50C-407E-A947-70E740481C1C}">
                <a14:useLocalDpi xmlns:a14="http://schemas.microsoft.com/office/drawing/2010/main"/>
              </a:ext>
            </a:extLst>
          </a:blip>
          <a:srcRect/>
          <a:stretch>
            <a:fillRect/>
          </a:stretch>
        </p:blipFill>
        <p:spPr bwMode="auto">
          <a:xfrm>
            <a:off x="7752184" y="5188802"/>
            <a:ext cx="1744452" cy="4865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 name="Imagen 9">
            <a:extLst>
              <a:ext uri="{FF2B5EF4-FFF2-40B4-BE49-F238E27FC236}">
                <a16:creationId xmlns:a16="http://schemas.microsoft.com/office/drawing/2014/main" id="{C0D116E0-3C4B-1225-358A-C6B8CF7A890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441133" y="4906988"/>
            <a:ext cx="1470262" cy="1050187"/>
          </a:xfrm>
          <a:prstGeom prst="rect">
            <a:avLst/>
          </a:prstGeom>
        </p:spPr>
      </p:pic>
    </p:spTree>
    <p:extLst>
      <p:ext uri="{BB962C8B-B14F-4D97-AF65-F5344CB8AC3E}">
        <p14:creationId xmlns:p14="http://schemas.microsoft.com/office/powerpoint/2010/main" val="328125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34D11-10DB-6703-124B-453DD53812D0}"/>
              </a:ext>
            </a:extLst>
          </p:cNvPr>
          <p:cNvSpPr>
            <a:spLocks noGrp="1"/>
          </p:cNvSpPr>
          <p:nvPr>
            <p:ph type="title"/>
          </p:nvPr>
        </p:nvSpPr>
        <p:spPr/>
        <p:txBody>
          <a:bodyPr/>
          <a:lstStyle/>
          <a:p>
            <a:r>
              <a:rPr lang="es-MX" dirty="0"/>
              <a:t>Haz clic para modificar el estilo de título del patrón</a:t>
            </a:r>
            <a:endParaRPr lang="es-CL" dirty="0"/>
          </a:p>
        </p:txBody>
      </p:sp>
      <p:sp>
        <p:nvSpPr>
          <p:cNvPr id="3" name="CuadroTexto 2">
            <a:extLst>
              <a:ext uri="{FF2B5EF4-FFF2-40B4-BE49-F238E27FC236}">
                <a16:creationId xmlns:a16="http://schemas.microsoft.com/office/drawing/2014/main" id="{3806C9B1-147C-B407-D80C-28787A96EDC3}"/>
              </a:ext>
            </a:extLst>
          </p:cNvPr>
          <p:cNvSpPr txBox="1"/>
          <p:nvPr userDrawn="1"/>
        </p:nvSpPr>
        <p:spPr>
          <a:xfrm>
            <a:off x="11443317" y="506027"/>
            <a:ext cx="0" cy="0"/>
          </a:xfrm>
          <a:prstGeom prst="rect">
            <a:avLst/>
          </a:prstGeom>
          <a:solidFill>
            <a:schemeClr val="bg1"/>
          </a:solidFill>
          <a:ln w="9525">
            <a:solidFill>
              <a:schemeClr val="accent1"/>
            </a:solidFill>
            <a:miter lim="800000"/>
            <a:headEnd/>
            <a:tailEnd/>
          </a:ln>
          <a:effectLst/>
        </p:spPr>
        <p:txBody>
          <a:bodyPr vert="horz" wrap="none" lIns="72009" tIns="72009" rIns="72009" bIns="72009" numCol="1" rtlCol="0" anchor="t" anchorCtr="0" compatLnSpc="1">
            <a:prstTxWarp prst="textNoShape">
              <a:avLst/>
            </a:prstTxWarp>
            <a:noAutofit/>
          </a:bodyPr>
          <a:lstStyle/>
          <a:p>
            <a:pPr marL="1587" indent="0">
              <a:buNone/>
            </a:pPr>
            <a:endParaRPr lang="es-CL" sz="1200" dirty="0"/>
          </a:p>
        </p:txBody>
      </p:sp>
    </p:spTree>
    <p:extLst>
      <p:ext uri="{BB962C8B-B14F-4D97-AF65-F5344CB8AC3E}">
        <p14:creationId xmlns:p14="http://schemas.microsoft.com/office/powerpoint/2010/main" val="3163750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1E9E03-7433-EC28-0D56-CDE18BE09791}"/>
              </a:ext>
            </a:extLst>
          </p:cNvPr>
          <p:cNvSpPr>
            <a:spLocks noGrp="1"/>
          </p:cNvSpPr>
          <p:nvPr>
            <p:ph type="title"/>
          </p:nvPr>
        </p:nvSpPr>
        <p:spPr>
          <a:xfrm>
            <a:off x="551384" y="302459"/>
            <a:ext cx="10081120" cy="246221"/>
          </a:xfrm>
        </p:spPr>
        <p:txBody>
          <a:bodyPr/>
          <a:lstStyle/>
          <a:p>
            <a:r>
              <a:rPr lang="es-MX" dirty="0"/>
              <a:t>Haz clic para modificar el estilo de título del patrón</a:t>
            </a:r>
            <a:endParaRPr lang="es-CL" dirty="0"/>
          </a:p>
        </p:txBody>
      </p:sp>
    </p:spTree>
    <p:extLst>
      <p:ext uri="{BB962C8B-B14F-4D97-AF65-F5344CB8AC3E}">
        <p14:creationId xmlns:p14="http://schemas.microsoft.com/office/powerpoint/2010/main" val="33609602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Clic para editar título</a:t>
            </a:r>
            <a:endParaRPr lang="es-ES" dirty="0"/>
          </a:p>
        </p:txBody>
      </p:sp>
      <p:sp>
        <p:nvSpPr>
          <p:cNvPr id="3" name="Marcador de contenido 2"/>
          <p:cNvSpPr>
            <a:spLocks noGrp="1"/>
          </p:cNvSpPr>
          <p:nvPr>
            <p:ph idx="1"/>
          </p:nvPr>
        </p:nvSpPr>
        <p:spPr>
          <a:xfrm>
            <a:off x="719403" y="1694212"/>
            <a:ext cx="5853024" cy="1354217"/>
          </a:xfrm>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00" y="6356351"/>
            <a:ext cx="2844800" cy="365125"/>
          </a:xfrm>
          <a:prstGeom prst="rect">
            <a:avLst/>
          </a:prstGeom>
        </p:spPr>
        <p:txBody>
          <a:bodyPr/>
          <a:lstStyle/>
          <a:p>
            <a:fld id="{61612B48-2A55-9C45-B1F2-6E5A778CAA2F}" type="datetimeFigureOut">
              <a:rPr lang="es-ES" smtClean="0">
                <a:solidFill>
                  <a:srgbClr val="33448D"/>
                </a:solidFill>
              </a:rPr>
              <a:pPr/>
              <a:t>28/08/2026</a:t>
            </a:fld>
            <a:endParaRPr lang="es-ES">
              <a:solidFill>
                <a:srgbClr val="33448D"/>
              </a:solidFill>
            </a:endParaRPr>
          </a:p>
        </p:txBody>
      </p:sp>
      <p:sp>
        <p:nvSpPr>
          <p:cNvPr id="5" name="Marcador de pie de página 4"/>
          <p:cNvSpPr>
            <a:spLocks noGrp="1"/>
          </p:cNvSpPr>
          <p:nvPr>
            <p:ph type="ftr" sz="quarter" idx="11"/>
          </p:nvPr>
        </p:nvSpPr>
        <p:spPr>
          <a:xfrm>
            <a:off x="4165600" y="6356351"/>
            <a:ext cx="3860800" cy="365125"/>
          </a:xfrm>
          <a:prstGeom prst="rect">
            <a:avLst/>
          </a:prstGeom>
        </p:spPr>
        <p:txBody>
          <a:bodyPr/>
          <a:lstStyle/>
          <a:p>
            <a:endParaRPr lang="es-ES">
              <a:solidFill>
                <a:srgbClr val="33448D"/>
              </a:solidFill>
            </a:endParaRPr>
          </a:p>
        </p:txBody>
      </p:sp>
      <p:sp>
        <p:nvSpPr>
          <p:cNvPr id="6" name="Marcador de número de diapositiva 5"/>
          <p:cNvSpPr>
            <a:spLocks noGrp="1"/>
          </p:cNvSpPr>
          <p:nvPr>
            <p:ph type="sldNum" sz="quarter" idx="12"/>
          </p:nvPr>
        </p:nvSpPr>
        <p:spPr>
          <a:xfrm>
            <a:off x="8737600" y="6356351"/>
            <a:ext cx="2844800" cy="365125"/>
          </a:xfrm>
          <a:prstGeom prst="rect">
            <a:avLst/>
          </a:prstGeom>
        </p:spPr>
        <p:txBody>
          <a:bodyPr/>
          <a:lstStyle/>
          <a:p>
            <a:fld id="{2592153E-840E-B24B-80E3-23E3DE58F397}" type="slidenum">
              <a:rPr lang="es-ES" smtClean="0">
                <a:solidFill>
                  <a:srgbClr val="33448D"/>
                </a:solidFill>
              </a:rPr>
              <a:pPr/>
              <a:t>‹Nº›</a:t>
            </a:fld>
            <a:endParaRPr lang="es-ES">
              <a:solidFill>
                <a:srgbClr val="33448D"/>
              </a:solidFill>
            </a:endParaRPr>
          </a:p>
        </p:txBody>
      </p:sp>
    </p:spTree>
    <p:extLst>
      <p:ext uri="{BB962C8B-B14F-4D97-AF65-F5344CB8AC3E}">
        <p14:creationId xmlns:p14="http://schemas.microsoft.com/office/powerpoint/2010/main" val="3322978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Diapositiva de título">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1"/>
            </p:custDataLst>
          </p:nvPr>
        </p:nvGraphicFramePr>
        <p:xfrm>
          <a:off x="2183" y="1638"/>
          <a:ext cx="2159" cy="1619"/>
        </p:xfrm>
        <a:graphic>
          <a:graphicData uri="http://schemas.openxmlformats.org/presentationml/2006/ole">
            <mc:AlternateContent xmlns:mc="http://schemas.openxmlformats.org/markup-compatibility/2006">
              <mc:Choice xmlns:v="urn:schemas-microsoft-com:vml" Requires="v">
                <p:oleObj name="Diapositiva de think-cell" r:id="rId4" imgW="360" imgH="360" progId="TCLayout.ActiveDocument.1">
                  <p:embed/>
                </p:oleObj>
              </mc:Choice>
              <mc:Fallback>
                <p:oleObj name="Diapositiva de think-cell" r:id="rId4" imgW="360" imgH="360" progId="TCLayout.ActiveDocument.1">
                  <p:embed/>
                  <p:pic>
                    <p:nvPicPr>
                      <p:cNvPr id="2" name="Object 1" hidden="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3" y="1638"/>
                        <a:ext cx="2159" cy="1619"/>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1" name="Rectangle 549"/>
          <p:cNvSpPr>
            <a:spLocks noChangeArrowheads="1"/>
          </p:cNvSpPr>
          <p:nvPr userDrawn="1"/>
        </p:nvSpPr>
        <p:spPr bwMode="auto">
          <a:xfrm>
            <a:off x="0" y="4034798"/>
            <a:ext cx="12192000" cy="299652"/>
          </a:xfrm>
          <a:prstGeom prst="rect">
            <a:avLst/>
          </a:prstGeom>
          <a:solidFill>
            <a:srgbClr val="2C73BB"/>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12" name="Rectangle 550"/>
          <p:cNvSpPr>
            <a:spLocks noChangeArrowheads="1"/>
          </p:cNvSpPr>
          <p:nvPr userDrawn="1"/>
        </p:nvSpPr>
        <p:spPr bwMode="auto">
          <a:xfrm>
            <a:off x="0" y="4316626"/>
            <a:ext cx="12192000" cy="115001"/>
          </a:xfrm>
          <a:prstGeom prst="rect">
            <a:avLst/>
          </a:prstGeom>
          <a:solidFill>
            <a:srgbClr val="47ADCF"/>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13" name="Rectangle 551"/>
          <p:cNvSpPr>
            <a:spLocks noChangeArrowheads="1"/>
          </p:cNvSpPr>
          <p:nvPr userDrawn="1"/>
        </p:nvSpPr>
        <p:spPr bwMode="auto">
          <a:xfrm>
            <a:off x="0" y="6696026"/>
            <a:ext cx="12192000" cy="161974"/>
          </a:xfrm>
          <a:prstGeom prst="rect">
            <a:avLst/>
          </a:prstGeom>
          <a:solidFill>
            <a:srgbClr val="51A83D"/>
          </a:solidFill>
          <a:ln>
            <a:noFill/>
          </a:ln>
        </p:spPr>
        <p:txBody>
          <a:bodyPr vert="horz" wrap="square" lIns="93136" tIns="46570" rIns="93136" bIns="46570" numCol="1" anchor="t" anchorCtr="0" compatLnSpc="1">
            <a:prstTxWarp prst="textNoShape">
              <a:avLst/>
            </a:prstTxWarp>
          </a:bodyPr>
          <a:lstStyle/>
          <a:p>
            <a:pPr defTabSz="912850" fontAlgn="base">
              <a:spcBef>
                <a:spcPct val="0"/>
              </a:spcBef>
              <a:spcAft>
                <a:spcPct val="0"/>
              </a:spcAft>
            </a:pPr>
            <a:endParaRPr lang="es-CL" sz="1600" dirty="0">
              <a:solidFill>
                <a:srgbClr val="33448D"/>
              </a:solidFill>
            </a:endParaRPr>
          </a:p>
        </p:txBody>
      </p:sp>
      <p:sp>
        <p:nvSpPr>
          <p:cNvPr id="4" name="Working Draft Text" hidden="1"/>
          <p:cNvSpPr txBox="1">
            <a:spLocks noChangeArrowheads="1"/>
          </p:cNvSpPr>
          <p:nvPr/>
        </p:nvSpPr>
        <p:spPr bwMode="auto">
          <a:xfrm>
            <a:off x="961106" y="349865"/>
            <a:ext cx="993862"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b="1" dirty="0">
                <a:solidFill>
                  <a:srgbClr val="33448D"/>
                </a:solidFill>
                <a:latin typeface="Arial"/>
              </a:rPr>
              <a:t>WORKING DRAFT</a:t>
            </a:r>
          </a:p>
        </p:txBody>
      </p:sp>
      <p:sp>
        <p:nvSpPr>
          <p:cNvPr id="5" name="doc id" hidden="1"/>
          <p:cNvSpPr txBox="1">
            <a:spLocks noChangeArrowheads="1"/>
          </p:cNvSpPr>
          <p:nvPr/>
        </p:nvSpPr>
        <p:spPr bwMode="auto">
          <a:xfrm>
            <a:off x="11485749" y="37255"/>
            <a:ext cx="401720" cy="1247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r" defTabSz="912850" eaLnBrk="1" fontAlgn="base" hangingPunct="1">
              <a:spcBef>
                <a:spcPct val="0"/>
              </a:spcBef>
              <a:spcAft>
                <a:spcPct val="0"/>
              </a:spcAft>
              <a:defRPr/>
            </a:pPr>
            <a:endParaRPr lang="es-CL" sz="800" dirty="0">
              <a:solidFill>
                <a:srgbClr val="33448D"/>
              </a:solidFill>
              <a:latin typeface="Arial"/>
            </a:endParaRPr>
          </a:p>
        </p:txBody>
      </p:sp>
      <p:sp>
        <p:nvSpPr>
          <p:cNvPr id="6" name="Working Draft" hidden="1"/>
          <p:cNvSpPr txBox="1">
            <a:spLocks noChangeArrowheads="1"/>
          </p:cNvSpPr>
          <p:nvPr/>
        </p:nvSpPr>
        <p:spPr bwMode="auto">
          <a:xfrm>
            <a:off x="961129" y="508600"/>
            <a:ext cx="2975173"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dirty="0" err="1">
                <a:solidFill>
                  <a:srgbClr val="33448D"/>
                </a:solidFill>
                <a:latin typeface="Arial"/>
              </a:rPr>
              <a:t>Last</a:t>
            </a:r>
            <a:r>
              <a:rPr lang="es-CL" sz="900" dirty="0">
                <a:solidFill>
                  <a:srgbClr val="33448D"/>
                </a:solidFill>
                <a:latin typeface="Arial"/>
              </a:rPr>
              <a:t> </a:t>
            </a:r>
            <a:r>
              <a:rPr lang="es-CL" sz="900" dirty="0" err="1">
                <a:solidFill>
                  <a:srgbClr val="33448D"/>
                </a:solidFill>
                <a:latin typeface="Arial"/>
              </a:rPr>
              <a:t>Modified</a:t>
            </a:r>
            <a:r>
              <a:rPr lang="es-CL" sz="900" dirty="0">
                <a:solidFill>
                  <a:srgbClr val="33448D"/>
                </a:solidFill>
                <a:latin typeface="Arial"/>
              </a:rPr>
              <a:t> 01-07-2014 13:41 </a:t>
            </a:r>
            <a:r>
              <a:rPr lang="es-CL" sz="900" dirty="0" err="1">
                <a:solidFill>
                  <a:srgbClr val="33448D"/>
                </a:solidFill>
                <a:latin typeface="Arial"/>
              </a:rPr>
              <a:t>Pacific</a:t>
            </a:r>
            <a:r>
              <a:rPr lang="es-CL" sz="900" dirty="0">
                <a:solidFill>
                  <a:srgbClr val="33448D"/>
                </a:solidFill>
                <a:latin typeface="Arial"/>
              </a:rPr>
              <a:t> SA Standard Time</a:t>
            </a:r>
          </a:p>
        </p:txBody>
      </p:sp>
      <p:sp>
        <p:nvSpPr>
          <p:cNvPr id="7" name="Printed" hidden="1"/>
          <p:cNvSpPr txBox="1">
            <a:spLocks noChangeArrowheads="1"/>
          </p:cNvSpPr>
          <p:nvPr/>
        </p:nvSpPr>
        <p:spPr bwMode="auto">
          <a:xfrm>
            <a:off x="961111" y="668969"/>
            <a:ext cx="2654573" cy="1384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defTabSz="912850" eaLnBrk="1" fontAlgn="base" hangingPunct="1">
              <a:spcBef>
                <a:spcPct val="0"/>
              </a:spcBef>
              <a:spcAft>
                <a:spcPct val="0"/>
              </a:spcAft>
              <a:defRPr/>
            </a:pPr>
            <a:r>
              <a:rPr lang="es-CL" sz="900" dirty="0" err="1">
                <a:solidFill>
                  <a:srgbClr val="33448D"/>
                </a:solidFill>
                <a:latin typeface="Arial"/>
              </a:rPr>
              <a:t>Printed</a:t>
            </a:r>
            <a:r>
              <a:rPr lang="es-CL" sz="900" dirty="0">
                <a:solidFill>
                  <a:srgbClr val="33448D"/>
                </a:solidFill>
                <a:latin typeface="Arial"/>
              </a:rPr>
              <a:t> 25-06-2014 18:06 </a:t>
            </a:r>
            <a:r>
              <a:rPr lang="es-CL" sz="900" dirty="0" err="1">
                <a:solidFill>
                  <a:srgbClr val="33448D"/>
                </a:solidFill>
                <a:latin typeface="Arial"/>
              </a:rPr>
              <a:t>Pacific</a:t>
            </a:r>
            <a:r>
              <a:rPr lang="es-CL" sz="900" dirty="0">
                <a:solidFill>
                  <a:srgbClr val="33448D"/>
                </a:solidFill>
                <a:latin typeface="Arial"/>
              </a:rPr>
              <a:t> SA Standard Time</a:t>
            </a:r>
          </a:p>
        </p:txBody>
      </p:sp>
      <p:sp>
        <p:nvSpPr>
          <p:cNvPr id="13314" name="Rectangle 1026"/>
          <p:cNvSpPr>
            <a:spLocks noGrp="1" noChangeArrowheads="1"/>
          </p:cNvSpPr>
          <p:nvPr>
            <p:ph type="ctrTitle"/>
          </p:nvPr>
        </p:nvSpPr>
        <p:spPr>
          <a:xfrm>
            <a:off x="304554" y="1164614"/>
            <a:ext cx="9211492" cy="702104"/>
          </a:xfrm>
          <a:prstGeom prst="rect">
            <a:avLst/>
          </a:prstGeom>
          <a:solidFill>
            <a:schemeClr val="bg2">
              <a:alpha val="74000"/>
            </a:schemeClr>
          </a:solidFill>
        </p:spPr>
        <p:txBody>
          <a:bodyPr lIns="73337" tIns="73337" rIns="73337" bIns="73337"/>
          <a:lstStyle>
            <a:lvl1pPr>
              <a:defRPr sz="3600" b="0" baseline="0">
                <a:latin typeface="Calibri" charset="0"/>
                <a:ea typeface="Calibri" charset="0"/>
                <a:cs typeface="Calibri" charset="0"/>
              </a:defRPr>
            </a:lvl1pPr>
          </a:lstStyle>
          <a:p>
            <a:pPr lvl="0"/>
            <a:r>
              <a:rPr lang="es-ES_tradnl" noProof="0"/>
              <a:t>Clic para editar título</a:t>
            </a:r>
            <a:endParaRPr lang="es-CL" noProof="0" dirty="0"/>
          </a:p>
        </p:txBody>
      </p:sp>
      <p:sp>
        <p:nvSpPr>
          <p:cNvPr id="13315" name="Rectangle 1027"/>
          <p:cNvSpPr>
            <a:spLocks noGrp="1" noChangeArrowheads="1"/>
          </p:cNvSpPr>
          <p:nvPr>
            <p:ph type="subTitle" idx="1"/>
          </p:nvPr>
        </p:nvSpPr>
        <p:spPr>
          <a:xfrm>
            <a:off x="961120" y="5044946"/>
            <a:ext cx="6714779" cy="246221"/>
          </a:xfrm>
        </p:spPr>
        <p:txBody>
          <a:bodyPr>
            <a:spAutoFit/>
          </a:bodyPr>
          <a:lstStyle>
            <a:lvl1pPr>
              <a:defRPr sz="1600" baseline="0">
                <a:latin typeface="Calibri" charset="0"/>
                <a:ea typeface="Calibri" charset="0"/>
                <a:cs typeface="Calibri" charset="0"/>
              </a:defRPr>
            </a:lvl1pPr>
          </a:lstStyle>
          <a:p>
            <a:pPr lvl="0"/>
            <a:r>
              <a:rPr lang="es-ES_tradnl" noProof="0"/>
              <a:t>Haga clic para modificar el estilo de subtítulo del patrón</a:t>
            </a:r>
            <a:endParaRPr lang="es-CL" noProof="0" dirty="0"/>
          </a:p>
        </p:txBody>
      </p:sp>
      <p:pic>
        <p:nvPicPr>
          <p:cNvPr id="14" name="Imagen 6"/>
          <p:cNvPicPr>
            <a:picLocks noChangeAspect="1"/>
          </p:cNvPicPr>
          <p:nvPr userDrawn="1">
            <p:custDataLst>
              <p:tags r:id="rId2"/>
            </p:custDataLst>
          </p:nvPr>
        </p:nvPicPr>
        <p:blipFill>
          <a:blip r:embed="rId6" cstate="email">
            <a:extLst>
              <a:ext uri="{28A0092B-C50C-407E-A947-70E740481C1C}">
                <a14:useLocalDpi xmlns:a14="http://schemas.microsoft.com/office/drawing/2010/main"/>
              </a:ext>
            </a:extLst>
          </a:blip>
          <a:stretch>
            <a:fillRect/>
          </a:stretch>
        </p:blipFill>
        <p:spPr>
          <a:xfrm>
            <a:off x="10032438" y="2787731"/>
            <a:ext cx="1863983" cy="1235586"/>
          </a:xfrm>
          <a:prstGeom prst="rect">
            <a:avLst/>
          </a:prstGeom>
        </p:spPr>
      </p:pic>
    </p:spTree>
    <p:extLst>
      <p:ext uri="{BB962C8B-B14F-4D97-AF65-F5344CB8AC3E}">
        <p14:creationId xmlns:p14="http://schemas.microsoft.com/office/powerpoint/2010/main" val="1057026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24.xml"/><Relationship Id="rId7" Type="http://schemas.openxmlformats.org/officeDocument/2006/relationships/tags" Target="../tags/tag1.xml"/><Relationship Id="rId12" Type="http://schemas.openxmlformats.org/officeDocument/2006/relationships/image" Target="../media/image29.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11" Type="http://schemas.openxmlformats.org/officeDocument/2006/relationships/image" Target="../media/image28.emf"/><Relationship Id="rId5" Type="http://schemas.openxmlformats.org/officeDocument/2006/relationships/slideLayout" Target="../slideLayouts/slideLayout26.xml"/><Relationship Id="rId10" Type="http://schemas.openxmlformats.org/officeDocument/2006/relationships/oleObject" Target="../embeddings/oleObject1.bin"/><Relationship Id="rId4" Type="http://schemas.openxmlformats.org/officeDocument/2006/relationships/slideLayout" Target="../slideLayouts/slideLayout25.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F684697-F678-FB20-AE71-16D0E0982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L" dirty="0"/>
          </a:p>
        </p:txBody>
      </p:sp>
      <p:sp>
        <p:nvSpPr>
          <p:cNvPr id="3" name="Marcador de texto 2">
            <a:extLst>
              <a:ext uri="{FF2B5EF4-FFF2-40B4-BE49-F238E27FC236}">
                <a16:creationId xmlns:a16="http://schemas.microsoft.com/office/drawing/2014/main" id="{B91D8D46-A435-7609-F085-E30CB91AA9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L" dirty="0"/>
          </a:p>
        </p:txBody>
      </p:sp>
      <p:sp>
        <p:nvSpPr>
          <p:cNvPr id="4" name="Marcador de fecha 3">
            <a:extLst>
              <a:ext uri="{FF2B5EF4-FFF2-40B4-BE49-F238E27FC236}">
                <a16:creationId xmlns:a16="http://schemas.microsoft.com/office/drawing/2014/main" id="{59262076-07EE-66B6-855F-3206E2CBF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s-CL"/>
          </a:p>
        </p:txBody>
      </p:sp>
      <p:sp>
        <p:nvSpPr>
          <p:cNvPr id="5" name="Marcador de pie de página 4">
            <a:extLst>
              <a:ext uri="{FF2B5EF4-FFF2-40B4-BE49-F238E27FC236}">
                <a16:creationId xmlns:a16="http://schemas.microsoft.com/office/drawing/2014/main" id="{670FBAB8-B65A-403A-FEE3-41A5550DC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AB83760B-AB1D-EB27-31B0-9739BDBC3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0A357F-9693-446B-B851-CFA52F9A264B}" type="slidenum">
              <a:rPr lang="es-CL" smtClean="0"/>
              <a:t>‹Nº›</a:t>
            </a:fld>
            <a:endParaRPr lang="es-CL"/>
          </a:p>
        </p:txBody>
      </p:sp>
    </p:spTree>
    <p:extLst>
      <p:ext uri="{BB962C8B-B14F-4D97-AF65-F5344CB8AC3E}">
        <p14:creationId xmlns:p14="http://schemas.microsoft.com/office/powerpoint/2010/main" val="321847810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8" r:id="rId21"/>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p:custDataLst>
              <p:tags r:id="rId7"/>
            </p:custDataLst>
            <p:extLst>
              <p:ext uri="{D42A27DB-BD31-4B8C-83A1-F6EECF244321}">
                <p14:modId xmlns:p14="http://schemas.microsoft.com/office/powerpoint/2010/main" val="4065311673"/>
              </p:ext>
            </p:extLst>
          </p:nvPr>
        </p:nvGraphicFramePr>
        <p:xfrm>
          <a:off x="0" y="0"/>
          <a:ext cx="215979" cy="161974"/>
        </p:xfrm>
        <a:graphic>
          <a:graphicData uri="http://schemas.openxmlformats.org/presentationml/2006/ole">
            <mc:AlternateContent xmlns:mc="http://schemas.openxmlformats.org/markup-compatibility/2006">
              <mc:Choice xmlns:v="urn:schemas-microsoft-com:vml" Requires="v">
                <p:oleObj name="Diapositiva de think-cell" r:id="rId10" imgW="360" imgH="360" progId="TCLayout.ActiveDocument.1">
                  <p:embed/>
                </p:oleObj>
              </mc:Choice>
              <mc:Fallback>
                <p:oleObj name="Diapositiva de think-cell" r:id="rId10" imgW="360" imgH="360" progId="TCLayout.ActiveDocument.1">
                  <p:embed/>
                  <p:pic>
                    <p:nvPicPr>
                      <p:cNvPr id="2" name="Object 1" hidden="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215979" cy="161974"/>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Rectángulo 2" hidden="1"/>
          <p:cNvSpPr/>
          <p:nvPr>
            <p:custDataLst>
              <p:tags r:id="rId8"/>
            </p:custDataLst>
          </p:nvPr>
        </p:nvSpPr>
        <p:spPr>
          <a:xfrm>
            <a:off x="0" y="0"/>
            <a:ext cx="211667" cy="15875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s-ES" sz="2000" b="1" i="0" baseline="0" dirty="0">
              <a:solidFill>
                <a:schemeClr val="tx1"/>
              </a:solidFill>
              <a:latin typeface="Calibri" panose="020F0502020204030204" pitchFamily="34" charset="0"/>
              <a:cs typeface="Calibri" panose="020F0502020204030204" pitchFamily="34" charset="0"/>
              <a:sym typeface="Calibri" panose="020F0502020204030204" pitchFamily="34" charset="0"/>
            </a:endParaRPr>
          </a:p>
        </p:txBody>
      </p:sp>
      <p:sp>
        <p:nvSpPr>
          <p:cNvPr id="1036" name="Rectangle 286"/>
          <p:cNvSpPr>
            <a:spLocks noGrp="1" noChangeArrowheads="1"/>
          </p:cNvSpPr>
          <p:nvPr>
            <p:ph type="body" idx="1"/>
          </p:nvPr>
        </p:nvSpPr>
        <p:spPr bwMode="auto">
          <a:xfrm>
            <a:off x="719403" y="1694212"/>
            <a:ext cx="5853024" cy="9848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1"/>
            <a:r>
              <a:rPr lang="es-ES" noProof="0" dirty="0"/>
              <a:t>Segundo nivel</a:t>
            </a:r>
          </a:p>
          <a:p>
            <a:pPr lvl="2"/>
            <a:r>
              <a:rPr lang="es-ES" noProof="0" dirty="0"/>
              <a:t>Tercer nivel</a:t>
            </a:r>
          </a:p>
          <a:p>
            <a:pPr lvl="3"/>
            <a:r>
              <a:rPr lang="es-ES" noProof="0" dirty="0"/>
              <a:t>Cuarto nivel</a:t>
            </a:r>
          </a:p>
          <a:p>
            <a:pPr lvl="4"/>
            <a:r>
              <a:rPr lang="es-ES" noProof="0" dirty="0"/>
              <a:t>Quinto nivel</a:t>
            </a:r>
            <a:endParaRPr lang="es-CL" noProof="0" dirty="0"/>
          </a:p>
        </p:txBody>
      </p:sp>
      <p:sp>
        <p:nvSpPr>
          <p:cNvPr id="19" name="Title Placeholder 2"/>
          <p:cNvSpPr>
            <a:spLocks noGrp="1" noChangeArrowheads="1"/>
          </p:cNvSpPr>
          <p:nvPr>
            <p:ph type="title"/>
          </p:nvPr>
        </p:nvSpPr>
        <p:spPr bwMode="auto">
          <a:xfrm>
            <a:off x="551384" y="302459"/>
            <a:ext cx="10081120"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2"/>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s-ES" noProof="0" dirty="0"/>
              <a:t>Haga clic para modificar el estilo de título del patrón</a:t>
            </a:r>
            <a:endParaRPr lang="es-CL" noProof="0" dirty="0"/>
          </a:p>
        </p:txBody>
      </p:sp>
      <p:sp>
        <p:nvSpPr>
          <p:cNvPr id="10" name="McK 1. On-page tracker" hidden="1"/>
          <p:cNvSpPr>
            <a:spLocks noChangeArrowheads="1"/>
          </p:cNvSpPr>
          <p:nvPr/>
        </p:nvSpPr>
        <p:spPr bwMode="auto">
          <a:xfrm>
            <a:off x="161984" y="27536"/>
            <a:ext cx="859210" cy="2154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2850" fontAlgn="base">
              <a:spcBef>
                <a:spcPct val="0"/>
              </a:spcBef>
              <a:spcAft>
                <a:spcPct val="0"/>
              </a:spcAft>
            </a:pPr>
            <a:r>
              <a:rPr lang="es-CL" sz="1400" dirty="0">
                <a:solidFill>
                  <a:srgbClr val="808080"/>
                </a:solidFill>
              </a:rPr>
              <a:t>TRACKER</a:t>
            </a:r>
          </a:p>
        </p:txBody>
      </p:sp>
      <p:sp>
        <p:nvSpPr>
          <p:cNvPr id="11" name="McK 3. Unit of measure" hidden="1"/>
          <p:cNvSpPr txBox="1">
            <a:spLocks noChangeArrowheads="1"/>
          </p:cNvSpPr>
          <p:nvPr/>
        </p:nvSpPr>
        <p:spPr bwMode="auto">
          <a:xfrm>
            <a:off x="162007" y="542615"/>
            <a:ext cx="11725484" cy="219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s-CL" sz="1400" dirty="0">
                <a:solidFill>
                  <a:srgbClr val="808080"/>
                </a:solidFill>
                <a:latin typeface="Arial"/>
              </a:rPr>
              <a:t>Unit of measure</a:t>
            </a:r>
          </a:p>
        </p:txBody>
      </p:sp>
      <p:grpSp>
        <p:nvGrpSpPr>
          <p:cNvPr id="12" name="McK Slide Elements" hidden="1"/>
          <p:cNvGrpSpPr>
            <a:grpSpLocks/>
          </p:cNvGrpSpPr>
          <p:nvPr/>
        </p:nvGrpSpPr>
        <p:grpSpPr bwMode="auto">
          <a:xfrm>
            <a:off x="161986" y="6503346"/>
            <a:ext cx="10256829" cy="288318"/>
            <a:chOff x="75" y="4015"/>
            <a:chExt cx="4749" cy="178"/>
          </a:xfrm>
        </p:grpSpPr>
        <p:sp>
          <p:nvSpPr>
            <p:cNvPr id="13" name="McK 4. Footnote"/>
            <p:cNvSpPr txBox="1">
              <a:spLocks noChangeArrowheads="1"/>
            </p:cNvSpPr>
            <p:nvPr/>
          </p:nvSpPr>
          <p:spPr bwMode="auto">
            <a:xfrm>
              <a:off x="75" y="4015"/>
              <a:ext cx="4749" cy="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s-CL" sz="900" dirty="0">
                  <a:solidFill>
                    <a:srgbClr val="33448D"/>
                  </a:solidFill>
                  <a:latin typeface="Arial"/>
                </a:rPr>
                <a:t>1 Footnote</a:t>
              </a:r>
            </a:p>
          </p:txBody>
        </p:sp>
        <p:sp>
          <p:nvSpPr>
            <p:cNvPr id="14" name="McK 5. Source"/>
            <p:cNvSpPr>
              <a:spLocks noChangeArrowheads="1"/>
            </p:cNvSpPr>
            <p:nvPr/>
          </p:nvSpPr>
          <p:spPr bwMode="auto">
            <a:xfrm>
              <a:off x="75" y="4106"/>
              <a:ext cx="4749" cy="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marL="620921" indent="-620921" defTabSz="911978" fontAlgn="base">
                <a:spcBef>
                  <a:spcPct val="0"/>
                </a:spcBef>
                <a:spcAft>
                  <a:spcPct val="0"/>
                </a:spcAft>
                <a:tabLst>
                  <a:tab pos="624154" algn="l"/>
                </a:tabLst>
              </a:pPr>
              <a:r>
                <a:rPr lang="es-CL" sz="900" dirty="0">
                  <a:solidFill>
                    <a:srgbClr val="33448D"/>
                  </a:solidFill>
                </a:rPr>
                <a:t>SOURCE: Source</a:t>
              </a:r>
            </a:p>
          </p:txBody>
        </p:sp>
      </p:grpSp>
      <p:grpSp>
        <p:nvGrpSpPr>
          <p:cNvPr id="15" name="ACET" hidden="1"/>
          <p:cNvGrpSpPr>
            <a:grpSpLocks/>
          </p:cNvGrpSpPr>
          <p:nvPr/>
        </p:nvGrpSpPr>
        <p:grpSpPr bwMode="auto">
          <a:xfrm>
            <a:off x="1976220" y="1150019"/>
            <a:ext cx="5801189"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defTabSz="912850" fontAlgn="base">
                <a:spcBef>
                  <a:spcPct val="0"/>
                </a:spcBef>
                <a:spcAft>
                  <a:spcPct val="0"/>
                </a:spcAft>
              </a:pPr>
              <a:r>
                <a:rPr lang="es-CL" sz="1600" b="1" dirty="0">
                  <a:solidFill>
                    <a:srgbClr val="33448D"/>
                  </a:solidFill>
                </a:rPr>
                <a:t>Title</a:t>
              </a:r>
            </a:p>
            <a:p>
              <a:pPr defTabSz="912850" fontAlgn="base">
                <a:spcBef>
                  <a:spcPct val="0"/>
                </a:spcBef>
                <a:spcAft>
                  <a:spcPct val="0"/>
                </a:spcAft>
              </a:pPr>
              <a:r>
                <a:rPr lang="es-CL" sz="1600" dirty="0">
                  <a:solidFill>
                    <a:srgbClr val="808080"/>
                  </a:solidFill>
                </a:rPr>
                <a:t>Unit of measure</a:t>
              </a:r>
            </a:p>
          </p:txBody>
        </p:sp>
      </p:grpSp>
      <p:sp>
        <p:nvSpPr>
          <p:cNvPr id="18" name="Slide Number"/>
          <p:cNvSpPr txBox="1">
            <a:spLocks/>
          </p:cNvSpPr>
          <p:nvPr/>
        </p:nvSpPr>
        <p:spPr>
          <a:xfrm>
            <a:off x="11716644" y="6566446"/>
            <a:ext cx="284012" cy="155496"/>
          </a:xfrm>
          <a:prstGeom prst="rect">
            <a:avLst/>
          </a:prstGeom>
        </p:spPr>
        <p:txBody>
          <a:bodyPr vert="horz" wrap="none" lIns="0" tIns="0" rIns="0" bIns="0" rtlCol="0" anchor="ctr">
            <a:noAutofit/>
          </a:bodyPr>
          <a:lstStyle>
            <a:defPPr>
              <a:defRPr lang="en-US"/>
            </a:defPPr>
            <a:lvl1pPr>
              <a:defRPr sz="1000" baseline="0">
                <a:latin typeface="+mn-lt"/>
              </a:defRPr>
            </a:lvl1pPr>
          </a:lstStyle>
          <a:p>
            <a:pPr defTabSz="912850" fontAlgn="base">
              <a:spcBef>
                <a:spcPct val="0"/>
              </a:spcBef>
              <a:spcAft>
                <a:spcPct val="0"/>
              </a:spcAft>
            </a:pPr>
            <a:fld id="{42C328C1-A84F-4A39-A664-DBA00541A8C6}" type="slidenum">
              <a:rPr lang="es-CL" sz="1000" smtClean="0">
                <a:solidFill>
                  <a:srgbClr val="33448D"/>
                </a:solidFill>
              </a:rPr>
              <a:pPr defTabSz="912850" fontAlgn="base">
                <a:spcBef>
                  <a:spcPct val="0"/>
                </a:spcBef>
                <a:spcAft>
                  <a:spcPct val="0"/>
                </a:spcAft>
              </a:pPr>
              <a:t>‹Nº›</a:t>
            </a:fld>
            <a:endParaRPr lang="es-CL" sz="1000" dirty="0">
              <a:solidFill>
                <a:srgbClr val="33448D"/>
              </a:solidFill>
            </a:endParaRPr>
          </a:p>
        </p:txBody>
      </p:sp>
      <p:sp>
        <p:nvSpPr>
          <p:cNvPr id="20" name="AutoShape 35"/>
          <p:cNvSpPr>
            <a:spLocks noChangeArrowheads="1"/>
          </p:cNvSpPr>
          <p:nvPr/>
        </p:nvSpPr>
        <p:spPr bwMode="gray">
          <a:xfrm>
            <a:off x="0" y="831533"/>
            <a:ext cx="12192000" cy="46648"/>
          </a:xfrm>
          <a:prstGeom prst="roundRect">
            <a:avLst>
              <a:gd name="adj" fmla="val 11644"/>
            </a:avLst>
          </a:prstGeom>
          <a:solidFill>
            <a:srgbClr val="2C73BB"/>
          </a:solidFill>
          <a:ln>
            <a:noFill/>
            <a:headEnd/>
            <a:tailEnd/>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vert="horz" wrap="square" lIns="93136" tIns="46570" rIns="93136" bIns="46570" numCol="1" anchor="ctr" anchorCtr="0" compatLnSpc="1">
            <a:prstTxWarp prst="textNoShape">
              <a:avLst/>
            </a:prstTxWarp>
          </a:bodyPr>
          <a:lstStyle/>
          <a:p>
            <a:pPr algn="ctr" defTabSz="912850" fontAlgn="base">
              <a:spcBef>
                <a:spcPct val="0"/>
              </a:spcBef>
              <a:spcAft>
                <a:spcPct val="0"/>
              </a:spcAft>
            </a:pPr>
            <a:endParaRPr lang="es-CL" sz="1800" dirty="0">
              <a:solidFill>
                <a:srgbClr val="000000"/>
              </a:solidFill>
              <a:cs typeface="Arial" pitchFamily="34" charset="0"/>
            </a:endParaRPr>
          </a:p>
        </p:txBody>
      </p:sp>
      <p:pic>
        <p:nvPicPr>
          <p:cNvPr id="22" name="Imagen 6"/>
          <p:cNvPicPr>
            <a:picLocks noChangeAspect="1"/>
          </p:cNvPicPr>
          <p:nvPr>
            <p:custDataLst>
              <p:tags r:id="rId9"/>
            </p:custDataLst>
          </p:nvPr>
        </p:nvPicPr>
        <p:blipFill>
          <a:blip r:embed="rId12" cstate="email">
            <a:extLst>
              <a:ext uri="{28A0092B-C50C-407E-A947-70E740481C1C}">
                <a14:useLocalDpi xmlns:a14="http://schemas.microsoft.com/office/drawing/2010/main"/>
              </a:ext>
            </a:extLst>
          </a:blip>
          <a:stretch>
            <a:fillRect/>
          </a:stretch>
        </p:blipFill>
        <p:spPr>
          <a:xfrm>
            <a:off x="11208568" y="111753"/>
            <a:ext cx="876400" cy="580943"/>
          </a:xfrm>
          <a:prstGeom prst="rect">
            <a:avLst/>
          </a:prstGeom>
        </p:spPr>
      </p:pic>
    </p:spTree>
    <p:extLst>
      <p:ext uri="{BB962C8B-B14F-4D97-AF65-F5344CB8AC3E}">
        <p14:creationId xmlns:p14="http://schemas.microsoft.com/office/powerpoint/2010/main" val="181918864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Lst>
  <p:hf hdr="0" ftr="0" dt="0"/>
  <p:txStyles>
    <p:titleStyle>
      <a:lvl1pPr algn="l" defTabSz="911978" rtl="0" eaLnBrk="1" fontAlgn="base" hangingPunct="1">
        <a:spcBef>
          <a:spcPct val="0"/>
        </a:spcBef>
        <a:spcAft>
          <a:spcPct val="0"/>
        </a:spcAft>
        <a:tabLst>
          <a:tab pos="274887" algn="l"/>
        </a:tabLst>
        <a:defRPr sz="1600" b="1" baseline="0">
          <a:solidFill>
            <a:schemeClr val="tx2"/>
          </a:solidFill>
          <a:latin typeface="Calibri" charset="0"/>
          <a:ea typeface="Calibri" charset="0"/>
          <a:cs typeface="Calibri" charset="0"/>
        </a:defRPr>
      </a:lvl1pPr>
      <a:lvl2pPr algn="l" defTabSz="911978" rtl="0" eaLnBrk="1" fontAlgn="base" hangingPunct="1">
        <a:spcBef>
          <a:spcPct val="0"/>
        </a:spcBef>
        <a:spcAft>
          <a:spcPct val="0"/>
        </a:spcAft>
        <a:defRPr sz="1900" b="1">
          <a:solidFill>
            <a:schemeClr val="tx2"/>
          </a:solidFill>
          <a:latin typeface="Arial" charset="0"/>
        </a:defRPr>
      </a:lvl2pPr>
      <a:lvl3pPr algn="l" defTabSz="911978" rtl="0" eaLnBrk="1" fontAlgn="base" hangingPunct="1">
        <a:spcBef>
          <a:spcPct val="0"/>
        </a:spcBef>
        <a:spcAft>
          <a:spcPct val="0"/>
        </a:spcAft>
        <a:defRPr sz="1900" b="1">
          <a:solidFill>
            <a:schemeClr val="tx2"/>
          </a:solidFill>
          <a:latin typeface="Arial" charset="0"/>
        </a:defRPr>
      </a:lvl3pPr>
      <a:lvl4pPr algn="l" defTabSz="911978" rtl="0" eaLnBrk="1" fontAlgn="base" hangingPunct="1">
        <a:spcBef>
          <a:spcPct val="0"/>
        </a:spcBef>
        <a:spcAft>
          <a:spcPct val="0"/>
        </a:spcAft>
        <a:defRPr sz="1900" b="1">
          <a:solidFill>
            <a:schemeClr val="tx2"/>
          </a:solidFill>
          <a:latin typeface="Arial" charset="0"/>
        </a:defRPr>
      </a:lvl4pPr>
      <a:lvl5pPr algn="l" defTabSz="911978" rtl="0" eaLnBrk="1" fontAlgn="base" hangingPunct="1">
        <a:spcBef>
          <a:spcPct val="0"/>
        </a:spcBef>
        <a:spcAft>
          <a:spcPct val="0"/>
        </a:spcAft>
        <a:defRPr sz="1900" b="1">
          <a:solidFill>
            <a:schemeClr val="tx2"/>
          </a:solidFill>
          <a:latin typeface="Arial" charset="0"/>
        </a:defRPr>
      </a:lvl5pPr>
      <a:lvl6pPr marL="465681" algn="l" defTabSz="911978" rtl="0" eaLnBrk="1" fontAlgn="base" hangingPunct="1">
        <a:spcBef>
          <a:spcPct val="0"/>
        </a:spcBef>
        <a:spcAft>
          <a:spcPct val="0"/>
        </a:spcAft>
        <a:defRPr sz="1900" b="1">
          <a:solidFill>
            <a:schemeClr val="tx2"/>
          </a:solidFill>
          <a:latin typeface="Arial" charset="0"/>
        </a:defRPr>
      </a:lvl6pPr>
      <a:lvl7pPr marL="931383" algn="l" defTabSz="911978" rtl="0" eaLnBrk="1" fontAlgn="base" hangingPunct="1">
        <a:spcBef>
          <a:spcPct val="0"/>
        </a:spcBef>
        <a:spcAft>
          <a:spcPct val="0"/>
        </a:spcAft>
        <a:defRPr sz="1900" b="1">
          <a:solidFill>
            <a:schemeClr val="tx2"/>
          </a:solidFill>
          <a:latin typeface="Arial" charset="0"/>
        </a:defRPr>
      </a:lvl7pPr>
      <a:lvl8pPr marL="1397075" algn="l" defTabSz="911978" rtl="0" eaLnBrk="1" fontAlgn="base" hangingPunct="1">
        <a:spcBef>
          <a:spcPct val="0"/>
        </a:spcBef>
        <a:spcAft>
          <a:spcPct val="0"/>
        </a:spcAft>
        <a:defRPr sz="1900" b="1">
          <a:solidFill>
            <a:schemeClr val="tx2"/>
          </a:solidFill>
          <a:latin typeface="Arial" charset="0"/>
        </a:defRPr>
      </a:lvl8pPr>
      <a:lvl9pPr marL="1862761" algn="l" defTabSz="911978" rtl="0" eaLnBrk="1" fontAlgn="base" hangingPunct="1">
        <a:spcBef>
          <a:spcPct val="0"/>
        </a:spcBef>
        <a:spcAft>
          <a:spcPct val="0"/>
        </a:spcAft>
        <a:defRPr sz="1900" b="1">
          <a:solidFill>
            <a:schemeClr val="tx2"/>
          </a:solidFill>
          <a:latin typeface="Arial" charset="0"/>
        </a:defRPr>
      </a:lvl9pPr>
    </p:titleStyle>
    <p:bodyStyle>
      <a:lvl1pPr marL="0" indent="0" algn="l" defTabSz="91197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272" indent="-195656" algn="l" defTabSz="911978" rtl="0" eaLnBrk="1" fontAlgn="base" hangingPunct="1">
        <a:spcBef>
          <a:spcPct val="0"/>
        </a:spcBef>
        <a:spcAft>
          <a:spcPct val="0"/>
        </a:spcAft>
        <a:buClr>
          <a:schemeClr val="tx2"/>
        </a:buClr>
        <a:buSzPct val="125000"/>
        <a:buFont typeface="Arial" charset="0"/>
        <a:buChar char="▪"/>
        <a:defRPr sz="1600" baseline="0">
          <a:solidFill>
            <a:schemeClr val="tx1"/>
          </a:solidFill>
          <a:latin typeface="Calibri" charset="0"/>
          <a:ea typeface="Calibri" charset="0"/>
          <a:cs typeface="Calibri" charset="0"/>
        </a:defRPr>
      </a:lvl2pPr>
      <a:lvl3pPr marL="465681" indent="-266802"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Calibri" charset="0"/>
          <a:ea typeface="Calibri" charset="0"/>
          <a:cs typeface="Calibri" charset="0"/>
        </a:defRPr>
      </a:lvl3pPr>
      <a:lvl4pPr marL="625773" indent="-158466"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Calibri" charset="0"/>
          <a:ea typeface="Calibri" charset="0"/>
          <a:cs typeface="Calibri" charset="0"/>
        </a:defRPr>
      </a:lvl4pPr>
      <a:lvl5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Calibri" charset="0"/>
          <a:ea typeface="Calibri" charset="0"/>
          <a:cs typeface="Calibri" charset="0"/>
        </a:defRPr>
      </a:lvl5pPr>
      <a:lvl6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1383" rtl="0" eaLnBrk="1" latinLnBrk="0" hangingPunct="1">
        <a:defRPr sz="1800" kern="1200">
          <a:solidFill>
            <a:schemeClr val="tx1"/>
          </a:solidFill>
          <a:latin typeface="+mn-lt"/>
          <a:ea typeface="+mn-ea"/>
          <a:cs typeface="+mn-cs"/>
        </a:defRPr>
      </a:lvl1pPr>
      <a:lvl2pPr marL="465681" algn="l" defTabSz="931383" rtl="0" eaLnBrk="1" latinLnBrk="0" hangingPunct="1">
        <a:defRPr sz="1800" kern="1200">
          <a:solidFill>
            <a:schemeClr val="tx1"/>
          </a:solidFill>
          <a:latin typeface="+mn-lt"/>
          <a:ea typeface="+mn-ea"/>
          <a:cs typeface="+mn-cs"/>
        </a:defRPr>
      </a:lvl2pPr>
      <a:lvl3pPr marL="931383" algn="l" defTabSz="931383" rtl="0" eaLnBrk="1" latinLnBrk="0" hangingPunct="1">
        <a:defRPr sz="1800" kern="1200">
          <a:solidFill>
            <a:schemeClr val="tx1"/>
          </a:solidFill>
          <a:latin typeface="+mn-lt"/>
          <a:ea typeface="+mn-ea"/>
          <a:cs typeface="+mn-cs"/>
        </a:defRPr>
      </a:lvl3pPr>
      <a:lvl4pPr marL="1397075" algn="l" defTabSz="931383" rtl="0" eaLnBrk="1" latinLnBrk="0" hangingPunct="1">
        <a:defRPr sz="1800" kern="1200">
          <a:solidFill>
            <a:schemeClr val="tx1"/>
          </a:solidFill>
          <a:latin typeface="+mn-lt"/>
          <a:ea typeface="+mn-ea"/>
          <a:cs typeface="+mn-cs"/>
        </a:defRPr>
      </a:lvl4pPr>
      <a:lvl5pPr marL="1862761" algn="l" defTabSz="931383" rtl="0" eaLnBrk="1" latinLnBrk="0" hangingPunct="1">
        <a:defRPr sz="1800" kern="1200">
          <a:solidFill>
            <a:schemeClr val="tx1"/>
          </a:solidFill>
          <a:latin typeface="+mn-lt"/>
          <a:ea typeface="+mn-ea"/>
          <a:cs typeface="+mn-cs"/>
        </a:defRPr>
      </a:lvl5pPr>
      <a:lvl6pPr marL="2328453" algn="l" defTabSz="931383" rtl="0" eaLnBrk="1" latinLnBrk="0" hangingPunct="1">
        <a:defRPr sz="1800" kern="1200">
          <a:solidFill>
            <a:schemeClr val="tx1"/>
          </a:solidFill>
          <a:latin typeface="+mn-lt"/>
          <a:ea typeface="+mn-ea"/>
          <a:cs typeface="+mn-cs"/>
        </a:defRPr>
      </a:lvl6pPr>
      <a:lvl7pPr marL="2794142" algn="l" defTabSz="931383" rtl="0" eaLnBrk="1" latinLnBrk="0" hangingPunct="1">
        <a:defRPr sz="1800" kern="1200">
          <a:solidFill>
            <a:schemeClr val="tx1"/>
          </a:solidFill>
          <a:latin typeface="+mn-lt"/>
          <a:ea typeface="+mn-ea"/>
          <a:cs typeface="+mn-cs"/>
        </a:defRPr>
      </a:lvl7pPr>
      <a:lvl8pPr marL="3259834" algn="l" defTabSz="931383" rtl="0" eaLnBrk="1" latinLnBrk="0" hangingPunct="1">
        <a:defRPr sz="1800" kern="1200">
          <a:solidFill>
            <a:schemeClr val="tx1"/>
          </a:solidFill>
          <a:latin typeface="+mn-lt"/>
          <a:ea typeface="+mn-ea"/>
          <a:cs typeface="+mn-cs"/>
        </a:defRPr>
      </a:lvl8pPr>
      <a:lvl9pPr marL="3725525" algn="l" defTabSz="93138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themeOverride" Target="../theme/themeOverride1.xml"/></Relationships>
</file>

<file path=ppt/slides/_rels/slide2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Layout" Target="../slideLayouts/slideLayout3.xml"/><Relationship Id="rId7" Type="http://schemas.openxmlformats.org/officeDocument/2006/relationships/image" Target="../media/image47.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5.png"/><Relationship Id="rId5" Type="http://schemas.openxmlformats.org/officeDocument/2006/relationships/image" Target="../media/image46.emf"/><Relationship Id="rId4"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928356" y="5044946"/>
            <a:ext cx="5036084" cy="553998"/>
          </a:xfrm>
        </p:spPr>
        <p:txBody>
          <a:bodyPr/>
          <a:lstStyle/>
          <a:p>
            <a:r>
              <a:rPr lang="es-CL" sz="2000" b="1" dirty="0">
                <a:solidFill>
                  <a:schemeClr val="tx1">
                    <a:lumMod val="50000"/>
                  </a:schemeClr>
                </a:solidFill>
              </a:rPr>
              <a:t>Comité TECSERVICE</a:t>
            </a:r>
          </a:p>
          <a:p>
            <a:r>
              <a:rPr lang="es-CL" dirty="0">
                <a:solidFill>
                  <a:schemeClr val="tx1">
                    <a:lumMod val="50000"/>
                  </a:schemeClr>
                </a:solidFill>
              </a:rPr>
              <a:t>31 Agosto 2026</a:t>
            </a:r>
          </a:p>
        </p:txBody>
      </p:sp>
      <p:sp>
        <p:nvSpPr>
          <p:cNvPr id="6" name="McK Disclaimer"/>
          <p:cNvSpPr>
            <a:spLocks noChangeArrowheads="1"/>
          </p:cNvSpPr>
          <p:nvPr/>
        </p:nvSpPr>
        <p:spPr bwMode="auto">
          <a:xfrm>
            <a:off x="8400256" y="6309320"/>
            <a:ext cx="4427984" cy="2510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p>
            <a:pPr marL="0" marR="0" lvl="0" indent="0" algn="l" defTabSz="821202" rtl="0" eaLnBrk="0" fontAlgn="base" latinLnBrk="0" hangingPunct="0">
              <a:lnSpc>
                <a:spcPct val="100000"/>
              </a:lnSpc>
              <a:spcBef>
                <a:spcPct val="0"/>
              </a:spcBef>
              <a:spcAft>
                <a:spcPct val="0"/>
              </a:spcAft>
              <a:buClrTx/>
              <a:buSzTx/>
              <a:buFontTx/>
              <a:buNone/>
              <a:tabLst/>
              <a:defRPr/>
            </a:pPr>
            <a:r>
              <a:rPr kumimoji="0" lang="es-CL" sz="816" b="0" i="0" u="none" strike="noStrike" kern="1200" cap="none" spc="0" normalizeH="0" baseline="0" noProof="0" dirty="0">
                <a:ln>
                  <a:noFill/>
                </a:ln>
                <a:solidFill>
                  <a:srgbClr val="33448D"/>
                </a:solidFill>
                <a:effectLst/>
                <a:uLnTx/>
                <a:uFillTx/>
                <a:latin typeface="Calibri" charset="0"/>
                <a:ea typeface="Calibri" charset="0"/>
                <a:cs typeface="Calibri" charset="0"/>
              </a:rPr>
              <a:t>DOCUMENTO CONFIDENCIAL PROPIEDAD DE GEMCO S.A.</a:t>
            </a:r>
          </a:p>
          <a:p>
            <a:pPr marL="0" marR="0" lvl="0" indent="0" algn="l" defTabSz="821202" rtl="0" eaLnBrk="0" fontAlgn="base" latinLnBrk="0" hangingPunct="0">
              <a:lnSpc>
                <a:spcPct val="100000"/>
              </a:lnSpc>
              <a:spcBef>
                <a:spcPct val="0"/>
              </a:spcBef>
              <a:spcAft>
                <a:spcPct val="0"/>
              </a:spcAft>
              <a:buClrTx/>
              <a:buSzTx/>
              <a:buFontTx/>
              <a:buNone/>
              <a:tabLst/>
              <a:defRPr/>
            </a:pPr>
            <a:r>
              <a:rPr kumimoji="0" lang="es-CL" sz="816" b="0" i="0" u="none" strike="noStrike" kern="1200" cap="none" spc="0" normalizeH="0" baseline="0" noProof="0" dirty="0">
                <a:ln>
                  <a:noFill/>
                </a:ln>
                <a:solidFill>
                  <a:srgbClr val="33448D"/>
                </a:solidFill>
                <a:effectLst/>
                <a:uLnTx/>
                <a:uFillTx/>
                <a:latin typeface="Calibri" charset="0"/>
                <a:ea typeface="Calibri" charset="0"/>
                <a:cs typeface="Calibri" charset="0"/>
              </a:rPr>
              <a:t>Queda prohibido su uso y distribución sin la autorización expresa de GEMCO S.A.</a:t>
            </a:r>
          </a:p>
        </p:txBody>
      </p:sp>
      <p:pic>
        <p:nvPicPr>
          <p:cNvPr id="13" name="Imagen 12">
            <a:extLst>
              <a:ext uri="{FF2B5EF4-FFF2-40B4-BE49-F238E27FC236}">
                <a16:creationId xmlns:a16="http://schemas.microsoft.com/office/drawing/2014/main" id="{826B6C63-D43C-5F3B-816E-35E4BC875336}"/>
              </a:ext>
            </a:extLst>
          </p:cNvPr>
          <p:cNvPicPr>
            <a:picLocks noChangeAspect="1"/>
          </p:cNvPicPr>
          <p:nvPr/>
        </p:nvPicPr>
        <p:blipFill rotWithShape="1">
          <a:blip r:embed="rId3"/>
          <a:srcRect t="11037"/>
          <a:stretch/>
        </p:blipFill>
        <p:spPr>
          <a:xfrm>
            <a:off x="10209845" y="2472568"/>
            <a:ext cx="1574786" cy="1490748"/>
          </a:xfrm>
          <a:prstGeom prst="rect">
            <a:avLst/>
          </a:prstGeom>
        </p:spPr>
      </p:pic>
      <p:sp>
        <p:nvSpPr>
          <p:cNvPr id="20" name="Rectángulo 19">
            <a:extLst>
              <a:ext uri="{FF2B5EF4-FFF2-40B4-BE49-F238E27FC236}">
                <a16:creationId xmlns:a16="http://schemas.microsoft.com/office/drawing/2014/main" id="{0873D281-711F-2C73-3B54-8FB23BC52A94}"/>
              </a:ext>
            </a:extLst>
          </p:cNvPr>
          <p:cNvSpPr/>
          <p:nvPr/>
        </p:nvSpPr>
        <p:spPr>
          <a:xfrm>
            <a:off x="0" y="6634290"/>
            <a:ext cx="12192000" cy="251094"/>
          </a:xfrm>
          <a:prstGeom prst="rect">
            <a:avLst/>
          </a:prstGeom>
          <a:solidFill>
            <a:srgbClr val="00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err="1">
              <a:ln>
                <a:noFill/>
              </a:ln>
              <a:solidFill>
                <a:srgbClr val="33448D"/>
              </a:solidFill>
              <a:effectLst/>
              <a:uLnTx/>
              <a:uFillTx/>
              <a:latin typeface="Arial"/>
              <a:ea typeface="+mn-ea"/>
              <a:cs typeface="+mn-cs"/>
            </a:endParaRPr>
          </a:p>
        </p:txBody>
      </p:sp>
      <p:pic>
        <p:nvPicPr>
          <p:cNvPr id="8" name="Imagen 7">
            <a:extLst>
              <a:ext uri="{FF2B5EF4-FFF2-40B4-BE49-F238E27FC236}">
                <a16:creationId xmlns:a16="http://schemas.microsoft.com/office/drawing/2014/main" id="{79733F46-207F-A408-945A-44EB1062DD72}"/>
              </a:ext>
            </a:extLst>
          </p:cNvPr>
          <p:cNvPicPr>
            <a:picLocks noChangeAspect="1"/>
          </p:cNvPicPr>
          <p:nvPr/>
        </p:nvPicPr>
        <p:blipFill>
          <a:blip r:embed="rId4"/>
          <a:stretch>
            <a:fillRect/>
          </a:stretch>
        </p:blipFill>
        <p:spPr>
          <a:xfrm>
            <a:off x="839416" y="2546444"/>
            <a:ext cx="3668216" cy="1145440"/>
          </a:xfrm>
          <a:prstGeom prst="rect">
            <a:avLst/>
          </a:prstGeom>
        </p:spPr>
      </p:pic>
    </p:spTree>
    <p:extLst>
      <p:ext uri="{BB962C8B-B14F-4D97-AF65-F5344CB8AC3E}">
        <p14:creationId xmlns:p14="http://schemas.microsoft.com/office/powerpoint/2010/main" val="1161678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C9013-9449-13A5-2708-67F25EEDCBB2}"/>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26AD0CBE-FB90-E944-85AB-E934A6CA5A6A}"/>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ACA90431-3B8C-CBC2-70F6-F7A689A51995}"/>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Política de crédito para clientes principales – Bolsa de repuestos “necesaria” para cada cliente y qué % tenemos en stock </a:t>
            </a:r>
            <a:endParaRPr lang="es-MX" sz="1100" dirty="0">
              <a:solidFill>
                <a:srgbClr val="373C46"/>
              </a:solidFill>
              <a:latin typeface="Aptos (cuerpo)"/>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rgbClr val="373C46"/>
                </a:solidFill>
                <a:effectLst/>
                <a:uLnTx/>
                <a:uFillTx/>
                <a:latin typeface="Aptos (cuerpo)"/>
                <a:ea typeface="+mn-ea"/>
                <a:cs typeface="+mn-cs"/>
              </a:rPr>
              <a:t>Update</a:t>
            </a:r>
            <a:r>
              <a:rPr kumimoji="0" lang="es-MX" sz="1100" b="0" i="0" u="none" strike="noStrike" kern="1200" cap="none" spc="0" normalizeH="0" baseline="0" noProof="0" dirty="0">
                <a:ln>
                  <a:noFill/>
                </a:ln>
                <a:solidFill>
                  <a:srgbClr val="373C46"/>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Tree>
    <p:extLst>
      <p:ext uri="{BB962C8B-B14F-4D97-AF65-F5344CB8AC3E}">
        <p14:creationId xmlns:p14="http://schemas.microsoft.com/office/powerpoint/2010/main" val="386980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1C2F0-E900-61F3-6980-C18A60F81610}"/>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FC261C45-2C3E-ADF4-8798-A4BF1E37AEC3}"/>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33F0FACB-33B9-4B00-13D6-60C197CD3627}"/>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Política de crédito para clientes principales – Bolsa de repuestos “necesaria” para cada cliente y qué % tenemos en stock </a:t>
            </a:r>
            <a:endParaRPr lang="es-MX" sz="1100" dirty="0">
              <a:solidFill>
                <a:srgbClr val="373C46"/>
              </a:solidFill>
              <a:latin typeface="Aptos (cuerpo)"/>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rgbClr val="373C46"/>
                </a:solidFill>
                <a:effectLst/>
                <a:uLnTx/>
                <a:uFillTx/>
                <a:latin typeface="Aptos (cuerpo)"/>
                <a:ea typeface="+mn-ea"/>
                <a:cs typeface="+mn-cs"/>
              </a:rPr>
              <a:t>Update</a:t>
            </a:r>
            <a:r>
              <a:rPr kumimoji="0" lang="es-MX" sz="1100" b="0" i="0" u="none" strike="noStrike" kern="1200" cap="none" spc="0" normalizeH="0" baseline="0" noProof="0" dirty="0">
                <a:ln>
                  <a:noFill/>
                </a:ln>
                <a:solidFill>
                  <a:srgbClr val="373C46"/>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35A37757-21C5-EB42-7828-0044973C0AC4}"/>
              </a:ext>
            </a:extLst>
          </p:cNvPr>
          <p:cNvSpPr/>
          <p:nvPr/>
        </p:nvSpPr>
        <p:spPr>
          <a:xfrm>
            <a:off x="393700" y="845389"/>
            <a:ext cx="11312345" cy="25016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46675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B5FD-4D28-B977-5E37-717D449342FD}"/>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4660740B-930E-5CC4-140C-6EB46080F3B4}"/>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Decisiones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para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Comité</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de Hoy </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7F41ACCA-4325-4056-2E62-92C973FCC9C5}"/>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Rellenar AF</a:t>
            </a: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2" name="Elipse 1">
            <a:extLst>
              <a:ext uri="{FF2B5EF4-FFF2-40B4-BE49-F238E27FC236}">
                <a16:creationId xmlns:a16="http://schemas.microsoft.com/office/drawing/2014/main" id="{069CDAAF-03C2-F540-AF1C-EF7C49F85E7C}"/>
              </a:ext>
            </a:extLst>
          </p:cNvPr>
          <p:cNvSpPr/>
          <p:nvPr/>
        </p:nvSpPr>
        <p:spPr>
          <a:xfrm>
            <a:off x="1477992" y="983411"/>
            <a:ext cx="4891178" cy="43045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t>Alexis Flores – Temas ; Decisiones a tocar hoy aparte del </a:t>
            </a:r>
            <a:r>
              <a:rPr lang="es-MX" b="1" dirty="0" err="1"/>
              <a:t>update</a:t>
            </a:r>
            <a:endParaRPr lang="es-CL" b="1" dirty="0"/>
          </a:p>
        </p:txBody>
      </p:sp>
    </p:spTree>
    <p:extLst>
      <p:ext uri="{BB962C8B-B14F-4D97-AF65-F5344CB8AC3E}">
        <p14:creationId xmlns:p14="http://schemas.microsoft.com/office/powerpoint/2010/main" val="360681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966D-30C6-E121-740F-F8F234EFE4BD}"/>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58D98712-6988-DAC7-EE47-B7973F596AD3}"/>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1A9A7CBB-0526-2631-CD2C-C41CC15169D5}"/>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tx1">
                    <a:lumMod val="65000"/>
                  </a:schemeClr>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Política de crédito para clientes principales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chemeClr val="tx1">
                    <a:lumMod val="65000"/>
                  </a:schemeClr>
                </a:solidFill>
                <a:effectLst/>
                <a:uLnTx/>
                <a:uFillTx/>
                <a:latin typeface="Aptos (cuerpo)"/>
                <a:ea typeface="+mn-ea"/>
                <a:cs typeface="+mn-cs"/>
              </a:rPr>
              <a:t>Update</a:t>
            </a: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C3CDA433-D217-1621-F492-F316EE12F235}"/>
              </a:ext>
            </a:extLst>
          </p:cNvPr>
          <p:cNvSpPr/>
          <p:nvPr/>
        </p:nvSpPr>
        <p:spPr>
          <a:xfrm>
            <a:off x="393700" y="1155939"/>
            <a:ext cx="11312345" cy="10351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3559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A7C6A-3495-5AA2-643E-1CF2B725FF3B}"/>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168243F0-2CA2-7170-4EFE-06E14B342ED7}"/>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Facturación</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1° y 2° Semana de Agosto</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B4163EEF-1CF7-9E93-D771-06A2FAAC6907}"/>
              </a:ext>
            </a:extLst>
          </p:cNvPr>
          <p:cNvSpPr/>
          <p:nvPr/>
        </p:nvSpPr>
        <p:spPr>
          <a:xfrm>
            <a:off x="198408" y="5141343"/>
            <a:ext cx="11625292" cy="113868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200" dirty="0"/>
              <a:t>A agosto se acumulan MM$1.779,1 de facturación, impulsados principalmente por Servicio Técnico. </a:t>
            </a:r>
          </a:p>
          <a:p>
            <a:pPr marL="171450" indent="-171450">
              <a:buFont typeface="Arial" panose="020B0604020202020204" pitchFamily="34" charset="0"/>
              <a:buChar char="•"/>
            </a:pPr>
            <a:r>
              <a:rPr lang="es-MX" sz="1200" dirty="0"/>
              <a:t>Servicio Técnico concentra MM$1.579,7, equivalente al 88,8% de la facturación acumulada. </a:t>
            </a:r>
          </a:p>
          <a:p>
            <a:pPr marL="171450" indent="-171450">
              <a:buFont typeface="Arial" panose="020B0604020202020204" pitchFamily="34" charset="0"/>
              <a:buChar char="•"/>
            </a:pPr>
            <a:r>
              <a:rPr lang="es-MX" sz="1200" dirty="0"/>
              <a:t>Durante las primeras semanas de agosto se han facturado MM$169,0, de los cuales MM$81,4 corresponden a la S3, siendo la semana de mayor facturación del mes. </a:t>
            </a:r>
          </a:p>
          <a:p>
            <a:pPr marL="171450" indent="-171450">
              <a:buFont typeface="Arial" panose="020B0604020202020204" pitchFamily="34" charset="0"/>
              <a:buChar char="•"/>
            </a:pPr>
            <a:r>
              <a:rPr lang="es-MX" sz="1200" dirty="0"/>
              <a:t>La facturación acumulada presenta un crecimiento de 18,6% respecto al mismo período del año anterior, equivalente a MM$244,0 adicionales. </a:t>
            </a:r>
          </a:p>
          <a:p>
            <a:pPr marL="171450" indent="-171450">
              <a:buFont typeface="Arial" panose="020B0604020202020204" pitchFamily="34" charset="0"/>
              <a:buChar char="•"/>
            </a:pPr>
            <a:r>
              <a:rPr lang="es-MX" sz="1200" dirty="0"/>
              <a:t>REAS acumula MM$182,4 y Trazabilidad MM$16,9, complementando la facturación de Servicio Técnico.</a:t>
            </a:r>
          </a:p>
        </p:txBody>
      </p:sp>
      <p:pic>
        <p:nvPicPr>
          <p:cNvPr id="4" name="Imagen 3">
            <a:extLst>
              <a:ext uri="{FF2B5EF4-FFF2-40B4-BE49-F238E27FC236}">
                <a16:creationId xmlns:a16="http://schemas.microsoft.com/office/drawing/2014/main" id="{23E46930-69FC-4ACE-F388-5741B9DE2956}"/>
              </a:ext>
            </a:extLst>
          </p:cNvPr>
          <p:cNvPicPr>
            <a:picLocks noChangeAspect="1"/>
          </p:cNvPicPr>
          <p:nvPr/>
        </p:nvPicPr>
        <p:blipFill>
          <a:blip r:embed="rId2"/>
          <a:stretch>
            <a:fillRect/>
          </a:stretch>
        </p:blipFill>
        <p:spPr>
          <a:xfrm>
            <a:off x="296054" y="1014263"/>
            <a:ext cx="11430000" cy="3309818"/>
          </a:xfrm>
          <a:prstGeom prst="rect">
            <a:avLst/>
          </a:prstGeom>
        </p:spPr>
      </p:pic>
    </p:spTree>
    <p:extLst>
      <p:ext uri="{BB962C8B-B14F-4D97-AF65-F5344CB8AC3E}">
        <p14:creationId xmlns:p14="http://schemas.microsoft.com/office/powerpoint/2010/main" val="1138894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31D62-8AFE-B4A5-4CD7-A3A29A07B859}"/>
            </a:ext>
          </a:extLst>
        </p:cNvPr>
        <p:cNvGrpSpPr/>
        <p:nvPr/>
      </p:nvGrpSpPr>
      <p:grpSpPr>
        <a:xfrm>
          <a:off x="0" y="0"/>
          <a:ext cx="0" cy="0"/>
          <a:chOff x="0" y="0"/>
          <a:chExt cx="0" cy="0"/>
        </a:xfrm>
      </p:grpSpPr>
      <p:cxnSp>
        <p:nvCxnSpPr>
          <p:cNvPr id="58" name="Conector recto 57">
            <a:extLst>
              <a:ext uri="{FF2B5EF4-FFF2-40B4-BE49-F238E27FC236}">
                <a16:creationId xmlns:a16="http://schemas.microsoft.com/office/drawing/2014/main" id="{1FA22403-3290-F4C9-53FD-C0561A51BE07}"/>
              </a:ext>
            </a:extLst>
          </p:cNvPr>
          <p:cNvCxnSpPr>
            <a:cxnSpLocks/>
          </p:cNvCxnSpPr>
          <p:nvPr/>
        </p:nvCxnSpPr>
        <p:spPr>
          <a:xfrm flipV="1">
            <a:off x="3463507" y="3273121"/>
            <a:ext cx="0" cy="55784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2" name="Conector recto 51">
            <a:extLst>
              <a:ext uri="{FF2B5EF4-FFF2-40B4-BE49-F238E27FC236}">
                <a16:creationId xmlns:a16="http://schemas.microsoft.com/office/drawing/2014/main" id="{A7D7F263-E196-7742-581D-0BB2A45CC91A}"/>
              </a:ext>
            </a:extLst>
          </p:cNvPr>
          <p:cNvCxnSpPr>
            <a:cxnSpLocks/>
          </p:cNvCxnSpPr>
          <p:nvPr/>
        </p:nvCxnSpPr>
        <p:spPr>
          <a:xfrm flipV="1">
            <a:off x="9818998" y="4478459"/>
            <a:ext cx="0" cy="55784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 2">
            <a:extLst>
              <a:ext uri="{FF2B5EF4-FFF2-40B4-BE49-F238E27FC236}">
                <a16:creationId xmlns:a16="http://schemas.microsoft.com/office/drawing/2014/main" id="{FDCE02A4-31EA-E37E-70C1-40437B04E04A}"/>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Desglose</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Garantía</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s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Provisionadas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4" name="Rectángulo 13">
            <a:extLst>
              <a:ext uri="{FF2B5EF4-FFF2-40B4-BE49-F238E27FC236}">
                <a16:creationId xmlns:a16="http://schemas.microsoft.com/office/drawing/2014/main" id="{F2D4AD67-B9CE-87C1-5C1C-9A513B6398FC}"/>
              </a:ext>
            </a:extLst>
          </p:cNvPr>
          <p:cNvSpPr/>
          <p:nvPr/>
        </p:nvSpPr>
        <p:spPr>
          <a:xfrm>
            <a:off x="305041" y="5417390"/>
            <a:ext cx="11721692" cy="12579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200" dirty="0"/>
              <a:t>Próximos Proyectos a provisionar mes de Agosto</a:t>
            </a:r>
          </a:p>
          <a:p>
            <a:pPr marL="628650" lvl="1" indent="-171450">
              <a:buFont typeface="Arial" panose="020B0604020202020204" pitchFamily="34" charset="0"/>
              <a:buChar char="•"/>
            </a:pPr>
            <a:r>
              <a:rPr lang="es-MX" sz="1200" dirty="0"/>
              <a:t>Hospital Naval MM$1.100 ; MM$1.053 relacionado a equipos y MM$47 garantía por 36 meses</a:t>
            </a:r>
          </a:p>
        </p:txBody>
      </p:sp>
      <p:sp>
        <p:nvSpPr>
          <p:cNvPr id="2" name="Elipse 1">
            <a:extLst>
              <a:ext uri="{FF2B5EF4-FFF2-40B4-BE49-F238E27FC236}">
                <a16:creationId xmlns:a16="http://schemas.microsoft.com/office/drawing/2014/main" id="{B0228966-660D-7FD6-FC1E-282686A712B0}"/>
              </a:ext>
            </a:extLst>
          </p:cNvPr>
          <p:cNvSpPr/>
          <p:nvPr/>
        </p:nvSpPr>
        <p:spPr>
          <a:xfrm>
            <a:off x="330200" y="1604516"/>
            <a:ext cx="403045" cy="388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3" name="Conector recto 2">
            <a:extLst>
              <a:ext uri="{FF2B5EF4-FFF2-40B4-BE49-F238E27FC236}">
                <a16:creationId xmlns:a16="http://schemas.microsoft.com/office/drawing/2014/main" id="{8763BEC7-95D4-42F6-01AD-F85753C684DC}"/>
              </a:ext>
            </a:extLst>
          </p:cNvPr>
          <p:cNvCxnSpPr>
            <a:cxnSpLocks/>
            <a:stCxn id="2" idx="6"/>
          </p:cNvCxnSpPr>
          <p:nvPr/>
        </p:nvCxnSpPr>
        <p:spPr>
          <a:xfrm>
            <a:off x="733245" y="1798610"/>
            <a:ext cx="47445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 name="Rectángulo 3">
            <a:extLst>
              <a:ext uri="{FF2B5EF4-FFF2-40B4-BE49-F238E27FC236}">
                <a16:creationId xmlns:a16="http://schemas.microsoft.com/office/drawing/2014/main" id="{DF42D849-FB5B-1D71-5ADB-F91DA8B6BFC2}"/>
              </a:ext>
            </a:extLst>
          </p:cNvPr>
          <p:cNvSpPr/>
          <p:nvPr/>
        </p:nvSpPr>
        <p:spPr>
          <a:xfrm>
            <a:off x="1207698" y="1565697"/>
            <a:ext cx="1216324" cy="46582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Nuevo Negocio</a:t>
            </a:r>
            <a:endParaRPr lang="es-CL" sz="800" b="1" dirty="0">
              <a:solidFill>
                <a:schemeClr val="tx1"/>
              </a:solidFill>
            </a:endParaRPr>
          </a:p>
        </p:txBody>
      </p:sp>
      <p:cxnSp>
        <p:nvCxnSpPr>
          <p:cNvPr id="6" name="Conector recto 5">
            <a:extLst>
              <a:ext uri="{FF2B5EF4-FFF2-40B4-BE49-F238E27FC236}">
                <a16:creationId xmlns:a16="http://schemas.microsoft.com/office/drawing/2014/main" id="{FEE22ADC-978E-60D5-9A69-23AAF43700A8}"/>
              </a:ext>
            </a:extLst>
          </p:cNvPr>
          <p:cNvCxnSpPr>
            <a:cxnSpLocks/>
          </p:cNvCxnSpPr>
          <p:nvPr/>
        </p:nvCxnSpPr>
        <p:spPr>
          <a:xfrm>
            <a:off x="2424022" y="1808674"/>
            <a:ext cx="47445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Rombo 6">
            <a:extLst>
              <a:ext uri="{FF2B5EF4-FFF2-40B4-BE49-F238E27FC236}">
                <a16:creationId xmlns:a16="http://schemas.microsoft.com/office/drawing/2014/main" id="{7094D5E1-E74D-7A4D-BD84-C0906E0CC071}"/>
              </a:ext>
            </a:extLst>
          </p:cNvPr>
          <p:cNvSpPr/>
          <p:nvPr/>
        </p:nvSpPr>
        <p:spPr>
          <a:xfrm>
            <a:off x="2855346" y="1349317"/>
            <a:ext cx="1216324" cy="918713"/>
          </a:xfrm>
          <a:prstGeom prst="diamond">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Requiere Garantía/Servicio</a:t>
            </a:r>
            <a:endParaRPr lang="es-CL" sz="800" b="1" dirty="0">
              <a:solidFill>
                <a:schemeClr val="tx1"/>
              </a:solidFill>
            </a:endParaRPr>
          </a:p>
        </p:txBody>
      </p:sp>
      <p:cxnSp>
        <p:nvCxnSpPr>
          <p:cNvPr id="8" name="Conector recto 7">
            <a:extLst>
              <a:ext uri="{FF2B5EF4-FFF2-40B4-BE49-F238E27FC236}">
                <a16:creationId xmlns:a16="http://schemas.microsoft.com/office/drawing/2014/main" id="{43D65B94-E56B-6A16-062C-8D7B9F48D6B1}"/>
              </a:ext>
            </a:extLst>
          </p:cNvPr>
          <p:cNvCxnSpPr>
            <a:cxnSpLocks/>
          </p:cNvCxnSpPr>
          <p:nvPr/>
        </p:nvCxnSpPr>
        <p:spPr>
          <a:xfrm flipV="1">
            <a:off x="3463508" y="2268030"/>
            <a:ext cx="0" cy="840356"/>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Rectángulo 8">
            <a:extLst>
              <a:ext uri="{FF2B5EF4-FFF2-40B4-BE49-F238E27FC236}">
                <a16:creationId xmlns:a16="http://schemas.microsoft.com/office/drawing/2014/main" id="{51D9A43B-9874-37AB-5A8F-F84DB19BF79E}"/>
              </a:ext>
            </a:extLst>
          </p:cNvPr>
          <p:cNvSpPr/>
          <p:nvPr/>
        </p:nvSpPr>
        <p:spPr>
          <a:xfrm>
            <a:off x="3888361" y="1500804"/>
            <a:ext cx="754804"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Sí</a:t>
            </a:r>
            <a:endParaRPr lang="es-CL" b="1" dirty="0">
              <a:solidFill>
                <a:schemeClr val="bg2"/>
              </a:solidFill>
            </a:endParaRPr>
          </a:p>
        </p:txBody>
      </p:sp>
      <p:sp>
        <p:nvSpPr>
          <p:cNvPr id="10" name="Rectángulo 9">
            <a:extLst>
              <a:ext uri="{FF2B5EF4-FFF2-40B4-BE49-F238E27FC236}">
                <a16:creationId xmlns:a16="http://schemas.microsoft.com/office/drawing/2014/main" id="{66D70FFA-4F08-2D1B-C09C-8D45835FE351}"/>
              </a:ext>
            </a:extLst>
          </p:cNvPr>
          <p:cNvSpPr/>
          <p:nvPr/>
        </p:nvSpPr>
        <p:spPr>
          <a:xfrm>
            <a:off x="2855345" y="3598052"/>
            <a:ext cx="1216324" cy="4658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Facturación indicando monto </a:t>
            </a:r>
            <a:r>
              <a:rPr lang="es-MX" sz="800" b="1">
                <a:solidFill>
                  <a:schemeClr val="tx1"/>
                </a:solidFill>
              </a:rPr>
              <a:t>de equipo</a:t>
            </a:r>
            <a:endParaRPr lang="es-CL" sz="800" b="1" dirty="0">
              <a:solidFill>
                <a:schemeClr val="tx1"/>
              </a:solidFill>
            </a:endParaRPr>
          </a:p>
        </p:txBody>
      </p:sp>
      <p:cxnSp>
        <p:nvCxnSpPr>
          <p:cNvPr id="11" name="Conector recto 10">
            <a:extLst>
              <a:ext uri="{FF2B5EF4-FFF2-40B4-BE49-F238E27FC236}">
                <a16:creationId xmlns:a16="http://schemas.microsoft.com/office/drawing/2014/main" id="{DF66E76D-A15F-254F-4AC9-5EC200A23E80}"/>
              </a:ext>
            </a:extLst>
          </p:cNvPr>
          <p:cNvCxnSpPr>
            <a:cxnSpLocks/>
          </p:cNvCxnSpPr>
          <p:nvPr/>
        </p:nvCxnSpPr>
        <p:spPr>
          <a:xfrm flipV="1">
            <a:off x="3463507" y="4050013"/>
            <a:ext cx="0" cy="55784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Rectángulo 11">
            <a:extLst>
              <a:ext uri="{FF2B5EF4-FFF2-40B4-BE49-F238E27FC236}">
                <a16:creationId xmlns:a16="http://schemas.microsoft.com/office/drawing/2014/main" id="{67D4AFD0-3075-1465-B0DB-BF3CE23E7B79}"/>
              </a:ext>
            </a:extLst>
          </p:cNvPr>
          <p:cNvSpPr/>
          <p:nvPr/>
        </p:nvSpPr>
        <p:spPr>
          <a:xfrm>
            <a:off x="9210836" y="4146130"/>
            <a:ext cx="1216324" cy="465826"/>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Provisión monto de garantía según los meses ofrecidos</a:t>
            </a:r>
            <a:endParaRPr lang="es-CL" sz="800" b="1" dirty="0">
              <a:solidFill>
                <a:schemeClr val="tx1"/>
              </a:solidFill>
            </a:endParaRPr>
          </a:p>
        </p:txBody>
      </p:sp>
      <p:sp>
        <p:nvSpPr>
          <p:cNvPr id="13" name="Elipse 12">
            <a:extLst>
              <a:ext uri="{FF2B5EF4-FFF2-40B4-BE49-F238E27FC236}">
                <a16:creationId xmlns:a16="http://schemas.microsoft.com/office/drawing/2014/main" id="{01571DB1-9D83-F43F-3C76-391C914F3043}"/>
              </a:ext>
            </a:extLst>
          </p:cNvPr>
          <p:cNvSpPr/>
          <p:nvPr/>
        </p:nvSpPr>
        <p:spPr>
          <a:xfrm>
            <a:off x="3261985" y="4471358"/>
            <a:ext cx="403045" cy="388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6066278C-A8B4-FA6B-F50A-75D8892F8BC4}"/>
              </a:ext>
            </a:extLst>
          </p:cNvPr>
          <p:cNvSpPr/>
          <p:nvPr/>
        </p:nvSpPr>
        <p:spPr>
          <a:xfrm>
            <a:off x="3214795" y="2417944"/>
            <a:ext cx="754804"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No</a:t>
            </a:r>
            <a:endParaRPr lang="es-CL" b="1" dirty="0">
              <a:solidFill>
                <a:schemeClr val="bg2"/>
              </a:solidFill>
            </a:endParaRPr>
          </a:p>
        </p:txBody>
      </p:sp>
      <p:cxnSp>
        <p:nvCxnSpPr>
          <p:cNvPr id="20" name="Conector recto 19">
            <a:extLst>
              <a:ext uri="{FF2B5EF4-FFF2-40B4-BE49-F238E27FC236}">
                <a16:creationId xmlns:a16="http://schemas.microsoft.com/office/drawing/2014/main" id="{FE40043B-7896-4906-CACB-A1C997E7096E}"/>
              </a:ext>
            </a:extLst>
          </p:cNvPr>
          <p:cNvCxnSpPr>
            <a:cxnSpLocks/>
          </p:cNvCxnSpPr>
          <p:nvPr/>
        </p:nvCxnSpPr>
        <p:spPr>
          <a:xfrm>
            <a:off x="4040040" y="1808674"/>
            <a:ext cx="47445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1" name="Rectángulo 20">
            <a:extLst>
              <a:ext uri="{FF2B5EF4-FFF2-40B4-BE49-F238E27FC236}">
                <a16:creationId xmlns:a16="http://schemas.microsoft.com/office/drawing/2014/main" id="{E0606D66-9791-834B-8CC2-8D93F94D286B}"/>
              </a:ext>
            </a:extLst>
          </p:cNvPr>
          <p:cNvSpPr/>
          <p:nvPr/>
        </p:nvSpPr>
        <p:spPr>
          <a:xfrm>
            <a:off x="4525270" y="1507818"/>
            <a:ext cx="1216324" cy="64654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Solicitar Cotización a TS indicando # Equipos, Región, Meses de garantía, SLA</a:t>
            </a:r>
            <a:endParaRPr lang="es-CL" sz="800" b="1" dirty="0">
              <a:solidFill>
                <a:schemeClr val="tx1"/>
              </a:solidFill>
            </a:endParaRPr>
          </a:p>
        </p:txBody>
      </p:sp>
      <p:cxnSp>
        <p:nvCxnSpPr>
          <p:cNvPr id="22" name="Conector recto 21">
            <a:extLst>
              <a:ext uri="{FF2B5EF4-FFF2-40B4-BE49-F238E27FC236}">
                <a16:creationId xmlns:a16="http://schemas.microsoft.com/office/drawing/2014/main" id="{01593DE5-5CAF-4E6E-1685-72D129936BE2}"/>
              </a:ext>
            </a:extLst>
          </p:cNvPr>
          <p:cNvCxnSpPr>
            <a:cxnSpLocks/>
          </p:cNvCxnSpPr>
          <p:nvPr/>
        </p:nvCxnSpPr>
        <p:spPr>
          <a:xfrm>
            <a:off x="5741594" y="1816715"/>
            <a:ext cx="47445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Rectángulo 22">
            <a:extLst>
              <a:ext uri="{FF2B5EF4-FFF2-40B4-BE49-F238E27FC236}">
                <a16:creationId xmlns:a16="http://schemas.microsoft.com/office/drawing/2014/main" id="{C391DDEB-5DAC-8D87-D559-C3EC866F7B44}"/>
              </a:ext>
            </a:extLst>
          </p:cNvPr>
          <p:cNvSpPr/>
          <p:nvPr/>
        </p:nvSpPr>
        <p:spPr>
          <a:xfrm>
            <a:off x="6195193" y="1598179"/>
            <a:ext cx="1364425" cy="46582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Envío de Cotización</a:t>
            </a:r>
            <a:endParaRPr lang="es-CL" sz="800" b="1" dirty="0">
              <a:solidFill>
                <a:schemeClr val="tx1"/>
              </a:solidFill>
            </a:endParaRPr>
          </a:p>
        </p:txBody>
      </p:sp>
      <p:cxnSp>
        <p:nvCxnSpPr>
          <p:cNvPr id="24" name="Conector recto 23">
            <a:extLst>
              <a:ext uri="{FF2B5EF4-FFF2-40B4-BE49-F238E27FC236}">
                <a16:creationId xmlns:a16="http://schemas.microsoft.com/office/drawing/2014/main" id="{4D3B758F-0863-5480-A99F-D133093098A9}"/>
              </a:ext>
            </a:extLst>
          </p:cNvPr>
          <p:cNvCxnSpPr>
            <a:cxnSpLocks/>
          </p:cNvCxnSpPr>
          <p:nvPr/>
        </p:nvCxnSpPr>
        <p:spPr>
          <a:xfrm>
            <a:off x="5115468" y="1037462"/>
            <a:ext cx="4703530" cy="13136"/>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F758F711-3F3B-65A2-1498-DAC1F3C23BAC}"/>
              </a:ext>
            </a:extLst>
          </p:cNvPr>
          <p:cNvCxnSpPr>
            <a:cxnSpLocks/>
            <a:stCxn id="21" idx="0"/>
          </p:cNvCxnSpPr>
          <p:nvPr/>
        </p:nvCxnSpPr>
        <p:spPr>
          <a:xfrm flipH="1" flipV="1">
            <a:off x="5124095" y="1028834"/>
            <a:ext cx="9337" cy="47898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91704FE1-0BEF-1D2A-1EB3-EE23660B879A}"/>
              </a:ext>
            </a:extLst>
          </p:cNvPr>
          <p:cNvCxnSpPr>
            <a:cxnSpLocks/>
          </p:cNvCxnSpPr>
          <p:nvPr/>
        </p:nvCxnSpPr>
        <p:spPr>
          <a:xfrm flipV="1">
            <a:off x="9818998" y="1049555"/>
            <a:ext cx="0" cy="315576"/>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7" name="Rectángulo 26">
            <a:extLst>
              <a:ext uri="{FF2B5EF4-FFF2-40B4-BE49-F238E27FC236}">
                <a16:creationId xmlns:a16="http://schemas.microsoft.com/office/drawing/2014/main" id="{65BAFD01-07CF-B2CC-6F75-14A441BC8A3C}"/>
              </a:ext>
            </a:extLst>
          </p:cNvPr>
          <p:cNvSpPr/>
          <p:nvPr/>
        </p:nvSpPr>
        <p:spPr>
          <a:xfrm>
            <a:off x="6216047" y="734687"/>
            <a:ext cx="754804"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Rechazo</a:t>
            </a:r>
            <a:endParaRPr lang="es-CL" b="1" dirty="0">
              <a:solidFill>
                <a:schemeClr val="bg2"/>
              </a:solidFill>
            </a:endParaRPr>
          </a:p>
        </p:txBody>
      </p:sp>
      <p:cxnSp>
        <p:nvCxnSpPr>
          <p:cNvPr id="28" name="Conector recto 27">
            <a:extLst>
              <a:ext uri="{FF2B5EF4-FFF2-40B4-BE49-F238E27FC236}">
                <a16:creationId xmlns:a16="http://schemas.microsoft.com/office/drawing/2014/main" id="{13820E4A-4BDA-AB43-07E9-D122C7C3876B}"/>
              </a:ext>
            </a:extLst>
          </p:cNvPr>
          <p:cNvCxnSpPr>
            <a:cxnSpLocks/>
          </p:cNvCxnSpPr>
          <p:nvPr/>
        </p:nvCxnSpPr>
        <p:spPr>
          <a:xfrm>
            <a:off x="7523660" y="1816715"/>
            <a:ext cx="47445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C583CE8B-1FA9-A458-52DC-EBE5DC1FF10E}"/>
              </a:ext>
            </a:extLst>
          </p:cNvPr>
          <p:cNvCxnSpPr>
            <a:cxnSpLocks/>
          </p:cNvCxnSpPr>
          <p:nvPr/>
        </p:nvCxnSpPr>
        <p:spPr>
          <a:xfrm flipV="1">
            <a:off x="9818998" y="2283844"/>
            <a:ext cx="0" cy="107470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51550D17-B33B-AD1D-CF17-108DC1476166}"/>
              </a:ext>
            </a:extLst>
          </p:cNvPr>
          <p:cNvCxnSpPr>
            <a:cxnSpLocks/>
          </p:cNvCxnSpPr>
          <p:nvPr/>
        </p:nvCxnSpPr>
        <p:spPr>
          <a:xfrm>
            <a:off x="9818998" y="3341298"/>
            <a:ext cx="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Rectángulo 30">
            <a:extLst>
              <a:ext uri="{FF2B5EF4-FFF2-40B4-BE49-F238E27FC236}">
                <a16:creationId xmlns:a16="http://schemas.microsoft.com/office/drawing/2014/main" id="{F8761E8E-370F-EA7F-65AD-97B6C58182E5}"/>
              </a:ext>
            </a:extLst>
          </p:cNvPr>
          <p:cNvSpPr/>
          <p:nvPr/>
        </p:nvSpPr>
        <p:spPr>
          <a:xfrm>
            <a:off x="9745678" y="2204144"/>
            <a:ext cx="754804"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Apruebo</a:t>
            </a:r>
            <a:endParaRPr lang="es-CL" b="1" dirty="0">
              <a:solidFill>
                <a:schemeClr val="bg2"/>
              </a:solidFill>
            </a:endParaRPr>
          </a:p>
        </p:txBody>
      </p:sp>
      <p:sp>
        <p:nvSpPr>
          <p:cNvPr id="32" name="Rectángulo 31">
            <a:extLst>
              <a:ext uri="{FF2B5EF4-FFF2-40B4-BE49-F238E27FC236}">
                <a16:creationId xmlns:a16="http://schemas.microsoft.com/office/drawing/2014/main" id="{84170D40-608F-6C07-FF03-8CCA0123513B}"/>
              </a:ext>
            </a:extLst>
          </p:cNvPr>
          <p:cNvSpPr/>
          <p:nvPr/>
        </p:nvSpPr>
        <p:spPr>
          <a:xfrm>
            <a:off x="155280" y="1307756"/>
            <a:ext cx="754804"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Inicio</a:t>
            </a:r>
            <a:endParaRPr lang="es-CL" b="1" dirty="0">
              <a:solidFill>
                <a:schemeClr val="bg2"/>
              </a:solidFill>
            </a:endParaRPr>
          </a:p>
        </p:txBody>
      </p:sp>
      <p:sp>
        <p:nvSpPr>
          <p:cNvPr id="33" name="Rectángulo 32">
            <a:extLst>
              <a:ext uri="{FF2B5EF4-FFF2-40B4-BE49-F238E27FC236}">
                <a16:creationId xmlns:a16="http://schemas.microsoft.com/office/drawing/2014/main" id="{F5A536BF-9DD2-69AB-386A-35EB794B73E4}"/>
              </a:ext>
            </a:extLst>
          </p:cNvPr>
          <p:cNvSpPr/>
          <p:nvPr/>
        </p:nvSpPr>
        <p:spPr>
          <a:xfrm>
            <a:off x="10644333" y="786717"/>
            <a:ext cx="1521120" cy="31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50" b="1" dirty="0">
                <a:solidFill>
                  <a:schemeClr val="bg2"/>
                </a:solidFill>
              </a:rPr>
              <a:t>Simbología</a:t>
            </a:r>
            <a:endParaRPr lang="es-CL" b="1" dirty="0">
              <a:solidFill>
                <a:schemeClr val="bg2"/>
              </a:solidFill>
            </a:endParaRPr>
          </a:p>
        </p:txBody>
      </p:sp>
      <p:sp>
        <p:nvSpPr>
          <p:cNvPr id="34" name="Rectángulo 33">
            <a:extLst>
              <a:ext uri="{FF2B5EF4-FFF2-40B4-BE49-F238E27FC236}">
                <a16:creationId xmlns:a16="http://schemas.microsoft.com/office/drawing/2014/main" id="{0E5C9FC2-45A2-097E-49C1-93EB19B15582}"/>
              </a:ext>
            </a:extLst>
          </p:cNvPr>
          <p:cNvSpPr/>
          <p:nvPr/>
        </p:nvSpPr>
        <p:spPr>
          <a:xfrm>
            <a:off x="10795070" y="1088161"/>
            <a:ext cx="1216324" cy="23817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Área Comercial</a:t>
            </a:r>
            <a:endParaRPr lang="es-CL" sz="800" b="1" dirty="0">
              <a:solidFill>
                <a:schemeClr val="tx1"/>
              </a:solidFill>
            </a:endParaRPr>
          </a:p>
        </p:txBody>
      </p:sp>
      <p:sp>
        <p:nvSpPr>
          <p:cNvPr id="35" name="Rectángulo 34">
            <a:extLst>
              <a:ext uri="{FF2B5EF4-FFF2-40B4-BE49-F238E27FC236}">
                <a16:creationId xmlns:a16="http://schemas.microsoft.com/office/drawing/2014/main" id="{9AF63963-A115-3F6F-5D58-45598D1E2F3E}"/>
              </a:ext>
            </a:extLst>
          </p:cNvPr>
          <p:cNvSpPr/>
          <p:nvPr/>
        </p:nvSpPr>
        <p:spPr>
          <a:xfrm>
            <a:off x="10793059" y="1445591"/>
            <a:ext cx="1216324" cy="23954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Operaciones</a:t>
            </a:r>
            <a:endParaRPr lang="es-CL" sz="800" b="1" dirty="0">
              <a:solidFill>
                <a:schemeClr val="tx1"/>
              </a:solidFill>
            </a:endParaRPr>
          </a:p>
        </p:txBody>
      </p:sp>
      <p:sp>
        <p:nvSpPr>
          <p:cNvPr id="36" name="Rectángulo 35">
            <a:extLst>
              <a:ext uri="{FF2B5EF4-FFF2-40B4-BE49-F238E27FC236}">
                <a16:creationId xmlns:a16="http://schemas.microsoft.com/office/drawing/2014/main" id="{70EF37FF-4358-477A-3CE6-94CE09709F6F}"/>
              </a:ext>
            </a:extLst>
          </p:cNvPr>
          <p:cNvSpPr/>
          <p:nvPr/>
        </p:nvSpPr>
        <p:spPr>
          <a:xfrm>
            <a:off x="10793059" y="1808674"/>
            <a:ext cx="1216324" cy="23954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err="1">
                <a:solidFill>
                  <a:schemeClr val="tx1"/>
                </a:solidFill>
              </a:rPr>
              <a:t>Adm</a:t>
            </a:r>
            <a:r>
              <a:rPr lang="es-MX" sz="800" b="1" dirty="0">
                <a:solidFill>
                  <a:schemeClr val="tx1"/>
                </a:solidFill>
              </a:rPr>
              <a:t>. &amp; Fin.</a:t>
            </a:r>
            <a:endParaRPr lang="es-CL" sz="800" b="1" dirty="0">
              <a:solidFill>
                <a:schemeClr val="tx1"/>
              </a:solidFill>
            </a:endParaRPr>
          </a:p>
        </p:txBody>
      </p:sp>
      <p:sp>
        <p:nvSpPr>
          <p:cNvPr id="38" name="Rectángulo 37">
            <a:extLst>
              <a:ext uri="{FF2B5EF4-FFF2-40B4-BE49-F238E27FC236}">
                <a16:creationId xmlns:a16="http://schemas.microsoft.com/office/drawing/2014/main" id="{59D8E1F6-F4C5-E8A9-AD2F-0BED95AA60AB}"/>
              </a:ext>
            </a:extLst>
          </p:cNvPr>
          <p:cNvSpPr/>
          <p:nvPr/>
        </p:nvSpPr>
        <p:spPr>
          <a:xfrm>
            <a:off x="7966818" y="1595306"/>
            <a:ext cx="1082296" cy="46582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Presentación a Jefatura/Comité Comercial</a:t>
            </a:r>
            <a:endParaRPr lang="es-CL" sz="800" b="1" dirty="0">
              <a:solidFill>
                <a:schemeClr val="tx1"/>
              </a:solidFill>
            </a:endParaRPr>
          </a:p>
        </p:txBody>
      </p:sp>
      <p:cxnSp>
        <p:nvCxnSpPr>
          <p:cNvPr id="39" name="Conector recto 38">
            <a:extLst>
              <a:ext uri="{FF2B5EF4-FFF2-40B4-BE49-F238E27FC236}">
                <a16:creationId xmlns:a16="http://schemas.microsoft.com/office/drawing/2014/main" id="{C5681097-E929-F54E-063A-526F6E43A4DC}"/>
              </a:ext>
            </a:extLst>
          </p:cNvPr>
          <p:cNvCxnSpPr>
            <a:cxnSpLocks/>
            <a:stCxn id="38" idx="3"/>
          </p:cNvCxnSpPr>
          <p:nvPr/>
        </p:nvCxnSpPr>
        <p:spPr>
          <a:xfrm flipV="1">
            <a:off x="9049114" y="1819005"/>
            <a:ext cx="161722" cy="921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1" name="Rombo 40">
            <a:extLst>
              <a:ext uri="{FF2B5EF4-FFF2-40B4-BE49-F238E27FC236}">
                <a16:creationId xmlns:a16="http://schemas.microsoft.com/office/drawing/2014/main" id="{26871E15-0BBB-F1F3-62AB-A5E0491D1C78}"/>
              </a:ext>
            </a:extLst>
          </p:cNvPr>
          <p:cNvSpPr/>
          <p:nvPr/>
        </p:nvSpPr>
        <p:spPr>
          <a:xfrm>
            <a:off x="9210836" y="1365131"/>
            <a:ext cx="1216324" cy="918713"/>
          </a:xfrm>
          <a:prstGeom prst="diamond">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700" b="1" dirty="0">
                <a:solidFill>
                  <a:schemeClr val="tx1"/>
                </a:solidFill>
              </a:rPr>
              <a:t>Apruebo / Rechazo</a:t>
            </a:r>
            <a:endParaRPr lang="es-CL" sz="700" b="1" dirty="0">
              <a:solidFill>
                <a:schemeClr val="tx1"/>
              </a:solidFill>
            </a:endParaRPr>
          </a:p>
        </p:txBody>
      </p:sp>
      <p:sp>
        <p:nvSpPr>
          <p:cNvPr id="45" name="Rectángulo 44">
            <a:extLst>
              <a:ext uri="{FF2B5EF4-FFF2-40B4-BE49-F238E27FC236}">
                <a16:creationId xmlns:a16="http://schemas.microsoft.com/office/drawing/2014/main" id="{45EA75E2-CD51-CC40-1AE3-87E880A133A4}"/>
              </a:ext>
            </a:extLst>
          </p:cNvPr>
          <p:cNvSpPr/>
          <p:nvPr/>
        </p:nvSpPr>
        <p:spPr>
          <a:xfrm>
            <a:off x="9210836" y="3340696"/>
            <a:ext cx="1216324" cy="4658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Facturación indicando: monto de equipo y monto de garantía</a:t>
            </a:r>
            <a:endParaRPr lang="es-CL" sz="800" b="1" dirty="0">
              <a:solidFill>
                <a:schemeClr val="tx1"/>
              </a:solidFill>
            </a:endParaRPr>
          </a:p>
        </p:txBody>
      </p:sp>
      <p:sp>
        <p:nvSpPr>
          <p:cNvPr id="49" name="Rectángulo 48">
            <a:extLst>
              <a:ext uri="{FF2B5EF4-FFF2-40B4-BE49-F238E27FC236}">
                <a16:creationId xmlns:a16="http://schemas.microsoft.com/office/drawing/2014/main" id="{72A7FEDE-BB8E-0553-F52F-1AB68721EDD9}"/>
              </a:ext>
            </a:extLst>
          </p:cNvPr>
          <p:cNvSpPr/>
          <p:nvPr/>
        </p:nvSpPr>
        <p:spPr>
          <a:xfrm>
            <a:off x="9210836" y="2622522"/>
            <a:ext cx="1216324" cy="46582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Información a Áreas de GAF y confirmación a TS</a:t>
            </a:r>
            <a:endParaRPr lang="es-CL" sz="800" b="1" dirty="0">
              <a:solidFill>
                <a:schemeClr val="tx1"/>
              </a:solidFill>
            </a:endParaRPr>
          </a:p>
        </p:txBody>
      </p:sp>
      <p:cxnSp>
        <p:nvCxnSpPr>
          <p:cNvPr id="50" name="Conector recto 49">
            <a:extLst>
              <a:ext uri="{FF2B5EF4-FFF2-40B4-BE49-F238E27FC236}">
                <a16:creationId xmlns:a16="http://schemas.microsoft.com/office/drawing/2014/main" id="{24C55E97-D34B-DF1B-2A48-E8D53378718D}"/>
              </a:ext>
            </a:extLst>
          </p:cNvPr>
          <p:cNvCxnSpPr>
            <a:cxnSpLocks/>
            <a:stCxn id="12" idx="0"/>
          </p:cNvCxnSpPr>
          <p:nvPr/>
        </p:nvCxnSpPr>
        <p:spPr>
          <a:xfrm flipV="1">
            <a:off x="9818998" y="3806522"/>
            <a:ext cx="0" cy="33960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3" name="Elipse 52">
            <a:extLst>
              <a:ext uri="{FF2B5EF4-FFF2-40B4-BE49-F238E27FC236}">
                <a16:creationId xmlns:a16="http://schemas.microsoft.com/office/drawing/2014/main" id="{D48C5611-49D4-F26F-5785-2F84901A638C}"/>
              </a:ext>
            </a:extLst>
          </p:cNvPr>
          <p:cNvSpPr/>
          <p:nvPr/>
        </p:nvSpPr>
        <p:spPr>
          <a:xfrm>
            <a:off x="9617475" y="4901746"/>
            <a:ext cx="403045" cy="388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6" name="Rectángulo 55">
            <a:extLst>
              <a:ext uri="{FF2B5EF4-FFF2-40B4-BE49-F238E27FC236}">
                <a16:creationId xmlns:a16="http://schemas.microsoft.com/office/drawing/2014/main" id="{4FBB5EAB-F0CF-D850-3FD7-0072F71D9112}"/>
              </a:ext>
            </a:extLst>
          </p:cNvPr>
          <p:cNvSpPr/>
          <p:nvPr/>
        </p:nvSpPr>
        <p:spPr>
          <a:xfrm>
            <a:off x="2855346" y="2807295"/>
            <a:ext cx="1216324" cy="465826"/>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dirty="0">
                <a:solidFill>
                  <a:schemeClr val="tx1"/>
                </a:solidFill>
              </a:rPr>
              <a:t>Información a Áreas de GAF y confirmación a TS</a:t>
            </a:r>
            <a:endParaRPr lang="es-CL" sz="800" b="1" dirty="0">
              <a:solidFill>
                <a:schemeClr val="tx1"/>
              </a:solidFill>
            </a:endParaRPr>
          </a:p>
        </p:txBody>
      </p:sp>
    </p:spTree>
    <p:extLst>
      <p:ext uri="{BB962C8B-B14F-4D97-AF65-F5344CB8AC3E}">
        <p14:creationId xmlns:p14="http://schemas.microsoft.com/office/powerpoint/2010/main" val="1490929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309-30AD-F5F0-D46B-869B5EB8441D}"/>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6DAD6738-3854-AA9E-A5CC-BA21B257C970}"/>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Desglose</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Garantía</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s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Vigentes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4" name="Rectángulo 13">
            <a:extLst>
              <a:ext uri="{FF2B5EF4-FFF2-40B4-BE49-F238E27FC236}">
                <a16:creationId xmlns:a16="http://schemas.microsoft.com/office/drawing/2014/main" id="{A7E60CCB-A2D0-3F12-DB43-8A94F1861D53}"/>
              </a:ext>
            </a:extLst>
          </p:cNvPr>
          <p:cNvSpPr/>
          <p:nvPr/>
        </p:nvSpPr>
        <p:spPr>
          <a:xfrm>
            <a:off x="7934632" y="988142"/>
            <a:ext cx="4092100" cy="568714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0" indent="-171450">
              <a:buFont typeface="Arial" panose="020B0604020202020204" pitchFamily="34" charset="0"/>
              <a:buChar char="•"/>
            </a:pPr>
            <a:r>
              <a:rPr lang="es-CL" sz="1200" dirty="0"/>
              <a:t>La cartera de garantías vigentes alcanza MM$274,3 de ingresos estimados para 2026, asociados a 44 contratos.</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El costo estimado de esta cartera asciende a MM$127,4, equivalente a un margen estimado cercano al 54%.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La cartera presenta una alta concentración en contratos de mayor tamaño, con los principales 10 contratos representando aproximadamente MM$127 millones, cerca del 46% del monto total.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La vigencia se extiende hasta 2030, con contratos de distinto nivel de avance y una parte importante de la cartera aún pendiente de consumo.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Esterilización concentra la mayor parte de la cartera, tanto en número de contratos como en monto, mientras que Dental representa una participación menor.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La cartera mantiene una oportunidad relevante de continuidad, especialmente en los contratos con menor porcentaje consumido y aquellos con vencimientos en los próximos períodos.</a:t>
            </a:r>
          </a:p>
        </p:txBody>
      </p:sp>
      <p:pic>
        <p:nvPicPr>
          <p:cNvPr id="6" name="Imagen 5">
            <a:extLst>
              <a:ext uri="{FF2B5EF4-FFF2-40B4-BE49-F238E27FC236}">
                <a16:creationId xmlns:a16="http://schemas.microsoft.com/office/drawing/2014/main" id="{6046AD32-BAC6-9DC0-647D-A8292A2661C9}"/>
              </a:ext>
            </a:extLst>
          </p:cNvPr>
          <p:cNvPicPr>
            <a:picLocks noChangeAspect="1"/>
          </p:cNvPicPr>
          <p:nvPr/>
        </p:nvPicPr>
        <p:blipFill>
          <a:blip r:embed="rId2"/>
          <a:stretch>
            <a:fillRect/>
          </a:stretch>
        </p:blipFill>
        <p:spPr>
          <a:xfrm>
            <a:off x="305041" y="764790"/>
            <a:ext cx="7229563" cy="6093209"/>
          </a:xfrm>
          <a:prstGeom prst="rect">
            <a:avLst/>
          </a:prstGeom>
        </p:spPr>
      </p:pic>
    </p:spTree>
    <p:extLst>
      <p:ext uri="{BB962C8B-B14F-4D97-AF65-F5344CB8AC3E}">
        <p14:creationId xmlns:p14="http://schemas.microsoft.com/office/powerpoint/2010/main" val="291678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C090-D3BD-DD65-A0F6-6BB6B8F40F68}"/>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A71C4CF0-F1CE-8459-5953-5A8D8740B552}"/>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Brechas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de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Facturación</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7" name="Rectángulo 16">
            <a:extLst>
              <a:ext uri="{FF2B5EF4-FFF2-40B4-BE49-F238E27FC236}">
                <a16:creationId xmlns:a16="http://schemas.microsoft.com/office/drawing/2014/main" id="{0628FA18-87C6-CE64-904F-00A07315386D}"/>
              </a:ext>
            </a:extLst>
          </p:cNvPr>
          <p:cNvSpPr/>
          <p:nvPr/>
        </p:nvSpPr>
        <p:spPr>
          <a:xfrm>
            <a:off x="94891" y="2918117"/>
            <a:ext cx="1319839" cy="375717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050" dirty="0"/>
              <a:t>En total MM$17,5 por facturar, sin embargo, </a:t>
            </a:r>
            <a:r>
              <a:rPr lang="es-MX" sz="1050" b="1" dirty="0"/>
              <a:t>no se ha recibido la documentación pendiente por parte de ciertos hospitales.</a:t>
            </a:r>
            <a:endParaRPr lang="es-CL" sz="1050" b="1" dirty="0"/>
          </a:p>
        </p:txBody>
      </p:sp>
      <p:sp>
        <p:nvSpPr>
          <p:cNvPr id="37" name="Rectángulo 36">
            <a:extLst>
              <a:ext uri="{FF2B5EF4-FFF2-40B4-BE49-F238E27FC236}">
                <a16:creationId xmlns:a16="http://schemas.microsoft.com/office/drawing/2014/main" id="{EB2EB3F9-AE45-A663-ADA6-3C6E0A22BD43}"/>
              </a:ext>
            </a:extLst>
          </p:cNvPr>
          <p:cNvSpPr/>
          <p:nvPr/>
        </p:nvSpPr>
        <p:spPr>
          <a:xfrm>
            <a:off x="1414731" y="2918116"/>
            <a:ext cx="5831459" cy="3740699"/>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100" dirty="0"/>
              <a:t>De 17 clientes, se esperaba una facturación de MM$103, sin embargo, a la fecha, se ha facturado solo MM$44,7 (de este efecto, gran parte se explica porque se considera efecto de rezago hacia la última semana del mes)</a:t>
            </a:r>
          </a:p>
          <a:p>
            <a:endParaRPr lang="es-MX" sz="1100" dirty="0">
              <a:highlight>
                <a:srgbClr val="FFFF00"/>
              </a:highlight>
            </a:endParaRPr>
          </a:p>
          <a:p>
            <a:r>
              <a:rPr lang="es-MX" sz="1100" dirty="0"/>
              <a:t>Principales clientes:</a:t>
            </a:r>
            <a:endParaRPr lang="es-MX" sz="1100" dirty="0">
              <a:highlight>
                <a:srgbClr val="FFFF00"/>
              </a:highlight>
            </a:endParaRPr>
          </a:p>
          <a:p>
            <a:pPr marL="171450" indent="-171450">
              <a:buFont typeface="Arial" panose="020B0604020202020204" pitchFamily="34" charset="0"/>
              <a:buChar char="•"/>
            </a:pPr>
            <a:r>
              <a:rPr lang="es-MX" sz="1100" dirty="0"/>
              <a:t>Fundación </a:t>
            </a:r>
            <a:r>
              <a:rPr lang="es-MX" sz="1100" dirty="0" err="1"/>
              <a:t>Anchora</a:t>
            </a:r>
            <a:r>
              <a:rPr lang="es-MX" sz="1100" dirty="0"/>
              <a:t> UC (MM$12,9 vs. MM$2,4 real) </a:t>
            </a:r>
          </a:p>
          <a:p>
            <a:pPr marL="171450" indent="-171450">
              <a:buFont typeface="Arial" panose="020B0604020202020204" pitchFamily="34" charset="0"/>
              <a:buChar char="•"/>
            </a:pPr>
            <a:r>
              <a:rPr lang="es-MX" sz="1100" dirty="0"/>
              <a:t>Instituto Nacional del Cáncer (MM$ 5,3 vs MM$ 1,2)</a:t>
            </a:r>
          </a:p>
          <a:p>
            <a:pPr marL="171450" indent="-171450">
              <a:buFont typeface="Arial" panose="020B0604020202020204" pitchFamily="34" charset="0"/>
              <a:buChar char="•"/>
            </a:pPr>
            <a:r>
              <a:rPr lang="es-MX" sz="1100" dirty="0"/>
              <a:t>Hospital Puerto Octay (MM$ 3,4 vs MM$ 0)</a:t>
            </a:r>
          </a:p>
        </p:txBody>
      </p:sp>
      <p:sp>
        <p:nvSpPr>
          <p:cNvPr id="42" name="Rectángulo 41">
            <a:extLst>
              <a:ext uri="{FF2B5EF4-FFF2-40B4-BE49-F238E27FC236}">
                <a16:creationId xmlns:a16="http://schemas.microsoft.com/office/drawing/2014/main" id="{8C261961-F9A1-F949-6EA3-5F677D00773A}"/>
              </a:ext>
            </a:extLst>
          </p:cNvPr>
          <p:cNvSpPr/>
          <p:nvPr/>
        </p:nvSpPr>
        <p:spPr>
          <a:xfrm>
            <a:off x="7246191" y="2918116"/>
            <a:ext cx="4850918" cy="3740700"/>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100" dirty="0"/>
              <a:t>Hay un total de MM$40,9 de repuestos sin stock, repartidos en 200 líneas de 50 órdenes de venta, que corresponden a 138 SKU distintos en 27 clientes.</a:t>
            </a:r>
          </a:p>
          <a:p>
            <a:r>
              <a:rPr lang="es-MX" sz="1100" dirty="0"/>
              <a:t>Los principales clientes en espera son:</a:t>
            </a:r>
          </a:p>
          <a:p>
            <a:pPr marL="171450" indent="-171450">
              <a:buFont typeface="Arial" panose="020B0604020202020204" pitchFamily="34" charset="0"/>
              <a:buChar char="•"/>
            </a:pPr>
            <a:r>
              <a:rPr lang="es-MX" sz="1100" dirty="0"/>
              <a:t>Sotero del Río: 17,1% de la brecha (24 SKU / 36 líneas)</a:t>
            </a:r>
          </a:p>
          <a:p>
            <a:pPr marL="171450" indent="-171450">
              <a:buFont typeface="Arial" panose="020B0604020202020204" pitchFamily="34" charset="0"/>
              <a:buChar char="•"/>
            </a:pPr>
            <a:r>
              <a:rPr lang="es-MX" sz="1100" dirty="0"/>
              <a:t>Hospital Base Osorno: 13,2% (2 SKU)</a:t>
            </a:r>
          </a:p>
          <a:p>
            <a:pPr marL="171450" indent="-171450">
              <a:buFont typeface="Arial" panose="020B0604020202020204" pitchFamily="34" charset="0"/>
              <a:buChar char="•"/>
            </a:pPr>
            <a:r>
              <a:rPr lang="es-MX" sz="1100" dirty="0"/>
              <a:t>Hospital de Puerto Montt: 7,7% (2 SKU)</a:t>
            </a:r>
          </a:p>
          <a:p>
            <a:pPr marL="171450" indent="-171450">
              <a:buFont typeface="Arial" panose="020B0604020202020204" pitchFamily="34" charset="0"/>
              <a:buChar char="•"/>
            </a:pPr>
            <a:r>
              <a:rPr lang="es-MX" sz="1100" dirty="0"/>
              <a:t>Insumos y Servicios Médicos: 7,2% (36 SKU / 58 líneas)</a:t>
            </a:r>
          </a:p>
          <a:p>
            <a:pPr marL="171450" indent="-171450">
              <a:buFont typeface="Arial" panose="020B0604020202020204" pitchFamily="34" charset="0"/>
              <a:buChar char="•"/>
            </a:pPr>
            <a:r>
              <a:rPr lang="es-MX" sz="1100" dirty="0"/>
              <a:t>Hospital San Pablo de Coquimbo: 7,3% (3 SKU)</a:t>
            </a:r>
          </a:p>
          <a:p>
            <a:pPr marL="171450" indent="-171450">
              <a:buFont typeface="Arial" panose="020B0604020202020204" pitchFamily="34" charset="0"/>
              <a:buChar char="•"/>
            </a:pPr>
            <a:r>
              <a:rPr lang="es-MX" sz="1100" dirty="0"/>
              <a:t>Hospital de Alto Hospicio: 6,6% (3 SKU)</a:t>
            </a:r>
          </a:p>
          <a:p>
            <a:endParaRPr lang="es-MX" sz="1100" dirty="0"/>
          </a:p>
          <a:p>
            <a:r>
              <a:rPr lang="es-MX" sz="1100" dirty="0"/>
              <a:t>Cobertura de estos repuestos (valorizada):</a:t>
            </a:r>
          </a:p>
          <a:p>
            <a:pPr marL="171450" indent="-171450">
              <a:buFont typeface="Arial" panose="020B0604020202020204" pitchFamily="34" charset="0"/>
              <a:buChar char="•"/>
            </a:pPr>
            <a:r>
              <a:rPr lang="es-MX" sz="1100" dirty="0"/>
              <a:t>30% se cubre con stock en bodega, pero depende de otro repuesto para hacer la atención → MM$12,4</a:t>
            </a:r>
          </a:p>
          <a:p>
            <a:pPr marL="171450" indent="-171450">
              <a:buFont typeface="Arial" panose="020B0604020202020204" pitchFamily="34" charset="0"/>
              <a:buChar char="•"/>
            </a:pPr>
            <a:r>
              <a:rPr lang="es-MX" sz="1100" dirty="0"/>
              <a:t>16% se cubre por back </a:t>
            </a:r>
            <a:r>
              <a:rPr lang="es-MX" sz="1100" dirty="0" err="1"/>
              <a:t>order</a:t>
            </a:r>
            <a:r>
              <a:rPr lang="es-MX" sz="1100" dirty="0"/>
              <a:t> → MM$6,5</a:t>
            </a:r>
          </a:p>
          <a:p>
            <a:pPr marL="171450" indent="-171450">
              <a:buFont typeface="Arial" panose="020B0604020202020204" pitchFamily="34" charset="0"/>
              <a:buChar char="•"/>
            </a:pPr>
            <a:r>
              <a:rPr lang="es-MX" sz="1100" dirty="0"/>
              <a:t>Stock + Back </a:t>
            </a:r>
            <a:r>
              <a:rPr lang="es-MX" sz="1100" dirty="0" err="1"/>
              <a:t>order</a:t>
            </a:r>
            <a:r>
              <a:rPr lang="es-MX" sz="1100" dirty="0"/>
              <a:t> = 46% (MM$18,9)</a:t>
            </a:r>
          </a:p>
          <a:p>
            <a:endParaRPr lang="es-MX" sz="1100" dirty="0"/>
          </a:p>
          <a:p>
            <a:r>
              <a:rPr lang="es-MX" sz="1100" dirty="0"/>
              <a:t>El restante 54% son MM$22,0 en 53 SKU, sin ninguna cobertura hoy. Este status se explica principalmente por:</a:t>
            </a:r>
          </a:p>
          <a:p>
            <a:pPr marL="171450" indent="-171450">
              <a:buFont typeface="Arial" panose="020B0604020202020204" pitchFamily="34" charset="0"/>
              <a:buChar char="•"/>
            </a:pPr>
            <a:r>
              <a:rPr lang="es-MX" sz="1100" dirty="0"/>
              <a:t>67 de los 138 SKU (49%) ni siquiera figuran en el maestro de inventario, equivalentes a MM$27,0 — repuestos que nunca se han </a:t>
            </a:r>
            <a:r>
              <a:rPr lang="es-MX" sz="1100" dirty="0" err="1"/>
              <a:t>stockeado</a:t>
            </a:r>
            <a:endParaRPr lang="es-MX" sz="1100" dirty="0"/>
          </a:p>
          <a:p>
            <a:pPr marL="171450" indent="-171450">
              <a:buFont typeface="Arial" panose="020B0604020202020204" pitchFamily="34" charset="0"/>
              <a:buChar char="•"/>
            </a:pPr>
            <a:r>
              <a:rPr lang="es-MX" sz="1100" dirty="0"/>
              <a:t>Pendiente de fecha de disponibilidad por parte del proveedor</a:t>
            </a:r>
          </a:p>
          <a:p>
            <a:pPr marL="171450" indent="-171450">
              <a:buFont typeface="Arial" panose="020B0604020202020204" pitchFamily="34" charset="0"/>
              <a:buChar char="•"/>
            </a:pPr>
            <a:r>
              <a:rPr lang="es-MX" sz="1100" dirty="0"/>
              <a:t>Desfases en pagos/OC antes de entrar en Back </a:t>
            </a:r>
            <a:r>
              <a:rPr lang="es-MX" sz="1100" dirty="0" err="1"/>
              <a:t>Order</a:t>
            </a:r>
            <a:endParaRPr lang="es-MX" sz="1100" dirty="0"/>
          </a:p>
        </p:txBody>
      </p:sp>
      <p:sp>
        <p:nvSpPr>
          <p:cNvPr id="44" name="Rectángulo 43">
            <a:extLst>
              <a:ext uri="{FF2B5EF4-FFF2-40B4-BE49-F238E27FC236}">
                <a16:creationId xmlns:a16="http://schemas.microsoft.com/office/drawing/2014/main" id="{26D6A910-19E0-DE46-2560-3D2C13FA26AC}"/>
              </a:ext>
            </a:extLst>
          </p:cNvPr>
          <p:cNvSpPr/>
          <p:nvPr/>
        </p:nvSpPr>
        <p:spPr>
          <a:xfrm>
            <a:off x="94892" y="2700523"/>
            <a:ext cx="1319838" cy="1984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100" b="1" dirty="0" err="1">
                <a:solidFill>
                  <a:schemeClr val="tx1"/>
                </a:solidFill>
              </a:rPr>
              <a:t>Op</a:t>
            </a:r>
            <a:r>
              <a:rPr lang="es-MX" sz="1100" b="1" dirty="0">
                <a:solidFill>
                  <a:schemeClr val="tx1"/>
                </a:solidFill>
              </a:rPr>
              <a:t>. X facturar</a:t>
            </a:r>
            <a:endParaRPr lang="es-CL" sz="1100" b="1" dirty="0">
              <a:solidFill>
                <a:schemeClr val="tx1"/>
              </a:solidFill>
            </a:endParaRPr>
          </a:p>
        </p:txBody>
      </p:sp>
      <p:sp>
        <p:nvSpPr>
          <p:cNvPr id="47" name="Rectángulo 46">
            <a:extLst>
              <a:ext uri="{FF2B5EF4-FFF2-40B4-BE49-F238E27FC236}">
                <a16:creationId xmlns:a16="http://schemas.microsoft.com/office/drawing/2014/main" id="{E4E92175-8C60-7546-FD73-36B9A5869F7F}"/>
              </a:ext>
            </a:extLst>
          </p:cNvPr>
          <p:cNvSpPr/>
          <p:nvPr/>
        </p:nvSpPr>
        <p:spPr>
          <a:xfrm>
            <a:off x="1414732" y="2697883"/>
            <a:ext cx="5831458" cy="22023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100" b="1" dirty="0">
                <a:solidFill>
                  <a:schemeClr val="tx1"/>
                </a:solidFill>
              </a:rPr>
              <a:t>Facturaciones bajo contrato</a:t>
            </a:r>
            <a:endParaRPr lang="es-CL" sz="1100" b="1" dirty="0">
              <a:solidFill>
                <a:schemeClr val="tx1"/>
              </a:solidFill>
            </a:endParaRPr>
          </a:p>
        </p:txBody>
      </p:sp>
      <p:sp>
        <p:nvSpPr>
          <p:cNvPr id="51" name="Rectángulo 50">
            <a:extLst>
              <a:ext uri="{FF2B5EF4-FFF2-40B4-BE49-F238E27FC236}">
                <a16:creationId xmlns:a16="http://schemas.microsoft.com/office/drawing/2014/main" id="{7EEECF48-7CCA-9D33-B869-2A7B5708AF25}"/>
              </a:ext>
            </a:extLst>
          </p:cNvPr>
          <p:cNvSpPr/>
          <p:nvPr/>
        </p:nvSpPr>
        <p:spPr>
          <a:xfrm>
            <a:off x="7246191" y="2697883"/>
            <a:ext cx="4850918" cy="220233"/>
          </a:xfrm>
          <a:prstGeom prst="rect">
            <a:avLst/>
          </a:prstGeom>
          <a:solidFill>
            <a:schemeClr val="accent4"/>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100" b="1" dirty="0">
                <a:solidFill>
                  <a:schemeClr val="tx1"/>
                </a:solidFill>
              </a:rPr>
              <a:t>Sin Stock de Repuestos</a:t>
            </a:r>
            <a:endParaRPr lang="es-CL" sz="1100" b="1" dirty="0">
              <a:solidFill>
                <a:schemeClr val="tx1"/>
              </a:solidFill>
            </a:endParaRPr>
          </a:p>
        </p:txBody>
      </p:sp>
      <p:pic>
        <p:nvPicPr>
          <p:cNvPr id="7" name="Imagen 6">
            <a:extLst>
              <a:ext uri="{FF2B5EF4-FFF2-40B4-BE49-F238E27FC236}">
                <a16:creationId xmlns:a16="http://schemas.microsoft.com/office/drawing/2014/main" id="{14CDCBB2-BCEF-E0F3-68D5-9ED3CF187FCE}"/>
              </a:ext>
            </a:extLst>
          </p:cNvPr>
          <p:cNvPicPr>
            <a:picLocks noChangeAspect="1"/>
          </p:cNvPicPr>
          <p:nvPr/>
        </p:nvPicPr>
        <p:blipFill>
          <a:blip r:embed="rId2"/>
          <a:srcRect b="5412"/>
          <a:stretch>
            <a:fillRect/>
          </a:stretch>
        </p:blipFill>
        <p:spPr>
          <a:xfrm>
            <a:off x="0" y="682472"/>
            <a:ext cx="12192000" cy="1888200"/>
          </a:xfrm>
          <a:prstGeom prst="rect">
            <a:avLst/>
          </a:prstGeom>
        </p:spPr>
      </p:pic>
    </p:spTree>
    <p:extLst>
      <p:ext uri="{BB962C8B-B14F-4D97-AF65-F5344CB8AC3E}">
        <p14:creationId xmlns:p14="http://schemas.microsoft.com/office/powerpoint/2010/main" val="284266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CA805-53FE-B18A-0A4B-AE86EF2A05AB}"/>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88F3B37F-E573-5A4B-FC5A-BF49ADAF7717}"/>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Rotación</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según</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brecha</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sin Stock</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712BA9CB-CE8F-2F12-EC8E-7C39DE184B34}"/>
              </a:ext>
            </a:extLst>
          </p:cNvPr>
          <p:cNvSpPr/>
          <p:nvPr/>
        </p:nvSpPr>
        <p:spPr>
          <a:xfrm>
            <a:off x="262025" y="5537930"/>
            <a:ext cx="11118814" cy="80481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200" dirty="0"/>
              <a:t>MM$40,9 en stock pendiente, distribuido en 200 SKU y 27 clientes. </a:t>
            </a:r>
          </a:p>
          <a:p>
            <a:pPr marL="171450" indent="-171450">
              <a:buFont typeface="Arial" panose="020B0604020202020204" pitchFamily="34" charset="0"/>
              <a:buChar char="•"/>
            </a:pPr>
            <a:r>
              <a:rPr lang="es-MX" sz="1200" dirty="0"/>
              <a:t>88,1% corresponde a baja rotación (&gt;180 días), concentrando el principal desafío de la cartera. </a:t>
            </a:r>
          </a:p>
          <a:p>
            <a:pPr marL="171450" indent="-171450">
              <a:buFont typeface="Arial" panose="020B0604020202020204" pitchFamily="34" charset="0"/>
              <a:buChar char="•"/>
            </a:pPr>
            <a:r>
              <a:rPr lang="es-MX" sz="1200" dirty="0"/>
              <a:t>Los 3 principales clientes concentran MM$15,6, equivalente a aproximadamente 38% del stock pendiente. </a:t>
            </a:r>
          </a:p>
          <a:p>
            <a:pPr marL="171450" indent="-171450">
              <a:buFont typeface="Arial" panose="020B0604020202020204" pitchFamily="34" charset="0"/>
              <a:buChar char="•"/>
            </a:pPr>
            <a:r>
              <a:rPr lang="es-MX" sz="1200" dirty="0"/>
              <a:t>Solo 11,9% del stock presenta mediana o alta rotación, evidenciando una oportunidad para acelerar la salida del inventario. </a:t>
            </a:r>
          </a:p>
        </p:txBody>
      </p:sp>
      <p:pic>
        <p:nvPicPr>
          <p:cNvPr id="8" name="Imagen 7">
            <a:extLst>
              <a:ext uri="{FF2B5EF4-FFF2-40B4-BE49-F238E27FC236}">
                <a16:creationId xmlns:a16="http://schemas.microsoft.com/office/drawing/2014/main" id="{64631495-63B3-E2B4-D079-735F7D4719D9}"/>
              </a:ext>
            </a:extLst>
          </p:cNvPr>
          <p:cNvPicPr>
            <a:picLocks noChangeAspect="1"/>
          </p:cNvPicPr>
          <p:nvPr/>
        </p:nvPicPr>
        <p:blipFill>
          <a:blip r:embed="rId2"/>
          <a:stretch>
            <a:fillRect/>
          </a:stretch>
        </p:blipFill>
        <p:spPr>
          <a:xfrm>
            <a:off x="262025" y="865558"/>
            <a:ext cx="11118813" cy="4554388"/>
          </a:xfrm>
          <a:prstGeom prst="rect">
            <a:avLst/>
          </a:prstGeom>
        </p:spPr>
      </p:pic>
    </p:spTree>
    <p:extLst>
      <p:ext uri="{BB962C8B-B14F-4D97-AF65-F5344CB8AC3E}">
        <p14:creationId xmlns:p14="http://schemas.microsoft.com/office/powerpoint/2010/main" val="708411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6A96-580E-5A93-D0C9-368D5BA25E61}"/>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F64B142C-D98F-4CB5-AD70-EF3426366F8F}"/>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DC16E434-9ADF-3947-A8A1-3D96B9C35570}"/>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tx1">
                    <a:lumMod val="65000"/>
                  </a:schemeClr>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Política de crédito para clientes principales – Bolsa de repuestos “necesaria” para cada cliente y qué % tenemos en stock </a:t>
            </a:r>
            <a:endParaRPr lang="es-MX" sz="1100" dirty="0">
              <a:solidFill>
                <a:schemeClr val="tx1">
                  <a:lumMod val="65000"/>
                </a:schemeClr>
              </a:solidFill>
              <a:latin typeface="Aptos (cuerpo)"/>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chemeClr val="tx1">
                    <a:lumMod val="65000"/>
                  </a:schemeClr>
                </a:solidFill>
                <a:effectLst/>
                <a:uLnTx/>
                <a:uFillTx/>
                <a:latin typeface="Aptos (cuerpo)"/>
                <a:ea typeface="+mn-ea"/>
                <a:cs typeface="+mn-cs"/>
              </a:rPr>
              <a:t>Update</a:t>
            </a: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8FBD38BE-4176-9FFF-61FF-68762E427240}"/>
              </a:ext>
            </a:extLst>
          </p:cNvPr>
          <p:cNvSpPr/>
          <p:nvPr/>
        </p:nvSpPr>
        <p:spPr>
          <a:xfrm>
            <a:off x="393700" y="2087592"/>
            <a:ext cx="11312345" cy="60384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87139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D1E3B-22D6-2C58-A8D6-4F9166EF742D}"/>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FBF2E587-6E09-F8EA-1112-1A11B1420EC0}"/>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EERR TECSERVICE Cierre Jun-26</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3" name="Rectángulo 2">
            <a:extLst>
              <a:ext uri="{FF2B5EF4-FFF2-40B4-BE49-F238E27FC236}">
                <a16:creationId xmlns:a16="http://schemas.microsoft.com/office/drawing/2014/main" id="{120F7B3C-94B1-0F6A-3173-4E2BBE0A9003}"/>
              </a:ext>
            </a:extLst>
          </p:cNvPr>
          <p:cNvSpPr/>
          <p:nvPr/>
        </p:nvSpPr>
        <p:spPr>
          <a:xfrm>
            <a:off x="7329714" y="1175657"/>
            <a:ext cx="4416348" cy="568234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0" indent="-171450">
              <a:buFont typeface="Arial" panose="020B0604020202020204" pitchFamily="34" charset="0"/>
              <a:buChar char="•"/>
            </a:pPr>
            <a:r>
              <a:rPr lang="es-CL" sz="1200" dirty="0"/>
              <a:t>Los ingresos acumulados alcanzan MM$1.610,7, superando el presupuesto en MM$42,1 (+2,7%).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El EBITDA Directo alcanza MM$455,8, con un margen de 28,3%, por debajo del 41,7% presupuestado, reflejando una menor rentabilidad sobre los ingresos.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Al incorporar GAV Indirecto, el EBITDA Empresa alcanza MM$258,2, MM$149,8 bajo presupuesto, principalmente por la menor contribución del margen y mayores gastos indirectos. </a:t>
            </a:r>
          </a:p>
          <a:p>
            <a:pPr marL="171450" lvl="0" indent="-171450">
              <a:buFont typeface="Arial" panose="020B0604020202020204" pitchFamily="34" charset="0"/>
              <a:buChar char="•"/>
            </a:pPr>
            <a:endParaRPr lang="es-CL" sz="1200" dirty="0"/>
          </a:p>
          <a:p>
            <a:pPr marL="171450" lvl="0" indent="-171450">
              <a:buFont typeface="Arial" panose="020B0604020202020204" pitchFamily="34" charset="0"/>
              <a:buChar char="•"/>
            </a:pPr>
            <a:r>
              <a:rPr lang="es-CL" sz="1200" dirty="0"/>
              <a:t>El resultado del ejercicio alcanza MM$43,9, versus MM$218,8 presupuestados, evidenciando que el mayor nivel de ingresos no se está traduciendo proporcionalmente en resultado.</a:t>
            </a:r>
          </a:p>
          <a:p>
            <a:pPr marL="171450" lvl="0" indent="-171450">
              <a:buFont typeface="Arial" panose="020B0604020202020204" pitchFamily="34" charset="0"/>
              <a:buChar char="•"/>
            </a:pPr>
            <a:r>
              <a:rPr lang="es-CL" sz="1200" dirty="0"/>
              <a:t> </a:t>
            </a:r>
          </a:p>
          <a:p>
            <a:pPr marL="171450" lvl="0" indent="-171450">
              <a:buFont typeface="Arial" panose="020B0604020202020204" pitchFamily="34" charset="0"/>
              <a:buChar char="•"/>
            </a:pPr>
            <a:r>
              <a:rPr lang="es-CL" sz="1200" dirty="0"/>
              <a:t>El principal desafío está en recuperar margen, dado que los ingresos se encuentran sobre presupuesto, pero la rentabilidad acumulada permanece significativamente por debajo de lo esperado.</a:t>
            </a:r>
          </a:p>
        </p:txBody>
      </p:sp>
      <p:pic>
        <p:nvPicPr>
          <p:cNvPr id="12" name="Imagen 11">
            <a:extLst>
              <a:ext uri="{FF2B5EF4-FFF2-40B4-BE49-F238E27FC236}">
                <a16:creationId xmlns:a16="http://schemas.microsoft.com/office/drawing/2014/main" id="{62FA6242-971F-DB64-E947-BEC36CBDA22D}"/>
              </a:ext>
            </a:extLst>
          </p:cNvPr>
          <p:cNvPicPr>
            <a:picLocks noChangeAspect="1"/>
          </p:cNvPicPr>
          <p:nvPr/>
        </p:nvPicPr>
        <p:blipFill>
          <a:blip r:embed="rId2"/>
          <a:stretch>
            <a:fillRect/>
          </a:stretch>
        </p:blipFill>
        <p:spPr>
          <a:xfrm>
            <a:off x="137360" y="1175657"/>
            <a:ext cx="7017311" cy="4905829"/>
          </a:xfrm>
          <a:prstGeom prst="rect">
            <a:avLst/>
          </a:prstGeom>
        </p:spPr>
      </p:pic>
    </p:spTree>
    <p:extLst>
      <p:ext uri="{BB962C8B-B14F-4D97-AF65-F5344CB8AC3E}">
        <p14:creationId xmlns:p14="http://schemas.microsoft.com/office/powerpoint/2010/main" val="3446352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DADB-2F82-0AF2-E7B7-964EE89965E5}"/>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C6081B5E-12C1-CE6B-9191-D8A328944F56}"/>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A09D4FF8-C394-1A8A-8762-3B14DCE2F97E}"/>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Política de crédito para clientes principales – Bolsa de repuestos “necesaria” para cada cliente y qué % tenemos en stock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chemeClr val="tx1">
                    <a:lumMod val="65000"/>
                  </a:schemeClr>
                </a:solidFill>
                <a:effectLst/>
                <a:uLnTx/>
                <a:uFillTx/>
                <a:latin typeface="Aptos (cuerpo)"/>
                <a:ea typeface="+mn-ea"/>
                <a:cs typeface="+mn-cs"/>
              </a:rPr>
              <a:t>Update</a:t>
            </a: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B9B8A6B7-D5D5-B2B0-7B8D-D35D81E8055A}"/>
              </a:ext>
            </a:extLst>
          </p:cNvPr>
          <p:cNvSpPr/>
          <p:nvPr/>
        </p:nvSpPr>
        <p:spPr>
          <a:xfrm>
            <a:off x="393700" y="2711677"/>
            <a:ext cx="11312345" cy="41971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1210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221EC-4200-A845-68E4-E83C80BE3871}"/>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766571C5-5DFE-C4B2-A348-E77A00F460A8}"/>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Equipos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Detenidos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pic>
        <p:nvPicPr>
          <p:cNvPr id="5" name="Imagen 4">
            <a:extLst>
              <a:ext uri="{FF2B5EF4-FFF2-40B4-BE49-F238E27FC236}">
                <a16:creationId xmlns:a16="http://schemas.microsoft.com/office/drawing/2014/main" id="{7B067D39-8991-748B-F993-690246AA54A1}"/>
              </a:ext>
            </a:extLst>
          </p:cNvPr>
          <p:cNvPicPr>
            <a:picLocks noChangeAspect="1"/>
          </p:cNvPicPr>
          <p:nvPr/>
        </p:nvPicPr>
        <p:blipFill>
          <a:blip r:embed="rId2"/>
          <a:stretch>
            <a:fillRect/>
          </a:stretch>
        </p:blipFill>
        <p:spPr>
          <a:xfrm>
            <a:off x="243307" y="1043673"/>
            <a:ext cx="11730785" cy="4770653"/>
          </a:xfrm>
          <a:prstGeom prst="rect">
            <a:avLst/>
          </a:prstGeom>
        </p:spPr>
      </p:pic>
    </p:spTree>
    <p:extLst>
      <p:ext uri="{BB962C8B-B14F-4D97-AF65-F5344CB8AC3E}">
        <p14:creationId xmlns:p14="http://schemas.microsoft.com/office/powerpoint/2010/main" val="3556548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53FF2-E9A3-5563-F8DA-1955AD7598C9}"/>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B00ABA6B-8DFC-1D2E-FF24-A429988833EA}"/>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Equipos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Detenidos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 Por Equipo</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pic>
        <p:nvPicPr>
          <p:cNvPr id="7" name="Imagen 6">
            <a:extLst>
              <a:ext uri="{FF2B5EF4-FFF2-40B4-BE49-F238E27FC236}">
                <a16:creationId xmlns:a16="http://schemas.microsoft.com/office/drawing/2014/main" id="{242E6698-C19E-255B-9179-DCB9DF6CFBD3}"/>
              </a:ext>
            </a:extLst>
          </p:cNvPr>
          <p:cNvPicPr>
            <a:picLocks noChangeAspect="1"/>
          </p:cNvPicPr>
          <p:nvPr/>
        </p:nvPicPr>
        <p:blipFill>
          <a:blip r:embed="rId2"/>
          <a:srcRect t="5893"/>
          <a:stretch>
            <a:fillRect/>
          </a:stretch>
        </p:blipFill>
        <p:spPr>
          <a:xfrm>
            <a:off x="1632914" y="769257"/>
            <a:ext cx="8926171" cy="5674826"/>
          </a:xfrm>
          <a:prstGeom prst="rect">
            <a:avLst/>
          </a:prstGeom>
        </p:spPr>
      </p:pic>
    </p:spTree>
    <p:extLst>
      <p:ext uri="{BB962C8B-B14F-4D97-AF65-F5344CB8AC3E}">
        <p14:creationId xmlns:p14="http://schemas.microsoft.com/office/powerpoint/2010/main" val="2983688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88D5-3694-BFFF-2B2F-9EF677801D3A}"/>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B1089103-36F2-9D4E-D415-ADA266AF3FF6}"/>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Equipos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Detenidos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7" name="Tabla 6">
            <a:extLst>
              <a:ext uri="{FF2B5EF4-FFF2-40B4-BE49-F238E27FC236}">
                <a16:creationId xmlns:a16="http://schemas.microsoft.com/office/drawing/2014/main" id="{FDDAF161-66EA-65CE-1A99-2AFE2CCE5432}"/>
              </a:ext>
            </a:extLst>
          </p:cNvPr>
          <p:cNvGraphicFramePr>
            <a:graphicFrameLocks noGrp="1"/>
          </p:cNvGraphicFramePr>
          <p:nvPr>
            <p:extLst>
              <p:ext uri="{D42A27DB-BD31-4B8C-83A1-F6EECF244321}">
                <p14:modId xmlns:p14="http://schemas.microsoft.com/office/powerpoint/2010/main" val="599666536"/>
              </p:ext>
            </p:extLst>
          </p:nvPr>
        </p:nvGraphicFramePr>
        <p:xfrm>
          <a:off x="5151120" y="2981685"/>
          <a:ext cx="9376097" cy="1961430"/>
        </p:xfrm>
        <a:graphic>
          <a:graphicData uri="http://schemas.openxmlformats.org/drawingml/2006/table">
            <a:tbl>
              <a:tblPr/>
              <a:tblGrid>
                <a:gridCol w="3394412">
                  <a:extLst>
                    <a:ext uri="{9D8B030D-6E8A-4147-A177-3AD203B41FA5}">
                      <a16:colId xmlns:a16="http://schemas.microsoft.com/office/drawing/2014/main" val="939731906"/>
                    </a:ext>
                  </a:extLst>
                </a:gridCol>
                <a:gridCol w="1404203">
                  <a:extLst>
                    <a:ext uri="{9D8B030D-6E8A-4147-A177-3AD203B41FA5}">
                      <a16:colId xmlns:a16="http://schemas.microsoft.com/office/drawing/2014/main" val="2281180359"/>
                    </a:ext>
                  </a:extLst>
                </a:gridCol>
                <a:gridCol w="1547940">
                  <a:extLst>
                    <a:ext uri="{9D8B030D-6E8A-4147-A177-3AD203B41FA5}">
                      <a16:colId xmlns:a16="http://schemas.microsoft.com/office/drawing/2014/main" val="3009246689"/>
                    </a:ext>
                  </a:extLst>
                </a:gridCol>
                <a:gridCol w="1227296">
                  <a:extLst>
                    <a:ext uri="{9D8B030D-6E8A-4147-A177-3AD203B41FA5}">
                      <a16:colId xmlns:a16="http://schemas.microsoft.com/office/drawing/2014/main" val="209519218"/>
                    </a:ext>
                  </a:extLst>
                </a:gridCol>
                <a:gridCol w="1194126">
                  <a:extLst>
                    <a:ext uri="{9D8B030D-6E8A-4147-A177-3AD203B41FA5}">
                      <a16:colId xmlns:a16="http://schemas.microsoft.com/office/drawing/2014/main" val="802464340"/>
                    </a:ext>
                  </a:extLst>
                </a:gridCol>
                <a:gridCol w="608120">
                  <a:extLst>
                    <a:ext uri="{9D8B030D-6E8A-4147-A177-3AD203B41FA5}">
                      <a16:colId xmlns:a16="http://schemas.microsoft.com/office/drawing/2014/main" val="2897948279"/>
                    </a:ext>
                  </a:extLst>
                </a:gridCol>
              </a:tblGrid>
              <a:tr h="361230">
                <a:tc>
                  <a:txBody>
                    <a:bodyPr/>
                    <a:lstStyle/>
                    <a:p>
                      <a:pPr algn="ctr" fontAlgn="ctr">
                        <a:buNone/>
                      </a:pPr>
                      <a:r>
                        <a:rPr lang="es-CL" sz="1000" b="1" i="0" u="none" strike="noStrike" dirty="0">
                          <a:solidFill>
                            <a:srgbClr val="000000"/>
                          </a:solidFill>
                          <a:effectLst/>
                          <a:latin typeface="Segoe UI" panose="020B0502040204020203" pitchFamily="34" charset="0"/>
                        </a:rPr>
                        <a:t>Cliente</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ctr" fontAlgn="ctr">
                        <a:buNone/>
                      </a:pPr>
                      <a:r>
                        <a:rPr lang="es-CL" sz="1000" b="1" i="0" u="none" strike="noStrike" dirty="0">
                          <a:solidFill>
                            <a:srgbClr val="000000"/>
                          </a:solidFill>
                          <a:effectLst/>
                          <a:latin typeface="Segoe UI" panose="020B0502040204020203" pitchFamily="34" charset="0"/>
                        </a:rPr>
                        <a:t>Fact. Contrato 2026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ctr" fontAlgn="ctr">
                        <a:buNone/>
                      </a:pPr>
                      <a:r>
                        <a:rPr lang="es-CL" sz="1000" b="1" i="0" u="none" strike="noStrike" dirty="0">
                          <a:solidFill>
                            <a:srgbClr val="000000"/>
                          </a:solidFill>
                          <a:effectLst/>
                          <a:latin typeface="Segoe UI" panose="020B0502040204020203" pitchFamily="34" charset="0"/>
                        </a:rPr>
                        <a:t>Fact. S/Contrato 2026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ctr" fontAlgn="ctr">
                        <a:buNone/>
                      </a:pPr>
                      <a:r>
                        <a:rPr lang="es-CL" sz="1000" b="1" i="0" u="none" strike="noStrike" dirty="0">
                          <a:solidFill>
                            <a:srgbClr val="000000"/>
                          </a:solidFill>
                          <a:effectLst/>
                          <a:latin typeface="Segoe UI" panose="020B0502040204020203" pitchFamily="34" charset="0"/>
                        </a:rPr>
                        <a:t>Total 2026 (YTD)</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ctr" fontAlgn="ctr">
                        <a:buNone/>
                      </a:pPr>
                      <a:r>
                        <a:rPr lang="es-CL" sz="1000" b="1" i="0" u="none" strike="noStrike" dirty="0">
                          <a:solidFill>
                            <a:srgbClr val="000000"/>
                          </a:solidFill>
                          <a:effectLst/>
                          <a:latin typeface="Segoe UI" panose="020B0502040204020203" pitchFamily="34" charset="0"/>
                        </a:rPr>
                        <a:t>Total 2025 (año)</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ctr" fontAlgn="ctr">
                        <a:buNone/>
                      </a:pPr>
                      <a:r>
                        <a:rPr lang="es-CL" sz="1000" b="1" i="0" u="none" strike="noStrike" dirty="0">
                          <a:solidFill>
                            <a:srgbClr val="000000"/>
                          </a:solidFill>
                          <a:effectLst/>
                          <a:latin typeface="Segoe UI" panose="020B0502040204020203" pitchFamily="34" charset="0"/>
                        </a:rPr>
                        <a:t>BI Total</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2008399130"/>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Hospital Dr. Luis Tisné B.</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dirty="0">
                          <a:solidFill>
                            <a:srgbClr val="000000"/>
                          </a:solidFill>
                          <a:effectLst/>
                          <a:latin typeface="Segoe UI" panose="020B0502040204020203" pitchFamily="34" charset="0"/>
                        </a:rPr>
                        <a:t>MM$13,8</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dirty="0">
                          <a:solidFill>
                            <a:srgbClr val="000000"/>
                          </a:solidFill>
                          <a:effectLst/>
                          <a:latin typeface="Segoe UI" panose="020B0502040204020203" pitchFamily="34" charset="0"/>
                        </a:rPr>
                        <a:t>MM$11,2</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MM$25,0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MM$20,5</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dirty="0">
                          <a:solidFill>
                            <a:srgbClr val="000000"/>
                          </a:solidFill>
                          <a:effectLst/>
                          <a:latin typeface="Segoe UI" panose="020B0502040204020203" pitchFamily="34" charset="0"/>
                        </a:rPr>
                        <a:t>215</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393715392"/>
                  </a:ext>
                </a:extLst>
              </a:tr>
              <a:tr h="200025">
                <a:tc>
                  <a:txBody>
                    <a:bodyPr/>
                    <a:lstStyle/>
                    <a:p>
                      <a:pPr algn="l" fontAlgn="ctr">
                        <a:buNone/>
                      </a:pPr>
                      <a:r>
                        <a:rPr lang="es-CL" sz="1000" b="0" i="0" u="none" strike="noStrike" dirty="0">
                          <a:solidFill>
                            <a:srgbClr val="000000"/>
                          </a:solidFill>
                          <a:effectLst/>
                          <a:latin typeface="Segoe UI" panose="020B0502040204020203" pitchFamily="34" charset="0"/>
                        </a:rPr>
                        <a:t>Hospital San Luis Buin</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MM$8,1</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dirty="0">
                          <a:solidFill>
                            <a:srgbClr val="000000"/>
                          </a:solidFill>
                          <a:effectLst/>
                          <a:latin typeface="Segoe UI" panose="020B0502040204020203" pitchFamily="34" charset="0"/>
                        </a:rPr>
                        <a:t>MM$11,4</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MM$19,5</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MM$19,6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dirty="0">
                          <a:solidFill>
                            <a:srgbClr val="000000"/>
                          </a:solidFill>
                          <a:effectLst/>
                          <a:latin typeface="Segoe UI" panose="020B0502040204020203" pitchFamily="34" charset="0"/>
                        </a:rPr>
                        <a:t>10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3833068354"/>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Hospital San Camilo</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MM$18,8</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MM$17,8</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MM$4,7</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a:solidFill>
                            <a:srgbClr val="000000"/>
                          </a:solidFill>
                          <a:effectLst/>
                          <a:latin typeface="Segoe UI" panose="020B0502040204020203" pitchFamily="34" charset="0"/>
                        </a:rPr>
                        <a:t>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862737998"/>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Hospital Carlos Van Buren</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MM$0,0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MM$39,3</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MM$39,3</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MM$25,6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dirty="0">
                          <a:solidFill>
                            <a:srgbClr val="000000"/>
                          </a:solidFill>
                          <a:effectLst/>
                          <a:latin typeface="Segoe UI" panose="020B0502040204020203" pitchFamily="34" charset="0"/>
                        </a:rPr>
                        <a:t>19</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4247318224"/>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Hospital Base Osorno</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MM$19,4</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MM$28,7</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MM$48,1</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MM$0,0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a:solidFill>
                            <a:srgbClr val="000000"/>
                          </a:solidFill>
                          <a:effectLst/>
                          <a:latin typeface="Segoe UI" panose="020B0502040204020203" pitchFamily="34" charset="0"/>
                        </a:rPr>
                        <a:t>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1312141901"/>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Hospital Víctor Ríos Ruiz</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MM$0,0</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MM$8,6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dirty="0">
                          <a:solidFill>
                            <a:srgbClr val="000000"/>
                          </a:solidFill>
                          <a:effectLst/>
                          <a:latin typeface="Segoe UI" panose="020B0502040204020203" pitchFamily="34" charset="0"/>
                        </a:rPr>
                        <a:t>MM$8,6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MM$6,7</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dirty="0">
                          <a:solidFill>
                            <a:srgbClr val="000000"/>
                          </a:solidFill>
                          <a:effectLst/>
                          <a:latin typeface="Segoe UI" panose="020B0502040204020203" pitchFamily="34" charset="0"/>
                        </a:rPr>
                        <a:t>8</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1896838861"/>
                  </a:ext>
                </a:extLst>
              </a:tr>
              <a:tr h="200025">
                <a:tc>
                  <a:txBody>
                    <a:bodyPr/>
                    <a:lstStyle/>
                    <a:p>
                      <a:pPr algn="l" fontAlgn="ctr">
                        <a:buNone/>
                      </a:pPr>
                      <a:r>
                        <a:rPr lang="es-CL" sz="1000" b="0" i="0" u="none" strike="noStrike">
                          <a:solidFill>
                            <a:srgbClr val="000000"/>
                          </a:solidFill>
                          <a:effectLst/>
                          <a:latin typeface="Segoe UI" panose="020B0502040204020203" pitchFamily="34" charset="0"/>
                        </a:rPr>
                        <a:t>Soc. Concesionaria Metrop. de Salud (Félix Bulnes)</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MM$170,6</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MM$148,3</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MM$318,9</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0" i="0" u="none" strike="noStrike">
                          <a:solidFill>
                            <a:srgbClr val="000000"/>
                          </a:solidFill>
                          <a:effectLst/>
                          <a:latin typeface="Segoe UI" panose="020B0502040204020203" pitchFamily="34" charset="0"/>
                        </a:rPr>
                        <a:t>MM$340,7</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0" i="0" u="none" strike="noStrike">
                          <a:solidFill>
                            <a:srgbClr val="000000"/>
                          </a:solidFill>
                          <a:effectLst/>
                          <a:latin typeface="Segoe UI" panose="020B0502040204020203" pitchFamily="34" charset="0"/>
                        </a:rPr>
                        <a:t>403</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376572815"/>
                  </a:ext>
                </a:extLst>
              </a:tr>
              <a:tr h="200025">
                <a:tc>
                  <a:txBody>
                    <a:bodyPr/>
                    <a:lstStyle/>
                    <a:p>
                      <a:pPr algn="l" fontAlgn="ctr">
                        <a:buNone/>
                      </a:pPr>
                      <a:r>
                        <a:rPr lang="es-CL" sz="1000" b="1" i="0" u="none" strike="noStrike" dirty="0">
                          <a:solidFill>
                            <a:srgbClr val="000000"/>
                          </a:solidFill>
                          <a:effectLst/>
                          <a:latin typeface="Segoe UI" panose="020B0502040204020203" pitchFamily="34" charset="0"/>
                        </a:rPr>
                        <a:t>TOTAL</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1" i="0" u="none" strike="noStrike">
                          <a:solidFill>
                            <a:srgbClr val="000000"/>
                          </a:solidFill>
                          <a:effectLst/>
                          <a:latin typeface="Segoe UI" panose="020B0502040204020203" pitchFamily="34" charset="0"/>
                        </a:rPr>
                        <a:t>MM$230,7</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1" i="0" u="none" strike="noStrike">
                          <a:solidFill>
                            <a:srgbClr val="000000"/>
                          </a:solidFill>
                          <a:effectLst/>
                          <a:latin typeface="Segoe UI" panose="020B0502040204020203" pitchFamily="34" charset="0"/>
                        </a:rPr>
                        <a:t>MM$246,4</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1" i="0" u="none" strike="noStrike" dirty="0">
                          <a:solidFill>
                            <a:srgbClr val="000000"/>
                          </a:solidFill>
                          <a:effectLst/>
                          <a:latin typeface="Segoe UI" panose="020B0502040204020203" pitchFamily="34" charset="0"/>
                        </a:rPr>
                        <a:t>MM$477,1</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l" fontAlgn="ctr">
                        <a:buNone/>
                      </a:pPr>
                      <a:r>
                        <a:rPr lang="es-CL" sz="1000" b="1" i="0" u="none" strike="noStrike" dirty="0">
                          <a:solidFill>
                            <a:srgbClr val="000000"/>
                          </a:solidFill>
                          <a:effectLst/>
                          <a:latin typeface="Segoe UI" panose="020B0502040204020203" pitchFamily="34" charset="0"/>
                        </a:rPr>
                        <a:t>MM$417,9</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tc>
                  <a:txBody>
                    <a:bodyPr/>
                    <a:lstStyle/>
                    <a:p>
                      <a:pPr algn="r" fontAlgn="ctr">
                        <a:buNone/>
                      </a:pPr>
                      <a:r>
                        <a:rPr lang="es-CL" sz="1000" b="1" i="0" u="none" strike="noStrike" dirty="0">
                          <a:solidFill>
                            <a:srgbClr val="000000"/>
                          </a:solidFill>
                          <a:effectLst/>
                          <a:latin typeface="Segoe UI" panose="020B0502040204020203" pitchFamily="34" charset="0"/>
                        </a:rPr>
                        <a:t>655</a:t>
                      </a:r>
                    </a:p>
                  </a:txBody>
                  <a:tcPr marL="9525" marR="9525" marT="9525" marB="0" anchor="ctr">
                    <a:lnL w="12700" cap="flat" cmpd="sng" algn="ctr">
                      <a:solidFill>
                        <a:srgbClr val="6FC3DF"/>
                      </a:solidFill>
                      <a:prstDash val="solid"/>
                      <a:round/>
                      <a:headEnd type="none" w="med" len="med"/>
                      <a:tailEnd type="none" w="med" len="med"/>
                    </a:lnL>
                    <a:lnR w="12700" cap="flat" cmpd="sng" algn="ctr">
                      <a:solidFill>
                        <a:srgbClr val="6FC3DF"/>
                      </a:solidFill>
                      <a:prstDash val="solid"/>
                      <a:round/>
                      <a:headEnd type="none" w="med" len="med"/>
                      <a:tailEnd type="none" w="med" len="med"/>
                    </a:lnR>
                    <a:lnT w="12700" cap="flat" cmpd="sng" algn="ctr">
                      <a:solidFill>
                        <a:srgbClr val="6FC3DF"/>
                      </a:solidFill>
                      <a:prstDash val="solid"/>
                      <a:round/>
                      <a:headEnd type="none" w="med" len="med"/>
                      <a:tailEnd type="none" w="med" len="med"/>
                    </a:lnT>
                    <a:lnB w="12700" cap="flat" cmpd="sng" algn="ctr">
                      <a:solidFill>
                        <a:srgbClr val="6FC3DF"/>
                      </a:solidFill>
                      <a:prstDash val="solid"/>
                      <a:round/>
                      <a:headEnd type="none" w="med" len="med"/>
                      <a:tailEnd type="none" w="med" len="med"/>
                    </a:lnB>
                    <a:noFill/>
                  </a:tcPr>
                </a:tc>
                <a:extLst>
                  <a:ext uri="{0D108BD9-81ED-4DB2-BD59-A6C34878D82A}">
                    <a16:rowId xmlns:a16="http://schemas.microsoft.com/office/drawing/2014/main" val="501239863"/>
                  </a:ext>
                </a:extLst>
              </a:tr>
            </a:tbl>
          </a:graphicData>
        </a:graphic>
      </p:graphicFrame>
      <p:graphicFrame>
        <p:nvGraphicFramePr>
          <p:cNvPr id="10" name="Tabla 9">
            <a:extLst>
              <a:ext uri="{FF2B5EF4-FFF2-40B4-BE49-F238E27FC236}">
                <a16:creationId xmlns:a16="http://schemas.microsoft.com/office/drawing/2014/main" id="{B1BEC9DE-3424-FA2D-CD9D-E94DAC5F9D89}"/>
              </a:ext>
            </a:extLst>
          </p:cNvPr>
          <p:cNvGraphicFramePr>
            <a:graphicFrameLocks noGrp="1"/>
          </p:cNvGraphicFramePr>
          <p:nvPr>
            <p:extLst>
              <p:ext uri="{D42A27DB-BD31-4B8C-83A1-F6EECF244321}">
                <p14:modId xmlns:p14="http://schemas.microsoft.com/office/powerpoint/2010/main" val="3736661423"/>
              </p:ext>
            </p:extLst>
          </p:nvPr>
        </p:nvGraphicFramePr>
        <p:xfrm>
          <a:off x="106681" y="913111"/>
          <a:ext cx="11430001" cy="5470136"/>
        </p:xfrm>
        <a:graphic>
          <a:graphicData uri="http://schemas.openxmlformats.org/drawingml/2006/table">
            <a:tbl>
              <a:tblPr/>
              <a:tblGrid>
                <a:gridCol w="515892">
                  <a:extLst>
                    <a:ext uri="{9D8B030D-6E8A-4147-A177-3AD203B41FA5}">
                      <a16:colId xmlns:a16="http://schemas.microsoft.com/office/drawing/2014/main" val="4210142183"/>
                    </a:ext>
                  </a:extLst>
                </a:gridCol>
                <a:gridCol w="512234">
                  <a:extLst>
                    <a:ext uri="{9D8B030D-6E8A-4147-A177-3AD203B41FA5}">
                      <a16:colId xmlns:a16="http://schemas.microsoft.com/office/drawing/2014/main" val="703958338"/>
                    </a:ext>
                  </a:extLst>
                </a:gridCol>
                <a:gridCol w="932690">
                  <a:extLst>
                    <a:ext uri="{9D8B030D-6E8A-4147-A177-3AD203B41FA5}">
                      <a16:colId xmlns:a16="http://schemas.microsoft.com/office/drawing/2014/main" val="3762214195"/>
                    </a:ext>
                  </a:extLst>
                </a:gridCol>
                <a:gridCol w="530837">
                  <a:extLst>
                    <a:ext uri="{9D8B030D-6E8A-4147-A177-3AD203B41FA5}">
                      <a16:colId xmlns:a16="http://schemas.microsoft.com/office/drawing/2014/main" val="705046783"/>
                    </a:ext>
                  </a:extLst>
                </a:gridCol>
                <a:gridCol w="819574">
                  <a:extLst>
                    <a:ext uri="{9D8B030D-6E8A-4147-A177-3AD203B41FA5}">
                      <a16:colId xmlns:a16="http://schemas.microsoft.com/office/drawing/2014/main" val="3241581461"/>
                    </a:ext>
                  </a:extLst>
                </a:gridCol>
                <a:gridCol w="4355451">
                  <a:extLst>
                    <a:ext uri="{9D8B030D-6E8A-4147-A177-3AD203B41FA5}">
                      <a16:colId xmlns:a16="http://schemas.microsoft.com/office/drawing/2014/main" val="3204394934"/>
                    </a:ext>
                  </a:extLst>
                </a:gridCol>
                <a:gridCol w="599313">
                  <a:extLst>
                    <a:ext uri="{9D8B030D-6E8A-4147-A177-3AD203B41FA5}">
                      <a16:colId xmlns:a16="http://schemas.microsoft.com/office/drawing/2014/main" val="2641878740"/>
                    </a:ext>
                  </a:extLst>
                </a:gridCol>
                <a:gridCol w="2479944">
                  <a:extLst>
                    <a:ext uri="{9D8B030D-6E8A-4147-A177-3AD203B41FA5}">
                      <a16:colId xmlns:a16="http://schemas.microsoft.com/office/drawing/2014/main" val="337080432"/>
                    </a:ext>
                  </a:extLst>
                </a:gridCol>
                <a:gridCol w="684066">
                  <a:extLst>
                    <a:ext uri="{9D8B030D-6E8A-4147-A177-3AD203B41FA5}">
                      <a16:colId xmlns:a16="http://schemas.microsoft.com/office/drawing/2014/main" val="4019153597"/>
                    </a:ext>
                  </a:extLst>
                </a:gridCol>
              </a:tblGrid>
              <a:tr h="187619">
                <a:tc>
                  <a:txBody>
                    <a:bodyPr/>
                    <a:lstStyle/>
                    <a:p>
                      <a:pPr algn="ctr" fontAlgn="ctr">
                        <a:buNone/>
                      </a:pPr>
                      <a:r>
                        <a:rPr lang="es-CL" sz="700" b="1" i="0" u="none" strike="noStrike" dirty="0">
                          <a:solidFill>
                            <a:srgbClr val="000000"/>
                          </a:solidFill>
                          <a:effectLst/>
                          <a:latin typeface="Aptos Narrow" panose="020B0004020202020204" pitchFamily="34" charset="0"/>
                        </a:rPr>
                        <a:t>coordinador</a:t>
                      </a:r>
                    </a:p>
                  </a:txBody>
                  <a:tcPr marL="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a:solidFill>
                            <a:srgbClr val="000000"/>
                          </a:solidFill>
                          <a:effectLst/>
                          <a:latin typeface="Aptos Narrow" panose="020B0004020202020204" pitchFamily="34" charset="0"/>
                        </a:rPr>
                        <a:t>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a:solidFill>
                            <a:srgbClr val="000000"/>
                          </a:solidFill>
                          <a:effectLst/>
                          <a:latin typeface="Aptos Narrow" panose="020B0004020202020204" pitchFamily="34" charset="0"/>
                        </a:rPr>
                        <a:t>Problema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dirty="0">
                          <a:solidFill>
                            <a:srgbClr val="000000"/>
                          </a:solidFill>
                          <a:effectLst/>
                          <a:latin typeface="Aptos Narrow" panose="020B0004020202020204" pitchFamily="34" charset="0"/>
                        </a:rPr>
                        <a:t>ESTADO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a:solidFill>
                            <a:srgbClr val="000000"/>
                          </a:solidFill>
                          <a:effectLst/>
                          <a:latin typeface="Aptos Narrow" panose="020B0004020202020204" pitchFamily="34" charset="0"/>
                        </a:rPr>
                        <a:t>Responsable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dirty="0">
                          <a:solidFill>
                            <a:srgbClr val="000000"/>
                          </a:solidFill>
                          <a:effectLst/>
                          <a:latin typeface="Aptos Narrow" panose="020B0004020202020204" pitchFamily="34" charset="0"/>
                        </a:rPr>
                        <a:t>Comentario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dirty="0">
                          <a:solidFill>
                            <a:srgbClr val="000000"/>
                          </a:solidFill>
                          <a:effectLst/>
                          <a:latin typeface="Aptos Narrow" panose="020B0004020202020204" pitchFamily="34" charset="0"/>
                        </a:rPr>
                        <a:t>Registro en Salesforce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dirty="0">
                          <a:solidFill>
                            <a:srgbClr val="000000"/>
                          </a:solidFill>
                          <a:effectLst/>
                          <a:latin typeface="Aptos Narrow" panose="020B0004020202020204" pitchFamily="34" charset="0"/>
                        </a:rPr>
                        <a:t>Acciones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700" b="1" i="0" u="none" strike="noStrike" dirty="0">
                          <a:solidFill>
                            <a:srgbClr val="000000"/>
                          </a:solidFill>
                          <a:effectLst/>
                          <a:latin typeface="Aptos Narrow" panose="020B0004020202020204" pitchFamily="34" charset="0"/>
                        </a:rPr>
                        <a:t>Fecha Ingreso Caso</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extLst>
                  <a:ext uri="{0D108BD9-81ED-4DB2-BD59-A6C34878D82A}">
                    <a16:rowId xmlns:a16="http://schemas.microsoft.com/office/drawing/2014/main" val="698976560"/>
                  </a:ext>
                </a:extLst>
              </a:tr>
              <a:tr h="750475">
                <a:tc rowSpan="3">
                  <a:txBody>
                    <a:bodyPr/>
                    <a:lstStyle/>
                    <a:p>
                      <a:pPr algn="ctr" fontAlgn="ctr">
                        <a:buNone/>
                      </a:pPr>
                      <a:r>
                        <a:rPr lang="es-CL" sz="700" b="1" i="0" u="none" strike="noStrike" dirty="0">
                          <a:solidFill>
                            <a:srgbClr val="000000"/>
                          </a:solidFill>
                          <a:effectLst/>
                          <a:latin typeface="Aptos Narrow" panose="020B0004020202020204" pitchFamily="34" charset="0"/>
                        </a:rPr>
                        <a:t>Patricia</a:t>
                      </a:r>
                    </a:p>
                  </a:txBody>
                  <a:tcPr marL="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b">
                        <a:buNone/>
                      </a:pPr>
                      <a:r>
                        <a:rPr lang="es-CL" sz="700" b="0" i="0" u="none" strike="noStrike" dirty="0">
                          <a:solidFill>
                            <a:srgbClr val="000000"/>
                          </a:solidFill>
                          <a:effectLst/>
                          <a:latin typeface="Aptos Narrow" panose="020B0004020202020204" pitchFamily="34" charset="0"/>
                        </a:rPr>
                        <a:t>HP </a:t>
                      </a:r>
                      <a:r>
                        <a:rPr lang="es-CL" sz="700" b="0" i="0" u="none" strike="noStrike" dirty="0" err="1">
                          <a:solidFill>
                            <a:srgbClr val="000000"/>
                          </a:solidFill>
                          <a:effectLst/>
                          <a:latin typeface="Aptos Narrow" panose="020B0004020202020204" pitchFamily="34" charset="0"/>
                        </a:rPr>
                        <a:t>Tisné</a:t>
                      </a:r>
                      <a:endParaRPr lang="es-CL" sz="700" b="0" i="0" u="none" strike="noStrike" dirty="0">
                        <a:solidFill>
                          <a:srgbClr val="000000"/>
                        </a:solidFill>
                        <a:effectLst/>
                        <a:latin typeface="Aptos Narrow" panose="020B00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DETENIDO AUTOCLAVE STEELCO VS 8/1 SN 9988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Cristian Rohr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DETENIDO DESDE MARZO DE 2026 (1RA OT DE SALESFORCE), LA ÚLTIMA VISITA SE REALIZÓ EL 28 DE MAYO, DONDE SE REALIZÓ INSTALACIÓN DE SOFTWARE, EL EQUIPO PERMANECE INOPERATIVO, SE SOLICITÓ NUEVO AYUDA A FÁBRICA PORQUE EL QUE ENVIARON NO SIRVIÓ, CRISTIAN FUE AYER 25 DE JUNIO AL HOSPITAL A RECOPILAR INFORMACIÓN SOLICITADA POR STEELCO Y SE LAS ENVIÓ HACE 2 SEMANAS ¿HAY RESPUESTA?, INTERNAMENTE VEREMOS SI SE PUEDE CAMBIAR LA PANTALLA POR UNA QUE TENEMOS ACÁ DEL MISMO MODELO, EN PARALELO HAY QUE INFORMAR AL CLIENTE ALGUNOS REPUESTOS ESTÁN DESCONTINUADOS, POR LO QUE SI SE PRESENTA UNA FUTURA FALLA Y NO SE TIENE EL  LOS REPUESTOS, . 31-07, EN COORDINACION CON FABRICA STEELCO, CLIENTE INFORMADO EN CORREO DE CRISTIAN ROHR // MARTES 18/08 CRISTIAN ASISTISTIO HACER NUEVAS PRUEBAS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44864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STEELCO NOS SOLICITÓ ENVIAR LOS BOUCHER IMPRESOS DE LAS PRUEBAS DE FUCIONAMIENTO DEL EQUIPO, CRISTIAN LAS ENVÍO HOY 21DE AGOSTO, CON ESA RESPUESTA DETERMINAREMOS SI SE PUEDE REPARAR O SE RECOMIENDA LA BAJA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dirty="0">
                          <a:solidFill>
                            <a:srgbClr val="000000"/>
                          </a:solidFill>
                          <a:effectLst/>
                          <a:latin typeface="Aptos Narrow" panose="020B0004020202020204" pitchFamily="34" charset="0"/>
                        </a:rPr>
                        <a:t>28-05-2026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4580750"/>
                  </a:ext>
                </a:extLst>
              </a:tr>
              <a:tr h="281428">
                <a:tc vMerge="1">
                  <a:txBody>
                    <a:bodyPr/>
                    <a:lstStyle/>
                    <a:p>
                      <a:endParaRPr lang="es-CL"/>
                    </a:p>
                  </a:txBody>
                  <a:tcPr/>
                </a:tc>
                <a:tc vMerge="1">
                  <a:txBody>
                    <a:bodyPr/>
                    <a:lstStyle/>
                    <a:p>
                      <a:endParaRPr lang="es-CL"/>
                    </a:p>
                  </a:txBody>
                  <a:tcPr/>
                </a:tc>
                <a:tc>
                  <a:txBody>
                    <a:bodyPr/>
                    <a:lstStyle/>
                    <a:p>
                      <a:pPr algn="l" fontAlgn="b">
                        <a:buNone/>
                      </a:pPr>
                      <a:r>
                        <a:rPr lang="es-CL" sz="700" b="0" i="0" u="none" strike="noStrike" dirty="0">
                          <a:solidFill>
                            <a:srgbClr val="000000"/>
                          </a:solidFill>
                          <a:effectLst/>
                          <a:latin typeface="Aptos Narrow" panose="020B0004020202020204" pitchFamily="34" charset="0"/>
                        </a:rPr>
                        <a:t>EQUIPO INOPERATIVO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OPERATIVO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Cristian Rohr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TARJETA ESTABA MAL PROGRAMADA, (STEELCO ENVIO MAL EL PROGRAMA), YA TENEMOS EL CORRECTO, SE REAGENDARA VISITA</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SECADORA DE TUBOS STEELCO AD400/1 1911410BF015 //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72330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YA TENEMOS EL PROGRAMA CORRECTO, IREMOS EL 26 DE AGOSTO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a:solidFill>
                            <a:srgbClr val="000000"/>
                          </a:solidFill>
                          <a:effectLst/>
                          <a:latin typeface="Aptos Narrow" panose="020B0004020202020204" pitchFamily="34" charset="0"/>
                        </a:rPr>
                        <a:t>21-07-2026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0415493"/>
                  </a:ext>
                </a:extLst>
              </a:tr>
              <a:tr h="281428">
                <a:tc vMerge="1">
                  <a:txBody>
                    <a:bodyPr/>
                    <a:lstStyle/>
                    <a:p>
                      <a:endParaRPr lang="es-CL"/>
                    </a:p>
                  </a:txBody>
                  <a:tcPr/>
                </a:tc>
                <a:tc>
                  <a:txBody>
                    <a:bodyPr/>
                    <a:lstStyle/>
                    <a:p>
                      <a:pPr algn="l" fontAlgn="b">
                        <a:buNone/>
                      </a:pPr>
                      <a:r>
                        <a:rPr lang="es-CL" sz="700" b="0" i="0" u="none" strike="noStrike">
                          <a:solidFill>
                            <a:srgbClr val="000000"/>
                          </a:solidFill>
                          <a:effectLst/>
                          <a:latin typeface="Aptos Narrow" panose="020B0004020202020204" pitchFamily="34" charset="0"/>
                        </a:rPr>
                        <a:t>C. Sanz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RESUELTO, EQUIPO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Alexis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VACUCLAVE 550 SN 20255501151, EN ESPERA DE REPUESTO, CLIENTE SOLICITA CAMBIO DE EQUIPO, NO  SE REALIZARÁ, PERO EL REPUESTO LLEGÓ HOY VIERNES 17 DE JULIO, SE PROGRAMA VISITA PARA EL LUNES 20 DE JULIO/ RESUELTO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53953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CERRADO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dirty="0">
                          <a:solidFill>
                            <a:srgbClr val="000000"/>
                          </a:solidFill>
                          <a:effectLst/>
                          <a:latin typeface="Aptos Narrow" panose="020B0004020202020204" pitchFamily="34" charset="0"/>
                        </a:rPr>
                        <a:t>06-06-2026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4728884"/>
                  </a:ext>
                </a:extLst>
              </a:tr>
              <a:tr h="375238">
                <a:tc rowSpan="8">
                  <a:txBody>
                    <a:bodyPr/>
                    <a:lstStyle/>
                    <a:p>
                      <a:pPr algn="ctr" fontAlgn="ctr">
                        <a:buNone/>
                      </a:pPr>
                      <a:r>
                        <a:rPr lang="es-CL" sz="700" b="1" i="0" u="none" strike="noStrike">
                          <a:solidFill>
                            <a:srgbClr val="000000"/>
                          </a:solidFill>
                          <a:effectLst/>
                          <a:latin typeface="Aptos Narrow" panose="020B0004020202020204" pitchFamily="34" charset="0"/>
                        </a:rPr>
                        <a:t>Maria</a:t>
                      </a:r>
                    </a:p>
                  </a:txBody>
                  <a:tcPr marL="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700" b="0" i="0" u="none" strike="noStrike">
                          <a:solidFill>
                            <a:srgbClr val="000000"/>
                          </a:solidFill>
                          <a:effectLst/>
                          <a:latin typeface="Aptos Narrow" panose="020B0004020202020204" pitchFamily="34" charset="0"/>
                        </a:rPr>
                        <a:t>HP BUIN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CON CAMBIO DE PUERTA LAVADORA DESCONTAMINADORA DS500 SN1802012EP166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Cristian/ Jonathan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48518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REVISIÓN EXAUSTIVA DE LA IMPORTACIÓN PARA ASEGURAR LA LLEGADA DE REPUESTO FALTANTE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700" b="0" i="0" u="none" strike="noStrike">
                          <a:solidFill>
                            <a:srgbClr val="000000"/>
                          </a:solidFill>
                          <a:effectLst/>
                          <a:latin typeface="Aptos Narrow" panose="020B0004020202020204" pitchFamily="34" charset="0"/>
                        </a:rPr>
                        <a:t>08-06-2026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924590"/>
                  </a:ext>
                </a:extLst>
              </a:tr>
              <a:tr h="281428">
                <a:tc vMerge="1">
                  <a:txBody>
                    <a:bodyPr/>
                    <a:lstStyle/>
                    <a:p>
                      <a:endParaRPr lang="es-CL"/>
                    </a:p>
                  </a:txBody>
                  <a:tcPr/>
                </a:tc>
                <a:tc>
                  <a:txBody>
                    <a:bodyPr/>
                    <a:lstStyle/>
                    <a:p>
                      <a:pPr algn="l" fontAlgn="ctr">
                        <a:buNone/>
                      </a:pPr>
                      <a:r>
                        <a:rPr lang="es-CL" sz="700" b="0" i="0" u="none" strike="noStrike">
                          <a:solidFill>
                            <a:srgbClr val="000000"/>
                          </a:solidFill>
                          <a:effectLst/>
                          <a:latin typeface="Aptos Narrow" panose="020B0004020202020204" pitchFamily="34" charset="0"/>
                        </a:rPr>
                        <a:t>SAN CAMILO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700" b="0" i="0" u="none" strike="noStrike" dirty="0">
                          <a:solidFill>
                            <a:srgbClr val="000000"/>
                          </a:solidFill>
                          <a:effectLst/>
                          <a:latin typeface="Aptos Narrow" panose="020B0004020202020204" pitchFamily="34" charset="0"/>
                        </a:rPr>
                        <a:t>EQUIPO CON FALLA RECURRENTE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determinado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US100 SN 2109210IQ024  QUIPO INGRESADO A LABORATORIO, SE ESTA REVISANDO OT 72894 EL EQUIPO YA ESTÁ FUNCIONAL, PERO ARROJA ALARMA AL TERMINAR EL CICLO Y NO SE HA PODIDO DETERMINAR POR QUÉ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Narrow" panose="020B0004020202020204" pitchFamily="34" charset="0"/>
                        </a:rPr>
                        <a:t>OT 61852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TICKET LEVANTADO A STEELCO CON LA CONSULTA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700" b="0" i="0" u="none" strike="noStrike">
                          <a:solidFill>
                            <a:srgbClr val="000000"/>
                          </a:solidFill>
                          <a:effectLst/>
                          <a:latin typeface="Aptos Narrow" panose="020B0004020202020204" pitchFamily="34" charset="0"/>
                        </a:rPr>
                        <a:t>06-04-2026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5904156"/>
                  </a:ext>
                </a:extLst>
              </a:tr>
              <a:tr h="281428">
                <a:tc vMerge="1">
                  <a:txBody>
                    <a:bodyPr/>
                    <a:lstStyle/>
                    <a:p>
                      <a:endParaRPr lang="es-CL"/>
                    </a:p>
                  </a:txBody>
                  <a:tcPr/>
                </a:tc>
                <a:tc rowSpan="2">
                  <a:txBody>
                    <a:bodyPr/>
                    <a:lstStyle/>
                    <a:p>
                      <a:pPr algn="l" fontAlgn="ctr">
                        <a:buNone/>
                      </a:pPr>
                      <a:r>
                        <a:rPr lang="es-CL" sz="700" b="0" i="0" u="none" strike="noStrike">
                          <a:solidFill>
                            <a:srgbClr val="000000"/>
                          </a:solidFill>
                          <a:effectLst/>
                          <a:latin typeface="Aptos Narrow" panose="020B0004020202020204" pitchFamily="34" charset="0"/>
                        </a:rPr>
                        <a:t>HP VAN BUREN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700" b="0" i="0" u="none" strike="noStrike" dirty="0">
                          <a:solidFill>
                            <a:srgbClr val="000000"/>
                          </a:solidFill>
                          <a:effectLst/>
                          <a:latin typeface="Aptos Narrow" panose="020B0004020202020204" pitchFamily="34" charset="0"/>
                        </a:rPr>
                        <a:t>EQUIPO CON FALLA RECURRENTE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Cristian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NO OPERATIVO CON FALLA RECURRENTE LAVADORA DS610 SN1806510LN088 . SE GESTIONO CON JONATHAN PARA RETIRAR EL EQUIPO EL MARTES 18/08 Y TRAERLO A LABORATORIO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Reporte de falla por parte del cliente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SE REVISARÁ EN LABORATORIO LA PRÓXIMA SEMANAN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700" b="0" i="0" u="none" strike="noStrike">
                          <a:solidFill>
                            <a:srgbClr val="000000"/>
                          </a:solidFill>
                          <a:effectLst/>
                          <a:latin typeface="Aptos Narrow" panose="020B0004020202020204" pitchFamily="34" charset="0"/>
                        </a:rPr>
                        <a:t>26-03-2026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255714"/>
                  </a:ext>
                </a:extLst>
              </a:tr>
              <a:tr h="281428">
                <a:tc vMerge="1">
                  <a:txBody>
                    <a:bodyPr/>
                    <a:lstStyle/>
                    <a:p>
                      <a:endParaRPr lang="es-CL"/>
                    </a:p>
                  </a:txBody>
                  <a:tcPr/>
                </a:tc>
                <a:tc vMerge="1">
                  <a:txBody>
                    <a:bodyPr/>
                    <a:lstStyle/>
                    <a:p>
                      <a:endParaRPr lang="es-CL"/>
                    </a:p>
                  </a:txBody>
                  <a:tcPr/>
                </a:tc>
                <a:tc>
                  <a:txBody>
                    <a:bodyPr/>
                    <a:lstStyle/>
                    <a:p>
                      <a:pPr algn="l" fontAlgn="ctr">
                        <a:buNone/>
                      </a:pPr>
                      <a:r>
                        <a:rPr lang="es-CL" sz="700" b="0" i="0" u="none" strike="noStrike" dirty="0">
                          <a:solidFill>
                            <a:srgbClr val="000000"/>
                          </a:solidFill>
                          <a:effectLst/>
                          <a:latin typeface="Aptos Narrow" panose="020B0004020202020204" pitchFamily="34" charset="0"/>
                        </a:rPr>
                        <a:t>AUTOCLAVE MODELO: LVS 2 C/2 EDX 2P SERIE: 9945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DE SEDILE NO OPERTATIVO EN ESPERA DE REPUESTO - DETENIDO DESDE  04/08/2026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72559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242424"/>
                          </a:solidFill>
                          <a:effectLst/>
                          <a:latin typeface="Aptos Narrow" panose="020B0004020202020204" pitchFamily="34" charset="0"/>
                        </a:rPr>
                        <a:t>(ALEXIS LE INDICO A JONATHAN QUE REVISARA COMPRA DE REPUESTO (NACIONAL)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a:solidFill>
                            <a:srgbClr val="000000"/>
                          </a:solidFill>
                          <a:effectLst/>
                          <a:latin typeface="Aptos Narrow" panose="020B0004020202020204" pitchFamily="34" charset="0"/>
                        </a:rPr>
                        <a:t>04-08-2026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9541445"/>
                  </a:ext>
                </a:extLst>
              </a:tr>
              <a:tr h="281428">
                <a:tc vMerge="1">
                  <a:txBody>
                    <a:bodyPr/>
                    <a:lstStyle/>
                    <a:p>
                      <a:endParaRPr lang="es-CL"/>
                    </a:p>
                  </a:txBody>
                  <a:tcPr/>
                </a:tc>
                <a:tc>
                  <a:txBody>
                    <a:bodyPr/>
                    <a:lstStyle/>
                    <a:p>
                      <a:pPr algn="l" fontAlgn="ctr">
                        <a:buNone/>
                      </a:pPr>
                      <a:r>
                        <a:rPr lang="es-CL" sz="700" b="0" i="0" u="none" strike="noStrike">
                          <a:solidFill>
                            <a:srgbClr val="000000"/>
                          </a:solidFill>
                          <a:effectLst/>
                          <a:latin typeface="Aptos Narrow" panose="020B0004020202020204" pitchFamily="34" charset="0"/>
                        </a:rPr>
                        <a:t>HP BASE DE OSORNO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700" b="0" i="0" u="none" strike="noStrike" dirty="0">
                          <a:solidFill>
                            <a:srgbClr val="000000"/>
                          </a:solidFill>
                          <a:effectLst/>
                          <a:latin typeface="Aptos Narrow" panose="020B0004020202020204" pitchFamily="34" charset="0"/>
                        </a:rPr>
                        <a:t>EQUIPO DETENIDO HACE 2 SEMANA EN ESPERA DE CÓDIGOS Y VALORES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Cristian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DE SEDILES AUTOCLAVE VS/202038-2 SN30014 DE SEDILES DETENIDO POR 2 SEMANAS EN ESPERA DE CÓDIGOSA Y VALORES, YA SE ENVIARON COTIZACIONES Y SOLICITARON LOS REPUESTOS.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72670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SE SOLICITÓ PRESTAMO DE REPUESTOS DE EQUIPO COMPATIBLE EN BODEGA, ESTAMOS ESPERANDO LA RESPUESTA DE COMERCIAL PARA REVISAR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700" b="0" i="0" u="none" strike="noStrike">
                          <a:solidFill>
                            <a:srgbClr val="000000"/>
                          </a:solidFill>
                          <a:effectLst/>
                          <a:latin typeface="Aptos Narrow" panose="020B0004020202020204" pitchFamily="34" charset="0"/>
                        </a:rPr>
                        <a:t>04-08-2026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548216"/>
                  </a:ext>
                </a:extLst>
              </a:tr>
              <a:tr h="375238">
                <a:tc vMerge="1">
                  <a:txBody>
                    <a:bodyPr/>
                    <a:lstStyle/>
                    <a:p>
                      <a:endParaRPr lang="es-CL"/>
                    </a:p>
                  </a:txBody>
                  <a:tcPr/>
                </a:tc>
                <a:tc>
                  <a:txBody>
                    <a:bodyPr/>
                    <a:lstStyle/>
                    <a:p>
                      <a:pPr algn="l" fontAlgn="ctr">
                        <a:buNone/>
                      </a:pPr>
                      <a:r>
                        <a:rPr lang="es-CL" sz="700" b="0" i="0" u="none" strike="noStrike">
                          <a:solidFill>
                            <a:srgbClr val="000000"/>
                          </a:solidFill>
                          <a:effectLst/>
                          <a:latin typeface="Aptos Narrow" panose="020B0004020202020204" pitchFamily="34" charset="0"/>
                        </a:rPr>
                        <a:t>HP VICTOR RIOS RUIZ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700" b="0" i="0" u="none" strike="noStrike" dirty="0">
                          <a:solidFill>
                            <a:srgbClr val="000000"/>
                          </a:solidFill>
                          <a:effectLst/>
                          <a:latin typeface="Aptos Narrow" panose="020B0004020202020204" pitchFamily="34" charset="0"/>
                        </a:rPr>
                        <a:t>LAVADORA ULTRASÓNICA MODELO: US 200/2 SERIE: 25A4310JJ033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Cristian/ Jonathan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EN ESPERA DE REPUESTO RUSELECTRODO (OPERATIVO  UNA SOLA CUBA)  -VISITA PROGRAMADA PARA EL JUVES 27/08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DADA LA DEMORA DE IMPORTACIÓN, SE MANDARON A FABRICAR ELECTRODOS EN EL MERCADO NACIONAL, CON MUESTRA QUE SACAMOS DE UN EQUIPO DE VENTAS (PREVIA AUTORIZACIÓN DE COMERCIAL)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a:solidFill>
                            <a:srgbClr val="000000"/>
                          </a:solidFill>
                          <a:effectLst/>
                          <a:latin typeface="Aptos Narrow" panose="020B0004020202020204" pitchFamily="34" charset="0"/>
                        </a:rPr>
                        <a:t>01-07-2026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0073156"/>
                  </a:ext>
                </a:extLst>
              </a:tr>
              <a:tr h="187619">
                <a:tc vMerge="1">
                  <a:txBody>
                    <a:bodyPr/>
                    <a:lstStyle/>
                    <a:p>
                      <a:endParaRPr lang="es-CL"/>
                    </a:p>
                  </a:txBody>
                  <a:tcPr/>
                </a:tc>
                <a:tc>
                  <a:txBody>
                    <a:bodyPr/>
                    <a:lstStyle/>
                    <a:p>
                      <a:pPr algn="l" fontAlgn="ctr">
                        <a:buNone/>
                      </a:pPr>
                      <a:r>
                        <a:rPr lang="es-CL" sz="700" b="0" i="0" u="none" strike="noStrike">
                          <a:solidFill>
                            <a:srgbClr val="000000"/>
                          </a:solidFill>
                          <a:effectLst/>
                          <a:latin typeface="Aptos Narrow" panose="020B0004020202020204" pitchFamily="34" charset="0"/>
                        </a:rPr>
                        <a:t>HP de Puerto Montt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DETENIDO HACE 7 SEMANAS APROX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definido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45589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CERRADO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6245485"/>
                  </a:ext>
                </a:extLst>
              </a:tr>
              <a:tr h="281428">
                <a:tc vMerge="1">
                  <a:txBody>
                    <a:bodyPr/>
                    <a:lstStyle/>
                    <a:p>
                      <a:endParaRPr lang="es-CL"/>
                    </a:p>
                  </a:txBody>
                  <a:tcPr/>
                </a:tc>
                <a:tc>
                  <a:txBody>
                    <a:bodyPr/>
                    <a:lstStyle/>
                    <a:p>
                      <a:pPr algn="l" fontAlgn="ctr">
                        <a:buNone/>
                      </a:pPr>
                      <a:r>
                        <a:rPr lang="es-CL" sz="700" b="0" i="0" u="none" strike="noStrike">
                          <a:solidFill>
                            <a:srgbClr val="000000"/>
                          </a:solidFill>
                          <a:effectLst/>
                          <a:latin typeface="Aptos Narrow" panose="020B0004020202020204" pitchFamily="34" charset="0"/>
                        </a:rPr>
                        <a:t>PUERTO AYSEN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LAVADORA ULTRASÓNICA STEELCO US80 SERIE: 1509210I3015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NO OPERATIVO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LLEGO A BODEGA EL  22/06/2026 ( SE REVISO POR PRIMERA VEZ EL 17/07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61855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SE LEVANTO TICKET A FABRICA , SE DEBE RECONFIGURAR TARJETA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a:solidFill>
                            <a:srgbClr val="000000"/>
                          </a:solidFill>
                          <a:effectLst/>
                          <a:latin typeface="Aptos Narrow" panose="020B0004020202020204" pitchFamily="34" charset="0"/>
                        </a:rPr>
                        <a:t>22-06-2026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2747316"/>
                  </a:ext>
                </a:extLst>
              </a:tr>
              <a:tr h="281428">
                <a:tc>
                  <a:txBody>
                    <a:bodyPr/>
                    <a:lstStyle/>
                    <a:p>
                      <a:pPr algn="ctr" fontAlgn="ctr">
                        <a:buNone/>
                      </a:pPr>
                      <a:r>
                        <a:rPr lang="es-CL" sz="700" b="1" i="0" u="none" strike="noStrike">
                          <a:solidFill>
                            <a:srgbClr val="000000"/>
                          </a:solidFill>
                          <a:effectLst/>
                          <a:latin typeface="Aptos Narrow" panose="020B0004020202020204" pitchFamily="34" charset="0"/>
                        </a:rPr>
                        <a:t>Elizabeth</a:t>
                      </a:r>
                    </a:p>
                  </a:txBody>
                  <a:tcPr marL="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HP Félix Bulnes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EQUIPO QUEMADO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SINIESTRADO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Alexis Flores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LAVADORA DESCONTAMINADORA DS610 - 2SL-2S SN 1706510KT069 SE QUEMA, DESINSTALACIÓN 01-07-2026 OT 68149 (SA-68186), LA CONCESIONARIA SOLICITÓ INVESTIGACIÓN A TERCERO, ALEXIS INDICÓ QUE OFRECEREMOS EQUIPO EN CUANTO SE ACTIVE EL SEGURO, SE DEBE ESPERAR INFORME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 OT 68149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700" b="0" i="0" u="none" strike="noStrike" dirty="0">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267384"/>
                  </a:ext>
                </a:extLst>
              </a:tr>
              <a:tr h="750475">
                <a:tc>
                  <a:txBody>
                    <a:bodyPr/>
                    <a:lstStyle/>
                    <a:p>
                      <a:pPr algn="ctr" fontAlgn="ctr">
                        <a:buNone/>
                      </a:pPr>
                      <a:r>
                        <a:rPr lang="es-CL" sz="700" b="1" i="0" u="none" strike="noStrike">
                          <a:solidFill>
                            <a:srgbClr val="000000"/>
                          </a:solidFill>
                          <a:effectLst/>
                          <a:latin typeface="Aptos Narrow" panose="020B0004020202020204" pitchFamily="34" charset="0"/>
                        </a:rPr>
                        <a:t>Cynthia</a:t>
                      </a:r>
                    </a:p>
                  </a:txBody>
                  <a:tcPr marL="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ISM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PLANTA DE AGUA PURYTAS PURRO600 12824P EQUIPO OPERATIVO// PENDIENTE REPUESTOS CON QUIEBRE DE STOCK PURYTAS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OPERATIVO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TURNO NOCHE 26/08 : PROCEDIMIENTO</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COMPLETADO</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SE REALIZA CAMBIO DE REPUESTOSOLICITADOS EN VISITAS ANTERIO‐RES.SE HACEN PRUEBAS DE FUNCIO‐NAMIENTO Y AJUSTES.SE REALIZA BOWIE DICK TEST Y CI‐CLO DE PRIONES AMBOS FINALI‐ZANDO DE MANERA SATISFACTORIA</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DETALLE REPUESTOSREEMPLAZADOS</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COMPLETADO</a:t>
                      </a:r>
                      <a:br>
                        <a:rPr lang="es-CL" sz="700" b="0" i="0" u="none" strike="noStrike" dirty="0">
                          <a:solidFill>
                            <a:srgbClr val="000000"/>
                          </a:solidFill>
                          <a:effectLst/>
                          <a:latin typeface="Aptos Narrow" panose="020B0004020202020204" pitchFamily="34" charset="0"/>
                        </a:rPr>
                      </a:br>
                      <a:r>
                        <a:rPr lang="es-CL" sz="700" b="0" i="0" u="none" strike="noStrike" dirty="0">
                          <a:solidFill>
                            <a:srgbClr val="000000"/>
                          </a:solidFill>
                          <a:effectLst/>
                          <a:latin typeface="Aptos Narrow" panose="020B0004020202020204" pitchFamily="34" charset="0"/>
                        </a:rPr>
                        <a:t>1 UNIDAD DE TANQUE DE EXPAN‐SIÓN1 UNIDAD DE MANÓMETRO DEPRESION DE SALIDA1 UNIDAD DE PRESOSTATO DE ALTACONECTORESMANGUERAS1 UNIDAD DE MOTOR-BOMBA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Narrow" panose="020B0004020202020204" pitchFamily="34" charset="0"/>
                        </a:rPr>
                        <a:t>OT 73128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b">
                        <a:buNone/>
                      </a:pPr>
                      <a:r>
                        <a:rPr lang="es-CL" sz="700" b="0" i="0" u="none" strike="noStrike" dirty="0">
                          <a:solidFill>
                            <a:srgbClr val="000000"/>
                          </a:solidFill>
                          <a:effectLst/>
                          <a:latin typeface="Aptos Narrow" panose="020B0004020202020204" pitchFamily="34" charset="0"/>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extLst>
                  <a:ext uri="{0D108BD9-81ED-4DB2-BD59-A6C34878D82A}">
                    <a16:rowId xmlns:a16="http://schemas.microsoft.com/office/drawing/2014/main" val="2005126627"/>
                  </a:ext>
                </a:extLst>
              </a:tr>
            </a:tbl>
          </a:graphicData>
        </a:graphic>
      </p:graphicFrame>
    </p:spTree>
    <p:extLst>
      <p:ext uri="{BB962C8B-B14F-4D97-AF65-F5344CB8AC3E}">
        <p14:creationId xmlns:p14="http://schemas.microsoft.com/office/powerpoint/2010/main" val="1412824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D7C1-2A68-1634-AF90-E23DB0102B8A}"/>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4E66FB00-C690-D042-6205-0C51345DB8C5}"/>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Equipos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Detenidos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3" name="Tabla 2">
            <a:extLst>
              <a:ext uri="{FF2B5EF4-FFF2-40B4-BE49-F238E27FC236}">
                <a16:creationId xmlns:a16="http://schemas.microsoft.com/office/drawing/2014/main" id="{3C04C62E-C20A-6C71-0C85-8CAEAFF7B89D}"/>
              </a:ext>
            </a:extLst>
          </p:cNvPr>
          <p:cNvGraphicFramePr>
            <a:graphicFrameLocks noGrp="1"/>
          </p:cNvGraphicFramePr>
          <p:nvPr>
            <p:extLst>
              <p:ext uri="{D42A27DB-BD31-4B8C-83A1-F6EECF244321}">
                <p14:modId xmlns:p14="http://schemas.microsoft.com/office/powerpoint/2010/main" val="2102848392"/>
              </p:ext>
            </p:extLst>
          </p:nvPr>
        </p:nvGraphicFramePr>
        <p:xfrm>
          <a:off x="393700" y="913111"/>
          <a:ext cx="10287000" cy="4392503"/>
        </p:xfrm>
        <a:graphic>
          <a:graphicData uri="http://schemas.openxmlformats.org/drawingml/2006/table">
            <a:tbl>
              <a:tblPr/>
              <a:tblGrid>
                <a:gridCol w="1143000">
                  <a:extLst>
                    <a:ext uri="{9D8B030D-6E8A-4147-A177-3AD203B41FA5}">
                      <a16:colId xmlns:a16="http://schemas.microsoft.com/office/drawing/2014/main" val="4210142183"/>
                    </a:ext>
                  </a:extLst>
                </a:gridCol>
                <a:gridCol w="1143000">
                  <a:extLst>
                    <a:ext uri="{9D8B030D-6E8A-4147-A177-3AD203B41FA5}">
                      <a16:colId xmlns:a16="http://schemas.microsoft.com/office/drawing/2014/main" val="703958338"/>
                    </a:ext>
                  </a:extLst>
                </a:gridCol>
                <a:gridCol w="1143000">
                  <a:extLst>
                    <a:ext uri="{9D8B030D-6E8A-4147-A177-3AD203B41FA5}">
                      <a16:colId xmlns:a16="http://schemas.microsoft.com/office/drawing/2014/main" val="705046783"/>
                    </a:ext>
                  </a:extLst>
                </a:gridCol>
                <a:gridCol w="1143000">
                  <a:extLst>
                    <a:ext uri="{9D8B030D-6E8A-4147-A177-3AD203B41FA5}">
                      <a16:colId xmlns:a16="http://schemas.microsoft.com/office/drawing/2014/main" val="3241581461"/>
                    </a:ext>
                  </a:extLst>
                </a:gridCol>
                <a:gridCol w="1143000">
                  <a:extLst>
                    <a:ext uri="{9D8B030D-6E8A-4147-A177-3AD203B41FA5}">
                      <a16:colId xmlns:a16="http://schemas.microsoft.com/office/drawing/2014/main" val="3204394934"/>
                    </a:ext>
                  </a:extLst>
                </a:gridCol>
                <a:gridCol w="1143000">
                  <a:extLst>
                    <a:ext uri="{9D8B030D-6E8A-4147-A177-3AD203B41FA5}">
                      <a16:colId xmlns:a16="http://schemas.microsoft.com/office/drawing/2014/main" val="3376616476"/>
                    </a:ext>
                  </a:extLst>
                </a:gridCol>
                <a:gridCol w="1143000">
                  <a:extLst>
                    <a:ext uri="{9D8B030D-6E8A-4147-A177-3AD203B41FA5}">
                      <a16:colId xmlns:a16="http://schemas.microsoft.com/office/drawing/2014/main" val="2641878740"/>
                    </a:ext>
                  </a:extLst>
                </a:gridCol>
                <a:gridCol w="1143000">
                  <a:extLst>
                    <a:ext uri="{9D8B030D-6E8A-4147-A177-3AD203B41FA5}">
                      <a16:colId xmlns:a16="http://schemas.microsoft.com/office/drawing/2014/main" val="337080432"/>
                    </a:ext>
                  </a:extLst>
                </a:gridCol>
                <a:gridCol w="1143000">
                  <a:extLst>
                    <a:ext uri="{9D8B030D-6E8A-4147-A177-3AD203B41FA5}">
                      <a16:colId xmlns:a16="http://schemas.microsoft.com/office/drawing/2014/main" val="4019153597"/>
                    </a:ext>
                  </a:extLst>
                </a:gridCol>
              </a:tblGrid>
              <a:tr h="187619">
                <a:tc>
                  <a:txBody>
                    <a:bodyPr/>
                    <a:lstStyle/>
                    <a:p>
                      <a:pPr algn="ctr" fontAlgn="ctr">
                        <a:buNone/>
                      </a:pPr>
                      <a:r>
                        <a:rPr lang="es-CL" sz="1100" b="1" i="0" u="none" strike="noStrike" dirty="0">
                          <a:solidFill>
                            <a:srgbClr val="000000"/>
                          </a:solidFill>
                          <a:effectLst/>
                          <a:latin typeface="Aptos Narrow" panose="020B0004020202020204" pitchFamily="34" charset="0"/>
                        </a:rPr>
                        <a:t>Coordinador</a:t>
                      </a:r>
                    </a:p>
                  </a:txBody>
                  <a:tcPr marL="7200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a:solidFill>
                            <a:srgbClr val="000000"/>
                          </a:solidFill>
                          <a:effectLst/>
                          <a:latin typeface="Aptos Narrow" panose="020B0004020202020204" pitchFamily="34" charset="0"/>
                        </a:rPr>
                        <a:t>Cliente</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dirty="0">
                          <a:solidFill>
                            <a:srgbClr val="000000"/>
                          </a:solidFill>
                          <a:effectLst/>
                          <a:latin typeface="Aptos Narrow" panose="020B0004020202020204" pitchFamily="34" charset="0"/>
                        </a:rPr>
                        <a:t>ESTADO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dirty="0">
                          <a:solidFill>
                            <a:srgbClr val="000000"/>
                          </a:solidFill>
                          <a:effectLst/>
                          <a:latin typeface="Aptos Narrow" panose="020B0004020202020204" pitchFamily="34" charset="0"/>
                        </a:rPr>
                        <a:t>Responsable</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kern="1200" dirty="0">
                          <a:solidFill>
                            <a:srgbClr val="000000"/>
                          </a:solidFill>
                          <a:effectLst/>
                          <a:latin typeface="Aptos Narrow" panose="020B0004020202020204" pitchFamily="34" charset="0"/>
                          <a:ea typeface="+mn-ea"/>
                          <a:cs typeface="+mn-cs"/>
                        </a:rPr>
                        <a:t>Fact. Contrato 2026</a:t>
                      </a:r>
                    </a:p>
                  </a:txBody>
                  <a:tcPr marL="72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kern="1200" dirty="0">
                          <a:solidFill>
                            <a:srgbClr val="000000"/>
                          </a:solidFill>
                          <a:effectLst/>
                          <a:latin typeface="Aptos Narrow" panose="020B0004020202020204" pitchFamily="34" charset="0"/>
                          <a:ea typeface="+mn-ea"/>
                          <a:cs typeface="+mn-cs"/>
                        </a:rPr>
                        <a:t>Fact. S/Contrato 2026</a:t>
                      </a:r>
                    </a:p>
                  </a:txBody>
                  <a:tcPr marL="72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kern="1200" dirty="0">
                          <a:solidFill>
                            <a:srgbClr val="000000"/>
                          </a:solidFill>
                          <a:effectLst/>
                          <a:latin typeface="Aptos Narrow" panose="020B0004020202020204" pitchFamily="34" charset="0"/>
                          <a:ea typeface="+mn-ea"/>
                          <a:cs typeface="+mn-cs"/>
                        </a:rPr>
                        <a:t>Total 2026 (YTD)</a:t>
                      </a:r>
                    </a:p>
                  </a:txBody>
                  <a:tcPr marL="72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kern="1200" dirty="0">
                          <a:solidFill>
                            <a:srgbClr val="000000"/>
                          </a:solidFill>
                          <a:effectLst/>
                          <a:latin typeface="Aptos Narrow" panose="020B0004020202020204" pitchFamily="34" charset="0"/>
                          <a:ea typeface="+mn-ea"/>
                          <a:cs typeface="+mn-cs"/>
                        </a:rPr>
                        <a:t>Total 2025 (año)</a:t>
                      </a:r>
                    </a:p>
                  </a:txBody>
                  <a:tcPr marL="72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tc>
                  <a:txBody>
                    <a:bodyPr/>
                    <a:lstStyle/>
                    <a:p>
                      <a:pPr algn="ctr" fontAlgn="ctr">
                        <a:buNone/>
                      </a:pPr>
                      <a:r>
                        <a:rPr lang="es-CL" sz="1100" b="1" i="0" u="none" strike="noStrike" kern="1200" dirty="0">
                          <a:solidFill>
                            <a:srgbClr val="000000"/>
                          </a:solidFill>
                          <a:effectLst/>
                          <a:latin typeface="Aptos Narrow" panose="020B0004020202020204" pitchFamily="34" charset="0"/>
                          <a:ea typeface="+mn-ea"/>
                          <a:cs typeface="+mn-cs"/>
                        </a:rPr>
                        <a:t>BI Total</a:t>
                      </a:r>
                    </a:p>
                  </a:txBody>
                  <a:tcPr marL="72000" marR="9525" marT="9525"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12700" cap="flat" cmpd="sng" algn="ctr">
                      <a:solidFill>
                        <a:srgbClr val="1B1E23"/>
                      </a:solidFill>
                      <a:prstDash val="solid"/>
                      <a:round/>
                      <a:headEnd type="none" w="med" len="med"/>
                      <a:tailEnd type="none" w="med" len="med"/>
                    </a:lnT>
                    <a:lnB w="12700" cap="flat" cmpd="sng" algn="ctr">
                      <a:solidFill>
                        <a:srgbClr val="1B1E23"/>
                      </a:solidFill>
                      <a:prstDash val="solid"/>
                      <a:round/>
                      <a:headEnd type="none" w="med" len="med"/>
                      <a:tailEnd type="none" w="med" len="med"/>
                    </a:lnB>
                    <a:noFill/>
                  </a:tcPr>
                </a:tc>
                <a:extLst>
                  <a:ext uri="{0D108BD9-81ED-4DB2-BD59-A6C34878D82A}">
                    <a16:rowId xmlns:a16="http://schemas.microsoft.com/office/drawing/2014/main" val="698976560"/>
                  </a:ext>
                </a:extLst>
              </a:tr>
              <a:tr h="750475">
                <a:tc>
                  <a:txBody>
                    <a:bodyPr/>
                    <a:lstStyle/>
                    <a:p>
                      <a:pPr algn="ctr" fontAlgn="ctr">
                        <a:buNone/>
                      </a:pPr>
                      <a:r>
                        <a:rPr lang="es-CL" sz="1100" b="1" i="0" u="none" strike="noStrike" dirty="0">
                          <a:solidFill>
                            <a:srgbClr val="000000"/>
                          </a:solidFill>
                          <a:effectLst/>
                          <a:latin typeface="Aptos Narrow" panose="020B0004020202020204" pitchFamily="34" charset="0"/>
                        </a:rPr>
                        <a:t>Patricia</a:t>
                      </a:r>
                    </a:p>
                  </a:txBody>
                  <a:tcPr marL="7200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HP TISNÉ</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Cristian Rohr</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13,8</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12,6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26,4</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20,5</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215</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12700" cap="flat" cmpd="sng" algn="ctr">
                      <a:solidFill>
                        <a:srgbClr val="1B1E23"/>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4580750"/>
                  </a:ext>
                </a:extLst>
              </a:tr>
              <a:tr h="375238">
                <a:tc rowSpan="7">
                  <a:txBody>
                    <a:bodyPr/>
                    <a:lstStyle/>
                    <a:p>
                      <a:pPr algn="ctr" fontAlgn="ctr">
                        <a:buNone/>
                      </a:pPr>
                      <a:r>
                        <a:rPr lang="es-CL" sz="1100" b="1" i="0" u="none" strike="noStrike">
                          <a:solidFill>
                            <a:srgbClr val="000000"/>
                          </a:solidFill>
                          <a:effectLst/>
                          <a:latin typeface="Aptos Narrow" panose="020B0004020202020204" pitchFamily="34" charset="0"/>
                        </a:rPr>
                        <a:t>Maria</a:t>
                      </a:r>
                    </a:p>
                  </a:txBody>
                  <a:tcPr marL="7200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s-CL" sz="1100" b="0" i="0" u="none" strike="noStrike" dirty="0">
                          <a:solidFill>
                            <a:srgbClr val="000000"/>
                          </a:solidFill>
                          <a:effectLst/>
                          <a:latin typeface="Aptos Narrow" panose="020B0004020202020204" pitchFamily="34" charset="0"/>
                        </a:rPr>
                        <a:t>HP BUIN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Cristian/ Jonathan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8,1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12,0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20,1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19,6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1100" b="0" i="0" u="none" strike="noStrike" dirty="0">
                          <a:solidFill>
                            <a:srgbClr val="000000"/>
                          </a:solidFill>
                          <a:effectLst/>
                          <a:latin typeface="Aptos Narrow" panose="020B0004020202020204" pitchFamily="34" charset="0"/>
                        </a:rPr>
                        <a:t>10</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924590"/>
                  </a:ext>
                </a:extLst>
              </a:tr>
              <a:tr h="281428">
                <a:tc vMerge="1">
                  <a:txBody>
                    <a:bodyPr/>
                    <a:lstStyle/>
                    <a:p>
                      <a:endParaRPr lang="es-CL"/>
                    </a:p>
                  </a:txBody>
                  <a:tcPr/>
                </a:tc>
                <a:tc>
                  <a:txBody>
                    <a:bodyPr/>
                    <a:lstStyle/>
                    <a:p>
                      <a:pPr algn="l" fontAlgn="ctr">
                        <a:buNone/>
                      </a:pPr>
                      <a:r>
                        <a:rPr lang="es-CL" sz="1100" b="0" i="0" u="none" strike="noStrike" dirty="0">
                          <a:solidFill>
                            <a:srgbClr val="000000"/>
                          </a:solidFill>
                          <a:effectLst/>
                          <a:latin typeface="Aptos Narrow" panose="020B0004020202020204" pitchFamily="34" charset="0"/>
                        </a:rPr>
                        <a:t>SAN CAMILO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No determinado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18,8</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1,3</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20,1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4,7</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1100" b="0" i="0" u="none" strike="noStrike" dirty="0">
                          <a:solidFill>
                            <a:srgbClr val="000000"/>
                          </a:solidFill>
                          <a:effectLst/>
                          <a:latin typeface="Aptos Narrow" panose="020B0004020202020204" pitchFamily="34" charset="0"/>
                        </a:rPr>
                        <a:t>0</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5904156"/>
                  </a:ext>
                </a:extLst>
              </a:tr>
              <a:tr h="281428">
                <a:tc vMerge="1">
                  <a:txBody>
                    <a:bodyPr/>
                    <a:lstStyle/>
                    <a:p>
                      <a:endParaRPr lang="es-CL"/>
                    </a:p>
                  </a:txBody>
                  <a:tcPr/>
                </a:tc>
                <a:tc>
                  <a:txBody>
                    <a:bodyPr/>
                    <a:lstStyle/>
                    <a:p>
                      <a:pPr algn="l" fontAlgn="ctr">
                        <a:buNone/>
                      </a:pPr>
                      <a:r>
                        <a:rPr lang="es-CL" sz="1100" b="0" i="0" u="none" strike="noStrike" dirty="0">
                          <a:solidFill>
                            <a:srgbClr val="000000"/>
                          </a:solidFill>
                          <a:effectLst/>
                          <a:latin typeface="Aptos Narrow" panose="020B0004020202020204" pitchFamily="34" charset="0"/>
                        </a:rPr>
                        <a:t>HP VAN BUREN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Cristian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39,3</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39,3</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25,6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1100" b="0" i="0" u="none" strike="noStrike" dirty="0">
                          <a:solidFill>
                            <a:srgbClr val="000000"/>
                          </a:solidFill>
                          <a:effectLst/>
                          <a:latin typeface="Aptos Narrow" panose="020B0004020202020204" pitchFamily="34" charset="0"/>
                        </a:rPr>
                        <a:t>19</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255714"/>
                  </a:ext>
                </a:extLst>
              </a:tr>
              <a:tr h="281428">
                <a:tc vMerge="1">
                  <a:txBody>
                    <a:bodyPr/>
                    <a:lstStyle/>
                    <a:p>
                      <a:endParaRPr lang="es-CL"/>
                    </a:p>
                  </a:txBody>
                  <a:tcPr>
                    <a:lnT w="6350" cap="flat" cmpd="sng" algn="ctr">
                      <a:solidFill>
                        <a:srgbClr val="000000"/>
                      </a:solidFill>
                      <a:prstDash val="solid"/>
                      <a:round/>
                      <a:headEnd type="none" w="med" len="med"/>
                      <a:tailEnd type="none" w="med" len="med"/>
                    </a:lnT>
                  </a:tcPr>
                </a:tc>
                <a:tc>
                  <a:txBody>
                    <a:bodyPr/>
                    <a:lstStyle/>
                    <a:p>
                      <a:pPr algn="l" fontAlgn="ctr">
                        <a:buNone/>
                      </a:pPr>
                      <a:r>
                        <a:rPr lang="es-CL" sz="1100" b="0" i="0" u="none" strike="noStrike" dirty="0">
                          <a:solidFill>
                            <a:srgbClr val="000000"/>
                          </a:solidFill>
                          <a:effectLst/>
                          <a:latin typeface="Aptos Narrow" panose="020B0004020202020204" pitchFamily="34" charset="0"/>
                        </a:rPr>
                        <a:t>HP BASE DE OSORNO</a:t>
                      </a:r>
                    </a:p>
                  </a:txBody>
                  <a:tcPr marL="72000" marR="0" marT="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Cristian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19,4</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28,8</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48,1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1100" b="0" i="0" u="none" strike="noStrike" dirty="0">
                          <a:solidFill>
                            <a:srgbClr val="000000"/>
                          </a:solidFill>
                          <a:effectLst/>
                          <a:latin typeface="Aptos Narrow" panose="020B0004020202020204" pitchFamily="34" charset="0"/>
                        </a:rPr>
                        <a:t>0</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548216"/>
                  </a:ext>
                </a:extLst>
              </a:tr>
              <a:tr h="375238">
                <a:tc vMerge="1">
                  <a:txBody>
                    <a:bodyPr/>
                    <a:lstStyle/>
                    <a:p>
                      <a:endParaRPr lang="es-CL"/>
                    </a:p>
                  </a:txBody>
                  <a:tcPr/>
                </a:tc>
                <a:tc>
                  <a:txBody>
                    <a:bodyPr/>
                    <a:lstStyle/>
                    <a:p>
                      <a:pPr algn="l" fontAlgn="ctr">
                        <a:buNone/>
                      </a:pPr>
                      <a:r>
                        <a:rPr lang="es-CL" sz="1100" b="0" i="0" u="none" strike="noStrike" dirty="0">
                          <a:solidFill>
                            <a:srgbClr val="000000"/>
                          </a:solidFill>
                          <a:effectLst/>
                          <a:latin typeface="Aptos Narrow" panose="020B0004020202020204" pitchFamily="34" charset="0"/>
                        </a:rPr>
                        <a:t>HP VICTOR RIOS RUIZ</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Cristian/ Jonathan</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8,6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8,6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6,7</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s-CL" sz="1100" b="0" i="0" u="none" strike="noStrike" dirty="0">
                          <a:solidFill>
                            <a:srgbClr val="000000"/>
                          </a:solidFill>
                          <a:effectLst/>
                          <a:latin typeface="Aptos Narrow" panose="020B0004020202020204" pitchFamily="34" charset="0"/>
                        </a:rPr>
                        <a:t>8</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0073156"/>
                  </a:ext>
                </a:extLst>
              </a:tr>
              <a:tr h="187619">
                <a:tc vMerge="1">
                  <a:txBody>
                    <a:bodyPr/>
                    <a:lstStyle/>
                    <a:p>
                      <a:endParaRPr lang="es-CL"/>
                    </a:p>
                  </a:txBody>
                  <a:tcPr/>
                </a:tc>
                <a:tc>
                  <a:txBody>
                    <a:bodyPr/>
                    <a:lstStyle/>
                    <a:p>
                      <a:pPr algn="l" fontAlgn="ctr">
                        <a:buNone/>
                      </a:pPr>
                      <a:r>
                        <a:rPr lang="es-CL" sz="1100" b="0" i="0" u="none" strike="noStrike" dirty="0">
                          <a:solidFill>
                            <a:srgbClr val="000000"/>
                          </a:solidFill>
                          <a:effectLst/>
                          <a:latin typeface="Aptos Narrow" panose="020B0004020202020204" pitchFamily="34" charset="0"/>
                        </a:rPr>
                        <a:t>HP DE PUERTO MONTT</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No definido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15,5</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32,1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47,6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7,6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78</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6245485"/>
                  </a:ext>
                </a:extLst>
              </a:tr>
              <a:tr h="281428">
                <a:tc vMerge="1">
                  <a:txBody>
                    <a:bodyPr/>
                    <a:lstStyle/>
                    <a:p>
                      <a:endParaRPr lang="es-CL"/>
                    </a:p>
                  </a:txBody>
                  <a:tcPr/>
                </a:tc>
                <a:tc>
                  <a:txBody>
                    <a:bodyPr/>
                    <a:lstStyle/>
                    <a:p>
                      <a:pPr algn="l" fontAlgn="ctr">
                        <a:buNone/>
                      </a:pPr>
                      <a:r>
                        <a:rPr lang="es-CL" sz="1100" b="0" i="0" u="none" strike="noStrike" dirty="0">
                          <a:solidFill>
                            <a:srgbClr val="000000"/>
                          </a:solidFill>
                          <a:effectLst/>
                          <a:latin typeface="Aptos Narrow" panose="020B0004020202020204" pitchFamily="34" charset="0"/>
                        </a:rPr>
                        <a:t>PUERTO AYSEN </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NO OPERATIVO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 </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24,5</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21,5</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46,1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32,1</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11</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2747316"/>
                  </a:ext>
                </a:extLst>
              </a:tr>
              <a:tr h="281428">
                <a:tc>
                  <a:txBody>
                    <a:bodyPr/>
                    <a:lstStyle/>
                    <a:p>
                      <a:pPr algn="ctr" fontAlgn="ctr">
                        <a:buNone/>
                      </a:pPr>
                      <a:r>
                        <a:rPr lang="es-CL" sz="1100" b="1" i="0" u="none" strike="noStrike">
                          <a:solidFill>
                            <a:srgbClr val="000000"/>
                          </a:solidFill>
                          <a:effectLst/>
                          <a:latin typeface="Aptos Narrow" panose="020B0004020202020204" pitchFamily="34" charset="0"/>
                        </a:rPr>
                        <a:t>Elizabeth</a:t>
                      </a:r>
                    </a:p>
                  </a:txBody>
                  <a:tcPr marL="7200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dirty="0">
                          <a:solidFill>
                            <a:srgbClr val="000000"/>
                          </a:solidFill>
                          <a:effectLst/>
                          <a:latin typeface="Aptos Narrow" panose="020B0004020202020204" pitchFamily="34" charset="0"/>
                        </a:rPr>
                        <a:t>HP FÉLIX BULNES</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SINIESTRADO</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100" b="0" i="0" u="none" strike="noStrike">
                          <a:solidFill>
                            <a:srgbClr val="000000"/>
                          </a:solidFill>
                          <a:effectLst/>
                          <a:latin typeface="Aptos Narrow" panose="020B0004020202020204" pitchFamily="34" charset="0"/>
                        </a:rPr>
                        <a:t>Alexis Flores</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170,6</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148,4</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319,0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$MM 340,0</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100" b="0" i="0" u="none" strike="noStrike" dirty="0">
                          <a:solidFill>
                            <a:srgbClr val="000000"/>
                          </a:solidFill>
                          <a:effectLst/>
                          <a:latin typeface="Aptos Narrow" panose="020B0004020202020204" pitchFamily="34" charset="0"/>
                        </a:rPr>
                        <a:t>263</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267384"/>
                  </a:ext>
                </a:extLst>
              </a:tr>
              <a:tr h="750475">
                <a:tc>
                  <a:txBody>
                    <a:bodyPr/>
                    <a:lstStyle/>
                    <a:p>
                      <a:pPr algn="ctr" fontAlgn="ctr">
                        <a:buNone/>
                      </a:pPr>
                      <a:r>
                        <a:rPr lang="es-CL" sz="1100" b="1" i="0" u="none" strike="noStrike" dirty="0">
                          <a:solidFill>
                            <a:srgbClr val="000000"/>
                          </a:solidFill>
                          <a:effectLst/>
                          <a:latin typeface="Aptos Narrow" panose="020B0004020202020204" pitchFamily="34" charset="0"/>
                        </a:rPr>
                        <a:t>TOTAL</a:t>
                      </a:r>
                    </a:p>
                  </a:txBody>
                  <a:tcPr marL="72000" marR="0" marT="0" marB="0" anchor="ctr">
                    <a:lnL w="12700" cap="flat" cmpd="sng" algn="ctr">
                      <a:solidFill>
                        <a:srgbClr val="1B1E23"/>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l" fontAlgn="b">
                        <a:buNone/>
                      </a:pPr>
                      <a:endParaRPr lang="es-CL" sz="1100" b="0" i="0" u="none" strike="noStrike" dirty="0">
                        <a:solidFill>
                          <a:srgbClr val="000000"/>
                        </a:solidFill>
                        <a:effectLst/>
                        <a:latin typeface="Aptos Narrow" panose="020B0004020202020204" pitchFamily="34" charset="0"/>
                      </a:endParaRP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l" fontAlgn="b">
                        <a:buNone/>
                      </a:pPr>
                      <a:endParaRPr lang="es-CL" sz="1100" b="1" i="0" u="none" strike="noStrike" dirty="0">
                        <a:solidFill>
                          <a:srgbClr val="000000"/>
                        </a:solidFill>
                        <a:effectLst/>
                        <a:latin typeface="Aptos Narrow" panose="020B0004020202020204" pitchFamily="34" charset="0"/>
                      </a:endParaRP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l" fontAlgn="b">
                        <a:buNone/>
                      </a:pPr>
                      <a:endParaRPr lang="es-CL" sz="1100" b="1" i="0" u="none" strike="noStrike" dirty="0">
                        <a:solidFill>
                          <a:srgbClr val="000000"/>
                        </a:solidFill>
                        <a:effectLst/>
                        <a:latin typeface="Aptos Narrow" panose="020B0004020202020204" pitchFamily="34" charset="0"/>
                      </a:endParaRP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ctr" fontAlgn="b">
                        <a:buNone/>
                      </a:pPr>
                      <a:r>
                        <a:rPr lang="es-CL" sz="1100" b="1" i="0" u="none" strike="noStrike" dirty="0">
                          <a:solidFill>
                            <a:srgbClr val="000000"/>
                          </a:solidFill>
                          <a:effectLst/>
                          <a:latin typeface="Aptos Narrow" panose="020B0004020202020204" pitchFamily="34" charset="0"/>
                        </a:rPr>
                        <a:t>$MM 270,7</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ctr" fontAlgn="b">
                        <a:buNone/>
                      </a:pPr>
                      <a:r>
                        <a:rPr lang="es-CL" sz="1100" b="1" i="0" u="none" strike="noStrike" dirty="0">
                          <a:solidFill>
                            <a:srgbClr val="000000"/>
                          </a:solidFill>
                          <a:effectLst/>
                          <a:latin typeface="Aptos Narrow" panose="020B0004020202020204" pitchFamily="34" charset="0"/>
                        </a:rPr>
                        <a:t>$MM 314,9</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ctr" fontAlgn="b">
                        <a:buNone/>
                      </a:pPr>
                      <a:r>
                        <a:rPr lang="es-CL" sz="1100" b="1" i="0" u="none" strike="noStrike" dirty="0">
                          <a:solidFill>
                            <a:srgbClr val="000000"/>
                          </a:solidFill>
                          <a:effectLst/>
                          <a:latin typeface="Aptos Narrow" panose="020B0004020202020204" pitchFamily="34" charset="0"/>
                        </a:rPr>
                        <a:t>$MM 573,5</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ctr" fontAlgn="b">
                        <a:buNone/>
                      </a:pPr>
                      <a:r>
                        <a:rPr lang="es-CL" sz="1100" b="1" i="0" u="none" strike="noStrike" dirty="0">
                          <a:solidFill>
                            <a:srgbClr val="000000"/>
                          </a:solidFill>
                          <a:effectLst/>
                          <a:latin typeface="Aptos Narrow" panose="020B0004020202020204" pitchFamily="34" charset="0"/>
                        </a:rPr>
                        <a:t>$MM 466,8</a:t>
                      </a:r>
                    </a:p>
                  </a:txBody>
                  <a:tcPr marL="72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tc>
                  <a:txBody>
                    <a:bodyPr/>
                    <a:lstStyle/>
                    <a:p>
                      <a:pPr algn="ctr" fontAlgn="b">
                        <a:buNone/>
                      </a:pPr>
                      <a:r>
                        <a:rPr lang="es-CL" sz="1100" b="1" i="0" u="none" strike="noStrike" dirty="0">
                          <a:solidFill>
                            <a:srgbClr val="000000"/>
                          </a:solidFill>
                          <a:effectLst/>
                          <a:latin typeface="Aptos Narrow" panose="020B0004020202020204" pitchFamily="34" charset="0"/>
                        </a:rPr>
                        <a:t>604</a:t>
                      </a:r>
                    </a:p>
                  </a:txBody>
                  <a:tcPr marL="72000" marR="0" marT="0" marB="0" anchor="ctr">
                    <a:lnL w="6350" cap="flat" cmpd="sng" algn="ctr">
                      <a:solidFill>
                        <a:srgbClr val="000000"/>
                      </a:solidFill>
                      <a:prstDash val="solid"/>
                      <a:round/>
                      <a:headEnd type="none" w="med" len="med"/>
                      <a:tailEnd type="none" w="med" len="med"/>
                    </a:lnL>
                    <a:lnR w="12700" cap="flat" cmpd="sng" algn="ctr">
                      <a:solidFill>
                        <a:srgbClr val="1B1E23"/>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1B1E23"/>
                      </a:solidFill>
                      <a:prstDash val="solid"/>
                      <a:round/>
                      <a:headEnd type="none" w="med" len="med"/>
                      <a:tailEnd type="none" w="med" len="med"/>
                    </a:lnB>
                    <a:solidFill>
                      <a:schemeClr val="tx2">
                        <a:lumMod val="95000"/>
                      </a:schemeClr>
                    </a:solidFill>
                  </a:tcPr>
                </a:tc>
                <a:extLst>
                  <a:ext uri="{0D108BD9-81ED-4DB2-BD59-A6C34878D82A}">
                    <a16:rowId xmlns:a16="http://schemas.microsoft.com/office/drawing/2014/main" val="3514083287"/>
                  </a:ext>
                </a:extLst>
              </a:tr>
            </a:tbl>
          </a:graphicData>
        </a:graphic>
      </p:graphicFrame>
    </p:spTree>
    <p:extLst>
      <p:ext uri="{BB962C8B-B14F-4D97-AF65-F5344CB8AC3E}">
        <p14:creationId xmlns:p14="http://schemas.microsoft.com/office/powerpoint/2010/main" val="3429239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AC687-5DFE-9417-4F96-4AB9D6733A7D}"/>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5B8363C8-0D36-F095-4696-A76827D428A0}"/>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Fill Rate</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218D2FD0-943D-91D5-1B86-786C67E83F6F}"/>
              </a:ext>
            </a:extLst>
          </p:cNvPr>
          <p:cNvSpPr/>
          <p:nvPr/>
        </p:nvSpPr>
        <p:spPr>
          <a:xfrm>
            <a:off x="307918" y="5857129"/>
            <a:ext cx="11625292" cy="6386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200" dirty="0"/>
              <a:t>Stock top 10 clientes y compra requerida para distintos niveles de Fill Rate</a:t>
            </a:r>
          </a:p>
        </p:txBody>
      </p:sp>
      <p:pic>
        <p:nvPicPr>
          <p:cNvPr id="8" name="Imagen 7">
            <a:extLst>
              <a:ext uri="{FF2B5EF4-FFF2-40B4-BE49-F238E27FC236}">
                <a16:creationId xmlns:a16="http://schemas.microsoft.com/office/drawing/2014/main" id="{65B9CD57-5C28-4324-D595-072EF3A22701}"/>
              </a:ext>
            </a:extLst>
          </p:cNvPr>
          <p:cNvPicPr>
            <a:picLocks noChangeAspect="1"/>
          </p:cNvPicPr>
          <p:nvPr/>
        </p:nvPicPr>
        <p:blipFill>
          <a:blip r:embed="rId2"/>
          <a:stretch>
            <a:fillRect/>
          </a:stretch>
        </p:blipFill>
        <p:spPr>
          <a:xfrm>
            <a:off x="307918" y="1116746"/>
            <a:ext cx="11674701" cy="4624508"/>
          </a:xfrm>
          <a:prstGeom prst="rect">
            <a:avLst/>
          </a:prstGeom>
        </p:spPr>
      </p:pic>
    </p:spTree>
    <p:extLst>
      <p:ext uri="{BB962C8B-B14F-4D97-AF65-F5344CB8AC3E}">
        <p14:creationId xmlns:p14="http://schemas.microsoft.com/office/powerpoint/2010/main" val="407726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FF359-1603-7407-2DD0-5BA91F64837E}"/>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E50C53E0-F090-0B8C-9F54-3B299FC1919C}"/>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40A1A72B-160B-BB57-93C5-96287B0EC8F5}"/>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Política de crédito para clientes principales – Bolsa de repuestos “necesaria” para cada cliente y qué % tenemos en stock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b="0" i="0" u="none" strike="noStrike" kern="1200" cap="none" spc="0" normalizeH="0" baseline="0" noProof="0" dirty="0">
                <a:ln>
                  <a:noFill/>
                </a:ln>
                <a:solidFill>
                  <a:schemeClr val="bg2"/>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72D6D6E3-E52A-CC3C-296B-607397B49D39}"/>
              </a:ext>
            </a:extLst>
          </p:cNvPr>
          <p:cNvSpPr/>
          <p:nvPr/>
        </p:nvSpPr>
        <p:spPr>
          <a:xfrm>
            <a:off x="393700" y="3206198"/>
            <a:ext cx="11312345" cy="6153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7879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88C6E-AB6F-54BC-BD73-BDF61C11F75D}"/>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951DDF71-A342-7ED4-C751-214247E859AD}"/>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Update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Contratos</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 – Horizonte 90 días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F33949F8-943C-3028-5D8C-6448B5F46D50}"/>
              </a:ext>
            </a:extLst>
          </p:cNvPr>
          <p:cNvSpPr/>
          <p:nvPr/>
        </p:nvSpPr>
        <p:spPr>
          <a:xfrm>
            <a:off x="283354" y="5995969"/>
            <a:ext cx="11625292" cy="86203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000" dirty="0"/>
              <a:t>A 90 días de horizonte vence un 13% de la cartera, de un total de 27 contratos</a:t>
            </a:r>
          </a:p>
          <a:p>
            <a:pPr marL="628650" lvl="1" indent="-171450">
              <a:buFont typeface="Arial" panose="020B0604020202020204" pitchFamily="34" charset="0"/>
              <a:buChar char="•"/>
            </a:pPr>
            <a:r>
              <a:rPr lang="es-CL" sz="1000" dirty="0"/>
              <a:t>Agosto, lo que queda del mes, el 0,7% (2 contratos)</a:t>
            </a:r>
          </a:p>
          <a:p>
            <a:pPr marL="628650" lvl="1" indent="-171450">
              <a:buFont typeface="Arial" panose="020B0604020202020204" pitchFamily="34" charset="0"/>
              <a:buChar char="•"/>
            </a:pPr>
            <a:r>
              <a:rPr lang="es-CL" sz="1000" dirty="0"/>
              <a:t>Para Septiembre el 3,9% de la cartera (5 contratos)</a:t>
            </a:r>
          </a:p>
          <a:p>
            <a:pPr marL="628650" lvl="1" indent="-171450">
              <a:buFont typeface="Arial" panose="020B0604020202020204" pitchFamily="34" charset="0"/>
              <a:buChar char="•"/>
            </a:pPr>
            <a:r>
              <a:rPr lang="es-CL" sz="1000" dirty="0"/>
              <a:t>Octubre el 2,2% (9 contratos)</a:t>
            </a:r>
          </a:p>
          <a:p>
            <a:pPr marL="628650" lvl="1" indent="-171450">
              <a:buFont typeface="Arial" panose="020B0604020202020204" pitchFamily="34" charset="0"/>
              <a:buChar char="•"/>
            </a:pPr>
            <a:r>
              <a:rPr lang="es-CL" sz="1000" dirty="0"/>
              <a:t>De los cuales el 47% vence en Noviembre (6,2% de la cartera)</a:t>
            </a:r>
          </a:p>
        </p:txBody>
      </p:sp>
      <p:pic>
        <p:nvPicPr>
          <p:cNvPr id="8" name="Imagen 7">
            <a:extLst>
              <a:ext uri="{FF2B5EF4-FFF2-40B4-BE49-F238E27FC236}">
                <a16:creationId xmlns:a16="http://schemas.microsoft.com/office/drawing/2014/main" id="{209B2269-1418-7F32-5396-EFDC7538D01F}"/>
              </a:ext>
            </a:extLst>
          </p:cNvPr>
          <p:cNvPicPr>
            <a:picLocks noChangeAspect="1"/>
          </p:cNvPicPr>
          <p:nvPr/>
        </p:nvPicPr>
        <p:blipFill>
          <a:blip r:embed="rId2"/>
          <a:stretch>
            <a:fillRect/>
          </a:stretch>
        </p:blipFill>
        <p:spPr>
          <a:xfrm>
            <a:off x="1178713" y="966975"/>
            <a:ext cx="9387687" cy="4924049"/>
          </a:xfrm>
          <a:prstGeom prst="rect">
            <a:avLst/>
          </a:prstGeom>
        </p:spPr>
      </p:pic>
    </p:spTree>
    <p:extLst>
      <p:ext uri="{BB962C8B-B14F-4D97-AF65-F5344CB8AC3E}">
        <p14:creationId xmlns:p14="http://schemas.microsoft.com/office/powerpoint/2010/main" val="1583070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1E5B-0112-8DC6-21E8-3E013AB18F8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AB1351F2-1756-B715-4F1D-7FF02A581424}"/>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Update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Contratos</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 – Horizonte 90 días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F0DC4AC8-1436-4086-513B-49C6064432CD}"/>
              </a:ext>
            </a:extLst>
          </p:cNvPr>
          <p:cNvSpPr/>
          <p:nvPr/>
        </p:nvSpPr>
        <p:spPr>
          <a:xfrm>
            <a:off x="393700" y="1035781"/>
            <a:ext cx="11625292" cy="49972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000" dirty="0"/>
              <a:t>De este 14% de la cartera ya el 12% se encuentra en proceso de renovación, puede que haya expirado, sin embargo, todavía el contrato se sigue ejecutando, por ejemplo, </a:t>
            </a:r>
            <a:r>
              <a:rPr lang="es-MX" sz="1000" b="1" dirty="0"/>
              <a:t>Clínica INDISA</a:t>
            </a:r>
          </a:p>
          <a:p>
            <a:pPr marL="171450" indent="-171450">
              <a:buFont typeface="Arial" panose="020B0604020202020204" pitchFamily="34" charset="0"/>
              <a:buChar char="•"/>
            </a:pPr>
            <a:r>
              <a:rPr lang="es-MX" sz="1000" b="1" dirty="0"/>
              <a:t>1 Nuevo contrato durante esta semana H. Luis Calvo Mackenna MM$3,5 anual</a:t>
            </a:r>
          </a:p>
        </p:txBody>
      </p:sp>
      <p:graphicFrame>
        <p:nvGraphicFramePr>
          <p:cNvPr id="4" name="Tabla 3">
            <a:extLst>
              <a:ext uri="{FF2B5EF4-FFF2-40B4-BE49-F238E27FC236}">
                <a16:creationId xmlns:a16="http://schemas.microsoft.com/office/drawing/2014/main" id="{2CADFF46-CA6C-769E-1A08-0AD18A017DFF}"/>
              </a:ext>
            </a:extLst>
          </p:cNvPr>
          <p:cNvGraphicFramePr>
            <a:graphicFrameLocks noGrp="1"/>
          </p:cNvGraphicFramePr>
          <p:nvPr>
            <p:extLst>
              <p:ext uri="{D42A27DB-BD31-4B8C-83A1-F6EECF244321}">
                <p14:modId xmlns:p14="http://schemas.microsoft.com/office/powerpoint/2010/main" val="3542979276"/>
              </p:ext>
            </p:extLst>
          </p:nvPr>
        </p:nvGraphicFramePr>
        <p:xfrm>
          <a:off x="393702" y="1641277"/>
          <a:ext cx="11625290" cy="2092956"/>
        </p:xfrm>
        <a:graphic>
          <a:graphicData uri="http://schemas.openxmlformats.org/drawingml/2006/table">
            <a:tbl>
              <a:tblPr/>
              <a:tblGrid>
                <a:gridCol w="2838883">
                  <a:extLst>
                    <a:ext uri="{9D8B030D-6E8A-4147-A177-3AD203B41FA5}">
                      <a16:colId xmlns:a16="http://schemas.microsoft.com/office/drawing/2014/main" val="25020616"/>
                    </a:ext>
                  </a:extLst>
                </a:gridCol>
                <a:gridCol w="1618548">
                  <a:extLst>
                    <a:ext uri="{9D8B030D-6E8A-4147-A177-3AD203B41FA5}">
                      <a16:colId xmlns:a16="http://schemas.microsoft.com/office/drawing/2014/main" val="3899587940"/>
                    </a:ext>
                  </a:extLst>
                </a:gridCol>
                <a:gridCol w="950576">
                  <a:extLst>
                    <a:ext uri="{9D8B030D-6E8A-4147-A177-3AD203B41FA5}">
                      <a16:colId xmlns:a16="http://schemas.microsoft.com/office/drawing/2014/main" val="4115240429"/>
                    </a:ext>
                  </a:extLst>
                </a:gridCol>
                <a:gridCol w="1079033">
                  <a:extLst>
                    <a:ext uri="{9D8B030D-6E8A-4147-A177-3AD203B41FA5}">
                      <a16:colId xmlns:a16="http://schemas.microsoft.com/office/drawing/2014/main" val="4147254359"/>
                    </a:ext>
                  </a:extLst>
                </a:gridCol>
                <a:gridCol w="1079033">
                  <a:extLst>
                    <a:ext uri="{9D8B030D-6E8A-4147-A177-3AD203B41FA5}">
                      <a16:colId xmlns:a16="http://schemas.microsoft.com/office/drawing/2014/main" val="2334598471"/>
                    </a:ext>
                  </a:extLst>
                </a:gridCol>
                <a:gridCol w="950576">
                  <a:extLst>
                    <a:ext uri="{9D8B030D-6E8A-4147-A177-3AD203B41FA5}">
                      <a16:colId xmlns:a16="http://schemas.microsoft.com/office/drawing/2014/main" val="2048737918"/>
                    </a:ext>
                  </a:extLst>
                </a:gridCol>
                <a:gridCol w="1014804">
                  <a:extLst>
                    <a:ext uri="{9D8B030D-6E8A-4147-A177-3AD203B41FA5}">
                      <a16:colId xmlns:a16="http://schemas.microsoft.com/office/drawing/2014/main" val="436114772"/>
                    </a:ext>
                  </a:extLst>
                </a:gridCol>
                <a:gridCol w="1014804">
                  <a:extLst>
                    <a:ext uri="{9D8B030D-6E8A-4147-A177-3AD203B41FA5}">
                      <a16:colId xmlns:a16="http://schemas.microsoft.com/office/drawing/2014/main" val="1559190135"/>
                    </a:ext>
                  </a:extLst>
                </a:gridCol>
                <a:gridCol w="1079033">
                  <a:extLst>
                    <a:ext uri="{9D8B030D-6E8A-4147-A177-3AD203B41FA5}">
                      <a16:colId xmlns:a16="http://schemas.microsoft.com/office/drawing/2014/main" val="1089428173"/>
                    </a:ext>
                  </a:extLst>
                </a:gridCol>
              </a:tblGrid>
              <a:tr h="288961">
                <a:tc>
                  <a:txBody>
                    <a:bodyPr/>
                    <a:lstStyle/>
                    <a:p>
                      <a:pPr algn="l" fontAlgn="b">
                        <a:buNone/>
                      </a:pPr>
                      <a:r>
                        <a:rPr lang="es-CL" sz="600" b="1" i="0" u="none" strike="noStrike" dirty="0">
                          <a:solidFill>
                            <a:srgbClr val="FFFFFF"/>
                          </a:solidFill>
                          <a:effectLst/>
                          <a:latin typeface="Aptos" panose="020B0004020202020204" pitchFamily="34" charset="0"/>
                        </a:rPr>
                        <a:t>CLIENTE</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l" fontAlgn="b">
                        <a:buNone/>
                      </a:pPr>
                      <a:r>
                        <a:rPr lang="es-CL" sz="600" b="1" i="0" u="none" strike="noStrike">
                          <a:solidFill>
                            <a:srgbClr val="FFFFFF"/>
                          </a:solidFill>
                          <a:effectLst/>
                          <a:latin typeface="Aptos" panose="020B0004020202020204" pitchFamily="34" charset="0"/>
                        </a:rPr>
                        <a:t>CLASIFICACIÓN (indicada por usuario)</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l" fontAlgn="b">
                        <a:buNone/>
                      </a:pPr>
                      <a:r>
                        <a:rPr lang="es-CL" sz="600" b="1" i="0" u="none" strike="noStrike">
                          <a:solidFill>
                            <a:srgbClr val="FFFFFF"/>
                          </a:solidFill>
                          <a:effectLst/>
                          <a:latin typeface="Aptos" panose="020B0004020202020204" pitchFamily="34" charset="0"/>
                        </a:rPr>
                        <a:t>TIPO CONTRATO</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dirty="0">
                          <a:solidFill>
                            <a:srgbClr val="FFFFFF"/>
                          </a:solidFill>
                          <a:effectLst/>
                          <a:latin typeface="Aptos" panose="020B0004020202020204" pitchFamily="34" charset="0"/>
                        </a:rPr>
                        <a:t>VALOR TOTAL CONTRATO</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a:solidFill>
                            <a:srgbClr val="FFFFFF"/>
                          </a:solidFill>
                          <a:effectLst/>
                          <a:latin typeface="Aptos" panose="020B0004020202020204" pitchFamily="34" charset="0"/>
                        </a:rPr>
                        <a:t>Cartera</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a:solidFill>
                            <a:srgbClr val="FFFFFF"/>
                          </a:solidFill>
                          <a:effectLst/>
                          <a:latin typeface="Aptos" panose="020B0004020202020204" pitchFamily="34" charset="0"/>
                        </a:rPr>
                        <a:t>CUOTA MENSUAL</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a:solidFill>
                            <a:srgbClr val="FFFFFF"/>
                          </a:solidFill>
                          <a:effectLst/>
                          <a:latin typeface="Aptos" panose="020B0004020202020204" pitchFamily="34" charset="0"/>
                        </a:rPr>
                        <a:t>FECHA VENCIMIENTO</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a:solidFill>
                            <a:srgbClr val="FFFFFF"/>
                          </a:solidFill>
                          <a:effectLst/>
                          <a:latin typeface="Aptos" panose="020B0004020202020204" pitchFamily="34" charset="0"/>
                        </a:rPr>
                        <a:t>MES DE VENCIMIENTO</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tc>
                  <a:txBody>
                    <a:bodyPr/>
                    <a:lstStyle/>
                    <a:p>
                      <a:pPr algn="r" fontAlgn="b">
                        <a:buNone/>
                      </a:pPr>
                      <a:r>
                        <a:rPr lang="es-CL" sz="600" b="1" i="0" u="none" strike="noStrike">
                          <a:solidFill>
                            <a:srgbClr val="FFFFFF"/>
                          </a:solidFill>
                          <a:effectLst/>
                          <a:latin typeface="Aptos" panose="020B0004020202020204" pitchFamily="34" charset="0"/>
                        </a:rPr>
                        <a:t>ESTADO EN PANEL (dato actual)</a:t>
                      </a:r>
                    </a:p>
                  </a:txBody>
                  <a:tcPr marL="8715" marR="8715" marT="871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002D73"/>
                    </a:solidFill>
                  </a:tcPr>
                </a:tc>
                <a:extLst>
                  <a:ext uri="{0D108BD9-81ED-4DB2-BD59-A6C34878D82A}">
                    <a16:rowId xmlns:a16="http://schemas.microsoft.com/office/drawing/2014/main" val="1134461156"/>
                  </a:ext>
                </a:extLst>
              </a:tr>
              <a:tr h="201162">
                <a:tc>
                  <a:txBody>
                    <a:bodyPr/>
                    <a:lstStyle/>
                    <a:p>
                      <a:pPr algn="l" fontAlgn="b">
                        <a:buNone/>
                      </a:pPr>
                      <a:r>
                        <a:rPr lang="es-CL" sz="800" b="0" i="0" u="none" strike="noStrike" dirty="0">
                          <a:solidFill>
                            <a:srgbClr val="000000"/>
                          </a:solidFill>
                          <a:effectLst/>
                          <a:latin typeface="Aptos" panose="020B0004020202020204" pitchFamily="34" charset="0"/>
                        </a:rPr>
                        <a:t>Hospital Exequiel González Cortés</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dirty="0">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34.900.000</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2,68%</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2.908.000</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01/09/2026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Sept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Nuevo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3717272956"/>
                  </a:ext>
                </a:extLst>
              </a:tr>
              <a:tr h="111139">
                <a:tc>
                  <a:txBody>
                    <a:bodyPr/>
                    <a:lstStyle/>
                    <a:p>
                      <a:pPr algn="l" fontAlgn="b">
                        <a:buNone/>
                      </a:pPr>
                      <a:r>
                        <a:rPr lang="es-CL" sz="700" b="0" i="0" u="none" strike="noStrike" dirty="0">
                          <a:solidFill>
                            <a:srgbClr val="000000"/>
                          </a:solidFill>
                          <a:effectLst/>
                          <a:latin typeface="Aptos" panose="020B0004020202020204" pitchFamily="34" charset="0"/>
                        </a:rPr>
                        <a:t>HOSPITAL DEL SALVADOR</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23.803.992</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1,83%</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5.950.998</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08/03/2027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Marzo 2027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758578957"/>
                  </a:ext>
                </a:extLst>
              </a:tr>
              <a:tr h="111139">
                <a:tc>
                  <a:txBody>
                    <a:bodyPr/>
                    <a:lstStyle/>
                    <a:p>
                      <a:pPr algn="l" fontAlgn="b">
                        <a:buNone/>
                      </a:pPr>
                      <a:r>
                        <a:rPr lang="es-CL" sz="700" b="0" i="0" u="none" strike="noStrike" dirty="0">
                          <a:solidFill>
                            <a:srgbClr val="000000"/>
                          </a:solidFill>
                          <a:effectLst/>
                          <a:latin typeface="Aptos" panose="020B0004020202020204" pitchFamily="34" charset="0"/>
                        </a:rPr>
                        <a:t>INSTITUTO DE DIAGNOSTICO S.A. / CLÍNICA INDISA</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23.049.612</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1,77%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2.881.201</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07/08/2026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3212486757"/>
                  </a:ext>
                </a:extLst>
              </a:tr>
              <a:tr h="111139">
                <a:tc>
                  <a:txBody>
                    <a:bodyPr/>
                    <a:lstStyle/>
                    <a:p>
                      <a:pPr algn="l" fontAlgn="b">
                        <a:buNone/>
                      </a:pPr>
                      <a:r>
                        <a:rPr lang="es-CL" sz="700" b="0" i="0" u="none" strike="noStrike" dirty="0">
                          <a:solidFill>
                            <a:srgbClr val="000000"/>
                          </a:solidFill>
                          <a:effectLst/>
                          <a:latin typeface="Aptos" panose="020B0004020202020204" pitchFamily="34" charset="0"/>
                        </a:rPr>
                        <a:t>CLÍNICA BUPA ANTOFAGASTA SA</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5.585.865</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0,43%</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698.233</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31/08/2026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Nuevo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2764200374"/>
                  </a:ext>
                </a:extLst>
              </a:tr>
              <a:tr h="111139">
                <a:tc>
                  <a:txBody>
                    <a:bodyPr/>
                    <a:lstStyle/>
                    <a:p>
                      <a:pPr algn="l" fontAlgn="b">
                        <a:buNone/>
                      </a:pPr>
                      <a:r>
                        <a:rPr lang="es-CL" sz="700" b="0" i="0" u="none" strike="noStrike">
                          <a:solidFill>
                            <a:srgbClr val="000000"/>
                          </a:solidFill>
                          <a:effectLst/>
                          <a:latin typeface="Aptos" panose="020B0004020202020204" pitchFamily="34" charset="0"/>
                        </a:rPr>
                        <a:t>I. MUNICIPALIDAD DE CONSTITUCION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4.865.287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0,37%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4.865.287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31/05/2026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Mayo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Perdido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2620260369"/>
                  </a:ext>
                </a:extLst>
              </a:tr>
              <a:tr h="111139">
                <a:tc>
                  <a:txBody>
                    <a:bodyPr/>
                    <a:lstStyle/>
                    <a:p>
                      <a:pPr algn="l" fontAlgn="b">
                        <a:buNone/>
                      </a:pPr>
                      <a:r>
                        <a:rPr lang="es-CL" sz="700" b="0" i="0" u="none" strike="noStrike" dirty="0">
                          <a:solidFill>
                            <a:srgbClr val="000000"/>
                          </a:solidFill>
                          <a:effectLst/>
                          <a:latin typeface="Aptos" panose="020B0004020202020204" pitchFamily="34" charset="0"/>
                        </a:rPr>
                        <a:t>HOSPITAL MILITAR DE SANTIAGO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4.695.262</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0,36%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782.544</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02/06/2026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Junio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Perdido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684019603"/>
                  </a:ext>
                </a:extLst>
              </a:tr>
              <a:tr h="111139">
                <a:tc>
                  <a:txBody>
                    <a:bodyPr/>
                    <a:lstStyle/>
                    <a:p>
                      <a:pPr algn="l" fontAlgn="b">
                        <a:buNone/>
                      </a:pPr>
                      <a:r>
                        <a:rPr lang="es-CL" sz="700" b="0" i="0" u="none" strike="noStrike">
                          <a:solidFill>
                            <a:srgbClr val="000000"/>
                          </a:solidFill>
                          <a:effectLst/>
                          <a:latin typeface="Aptos" panose="020B0004020202020204" pitchFamily="34" charset="0"/>
                        </a:rPr>
                        <a:t>HOSPITAL DEL SALVADOR</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4.168.932</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0,32%</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1.389.644</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03/08/2026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83795995"/>
                  </a:ext>
                </a:extLst>
              </a:tr>
              <a:tr h="111139">
                <a:tc>
                  <a:txBody>
                    <a:bodyPr/>
                    <a:lstStyle/>
                    <a:p>
                      <a:pPr algn="l" fontAlgn="b">
                        <a:buNone/>
                      </a:pPr>
                      <a:r>
                        <a:rPr lang="es-CL" sz="700" b="0" i="0" u="none" strike="noStrike">
                          <a:solidFill>
                            <a:srgbClr val="000000"/>
                          </a:solidFill>
                          <a:effectLst/>
                          <a:latin typeface="Aptos" panose="020B0004020202020204" pitchFamily="34" charset="0"/>
                        </a:rPr>
                        <a:t>I MUNICIPALIDAD DE VICUÑA</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3.932.726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0,30%</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1.966.363</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30/08/2026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Nuevo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2638222084"/>
                  </a:ext>
                </a:extLst>
              </a:tr>
              <a:tr h="111139">
                <a:tc>
                  <a:txBody>
                    <a:bodyPr/>
                    <a:lstStyle/>
                    <a:p>
                      <a:pPr algn="l" fontAlgn="b">
                        <a:buNone/>
                      </a:pPr>
                      <a:r>
                        <a:rPr lang="es-CL" sz="700" b="0" i="0" u="none" strike="noStrike">
                          <a:solidFill>
                            <a:srgbClr val="000000"/>
                          </a:solidFill>
                          <a:effectLst/>
                          <a:latin typeface="Aptos" panose="020B0004020202020204" pitchFamily="34" charset="0"/>
                        </a:rPr>
                        <a:t>DIPRECA FONDO HOSPITAL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3.671.517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0,28%</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1.223.839</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05/08/2026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Perdido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58257767"/>
                  </a:ext>
                </a:extLst>
              </a:tr>
              <a:tr h="201162">
                <a:tc>
                  <a:txBody>
                    <a:bodyPr/>
                    <a:lstStyle/>
                    <a:p>
                      <a:pPr algn="l" fontAlgn="b">
                        <a:buNone/>
                      </a:pPr>
                      <a:r>
                        <a:rPr lang="es-CL" sz="700" b="0" i="0" u="none" strike="noStrike">
                          <a:solidFill>
                            <a:srgbClr val="000000"/>
                          </a:solidFill>
                          <a:effectLst/>
                          <a:latin typeface="Aptos" panose="020B0004020202020204" pitchFamily="34" charset="0"/>
                        </a:rPr>
                        <a:t>HOSPITAL DE ILLAPEL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3.429.404</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3.429.404</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31/07/2026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Julio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Perdido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590255469"/>
                  </a:ext>
                </a:extLst>
              </a:tr>
              <a:tr h="111139">
                <a:tc>
                  <a:txBody>
                    <a:bodyPr/>
                    <a:lstStyle/>
                    <a:p>
                      <a:pPr algn="l" fontAlgn="b">
                        <a:buNone/>
                      </a:pPr>
                      <a:r>
                        <a:rPr lang="es-CL" sz="700" b="0" i="0" u="none" strike="noStrike">
                          <a:solidFill>
                            <a:srgbClr val="000000"/>
                          </a:solidFill>
                          <a:effectLst/>
                          <a:latin typeface="Aptos" panose="020B0004020202020204" pitchFamily="34" charset="0"/>
                        </a:rPr>
                        <a:t>I.MUNICIPALIDAD DE CURICO DPTO. SALUD</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2.738.309</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0,21%</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1.369.155</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23/12/2026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Diciembre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3387960000"/>
                  </a:ext>
                </a:extLst>
              </a:tr>
              <a:tr h="111139">
                <a:tc>
                  <a:txBody>
                    <a:bodyPr/>
                    <a:lstStyle/>
                    <a:p>
                      <a:pPr algn="l" fontAlgn="b">
                        <a:buNone/>
                      </a:pPr>
                      <a:r>
                        <a:rPr lang="es-CL" sz="700" b="0" i="0" u="none" strike="noStrike">
                          <a:solidFill>
                            <a:srgbClr val="000000"/>
                          </a:solidFill>
                          <a:effectLst/>
                          <a:latin typeface="Aptos" panose="020B0004020202020204" pitchFamily="34" charset="0"/>
                        </a:rPr>
                        <a:t>I.MUNICIPALIDAD DE CURICO DPTO. SALUD</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2.729.949</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0,21%</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2.729.949</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31/08/2026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630753917"/>
                  </a:ext>
                </a:extLst>
              </a:tr>
              <a:tr h="123416">
                <a:tc>
                  <a:txBody>
                    <a:bodyPr/>
                    <a:lstStyle/>
                    <a:p>
                      <a:pPr algn="l" fontAlgn="b">
                        <a:buNone/>
                      </a:pPr>
                      <a:r>
                        <a:rPr lang="es-CL" sz="700" b="0" i="0" u="none" strike="noStrike">
                          <a:solidFill>
                            <a:srgbClr val="000000"/>
                          </a:solidFill>
                          <a:effectLst/>
                          <a:latin typeface="Aptos" panose="020B0004020202020204" pitchFamily="34" charset="0"/>
                        </a:rPr>
                        <a:t>CLINICA WLK</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dirty="0">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2.404.630</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0,18%</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801.543</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21/08/2026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Agosto 2026</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Nuevo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3088791573"/>
                  </a:ext>
                </a:extLst>
              </a:tr>
              <a:tr h="111139">
                <a:tc>
                  <a:txBody>
                    <a:bodyPr/>
                    <a:lstStyle/>
                    <a:p>
                      <a:pPr algn="l" fontAlgn="b">
                        <a:buNone/>
                      </a:pPr>
                      <a:r>
                        <a:rPr lang="es-CL" sz="700" b="0" i="0" u="none" strike="noStrike">
                          <a:solidFill>
                            <a:srgbClr val="000000"/>
                          </a:solidFill>
                          <a:effectLst/>
                          <a:latin typeface="Aptos" panose="020B0004020202020204" pitchFamily="34" charset="0"/>
                        </a:rPr>
                        <a:t>I.MUNICIPALIDAD DE CURICO DPTO. SALUD</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l" fontAlgn="b">
                        <a:buNone/>
                      </a:pPr>
                      <a:r>
                        <a:rPr lang="es-CL" sz="700" b="0" i="0" u="none" strike="noStrike">
                          <a:solidFill>
                            <a:srgbClr val="000000"/>
                          </a:solidFill>
                          <a:effectLst/>
                          <a:latin typeface="Aptos" panose="020B0004020202020204" pitchFamily="34" charset="0"/>
                        </a:rPr>
                        <a:t>En Proceso de Renovación</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solidFill>
                      <a:srgbClr val="D6E4F5"/>
                    </a:solidFill>
                  </a:tcPr>
                </a:tc>
                <a:tc>
                  <a:txBody>
                    <a:bodyPr/>
                    <a:lstStyle/>
                    <a:p>
                      <a:pPr algn="l" fontAlgn="b">
                        <a:buNone/>
                      </a:pPr>
                      <a:r>
                        <a:rPr lang="es-CL" sz="700" b="0" i="0" u="none" strike="noStrike">
                          <a:solidFill>
                            <a:srgbClr val="000000"/>
                          </a:solidFill>
                          <a:effectLst/>
                          <a:latin typeface="Aptos" panose="020B0004020202020204" pitchFamily="34" charset="0"/>
                        </a:rPr>
                        <a:t>Comercial</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1.376.598</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0,11%</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688.299</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30/04/2027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a:solidFill>
                            <a:srgbClr val="000000"/>
                          </a:solidFill>
                          <a:effectLst/>
                          <a:latin typeface="Aptos" panose="020B0004020202020204" pitchFamily="34" charset="0"/>
                        </a:rPr>
                        <a:t>Abril 2027</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tc>
                  <a:txBody>
                    <a:bodyPr/>
                    <a:lstStyle/>
                    <a:p>
                      <a:pPr algn="r" fontAlgn="b">
                        <a:buNone/>
                      </a:pPr>
                      <a:r>
                        <a:rPr lang="es-CL" sz="700" b="0" i="0" u="none" strike="noStrike" dirty="0">
                          <a:solidFill>
                            <a:srgbClr val="000000"/>
                          </a:solidFill>
                          <a:effectLst/>
                          <a:latin typeface="Aptos" panose="020B0004020202020204" pitchFamily="34" charset="0"/>
                        </a:rPr>
                        <a:t>Renovado</a:t>
                      </a:r>
                    </a:p>
                  </a:txBody>
                  <a:tcPr marL="9525" marR="9525" marT="9525" marB="0" anchor="ctr">
                    <a:lnL w="6350" cap="flat" cmpd="sng" algn="ctr">
                      <a:solidFill>
                        <a:srgbClr val="D0D5E5"/>
                      </a:solidFill>
                      <a:prstDash val="solid"/>
                      <a:round/>
                      <a:headEnd type="none" w="med" len="med"/>
                      <a:tailEnd type="none" w="med" len="med"/>
                    </a:lnL>
                    <a:lnR w="6350" cap="flat" cmpd="sng" algn="ctr">
                      <a:solidFill>
                        <a:srgbClr val="D0D5E5"/>
                      </a:solidFill>
                      <a:prstDash val="solid"/>
                      <a:round/>
                      <a:headEnd type="none" w="med" len="med"/>
                      <a:tailEnd type="none" w="med" len="med"/>
                    </a:lnR>
                    <a:lnT w="6350" cap="flat" cmpd="sng" algn="ctr">
                      <a:solidFill>
                        <a:srgbClr val="D0D5E5"/>
                      </a:solidFill>
                      <a:prstDash val="solid"/>
                      <a:round/>
                      <a:headEnd type="none" w="med" len="med"/>
                      <a:tailEnd type="none" w="med" len="med"/>
                    </a:lnT>
                    <a:lnB w="6350" cap="flat" cmpd="sng" algn="ctr">
                      <a:solidFill>
                        <a:srgbClr val="D0D5E5"/>
                      </a:solidFill>
                      <a:prstDash val="solid"/>
                      <a:round/>
                      <a:headEnd type="none" w="med" len="med"/>
                      <a:tailEnd type="none" w="med" len="med"/>
                    </a:lnB>
                    <a:noFill/>
                  </a:tcPr>
                </a:tc>
                <a:extLst>
                  <a:ext uri="{0D108BD9-81ED-4DB2-BD59-A6C34878D82A}">
                    <a16:rowId xmlns:a16="http://schemas.microsoft.com/office/drawing/2014/main" val="1848369070"/>
                  </a:ext>
                </a:extLst>
              </a:tr>
            </a:tbl>
          </a:graphicData>
        </a:graphic>
      </p:graphicFrame>
      <p:sp>
        <p:nvSpPr>
          <p:cNvPr id="2" name="Rectángulo 1">
            <a:extLst>
              <a:ext uri="{FF2B5EF4-FFF2-40B4-BE49-F238E27FC236}">
                <a16:creationId xmlns:a16="http://schemas.microsoft.com/office/drawing/2014/main" id="{BD4569C2-3848-F555-E0FA-C13005389AA2}"/>
              </a:ext>
            </a:extLst>
          </p:cNvPr>
          <p:cNvSpPr/>
          <p:nvPr/>
        </p:nvSpPr>
        <p:spPr>
          <a:xfrm>
            <a:off x="300787" y="3840007"/>
            <a:ext cx="11718203" cy="49972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000" b="1" dirty="0"/>
              <a:t>Pendientes por Iniciar Conversaciones</a:t>
            </a:r>
          </a:p>
        </p:txBody>
      </p:sp>
      <p:graphicFrame>
        <p:nvGraphicFramePr>
          <p:cNvPr id="5" name="Tabla 4">
            <a:extLst>
              <a:ext uri="{FF2B5EF4-FFF2-40B4-BE49-F238E27FC236}">
                <a16:creationId xmlns:a16="http://schemas.microsoft.com/office/drawing/2014/main" id="{D36A81E4-36FC-B900-C2D5-BB7EAB2EE59B}"/>
              </a:ext>
            </a:extLst>
          </p:cNvPr>
          <p:cNvGraphicFramePr>
            <a:graphicFrameLocks noGrp="1"/>
          </p:cNvGraphicFramePr>
          <p:nvPr>
            <p:extLst>
              <p:ext uri="{D42A27DB-BD31-4B8C-83A1-F6EECF244321}">
                <p14:modId xmlns:p14="http://schemas.microsoft.com/office/powerpoint/2010/main" val="15337890"/>
              </p:ext>
            </p:extLst>
          </p:nvPr>
        </p:nvGraphicFramePr>
        <p:xfrm>
          <a:off x="300788" y="4445503"/>
          <a:ext cx="11718203" cy="1631442"/>
        </p:xfrm>
        <a:graphic>
          <a:graphicData uri="http://schemas.openxmlformats.org/drawingml/2006/table">
            <a:tbl>
              <a:tblPr/>
              <a:tblGrid>
                <a:gridCol w="9086897">
                  <a:extLst>
                    <a:ext uri="{9D8B030D-6E8A-4147-A177-3AD203B41FA5}">
                      <a16:colId xmlns:a16="http://schemas.microsoft.com/office/drawing/2014/main" val="2579802193"/>
                    </a:ext>
                  </a:extLst>
                </a:gridCol>
                <a:gridCol w="877102">
                  <a:extLst>
                    <a:ext uri="{9D8B030D-6E8A-4147-A177-3AD203B41FA5}">
                      <a16:colId xmlns:a16="http://schemas.microsoft.com/office/drawing/2014/main" val="1348361417"/>
                    </a:ext>
                  </a:extLst>
                </a:gridCol>
                <a:gridCol w="877102">
                  <a:extLst>
                    <a:ext uri="{9D8B030D-6E8A-4147-A177-3AD203B41FA5}">
                      <a16:colId xmlns:a16="http://schemas.microsoft.com/office/drawing/2014/main" val="2415330905"/>
                    </a:ext>
                  </a:extLst>
                </a:gridCol>
                <a:gridCol w="877102">
                  <a:extLst>
                    <a:ext uri="{9D8B030D-6E8A-4147-A177-3AD203B41FA5}">
                      <a16:colId xmlns:a16="http://schemas.microsoft.com/office/drawing/2014/main" val="1397422004"/>
                    </a:ext>
                  </a:extLst>
                </a:gridCol>
              </a:tblGrid>
              <a:tr h="175582">
                <a:tc>
                  <a:txBody>
                    <a:bodyPr/>
                    <a:lstStyle/>
                    <a:p>
                      <a:pPr algn="l" fontAlgn="b">
                        <a:buNone/>
                      </a:pPr>
                      <a:r>
                        <a:rPr lang="es-CL" sz="900" b="1" i="0" u="none" strike="noStrike" dirty="0">
                          <a:solidFill>
                            <a:srgbClr val="000000"/>
                          </a:solidFill>
                          <a:effectLst/>
                          <a:latin typeface="Aptos" panose="020B0004020202020204" pitchFamily="34" charset="0"/>
                        </a:rPr>
                        <a:t>Cliente</a:t>
                      </a:r>
                    </a:p>
                  </a:txBody>
                  <a:tcPr marL="8426" marR="8426" marT="8426" marB="0" anchor="b">
                    <a:lnL>
                      <a:noFill/>
                    </a:lnL>
                    <a:lnR>
                      <a:noFill/>
                    </a:lnR>
                    <a:lnT>
                      <a:noFill/>
                    </a:lnT>
                    <a:lnB>
                      <a:noFill/>
                    </a:lnB>
                    <a:noFill/>
                  </a:tcPr>
                </a:tc>
                <a:tc>
                  <a:txBody>
                    <a:bodyPr/>
                    <a:lstStyle/>
                    <a:p>
                      <a:pPr algn="l" fontAlgn="b">
                        <a:buNone/>
                      </a:pPr>
                      <a:r>
                        <a:rPr lang="es-CL" sz="900" b="1" i="0" u="none" strike="noStrike" dirty="0" err="1">
                          <a:solidFill>
                            <a:srgbClr val="000000"/>
                          </a:solidFill>
                          <a:effectLst/>
                          <a:latin typeface="Aptos" panose="020B0004020202020204" pitchFamily="34" charset="0"/>
                        </a:rPr>
                        <a:t>Vcto</a:t>
                      </a:r>
                      <a:endParaRPr lang="es-CL" sz="900" b="1" i="0" u="none" strike="noStrike" dirty="0">
                        <a:solidFill>
                          <a:srgbClr val="000000"/>
                        </a:solidFill>
                        <a:effectLst/>
                        <a:latin typeface="Aptos" panose="020B0004020202020204" pitchFamily="34" charset="0"/>
                      </a:endParaRPr>
                    </a:p>
                  </a:txBody>
                  <a:tcPr marL="8426" marR="8426" marT="8426" marB="0" anchor="b">
                    <a:lnL>
                      <a:noFill/>
                    </a:lnL>
                    <a:lnR>
                      <a:noFill/>
                    </a:lnR>
                    <a:lnT>
                      <a:noFill/>
                    </a:lnT>
                    <a:lnB>
                      <a:noFill/>
                    </a:lnB>
                    <a:noFill/>
                  </a:tcPr>
                </a:tc>
                <a:tc>
                  <a:txBody>
                    <a:bodyPr/>
                    <a:lstStyle/>
                    <a:p>
                      <a:pPr algn="l" fontAlgn="b">
                        <a:buNone/>
                      </a:pPr>
                      <a:r>
                        <a:rPr lang="es-CL" sz="900" b="1" i="0" u="none" strike="noStrike" dirty="0">
                          <a:solidFill>
                            <a:srgbClr val="000000"/>
                          </a:solidFill>
                          <a:effectLst/>
                          <a:latin typeface="Aptos" panose="020B0004020202020204" pitchFamily="34" charset="0"/>
                        </a:rPr>
                        <a:t>MM$</a:t>
                      </a:r>
                    </a:p>
                  </a:txBody>
                  <a:tcPr marL="8426" marR="8426" marT="8426" marB="0" anchor="b">
                    <a:lnL>
                      <a:noFill/>
                    </a:lnL>
                    <a:lnR>
                      <a:noFill/>
                    </a:lnR>
                    <a:lnT>
                      <a:noFill/>
                    </a:lnT>
                    <a:lnB>
                      <a:noFill/>
                    </a:lnB>
                    <a:noFill/>
                  </a:tcPr>
                </a:tc>
                <a:tc>
                  <a:txBody>
                    <a:bodyPr/>
                    <a:lstStyle/>
                    <a:p>
                      <a:pPr algn="l" fontAlgn="b">
                        <a:buNone/>
                      </a:pPr>
                      <a:r>
                        <a:rPr lang="es-CL" sz="900" b="1" i="0" u="none" strike="noStrike" dirty="0">
                          <a:solidFill>
                            <a:srgbClr val="000000"/>
                          </a:solidFill>
                          <a:effectLst/>
                          <a:latin typeface="Aptos" panose="020B0004020202020204" pitchFamily="34" charset="0"/>
                        </a:rPr>
                        <a:t>%</a:t>
                      </a:r>
                    </a:p>
                  </a:txBody>
                  <a:tcPr marL="8426" marR="8426" marT="8426" marB="0" anchor="b">
                    <a:lnL>
                      <a:noFill/>
                    </a:lnL>
                    <a:lnR>
                      <a:noFill/>
                    </a:lnR>
                    <a:lnT>
                      <a:noFill/>
                    </a:lnT>
                    <a:lnB>
                      <a:noFill/>
                    </a:lnB>
                    <a:noFill/>
                  </a:tcPr>
                </a:tc>
                <a:extLst>
                  <a:ext uri="{0D108BD9-81ED-4DB2-BD59-A6C34878D82A}">
                    <a16:rowId xmlns:a16="http://schemas.microsoft.com/office/drawing/2014/main" val="370835174"/>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Exequiel González Cortés</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01-09-26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34,9</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2,68%</a:t>
                      </a:r>
                    </a:p>
                  </a:txBody>
                  <a:tcPr marL="8426" marR="8426" marT="8426" marB="0" anchor="b">
                    <a:lnL>
                      <a:noFill/>
                    </a:lnL>
                    <a:lnR>
                      <a:noFill/>
                    </a:lnR>
                    <a:lnT>
                      <a:noFill/>
                    </a:lnT>
                    <a:lnB>
                      <a:noFill/>
                    </a:lnB>
                    <a:noFill/>
                  </a:tcPr>
                </a:tc>
                <a:extLst>
                  <a:ext uri="{0D108BD9-81ED-4DB2-BD59-A6C34878D82A}">
                    <a16:rowId xmlns:a16="http://schemas.microsoft.com/office/drawing/2014/main" val="2347900990"/>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Metropolitano de Santiago</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05-09-26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15,7</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1,21%</a:t>
                      </a:r>
                    </a:p>
                  </a:txBody>
                  <a:tcPr marL="8426" marR="8426" marT="8426" marB="0" anchor="b">
                    <a:lnL>
                      <a:noFill/>
                    </a:lnL>
                    <a:lnR>
                      <a:noFill/>
                    </a:lnR>
                    <a:lnT>
                      <a:noFill/>
                    </a:lnT>
                    <a:lnB>
                      <a:noFill/>
                    </a:lnB>
                    <a:noFill/>
                  </a:tcPr>
                </a:tc>
                <a:extLst>
                  <a:ext uri="{0D108BD9-81ED-4DB2-BD59-A6C34878D82A}">
                    <a16:rowId xmlns:a16="http://schemas.microsoft.com/office/drawing/2014/main" val="1298570225"/>
                  </a:ext>
                </a:extLst>
              </a:tr>
              <a:tr h="113803">
                <a:tc>
                  <a:txBody>
                    <a:bodyPr/>
                    <a:lstStyle/>
                    <a:p>
                      <a:pPr algn="l" fontAlgn="b">
                        <a:buNone/>
                      </a:pPr>
                      <a:r>
                        <a:rPr lang="es-CL" sz="900" b="0" i="0" u="none" strike="noStrike">
                          <a:solidFill>
                            <a:srgbClr val="000000"/>
                          </a:solidFill>
                          <a:effectLst/>
                          <a:latin typeface="Aptos" panose="020B0004020202020204" pitchFamily="34" charset="0"/>
                        </a:rPr>
                        <a:t>Universidad Finis Terrae</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14-09-26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3,7</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0,28%</a:t>
                      </a:r>
                    </a:p>
                  </a:txBody>
                  <a:tcPr marL="8426" marR="8426" marT="8426" marB="0" anchor="b">
                    <a:lnL>
                      <a:noFill/>
                    </a:lnL>
                    <a:lnR>
                      <a:noFill/>
                    </a:lnR>
                    <a:lnT>
                      <a:noFill/>
                    </a:lnT>
                    <a:lnB>
                      <a:noFill/>
                    </a:lnB>
                    <a:noFill/>
                  </a:tcPr>
                </a:tc>
                <a:extLst>
                  <a:ext uri="{0D108BD9-81ED-4DB2-BD59-A6C34878D82A}">
                    <a16:rowId xmlns:a16="http://schemas.microsoft.com/office/drawing/2014/main" val="2099528893"/>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San Luis Buin</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16-10-26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2,8</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0,22%</a:t>
                      </a:r>
                    </a:p>
                  </a:txBody>
                  <a:tcPr marL="8426" marR="8426" marT="8426" marB="0" anchor="b">
                    <a:lnL>
                      <a:noFill/>
                    </a:lnL>
                    <a:lnR>
                      <a:noFill/>
                    </a:lnR>
                    <a:lnT>
                      <a:noFill/>
                    </a:lnT>
                    <a:lnB>
                      <a:noFill/>
                    </a:lnB>
                    <a:noFill/>
                  </a:tcPr>
                </a:tc>
                <a:extLst>
                  <a:ext uri="{0D108BD9-81ED-4DB2-BD59-A6C34878D82A}">
                    <a16:rowId xmlns:a16="http://schemas.microsoft.com/office/drawing/2014/main" val="108203792"/>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San Luis Buin</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16-10-26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5,3</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0,41%</a:t>
                      </a:r>
                    </a:p>
                  </a:txBody>
                  <a:tcPr marL="8426" marR="8426" marT="8426" marB="0" anchor="b">
                    <a:lnL>
                      <a:noFill/>
                    </a:lnL>
                    <a:lnR>
                      <a:noFill/>
                    </a:lnR>
                    <a:lnT>
                      <a:noFill/>
                    </a:lnT>
                    <a:lnB>
                      <a:noFill/>
                    </a:lnB>
                    <a:noFill/>
                  </a:tcPr>
                </a:tc>
                <a:extLst>
                  <a:ext uri="{0D108BD9-81ED-4DB2-BD59-A6C34878D82A}">
                    <a16:rowId xmlns:a16="http://schemas.microsoft.com/office/drawing/2014/main" val="2617453380"/>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Servicios Clínicos del Desarrollo S.A.</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31-10-26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4,6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0,35%</a:t>
                      </a:r>
                    </a:p>
                  </a:txBody>
                  <a:tcPr marL="8426" marR="8426" marT="8426" marB="0" anchor="b">
                    <a:lnL>
                      <a:noFill/>
                    </a:lnL>
                    <a:lnR>
                      <a:noFill/>
                    </a:lnR>
                    <a:lnT>
                      <a:noFill/>
                    </a:lnT>
                    <a:lnB>
                      <a:noFill/>
                    </a:lnB>
                    <a:noFill/>
                  </a:tcPr>
                </a:tc>
                <a:extLst>
                  <a:ext uri="{0D108BD9-81ED-4DB2-BD59-A6C34878D82A}">
                    <a16:rowId xmlns:a16="http://schemas.microsoft.com/office/drawing/2014/main" val="1018744602"/>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Corporación Municipal de Conchalí</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31-10-26</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4</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0,31%</a:t>
                      </a:r>
                    </a:p>
                  </a:txBody>
                  <a:tcPr marL="8426" marR="8426" marT="8426" marB="0" anchor="b">
                    <a:lnL>
                      <a:noFill/>
                    </a:lnL>
                    <a:lnR>
                      <a:noFill/>
                    </a:lnR>
                    <a:lnT>
                      <a:noFill/>
                    </a:lnT>
                    <a:lnB>
                      <a:noFill/>
                    </a:lnB>
                    <a:noFill/>
                  </a:tcPr>
                </a:tc>
                <a:extLst>
                  <a:ext uri="{0D108BD9-81ED-4DB2-BD59-A6C34878D82A}">
                    <a16:rowId xmlns:a16="http://schemas.microsoft.com/office/drawing/2014/main" val="1550302513"/>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de Urgencia Asistencia Pública Dr. Alejandro del Río</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31-10-26</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5,5</a:t>
                      </a:r>
                    </a:p>
                  </a:txBody>
                  <a:tcPr marL="8426" marR="8426" marT="8426" marB="0" anchor="b">
                    <a:lnL>
                      <a:noFill/>
                    </a:lnL>
                    <a:lnR>
                      <a:noFill/>
                    </a:lnR>
                    <a:lnT>
                      <a:noFill/>
                    </a:lnT>
                    <a:lnB>
                      <a:noFill/>
                    </a:lnB>
                    <a:noFill/>
                  </a:tcPr>
                </a:tc>
                <a:tc>
                  <a:txBody>
                    <a:bodyPr/>
                    <a:lstStyle/>
                    <a:p>
                      <a:pPr algn="r" fontAlgn="b">
                        <a:buNone/>
                      </a:pPr>
                      <a:r>
                        <a:rPr lang="es-CL" sz="900" b="0" i="0" u="none" strike="noStrike">
                          <a:solidFill>
                            <a:srgbClr val="000000"/>
                          </a:solidFill>
                          <a:effectLst/>
                          <a:latin typeface="Aptos" panose="020B0004020202020204" pitchFamily="34" charset="0"/>
                        </a:rPr>
                        <a:t>0,42%</a:t>
                      </a:r>
                    </a:p>
                  </a:txBody>
                  <a:tcPr marL="8426" marR="8426" marT="8426" marB="0" anchor="b">
                    <a:lnL>
                      <a:noFill/>
                    </a:lnL>
                    <a:lnR>
                      <a:noFill/>
                    </a:lnR>
                    <a:lnT>
                      <a:noFill/>
                    </a:lnT>
                    <a:lnB>
                      <a:noFill/>
                    </a:lnB>
                    <a:noFill/>
                  </a:tcPr>
                </a:tc>
                <a:extLst>
                  <a:ext uri="{0D108BD9-81ED-4DB2-BD59-A6C34878D82A}">
                    <a16:rowId xmlns:a16="http://schemas.microsoft.com/office/drawing/2014/main" val="2572959266"/>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Hospital de Puerto Aysén</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12-11-26</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32,7</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2,52%</a:t>
                      </a:r>
                    </a:p>
                  </a:txBody>
                  <a:tcPr marL="8426" marR="8426" marT="8426" marB="0" anchor="b">
                    <a:lnL>
                      <a:noFill/>
                    </a:lnL>
                    <a:lnR>
                      <a:noFill/>
                    </a:lnR>
                    <a:lnT>
                      <a:noFill/>
                    </a:lnT>
                    <a:lnB>
                      <a:noFill/>
                    </a:lnB>
                    <a:noFill/>
                  </a:tcPr>
                </a:tc>
                <a:extLst>
                  <a:ext uri="{0D108BD9-81ED-4DB2-BD59-A6C34878D82A}">
                    <a16:rowId xmlns:a16="http://schemas.microsoft.com/office/drawing/2014/main" val="3585119482"/>
                  </a:ext>
                </a:extLst>
              </a:tr>
              <a:tr h="113803">
                <a:tc>
                  <a:txBody>
                    <a:bodyPr/>
                    <a:lstStyle/>
                    <a:p>
                      <a:pPr algn="l" fontAlgn="b">
                        <a:buNone/>
                      </a:pPr>
                      <a:r>
                        <a:rPr lang="es-CL" sz="900" b="0" i="0" u="none" strike="noStrike" dirty="0">
                          <a:solidFill>
                            <a:srgbClr val="000000"/>
                          </a:solidFill>
                          <a:effectLst/>
                          <a:latin typeface="Aptos" panose="020B0004020202020204" pitchFamily="34" charset="0"/>
                        </a:rPr>
                        <a:t>Total</a:t>
                      </a:r>
                    </a:p>
                  </a:txBody>
                  <a:tcPr marL="8426" marR="8426" marT="8426" marB="0" anchor="b">
                    <a:lnL>
                      <a:noFill/>
                    </a:lnL>
                    <a:lnR>
                      <a:noFill/>
                    </a:lnR>
                    <a:lnT>
                      <a:noFill/>
                    </a:lnT>
                    <a:lnB>
                      <a:noFill/>
                    </a:lnB>
                    <a:noFill/>
                  </a:tcPr>
                </a:tc>
                <a:tc>
                  <a:txBody>
                    <a:bodyPr/>
                    <a:lstStyle/>
                    <a:p>
                      <a:pPr algn="r" fontAlgn="b">
                        <a:buNone/>
                      </a:pPr>
                      <a:endParaRPr lang="es-CL" sz="900" b="0" i="0" u="none" strike="noStrike" dirty="0">
                        <a:solidFill>
                          <a:srgbClr val="000000"/>
                        </a:solidFill>
                        <a:effectLst/>
                        <a:latin typeface="Aptos" panose="020B0004020202020204" pitchFamily="34" charset="0"/>
                      </a:endParaRP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90,5</a:t>
                      </a:r>
                    </a:p>
                  </a:txBody>
                  <a:tcPr marL="8426" marR="8426" marT="8426" marB="0" anchor="b">
                    <a:lnL>
                      <a:noFill/>
                    </a:lnL>
                    <a:lnR>
                      <a:noFill/>
                    </a:lnR>
                    <a:lnT>
                      <a:noFill/>
                    </a:lnT>
                    <a:lnB>
                      <a:noFill/>
                    </a:lnB>
                    <a:noFill/>
                  </a:tcPr>
                </a:tc>
                <a:tc>
                  <a:txBody>
                    <a:bodyPr/>
                    <a:lstStyle/>
                    <a:p>
                      <a:pPr algn="r" fontAlgn="b">
                        <a:buNone/>
                      </a:pPr>
                      <a:r>
                        <a:rPr lang="es-CL" sz="900" b="0" i="0" u="none" strike="noStrike" dirty="0">
                          <a:solidFill>
                            <a:srgbClr val="000000"/>
                          </a:solidFill>
                          <a:effectLst/>
                          <a:latin typeface="Aptos" panose="020B0004020202020204" pitchFamily="34" charset="0"/>
                        </a:rPr>
                        <a:t>5,42%</a:t>
                      </a:r>
                    </a:p>
                  </a:txBody>
                  <a:tcPr marL="8426" marR="8426" marT="8426" marB="0" anchor="b">
                    <a:lnL>
                      <a:noFill/>
                    </a:lnL>
                    <a:lnR>
                      <a:noFill/>
                    </a:lnR>
                    <a:lnT>
                      <a:noFill/>
                    </a:lnT>
                    <a:lnB>
                      <a:noFill/>
                    </a:lnB>
                    <a:noFill/>
                  </a:tcPr>
                </a:tc>
                <a:extLst>
                  <a:ext uri="{0D108BD9-81ED-4DB2-BD59-A6C34878D82A}">
                    <a16:rowId xmlns:a16="http://schemas.microsoft.com/office/drawing/2014/main" val="3989800370"/>
                  </a:ext>
                </a:extLst>
              </a:tr>
            </a:tbl>
          </a:graphicData>
        </a:graphic>
      </p:graphicFrame>
    </p:spTree>
    <p:extLst>
      <p:ext uri="{BB962C8B-B14F-4D97-AF65-F5344CB8AC3E}">
        <p14:creationId xmlns:p14="http://schemas.microsoft.com/office/powerpoint/2010/main" val="1210460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1D97-1E64-E36A-895F-618F1AAE4107}"/>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5A3CFEBB-9016-419B-CE97-2C79FE32FB35}"/>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Contratos</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Perdidos</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 name="Rectángulo 6">
            <a:extLst>
              <a:ext uri="{FF2B5EF4-FFF2-40B4-BE49-F238E27FC236}">
                <a16:creationId xmlns:a16="http://schemas.microsoft.com/office/drawing/2014/main" id="{165D61FE-3D99-D387-4E25-2E5CB8BA7A92}"/>
              </a:ext>
            </a:extLst>
          </p:cNvPr>
          <p:cNvSpPr/>
          <p:nvPr/>
        </p:nvSpPr>
        <p:spPr>
          <a:xfrm>
            <a:off x="393700" y="1035781"/>
            <a:ext cx="11625292" cy="49972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000" dirty="0"/>
              <a:t>Durante el año 2026 no se han renovado 17 contratos (14% de la cartera de contratos), no obstante, la mayoría de los clientes sigue preservando el servicio con TECSERVICE</a:t>
            </a:r>
          </a:p>
          <a:p>
            <a:pPr marL="171450" indent="-171450">
              <a:buFont typeface="Arial" panose="020B0604020202020204" pitchFamily="34" charset="0"/>
              <a:buChar char="•"/>
            </a:pPr>
            <a:r>
              <a:rPr lang="es-MX" sz="1000"/>
              <a:t>Fundación ANCHORA UC indica termino de contratos asociados a equipos determinados pero no cliente</a:t>
            </a:r>
            <a:endParaRPr lang="es-MX" sz="1000" dirty="0"/>
          </a:p>
        </p:txBody>
      </p:sp>
      <p:graphicFrame>
        <p:nvGraphicFramePr>
          <p:cNvPr id="5" name="Tabla 4">
            <a:extLst>
              <a:ext uri="{FF2B5EF4-FFF2-40B4-BE49-F238E27FC236}">
                <a16:creationId xmlns:a16="http://schemas.microsoft.com/office/drawing/2014/main" id="{6132415B-7197-5CED-8B58-228F5ACAB960}"/>
              </a:ext>
            </a:extLst>
          </p:cNvPr>
          <p:cNvGraphicFramePr>
            <a:graphicFrameLocks noGrp="1"/>
          </p:cNvGraphicFramePr>
          <p:nvPr>
            <p:extLst>
              <p:ext uri="{D42A27DB-BD31-4B8C-83A1-F6EECF244321}">
                <p14:modId xmlns:p14="http://schemas.microsoft.com/office/powerpoint/2010/main" val="3468323630"/>
              </p:ext>
            </p:extLst>
          </p:nvPr>
        </p:nvGraphicFramePr>
        <p:xfrm>
          <a:off x="380999" y="1799770"/>
          <a:ext cx="11430001" cy="4339767"/>
        </p:xfrm>
        <a:graphic>
          <a:graphicData uri="http://schemas.openxmlformats.org/drawingml/2006/table">
            <a:tbl>
              <a:tblPr/>
              <a:tblGrid>
                <a:gridCol w="1109511">
                  <a:extLst>
                    <a:ext uri="{9D8B030D-6E8A-4147-A177-3AD203B41FA5}">
                      <a16:colId xmlns:a16="http://schemas.microsoft.com/office/drawing/2014/main" val="71238516"/>
                    </a:ext>
                  </a:extLst>
                </a:gridCol>
                <a:gridCol w="2620891">
                  <a:extLst>
                    <a:ext uri="{9D8B030D-6E8A-4147-A177-3AD203B41FA5}">
                      <a16:colId xmlns:a16="http://schemas.microsoft.com/office/drawing/2014/main" val="242777765"/>
                    </a:ext>
                  </a:extLst>
                </a:gridCol>
                <a:gridCol w="698905">
                  <a:extLst>
                    <a:ext uri="{9D8B030D-6E8A-4147-A177-3AD203B41FA5}">
                      <a16:colId xmlns:a16="http://schemas.microsoft.com/office/drawing/2014/main" val="3341306348"/>
                    </a:ext>
                  </a:extLst>
                </a:gridCol>
                <a:gridCol w="698905">
                  <a:extLst>
                    <a:ext uri="{9D8B030D-6E8A-4147-A177-3AD203B41FA5}">
                      <a16:colId xmlns:a16="http://schemas.microsoft.com/office/drawing/2014/main" val="1107975423"/>
                    </a:ext>
                  </a:extLst>
                </a:gridCol>
                <a:gridCol w="698905">
                  <a:extLst>
                    <a:ext uri="{9D8B030D-6E8A-4147-A177-3AD203B41FA5}">
                      <a16:colId xmlns:a16="http://schemas.microsoft.com/office/drawing/2014/main" val="935845805"/>
                    </a:ext>
                  </a:extLst>
                </a:gridCol>
                <a:gridCol w="698905">
                  <a:extLst>
                    <a:ext uri="{9D8B030D-6E8A-4147-A177-3AD203B41FA5}">
                      <a16:colId xmlns:a16="http://schemas.microsoft.com/office/drawing/2014/main" val="887296527"/>
                    </a:ext>
                  </a:extLst>
                </a:gridCol>
                <a:gridCol w="2387924">
                  <a:extLst>
                    <a:ext uri="{9D8B030D-6E8A-4147-A177-3AD203B41FA5}">
                      <a16:colId xmlns:a16="http://schemas.microsoft.com/office/drawing/2014/main" val="344219976"/>
                    </a:ext>
                  </a:extLst>
                </a:gridCol>
                <a:gridCol w="2516055">
                  <a:extLst>
                    <a:ext uri="{9D8B030D-6E8A-4147-A177-3AD203B41FA5}">
                      <a16:colId xmlns:a16="http://schemas.microsoft.com/office/drawing/2014/main" val="3756944840"/>
                    </a:ext>
                  </a:extLst>
                </a:gridCol>
              </a:tblGrid>
              <a:tr h="564231">
                <a:tc>
                  <a:txBody>
                    <a:bodyPr/>
                    <a:lstStyle/>
                    <a:p>
                      <a:pPr algn="l" rtl="0" fontAlgn="b">
                        <a:buNone/>
                      </a:pPr>
                      <a:r>
                        <a:rPr lang="es-CL" sz="900" b="1" i="0" u="none" strike="noStrike">
                          <a:solidFill>
                            <a:srgbClr val="FFFFFF"/>
                          </a:solidFill>
                          <a:effectLst/>
                          <a:latin typeface="Calibri" panose="020F0502020204030204" pitchFamily="34" charset="0"/>
                        </a:rPr>
                        <a:t>Responsable</a:t>
                      </a:r>
                    </a:p>
                  </a:txBody>
                  <a:tcPr marL="8039" marR="8039" marT="8039" marB="0" anchor="ctr">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Nombre del cliente</a:t>
                      </a:r>
                    </a:p>
                  </a:txBody>
                  <a:tcPr marL="8039" marR="8039" marT="8039" marB="0" anchor="ctr">
                    <a:lnL w="6350" cap="flat" cmpd="sng" algn="ctr">
                      <a:solidFill>
                        <a:srgbClr val="95B3D7"/>
                      </a:solidFill>
                      <a:prstDash val="solid"/>
                      <a:round/>
                      <a:headEnd type="none" w="med" len="med"/>
                      <a:tailEnd type="none" w="med" len="med"/>
                    </a:lnL>
                    <a:lnR>
                      <a:noFill/>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Fecha de inicio del contrato</a:t>
                      </a:r>
                    </a:p>
                  </a:txBody>
                  <a:tcPr marL="8039" marR="8039" marT="8039" marB="0" anchor="ctr">
                    <a:lnL>
                      <a:noFill/>
                    </a:lnL>
                    <a:lnR>
                      <a:noFill/>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Fecha final del contrato</a:t>
                      </a:r>
                    </a:p>
                  </a:txBody>
                  <a:tcPr marL="8039" marR="8039" marT="8039" marB="0" anchor="ctr">
                    <a:lnL>
                      <a:noFill/>
                    </a:lnL>
                    <a:lnR>
                      <a:noFill/>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Total Contratos</a:t>
                      </a:r>
                    </a:p>
                  </a:txBody>
                  <a:tcPr marL="8039" marR="8039" marT="8039" marB="0" anchor="ctr">
                    <a:lnL>
                      <a:noFill/>
                    </a:lnL>
                    <a:lnR>
                      <a:noFill/>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 Cartera</a:t>
                      </a:r>
                    </a:p>
                  </a:txBody>
                  <a:tcPr marL="8039" marR="8039" marT="8039" marB="0" anchor="ctr">
                    <a:lnL>
                      <a:noFill/>
                    </a:lnL>
                    <a:lnR>
                      <a:noFill/>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Comentario</a:t>
                      </a:r>
                    </a:p>
                  </a:txBody>
                  <a:tcPr marL="8039" marR="8039" marT="8039" marB="0" anchor="ctr">
                    <a:lnL>
                      <a:noFill/>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b">
                        <a:buNone/>
                      </a:pPr>
                      <a:r>
                        <a:rPr lang="es-CL" sz="900" b="1" i="0" u="none" strike="noStrike">
                          <a:solidFill>
                            <a:srgbClr val="FFFFFF"/>
                          </a:solidFill>
                          <a:effectLst/>
                          <a:latin typeface="Calibri" panose="020F0502020204030204" pitchFamily="34" charset="0"/>
                        </a:rPr>
                        <a:t>Razon de Perdida</a:t>
                      </a:r>
                    </a:p>
                  </a:txBody>
                  <a:tcPr marL="8039" marR="8039" marT="8039" marB="0" anchor="ctr">
                    <a:lnL w="6350" cap="flat" cmpd="sng" algn="ctr">
                      <a:solidFill>
                        <a:srgbClr val="95B3D7"/>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228198558"/>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EJERCITO DE CHILE CENTRAL ODONTOLOGICA D</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27-06-2025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26-06-2026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8.095.388</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0,60%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6372637"/>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FUNDACIÓN OFTALMOLÓGICA LOS ANDES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12-02-2024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11-02-2026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5.177.375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0,40%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Sin servicio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Equipos antiguos no invertiran en contrato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8580843"/>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HOSPITAL CLINICO SAN BORJA-ARRIARAN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26-06-2024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25-06-2026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43.089.900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3,30%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Licitacion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3747771"/>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CLÍNICA INTERMEDICAL LTDA.</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01-06-2025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31-05-2026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3.324.920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0,30%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8985953"/>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FUNDACIÓN ANCHORA UC</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22-01-2024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21-01-2026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3.229.922</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 221</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1924876"/>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FUNDACIÓN ANCHORA UC</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22-01-2024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21-01-2026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3.229.922</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 221</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0658573"/>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FUNDACIÓN ANCHORA UC</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22-01-2024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21-01-2026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3.229.922</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 221</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2992764"/>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HOSPITAL SAN JOSÉ</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04-05-2023</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03-05-2026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24.065.784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1,90%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Sin contrato pero con servicio x licitacion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3526241"/>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FUNDACIÓN ANCHORA UC</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22-01-2024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21-01-2026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12.919.689</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1,00%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Renovado 221</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9144394"/>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HOSPITAL SAN JOSÉ</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09-08-2023</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08-08-2026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6.989.760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0,50%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sin contrato pero con servicio x licitacion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0340086"/>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Eglys Farias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I.MUNICIPALIDAD DE LA UNION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24-02-2025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23-02-2026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3.308.250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0,30%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En negociación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8721094"/>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Eglys Farias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Los Alamos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18-02-2025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17-02-2026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8.939.285</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0,70%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Proceso contrato por trato directo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0523104"/>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HOSPITAL LUIS CALVO MACKENNA</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18-01-2024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17-01-2026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7.296.300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0,60%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Adjudicado 24 meses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465533"/>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COMPLEJO ASISTENCIAL DR SOTERO DEL RIO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23-01-2026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22-07-2026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39.022.480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3,00%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sin contrato pero con servicio x trato directo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121851"/>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Eglys Farias</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HOSPITAL METROPOLITANO DE SANTIAGO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19-03-2024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18-03-2026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6.646.990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0,50%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Equipo ya no comercializado mamografo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306546"/>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INSTITUTO NACIONAL DEL CANCER</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07-06-2024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06-06-2026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2.669.508</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Proceso de Adjudicacion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3768095"/>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Cristian Perez</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I. Municipalidad de Parral - Dpto Salud</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17-01-2024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16-01-2026</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5.682.924</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0,40%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sin servicio</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a:solidFill>
                            <a:srgbClr val="000000"/>
                          </a:solidFill>
                          <a:effectLst/>
                          <a:latin typeface="Aptos Narrow" panose="020B0004020202020204" pitchFamily="34" charset="0"/>
                        </a:rPr>
                        <a:t>No hay respuesta de cliente, nos deben</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5826389"/>
                  </a:ext>
                </a:extLst>
              </a:tr>
              <a:tr h="209752">
                <a:tc>
                  <a:txBody>
                    <a:bodyPr/>
                    <a:lstStyle/>
                    <a:p>
                      <a:pPr algn="l" fontAlgn="b">
                        <a:buNone/>
                      </a:pPr>
                      <a:r>
                        <a:rPr lang="es-CL" sz="900" b="0" i="0" u="none" strike="noStrike">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Total</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186.918.320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b">
                        <a:buNone/>
                      </a:pPr>
                      <a:r>
                        <a:rPr lang="es-CL" sz="900" b="0" i="0" u="none" strike="noStrike">
                          <a:solidFill>
                            <a:srgbClr val="000000"/>
                          </a:solidFill>
                          <a:effectLst/>
                          <a:latin typeface="Calibri" panose="020F0502020204030204" pitchFamily="34" charset="0"/>
                        </a:rPr>
                        <a:t>14,40%</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s-CL" sz="900" b="0" i="0" u="none" strike="noStrike">
                          <a:solidFill>
                            <a:srgbClr val="000000"/>
                          </a:solidFill>
                          <a:effectLst/>
                          <a:latin typeface="Calibri" panose="020F050202020403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900" b="0" i="0" u="none" strike="noStrike" dirty="0">
                          <a:solidFill>
                            <a:srgbClr val="000000"/>
                          </a:solidFill>
                          <a:effectLst/>
                          <a:latin typeface="Aptos Narrow" panose="020B0004020202020204" pitchFamily="34" charset="0"/>
                        </a:rPr>
                        <a:t> </a:t>
                      </a:r>
                    </a:p>
                  </a:txBody>
                  <a:tcPr marL="8039" marR="8039" marT="8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9686871"/>
                  </a:ext>
                </a:extLst>
              </a:tr>
            </a:tbl>
          </a:graphicData>
        </a:graphic>
      </p:graphicFrame>
    </p:spTree>
    <p:extLst>
      <p:ext uri="{BB962C8B-B14F-4D97-AF65-F5344CB8AC3E}">
        <p14:creationId xmlns:p14="http://schemas.microsoft.com/office/powerpoint/2010/main" val="4141519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CBCB8-F517-F477-E81B-62BBF235DCAD}"/>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024F8221-BAF8-10DD-89EF-4D309A8D1AB7}"/>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Agenda</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Rectángulo 3">
            <a:extLst>
              <a:ext uri="{FF2B5EF4-FFF2-40B4-BE49-F238E27FC236}">
                <a16:creationId xmlns:a16="http://schemas.microsoft.com/office/drawing/2014/main" id="{824498F0-4416-6FF7-04FC-2AD02665A2A8}"/>
              </a:ext>
            </a:extLst>
          </p:cNvPr>
          <p:cNvSpPr/>
          <p:nvPr/>
        </p:nvSpPr>
        <p:spPr>
          <a:xfrm>
            <a:off x="393700" y="854015"/>
            <a:ext cx="11070806" cy="29674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Decisiones para Comité de hoy</a:t>
            </a:r>
          </a:p>
          <a:p>
            <a:pPr marR="0" lvl="0"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373C46"/>
              </a:solidFill>
              <a:effectLst/>
              <a:uLnTx/>
              <a:uFillTx/>
              <a:latin typeface="Aptos (cuerp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373C46"/>
                </a:solidFill>
                <a:effectLst/>
                <a:uLnTx/>
                <a:uFillTx/>
                <a:latin typeface="Aptos (cuerpo)"/>
                <a:ea typeface="+mn-ea"/>
                <a:cs typeface="+mn-cs"/>
              </a:rPr>
              <a:t>Facturación Semana Actual y su desglose: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Criterio de Provisiones: </a:t>
            </a:r>
            <a:r>
              <a:rPr kumimoji="0" lang="es-MX" sz="110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i="0" u="none" strike="noStrike" kern="1200" cap="none" spc="0" normalizeH="0" baseline="0" noProof="0" dirty="0">
                <a:ln>
                  <a:noFill/>
                </a:ln>
                <a:solidFill>
                  <a:schemeClr val="bg2"/>
                </a:solidFill>
                <a:effectLst/>
                <a:uLnTx/>
                <a:uFillTx/>
                <a:latin typeface="Aptos (cuerpo)"/>
                <a:ea typeface="+mn-ea"/>
                <a:cs typeface="+mn-cs"/>
              </a:rPr>
              <a:t> de Garantías provisionadas – Seguimiento de negocios facturados desde el 10/08, ingresos totales e ingresos “reconocidos”)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Garantías Vigentes sin Ingreso asociado (Valorización de Garantía)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Brechas pendientes de facturación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 repuestos que más bloquean incorporar el % de brecha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EERR TECSERVICE último cierre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Asignación de Gastos Generales y Financieros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i="0" u="none" strike="noStrike" kern="1200" cap="none" spc="0" normalizeH="0" baseline="0" noProof="0" dirty="0">
                <a:ln>
                  <a:noFill/>
                </a:ln>
                <a:solidFill>
                  <a:schemeClr val="bg2"/>
                </a:solidFill>
                <a:effectLst/>
                <a:uLnTx/>
                <a:uFillTx/>
                <a:latin typeface="Aptos (cuerpo)"/>
                <a:ea typeface="+mn-ea"/>
                <a:cs typeface="+mn-cs"/>
              </a:rPr>
              <a:t>Clientes con Problemas/Equipos Detenidos y su causa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Política de crédito para clientes principales – Bolsa de repuestos “necesaria” para cada cliente y qué % tenemos en stock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Desglose de Garantías Vigentes y próximas en Pipeline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err="1">
                <a:ln>
                  <a:noFill/>
                </a:ln>
                <a:solidFill>
                  <a:schemeClr val="bg2"/>
                </a:solidFill>
                <a:effectLst/>
                <a:uLnTx/>
                <a:uFillTx/>
                <a:latin typeface="Aptos (cuerpo)"/>
                <a:ea typeface="+mn-ea"/>
                <a:cs typeface="+mn-cs"/>
              </a:rPr>
              <a:t>Update</a:t>
            </a:r>
            <a:r>
              <a:rPr kumimoji="0" lang="es-MX" sz="1100" b="0" i="0" u="none" strike="noStrike" kern="1200" cap="none" spc="0" normalizeH="0" baseline="0" noProof="0" dirty="0">
                <a:ln>
                  <a:noFill/>
                </a:ln>
                <a:solidFill>
                  <a:schemeClr val="bg2"/>
                </a:solidFill>
                <a:effectLst/>
                <a:uLnTx/>
                <a:uFillTx/>
                <a:latin typeface="Aptos (cuerpo)"/>
                <a:ea typeface="+mn-ea"/>
                <a:cs typeface="+mn-cs"/>
              </a:rPr>
              <a:t> Clientes (Nuevos/Perdidos y Renovados)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Decisiones de Inversión para mantener clientes actuales (Rent – roll)</a:t>
            </a:r>
          </a:p>
          <a:p>
            <a:pPr marR="0" lvl="1" algn="l"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chemeClr val="tx1">
                  <a:lumMod val="65000"/>
                </a:schemeClr>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Calidad de Servicio</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chemeClr val="bg2"/>
                </a:solidFill>
                <a:effectLst/>
                <a:uLnTx/>
                <a:uFillTx/>
                <a:latin typeface="Aptos (cuerpo)"/>
                <a:ea typeface="+mn-ea"/>
                <a:cs typeface="+mn-cs"/>
              </a:rPr>
              <a:t>Encuesta de Satisfacción (Cuadros tipo o reporte tipo de la NPS)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b="0" i="0" u="none" strike="noStrike" kern="1200" cap="none" spc="0" normalizeH="0" baseline="0" noProof="0" dirty="0">
              <a:ln>
                <a:noFill/>
              </a:ln>
              <a:solidFill>
                <a:schemeClr val="bg2"/>
              </a:solidFill>
              <a:effectLst/>
              <a:uLnTx/>
              <a:uFillTx/>
              <a:latin typeface="Aptos (cuerp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chemeClr val="bg2"/>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4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3" name="Rectángulo 2">
            <a:extLst>
              <a:ext uri="{FF2B5EF4-FFF2-40B4-BE49-F238E27FC236}">
                <a16:creationId xmlns:a16="http://schemas.microsoft.com/office/drawing/2014/main" id="{12F2B5C7-DF1C-301E-1F95-DD3D427C899A}"/>
              </a:ext>
            </a:extLst>
          </p:cNvPr>
          <p:cNvSpPr/>
          <p:nvPr/>
        </p:nvSpPr>
        <p:spPr>
          <a:xfrm>
            <a:off x="393700" y="3818671"/>
            <a:ext cx="11312345" cy="6153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78099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6D1A-BEF7-3C20-25DA-945391AECB72}"/>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0C5819CB-F352-96E9-AED2-74151CD3436D}"/>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Encuesta</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 de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Satisfacción</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pic>
        <p:nvPicPr>
          <p:cNvPr id="10" name="Imagen 9">
            <a:extLst>
              <a:ext uri="{FF2B5EF4-FFF2-40B4-BE49-F238E27FC236}">
                <a16:creationId xmlns:a16="http://schemas.microsoft.com/office/drawing/2014/main" id="{5A99A28B-2FDC-052C-471A-53AE15991BA0}"/>
              </a:ext>
            </a:extLst>
          </p:cNvPr>
          <p:cNvPicPr>
            <a:picLocks noChangeAspect="1"/>
          </p:cNvPicPr>
          <p:nvPr/>
        </p:nvPicPr>
        <p:blipFill>
          <a:blip r:embed="rId2"/>
          <a:stretch>
            <a:fillRect/>
          </a:stretch>
        </p:blipFill>
        <p:spPr>
          <a:xfrm>
            <a:off x="1003300" y="844830"/>
            <a:ext cx="8964276" cy="5487166"/>
          </a:xfrm>
          <a:prstGeom prst="rect">
            <a:avLst/>
          </a:prstGeom>
        </p:spPr>
      </p:pic>
    </p:spTree>
    <p:extLst>
      <p:ext uri="{BB962C8B-B14F-4D97-AF65-F5344CB8AC3E}">
        <p14:creationId xmlns:p14="http://schemas.microsoft.com/office/powerpoint/2010/main" val="3267951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5055-3176-0F0F-24A0-CA68CDC7B32B}"/>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C9555511-681D-C9BE-F4F5-FFE8CA7B103A}"/>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Encuesta</a:t>
            </a:r>
            <a:r>
              <a:rPr lang="en-US" sz="2700" b="1" dirty="0">
                <a:solidFill>
                  <a:srgbClr val="33448D"/>
                </a:solidFill>
                <a:latin typeface="Roboto" panose="02000000000000000000" pitchFamily="2" charset="0"/>
                <a:ea typeface="Roboto" panose="02000000000000000000" pitchFamily="2" charset="0"/>
                <a:cs typeface="Roboto" panose="02000000000000000000" pitchFamily="2" charset="0"/>
              </a:rPr>
              <a:t> de </a:t>
            </a:r>
            <a:r>
              <a:rPr lang="en-US" sz="2700" b="1" dirty="0" err="1">
                <a:solidFill>
                  <a:srgbClr val="33448D"/>
                </a:solidFill>
                <a:latin typeface="Roboto" panose="02000000000000000000" pitchFamily="2" charset="0"/>
                <a:ea typeface="Roboto" panose="02000000000000000000" pitchFamily="2" charset="0"/>
                <a:cs typeface="Roboto" panose="02000000000000000000" pitchFamily="2" charset="0"/>
              </a:rPr>
              <a:t>Satisfacción</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8" name="Tabla 7">
            <a:extLst>
              <a:ext uri="{FF2B5EF4-FFF2-40B4-BE49-F238E27FC236}">
                <a16:creationId xmlns:a16="http://schemas.microsoft.com/office/drawing/2014/main" id="{8FE5570F-D10C-D340-8F9F-ED37E02084FA}"/>
              </a:ext>
            </a:extLst>
          </p:cNvPr>
          <p:cNvGraphicFramePr>
            <a:graphicFrameLocks noGrp="1"/>
          </p:cNvGraphicFramePr>
          <p:nvPr>
            <p:extLst>
              <p:ext uri="{D42A27DB-BD31-4B8C-83A1-F6EECF244321}">
                <p14:modId xmlns:p14="http://schemas.microsoft.com/office/powerpoint/2010/main" val="1179219723"/>
              </p:ext>
            </p:extLst>
          </p:nvPr>
        </p:nvGraphicFramePr>
        <p:xfrm>
          <a:off x="696684" y="928913"/>
          <a:ext cx="10421262" cy="5540740"/>
        </p:xfrm>
        <a:graphic>
          <a:graphicData uri="http://schemas.openxmlformats.org/drawingml/2006/table">
            <a:tbl>
              <a:tblPr/>
              <a:tblGrid>
                <a:gridCol w="2002971">
                  <a:extLst>
                    <a:ext uri="{9D8B030D-6E8A-4147-A177-3AD203B41FA5}">
                      <a16:colId xmlns:a16="http://schemas.microsoft.com/office/drawing/2014/main" val="2055073723"/>
                    </a:ext>
                  </a:extLst>
                </a:gridCol>
                <a:gridCol w="1625600">
                  <a:extLst>
                    <a:ext uri="{9D8B030D-6E8A-4147-A177-3AD203B41FA5}">
                      <a16:colId xmlns:a16="http://schemas.microsoft.com/office/drawing/2014/main" val="869114400"/>
                    </a:ext>
                  </a:extLst>
                </a:gridCol>
                <a:gridCol w="2801258">
                  <a:extLst>
                    <a:ext uri="{9D8B030D-6E8A-4147-A177-3AD203B41FA5}">
                      <a16:colId xmlns:a16="http://schemas.microsoft.com/office/drawing/2014/main" val="1018036832"/>
                    </a:ext>
                  </a:extLst>
                </a:gridCol>
                <a:gridCol w="943428">
                  <a:extLst>
                    <a:ext uri="{9D8B030D-6E8A-4147-A177-3AD203B41FA5}">
                      <a16:colId xmlns:a16="http://schemas.microsoft.com/office/drawing/2014/main" val="2065380298"/>
                    </a:ext>
                  </a:extLst>
                </a:gridCol>
                <a:gridCol w="3048005">
                  <a:extLst>
                    <a:ext uri="{9D8B030D-6E8A-4147-A177-3AD203B41FA5}">
                      <a16:colId xmlns:a16="http://schemas.microsoft.com/office/drawing/2014/main" val="2156485744"/>
                    </a:ext>
                  </a:extLst>
                </a:gridCol>
              </a:tblGrid>
              <a:tr h="172615">
                <a:tc>
                  <a:txBody>
                    <a:bodyPr/>
                    <a:lstStyle/>
                    <a:p>
                      <a:pPr algn="l" fontAlgn="b">
                        <a:buNone/>
                      </a:pPr>
                      <a:r>
                        <a:rPr lang="es-CL" sz="1000" b="1" i="0" u="none" strike="noStrike" dirty="0">
                          <a:solidFill>
                            <a:schemeClr val="tx1"/>
                          </a:solidFill>
                          <a:effectLst/>
                          <a:latin typeface="Aptos Narrow" panose="020B0004020202020204" pitchFamily="34" charset="0"/>
                        </a:rPr>
                        <a:t>Cliente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s-CL" sz="1000" b="1" i="0" u="none" strike="noStrike" dirty="0">
                          <a:solidFill>
                            <a:schemeClr val="tx1"/>
                          </a:solidFill>
                          <a:effectLst/>
                          <a:latin typeface="Aptos Narrow" panose="020B0004020202020204" pitchFamily="34" charset="0"/>
                        </a:rPr>
                        <a:t>Responsable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s-CL" sz="1000" b="1" i="0" u="none" strike="noStrike" dirty="0">
                          <a:solidFill>
                            <a:schemeClr val="tx1"/>
                          </a:solidFill>
                          <a:effectLst/>
                          <a:latin typeface="Aptos Narrow" panose="020B0004020202020204" pitchFamily="34" charset="0"/>
                        </a:rPr>
                        <a:t>Plan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s-CL" sz="1000" b="1" i="0" u="none" strike="noStrike" dirty="0">
                          <a:solidFill>
                            <a:schemeClr val="tx1"/>
                          </a:solidFill>
                          <a:effectLst/>
                          <a:latin typeface="Aptos Narrow" panose="020B0004020202020204" pitchFamily="34" charset="0"/>
                        </a:rPr>
                        <a:t>Fecha de Implementación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s-CL" sz="1000" b="1" i="0" u="none" strike="noStrike" dirty="0">
                          <a:solidFill>
                            <a:schemeClr val="tx1"/>
                          </a:solidFill>
                          <a:effectLst/>
                          <a:latin typeface="Aptos Narrow" panose="020B0004020202020204" pitchFamily="34" charset="0"/>
                        </a:rPr>
                        <a:t>Descripción Caso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59647622"/>
                  </a:ext>
                </a:extLst>
              </a:tr>
              <a:tr h="760080">
                <a:tc>
                  <a:txBody>
                    <a:bodyPr/>
                    <a:lstStyle/>
                    <a:p>
                      <a:pPr algn="l" fontAlgn="b">
                        <a:buNone/>
                      </a:pPr>
                      <a:r>
                        <a:rPr lang="es-CL" sz="1000" b="0" i="0" u="none" strike="noStrike" dirty="0">
                          <a:solidFill>
                            <a:srgbClr val="000000"/>
                          </a:solidFill>
                          <a:effectLst/>
                          <a:latin typeface="Aptos Narrow" panose="020B0004020202020204" pitchFamily="34" charset="0"/>
                        </a:rPr>
                        <a:t>HOSPITAL DE LLANQUIHUE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Cynthia Alvarado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SE PROGRAMA VISITA PARA REVISAR SELLADORA Y REALIZAR CAPACITACIÓN, QUEDANDO EL EQUIPO OPERATIVO Y PERSONAL CAPACITADO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19-02-2026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EL EQUIPO ESTÁ SELLANDO DE FORMA INTERMITENTE Y PRESENTA UN SONIDO AGUDO, ADEMÁS SOLICITA CAPACITACIÓN ONLINE CON ALGUNO DE LOS INGENIEROS DE SERVICIO + APOYO EN CONFIGURACIÓN DE SELLADORA MELASEAL 300.</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5129960"/>
                  </a:ext>
                </a:extLst>
              </a:tr>
              <a:tr h="760080">
                <a:tc>
                  <a:txBody>
                    <a:bodyPr/>
                    <a:lstStyle/>
                    <a:p>
                      <a:pPr algn="l" fontAlgn="b">
                        <a:buNone/>
                      </a:pPr>
                      <a:r>
                        <a:rPr lang="es-CL" sz="1000" b="0" i="0" u="none" strike="noStrike" dirty="0">
                          <a:solidFill>
                            <a:srgbClr val="000000"/>
                          </a:solidFill>
                          <a:effectLst/>
                          <a:latin typeface="Aptos Narrow" panose="020B0004020202020204" pitchFamily="34" charset="0"/>
                        </a:rPr>
                        <a:t>CLINICA DAVILA VESPUCIO3 </a:t>
                      </a:r>
                      <a:r>
                        <a:rPr lang="es-CL" sz="1000" b="0" i="0" u="none" strike="noStrike" dirty="0" err="1">
                          <a:solidFill>
                            <a:srgbClr val="000000"/>
                          </a:solidFill>
                          <a:effectLst/>
                          <a:latin typeface="Aptos Narrow" panose="020B0004020202020204" pitchFamily="34" charset="0"/>
                        </a:rPr>
                        <a:t>resp</a:t>
                      </a:r>
                      <a:r>
                        <a:rPr lang="es-CL" sz="1000" b="0" i="0" u="none" strike="noStrike" dirty="0">
                          <a:solidFill>
                            <a:srgbClr val="000000"/>
                          </a:solidFill>
                          <a:effectLst/>
                          <a:latin typeface="Aptos Narrow" panose="020B0004020202020204" pitchFamily="34" charset="0"/>
                        </a:rPr>
                        <a:t>.</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Patricia Guzmán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CONSEGUIR REPUESTO E INFORMAR AL CLIENTE QUE YA NO SOMOS REPRESENTANTES DE LA MARCA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14-01-2026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SOLICITAN ENVÍO DE REPUESTO DE OC QUE NO ENVIARON A ST, HASTA ESE MOMENTO 2 MESES DESPUÉS, EL REPUESTO ERA DE MARCA DABI ATLANTE Y NOS COSTÓ CONSEGUIERLO YA QUE NO SOMOS REPRESENTANTES ACTUALES, LO CONSEGUIMOS Y LES RESOLVIMOS EL INCONVENIENTE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229663"/>
                  </a:ext>
                </a:extLst>
              </a:tr>
              <a:tr h="256539">
                <a:tc>
                  <a:txBody>
                    <a:bodyPr/>
                    <a:lstStyle/>
                    <a:p>
                      <a:pPr algn="l" fontAlgn="b">
                        <a:buNone/>
                      </a:pPr>
                      <a:r>
                        <a:rPr lang="es-CL" sz="1000" b="0" i="0" u="none" strike="noStrike" dirty="0">
                          <a:solidFill>
                            <a:srgbClr val="000000"/>
                          </a:solidFill>
                          <a:effectLst/>
                          <a:latin typeface="Aptos Narrow" panose="020B0004020202020204" pitchFamily="34" charset="0"/>
                        </a:rPr>
                        <a:t>HOSPITAL SAN CAMILO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Maria de Los Angeles Colina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REVISIÓN EN TALLER DE ST/EVALUAR CON FÁBRICA SOLUCIÓN/CAMBIO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31-08-2026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CON FALLA RECURRENTE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3333939"/>
                  </a:ext>
                </a:extLst>
              </a:tr>
              <a:tr h="95367">
                <a:tc>
                  <a:txBody>
                    <a:bodyPr/>
                    <a:lstStyle/>
                    <a:p>
                      <a:pPr algn="l" fontAlgn="b">
                        <a:buNone/>
                      </a:pPr>
                      <a:r>
                        <a:rPr lang="es-CL" sz="1000" b="0" i="0" u="none" strike="noStrike" dirty="0">
                          <a:solidFill>
                            <a:srgbClr val="000000"/>
                          </a:solidFill>
                          <a:effectLst/>
                          <a:latin typeface="Aptos Narrow" panose="020B0004020202020204" pitchFamily="34" charset="0"/>
                        </a:rPr>
                        <a:t>ACHS</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7087225"/>
                  </a:ext>
                </a:extLst>
              </a:tr>
              <a:tr h="256539">
                <a:tc>
                  <a:txBody>
                    <a:bodyPr/>
                    <a:lstStyle/>
                    <a:p>
                      <a:pPr algn="l" fontAlgn="b">
                        <a:buNone/>
                      </a:pPr>
                      <a:r>
                        <a:rPr lang="es-CL" sz="1000" b="0" i="0" u="none" strike="noStrike" dirty="0">
                          <a:solidFill>
                            <a:srgbClr val="000000"/>
                          </a:solidFill>
                          <a:effectLst/>
                          <a:latin typeface="Aptos Narrow" panose="020B0004020202020204" pitchFamily="34" charset="0"/>
                        </a:rPr>
                        <a:t>HOSPITAL BASE SAN JOSE OSORNO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err="1">
                          <a:solidFill>
                            <a:srgbClr val="000000"/>
                          </a:solidFill>
                          <a:effectLst/>
                          <a:latin typeface="Aptos Narrow" panose="020B0004020202020204" pitchFamily="34" charset="0"/>
                        </a:rPr>
                        <a:t>Maria</a:t>
                      </a:r>
                      <a:r>
                        <a:rPr lang="es-CL" sz="1000" b="0" i="0" u="none" strike="noStrike" dirty="0">
                          <a:solidFill>
                            <a:srgbClr val="000000"/>
                          </a:solidFill>
                          <a:effectLst/>
                          <a:latin typeface="Aptos Narrow" panose="020B0004020202020204" pitchFamily="34" charset="0"/>
                        </a:rPr>
                        <a:t> de Los </a:t>
                      </a:r>
                      <a:r>
                        <a:rPr lang="es-CL" sz="1000" b="0" i="0" u="none" strike="noStrike" dirty="0" err="1">
                          <a:solidFill>
                            <a:srgbClr val="000000"/>
                          </a:solidFill>
                          <a:effectLst/>
                          <a:latin typeface="Aptos Narrow" panose="020B0004020202020204" pitchFamily="34" charset="0"/>
                        </a:rPr>
                        <a:t>Angeles</a:t>
                      </a:r>
                      <a:r>
                        <a:rPr lang="es-CL" sz="1000" b="0" i="0" u="none" strike="noStrike" dirty="0">
                          <a:solidFill>
                            <a:srgbClr val="000000"/>
                          </a:solidFill>
                          <a:effectLst/>
                          <a:latin typeface="Aptos Narrow" panose="020B0004020202020204" pitchFamily="34" charset="0"/>
                        </a:rPr>
                        <a:t> Colina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UNA VEZ LELGUE EL REPUESTO QUE SE SOLICITÓ DE MANERA PRIORITARIA, ASISTIR A REPARAR</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15-09-2026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DE SEDILE DETENIDO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2567649"/>
                  </a:ext>
                </a:extLst>
              </a:tr>
              <a:tr h="424385">
                <a:tc>
                  <a:txBody>
                    <a:bodyPr/>
                    <a:lstStyle/>
                    <a:p>
                      <a:pPr algn="l" fontAlgn="b">
                        <a:buNone/>
                      </a:pPr>
                      <a:r>
                        <a:rPr lang="es-CL" sz="1000" b="0" i="0" u="none" strike="noStrike" dirty="0">
                          <a:solidFill>
                            <a:srgbClr val="000000"/>
                          </a:solidFill>
                          <a:effectLst/>
                          <a:latin typeface="Aptos Narrow" panose="020B0004020202020204" pitchFamily="34" charset="0"/>
                        </a:rPr>
                        <a:t>SCMS</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Elizabeth Gálvez</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ASISTIMOS AL CLIENTE PARA REVISAR ANTECEDENTES, ESPERAMOS LA RESOLUCIÓN DE LA INVESTIGACIÓN, PARA EVALUAR ACCIONES</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SINIESTRADO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358197"/>
                  </a:ext>
                </a:extLst>
              </a:tr>
              <a:tr h="340462">
                <a:tc>
                  <a:txBody>
                    <a:bodyPr/>
                    <a:lstStyle/>
                    <a:p>
                      <a:pPr algn="l" fontAlgn="b">
                        <a:buNone/>
                      </a:pPr>
                      <a:r>
                        <a:rPr lang="es-CL" sz="1000" b="0" i="0" u="none" strike="noStrike" dirty="0">
                          <a:solidFill>
                            <a:srgbClr val="000000"/>
                          </a:solidFill>
                          <a:effectLst/>
                          <a:latin typeface="Aptos Narrow" panose="020B0004020202020204" pitchFamily="34" charset="0"/>
                        </a:rPr>
                        <a:t>ISM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Cynthia Alvarado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SE LLAMÓ POR TELÉFONO DÓNDE INDICÓ QUE NO SABÍA A QUÉ CORRESPONDÍA LA ENCUENTA Y SE EQUIVOCÓ AL EVALUAR</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16-06-2026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NO SABÍA A QUÉ CORRESPONDÍA, SE EQUIVOCÓ</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327429"/>
                  </a:ext>
                </a:extLst>
              </a:tr>
              <a:tr h="172615">
                <a:tc>
                  <a:txBody>
                    <a:bodyPr/>
                    <a:lstStyle/>
                    <a:p>
                      <a:pPr algn="l" fontAlgn="b">
                        <a:buNone/>
                      </a:pPr>
                      <a:r>
                        <a:rPr lang="es-CL" sz="1000" b="0" i="0" u="none" strike="noStrike" dirty="0">
                          <a:solidFill>
                            <a:srgbClr val="000000"/>
                          </a:solidFill>
                          <a:effectLst/>
                          <a:latin typeface="Aptos Narrow" panose="020B0004020202020204" pitchFamily="34" charset="0"/>
                        </a:rPr>
                        <a:t>COOPORACION MUNICIPAL DE LAMPA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No hay casos asociados a ese cliente en sistema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0331138"/>
                  </a:ext>
                </a:extLst>
              </a:tr>
              <a:tr h="256539">
                <a:tc>
                  <a:txBody>
                    <a:bodyPr/>
                    <a:lstStyle/>
                    <a:p>
                      <a:pPr algn="l" fontAlgn="b">
                        <a:buNone/>
                      </a:pPr>
                      <a:r>
                        <a:rPr lang="es-CL" sz="1000" b="0" i="0" u="none" strike="noStrike" dirty="0">
                          <a:solidFill>
                            <a:srgbClr val="000000"/>
                          </a:solidFill>
                          <a:effectLst/>
                          <a:latin typeface="Aptos Narrow" panose="020B0004020202020204" pitchFamily="34" charset="0"/>
                        </a:rPr>
                        <a:t>HOSPITAL CARLOS VAN BUREN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Maria de Los Angeles Colina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UNA VEZ LELGUE EL REPUESTO QUE SE SOLICITÓ DE MANERA PRIORITARIA, ASISTIR A REPARAR</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15-09-2026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DE SEDILE DETENIDO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9703116"/>
                  </a:ext>
                </a:extLst>
              </a:tr>
              <a:tr h="256539">
                <a:tc>
                  <a:txBody>
                    <a:bodyPr/>
                    <a:lstStyle/>
                    <a:p>
                      <a:pPr algn="l" fontAlgn="b">
                        <a:buNone/>
                      </a:pPr>
                      <a:r>
                        <a:rPr lang="es-CL" sz="1000" b="0" i="0" u="none" strike="noStrike" dirty="0">
                          <a:solidFill>
                            <a:srgbClr val="000000"/>
                          </a:solidFill>
                          <a:effectLst/>
                          <a:latin typeface="Aptos Narrow" panose="020B0004020202020204" pitchFamily="34" charset="0"/>
                        </a:rPr>
                        <a:t>CLINICA DERMATOLOGICA DRA DIANA YANINE</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Matilde Carrillo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SE SOLICITÓ CELERIDAD EN ENVÍO DE FACTURA A CLIENTE Y YA LA RECIBIÓ</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a:solidFill>
                            <a:srgbClr val="000000"/>
                          </a:solidFill>
                          <a:effectLst/>
                          <a:latin typeface="Aptos Narrow" panose="020B0004020202020204" pitchFamily="34" charset="0"/>
                        </a:rPr>
                        <a:t>14-01-2026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MOLESTIA POR LA DEMORA EN ENVÍO DE FACTURA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9828161"/>
                  </a:ext>
                </a:extLst>
              </a:tr>
              <a:tr h="508309">
                <a:tc>
                  <a:txBody>
                    <a:bodyPr/>
                    <a:lstStyle/>
                    <a:p>
                      <a:pPr algn="l" fontAlgn="b">
                        <a:buNone/>
                      </a:pPr>
                      <a:r>
                        <a:rPr lang="es-CL" sz="1000" b="0" i="0" u="none" strike="noStrike" dirty="0">
                          <a:solidFill>
                            <a:srgbClr val="000000"/>
                          </a:solidFill>
                          <a:effectLst/>
                          <a:latin typeface="Aptos Narrow" panose="020B0004020202020204" pitchFamily="34" charset="0"/>
                        </a:rPr>
                        <a:t>HOSPITAL DE PUERTO AYSEN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Maria de Los Angeles Colina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SE SOLICITARON PROGRAMAS A FÁBRICA PARA VOLVER A CARGARLOS EN EL EQUIPO Y PODER DIAGNÓSTICAR, YA LLEGARON, SE REALIZARÁ LA ACCIÓN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01-09-2026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CON FALLA RECURRENTE, SE ENVIÓ A ST PARA REVISIÓN</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5737950"/>
                  </a:ext>
                </a:extLst>
              </a:tr>
              <a:tr h="256539">
                <a:tc>
                  <a:txBody>
                    <a:bodyPr/>
                    <a:lstStyle/>
                    <a:p>
                      <a:pPr algn="l" fontAlgn="b">
                        <a:buNone/>
                      </a:pPr>
                      <a:r>
                        <a:rPr lang="es-CL" sz="1000" b="0" i="0" u="none" strike="noStrike" dirty="0">
                          <a:solidFill>
                            <a:srgbClr val="000000"/>
                          </a:solidFill>
                          <a:effectLst/>
                          <a:latin typeface="Aptos Narrow" panose="020B0004020202020204" pitchFamily="34" charset="0"/>
                        </a:rPr>
                        <a:t>HOSPITAL CLINICO SANBORJA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a:solidFill>
                            <a:srgbClr val="000000"/>
                          </a:solidFill>
                          <a:effectLst/>
                          <a:latin typeface="Aptos Narrow" panose="020B0004020202020204" pitchFamily="34" charset="0"/>
                        </a:rPr>
                        <a:t>Cynthia Alvarado</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SE OFRECIÓ AL CLIENTE VISITA DE DIAGNÓSTICO DE NUESTRO ST, ESPERAMOS RESPUESTA</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000" b="0" i="0" u="none" strike="noStrike" dirty="0">
                          <a:solidFill>
                            <a:srgbClr val="000000"/>
                          </a:solidFill>
                          <a:effectLst/>
                          <a:latin typeface="Aptos Narrow" panose="020B0004020202020204" pitchFamily="34" charset="0"/>
                        </a:rPr>
                        <a:t>18-08-2026</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000" b="0" i="0" u="none" strike="noStrike" dirty="0">
                          <a:solidFill>
                            <a:srgbClr val="000000"/>
                          </a:solidFill>
                          <a:effectLst/>
                          <a:latin typeface="Aptos Narrow" panose="020B0004020202020204" pitchFamily="34" charset="0"/>
                        </a:rPr>
                        <a:t>EQUIPO CON FALLA DIAGNÓSTICADO POR ST EXTERNO, QUERÍAN COMPRARNOS SOLO EL REPUESTO </a:t>
                      </a:r>
                    </a:p>
                  </a:txBody>
                  <a:tcPr marL="4180" marR="4180" marT="4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9531155"/>
                  </a:ext>
                </a:extLst>
              </a:tr>
            </a:tbl>
          </a:graphicData>
        </a:graphic>
      </p:graphicFrame>
    </p:spTree>
    <p:extLst>
      <p:ext uri="{BB962C8B-B14F-4D97-AF65-F5344CB8AC3E}">
        <p14:creationId xmlns:p14="http://schemas.microsoft.com/office/powerpoint/2010/main" val="1665517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95730-02A0-70D9-C4EF-D6B521754591}"/>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DB1978F6-3DF6-BFA5-4C9F-744D2D281B4A}"/>
              </a:ext>
            </a:extLst>
          </p:cNvPr>
          <p:cNvSpPr>
            <a:spLocks noGrp="1"/>
          </p:cNvSpPr>
          <p:nvPr>
            <p:ph type="subTitle" idx="1"/>
          </p:nvPr>
        </p:nvSpPr>
        <p:spPr>
          <a:xfrm>
            <a:off x="928356" y="5044946"/>
            <a:ext cx="5036084" cy="553998"/>
          </a:xfrm>
        </p:spPr>
        <p:txBody>
          <a:bodyPr>
            <a:normAutofit fontScale="77500" lnSpcReduction="20000"/>
          </a:bodyPr>
          <a:lstStyle/>
          <a:p>
            <a:r>
              <a:rPr lang="es-CL" sz="2000" b="1" dirty="0">
                <a:solidFill>
                  <a:schemeClr val="tx1">
                    <a:lumMod val="50000"/>
                  </a:schemeClr>
                </a:solidFill>
              </a:rPr>
              <a:t>Anexos</a:t>
            </a:r>
          </a:p>
          <a:p>
            <a:r>
              <a:rPr lang="es-CL" dirty="0">
                <a:solidFill>
                  <a:schemeClr val="tx1">
                    <a:lumMod val="50000"/>
                  </a:schemeClr>
                </a:solidFill>
              </a:rPr>
              <a:t>10 Agosto 2026</a:t>
            </a:r>
          </a:p>
        </p:txBody>
      </p:sp>
      <p:sp>
        <p:nvSpPr>
          <p:cNvPr id="6" name="McK Disclaimer">
            <a:extLst>
              <a:ext uri="{FF2B5EF4-FFF2-40B4-BE49-F238E27FC236}">
                <a16:creationId xmlns:a16="http://schemas.microsoft.com/office/drawing/2014/main" id="{A7BEBEA3-5979-A11E-ABAF-DC8743403850}"/>
              </a:ext>
            </a:extLst>
          </p:cNvPr>
          <p:cNvSpPr>
            <a:spLocks noChangeArrowheads="1"/>
          </p:cNvSpPr>
          <p:nvPr/>
        </p:nvSpPr>
        <p:spPr bwMode="auto">
          <a:xfrm>
            <a:off x="8400256" y="6309320"/>
            <a:ext cx="4427984" cy="2510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p>
            <a:pPr marL="0" marR="0" lvl="0" indent="0" algn="l" defTabSz="821202" rtl="0" eaLnBrk="0" fontAlgn="base" latinLnBrk="0" hangingPunct="0">
              <a:lnSpc>
                <a:spcPct val="100000"/>
              </a:lnSpc>
              <a:spcBef>
                <a:spcPct val="0"/>
              </a:spcBef>
              <a:spcAft>
                <a:spcPct val="0"/>
              </a:spcAft>
              <a:buClrTx/>
              <a:buSzTx/>
              <a:buFontTx/>
              <a:buNone/>
              <a:tabLst/>
              <a:defRPr/>
            </a:pPr>
            <a:r>
              <a:rPr kumimoji="0" lang="es-CL" sz="816" b="0" i="0" u="none" strike="noStrike" kern="1200" cap="none" spc="0" normalizeH="0" baseline="0" noProof="0" dirty="0">
                <a:ln>
                  <a:noFill/>
                </a:ln>
                <a:solidFill>
                  <a:srgbClr val="33448D"/>
                </a:solidFill>
                <a:effectLst/>
                <a:uLnTx/>
                <a:uFillTx/>
                <a:latin typeface="Calibri" charset="0"/>
                <a:ea typeface="Calibri" charset="0"/>
                <a:cs typeface="Calibri" charset="0"/>
              </a:rPr>
              <a:t>DOCUMENTO CONFIDENCIAL PROPIEDAD DE GEMCO S.A.</a:t>
            </a:r>
          </a:p>
          <a:p>
            <a:pPr marL="0" marR="0" lvl="0" indent="0" algn="l" defTabSz="821202" rtl="0" eaLnBrk="0" fontAlgn="base" latinLnBrk="0" hangingPunct="0">
              <a:lnSpc>
                <a:spcPct val="100000"/>
              </a:lnSpc>
              <a:spcBef>
                <a:spcPct val="0"/>
              </a:spcBef>
              <a:spcAft>
                <a:spcPct val="0"/>
              </a:spcAft>
              <a:buClrTx/>
              <a:buSzTx/>
              <a:buFontTx/>
              <a:buNone/>
              <a:tabLst/>
              <a:defRPr/>
            </a:pPr>
            <a:r>
              <a:rPr kumimoji="0" lang="es-CL" sz="816" b="0" i="0" u="none" strike="noStrike" kern="1200" cap="none" spc="0" normalizeH="0" baseline="0" noProof="0" dirty="0">
                <a:ln>
                  <a:noFill/>
                </a:ln>
                <a:solidFill>
                  <a:srgbClr val="33448D"/>
                </a:solidFill>
                <a:effectLst/>
                <a:uLnTx/>
                <a:uFillTx/>
                <a:latin typeface="Calibri" charset="0"/>
                <a:ea typeface="Calibri" charset="0"/>
                <a:cs typeface="Calibri" charset="0"/>
              </a:rPr>
              <a:t>Queda prohibido su uso y distribución sin la autorización expresa de GEMCO S.A.</a:t>
            </a:r>
          </a:p>
        </p:txBody>
      </p:sp>
      <p:pic>
        <p:nvPicPr>
          <p:cNvPr id="13" name="Imagen 12">
            <a:extLst>
              <a:ext uri="{FF2B5EF4-FFF2-40B4-BE49-F238E27FC236}">
                <a16:creationId xmlns:a16="http://schemas.microsoft.com/office/drawing/2014/main" id="{C90AE852-507A-02A0-2628-B8F49D8F70AE}"/>
              </a:ext>
            </a:extLst>
          </p:cNvPr>
          <p:cNvPicPr>
            <a:picLocks noChangeAspect="1"/>
          </p:cNvPicPr>
          <p:nvPr/>
        </p:nvPicPr>
        <p:blipFill rotWithShape="1">
          <a:blip r:embed="rId3"/>
          <a:srcRect t="11037"/>
          <a:stretch/>
        </p:blipFill>
        <p:spPr>
          <a:xfrm>
            <a:off x="10209845" y="2472568"/>
            <a:ext cx="1574786" cy="1490748"/>
          </a:xfrm>
          <a:prstGeom prst="rect">
            <a:avLst/>
          </a:prstGeom>
        </p:spPr>
      </p:pic>
      <p:sp>
        <p:nvSpPr>
          <p:cNvPr id="20" name="Rectángulo 19">
            <a:extLst>
              <a:ext uri="{FF2B5EF4-FFF2-40B4-BE49-F238E27FC236}">
                <a16:creationId xmlns:a16="http://schemas.microsoft.com/office/drawing/2014/main" id="{D8209293-6142-7D4A-3D0C-695994DF54C2}"/>
              </a:ext>
            </a:extLst>
          </p:cNvPr>
          <p:cNvSpPr/>
          <p:nvPr/>
        </p:nvSpPr>
        <p:spPr>
          <a:xfrm>
            <a:off x="0" y="6634290"/>
            <a:ext cx="12192000" cy="251094"/>
          </a:xfrm>
          <a:prstGeom prst="rect">
            <a:avLst/>
          </a:prstGeom>
          <a:solidFill>
            <a:srgbClr val="000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err="1">
              <a:ln>
                <a:noFill/>
              </a:ln>
              <a:solidFill>
                <a:srgbClr val="33448D"/>
              </a:solidFill>
              <a:effectLst/>
              <a:uLnTx/>
              <a:uFillTx/>
              <a:latin typeface="Arial"/>
              <a:ea typeface="+mn-ea"/>
              <a:cs typeface="+mn-cs"/>
            </a:endParaRPr>
          </a:p>
        </p:txBody>
      </p:sp>
      <p:pic>
        <p:nvPicPr>
          <p:cNvPr id="8" name="Imagen 7">
            <a:extLst>
              <a:ext uri="{FF2B5EF4-FFF2-40B4-BE49-F238E27FC236}">
                <a16:creationId xmlns:a16="http://schemas.microsoft.com/office/drawing/2014/main" id="{B765CD1D-CE20-340A-7B8A-5BECDE1B4F7B}"/>
              </a:ext>
            </a:extLst>
          </p:cNvPr>
          <p:cNvPicPr>
            <a:picLocks noChangeAspect="1"/>
          </p:cNvPicPr>
          <p:nvPr/>
        </p:nvPicPr>
        <p:blipFill>
          <a:blip r:embed="rId4"/>
          <a:stretch>
            <a:fillRect/>
          </a:stretch>
        </p:blipFill>
        <p:spPr>
          <a:xfrm>
            <a:off x="839416" y="2546444"/>
            <a:ext cx="3668216" cy="1145440"/>
          </a:xfrm>
          <a:prstGeom prst="rect">
            <a:avLst/>
          </a:prstGeom>
        </p:spPr>
      </p:pic>
    </p:spTree>
    <p:extLst>
      <p:ext uri="{BB962C8B-B14F-4D97-AF65-F5344CB8AC3E}">
        <p14:creationId xmlns:p14="http://schemas.microsoft.com/office/powerpoint/2010/main" val="1351979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CFE8-7861-EFA4-3FA5-F5C3A5CFED2E}"/>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AF548D02-6FF4-ADBA-2262-2017B71241CC}"/>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Estructura</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Operativa</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2026</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3" name="Shape 2">
            <a:extLst>
              <a:ext uri="{FF2B5EF4-FFF2-40B4-BE49-F238E27FC236}">
                <a16:creationId xmlns:a16="http://schemas.microsoft.com/office/drawing/2014/main" id="{FAF6737B-6094-DD24-278A-66B24CEECE6F}"/>
              </a:ext>
            </a:extLst>
          </p:cNvPr>
          <p:cNvSpPr/>
          <p:nvPr/>
        </p:nvSpPr>
        <p:spPr>
          <a:xfrm>
            <a:off x="4810504" y="810883"/>
            <a:ext cx="2716380" cy="777240"/>
          </a:xfrm>
          <a:prstGeom prst="roundRect">
            <a:avLst>
              <a:gd name="adj" fmla="val 5882"/>
            </a:avLst>
          </a:prstGeom>
          <a:solidFill>
            <a:srgbClr val="21295C"/>
          </a:solidFill>
          <a:ln w="12700">
            <a:solidFill>
              <a:srgbClr val="21295C"/>
            </a:solidFill>
            <a:prstDash val="solid"/>
          </a:ln>
          <a:effectLst>
            <a:outerShdw blurRad="63500" dist="25400" dir="2700000" algn="bl" rotWithShape="0">
              <a:srgbClr val="000000">
                <a:alpha val="13000"/>
              </a:srgbClr>
            </a:outerShdw>
          </a:effectLst>
        </p:spPr>
        <p:txBody>
          <a:bodyPr/>
          <a:lstStyle/>
          <a:p>
            <a:endParaRPr lang="es-CL" dirty="0"/>
          </a:p>
        </p:txBody>
      </p:sp>
      <p:sp>
        <p:nvSpPr>
          <p:cNvPr id="7" name="Text 3">
            <a:extLst>
              <a:ext uri="{FF2B5EF4-FFF2-40B4-BE49-F238E27FC236}">
                <a16:creationId xmlns:a16="http://schemas.microsoft.com/office/drawing/2014/main" id="{62507EBF-6E2A-B813-E8E0-D504C890EE53}"/>
              </a:ext>
            </a:extLst>
          </p:cNvPr>
          <p:cNvSpPr/>
          <p:nvPr/>
        </p:nvSpPr>
        <p:spPr>
          <a:xfrm>
            <a:off x="4212184" y="789615"/>
            <a:ext cx="3931920" cy="777240"/>
          </a:xfrm>
          <a:prstGeom prst="rect">
            <a:avLst/>
          </a:prstGeom>
          <a:noFill/>
          <a:ln/>
        </p:spPr>
        <p:txBody>
          <a:bodyPr wrap="square" lIns="25400" tIns="25400" rIns="25400" bIns="25400" rtlCol="0" anchor="ctr"/>
          <a:lstStyle/>
          <a:p>
            <a:pPr marL="0" indent="0" algn="ctr">
              <a:lnSpc>
                <a:spcPct val="105000"/>
              </a:lnSpc>
              <a:buNone/>
            </a:pPr>
            <a:r>
              <a:rPr lang="en-US" sz="1050" b="1" dirty="0">
                <a:solidFill>
                  <a:srgbClr val="C9D3F0"/>
                </a:solidFill>
                <a:latin typeface="Calibri" pitchFamily="34" charset="0"/>
                <a:ea typeface="Calibri" pitchFamily="34" charset="-122"/>
                <a:cs typeface="Calibri" pitchFamily="34" charset="-120"/>
              </a:rPr>
              <a:t>LIDERAZGO EJECUTIVO</a:t>
            </a:r>
            <a:endParaRPr lang="en-US" sz="1050" dirty="0"/>
          </a:p>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Marcelo Ruminot — </a:t>
            </a:r>
            <a:r>
              <a:rPr lang="en-US" sz="1150" b="1" dirty="0" err="1">
                <a:solidFill>
                  <a:srgbClr val="FFFFFF"/>
                </a:solidFill>
                <a:latin typeface="Calibri" pitchFamily="34" charset="0"/>
                <a:ea typeface="Calibri" pitchFamily="34" charset="-122"/>
                <a:cs typeface="Calibri" pitchFamily="34" charset="-120"/>
              </a:rPr>
              <a:t>Gerente</a:t>
            </a:r>
            <a:r>
              <a:rPr lang="en-US" sz="1150" b="1" dirty="0">
                <a:solidFill>
                  <a:srgbClr val="FFFFFF"/>
                </a:solidFill>
                <a:latin typeface="Calibri" pitchFamily="34" charset="0"/>
                <a:ea typeface="Calibri" pitchFamily="34" charset="-122"/>
                <a:cs typeface="Calibri" pitchFamily="34" charset="-120"/>
              </a:rPr>
              <a:t> General</a:t>
            </a:r>
            <a:endParaRPr lang="en-US" sz="1050" dirty="0"/>
          </a:p>
        </p:txBody>
      </p:sp>
      <p:sp>
        <p:nvSpPr>
          <p:cNvPr id="10" name="Shape 4">
            <a:extLst>
              <a:ext uri="{FF2B5EF4-FFF2-40B4-BE49-F238E27FC236}">
                <a16:creationId xmlns:a16="http://schemas.microsoft.com/office/drawing/2014/main" id="{F5C8DD85-058D-3781-5714-ED5C1774C8CF}"/>
              </a:ext>
            </a:extLst>
          </p:cNvPr>
          <p:cNvSpPr/>
          <p:nvPr/>
        </p:nvSpPr>
        <p:spPr>
          <a:xfrm>
            <a:off x="6095848" y="2524089"/>
            <a:ext cx="0" cy="274320"/>
          </a:xfrm>
          <a:prstGeom prst="line">
            <a:avLst/>
          </a:prstGeom>
          <a:noFill/>
          <a:ln w="15875">
            <a:solidFill>
              <a:srgbClr val="94A3B8"/>
            </a:solidFill>
            <a:prstDash val="solid"/>
          </a:ln>
        </p:spPr>
        <p:txBody>
          <a:bodyPr/>
          <a:lstStyle/>
          <a:p>
            <a:endParaRPr lang="es-CL"/>
          </a:p>
        </p:txBody>
      </p:sp>
      <p:sp>
        <p:nvSpPr>
          <p:cNvPr id="12" name="Shape 5">
            <a:extLst>
              <a:ext uri="{FF2B5EF4-FFF2-40B4-BE49-F238E27FC236}">
                <a16:creationId xmlns:a16="http://schemas.microsoft.com/office/drawing/2014/main" id="{97339A14-DAE7-4490-B2F3-B0931FC8CE3B}"/>
              </a:ext>
            </a:extLst>
          </p:cNvPr>
          <p:cNvSpPr/>
          <p:nvPr/>
        </p:nvSpPr>
        <p:spPr>
          <a:xfrm>
            <a:off x="1802740" y="2798409"/>
            <a:ext cx="8586216" cy="0"/>
          </a:xfrm>
          <a:prstGeom prst="line">
            <a:avLst/>
          </a:prstGeom>
          <a:noFill/>
          <a:ln w="15875">
            <a:solidFill>
              <a:srgbClr val="94A3B8"/>
            </a:solidFill>
            <a:prstDash val="solid"/>
          </a:ln>
        </p:spPr>
        <p:txBody>
          <a:bodyPr/>
          <a:lstStyle/>
          <a:p>
            <a:endParaRPr lang="es-CL"/>
          </a:p>
        </p:txBody>
      </p:sp>
      <p:sp>
        <p:nvSpPr>
          <p:cNvPr id="14" name="Shape 6">
            <a:extLst>
              <a:ext uri="{FF2B5EF4-FFF2-40B4-BE49-F238E27FC236}">
                <a16:creationId xmlns:a16="http://schemas.microsoft.com/office/drawing/2014/main" id="{A120334B-178B-32FA-5451-6DA235CE0376}"/>
              </a:ext>
            </a:extLst>
          </p:cNvPr>
          <p:cNvSpPr/>
          <p:nvPr/>
        </p:nvSpPr>
        <p:spPr>
          <a:xfrm>
            <a:off x="1802740" y="2798409"/>
            <a:ext cx="0" cy="91440"/>
          </a:xfrm>
          <a:prstGeom prst="line">
            <a:avLst/>
          </a:prstGeom>
          <a:noFill/>
          <a:ln w="15875">
            <a:solidFill>
              <a:srgbClr val="94A3B8"/>
            </a:solidFill>
            <a:prstDash val="solid"/>
          </a:ln>
        </p:spPr>
        <p:txBody>
          <a:bodyPr/>
          <a:lstStyle/>
          <a:p>
            <a:endParaRPr lang="es-CL"/>
          </a:p>
        </p:txBody>
      </p:sp>
      <p:sp>
        <p:nvSpPr>
          <p:cNvPr id="16" name="Shape 7">
            <a:extLst>
              <a:ext uri="{FF2B5EF4-FFF2-40B4-BE49-F238E27FC236}">
                <a16:creationId xmlns:a16="http://schemas.microsoft.com/office/drawing/2014/main" id="{DADA76FD-1BA1-2ABB-1686-7F4BF16CF3E6}"/>
              </a:ext>
            </a:extLst>
          </p:cNvPr>
          <p:cNvSpPr/>
          <p:nvPr/>
        </p:nvSpPr>
        <p:spPr>
          <a:xfrm>
            <a:off x="4664812" y="2798409"/>
            <a:ext cx="0" cy="91440"/>
          </a:xfrm>
          <a:prstGeom prst="line">
            <a:avLst/>
          </a:prstGeom>
          <a:noFill/>
          <a:ln w="15875">
            <a:solidFill>
              <a:srgbClr val="94A3B8"/>
            </a:solidFill>
            <a:prstDash val="solid"/>
          </a:ln>
        </p:spPr>
        <p:txBody>
          <a:bodyPr/>
          <a:lstStyle/>
          <a:p>
            <a:endParaRPr lang="es-CL"/>
          </a:p>
        </p:txBody>
      </p:sp>
      <p:sp>
        <p:nvSpPr>
          <p:cNvPr id="18" name="Shape 8">
            <a:extLst>
              <a:ext uri="{FF2B5EF4-FFF2-40B4-BE49-F238E27FC236}">
                <a16:creationId xmlns:a16="http://schemas.microsoft.com/office/drawing/2014/main" id="{81CAA5B9-3539-23F8-B06F-E662404C517D}"/>
              </a:ext>
            </a:extLst>
          </p:cNvPr>
          <p:cNvSpPr/>
          <p:nvPr/>
        </p:nvSpPr>
        <p:spPr>
          <a:xfrm>
            <a:off x="7526884" y="2798409"/>
            <a:ext cx="0" cy="91440"/>
          </a:xfrm>
          <a:prstGeom prst="line">
            <a:avLst/>
          </a:prstGeom>
          <a:noFill/>
          <a:ln w="15875">
            <a:solidFill>
              <a:srgbClr val="94A3B8"/>
            </a:solidFill>
            <a:prstDash val="solid"/>
          </a:ln>
        </p:spPr>
        <p:txBody>
          <a:bodyPr/>
          <a:lstStyle/>
          <a:p>
            <a:endParaRPr lang="es-CL"/>
          </a:p>
        </p:txBody>
      </p:sp>
      <p:sp>
        <p:nvSpPr>
          <p:cNvPr id="20" name="Shape 9">
            <a:extLst>
              <a:ext uri="{FF2B5EF4-FFF2-40B4-BE49-F238E27FC236}">
                <a16:creationId xmlns:a16="http://schemas.microsoft.com/office/drawing/2014/main" id="{0DEA2896-B4B5-D071-FE23-15329039919B}"/>
              </a:ext>
            </a:extLst>
          </p:cNvPr>
          <p:cNvSpPr/>
          <p:nvPr/>
        </p:nvSpPr>
        <p:spPr>
          <a:xfrm>
            <a:off x="10388956" y="2798409"/>
            <a:ext cx="0" cy="91440"/>
          </a:xfrm>
          <a:prstGeom prst="line">
            <a:avLst/>
          </a:prstGeom>
          <a:noFill/>
          <a:ln w="15875">
            <a:solidFill>
              <a:srgbClr val="94A3B8"/>
            </a:solidFill>
            <a:prstDash val="solid"/>
          </a:ln>
        </p:spPr>
        <p:txBody>
          <a:bodyPr/>
          <a:lstStyle/>
          <a:p>
            <a:endParaRPr lang="es-CL"/>
          </a:p>
        </p:txBody>
      </p:sp>
      <p:sp>
        <p:nvSpPr>
          <p:cNvPr id="22" name="Shape 10">
            <a:extLst>
              <a:ext uri="{FF2B5EF4-FFF2-40B4-BE49-F238E27FC236}">
                <a16:creationId xmlns:a16="http://schemas.microsoft.com/office/drawing/2014/main" id="{E5D4664A-017B-EB17-1131-CD189C36A527}"/>
              </a:ext>
            </a:extLst>
          </p:cNvPr>
          <p:cNvSpPr/>
          <p:nvPr/>
        </p:nvSpPr>
        <p:spPr>
          <a:xfrm>
            <a:off x="454000" y="2889849"/>
            <a:ext cx="2697480" cy="960120"/>
          </a:xfrm>
          <a:prstGeom prst="roundRect">
            <a:avLst>
              <a:gd name="adj" fmla="val 4762"/>
            </a:avLst>
          </a:prstGeom>
          <a:solidFill>
            <a:srgbClr val="065A82"/>
          </a:solidFill>
          <a:ln w="12700">
            <a:solidFill>
              <a:srgbClr val="065A82"/>
            </a:solidFill>
            <a:prstDash val="solid"/>
          </a:ln>
          <a:effectLst>
            <a:outerShdw blurRad="63500" dist="25400" dir="2700000" algn="bl" rotWithShape="0">
              <a:srgbClr val="000000">
                <a:alpha val="13000"/>
              </a:srgbClr>
            </a:outerShdw>
          </a:effectLst>
        </p:spPr>
        <p:txBody>
          <a:bodyPr/>
          <a:lstStyle/>
          <a:p>
            <a:endParaRPr lang="es-CL"/>
          </a:p>
        </p:txBody>
      </p:sp>
      <p:sp>
        <p:nvSpPr>
          <p:cNvPr id="24" name="Text 11">
            <a:extLst>
              <a:ext uri="{FF2B5EF4-FFF2-40B4-BE49-F238E27FC236}">
                <a16:creationId xmlns:a16="http://schemas.microsoft.com/office/drawing/2014/main" id="{6DF2B08C-6927-B08C-85A2-B17B7541ED5C}"/>
              </a:ext>
            </a:extLst>
          </p:cNvPr>
          <p:cNvSpPr/>
          <p:nvPr/>
        </p:nvSpPr>
        <p:spPr>
          <a:xfrm>
            <a:off x="499720" y="2889849"/>
            <a:ext cx="2606040" cy="960120"/>
          </a:xfrm>
          <a:prstGeom prst="rect">
            <a:avLst/>
          </a:prstGeom>
          <a:noFill/>
          <a:ln/>
        </p:spPr>
        <p:txBody>
          <a:bodyPr wrap="square" lIns="25400" tIns="25400" rIns="25400" bIns="25400" rtlCol="0" anchor="ctr"/>
          <a:lstStyle/>
          <a:p>
            <a:pPr marL="0" indent="0" algn="ctr">
              <a:lnSpc>
                <a:spcPct val="105000"/>
              </a:lnSpc>
              <a:buNone/>
            </a:pPr>
            <a:r>
              <a:rPr lang="en-US" sz="950" b="1" dirty="0">
                <a:solidFill>
                  <a:srgbClr val="BFE3F0"/>
                </a:solidFill>
                <a:latin typeface="Calibri" pitchFamily="34" charset="0"/>
                <a:ea typeface="Calibri" pitchFamily="34" charset="-122"/>
                <a:cs typeface="Calibri" pitchFamily="34" charset="-120"/>
              </a:rPr>
              <a:t>INGENIERÍA DE PROYECTOS</a:t>
            </a:r>
            <a:endParaRPr lang="en-US" sz="95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Camilo Alexis Morales Aguilera</a:t>
            </a:r>
            <a:endParaRPr lang="en-US" sz="950" dirty="0"/>
          </a:p>
          <a:p>
            <a:pPr marL="0" indent="0" algn="ctr">
              <a:lnSpc>
                <a:spcPct val="105000"/>
              </a:lnSpc>
              <a:buNone/>
            </a:pPr>
            <a:r>
              <a:rPr lang="en-US" sz="900" dirty="0">
                <a:solidFill>
                  <a:srgbClr val="FFFFFF"/>
                </a:solidFill>
                <a:latin typeface="Calibri" pitchFamily="34" charset="0"/>
                <a:ea typeface="Calibri" pitchFamily="34" charset="-122"/>
                <a:cs typeface="Calibri" pitchFamily="34" charset="-120"/>
              </a:rPr>
              <a:t>Ingeniero de Soluciones Estratégicas</a:t>
            </a:r>
            <a:endParaRPr lang="en-US" sz="950" dirty="0"/>
          </a:p>
        </p:txBody>
      </p:sp>
      <p:sp>
        <p:nvSpPr>
          <p:cNvPr id="26" name="Shape 12">
            <a:extLst>
              <a:ext uri="{FF2B5EF4-FFF2-40B4-BE49-F238E27FC236}">
                <a16:creationId xmlns:a16="http://schemas.microsoft.com/office/drawing/2014/main" id="{D57EE9F8-D64C-7966-CBF3-A4E9B6DE1746}"/>
              </a:ext>
            </a:extLst>
          </p:cNvPr>
          <p:cNvSpPr/>
          <p:nvPr/>
        </p:nvSpPr>
        <p:spPr>
          <a:xfrm>
            <a:off x="3316072" y="2889849"/>
            <a:ext cx="2697480" cy="960120"/>
          </a:xfrm>
          <a:prstGeom prst="roundRect">
            <a:avLst>
              <a:gd name="adj" fmla="val 4762"/>
            </a:avLst>
          </a:prstGeom>
          <a:solidFill>
            <a:srgbClr val="065A82"/>
          </a:solidFill>
          <a:ln w="12700">
            <a:solidFill>
              <a:srgbClr val="065A82"/>
            </a:solidFill>
            <a:prstDash val="solid"/>
          </a:ln>
          <a:effectLst>
            <a:outerShdw blurRad="63500" dist="25400" dir="2700000" algn="bl" rotWithShape="0">
              <a:srgbClr val="000000">
                <a:alpha val="13000"/>
              </a:srgbClr>
            </a:outerShdw>
          </a:effectLst>
        </p:spPr>
        <p:txBody>
          <a:bodyPr/>
          <a:lstStyle/>
          <a:p>
            <a:endParaRPr lang="es-CL"/>
          </a:p>
        </p:txBody>
      </p:sp>
      <p:sp>
        <p:nvSpPr>
          <p:cNvPr id="28" name="Text 13">
            <a:extLst>
              <a:ext uri="{FF2B5EF4-FFF2-40B4-BE49-F238E27FC236}">
                <a16:creationId xmlns:a16="http://schemas.microsoft.com/office/drawing/2014/main" id="{C1883DF7-6BF0-D712-EDC4-755A80FA97B4}"/>
              </a:ext>
            </a:extLst>
          </p:cNvPr>
          <p:cNvSpPr/>
          <p:nvPr/>
        </p:nvSpPr>
        <p:spPr>
          <a:xfrm>
            <a:off x="3361792" y="2889849"/>
            <a:ext cx="2606040" cy="960120"/>
          </a:xfrm>
          <a:prstGeom prst="rect">
            <a:avLst/>
          </a:prstGeom>
          <a:noFill/>
          <a:ln/>
        </p:spPr>
        <p:txBody>
          <a:bodyPr wrap="square" lIns="25400" tIns="25400" rIns="25400" bIns="25400" rtlCol="0" anchor="ctr"/>
          <a:lstStyle/>
          <a:p>
            <a:pPr marL="0" indent="0" algn="ctr">
              <a:lnSpc>
                <a:spcPct val="105000"/>
              </a:lnSpc>
              <a:buNone/>
            </a:pPr>
            <a:r>
              <a:rPr lang="en-US" sz="950" b="1" dirty="0">
                <a:solidFill>
                  <a:srgbClr val="BFE3F0"/>
                </a:solidFill>
                <a:latin typeface="Calibri" pitchFamily="34" charset="0"/>
                <a:ea typeface="Calibri" pitchFamily="34" charset="-122"/>
                <a:cs typeface="Calibri" pitchFamily="34" charset="-120"/>
              </a:rPr>
              <a:t>GESTIÓN COMERCIAL (KAM SERVICIOS)</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Cristian Silvano Pérez Farias — Ejec. de Servicio</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Eglys Anadris Ramirez Caraballo — Ejec. de Servicio</a:t>
            </a:r>
            <a:endParaRPr lang="en-US" sz="950" dirty="0"/>
          </a:p>
        </p:txBody>
      </p:sp>
      <p:sp>
        <p:nvSpPr>
          <p:cNvPr id="30" name="Shape 14">
            <a:extLst>
              <a:ext uri="{FF2B5EF4-FFF2-40B4-BE49-F238E27FC236}">
                <a16:creationId xmlns:a16="http://schemas.microsoft.com/office/drawing/2014/main" id="{32F7C439-73BF-C6C6-B271-27D03DA9BB10}"/>
              </a:ext>
            </a:extLst>
          </p:cNvPr>
          <p:cNvSpPr/>
          <p:nvPr/>
        </p:nvSpPr>
        <p:spPr>
          <a:xfrm>
            <a:off x="6178144" y="2889849"/>
            <a:ext cx="2697480" cy="960120"/>
          </a:xfrm>
          <a:prstGeom prst="roundRect">
            <a:avLst>
              <a:gd name="adj" fmla="val 4762"/>
            </a:avLst>
          </a:prstGeom>
          <a:solidFill>
            <a:srgbClr val="065A82"/>
          </a:solidFill>
          <a:ln w="12700">
            <a:solidFill>
              <a:srgbClr val="065A82"/>
            </a:solidFill>
            <a:prstDash val="solid"/>
          </a:ln>
          <a:effectLst>
            <a:outerShdw blurRad="63500" dist="25400" dir="2700000" algn="bl" rotWithShape="0">
              <a:srgbClr val="000000">
                <a:alpha val="13000"/>
              </a:srgbClr>
            </a:outerShdw>
          </a:effectLst>
        </p:spPr>
        <p:txBody>
          <a:bodyPr/>
          <a:lstStyle/>
          <a:p>
            <a:endParaRPr lang="es-CL"/>
          </a:p>
        </p:txBody>
      </p:sp>
      <p:sp>
        <p:nvSpPr>
          <p:cNvPr id="32" name="Text 15">
            <a:extLst>
              <a:ext uri="{FF2B5EF4-FFF2-40B4-BE49-F238E27FC236}">
                <a16:creationId xmlns:a16="http://schemas.microsoft.com/office/drawing/2014/main" id="{3E41EF3E-93A6-69BE-097D-1121B7CE4D47}"/>
              </a:ext>
            </a:extLst>
          </p:cNvPr>
          <p:cNvSpPr/>
          <p:nvPr/>
        </p:nvSpPr>
        <p:spPr>
          <a:xfrm>
            <a:off x="6223864" y="2889849"/>
            <a:ext cx="2606040" cy="960120"/>
          </a:xfrm>
          <a:prstGeom prst="rect">
            <a:avLst/>
          </a:prstGeom>
          <a:noFill/>
          <a:ln/>
        </p:spPr>
        <p:txBody>
          <a:bodyPr wrap="square" lIns="25400" tIns="25400" rIns="25400" bIns="25400" rtlCol="0" anchor="ctr"/>
          <a:lstStyle/>
          <a:p>
            <a:pPr marL="0" indent="0" algn="ctr">
              <a:lnSpc>
                <a:spcPct val="105000"/>
              </a:lnSpc>
              <a:buNone/>
            </a:pPr>
            <a:r>
              <a:rPr lang="en-US" sz="950" b="1" dirty="0">
                <a:solidFill>
                  <a:srgbClr val="BFE3F0"/>
                </a:solidFill>
                <a:latin typeface="Calibri" pitchFamily="34" charset="0"/>
                <a:ea typeface="Calibri" pitchFamily="34" charset="-122"/>
                <a:cs typeface="Calibri" pitchFamily="34" charset="-120"/>
              </a:rPr>
              <a:t>ATENCIÓN AL CLIENTE</a:t>
            </a:r>
            <a:endParaRPr lang="en-US" sz="95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Matilde Rebeca Carrillo Castillo</a:t>
            </a:r>
            <a:endParaRPr lang="en-US" sz="950" dirty="0"/>
          </a:p>
          <a:p>
            <a:pPr marL="0" indent="0" algn="ctr">
              <a:lnSpc>
                <a:spcPct val="105000"/>
              </a:lnSpc>
              <a:buNone/>
            </a:pPr>
            <a:r>
              <a:rPr lang="en-US" sz="900" dirty="0">
                <a:solidFill>
                  <a:srgbClr val="FFFFFF"/>
                </a:solidFill>
                <a:latin typeface="Calibri" pitchFamily="34" charset="0"/>
                <a:ea typeface="Calibri" pitchFamily="34" charset="-122"/>
                <a:cs typeface="Calibri" pitchFamily="34" charset="-120"/>
              </a:rPr>
              <a:t>Jefe de Servicio al Cliente</a:t>
            </a:r>
            <a:endParaRPr lang="en-US" sz="950" dirty="0"/>
          </a:p>
        </p:txBody>
      </p:sp>
      <p:sp>
        <p:nvSpPr>
          <p:cNvPr id="34" name="Shape 16">
            <a:extLst>
              <a:ext uri="{FF2B5EF4-FFF2-40B4-BE49-F238E27FC236}">
                <a16:creationId xmlns:a16="http://schemas.microsoft.com/office/drawing/2014/main" id="{FE294074-0527-4980-538B-BE3D6CCB96B3}"/>
              </a:ext>
            </a:extLst>
          </p:cNvPr>
          <p:cNvSpPr/>
          <p:nvPr/>
        </p:nvSpPr>
        <p:spPr>
          <a:xfrm>
            <a:off x="9040216" y="2889849"/>
            <a:ext cx="2697480" cy="960120"/>
          </a:xfrm>
          <a:prstGeom prst="roundRect">
            <a:avLst>
              <a:gd name="adj" fmla="val 4762"/>
            </a:avLst>
          </a:prstGeom>
          <a:solidFill>
            <a:srgbClr val="065A82"/>
          </a:solidFill>
          <a:ln w="12700">
            <a:solidFill>
              <a:srgbClr val="065A82"/>
            </a:solidFill>
            <a:prstDash val="solid"/>
          </a:ln>
          <a:effectLst>
            <a:outerShdw blurRad="63500" dist="25400" dir="2700000" algn="bl" rotWithShape="0">
              <a:srgbClr val="000000">
                <a:alpha val="13000"/>
              </a:srgbClr>
            </a:outerShdw>
          </a:effectLst>
        </p:spPr>
        <p:txBody>
          <a:bodyPr/>
          <a:lstStyle/>
          <a:p>
            <a:endParaRPr lang="es-CL"/>
          </a:p>
        </p:txBody>
      </p:sp>
      <p:sp>
        <p:nvSpPr>
          <p:cNvPr id="36" name="Text 17">
            <a:extLst>
              <a:ext uri="{FF2B5EF4-FFF2-40B4-BE49-F238E27FC236}">
                <a16:creationId xmlns:a16="http://schemas.microsoft.com/office/drawing/2014/main" id="{63795A48-241E-1BE8-6DAC-963F5F6423F9}"/>
              </a:ext>
            </a:extLst>
          </p:cNvPr>
          <p:cNvSpPr/>
          <p:nvPr/>
        </p:nvSpPr>
        <p:spPr>
          <a:xfrm>
            <a:off x="9085936" y="2889849"/>
            <a:ext cx="2606040" cy="960120"/>
          </a:xfrm>
          <a:prstGeom prst="rect">
            <a:avLst/>
          </a:prstGeom>
          <a:noFill/>
          <a:ln/>
        </p:spPr>
        <p:txBody>
          <a:bodyPr wrap="square" lIns="25400" tIns="25400" rIns="25400" bIns="25400" rtlCol="0" anchor="ctr"/>
          <a:lstStyle/>
          <a:p>
            <a:pPr marL="0" indent="0" algn="ctr">
              <a:lnSpc>
                <a:spcPct val="105000"/>
              </a:lnSpc>
              <a:buNone/>
            </a:pPr>
            <a:r>
              <a:rPr lang="en-US" sz="950" b="1" dirty="0">
                <a:solidFill>
                  <a:srgbClr val="BFE3F0"/>
                </a:solidFill>
                <a:latin typeface="Calibri" pitchFamily="34" charset="0"/>
                <a:ea typeface="Calibri" pitchFamily="34" charset="-122"/>
                <a:cs typeface="Calibri" pitchFamily="34" charset="-120"/>
              </a:rPr>
              <a:t>SOPORTE OPERATIVO</a:t>
            </a:r>
            <a:endParaRPr lang="en-US" sz="95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Edson De Morais</a:t>
            </a:r>
            <a:endParaRPr lang="en-US" sz="950" dirty="0"/>
          </a:p>
          <a:p>
            <a:pPr marL="0" indent="0" algn="ctr">
              <a:lnSpc>
                <a:spcPct val="105000"/>
              </a:lnSpc>
              <a:buNone/>
            </a:pPr>
            <a:r>
              <a:rPr lang="en-US" sz="900" dirty="0">
                <a:solidFill>
                  <a:srgbClr val="FFFFFF"/>
                </a:solidFill>
                <a:latin typeface="Calibri" pitchFamily="34" charset="0"/>
                <a:ea typeface="Calibri" pitchFamily="34" charset="-122"/>
                <a:cs typeface="Calibri" pitchFamily="34" charset="-120"/>
              </a:rPr>
              <a:t>Asistente de Coordinación</a:t>
            </a:r>
            <a:endParaRPr lang="en-US" sz="950" dirty="0"/>
          </a:p>
        </p:txBody>
      </p:sp>
      <p:sp>
        <p:nvSpPr>
          <p:cNvPr id="39" name="Shape 18">
            <a:extLst>
              <a:ext uri="{FF2B5EF4-FFF2-40B4-BE49-F238E27FC236}">
                <a16:creationId xmlns:a16="http://schemas.microsoft.com/office/drawing/2014/main" id="{AA6D24C1-70FF-75DB-A788-3AD6FD4DAA41}"/>
              </a:ext>
            </a:extLst>
          </p:cNvPr>
          <p:cNvSpPr/>
          <p:nvPr/>
        </p:nvSpPr>
        <p:spPr>
          <a:xfrm>
            <a:off x="7526884" y="3849969"/>
            <a:ext cx="0" cy="274320"/>
          </a:xfrm>
          <a:prstGeom prst="line">
            <a:avLst/>
          </a:prstGeom>
          <a:noFill/>
          <a:ln w="15875">
            <a:solidFill>
              <a:srgbClr val="94A3B8"/>
            </a:solidFill>
            <a:prstDash val="solid"/>
          </a:ln>
        </p:spPr>
        <p:txBody>
          <a:bodyPr/>
          <a:lstStyle/>
          <a:p>
            <a:endParaRPr lang="es-CL"/>
          </a:p>
        </p:txBody>
      </p:sp>
      <p:sp>
        <p:nvSpPr>
          <p:cNvPr id="41" name="Shape 19">
            <a:extLst>
              <a:ext uri="{FF2B5EF4-FFF2-40B4-BE49-F238E27FC236}">
                <a16:creationId xmlns:a16="http://schemas.microsoft.com/office/drawing/2014/main" id="{8848CC8A-BF8C-DC89-7773-D0B2F8ECAF87}"/>
              </a:ext>
            </a:extLst>
          </p:cNvPr>
          <p:cNvSpPr/>
          <p:nvPr/>
        </p:nvSpPr>
        <p:spPr>
          <a:xfrm>
            <a:off x="1802740" y="4124289"/>
            <a:ext cx="8586216" cy="0"/>
          </a:xfrm>
          <a:prstGeom prst="line">
            <a:avLst/>
          </a:prstGeom>
          <a:noFill/>
          <a:ln w="15875">
            <a:solidFill>
              <a:srgbClr val="94A3B8"/>
            </a:solidFill>
            <a:prstDash val="solid"/>
          </a:ln>
        </p:spPr>
        <p:txBody>
          <a:bodyPr/>
          <a:lstStyle/>
          <a:p>
            <a:endParaRPr lang="es-CL"/>
          </a:p>
        </p:txBody>
      </p:sp>
      <p:sp>
        <p:nvSpPr>
          <p:cNvPr id="44" name="Shape 20">
            <a:extLst>
              <a:ext uri="{FF2B5EF4-FFF2-40B4-BE49-F238E27FC236}">
                <a16:creationId xmlns:a16="http://schemas.microsoft.com/office/drawing/2014/main" id="{78D4A283-2A4B-6F3B-B3C8-C079E070B518}"/>
              </a:ext>
            </a:extLst>
          </p:cNvPr>
          <p:cNvSpPr/>
          <p:nvPr/>
        </p:nvSpPr>
        <p:spPr>
          <a:xfrm>
            <a:off x="1802740" y="4124289"/>
            <a:ext cx="0" cy="182880"/>
          </a:xfrm>
          <a:prstGeom prst="line">
            <a:avLst/>
          </a:prstGeom>
          <a:noFill/>
          <a:ln w="15875">
            <a:solidFill>
              <a:srgbClr val="94A3B8"/>
            </a:solidFill>
            <a:prstDash val="solid"/>
          </a:ln>
        </p:spPr>
        <p:txBody>
          <a:bodyPr/>
          <a:lstStyle/>
          <a:p>
            <a:endParaRPr lang="es-CL"/>
          </a:p>
        </p:txBody>
      </p:sp>
      <p:sp>
        <p:nvSpPr>
          <p:cNvPr id="48" name="Shape 21">
            <a:extLst>
              <a:ext uri="{FF2B5EF4-FFF2-40B4-BE49-F238E27FC236}">
                <a16:creationId xmlns:a16="http://schemas.microsoft.com/office/drawing/2014/main" id="{AC1E6A91-C27D-A9B8-7EFE-6020FB9C56F7}"/>
              </a:ext>
            </a:extLst>
          </p:cNvPr>
          <p:cNvSpPr/>
          <p:nvPr/>
        </p:nvSpPr>
        <p:spPr>
          <a:xfrm>
            <a:off x="4664812" y="4124289"/>
            <a:ext cx="0" cy="182880"/>
          </a:xfrm>
          <a:prstGeom prst="line">
            <a:avLst/>
          </a:prstGeom>
          <a:noFill/>
          <a:ln w="15875">
            <a:solidFill>
              <a:srgbClr val="94A3B8"/>
            </a:solidFill>
            <a:prstDash val="solid"/>
          </a:ln>
        </p:spPr>
        <p:txBody>
          <a:bodyPr/>
          <a:lstStyle/>
          <a:p>
            <a:endParaRPr lang="es-CL"/>
          </a:p>
        </p:txBody>
      </p:sp>
      <p:sp>
        <p:nvSpPr>
          <p:cNvPr id="51" name="Shape 22">
            <a:extLst>
              <a:ext uri="{FF2B5EF4-FFF2-40B4-BE49-F238E27FC236}">
                <a16:creationId xmlns:a16="http://schemas.microsoft.com/office/drawing/2014/main" id="{5FE69BBE-F3F7-84E1-9B4F-AF83EEF02D8B}"/>
              </a:ext>
            </a:extLst>
          </p:cNvPr>
          <p:cNvSpPr/>
          <p:nvPr/>
        </p:nvSpPr>
        <p:spPr>
          <a:xfrm>
            <a:off x="7526884" y="4124289"/>
            <a:ext cx="0" cy="182880"/>
          </a:xfrm>
          <a:prstGeom prst="line">
            <a:avLst/>
          </a:prstGeom>
          <a:noFill/>
          <a:ln w="15875">
            <a:solidFill>
              <a:srgbClr val="94A3B8"/>
            </a:solidFill>
            <a:prstDash val="solid"/>
          </a:ln>
        </p:spPr>
        <p:txBody>
          <a:bodyPr/>
          <a:lstStyle/>
          <a:p>
            <a:endParaRPr lang="es-CL"/>
          </a:p>
        </p:txBody>
      </p:sp>
      <p:sp>
        <p:nvSpPr>
          <p:cNvPr id="53" name="Shape 23">
            <a:extLst>
              <a:ext uri="{FF2B5EF4-FFF2-40B4-BE49-F238E27FC236}">
                <a16:creationId xmlns:a16="http://schemas.microsoft.com/office/drawing/2014/main" id="{00FFD141-1062-B058-8E1D-AAC6EA933FF7}"/>
              </a:ext>
            </a:extLst>
          </p:cNvPr>
          <p:cNvSpPr/>
          <p:nvPr/>
        </p:nvSpPr>
        <p:spPr>
          <a:xfrm>
            <a:off x="10388956" y="4124289"/>
            <a:ext cx="0" cy="182880"/>
          </a:xfrm>
          <a:prstGeom prst="line">
            <a:avLst/>
          </a:prstGeom>
          <a:noFill/>
          <a:ln w="15875">
            <a:solidFill>
              <a:srgbClr val="94A3B8"/>
            </a:solidFill>
            <a:prstDash val="solid"/>
          </a:ln>
        </p:spPr>
        <p:txBody>
          <a:bodyPr/>
          <a:lstStyle/>
          <a:p>
            <a:endParaRPr lang="es-CL"/>
          </a:p>
        </p:txBody>
      </p:sp>
      <p:sp>
        <p:nvSpPr>
          <p:cNvPr id="55" name="Shape 24">
            <a:extLst>
              <a:ext uri="{FF2B5EF4-FFF2-40B4-BE49-F238E27FC236}">
                <a16:creationId xmlns:a16="http://schemas.microsoft.com/office/drawing/2014/main" id="{DEAEF082-5BED-F9FA-6960-9557A44A00E1}"/>
              </a:ext>
            </a:extLst>
          </p:cNvPr>
          <p:cNvSpPr/>
          <p:nvPr/>
        </p:nvSpPr>
        <p:spPr>
          <a:xfrm>
            <a:off x="454000" y="4307169"/>
            <a:ext cx="2697480" cy="1737360"/>
          </a:xfrm>
          <a:prstGeom prst="roundRect">
            <a:avLst>
              <a:gd name="adj" fmla="val 2632"/>
            </a:avLst>
          </a:prstGeom>
          <a:solidFill>
            <a:srgbClr val="1C7293"/>
          </a:solidFill>
          <a:ln w="12700">
            <a:solidFill>
              <a:srgbClr val="1C7293"/>
            </a:solidFill>
            <a:prstDash val="solid"/>
          </a:ln>
          <a:effectLst>
            <a:outerShdw blurRad="63500" dist="25400" dir="2700000" algn="bl" rotWithShape="0">
              <a:srgbClr val="000000">
                <a:alpha val="13000"/>
              </a:srgbClr>
            </a:outerShdw>
          </a:effectLst>
        </p:spPr>
        <p:txBody>
          <a:bodyPr/>
          <a:lstStyle/>
          <a:p>
            <a:endParaRPr lang="es-CL"/>
          </a:p>
        </p:txBody>
      </p:sp>
      <p:sp>
        <p:nvSpPr>
          <p:cNvPr id="57" name="Text 25">
            <a:extLst>
              <a:ext uri="{FF2B5EF4-FFF2-40B4-BE49-F238E27FC236}">
                <a16:creationId xmlns:a16="http://schemas.microsoft.com/office/drawing/2014/main" id="{10DEBCEE-9C9E-5A21-BB8C-7C87026CD23E}"/>
              </a:ext>
            </a:extLst>
          </p:cNvPr>
          <p:cNvSpPr/>
          <p:nvPr/>
        </p:nvSpPr>
        <p:spPr>
          <a:xfrm>
            <a:off x="499720" y="4307169"/>
            <a:ext cx="2606040" cy="1737360"/>
          </a:xfrm>
          <a:prstGeom prst="rect">
            <a:avLst/>
          </a:prstGeom>
          <a:noFill/>
          <a:ln/>
        </p:spPr>
        <p:txBody>
          <a:bodyPr wrap="square" lIns="25400" tIns="25400" rIns="25400" bIns="25400" rtlCol="0" anchor="ctr"/>
          <a:lstStyle/>
          <a:p>
            <a:pPr marL="0" indent="0" algn="ctr">
              <a:lnSpc>
                <a:spcPct val="105000"/>
              </a:lnSpc>
              <a:buNone/>
            </a:pPr>
            <a:r>
              <a:rPr lang="en-US" sz="900" b="1" dirty="0">
                <a:solidFill>
                  <a:srgbClr val="D8F0EC"/>
                </a:solidFill>
                <a:latin typeface="Calibri" pitchFamily="34" charset="0"/>
                <a:ea typeface="Calibri" pitchFamily="34" charset="-122"/>
                <a:cs typeface="Calibri" pitchFamily="34" charset="-120"/>
              </a:rPr>
              <a:t>EQUIPO ATENCIÓN AL CLIENTE</a:t>
            </a:r>
            <a:endParaRPr lang="en-US" sz="900" dirty="0"/>
          </a:p>
          <a:p>
            <a:pPr marL="0" indent="0" algn="ctr">
              <a:lnSpc>
                <a:spcPct val="105000"/>
              </a:lnSpc>
              <a:buNone/>
            </a:pPr>
            <a:r>
              <a:rPr lang="en-US" sz="950" dirty="0">
                <a:solidFill>
                  <a:srgbClr val="FFFFFF"/>
                </a:solidFill>
                <a:latin typeface="Calibri" pitchFamily="34" charset="0"/>
                <a:ea typeface="Calibri" pitchFamily="34" charset="-122"/>
                <a:cs typeface="Calibri" pitchFamily="34" charset="-120"/>
              </a:rPr>
              <a:t>C. Alvarado, P. Guzman,</a:t>
            </a:r>
            <a:endParaRPr lang="en-US" sz="900" dirty="0"/>
          </a:p>
          <a:p>
            <a:pPr marL="0" indent="0" algn="ctr">
              <a:lnSpc>
                <a:spcPct val="105000"/>
              </a:lnSpc>
              <a:buNone/>
            </a:pPr>
            <a:r>
              <a:rPr lang="en-US" sz="950" dirty="0">
                <a:solidFill>
                  <a:srgbClr val="FFFFFF"/>
                </a:solidFill>
                <a:latin typeface="Calibri" pitchFamily="34" charset="0"/>
                <a:ea typeface="Calibri" pitchFamily="34" charset="-122"/>
                <a:cs typeface="Calibri" pitchFamily="34" charset="-120"/>
              </a:rPr>
              <a:t>M.A. Colina, E. Galvez</a:t>
            </a:r>
            <a:endParaRPr lang="en-US" sz="900" dirty="0"/>
          </a:p>
        </p:txBody>
      </p:sp>
      <p:sp>
        <p:nvSpPr>
          <p:cNvPr id="59" name="Shape 26">
            <a:extLst>
              <a:ext uri="{FF2B5EF4-FFF2-40B4-BE49-F238E27FC236}">
                <a16:creationId xmlns:a16="http://schemas.microsoft.com/office/drawing/2014/main" id="{CAFF08C4-1817-FC7B-5642-28A3CB76A416}"/>
              </a:ext>
            </a:extLst>
          </p:cNvPr>
          <p:cNvSpPr/>
          <p:nvPr/>
        </p:nvSpPr>
        <p:spPr>
          <a:xfrm>
            <a:off x="3316072" y="4307169"/>
            <a:ext cx="2697480" cy="1737360"/>
          </a:xfrm>
          <a:prstGeom prst="roundRect">
            <a:avLst>
              <a:gd name="adj" fmla="val 2632"/>
            </a:avLst>
          </a:prstGeom>
          <a:solidFill>
            <a:srgbClr val="1C7293"/>
          </a:solidFill>
          <a:ln w="12700">
            <a:solidFill>
              <a:srgbClr val="1C7293"/>
            </a:solidFill>
            <a:prstDash val="solid"/>
          </a:ln>
          <a:effectLst>
            <a:outerShdw blurRad="63500" dist="25400" dir="2700000" algn="bl" rotWithShape="0">
              <a:srgbClr val="000000">
                <a:alpha val="13000"/>
              </a:srgbClr>
            </a:outerShdw>
          </a:effectLst>
        </p:spPr>
        <p:txBody>
          <a:bodyPr/>
          <a:lstStyle/>
          <a:p>
            <a:endParaRPr lang="es-CL"/>
          </a:p>
        </p:txBody>
      </p:sp>
      <p:sp>
        <p:nvSpPr>
          <p:cNvPr id="61" name="Text 27">
            <a:extLst>
              <a:ext uri="{FF2B5EF4-FFF2-40B4-BE49-F238E27FC236}">
                <a16:creationId xmlns:a16="http://schemas.microsoft.com/office/drawing/2014/main" id="{ED1F9143-51F5-EC65-3468-DBED084B8B15}"/>
              </a:ext>
            </a:extLst>
          </p:cNvPr>
          <p:cNvSpPr/>
          <p:nvPr/>
        </p:nvSpPr>
        <p:spPr>
          <a:xfrm>
            <a:off x="3361792" y="4307169"/>
            <a:ext cx="2606040" cy="1737360"/>
          </a:xfrm>
          <a:prstGeom prst="rect">
            <a:avLst/>
          </a:prstGeom>
          <a:noFill/>
          <a:ln/>
        </p:spPr>
        <p:txBody>
          <a:bodyPr wrap="square" lIns="25400" tIns="25400" rIns="25400" bIns="25400" rtlCol="0" anchor="ctr"/>
          <a:lstStyle/>
          <a:p>
            <a:pPr marL="0" indent="0" algn="ctr">
              <a:lnSpc>
                <a:spcPct val="105000"/>
              </a:lnSpc>
              <a:buNone/>
            </a:pPr>
            <a:r>
              <a:rPr lang="en-US" sz="900" b="1" dirty="0">
                <a:solidFill>
                  <a:srgbClr val="D8F0EC"/>
                </a:solidFill>
                <a:latin typeface="Calibri" pitchFamily="34" charset="0"/>
                <a:ea typeface="Calibri" pitchFamily="34" charset="-122"/>
                <a:cs typeface="Calibri" pitchFamily="34" charset="-120"/>
              </a:rPr>
              <a:t>SUPERVISIÓN TÉCNICA A</a:t>
            </a:r>
            <a:endParaRPr lang="en-US" sz="900" dirty="0"/>
          </a:p>
          <a:p>
            <a:pPr marL="0" indent="0" algn="ctr">
              <a:lnSpc>
                <a:spcPct val="105000"/>
              </a:lnSpc>
              <a:buNone/>
            </a:pPr>
            <a:r>
              <a:rPr lang="en-US" sz="1000" b="1" dirty="0">
                <a:solidFill>
                  <a:srgbClr val="FFFFFF"/>
                </a:solidFill>
                <a:latin typeface="Calibri" pitchFamily="34" charset="0"/>
                <a:ea typeface="Calibri" pitchFamily="34" charset="-122"/>
                <a:cs typeface="Calibri" pitchFamily="34" charset="-120"/>
              </a:rPr>
              <a:t>Jonathan Valerio Sumoza Ávila</a:t>
            </a:r>
            <a:endParaRPr lang="en-US" sz="900" dirty="0"/>
          </a:p>
          <a:p>
            <a:pPr marL="0" indent="0" algn="ctr">
              <a:lnSpc>
                <a:spcPct val="105000"/>
              </a:lnSpc>
              <a:buNone/>
            </a:pPr>
            <a:r>
              <a:rPr lang="en-US" sz="850" dirty="0">
                <a:solidFill>
                  <a:srgbClr val="FFFFFF"/>
                </a:solidFill>
                <a:latin typeface="Calibri" pitchFamily="34" charset="0"/>
                <a:ea typeface="Calibri" pitchFamily="34" charset="-122"/>
                <a:cs typeface="Calibri" pitchFamily="34" charset="-120"/>
              </a:rPr>
              <a:t>Supervisor Técnico</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10 Técnicos: J. Pino, L. Quezada, M. Cerpa,</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I. Muñoz, M. Gutiérrez, P. Esteves, F. Toloza,</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M. Montenegro, I. Miranda, D. Torres</a:t>
            </a:r>
            <a:endParaRPr lang="en-US" sz="900" dirty="0"/>
          </a:p>
        </p:txBody>
      </p:sp>
      <p:sp>
        <p:nvSpPr>
          <p:cNvPr id="63" name="Shape 28">
            <a:extLst>
              <a:ext uri="{FF2B5EF4-FFF2-40B4-BE49-F238E27FC236}">
                <a16:creationId xmlns:a16="http://schemas.microsoft.com/office/drawing/2014/main" id="{FE1F70AB-D825-0A3E-9146-7E2DB9F55B3C}"/>
              </a:ext>
            </a:extLst>
          </p:cNvPr>
          <p:cNvSpPr/>
          <p:nvPr/>
        </p:nvSpPr>
        <p:spPr>
          <a:xfrm>
            <a:off x="6178144" y="4307169"/>
            <a:ext cx="2697480" cy="1737360"/>
          </a:xfrm>
          <a:prstGeom prst="roundRect">
            <a:avLst>
              <a:gd name="adj" fmla="val 2632"/>
            </a:avLst>
          </a:prstGeom>
          <a:solidFill>
            <a:srgbClr val="1C7293"/>
          </a:solidFill>
          <a:ln w="12700">
            <a:solidFill>
              <a:srgbClr val="1C7293"/>
            </a:solidFill>
            <a:prstDash val="solid"/>
          </a:ln>
          <a:effectLst>
            <a:outerShdw blurRad="63500" dist="25400" dir="2700000" algn="bl" rotWithShape="0">
              <a:srgbClr val="000000">
                <a:alpha val="13000"/>
              </a:srgbClr>
            </a:outerShdw>
          </a:effectLst>
        </p:spPr>
        <p:txBody>
          <a:bodyPr/>
          <a:lstStyle/>
          <a:p>
            <a:endParaRPr lang="es-CL"/>
          </a:p>
        </p:txBody>
      </p:sp>
      <p:sp>
        <p:nvSpPr>
          <p:cNvPr id="65" name="Text 29">
            <a:extLst>
              <a:ext uri="{FF2B5EF4-FFF2-40B4-BE49-F238E27FC236}">
                <a16:creationId xmlns:a16="http://schemas.microsoft.com/office/drawing/2014/main" id="{8DE0A9DF-4040-6223-A292-66885CF71E05}"/>
              </a:ext>
            </a:extLst>
          </p:cNvPr>
          <p:cNvSpPr/>
          <p:nvPr/>
        </p:nvSpPr>
        <p:spPr>
          <a:xfrm>
            <a:off x="6223864" y="4307169"/>
            <a:ext cx="2606040" cy="1737360"/>
          </a:xfrm>
          <a:prstGeom prst="rect">
            <a:avLst/>
          </a:prstGeom>
          <a:noFill/>
          <a:ln/>
        </p:spPr>
        <p:txBody>
          <a:bodyPr wrap="square" lIns="25400" tIns="25400" rIns="25400" bIns="25400" rtlCol="0" anchor="ctr"/>
          <a:lstStyle/>
          <a:p>
            <a:pPr marL="0" indent="0" algn="ctr">
              <a:lnSpc>
                <a:spcPct val="105000"/>
              </a:lnSpc>
              <a:buNone/>
            </a:pPr>
            <a:r>
              <a:rPr lang="en-US" sz="900" b="1" dirty="0">
                <a:solidFill>
                  <a:srgbClr val="D8F0EC"/>
                </a:solidFill>
                <a:latin typeface="Calibri" pitchFamily="34" charset="0"/>
                <a:ea typeface="Calibri" pitchFamily="34" charset="-122"/>
                <a:cs typeface="Calibri" pitchFamily="34" charset="-120"/>
              </a:rPr>
              <a:t>SUPERVISIÓN TÉCNICA B</a:t>
            </a:r>
            <a:endParaRPr lang="en-US" sz="900" dirty="0"/>
          </a:p>
          <a:p>
            <a:pPr marL="0" indent="0" algn="ctr">
              <a:lnSpc>
                <a:spcPct val="105000"/>
              </a:lnSpc>
              <a:buNone/>
            </a:pPr>
            <a:r>
              <a:rPr lang="en-US" sz="1000" b="1" dirty="0">
                <a:solidFill>
                  <a:srgbClr val="FFFFFF"/>
                </a:solidFill>
                <a:latin typeface="Calibri" pitchFamily="34" charset="0"/>
                <a:ea typeface="Calibri" pitchFamily="34" charset="-122"/>
                <a:cs typeface="Calibri" pitchFamily="34" charset="-120"/>
              </a:rPr>
              <a:t>Cristian Rohr Toro</a:t>
            </a:r>
            <a:endParaRPr lang="en-US" sz="900" dirty="0"/>
          </a:p>
          <a:p>
            <a:pPr marL="0" indent="0" algn="ctr">
              <a:lnSpc>
                <a:spcPct val="105000"/>
              </a:lnSpc>
              <a:buNone/>
            </a:pPr>
            <a:r>
              <a:rPr lang="en-US" sz="850" dirty="0">
                <a:solidFill>
                  <a:srgbClr val="FFFFFF"/>
                </a:solidFill>
                <a:latin typeface="Calibri" pitchFamily="34" charset="0"/>
                <a:ea typeface="Calibri" pitchFamily="34" charset="-122"/>
                <a:cs typeface="Calibri" pitchFamily="34" charset="-120"/>
              </a:rPr>
              <a:t>Supervisor Técnico</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9 Técnicos: R. Leiva, E. Valle, C. Castro,</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A. Labado, N. Rodríguez</a:t>
            </a:r>
            <a:r>
              <a:rPr lang="en-US" sz="800" b="1" dirty="0">
                <a:solidFill>
                  <a:srgbClr val="FF0000"/>
                </a:solidFill>
                <a:latin typeface="Calibri" pitchFamily="34" charset="0"/>
                <a:ea typeface="Calibri" pitchFamily="34" charset="-122"/>
                <a:cs typeface="Calibri" pitchFamily="34" charset="-120"/>
              </a:rPr>
              <a:t>, T. Rojas</a:t>
            </a:r>
            <a:r>
              <a:rPr lang="en-US" sz="800" dirty="0">
                <a:solidFill>
                  <a:srgbClr val="FFFFFF"/>
                </a:solidFill>
                <a:latin typeface="Calibri" pitchFamily="34" charset="0"/>
                <a:ea typeface="Calibri" pitchFamily="34" charset="-122"/>
                <a:cs typeface="Calibri" pitchFamily="34" charset="-120"/>
              </a:rPr>
              <a:t>,</a:t>
            </a:r>
            <a:endParaRPr lang="en-US" sz="900" dirty="0"/>
          </a:p>
          <a:p>
            <a:pPr marL="0" indent="0" algn="ctr">
              <a:lnSpc>
                <a:spcPct val="105000"/>
              </a:lnSpc>
              <a:buNone/>
            </a:pPr>
            <a:r>
              <a:rPr lang="en-US" sz="800" dirty="0">
                <a:solidFill>
                  <a:srgbClr val="FFFFFF"/>
                </a:solidFill>
                <a:latin typeface="Calibri" pitchFamily="34" charset="0"/>
                <a:ea typeface="Calibri" pitchFamily="34" charset="-122"/>
                <a:cs typeface="Calibri" pitchFamily="34" charset="-120"/>
              </a:rPr>
              <a:t>A. Arnaiz, E. Acevedo, C. Mayorga</a:t>
            </a:r>
            <a:endParaRPr lang="en-US" sz="900" dirty="0"/>
          </a:p>
        </p:txBody>
      </p:sp>
      <p:sp>
        <p:nvSpPr>
          <p:cNvPr id="67" name="Shape 30">
            <a:extLst>
              <a:ext uri="{FF2B5EF4-FFF2-40B4-BE49-F238E27FC236}">
                <a16:creationId xmlns:a16="http://schemas.microsoft.com/office/drawing/2014/main" id="{C5A983CA-7E74-6DEC-0E45-8760E95DE81D}"/>
              </a:ext>
            </a:extLst>
          </p:cNvPr>
          <p:cNvSpPr/>
          <p:nvPr/>
        </p:nvSpPr>
        <p:spPr>
          <a:xfrm>
            <a:off x="9040216" y="4307169"/>
            <a:ext cx="2697480" cy="1737360"/>
          </a:xfrm>
          <a:prstGeom prst="roundRect">
            <a:avLst>
              <a:gd name="adj" fmla="val 2632"/>
            </a:avLst>
          </a:prstGeom>
          <a:solidFill>
            <a:srgbClr val="1C7293"/>
          </a:solidFill>
          <a:ln w="12700">
            <a:solidFill>
              <a:srgbClr val="1C7293"/>
            </a:solidFill>
            <a:prstDash val="solid"/>
          </a:ln>
          <a:effectLst>
            <a:outerShdw blurRad="63500" dist="25400" dir="2700000" algn="bl" rotWithShape="0">
              <a:srgbClr val="000000">
                <a:alpha val="13000"/>
              </a:srgbClr>
            </a:outerShdw>
          </a:effectLst>
        </p:spPr>
        <p:txBody>
          <a:bodyPr/>
          <a:lstStyle/>
          <a:p>
            <a:endParaRPr lang="es-CL"/>
          </a:p>
        </p:txBody>
      </p:sp>
      <p:sp>
        <p:nvSpPr>
          <p:cNvPr id="69" name="Text 31">
            <a:extLst>
              <a:ext uri="{FF2B5EF4-FFF2-40B4-BE49-F238E27FC236}">
                <a16:creationId xmlns:a16="http://schemas.microsoft.com/office/drawing/2014/main" id="{E9CF466D-6766-2975-F28B-89D210936F46}"/>
              </a:ext>
            </a:extLst>
          </p:cNvPr>
          <p:cNvSpPr/>
          <p:nvPr/>
        </p:nvSpPr>
        <p:spPr>
          <a:xfrm>
            <a:off x="9085936" y="4307169"/>
            <a:ext cx="2606040" cy="1737360"/>
          </a:xfrm>
          <a:prstGeom prst="rect">
            <a:avLst/>
          </a:prstGeom>
          <a:noFill/>
          <a:ln/>
        </p:spPr>
        <p:txBody>
          <a:bodyPr wrap="square" lIns="25400" tIns="25400" rIns="25400" bIns="25400" rtlCol="0" anchor="ctr"/>
          <a:lstStyle/>
          <a:p>
            <a:pPr marL="0" indent="0" algn="ctr">
              <a:lnSpc>
                <a:spcPct val="105000"/>
              </a:lnSpc>
              <a:buNone/>
            </a:pPr>
            <a:r>
              <a:rPr lang="en-US" sz="900" b="1" dirty="0">
                <a:solidFill>
                  <a:srgbClr val="D8F0EC"/>
                </a:solidFill>
                <a:latin typeface="Calibri" pitchFamily="34" charset="0"/>
                <a:ea typeface="Calibri" pitchFamily="34" charset="-122"/>
                <a:cs typeface="Calibri" pitchFamily="34" charset="-120"/>
              </a:rPr>
              <a:t>ESPECIALIDAD ENDOSCOPIA</a:t>
            </a:r>
            <a:endParaRPr lang="en-US" sz="900" dirty="0"/>
          </a:p>
          <a:p>
            <a:pPr marL="0" indent="0" algn="ctr">
              <a:lnSpc>
                <a:spcPct val="105000"/>
              </a:lnSpc>
              <a:buNone/>
            </a:pPr>
            <a:r>
              <a:rPr lang="en-US" sz="950" dirty="0">
                <a:solidFill>
                  <a:srgbClr val="FFFFFF"/>
                </a:solidFill>
                <a:latin typeface="Calibri" pitchFamily="34" charset="0"/>
                <a:ea typeface="Calibri" pitchFamily="34" charset="-122"/>
                <a:cs typeface="Calibri" pitchFamily="34" charset="-120"/>
              </a:rPr>
              <a:t>G. Farias, N. Martinez,</a:t>
            </a:r>
            <a:endParaRPr lang="en-US" sz="900" dirty="0"/>
          </a:p>
          <a:p>
            <a:pPr marL="0" indent="0" algn="ctr">
              <a:lnSpc>
                <a:spcPct val="105000"/>
              </a:lnSpc>
              <a:buNone/>
            </a:pPr>
            <a:r>
              <a:rPr lang="en-US" sz="950" dirty="0">
                <a:solidFill>
                  <a:srgbClr val="FFFFFF"/>
                </a:solidFill>
                <a:latin typeface="Calibri" pitchFamily="34" charset="0"/>
                <a:ea typeface="Calibri" pitchFamily="34" charset="-122"/>
                <a:cs typeface="Calibri" pitchFamily="34" charset="-120"/>
              </a:rPr>
              <a:t>K. Castillo</a:t>
            </a:r>
            <a:endParaRPr lang="en-US" sz="900" dirty="0"/>
          </a:p>
        </p:txBody>
      </p:sp>
      <p:sp>
        <p:nvSpPr>
          <p:cNvPr id="71" name="Shape 14">
            <a:extLst>
              <a:ext uri="{FF2B5EF4-FFF2-40B4-BE49-F238E27FC236}">
                <a16:creationId xmlns:a16="http://schemas.microsoft.com/office/drawing/2014/main" id="{861C1C81-134E-DAFF-E23E-CC661B011E2A}"/>
              </a:ext>
            </a:extLst>
          </p:cNvPr>
          <p:cNvSpPr/>
          <p:nvPr/>
        </p:nvSpPr>
        <p:spPr>
          <a:xfrm>
            <a:off x="4810504" y="1862443"/>
            <a:ext cx="2697480" cy="661646"/>
          </a:xfrm>
          <a:prstGeom prst="roundRect">
            <a:avLst>
              <a:gd name="adj" fmla="val 4762"/>
            </a:avLst>
          </a:prstGeom>
          <a:solidFill>
            <a:srgbClr val="065A82"/>
          </a:solidFill>
          <a:ln w="12700">
            <a:solidFill>
              <a:srgbClr val="065A82"/>
            </a:solidFill>
            <a:prstDash val="solid"/>
          </a:ln>
          <a:effectLst>
            <a:outerShdw blurRad="63500" dist="25400" dir="2700000" algn="bl" rotWithShape="0">
              <a:srgbClr val="000000">
                <a:alpha val="13000"/>
              </a:srgbClr>
            </a:outerShdw>
          </a:effectLst>
        </p:spPr>
        <p:txBody>
          <a:bodyPr anchor="ctr"/>
          <a:lstStyle/>
          <a:p>
            <a:pPr algn="ctr">
              <a:lnSpc>
                <a:spcPct val="105000"/>
              </a:lnSpc>
            </a:pPr>
            <a:r>
              <a:rPr lang="en-US" sz="1150" b="1" dirty="0">
                <a:solidFill>
                  <a:srgbClr val="BFE3F0"/>
                </a:solidFill>
                <a:latin typeface="Calibri" pitchFamily="34" charset="0"/>
                <a:ea typeface="Calibri" pitchFamily="34" charset="-122"/>
                <a:cs typeface="Calibri" pitchFamily="34" charset="-120"/>
              </a:rPr>
              <a:t>Alexis Flores — Sub </a:t>
            </a:r>
            <a:r>
              <a:rPr lang="en-US" sz="1150" b="1" dirty="0" err="1">
                <a:solidFill>
                  <a:srgbClr val="BFE3F0"/>
                </a:solidFill>
                <a:latin typeface="Calibri" pitchFamily="34" charset="0"/>
                <a:ea typeface="Calibri" pitchFamily="34" charset="-122"/>
                <a:cs typeface="Calibri" pitchFamily="34" charset="-120"/>
              </a:rPr>
              <a:t>Gerente</a:t>
            </a:r>
            <a:r>
              <a:rPr lang="en-US" sz="1150" b="1" dirty="0">
                <a:solidFill>
                  <a:srgbClr val="BFE3F0"/>
                </a:solidFill>
                <a:latin typeface="Calibri" pitchFamily="34" charset="0"/>
                <a:ea typeface="Calibri" pitchFamily="34" charset="-122"/>
                <a:cs typeface="Calibri" pitchFamily="34" charset="-120"/>
              </a:rPr>
              <a:t> Técnico</a:t>
            </a:r>
          </a:p>
        </p:txBody>
      </p:sp>
      <p:sp>
        <p:nvSpPr>
          <p:cNvPr id="73" name="Shape 4">
            <a:extLst>
              <a:ext uri="{FF2B5EF4-FFF2-40B4-BE49-F238E27FC236}">
                <a16:creationId xmlns:a16="http://schemas.microsoft.com/office/drawing/2014/main" id="{1FB16D96-A5E0-E0D8-42F4-1D33E0F0D0CB}"/>
              </a:ext>
            </a:extLst>
          </p:cNvPr>
          <p:cNvSpPr/>
          <p:nvPr/>
        </p:nvSpPr>
        <p:spPr>
          <a:xfrm>
            <a:off x="6095848" y="1588123"/>
            <a:ext cx="0" cy="274320"/>
          </a:xfrm>
          <a:prstGeom prst="line">
            <a:avLst/>
          </a:prstGeom>
          <a:noFill/>
          <a:ln w="15875">
            <a:solidFill>
              <a:srgbClr val="94A3B8"/>
            </a:solidFill>
            <a:prstDash val="solid"/>
          </a:ln>
        </p:spPr>
        <p:txBody>
          <a:bodyPr/>
          <a:lstStyle/>
          <a:p>
            <a:endParaRPr lang="es-CL"/>
          </a:p>
        </p:txBody>
      </p:sp>
    </p:spTree>
    <p:extLst>
      <p:ext uri="{BB962C8B-B14F-4D97-AF65-F5344CB8AC3E}">
        <p14:creationId xmlns:p14="http://schemas.microsoft.com/office/powerpoint/2010/main" val="507525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274320" y="45720"/>
            <a:ext cx="11640312" cy="274320"/>
          </a:xfrm>
          <a:prstGeom prst="rect">
            <a:avLst/>
          </a:prstGeom>
          <a:noFill/>
          <a:ln/>
        </p:spPr>
        <p:txBody>
          <a:bodyPr wrap="square" lIns="0" tIns="0" rIns="0" bIns="0" rtlCol="0" anchor="ctr"/>
          <a:lstStyle/>
          <a:p>
            <a:pPr marL="0" indent="0" algn="ctr">
              <a:buNone/>
            </a:pPr>
            <a:r>
              <a:rPr lang="en-US" sz="1700" b="1" dirty="0">
                <a:solidFill>
                  <a:srgbClr val="303640"/>
                </a:solidFill>
                <a:latin typeface="Calibri" pitchFamily="34" charset="0"/>
                <a:ea typeface="Calibri" pitchFamily="34" charset="-122"/>
                <a:cs typeface="Calibri" pitchFamily="34" charset="-120"/>
              </a:rPr>
              <a:t>Flujo de Atención al Cliente — Servicio Técnico</a:t>
            </a:r>
            <a:endParaRPr lang="en-US" sz="1700" dirty="0"/>
          </a:p>
        </p:txBody>
      </p:sp>
      <p:sp>
        <p:nvSpPr>
          <p:cNvPr id="3" name="Shape 1"/>
          <p:cNvSpPr/>
          <p:nvPr/>
        </p:nvSpPr>
        <p:spPr>
          <a:xfrm>
            <a:off x="3657600" y="374904"/>
            <a:ext cx="182880" cy="137160"/>
          </a:xfrm>
          <a:prstGeom prst="roundRect">
            <a:avLst>
              <a:gd name="adj" fmla="val 26667"/>
            </a:avLst>
          </a:prstGeom>
          <a:solidFill>
            <a:srgbClr val="303640"/>
          </a:solidFill>
          <a:ln/>
        </p:spPr>
        <p:txBody>
          <a:bodyPr/>
          <a:lstStyle/>
          <a:p>
            <a:endParaRPr lang="es-CL"/>
          </a:p>
        </p:txBody>
      </p:sp>
      <p:sp>
        <p:nvSpPr>
          <p:cNvPr id="4" name="Text 2"/>
          <p:cNvSpPr/>
          <p:nvPr/>
        </p:nvSpPr>
        <p:spPr>
          <a:xfrm>
            <a:off x="3877056" y="329184"/>
            <a:ext cx="548640" cy="201168"/>
          </a:xfrm>
          <a:prstGeom prst="rect">
            <a:avLst/>
          </a:prstGeom>
          <a:noFill/>
          <a:ln/>
        </p:spPr>
        <p:txBody>
          <a:bodyPr wrap="square" lIns="0" tIns="0" rIns="0" bIns="0" rtlCol="0" anchor="ctr"/>
          <a:lstStyle/>
          <a:p>
            <a:pPr marL="0" indent="0">
              <a:buNone/>
            </a:pPr>
            <a:r>
              <a:rPr lang="en-US" sz="750" dirty="0">
                <a:solidFill>
                  <a:srgbClr val="2A2E36"/>
                </a:solidFill>
                <a:latin typeface="Calibri" pitchFamily="34" charset="0"/>
                <a:ea typeface="Calibri" pitchFamily="34" charset="-122"/>
                <a:cs typeface="Calibri" pitchFamily="34" charset="-120"/>
              </a:rPr>
              <a:t>Paso</a:t>
            </a:r>
            <a:endParaRPr lang="en-US" sz="750" dirty="0"/>
          </a:p>
        </p:txBody>
      </p:sp>
      <p:sp>
        <p:nvSpPr>
          <p:cNvPr id="5" name="Shape 3"/>
          <p:cNvSpPr/>
          <p:nvPr/>
        </p:nvSpPr>
        <p:spPr>
          <a:xfrm>
            <a:off x="4572000" y="338328"/>
            <a:ext cx="201168" cy="201168"/>
          </a:xfrm>
          <a:prstGeom prst="diamond">
            <a:avLst/>
          </a:prstGeom>
          <a:solidFill>
            <a:srgbClr val="303640"/>
          </a:solidFill>
          <a:ln/>
        </p:spPr>
        <p:txBody>
          <a:bodyPr/>
          <a:lstStyle/>
          <a:p>
            <a:endParaRPr lang="es-CL"/>
          </a:p>
        </p:txBody>
      </p:sp>
      <p:sp>
        <p:nvSpPr>
          <p:cNvPr id="6" name="Text 4"/>
          <p:cNvSpPr/>
          <p:nvPr/>
        </p:nvSpPr>
        <p:spPr>
          <a:xfrm>
            <a:off x="4809744" y="329184"/>
            <a:ext cx="731520" cy="201168"/>
          </a:xfrm>
          <a:prstGeom prst="rect">
            <a:avLst/>
          </a:prstGeom>
          <a:noFill/>
          <a:ln/>
        </p:spPr>
        <p:txBody>
          <a:bodyPr wrap="square" lIns="0" tIns="0" rIns="0" bIns="0" rtlCol="0" anchor="ctr"/>
          <a:lstStyle/>
          <a:p>
            <a:pPr marL="0" indent="0">
              <a:buNone/>
            </a:pPr>
            <a:r>
              <a:rPr lang="en-US" sz="750" dirty="0">
                <a:solidFill>
                  <a:srgbClr val="2A2E36"/>
                </a:solidFill>
                <a:latin typeface="Calibri" pitchFamily="34" charset="0"/>
                <a:ea typeface="Calibri" pitchFamily="34" charset="-122"/>
                <a:cs typeface="Calibri" pitchFamily="34" charset="-120"/>
              </a:rPr>
              <a:t>Decisión</a:t>
            </a:r>
            <a:endParaRPr lang="en-US" sz="750" dirty="0"/>
          </a:p>
        </p:txBody>
      </p:sp>
      <p:sp>
        <p:nvSpPr>
          <p:cNvPr id="7" name="Shape 5"/>
          <p:cNvSpPr/>
          <p:nvPr/>
        </p:nvSpPr>
        <p:spPr>
          <a:xfrm>
            <a:off x="5669280" y="374904"/>
            <a:ext cx="274320" cy="137160"/>
          </a:xfrm>
          <a:prstGeom prst="roundRect">
            <a:avLst>
              <a:gd name="adj" fmla="val 46667"/>
            </a:avLst>
          </a:prstGeom>
          <a:solidFill>
            <a:srgbClr val="3AD1D1"/>
          </a:solidFill>
          <a:ln/>
        </p:spPr>
        <p:txBody>
          <a:bodyPr/>
          <a:lstStyle/>
          <a:p>
            <a:endParaRPr lang="es-CL"/>
          </a:p>
        </p:txBody>
      </p:sp>
      <p:sp>
        <p:nvSpPr>
          <p:cNvPr id="8" name="Text 6"/>
          <p:cNvSpPr/>
          <p:nvPr/>
        </p:nvSpPr>
        <p:spPr>
          <a:xfrm>
            <a:off x="5989320" y="329184"/>
            <a:ext cx="1920240" cy="201168"/>
          </a:xfrm>
          <a:prstGeom prst="rect">
            <a:avLst/>
          </a:prstGeom>
          <a:noFill/>
          <a:ln/>
        </p:spPr>
        <p:txBody>
          <a:bodyPr wrap="square" lIns="0" tIns="0" rIns="0" bIns="0" rtlCol="0" anchor="ctr"/>
          <a:lstStyle/>
          <a:p>
            <a:pPr marL="0" indent="0">
              <a:buNone/>
            </a:pPr>
            <a:r>
              <a:rPr lang="en-US" sz="750" dirty="0">
                <a:solidFill>
                  <a:srgbClr val="2A2E36"/>
                </a:solidFill>
                <a:latin typeface="Calibri" pitchFamily="34" charset="0"/>
                <a:ea typeface="Calibri" pitchFamily="34" charset="-122"/>
                <a:cs typeface="Calibri" pitchFamily="34" charset="-120"/>
              </a:rPr>
              <a:t>SLA / tiempo de respuesta</a:t>
            </a:r>
            <a:endParaRPr lang="en-US" sz="750" dirty="0"/>
          </a:p>
        </p:txBody>
      </p:sp>
      <p:sp>
        <p:nvSpPr>
          <p:cNvPr id="9" name="Shape 7"/>
          <p:cNvSpPr/>
          <p:nvPr/>
        </p:nvSpPr>
        <p:spPr>
          <a:xfrm>
            <a:off x="274320" y="768096"/>
            <a:ext cx="914400" cy="457200"/>
          </a:xfrm>
          <a:prstGeom prst="ellipse">
            <a:avLst/>
          </a:prstGeom>
          <a:solidFill>
            <a:srgbClr val="303640"/>
          </a:solidFill>
          <a:ln w="1397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10" name="Text 8"/>
          <p:cNvSpPr/>
          <p:nvPr/>
        </p:nvSpPr>
        <p:spPr>
          <a:xfrm>
            <a:off x="274320" y="768096"/>
            <a:ext cx="9144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INICIO</a:t>
            </a:r>
            <a:endParaRPr lang="en-US" sz="900" dirty="0"/>
          </a:p>
        </p:txBody>
      </p:sp>
      <p:sp>
        <p:nvSpPr>
          <p:cNvPr id="11" name="Shape 9"/>
          <p:cNvSpPr/>
          <p:nvPr/>
        </p:nvSpPr>
        <p:spPr>
          <a:xfrm>
            <a:off x="1188720" y="996696"/>
            <a:ext cx="182880" cy="0"/>
          </a:xfrm>
          <a:prstGeom prst="line">
            <a:avLst/>
          </a:prstGeom>
          <a:noFill/>
          <a:ln w="19050">
            <a:solidFill>
              <a:srgbClr val="303640"/>
            </a:solidFill>
            <a:prstDash val="solid"/>
            <a:tailEnd type="triangle"/>
          </a:ln>
        </p:spPr>
        <p:txBody>
          <a:bodyPr/>
          <a:lstStyle/>
          <a:p>
            <a:endParaRPr lang="es-CL"/>
          </a:p>
        </p:txBody>
      </p:sp>
      <p:sp>
        <p:nvSpPr>
          <p:cNvPr id="12" name="Shape 10"/>
          <p:cNvSpPr/>
          <p:nvPr/>
        </p:nvSpPr>
        <p:spPr>
          <a:xfrm>
            <a:off x="1371600" y="658368"/>
            <a:ext cx="2286000" cy="475488"/>
          </a:xfrm>
          <a:prstGeom prst="roundRect">
            <a:avLst>
              <a:gd name="adj" fmla="val 6316"/>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13" name="Text 11"/>
          <p:cNvSpPr/>
          <p:nvPr/>
        </p:nvSpPr>
        <p:spPr>
          <a:xfrm>
            <a:off x="1463040" y="704088"/>
            <a:ext cx="2103120" cy="777240"/>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1. Recepción de requerimiento</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Asistente recibe el caso en Salesforce (mail/fono) y asigna Coordinador.</a:t>
            </a:r>
            <a:endParaRPr lang="en-US" sz="840" dirty="0"/>
          </a:p>
        </p:txBody>
      </p:sp>
      <p:sp>
        <p:nvSpPr>
          <p:cNvPr id="14" name="Shape 12"/>
          <p:cNvSpPr/>
          <p:nvPr/>
        </p:nvSpPr>
        <p:spPr>
          <a:xfrm>
            <a:off x="2971800" y="411480"/>
            <a:ext cx="685800"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15" name="Text 13"/>
          <p:cNvSpPr/>
          <p:nvPr/>
        </p:nvSpPr>
        <p:spPr>
          <a:xfrm>
            <a:off x="2971800" y="411480"/>
            <a:ext cx="685800"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60 min</a:t>
            </a:r>
            <a:endParaRPr lang="en-US" sz="760" dirty="0"/>
          </a:p>
        </p:txBody>
      </p:sp>
      <p:sp>
        <p:nvSpPr>
          <p:cNvPr id="16" name="Shape 14"/>
          <p:cNvSpPr/>
          <p:nvPr/>
        </p:nvSpPr>
        <p:spPr>
          <a:xfrm>
            <a:off x="3657600" y="996696"/>
            <a:ext cx="182880" cy="0"/>
          </a:xfrm>
          <a:prstGeom prst="line">
            <a:avLst/>
          </a:prstGeom>
          <a:noFill/>
          <a:ln w="19050">
            <a:solidFill>
              <a:srgbClr val="303640"/>
            </a:solidFill>
            <a:prstDash val="solid"/>
            <a:tailEnd type="triangle"/>
          </a:ln>
        </p:spPr>
        <p:txBody>
          <a:bodyPr/>
          <a:lstStyle/>
          <a:p>
            <a:endParaRPr lang="es-CL"/>
          </a:p>
        </p:txBody>
      </p:sp>
      <p:sp>
        <p:nvSpPr>
          <p:cNvPr id="17" name="Shape 15"/>
          <p:cNvSpPr/>
          <p:nvPr/>
        </p:nvSpPr>
        <p:spPr>
          <a:xfrm>
            <a:off x="3840480" y="566928"/>
            <a:ext cx="1554480" cy="960120"/>
          </a:xfrm>
          <a:prstGeom prst="diamond">
            <a:avLst/>
          </a:prstGeom>
          <a:solidFill>
            <a:srgbClr val="303640"/>
          </a:solidFill>
          <a:ln w="15875">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18" name="Text 16"/>
          <p:cNvSpPr/>
          <p:nvPr/>
        </p:nvSpPr>
        <p:spPr>
          <a:xfrm>
            <a:off x="3895344" y="621792"/>
            <a:ext cx="1444752" cy="850392"/>
          </a:xfrm>
          <a:prstGeom prst="rect">
            <a:avLst/>
          </a:prstGeom>
          <a:noFill/>
          <a:ln/>
        </p:spPr>
        <p:txBody>
          <a:bodyPr wrap="square" lIns="0" tIns="0" rIns="0" bIns="0" rtlCol="0" anchor="ctr"/>
          <a:lstStyle/>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¿Solicitud de</a:t>
            </a:r>
            <a:endParaRPr lang="en-US" sz="760" dirty="0"/>
          </a:p>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visita técnica?</a:t>
            </a:r>
            <a:endParaRPr lang="en-US" sz="760" dirty="0"/>
          </a:p>
        </p:txBody>
      </p:sp>
      <p:sp>
        <p:nvSpPr>
          <p:cNvPr id="19" name="Shape 17"/>
          <p:cNvSpPr/>
          <p:nvPr/>
        </p:nvSpPr>
        <p:spPr>
          <a:xfrm>
            <a:off x="5120640" y="1042416"/>
            <a:ext cx="3383280" cy="0"/>
          </a:xfrm>
          <a:prstGeom prst="line">
            <a:avLst/>
          </a:prstGeom>
          <a:noFill/>
          <a:ln w="19050">
            <a:solidFill>
              <a:srgbClr val="303640"/>
            </a:solidFill>
            <a:prstDash val="solid"/>
          </a:ln>
        </p:spPr>
        <p:txBody>
          <a:bodyPr/>
          <a:lstStyle/>
          <a:p>
            <a:endParaRPr lang="es-CL"/>
          </a:p>
        </p:txBody>
      </p:sp>
      <p:sp>
        <p:nvSpPr>
          <p:cNvPr id="20" name="Shape 18"/>
          <p:cNvSpPr/>
          <p:nvPr/>
        </p:nvSpPr>
        <p:spPr>
          <a:xfrm>
            <a:off x="8503920" y="1042416"/>
            <a:ext cx="0" cy="768096"/>
          </a:xfrm>
          <a:prstGeom prst="line">
            <a:avLst/>
          </a:prstGeom>
          <a:noFill/>
          <a:ln w="19050">
            <a:solidFill>
              <a:srgbClr val="303640"/>
            </a:solidFill>
            <a:prstDash val="solid"/>
            <a:tailEnd type="triangle"/>
          </a:ln>
        </p:spPr>
        <p:txBody>
          <a:bodyPr/>
          <a:lstStyle/>
          <a:p>
            <a:endParaRPr lang="es-CL"/>
          </a:p>
        </p:txBody>
      </p:sp>
      <p:sp>
        <p:nvSpPr>
          <p:cNvPr id="21" name="Shape 19"/>
          <p:cNvSpPr/>
          <p:nvPr/>
        </p:nvSpPr>
        <p:spPr>
          <a:xfrm>
            <a:off x="8275320" y="1307592"/>
            <a:ext cx="365760" cy="219456"/>
          </a:xfrm>
          <a:prstGeom prst="roundRect">
            <a:avLst>
              <a:gd name="adj" fmla="val 25000"/>
            </a:avLst>
          </a:prstGeom>
          <a:solidFill>
            <a:srgbClr val="3AD1D1"/>
          </a:solidFill>
          <a:ln/>
        </p:spPr>
        <p:txBody>
          <a:bodyPr/>
          <a:lstStyle/>
          <a:p>
            <a:endParaRPr lang="es-CL"/>
          </a:p>
        </p:txBody>
      </p:sp>
      <p:sp>
        <p:nvSpPr>
          <p:cNvPr id="22" name="Text 20"/>
          <p:cNvSpPr/>
          <p:nvPr/>
        </p:nvSpPr>
        <p:spPr>
          <a:xfrm>
            <a:off x="8275320" y="1307592"/>
            <a:ext cx="365760" cy="219456"/>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SÍ</a:t>
            </a:r>
            <a:endParaRPr lang="en-US" sz="850" dirty="0"/>
          </a:p>
        </p:txBody>
      </p:sp>
      <p:sp>
        <p:nvSpPr>
          <p:cNvPr id="23" name="Shape 21"/>
          <p:cNvSpPr/>
          <p:nvPr/>
        </p:nvSpPr>
        <p:spPr>
          <a:xfrm>
            <a:off x="960120" y="1225296"/>
            <a:ext cx="2880360" cy="0"/>
          </a:xfrm>
          <a:prstGeom prst="line">
            <a:avLst/>
          </a:prstGeom>
          <a:noFill/>
          <a:ln w="19050">
            <a:solidFill>
              <a:srgbClr val="303640"/>
            </a:solidFill>
            <a:prstDash val="solid"/>
          </a:ln>
        </p:spPr>
        <p:txBody>
          <a:bodyPr/>
          <a:lstStyle/>
          <a:p>
            <a:endParaRPr lang="es-CL"/>
          </a:p>
        </p:txBody>
      </p:sp>
      <p:sp>
        <p:nvSpPr>
          <p:cNvPr id="24" name="Shape 22"/>
          <p:cNvSpPr/>
          <p:nvPr/>
        </p:nvSpPr>
        <p:spPr>
          <a:xfrm>
            <a:off x="960120" y="1225296"/>
            <a:ext cx="0" cy="3090672"/>
          </a:xfrm>
          <a:prstGeom prst="line">
            <a:avLst/>
          </a:prstGeom>
          <a:noFill/>
          <a:ln w="19050">
            <a:solidFill>
              <a:srgbClr val="303640"/>
            </a:solidFill>
            <a:prstDash val="solid"/>
            <a:tailEnd type="triangle"/>
          </a:ln>
        </p:spPr>
        <p:txBody>
          <a:bodyPr/>
          <a:lstStyle/>
          <a:p>
            <a:endParaRPr lang="es-CL"/>
          </a:p>
        </p:txBody>
      </p:sp>
      <p:sp>
        <p:nvSpPr>
          <p:cNvPr id="25" name="Shape 23"/>
          <p:cNvSpPr/>
          <p:nvPr/>
        </p:nvSpPr>
        <p:spPr>
          <a:xfrm>
            <a:off x="749808" y="1371600"/>
            <a:ext cx="365760" cy="219456"/>
          </a:xfrm>
          <a:prstGeom prst="roundRect">
            <a:avLst>
              <a:gd name="adj" fmla="val 25000"/>
            </a:avLst>
          </a:prstGeom>
          <a:solidFill>
            <a:srgbClr val="3AD1D1"/>
          </a:solidFill>
          <a:ln/>
        </p:spPr>
        <p:txBody>
          <a:bodyPr/>
          <a:lstStyle/>
          <a:p>
            <a:endParaRPr lang="es-CL"/>
          </a:p>
        </p:txBody>
      </p:sp>
      <p:sp>
        <p:nvSpPr>
          <p:cNvPr id="26" name="Text 24"/>
          <p:cNvSpPr/>
          <p:nvPr/>
        </p:nvSpPr>
        <p:spPr>
          <a:xfrm>
            <a:off x="749808" y="1371600"/>
            <a:ext cx="365760" cy="219456"/>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NO</a:t>
            </a:r>
            <a:endParaRPr lang="en-US" sz="850" dirty="0"/>
          </a:p>
        </p:txBody>
      </p:sp>
      <p:sp>
        <p:nvSpPr>
          <p:cNvPr id="27" name="Shape 25"/>
          <p:cNvSpPr/>
          <p:nvPr/>
        </p:nvSpPr>
        <p:spPr>
          <a:xfrm>
            <a:off x="4023360" y="1810512"/>
            <a:ext cx="7863840" cy="237744"/>
          </a:xfrm>
          <a:prstGeom prst="roundRect">
            <a:avLst>
              <a:gd name="adj" fmla="val 23077"/>
            </a:avLst>
          </a:prstGeom>
          <a:solidFill>
            <a:srgbClr val="303640"/>
          </a:solidFill>
          <a:ln/>
        </p:spPr>
        <p:txBody>
          <a:bodyPr/>
          <a:lstStyle/>
          <a:p>
            <a:endParaRPr lang="es-CL"/>
          </a:p>
        </p:txBody>
      </p:sp>
      <p:sp>
        <p:nvSpPr>
          <p:cNvPr id="28" name="Text 26"/>
          <p:cNvSpPr/>
          <p:nvPr/>
        </p:nvSpPr>
        <p:spPr>
          <a:xfrm>
            <a:off x="4023360" y="1810512"/>
            <a:ext cx="78638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CAMINO A  ·  Visita técnica</a:t>
            </a:r>
            <a:endParaRPr lang="en-US" sz="850" dirty="0"/>
          </a:p>
        </p:txBody>
      </p:sp>
      <p:sp>
        <p:nvSpPr>
          <p:cNvPr id="29" name="Shape 27"/>
          <p:cNvSpPr/>
          <p:nvPr/>
        </p:nvSpPr>
        <p:spPr>
          <a:xfrm>
            <a:off x="4133088" y="2340864"/>
            <a:ext cx="1463040" cy="822960"/>
          </a:xfrm>
          <a:prstGeom prst="diamond">
            <a:avLst/>
          </a:prstGeom>
          <a:solidFill>
            <a:srgbClr val="303640"/>
          </a:solidFill>
          <a:ln w="15875">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30" name="Text 28"/>
          <p:cNvSpPr/>
          <p:nvPr/>
        </p:nvSpPr>
        <p:spPr>
          <a:xfrm>
            <a:off x="4187952" y="2395728"/>
            <a:ext cx="1353312" cy="713232"/>
          </a:xfrm>
          <a:prstGeom prst="rect">
            <a:avLst/>
          </a:prstGeom>
          <a:noFill/>
          <a:ln/>
        </p:spPr>
        <p:txBody>
          <a:bodyPr wrap="square" lIns="0" tIns="0" rIns="0" bIns="0" rtlCol="0" anchor="ctr"/>
          <a:lstStyle/>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¿Contrato /</a:t>
            </a:r>
            <a:endParaRPr lang="en-US" sz="760" dirty="0"/>
          </a:p>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Garantía?</a:t>
            </a:r>
            <a:endParaRPr lang="en-US" sz="760" dirty="0"/>
          </a:p>
        </p:txBody>
      </p:sp>
      <p:sp>
        <p:nvSpPr>
          <p:cNvPr id="31" name="Shape 29"/>
          <p:cNvSpPr/>
          <p:nvPr/>
        </p:nvSpPr>
        <p:spPr>
          <a:xfrm>
            <a:off x="5596128" y="2715768"/>
            <a:ext cx="301752" cy="0"/>
          </a:xfrm>
          <a:prstGeom prst="line">
            <a:avLst/>
          </a:prstGeom>
          <a:noFill/>
          <a:ln w="19050">
            <a:solidFill>
              <a:srgbClr val="303640"/>
            </a:solidFill>
            <a:prstDash val="solid"/>
            <a:tailEnd type="triangle"/>
          </a:ln>
        </p:spPr>
        <p:txBody>
          <a:bodyPr/>
          <a:lstStyle/>
          <a:p>
            <a:endParaRPr lang="es-CL"/>
          </a:p>
        </p:txBody>
      </p:sp>
      <p:sp>
        <p:nvSpPr>
          <p:cNvPr id="32" name="Shape 30"/>
          <p:cNvSpPr/>
          <p:nvPr/>
        </p:nvSpPr>
        <p:spPr>
          <a:xfrm>
            <a:off x="5897880" y="2359152"/>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33" name="Text 31"/>
          <p:cNvSpPr/>
          <p:nvPr/>
        </p:nvSpPr>
        <p:spPr>
          <a:xfrm>
            <a:off x="5989320" y="2404872"/>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2. Asignación</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Coordinador contacta y programa la visita.</a:t>
            </a:r>
            <a:endParaRPr lang="en-US" sz="840" dirty="0"/>
          </a:p>
        </p:txBody>
      </p:sp>
      <p:sp>
        <p:nvSpPr>
          <p:cNvPr id="34" name="Shape 32"/>
          <p:cNvSpPr/>
          <p:nvPr/>
        </p:nvSpPr>
        <p:spPr>
          <a:xfrm>
            <a:off x="6603797" y="2112264"/>
            <a:ext cx="985723"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35" name="Text 33"/>
          <p:cNvSpPr/>
          <p:nvPr/>
        </p:nvSpPr>
        <p:spPr>
          <a:xfrm>
            <a:off x="6603797" y="2112264"/>
            <a:ext cx="985723"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Según contrato</a:t>
            </a:r>
            <a:endParaRPr lang="en-US" sz="760" dirty="0"/>
          </a:p>
        </p:txBody>
      </p:sp>
      <p:sp>
        <p:nvSpPr>
          <p:cNvPr id="36" name="Shape 34"/>
          <p:cNvSpPr/>
          <p:nvPr/>
        </p:nvSpPr>
        <p:spPr>
          <a:xfrm>
            <a:off x="7589520" y="2715768"/>
            <a:ext cx="182880" cy="0"/>
          </a:xfrm>
          <a:prstGeom prst="line">
            <a:avLst/>
          </a:prstGeom>
          <a:noFill/>
          <a:ln w="19050">
            <a:solidFill>
              <a:srgbClr val="303640"/>
            </a:solidFill>
            <a:prstDash val="solid"/>
            <a:tailEnd type="triangle"/>
          </a:ln>
        </p:spPr>
        <p:txBody>
          <a:bodyPr/>
          <a:lstStyle/>
          <a:p>
            <a:endParaRPr lang="es-CL"/>
          </a:p>
        </p:txBody>
      </p:sp>
      <p:sp>
        <p:nvSpPr>
          <p:cNvPr id="37" name="Shape 35"/>
          <p:cNvSpPr/>
          <p:nvPr/>
        </p:nvSpPr>
        <p:spPr>
          <a:xfrm>
            <a:off x="7772400" y="2359152"/>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38" name="Text 36"/>
          <p:cNvSpPr/>
          <p:nvPr/>
        </p:nvSpPr>
        <p:spPr>
          <a:xfrm>
            <a:off x="7863840" y="2404872"/>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3. Agendamiento</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Consola de despachador Field Service.</a:t>
            </a:r>
            <a:endParaRPr lang="en-US" sz="840" dirty="0"/>
          </a:p>
        </p:txBody>
      </p:sp>
      <p:sp>
        <p:nvSpPr>
          <p:cNvPr id="39" name="Shape 37"/>
          <p:cNvSpPr/>
          <p:nvPr/>
        </p:nvSpPr>
        <p:spPr>
          <a:xfrm>
            <a:off x="8097926" y="2112264"/>
            <a:ext cx="1366114"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40" name="Text 38"/>
          <p:cNvSpPr/>
          <p:nvPr/>
        </p:nvSpPr>
        <p:spPr>
          <a:xfrm>
            <a:off x="8097926" y="2112264"/>
            <a:ext cx="1366114"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Contrato · si no, 96 h</a:t>
            </a:r>
            <a:endParaRPr lang="en-US" sz="760" dirty="0"/>
          </a:p>
        </p:txBody>
      </p:sp>
      <p:sp>
        <p:nvSpPr>
          <p:cNvPr id="41" name="Shape 39"/>
          <p:cNvSpPr/>
          <p:nvPr/>
        </p:nvSpPr>
        <p:spPr>
          <a:xfrm>
            <a:off x="9464040" y="2715768"/>
            <a:ext cx="182880" cy="0"/>
          </a:xfrm>
          <a:prstGeom prst="line">
            <a:avLst/>
          </a:prstGeom>
          <a:noFill/>
          <a:ln w="19050">
            <a:solidFill>
              <a:srgbClr val="303640"/>
            </a:solidFill>
            <a:prstDash val="solid"/>
            <a:tailEnd type="triangle"/>
          </a:ln>
        </p:spPr>
        <p:txBody>
          <a:bodyPr/>
          <a:lstStyle/>
          <a:p>
            <a:endParaRPr lang="es-CL"/>
          </a:p>
        </p:txBody>
      </p:sp>
      <p:sp>
        <p:nvSpPr>
          <p:cNvPr id="42" name="Shape 40"/>
          <p:cNvSpPr/>
          <p:nvPr/>
        </p:nvSpPr>
        <p:spPr>
          <a:xfrm>
            <a:off x="9646920" y="2359152"/>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43" name="Text 41"/>
          <p:cNvSpPr/>
          <p:nvPr/>
        </p:nvSpPr>
        <p:spPr>
          <a:xfrm>
            <a:off x="9738360" y="2404872"/>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4. Correo con OT y fecha</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Se envía la Orden de Trabajo y la fecha al cliente.</a:t>
            </a:r>
            <a:endParaRPr lang="en-US" sz="840" dirty="0"/>
          </a:p>
        </p:txBody>
      </p:sp>
      <p:sp>
        <p:nvSpPr>
          <p:cNvPr id="44" name="Shape 42"/>
          <p:cNvSpPr/>
          <p:nvPr/>
        </p:nvSpPr>
        <p:spPr>
          <a:xfrm>
            <a:off x="10492740" y="3072384"/>
            <a:ext cx="0" cy="347472"/>
          </a:xfrm>
          <a:prstGeom prst="line">
            <a:avLst/>
          </a:prstGeom>
          <a:noFill/>
          <a:ln w="19050">
            <a:solidFill>
              <a:srgbClr val="303640"/>
            </a:solidFill>
            <a:prstDash val="solid"/>
            <a:tailEnd type="triangle"/>
          </a:ln>
        </p:spPr>
        <p:txBody>
          <a:bodyPr/>
          <a:lstStyle/>
          <a:p>
            <a:endParaRPr lang="es-CL"/>
          </a:p>
        </p:txBody>
      </p:sp>
      <p:sp>
        <p:nvSpPr>
          <p:cNvPr id="45" name="Shape 43"/>
          <p:cNvSpPr/>
          <p:nvPr/>
        </p:nvSpPr>
        <p:spPr>
          <a:xfrm>
            <a:off x="9646920" y="3419856"/>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46" name="Text 44"/>
          <p:cNvSpPr/>
          <p:nvPr/>
        </p:nvSpPr>
        <p:spPr>
          <a:xfrm>
            <a:off x="9738360" y="3465576"/>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5. Cierre de caso</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Se cierra el caso y se notifica al cliente.</a:t>
            </a:r>
            <a:endParaRPr lang="en-US" sz="840" dirty="0"/>
          </a:p>
        </p:txBody>
      </p:sp>
      <p:sp>
        <p:nvSpPr>
          <p:cNvPr id="47" name="Shape 45"/>
          <p:cNvSpPr/>
          <p:nvPr/>
        </p:nvSpPr>
        <p:spPr>
          <a:xfrm>
            <a:off x="10652760" y="3172968"/>
            <a:ext cx="685800"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48" name="Text 46"/>
          <p:cNvSpPr/>
          <p:nvPr/>
        </p:nvSpPr>
        <p:spPr>
          <a:xfrm>
            <a:off x="10652760" y="3172968"/>
            <a:ext cx="685800"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3 días</a:t>
            </a:r>
            <a:endParaRPr lang="en-US" sz="760" dirty="0"/>
          </a:p>
        </p:txBody>
      </p:sp>
      <p:sp>
        <p:nvSpPr>
          <p:cNvPr id="49" name="Shape 47"/>
          <p:cNvSpPr/>
          <p:nvPr/>
        </p:nvSpPr>
        <p:spPr>
          <a:xfrm>
            <a:off x="9464040" y="3776472"/>
            <a:ext cx="182880" cy="0"/>
          </a:xfrm>
          <a:prstGeom prst="line">
            <a:avLst/>
          </a:prstGeom>
          <a:noFill/>
          <a:ln w="19050">
            <a:solidFill>
              <a:srgbClr val="303640"/>
            </a:solidFill>
            <a:prstDash val="solid"/>
            <a:headEnd type="triangle"/>
          </a:ln>
        </p:spPr>
        <p:txBody>
          <a:bodyPr/>
          <a:lstStyle/>
          <a:p>
            <a:endParaRPr lang="es-CL"/>
          </a:p>
        </p:txBody>
      </p:sp>
      <p:sp>
        <p:nvSpPr>
          <p:cNvPr id="50" name="Shape 48"/>
          <p:cNvSpPr/>
          <p:nvPr/>
        </p:nvSpPr>
        <p:spPr>
          <a:xfrm>
            <a:off x="7772400" y="3419856"/>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51" name="Text 49"/>
          <p:cNvSpPr/>
          <p:nvPr/>
        </p:nvSpPr>
        <p:spPr>
          <a:xfrm>
            <a:off x="7863840" y="3465576"/>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6. Gestión de Recursos</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Pasajes, hospedaje, vehículos y viáticos.</a:t>
            </a:r>
            <a:endParaRPr lang="en-US" sz="840" dirty="0"/>
          </a:p>
        </p:txBody>
      </p:sp>
      <p:sp>
        <p:nvSpPr>
          <p:cNvPr id="52" name="Shape 50"/>
          <p:cNvSpPr/>
          <p:nvPr/>
        </p:nvSpPr>
        <p:spPr>
          <a:xfrm>
            <a:off x="7589520" y="3776472"/>
            <a:ext cx="182880" cy="0"/>
          </a:xfrm>
          <a:prstGeom prst="line">
            <a:avLst/>
          </a:prstGeom>
          <a:noFill/>
          <a:ln w="19050">
            <a:solidFill>
              <a:srgbClr val="303640"/>
            </a:solidFill>
            <a:prstDash val="solid"/>
            <a:headEnd type="triangle"/>
          </a:ln>
        </p:spPr>
        <p:txBody>
          <a:bodyPr/>
          <a:lstStyle/>
          <a:p>
            <a:endParaRPr lang="es-CL"/>
          </a:p>
        </p:txBody>
      </p:sp>
      <p:sp>
        <p:nvSpPr>
          <p:cNvPr id="53" name="Shape 51"/>
          <p:cNvSpPr/>
          <p:nvPr/>
        </p:nvSpPr>
        <p:spPr>
          <a:xfrm>
            <a:off x="5897880" y="3419856"/>
            <a:ext cx="1691640"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54" name="Text 52"/>
          <p:cNvSpPr/>
          <p:nvPr/>
        </p:nvSpPr>
        <p:spPr>
          <a:xfrm>
            <a:off x="5989320" y="3465576"/>
            <a:ext cx="1508760"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7. Planificación y Ejecución</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Ejecución del servicio técnico en terreno.</a:t>
            </a:r>
            <a:endParaRPr lang="en-US" sz="840" dirty="0"/>
          </a:p>
        </p:txBody>
      </p:sp>
      <p:sp>
        <p:nvSpPr>
          <p:cNvPr id="55" name="Shape 53"/>
          <p:cNvSpPr/>
          <p:nvPr/>
        </p:nvSpPr>
        <p:spPr>
          <a:xfrm>
            <a:off x="5596128" y="3776472"/>
            <a:ext cx="301752" cy="0"/>
          </a:xfrm>
          <a:prstGeom prst="line">
            <a:avLst/>
          </a:prstGeom>
          <a:noFill/>
          <a:ln w="19050">
            <a:solidFill>
              <a:srgbClr val="303640"/>
            </a:solidFill>
            <a:prstDash val="solid"/>
            <a:headEnd type="triangle"/>
          </a:ln>
        </p:spPr>
        <p:txBody>
          <a:bodyPr/>
          <a:lstStyle/>
          <a:p>
            <a:endParaRPr lang="es-CL"/>
          </a:p>
        </p:txBody>
      </p:sp>
      <p:sp>
        <p:nvSpPr>
          <p:cNvPr id="56" name="Shape 54"/>
          <p:cNvSpPr/>
          <p:nvPr/>
        </p:nvSpPr>
        <p:spPr>
          <a:xfrm>
            <a:off x="4023360" y="3419856"/>
            <a:ext cx="1572768" cy="713232"/>
          </a:xfrm>
          <a:prstGeom prst="roundRect">
            <a:avLst>
              <a:gd name="adj" fmla="val 7692"/>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57" name="Text 55"/>
          <p:cNvSpPr/>
          <p:nvPr/>
        </p:nvSpPr>
        <p:spPr>
          <a:xfrm>
            <a:off x="4114800" y="3465576"/>
            <a:ext cx="1389888" cy="621792"/>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8. Revisión y Cierre</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Revisión, facturación y cierre administrativo.</a:t>
            </a:r>
            <a:endParaRPr lang="en-US" sz="840" dirty="0"/>
          </a:p>
        </p:txBody>
      </p:sp>
      <p:sp>
        <p:nvSpPr>
          <p:cNvPr id="58" name="Shape 56"/>
          <p:cNvSpPr/>
          <p:nvPr/>
        </p:nvSpPr>
        <p:spPr>
          <a:xfrm>
            <a:off x="2148840" y="3776472"/>
            <a:ext cx="1874520" cy="0"/>
          </a:xfrm>
          <a:prstGeom prst="line">
            <a:avLst/>
          </a:prstGeom>
          <a:noFill/>
          <a:ln w="19050">
            <a:solidFill>
              <a:srgbClr val="303640"/>
            </a:solidFill>
            <a:prstDash val="solid"/>
            <a:headEnd type="triangle"/>
          </a:ln>
        </p:spPr>
        <p:txBody>
          <a:bodyPr/>
          <a:lstStyle/>
          <a:p>
            <a:endParaRPr lang="es-CL"/>
          </a:p>
        </p:txBody>
      </p:sp>
      <p:sp>
        <p:nvSpPr>
          <p:cNvPr id="59" name="Shape 57"/>
          <p:cNvSpPr/>
          <p:nvPr/>
        </p:nvSpPr>
        <p:spPr>
          <a:xfrm>
            <a:off x="1188720" y="3547872"/>
            <a:ext cx="914400" cy="457200"/>
          </a:xfrm>
          <a:prstGeom prst="ellipse">
            <a:avLst/>
          </a:prstGeom>
          <a:solidFill>
            <a:srgbClr val="303640"/>
          </a:solidFill>
          <a:ln w="1397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60" name="Text 58"/>
          <p:cNvSpPr/>
          <p:nvPr/>
        </p:nvSpPr>
        <p:spPr>
          <a:xfrm>
            <a:off x="1188720" y="3547872"/>
            <a:ext cx="9144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FIN</a:t>
            </a:r>
            <a:endParaRPr lang="en-US" sz="900" dirty="0"/>
          </a:p>
        </p:txBody>
      </p:sp>
      <p:sp>
        <p:nvSpPr>
          <p:cNvPr id="61" name="Shape 59"/>
          <p:cNvSpPr/>
          <p:nvPr/>
        </p:nvSpPr>
        <p:spPr>
          <a:xfrm>
            <a:off x="274320" y="4315968"/>
            <a:ext cx="7955280" cy="237744"/>
          </a:xfrm>
          <a:prstGeom prst="roundRect">
            <a:avLst>
              <a:gd name="adj" fmla="val 23077"/>
            </a:avLst>
          </a:prstGeom>
          <a:solidFill>
            <a:srgbClr val="3AD1D1"/>
          </a:solidFill>
          <a:ln/>
        </p:spPr>
        <p:txBody>
          <a:bodyPr/>
          <a:lstStyle/>
          <a:p>
            <a:endParaRPr lang="es-CL"/>
          </a:p>
        </p:txBody>
      </p:sp>
      <p:sp>
        <p:nvSpPr>
          <p:cNvPr id="62" name="Text 60"/>
          <p:cNvSpPr/>
          <p:nvPr/>
        </p:nvSpPr>
        <p:spPr>
          <a:xfrm>
            <a:off x="274320" y="4315968"/>
            <a:ext cx="7955280" cy="237744"/>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CAMINO B  ·  Solicitud de cotización</a:t>
            </a:r>
            <a:endParaRPr lang="en-US" sz="850" dirty="0"/>
          </a:p>
        </p:txBody>
      </p:sp>
      <p:sp>
        <p:nvSpPr>
          <p:cNvPr id="63" name="Shape 61"/>
          <p:cNvSpPr/>
          <p:nvPr/>
        </p:nvSpPr>
        <p:spPr>
          <a:xfrm>
            <a:off x="274320" y="4818888"/>
            <a:ext cx="1417320" cy="822960"/>
          </a:xfrm>
          <a:prstGeom prst="diamond">
            <a:avLst/>
          </a:prstGeom>
          <a:solidFill>
            <a:srgbClr val="303640"/>
          </a:solidFill>
          <a:ln w="15875">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64" name="Text 62"/>
          <p:cNvSpPr/>
          <p:nvPr/>
        </p:nvSpPr>
        <p:spPr>
          <a:xfrm>
            <a:off x="329184" y="4873752"/>
            <a:ext cx="1307592" cy="713232"/>
          </a:xfrm>
          <a:prstGeom prst="rect">
            <a:avLst/>
          </a:prstGeom>
          <a:noFill/>
          <a:ln/>
        </p:spPr>
        <p:txBody>
          <a:bodyPr wrap="square" lIns="0" tIns="0" rIns="0" bIns="0" rtlCol="0" anchor="ctr"/>
          <a:lstStyle/>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¿Solicitud de</a:t>
            </a:r>
            <a:endParaRPr lang="en-US" sz="760" dirty="0"/>
          </a:p>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cotización?</a:t>
            </a:r>
            <a:endParaRPr lang="en-US" sz="760" dirty="0"/>
          </a:p>
        </p:txBody>
      </p:sp>
      <p:sp>
        <p:nvSpPr>
          <p:cNvPr id="65" name="Shape 63"/>
          <p:cNvSpPr/>
          <p:nvPr/>
        </p:nvSpPr>
        <p:spPr>
          <a:xfrm>
            <a:off x="1691640" y="5184648"/>
            <a:ext cx="182880" cy="0"/>
          </a:xfrm>
          <a:prstGeom prst="line">
            <a:avLst/>
          </a:prstGeom>
          <a:noFill/>
          <a:ln w="19050">
            <a:solidFill>
              <a:srgbClr val="303640"/>
            </a:solidFill>
            <a:prstDash val="solid"/>
            <a:tailEnd type="triangle"/>
          </a:ln>
        </p:spPr>
        <p:txBody>
          <a:bodyPr/>
          <a:lstStyle/>
          <a:p>
            <a:endParaRPr lang="es-CL"/>
          </a:p>
        </p:txBody>
      </p:sp>
      <p:sp>
        <p:nvSpPr>
          <p:cNvPr id="66" name="Shape 64"/>
          <p:cNvSpPr/>
          <p:nvPr/>
        </p:nvSpPr>
        <p:spPr>
          <a:xfrm>
            <a:off x="1874520" y="4864608"/>
            <a:ext cx="1920240" cy="640080"/>
          </a:xfrm>
          <a:prstGeom prst="roundRect">
            <a:avLst>
              <a:gd name="adj" fmla="val 8571"/>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67" name="Text 65"/>
          <p:cNvSpPr/>
          <p:nvPr/>
        </p:nvSpPr>
        <p:spPr>
          <a:xfrm>
            <a:off x="1965960" y="4910328"/>
            <a:ext cx="1737360" cy="548640"/>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Generar oportunidad</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Cotización en Salesforce enviada al cliente.</a:t>
            </a:r>
            <a:endParaRPr lang="en-US" sz="840" dirty="0"/>
          </a:p>
        </p:txBody>
      </p:sp>
      <p:sp>
        <p:nvSpPr>
          <p:cNvPr id="68" name="Shape 66"/>
          <p:cNvSpPr/>
          <p:nvPr/>
        </p:nvSpPr>
        <p:spPr>
          <a:xfrm>
            <a:off x="3108960" y="4617720"/>
            <a:ext cx="685800"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69" name="Text 67"/>
          <p:cNvSpPr/>
          <p:nvPr/>
        </p:nvSpPr>
        <p:spPr>
          <a:xfrm>
            <a:off x="3108960" y="4617720"/>
            <a:ext cx="685800"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24 h</a:t>
            </a:r>
            <a:endParaRPr lang="en-US" sz="760" dirty="0"/>
          </a:p>
        </p:txBody>
      </p:sp>
      <p:sp>
        <p:nvSpPr>
          <p:cNvPr id="70" name="Shape 68"/>
          <p:cNvSpPr/>
          <p:nvPr/>
        </p:nvSpPr>
        <p:spPr>
          <a:xfrm>
            <a:off x="3794760" y="5184648"/>
            <a:ext cx="182880" cy="0"/>
          </a:xfrm>
          <a:prstGeom prst="line">
            <a:avLst/>
          </a:prstGeom>
          <a:noFill/>
          <a:ln w="19050">
            <a:solidFill>
              <a:srgbClr val="303640"/>
            </a:solidFill>
            <a:prstDash val="solid"/>
            <a:tailEnd type="triangle"/>
          </a:ln>
        </p:spPr>
        <p:txBody>
          <a:bodyPr/>
          <a:lstStyle/>
          <a:p>
            <a:endParaRPr lang="es-CL"/>
          </a:p>
        </p:txBody>
      </p:sp>
      <p:sp>
        <p:nvSpPr>
          <p:cNvPr id="71" name="Shape 69"/>
          <p:cNvSpPr/>
          <p:nvPr/>
        </p:nvSpPr>
        <p:spPr>
          <a:xfrm>
            <a:off x="3977640" y="4818888"/>
            <a:ext cx="1371600" cy="822960"/>
          </a:xfrm>
          <a:prstGeom prst="diamond">
            <a:avLst/>
          </a:prstGeom>
          <a:solidFill>
            <a:srgbClr val="303640"/>
          </a:solidFill>
          <a:ln w="15875">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72" name="Text 70"/>
          <p:cNvSpPr/>
          <p:nvPr/>
        </p:nvSpPr>
        <p:spPr>
          <a:xfrm>
            <a:off x="4032504" y="4873752"/>
            <a:ext cx="1261872" cy="713232"/>
          </a:xfrm>
          <a:prstGeom prst="rect">
            <a:avLst/>
          </a:prstGeom>
          <a:noFill/>
          <a:ln/>
        </p:spPr>
        <p:txBody>
          <a:bodyPr wrap="square" lIns="0" tIns="0" rIns="0" bIns="0" rtlCol="0" anchor="ctr"/>
          <a:lstStyle/>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¿Cliente</a:t>
            </a:r>
            <a:endParaRPr lang="en-US" sz="760" dirty="0"/>
          </a:p>
          <a:p>
            <a:pPr marL="0" indent="0" algn="ctr">
              <a:lnSpc>
                <a:spcPct val="92000"/>
              </a:lnSpc>
              <a:buNone/>
            </a:pPr>
            <a:r>
              <a:rPr lang="en-US" sz="760" b="1" dirty="0">
                <a:solidFill>
                  <a:srgbClr val="FFFFFF"/>
                </a:solidFill>
                <a:latin typeface="Calibri" pitchFamily="34" charset="0"/>
                <a:ea typeface="Calibri" pitchFamily="34" charset="-122"/>
                <a:cs typeface="Calibri" pitchFamily="34" charset="-120"/>
              </a:rPr>
              <a:t>acepta?</a:t>
            </a:r>
            <a:endParaRPr lang="en-US" sz="760" dirty="0"/>
          </a:p>
        </p:txBody>
      </p:sp>
      <p:sp>
        <p:nvSpPr>
          <p:cNvPr id="73" name="Shape 71"/>
          <p:cNvSpPr/>
          <p:nvPr/>
        </p:nvSpPr>
        <p:spPr>
          <a:xfrm>
            <a:off x="5349240" y="5184648"/>
            <a:ext cx="182880" cy="0"/>
          </a:xfrm>
          <a:prstGeom prst="line">
            <a:avLst/>
          </a:prstGeom>
          <a:noFill/>
          <a:ln w="19050">
            <a:solidFill>
              <a:srgbClr val="303640"/>
            </a:solidFill>
            <a:prstDash val="solid"/>
            <a:tailEnd type="triangle"/>
          </a:ln>
        </p:spPr>
        <p:txBody>
          <a:bodyPr/>
          <a:lstStyle/>
          <a:p>
            <a:endParaRPr lang="es-CL"/>
          </a:p>
        </p:txBody>
      </p:sp>
      <p:sp>
        <p:nvSpPr>
          <p:cNvPr id="74" name="Shape 72"/>
          <p:cNvSpPr/>
          <p:nvPr/>
        </p:nvSpPr>
        <p:spPr>
          <a:xfrm>
            <a:off x="5532120" y="4864608"/>
            <a:ext cx="2148840" cy="640080"/>
          </a:xfrm>
          <a:prstGeom prst="roundRect">
            <a:avLst>
              <a:gd name="adj" fmla="val 8571"/>
            </a:avLst>
          </a:prstGeom>
          <a:solidFill>
            <a:srgbClr val="EAFBFB"/>
          </a:solidFill>
          <a:ln w="15875">
            <a:solidFill>
              <a:srgbClr val="3AD1D1"/>
            </a:solidFill>
            <a:prstDash val="dash"/>
          </a:ln>
        </p:spPr>
        <p:txBody>
          <a:bodyPr/>
          <a:lstStyle/>
          <a:p>
            <a:endParaRPr lang="es-CL"/>
          </a:p>
        </p:txBody>
      </p:sp>
      <p:sp>
        <p:nvSpPr>
          <p:cNvPr id="75" name="Text 73"/>
          <p:cNvSpPr/>
          <p:nvPr/>
        </p:nvSpPr>
        <p:spPr>
          <a:xfrm>
            <a:off x="5669280" y="4864608"/>
            <a:ext cx="1874520" cy="640080"/>
          </a:xfrm>
          <a:prstGeom prst="rect">
            <a:avLst/>
          </a:prstGeom>
          <a:noFill/>
          <a:ln/>
        </p:spPr>
        <p:txBody>
          <a:bodyPr wrap="square" lIns="0" tIns="0" rIns="0" bIns="0" rtlCol="0" anchor="ctr"/>
          <a:lstStyle/>
          <a:p>
            <a:pPr marL="0" indent="0" algn="ctr">
              <a:lnSpc>
                <a:spcPct val="100000"/>
              </a:lnSpc>
              <a:buNone/>
            </a:pPr>
            <a:r>
              <a:rPr lang="en-US" sz="760" b="1" i="1" dirty="0">
                <a:solidFill>
                  <a:srgbClr val="20242C"/>
                </a:solidFill>
                <a:latin typeface="Calibri" pitchFamily="34" charset="0"/>
                <a:ea typeface="Calibri" pitchFamily="34" charset="-122"/>
                <a:cs typeface="Calibri" pitchFamily="34" charset="-120"/>
              </a:rPr>
              <a:t>↳ Continúa en Camino A</a:t>
            </a:r>
            <a:endParaRPr lang="en-US" sz="760" dirty="0"/>
          </a:p>
          <a:p>
            <a:pPr marL="0" indent="0" algn="ctr">
              <a:lnSpc>
                <a:spcPct val="100000"/>
              </a:lnSpc>
              <a:buNone/>
            </a:pPr>
            <a:r>
              <a:rPr lang="en-US" sz="760" b="1" i="1" dirty="0">
                <a:solidFill>
                  <a:srgbClr val="20242C"/>
                </a:solidFill>
                <a:latin typeface="Calibri" pitchFamily="34" charset="0"/>
                <a:ea typeface="Calibri" pitchFamily="34" charset="-122"/>
                <a:cs typeface="Calibri" pitchFamily="34" charset="-120"/>
              </a:rPr>
              <a:t>2. Asignación</a:t>
            </a:r>
            <a:endParaRPr lang="en-US" sz="760" dirty="0"/>
          </a:p>
        </p:txBody>
      </p:sp>
      <p:sp>
        <p:nvSpPr>
          <p:cNvPr id="76" name="Shape 74"/>
          <p:cNvSpPr/>
          <p:nvPr/>
        </p:nvSpPr>
        <p:spPr>
          <a:xfrm>
            <a:off x="982980" y="5641848"/>
            <a:ext cx="0" cy="210312"/>
          </a:xfrm>
          <a:prstGeom prst="line">
            <a:avLst/>
          </a:prstGeom>
          <a:noFill/>
          <a:ln w="19050">
            <a:solidFill>
              <a:srgbClr val="303640"/>
            </a:solidFill>
            <a:prstDash val="solid"/>
            <a:tailEnd type="triangle"/>
          </a:ln>
        </p:spPr>
        <p:txBody>
          <a:bodyPr/>
          <a:lstStyle/>
          <a:p>
            <a:endParaRPr lang="es-CL"/>
          </a:p>
        </p:txBody>
      </p:sp>
      <p:sp>
        <p:nvSpPr>
          <p:cNvPr id="77" name="Shape 75"/>
          <p:cNvSpPr/>
          <p:nvPr/>
        </p:nvSpPr>
        <p:spPr>
          <a:xfrm>
            <a:off x="274320" y="5852160"/>
            <a:ext cx="1783080" cy="640080"/>
          </a:xfrm>
          <a:prstGeom prst="roundRect">
            <a:avLst>
              <a:gd name="adj" fmla="val 8571"/>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78" name="Text 76"/>
          <p:cNvSpPr/>
          <p:nvPr/>
        </p:nvSpPr>
        <p:spPr>
          <a:xfrm>
            <a:off x="365760" y="5897880"/>
            <a:ext cx="1600200" cy="548640"/>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Cierre de caso</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Se notifica el cierre al cliente.</a:t>
            </a:r>
            <a:endParaRPr lang="en-US" sz="840" dirty="0"/>
          </a:p>
        </p:txBody>
      </p:sp>
      <p:sp>
        <p:nvSpPr>
          <p:cNvPr id="79" name="Shape 77"/>
          <p:cNvSpPr/>
          <p:nvPr/>
        </p:nvSpPr>
        <p:spPr>
          <a:xfrm>
            <a:off x="2057400" y="6172200"/>
            <a:ext cx="182880" cy="0"/>
          </a:xfrm>
          <a:prstGeom prst="line">
            <a:avLst/>
          </a:prstGeom>
          <a:noFill/>
          <a:ln w="19050">
            <a:solidFill>
              <a:srgbClr val="303640"/>
            </a:solidFill>
            <a:prstDash val="solid"/>
            <a:tailEnd type="triangle"/>
          </a:ln>
        </p:spPr>
        <p:txBody>
          <a:bodyPr/>
          <a:lstStyle/>
          <a:p>
            <a:endParaRPr lang="es-CL"/>
          </a:p>
        </p:txBody>
      </p:sp>
      <p:sp>
        <p:nvSpPr>
          <p:cNvPr id="80" name="Shape 78"/>
          <p:cNvSpPr/>
          <p:nvPr/>
        </p:nvSpPr>
        <p:spPr>
          <a:xfrm>
            <a:off x="2240280" y="5943600"/>
            <a:ext cx="868680" cy="457200"/>
          </a:xfrm>
          <a:prstGeom prst="ellipse">
            <a:avLst/>
          </a:prstGeom>
          <a:solidFill>
            <a:srgbClr val="303640"/>
          </a:solidFill>
          <a:ln w="1397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81" name="Text 79"/>
          <p:cNvSpPr/>
          <p:nvPr/>
        </p:nvSpPr>
        <p:spPr>
          <a:xfrm>
            <a:off x="2240280" y="5943600"/>
            <a:ext cx="86868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FIN</a:t>
            </a:r>
            <a:endParaRPr lang="en-US" sz="900" dirty="0"/>
          </a:p>
        </p:txBody>
      </p:sp>
      <p:sp>
        <p:nvSpPr>
          <p:cNvPr id="82" name="Shape 80"/>
          <p:cNvSpPr/>
          <p:nvPr/>
        </p:nvSpPr>
        <p:spPr>
          <a:xfrm>
            <a:off x="4663440" y="5641848"/>
            <a:ext cx="0" cy="210312"/>
          </a:xfrm>
          <a:prstGeom prst="line">
            <a:avLst/>
          </a:prstGeom>
          <a:noFill/>
          <a:ln w="19050">
            <a:solidFill>
              <a:srgbClr val="303640"/>
            </a:solidFill>
            <a:prstDash val="solid"/>
            <a:tailEnd type="triangle"/>
          </a:ln>
        </p:spPr>
        <p:txBody>
          <a:bodyPr/>
          <a:lstStyle/>
          <a:p>
            <a:endParaRPr lang="es-CL"/>
          </a:p>
        </p:txBody>
      </p:sp>
      <p:sp>
        <p:nvSpPr>
          <p:cNvPr id="83" name="Shape 81"/>
          <p:cNvSpPr/>
          <p:nvPr/>
        </p:nvSpPr>
        <p:spPr>
          <a:xfrm>
            <a:off x="3794760" y="5852160"/>
            <a:ext cx="1691640" cy="640080"/>
          </a:xfrm>
          <a:prstGeom prst="roundRect">
            <a:avLst>
              <a:gd name="adj" fmla="val 8571"/>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84" name="Text 82"/>
          <p:cNvSpPr/>
          <p:nvPr/>
        </p:nvSpPr>
        <p:spPr>
          <a:xfrm>
            <a:off x="3886200" y="5897880"/>
            <a:ext cx="1508760" cy="548640"/>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Oportunidad perdida</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Se cierra la oportunidad en Salesforce.</a:t>
            </a:r>
            <a:endParaRPr lang="en-US" sz="840" dirty="0"/>
          </a:p>
        </p:txBody>
      </p:sp>
      <p:sp>
        <p:nvSpPr>
          <p:cNvPr id="85" name="Shape 83"/>
          <p:cNvSpPr/>
          <p:nvPr/>
        </p:nvSpPr>
        <p:spPr>
          <a:xfrm>
            <a:off x="5486400" y="6172200"/>
            <a:ext cx="182880" cy="0"/>
          </a:xfrm>
          <a:prstGeom prst="line">
            <a:avLst/>
          </a:prstGeom>
          <a:noFill/>
          <a:ln w="19050">
            <a:solidFill>
              <a:srgbClr val="303640"/>
            </a:solidFill>
            <a:prstDash val="solid"/>
            <a:tailEnd type="triangle"/>
          </a:ln>
        </p:spPr>
        <p:txBody>
          <a:bodyPr/>
          <a:lstStyle/>
          <a:p>
            <a:endParaRPr lang="es-CL"/>
          </a:p>
        </p:txBody>
      </p:sp>
      <p:sp>
        <p:nvSpPr>
          <p:cNvPr id="86" name="Shape 84"/>
          <p:cNvSpPr/>
          <p:nvPr/>
        </p:nvSpPr>
        <p:spPr>
          <a:xfrm>
            <a:off x="5669280" y="5852160"/>
            <a:ext cx="1783080" cy="640080"/>
          </a:xfrm>
          <a:prstGeom prst="roundRect">
            <a:avLst>
              <a:gd name="adj" fmla="val 8571"/>
            </a:avLst>
          </a:prstGeom>
          <a:solidFill>
            <a:srgbClr val="F3F5F6"/>
          </a:solidFill>
          <a:ln w="12700">
            <a:solidFill>
              <a:srgbClr val="303640"/>
            </a:solidFill>
            <a:prstDash val="solid"/>
          </a:ln>
          <a:effectLst>
            <a:outerShdw blurRad="50800" dist="19050" dir="5400000" algn="bl" rotWithShape="0">
              <a:srgbClr val="000000">
                <a:alpha val="15000"/>
              </a:srgbClr>
            </a:outerShdw>
          </a:effectLst>
        </p:spPr>
        <p:txBody>
          <a:bodyPr/>
          <a:lstStyle/>
          <a:p>
            <a:endParaRPr lang="es-CL"/>
          </a:p>
        </p:txBody>
      </p:sp>
      <p:sp>
        <p:nvSpPr>
          <p:cNvPr id="87" name="Text 85"/>
          <p:cNvSpPr/>
          <p:nvPr/>
        </p:nvSpPr>
        <p:spPr>
          <a:xfrm>
            <a:off x="5760720" y="5897880"/>
            <a:ext cx="1600200" cy="548640"/>
          </a:xfrm>
          <a:prstGeom prst="rect">
            <a:avLst/>
          </a:prstGeom>
          <a:noFill/>
          <a:ln/>
        </p:spPr>
        <p:txBody>
          <a:bodyPr wrap="square" lIns="0" tIns="0" rIns="0" bIns="0" rtlCol="0" anchor="t"/>
          <a:lstStyle/>
          <a:p>
            <a:pPr marL="0" indent="0" algn="l">
              <a:lnSpc>
                <a:spcPct val="100000"/>
              </a:lnSpc>
              <a:buNone/>
            </a:pPr>
            <a:r>
              <a:rPr lang="en-US" sz="840" b="1" dirty="0">
                <a:solidFill>
                  <a:srgbClr val="2A2E36"/>
                </a:solidFill>
                <a:latin typeface="Calibri" pitchFamily="34" charset="0"/>
                <a:ea typeface="Calibri" pitchFamily="34" charset="-122"/>
                <a:cs typeface="Calibri" pitchFamily="34" charset="-120"/>
              </a:rPr>
              <a:t>Cierre de caso</a:t>
            </a:r>
            <a:endParaRPr lang="en-US" sz="840" dirty="0"/>
          </a:p>
          <a:p>
            <a:pPr marL="0" indent="0" algn="l">
              <a:lnSpc>
                <a:spcPct val="100000"/>
              </a:lnSpc>
              <a:buNone/>
            </a:pPr>
            <a:r>
              <a:rPr lang="en-US" sz="700" dirty="0">
                <a:solidFill>
                  <a:srgbClr val="6B7178"/>
                </a:solidFill>
                <a:latin typeface="Calibri" pitchFamily="34" charset="0"/>
                <a:ea typeface="Calibri" pitchFamily="34" charset="-122"/>
                <a:cs typeface="Calibri" pitchFamily="34" charset="-120"/>
              </a:rPr>
              <a:t>Se notifica el cierre al cliente.</a:t>
            </a:r>
            <a:endParaRPr lang="en-US" sz="840" dirty="0"/>
          </a:p>
        </p:txBody>
      </p:sp>
      <p:sp>
        <p:nvSpPr>
          <p:cNvPr id="88" name="Shape 86"/>
          <p:cNvSpPr/>
          <p:nvPr/>
        </p:nvSpPr>
        <p:spPr>
          <a:xfrm>
            <a:off x="6766560" y="5605272"/>
            <a:ext cx="685800" cy="201168"/>
          </a:xfrm>
          <a:prstGeom prst="roundRect">
            <a:avLst>
              <a:gd name="adj" fmla="val 54545"/>
            </a:avLst>
          </a:prstGeom>
          <a:solidFill>
            <a:srgbClr val="3AD1D1"/>
          </a:solidFill>
          <a:ln w="1270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89" name="Text 87"/>
          <p:cNvSpPr/>
          <p:nvPr/>
        </p:nvSpPr>
        <p:spPr>
          <a:xfrm>
            <a:off x="6766560" y="5605272"/>
            <a:ext cx="685800" cy="201168"/>
          </a:xfrm>
          <a:prstGeom prst="rect">
            <a:avLst/>
          </a:prstGeom>
          <a:noFill/>
          <a:ln/>
        </p:spPr>
        <p:txBody>
          <a:bodyPr wrap="square" lIns="0" tIns="0" rIns="0" bIns="0" rtlCol="0" anchor="ctr"/>
          <a:lstStyle/>
          <a:p>
            <a:pPr marL="0" indent="0" algn="ctr">
              <a:buNone/>
            </a:pPr>
            <a:r>
              <a:rPr lang="en-US" sz="760" b="1" dirty="0">
                <a:solidFill>
                  <a:srgbClr val="20242C"/>
                </a:solidFill>
                <a:latin typeface="Calibri" pitchFamily="34" charset="0"/>
                <a:ea typeface="Calibri" pitchFamily="34" charset="-122"/>
                <a:cs typeface="Calibri" pitchFamily="34" charset="-120"/>
              </a:rPr>
              <a:t>3 días</a:t>
            </a:r>
            <a:endParaRPr lang="en-US" sz="760" dirty="0"/>
          </a:p>
        </p:txBody>
      </p:sp>
      <p:sp>
        <p:nvSpPr>
          <p:cNvPr id="90" name="Shape 88"/>
          <p:cNvSpPr/>
          <p:nvPr/>
        </p:nvSpPr>
        <p:spPr>
          <a:xfrm>
            <a:off x="7452360" y="6172200"/>
            <a:ext cx="182880" cy="0"/>
          </a:xfrm>
          <a:prstGeom prst="line">
            <a:avLst/>
          </a:prstGeom>
          <a:noFill/>
          <a:ln w="19050">
            <a:solidFill>
              <a:srgbClr val="303640"/>
            </a:solidFill>
            <a:prstDash val="solid"/>
            <a:tailEnd type="triangle"/>
          </a:ln>
        </p:spPr>
        <p:txBody>
          <a:bodyPr/>
          <a:lstStyle/>
          <a:p>
            <a:endParaRPr lang="es-CL"/>
          </a:p>
        </p:txBody>
      </p:sp>
      <p:sp>
        <p:nvSpPr>
          <p:cNvPr id="91" name="Shape 89"/>
          <p:cNvSpPr/>
          <p:nvPr/>
        </p:nvSpPr>
        <p:spPr>
          <a:xfrm>
            <a:off x="7635240" y="5943600"/>
            <a:ext cx="868680" cy="457200"/>
          </a:xfrm>
          <a:prstGeom prst="ellipse">
            <a:avLst/>
          </a:prstGeom>
          <a:solidFill>
            <a:srgbClr val="303640"/>
          </a:solidFill>
          <a:ln w="13970">
            <a:solidFill>
              <a:srgbClr val="FFFFFF"/>
            </a:solidFill>
            <a:prstDash val="solid"/>
          </a:ln>
          <a:effectLst>
            <a:outerShdw blurRad="50800" dist="19050" dir="5400000" algn="bl" rotWithShape="0">
              <a:srgbClr val="000000">
                <a:alpha val="15000"/>
              </a:srgbClr>
            </a:outerShdw>
          </a:effectLst>
        </p:spPr>
        <p:txBody>
          <a:bodyPr/>
          <a:lstStyle/>
          <a:p>
            <a:endParaRPr lang="es-CL"/>
          </a:p>
        </p:txBody>
      </p:sp>
      <p:sp>
        <p:nvSpPr>
          <p:cNvPr id="92" name="Text 90"/>
          <p:cNvSpPr/>
          <p:nvPr/>
        </p:nvSpPr>
        <p:spPr>
          <a:xfrm>
            <a:off x="7635240" y="5943600"/>
            <a:ext cx="86868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FIN</a:t>
            </a:r>
            <a:endParaRPr lang="en-US" sz="900" dirty="0"/>
          </a:p>
        </p:txBody>
      </p:sp>
      <p:sp>
        <p:nvSpPr>
          <p:cNvPr id="94" name="Shape 21">
            <a:extLst>
              <a:ext uri="{FF2B5EF4-FFF2-40B4-BE49-F238E27FC236}">
                <a16:creationId xmlns:a16="http://schemas.microsoft.com/office/drawing/2014/main" id="{AF1A4401-EDDE-B80E-D61C-EAA0E70D4F0D}"/>
              </a:ext>
            </a:extLst>
          </p:cNvPr>
          <p:cNvSpPr/>
          <p:nvPr/>
        </p:nvSpPr>
        <p:spPr>
          <a:xfrm flipV="1">
            <a:off x="960120" y="2730489"/>
            <a:ext cx="3172968" cy="21855"/>
          </a:xfrm>
          <a:prstGeom prst="line">
            <a:avLst/>
          </a:prstGeom>
          <a:noFill/>
          <a:ln w="19050">
            <a:solidFill>
              <a:srgbClr val="303640"/>
            </a:solidFill>
            <a:prstDash val="solid"/>
          </a:ln>
        </p:spPr>
        <p:txBody>
          <a:bodyPr/>
          <a:lstStyle/>
          <a:p>
            <a:endParaRPr lang="es-CL"/>
          </a:p>
        </p:txBody>
      </p:sp>
      <p:sp>
        <p:nvSpPr>
          <p:cNvPr id="98" name="Shape 23">
            <a:extLst>
              <a:ext uri="{FF2B5EF4-FFF2-40B4-BE49-F238E27FC236}">
                <a16:creationId xmlns:a16="http://schemas.microsoft.com/office/drawing/2014/main" id="{7F121CA6-E2BC-BC53-84A0-BF1875C751D8}"/>
              </a:ext>
            </a:extLst>
          </p:cNvPr>
          <p:cNvSpPr/>
          <p:nvPr/>
        </p:nvSpPr>
        <p:spPr>
          <a:xfrm>
            <a:off x="1781355" y="2606040"/>
            <a:ext cx="365760" cy="219456"/>
          </a:xfrm>
          <a:prstGeom prst="roundRect">
            <a:avLst>
              <a:gd name="adj" fmla="val 25000"/>
            </a:avLst>
          </a:prstGeom>
          <a:solidFill>
            <a:srgbClr val="3AD1D1"/>
          </a:solidFill>
          <a:ln/>
        </p:spPr>
        <p:txBody>
          <a:bodyPr/>
          <a:lstStyle/>
          <a:p>
            <a:endParaRPr lang="es-CL"/>
          </a:p>
        </p:txBody>
      </p:sp>
      <p:sp>
        <p:nvSpPr>
          <p:cNvPr id="100" name="Text 24">
            <a:extLst>
              <a:ext uri="{FF2B5EF4-FFF2-40B4-BE49-F238E27FC236}">
                <a16:creationId xmlns:a16="http://schemas.microsoft.com/office/drawing/2014/main" id="{625C798B-02CF-E57D-D2E4-893AA9E703CA}"/>
              </a:ext>
            </a:extLst>
          </p:cNvPr>
          <p:cNvSpPr/>
          <p:nvPr/>
        </p:nvSpPr>
        <p:spPr>
          <a:xfrm>
            <a:off x="1781355" y="2606040"/>
            <a:ext cx="365760" cy="219456"/>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NO</a:t>
            </a:r>
            <a:endParaRPr lang="en-US" sz="850" dirty="0"/>
          </a:p>
        </p:txBody>
      </p:sp>
      <p:sp>
        <p:nvSpPr>
          <p:cNvPr id="102" name="Shape 23">
            <a:extLst>
              <a:ext uri="{FF2B5EF4-FFF2-40B4-BE49-F238E27FC236}">
                <a16:creationId xmlns:a16="http://schemas.microsoft.com/office/drawing/2014/main" id="{048DD0C4-2CB5-F75D-70A9-0126B7C6A7BC}"/>
              </a:ext>
            </a:extLst>
          </p:cNvPr>
          <p:cNvSpPr/>
          <p:nvPr/>
        </p:nvSpPr>
        <p:spPr>
          <a:xfrm>
            <a:off x="5417734" y="2596609"/>
            <a:ext cx="365760" cy="219456"/>
          </a:xfrm>
          <a:prstGeom prst="roundRect">
            <a:avLst>
              <a:gd name="adj" fmla="val 25000"/>
            </a:avLst>
          </a:prstGeom>
          <a:solidFill>
            <a:srgbClr val="3AD1D1"/>
          </a:solidFill>
          <a:ln/>
        </p:spPr>
        <p:txBody>
          <a:bodyPr/>
          <a:lstStyle/>
          <a:p>
            <a:endParaRPr lang="es-CL"/>
          </a:p>
        </p:txBody>
      </p:sp>
      <p:sp>
        <p:nvSpPr>
          <p:cNvPr id="104" name="Text 24">
            <a:extLst>
              <a:ext uri="{FF2B5EF4-FFF2-40B4-BE49-F238E27FC236}">
                <a16:creationId xmlns:a16="http://schemas.microsoft.com/office/drawing/2014/main" id="{8033704B-387D-5C5D-6B3B-48B4F3B2820E}"/>
              </a:ext>
            </a:extLst>
          </p:cNvPr>
          <p:cNvSpPr/>
          <p:nvPr/>
        </p:nvSpPr>
        <p:spPr>
          <a:xfrm>
            <a:off x="5417734" y="2596609"/>
            <a:ext cx="365760" cy="219456"/>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SÍ</a:t>
            </a:r>
            <a:endParaRPr lang="en-US" sz="850" dirty="0"/>
          </a:p>
        </p:txBody>
      </p:sp>
      <p:sp>
        <p:nvSpPr>
          <p:cNvPr id="108" name="Shape 23">
            <a:extLst>
              <a:ext uri="{FF2B5EF4-FFF2-40B4-BE49-F238E27FC236}">
                <a16:creationId xmlns:a16="http://schemas.microsoft.com/office/drawing/2014/main" id="{EFD765E2-9115-F001-C335-7E89B05BCFCD}"/>
              </a:ext>
            </a:extLst>
          </p:cNvPr>
          <p:cNvSpPr/>
          <p:nvPr/>
        </p:nvSpPr>
        <p:spPr>
          <a:xfrm>
            <a:off x="4480560" y="5514868"/>
            <a:ext cx="365760" cy="219456"/>
          </a:xfrm>
          <a:prstGeom prst="roundRect">
            <a:avLst>
              <a:gd name="adj" fmla="val 25000"/>
            </a:avLst>
          </a:prstGeom>
          <a:solidFill>
            <a:srgbClr val="3AD1D1"/>
          </a:solidFill>
          <a:ln/>
        </p:spPr>
        <p:txBody>
          <a:bodyPr/>
          <a:lstStyle/>
          <a:p>
            <a:endParaRPr lang="es-CL"/>
          </a:p>
        </p:txBody>
      </p:sp>
      <p:sp>
        <p:nvSpPr>
          <p:cNvPr id="110" name="Text 24">
            <a:extLst>
              <a:ext uri="{FF2B5EF4-FFF2-40B4-BE49-F238E27FC236}">
                <a16:creationId xmlns:a16="http://schemas.microsoft.com/office/drawing/2014/main" id="{FACCF643-E4D4-CD10-91B3-F7DE67986597}"/>
              </a:ext>
            </a:extLst>
          </p:cNvPr>
          <p:cNvSpPr/>
          <p:nvPr/>
        </p:nvSpPr>
        <p:spPr>
          <a:xfrm>
            <a:off x="4480560" y="5514868"/>
            <a:ext cx="365760" cy="219456"/>
          </a:xfrm>
          <a:prstGeom prst="rect">
            <a:avLst/>
          </a:prstGeom>
          <a:noFill/>
          <a:ln/>
        </p:spPr>
        <p:txBody>
          <a:bodyPr wrap="square" lIns="0" tIns="0" rIns="0" bIns="0" rtlCol="0" anchor="ctr"/>
          <a:lstStyle/>
          <a:p>
            <a:pPr marL="0" indent="0" algn="ctr">
              <a:buNone/>
            </a:pPr>
            <a:r>
              <a:rPr lang="en-US" sz="850" b="1" dirty="0">
                <a:solidFill>
                  <a:srgbClr val="20242C"/>
                </a:solidFill>
                <a:latin typeface="Calibri" pitchFamily="34" charset="0"/>
                <a:ea typeface="Calibri" pitchFamily="34" charset="-122"/>
                <a:cs typeface="Calibri" pitchFamily="34" charset="-120"/>
              </a:rPr>
              <a:t>NO</a:t>
            </a:r>
            <a:endParaRPr lang="en-US" sz="850" dirty="0"/>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A9D8-9C90-E437-D5F2-1422513A5302}"/>
            </a:ext>
          </a:extLst>
        </p:cNvPr>
        <p:cNvGrpSpPr/>
        <p:nvPr/>
      </p:nvGrpSpPr>
      <p:grpSpPr>
        <a:xfrm>
          <a:off x="0" y="0"/>
          <a:ext cx="0" cy="0"/>
          <a:chOff x="0" y="0"/>
          <a:chExt cx="0" cy="0"/>
        </a:xfrm>
      </p:grpSpPr>
      <p:graphicFrame>
        <p:nvGraphicFramePr>
          <p:cNvPr id="5" name="Objeto 4" hidden="1">
            <a:extLst>
              <a:ext uri="{FF2B5EF4-FFF2-40B4-BE49-F238E27FC236}">
                <a16:creationId xmlns:a16="http://schemas.microsoft.com/office/drawing/2014/main" id="{F5C6160D-2082-9A6F-D6DD-210ED90F0ED6}"/>
              </a:ext>
            </a:extLst>
          </p:cNvPr>
          <p:cNvGraphicFramePr>
            <a:graphicFrameLocks noChangeAspect="1"/>
          </p:cNvGraphicFramePr>
          <p:nvPr>
            <p:custDataLst>
              <p:tags r:id="rId1"/>
            </p:custData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60" imgH="360" progId="">
                  <p:embed/>
                </p:oleObj>
              </mc:Choice>
              <mc:Fallback>
                <p:oleObj name="Diapositiva de think-cell" r:id="rId4" imgW="360" imgH="360" progId="">
                  <p:embed/>
                  <p:pic>
                    <p:nvPicPr>
                      <p:cNvPr id="5" name="Objeto 4" hidden="1">
                        <a:extLst>
                          <a:ext uri="{FF2B5EF4-FFF2-40B4-BE49-F238E27FC236}">
                            <a16:creationId xmlns:a16="http://schemas.microsoft.com/office/drawing/2014/main" id="{F5C6160D-2082-9A6F-D6DD-210ED90F0E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ángulo 2" hidden="1">
            <a:extLst>
              <a:ext uri="{FF2B5EF4-FFF2-40B4-BE49-F238E27FC236}">
                <a16:creationId xmlns:a16="http://schemas.microsoft.com/office/drawing/2014/main" id="{9BCAE1C8-2595-2E4A-1AFC-423D936EA1C2}"/>
              </a:ext>
            </a:extLst>
          </p:cNvPr>
          <p:cNvSpPr/>
          <p:nvPr>
            <p:custDataLst>
              <p:tags r:id="rId2"/>
            </p:custDataLst>
          </p:nvPr>
        </p:nvSpPr>
        <p:spPr>
          <a:xfrm>
            <a:off x="1524000" y="0"/>
            <a:ext cx="158750" cy="15875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4" name="Título 1">
            <a:extLst>
              <a:ext uri="{FF2B5EF4-FFF2-40B4-BE49-F238E27FC236}">
                <a16:creationId xmlns:a16="http://schemas.microsoft.com/office/drawing/2014/main" id="{9BBC190F-21F3-0A2B-3E19-5787C3B48A65}"/>
              </a:ext>
            </a:extLst>
          </p:cNvPr>
          <p:cNvSpPr txBox="1">
            <a:spLocks/>
          </p:cNvSpPr>
          <p:nvPr/>
        </p:nvSpPr>
        <p:spPr bwMode="auto">
          <a:xfrm>
            <a:off x="397024" y="274439"/>
            <a:ext cx="10081120" cy="3462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2"/>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11978" rtl="0" eaLnBrk="1" fontAlgn="base" hangingPunct="1">
              <a:spcBef>
                <a:spcPct val="0"/>
              </a:spcBef>
              <a:spcAft>
                <a:spcPct val="0"/>
              </a:spcAft>
              <a:tabLst>
                <a:tab pos="274887" algn="l"/>
              </a:tabLst>
              <a:defRPr sz="1600" b="1" baseline="0">
                <a:solidFill>
                  <a:schemeClr val="tx2"/>
                </a:solidFill>
                <a:latin typeface="Calibri" charset="0"/>
                <a:ea typeface="Calibri" charset="0"/>
                <a:cs typeface="Calibri" charset="0"/>
              </a:defRPr>
            </a:lvl1pPr>
            <a:lvl2pPr algn="l" defTabSz="911978" rtl="0" eaLnBrk="1" fontAlgn="base" hangingPunct="1">
              <a:spcBef>
                <a:spcPct val="0"/>
              </a:spcBef>
              <a:spcAft>
                <a:spcPct val="0"/>
              </a:spcAft>
              <a:defRPr sz="1900" b="1">
                <a:solidFill>
                  <a:schemeClr val="tx2"/>
                </a:solidFill>
                <a:latin typeface="Arial" charset="0"/>
              </a:defRPr>
            </a:lvl2pPr>
            <a:lvl3pPr algn="l" defTabSz="911978" rtl="0" eaLnBrk="1" fontAlgn="base" hangingPunct="1">
              <a:spcBef>
                <a:spcPct val="0"/>
              </a:spcBef>
              <a:spcAft>
                <a:spcPct val="0"/>
              </a:spcAft>
              <a:defRPr sz="1900" b="1">
                <a:solidFill>
                  <a:schemeClr val="tx2"/>
                </a:solidFill>
                <a:latin typeface="Arial" charset="0"/>
              </a:defRPr>
            </a:lvl3pPr>
            <a:lvl4pPr algn="l" defTabSz="911978" rtl="0" eaLnBrk="1" fontAlgn="base" hangingPunct="1">
              <a:spcBef>
                <a:spcPct val="0"/>
              </a:spcBef>
              <a:spcAft>
                <a:spcPct val="0"/>
              </a:spcAft>
              <a:defRPr sz="1900" b="1">
                <a:solidFill>
                  <a:schemeClr val="tx2"/>
                </a:solidFill>
                <a:latin typeface="Arial" charset="0"/>
              </a:defRPr>
            </a:lvl4pPr>
            <a:lvl5pPr algn="l" defTabSz="911978" rtl="0" eaLnBrk="1" fontAlgn="base" hangingPunct="1">
              <a:spcBef>
                <a:spcPct val="0"/>
              </a:spcBef>
              <a:spcAft>
                <a:spcPct val="0"/>
              </a:spcAft>
              <a:defRPr sz="1900" b="1">
                <a:solidFill>
                  <a:schemeClr val="tx2"/>
                </a:solidFill>
                <a:latin typeface="Arial" charset="0"/>
              </a:defRPr>
            </a:lvl5pPr>
            <a:lvl6pPr marL="465681" algn="l" defTabSz="911978" rtl="0" eaLnBrk="1" fontAlgn="base" hangingPunct="1">
              <a:spcBef>
                <a:spcPct val="0"/>
              </a:spcBef>
              <a:spcAft>
                <a:spcPct val="0"/>
              </a:spcAft>
              <a:defRPr sz="1900" b="1">
                <a:solidFill>
                  <a:schemeClr val="tx2"/>
                </a:solidFill>
                <a:latin typeface="Arial" charset="0"/>
              </a:defRPr>
            </a:lvl6pPr>
            <a:lvl7pPr marL="931383" algn="l" defTabSz="911978" rtl="0" eaLnBrk="1" fontAlgn="base" hangingPunct="1">
              <a:spcBef>
                <a:spcPct val="0"/>
              </a:spcBef>
              <a:spcAft>
                <a:spcPct val="0"/>
              </a:spcAft>
              <a:defRPr sz="1900" b="1">
                <a:solidFill>
                  <a:schemeClr val="tx2"/>
                </a:solidFill>
                <a:latin typeface="Arial" charset="0"/>
              </a:defRPr>
            </a:lvl7pPr>
            <a:lvl8pPr marL="1397075" algn="l" defTabSz="911978" rtl="0" eaLnBrk="1" fontAlgn="base" hangingPunct="1">
              <a:spcBef>
                <a:spcPct val="0"/>
              </a:spcBef>
              <a:spcAft>
                <a:spcPct val="0"/>
              </a:spcAft>
              <a:defRPr sz="1900" b="1">
                <a:solidFill>
                  <a:schemeClr val="tx2"/>
                </a:solidFill>
                <a:latin typeface="Arial" charset="0"/>
              </a:defRPr>
            </a:lvl8pPr>
            <a:lvl9pPr marL="1862761" algn="l" defTabSz="911978" rtl="0" eaLnBrk="1" fontAlgn="base" hangingPunct="1">
              <a:spcBef>
                <a:spcPct val="0"/>
              </a:spcBef>
              <a:spcAft>
                <a:spcPct val="0"/>
              </a:spcAft>
              <a:defRPr sz="1900" b="1">
                <a:solidFill>
                  <a:schemeClr val="tx2"/>
                </a:solidFill>
                <a:latin typeface="Arial" charset="0"/>
              </a:defRPr>
            </a:lvl9pPr>
          </a:lstStyle>
          <a:p>
            <a:pPr marL="0" marR="0" lvl="0" indent="0" algn="l" defTabSz="911978" rtl="0" eaLnBrk="1" fontAlgn="base" latinLnBrk="0" hangingPunct="1">
              <a:lnSpc>
                <a:spcPct val="100000"/>
              </a:lnSpc>
              <a:spcBef>
                <a:spcPct val="0"/>
              </a:spcBef>
              <a:spcAft>
                <a:spcPct val="0"/>
              </a:spcAft>
              <a:buClrTx/>
              <a:buSzTx/>
              <a:buFontTx/>
              <a:buNone/>
              <a:tabLst>
                <a:tab pos="274887" algn="l"/>
              </a:tabLst>
              <a:defRPr/>
            </a:pPr>
            <a:r>
              <a:rPr kumimoji="0" lang="es-MX" sz="2250" b="1" i="0" u="none" strike="noStrike" kern="1200" cap="none" spc="0" normalizeH="0" baseline="0" noProof="0" dirty="0">
                <a:ln>
                  <a:noFill/>
                </a:ln>
                <a:solidFill>
                  <a:srgbClr val="33448D"/>
                </a:solidFill>
                <a:effectLst/>
                <a:uLnTx/>
                <a:uFillTx/>
                <a:latin typeface="Calibri" panose="020F0502020204030204" pitchFamily="34" charset="0"/>
                <a:ea typeface="Calibri" charset="0"/>
                <a:cs typeface="Calibri" panose="020F0502020204030204" pitchFamily="34" charset="0"/>
              </a:rPr>
              <a:t>S</a:t>
            </a:r>
            <a:r>
              <a:rPr kumimoji="0" lang="es-CL" sz="2250" b="1" i="0" u="none" strike="noStrike" kern="1200" cap="none" spc="0" normalizeH="0" baseline="0" noProof="0" dirty="0" err="1">
                <a:ln>
                  <a:noFill/>
                </a:ln>
                <a:solidFill>
                  <a:srgbClr val="33448D"/>
                </a:solidFill>
                <a:effectLst/>
                <a:uLnTx/>
                <a:uFillTx/>
                <a:latin typeface="Calibri" panose="020F0502020204030204" pitchFamily="34" charset="0"/>
                <a:ea typeface="Calibri" charset="0"/>
                <a:cs typeface="Calibri" panose="020F0502020204030204" pitchFamily="34" charset="0"/>
              </a:rPr>
              <a:t>egmentación</a:t>
            </a:r>
            <a:r>
              <a:rPr kumimoji="0" lang="es-CL" sz="2250" b="1" i="0" u="none" strike="noStrike" kern="1200" cap="none" spc="0" normalizeH="0" baseline="0" noProof="0" dirty="0">
                <a:ln>
                  <a:noFill/>
                </a:ln>
                <a:solidFill>
                  <a:srgbClr val="33448D"/>
                </a:solidFill>
                <a:effectLst/>
                <a:uLnTx/>
                <a:uFillTx/>
                <a:latin typeface="Calibri" panose="020F0502020204030204" pitchFamily="34" charset="0"/>
                <a:ea typeface="Calibri" charset="0"/>
                <a:cs typeface="Calibri" panose="020F0502020204030204" pitchFamily="34" charset="0"/>
              </a:rPr>
              <a:t> Clientes TECSERVICE</a:t>
            </a:r>
          </a:p>
        </p:txBody>
      </p:sp>
      <p:pic>
        <p:nvPicPr>
          <p:cNvPr id="6" name="Imagen 5">
            <a:extLst>
              <a:ext uri="{FF2B5EF4-FFF2-40B4-BE49-F238E27FC236}">
                <a16:creationId xmlns:a16="http://schemas.microsoft.com/office/drawing/2014/main" id="{93A24C2D-2A47-0B61-E7DE-57B4DB7AF46F}"/>
              </a:ext>
            </a:extLst>
          </p:cNvPr>
          <p:cNvPicPr>
            <a:picLocks noChangeAspect="1"/>
          </p:cNvPicPr>
          <p:nvPr/>
        </p:nvPicPr>
        <p:blipFill>
          <a:blip r:embed="rId6"/>
          <a:srcRect r="73077"/>
          <a:stretch>
            <a:fillRect/>
          </a:stretch>
        </p:blipFill>
        <p:spPr>
          <a:xfrm>
            <a:off x="10776520" y="37422"/>
            <a:ext cx="504056" cy="584616"/>
          </a:xfrm>
          <a:prstGeom prst="rect">
            <a:avLst/>
          </a:prstGeom>
        </p:spPr>
      </p:pic>
      <p:sp>
        <p:nvSpPr>
          <p:cNvPr id="8" name="Rectángulo 7">
            <a:extLst>
              <a:ext uri="{FF2B5EF4-FFF2-40B4-BE49-F238E27FC236}">
                <a16:creationId xmlns:a16="http://schemas.microsoft.com/office/drawing/2014/main" id="{461381EE-1E7E-EE65-914D-86DB270A2E1F}"/>
              </a:ext>
            </a:extLst>
          </p:cNvPr>
          <p:cNvSpPr/>
          <p:nvPr/>
        </p:nvSpPr>
        <p:spPr>
          <a:xfrm>
            <a:off x="767408" y="1196752"/>
            <a:ext cx="1296144" cy="576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FFFFFF"/>
                </a:solidFill>
                <a:effectLst/>
                <a:uLnTx/>
                <a:uFillTx/>
                <a:latin typeface="Aptos (cuerpo)"/>
                <a:ea typeface="+mn-ea"/>
                <a:cs typeface="+mn-cs"/>
              </a:rPr>
              <a:t>Tamaño</a:t>
            </a:r>
            <a:endParaRPr kumimoji="0" lang="es-CL" sz="1600" b="1" i="0" u="none" strike="noStrike" kern="1200" cap="none" spc="0" normalizeH="0" baseline="0" noProof="0" dirty="0">
              <a:ln>
                <a:noFill/>
              </a:ln>
              <a:solidFill>
                <a:srgbClr val="FFFFFF"/>
              </a:solidFill>
              <a:effectLst/>
              <a:uLnTx/>
              <a:uFillTx/>
              <a:latin typeface="Aptos (cuerpo)"/>
              <a:ea typeface="+mn-ea"/>
              <a:cs typeface="+mn-cs"/>
            </a:endParaRPr>
          </a:p>
        </p:txBody>
      </p:sp>
      <p:sp>
        <p:nvSpPr>
          <p:cNvPr id="9" name="Rectángulo 8">
            <a:extLst>
              <a:ext uri="{FF2B5EF4-FFF2-40B4-BE49-F238E27FC236}">
                <a16:creationId xmlns:a16="http://schemas.microsoft.com/office/drawing/2014/main" id="{CA1D559D-D495-23A9-B7EC-8F1589E264E1}"/>
              </a:ext>
            </a:extLst>
          </p:cNvPr>
          <p:cNvSpPr/>
          <p:nvPr/>
        </p:nvSpPr>
        <p:spPr>
          <a:xfrm>
            <a:off x="767408" y="2708920"/>
            <a:ext cx="1296144" cy="576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FFFFFF"/>
                </a:solidFill>
                <a:effectLst/>
                <a:uLnTx/>
                <a:uFillTx/>
                <a:latin typeface="Aptos (cuerpo)"/>
                <a:ea typeface="+mn-ea"/>
                <a:cs typeface="+mn-cs"/>
              </a:rPr>
              <a:t>Importancia</a:t>
            </a:r>
            <a:endParaRPr kumimoji="0" lang="es-CL" sz="1600" b="1" i="0" u="none" strike="noStrike" kern="1200" cap="none" spc="0" normalizeH="0" baseline="0" noProof="0" dirty="0">
              <a:ln>
                <a:noFill/>
              </a:ln>
              <a:solidFill>
                <a:srgbClr val="FFFFFF"/>
              </a:solidFill>
              <a:effectLst/>
              <a:uLnTx/>
              <a:uFillTx/>
              <a:latin typeface="Aptos (cuerpo)"/>
              <a:ea typeface="+mn-ea"/>
              <a:cs typeface="+mn-cs"/>
            </a:endParaRPr>
          </a:p>
        </p:txBody>
      </p:sp>
      <p:sp>
        <p:nvSpPr>
          <p:cNvPr id="10" name="Rectángulo 9">
            <a:extLst>
              <a:ext uri="{FF2B5EF4-FFF2-40B4-BE49-F238E27FC236}">
                <a16:creationId xmlns:a16="http://schemas.microsoft.com/office/drawing/2014/main" id="{BCBB0771-A72D-8D59-F2F3-D27473C4139F}"/>
              </a:ext>
            </a:extLst>
          </p:cNvPr>
          <p:cNvSpPr/>
          <p:nvPr/>
        </p:nvSpPr>
        <p:spPr>
          <a:xfrm>
            <a:off x="767408" y="4221088"/>
            <a:ext cx="1296144" cy="576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FFFFFF"/>
                </a:solidFill>
                <a:effectLst/>
                <a:uLnTx/>
                <a:uFillTx/>
                <a:latin typeface="Aptos (cuerpo)"/>
                <a:ea typeface="+mn-ea"/>
                <a:cs typeface="+mn-cs"/>
              </a:rPr>
              <a:t>Complejidad</a:t>
            </a:r>
            <a:endParaRPr kumimoji="0" lang="es-CL" sz="1600" b="1" i="0" u="none" strike="noStrike" kern="1200" cap="none" spc="0" normalizeH="0" baseline="0" noProof="0" dirty="0">
              <a:ln>
                <a:noFill/>
              </a:ln>
              <a:solidFill>
                <a:srgbClr val="FFFFFF"/>
              </a:solidFill>
              <a:effectLst/>
              <a:uLnTx/>
              <a:uFillTx/>
              <a:latin typeface="Aptos (cuerpo)"/>
              <a:ea typeface="+mn-ea"/>
              <a:cs typeface="+mn-cs"/>
            </a:endParaRPr>
          </a:p>
        </p:txBody>
      </p:sp>
      <p:sp>
        <p:nvSpPr>
          <p:cNvPr id="11" name="Rectángulo 10">
            <a:extLst>
              <a:ext uri="{FF2B5EF4-FFF2-40B4-BE49-F238E27FC236}">
                <a16:creationId xmlns:a16="http://schemas.microsoft.com/office/drawing/2014/main" id="{93565C03-5700-3699-E766-3A42F54269A8}"/>
              </a:ext>
            </a:extLst>
          </p:cNvPr>
          <p:cNvSpPr/>
          <p:nvPr/>
        </p:nvSpPr>
        <p:spPr>
          <a:xfrm>
            <a:off x="767408" y="5733256"/>
            <a:ext cx="1296144" cy="576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srgbClr val="FFFFFF"/>
                </a:solidFill>
                <a:effectLst/>
                <a:uLnTx/>
                <a:uFillTx/>
                <a:latin typeface="Aptos (cuerpo)"/>
                <a:ea typeface="+mn-ea"/>
                <a:cs typeface="+mn-cs"/>
              </a:rPr>
              <a:t>Potencial</a:t>
            </a:r>
            <a:endParaRPr kumimoji="0" lang="es-CL" sz="1600" b="1" i="0" u="none" strike="noStrike" kern="1200" cap="none" spc="0" normalizeH="0" baseline="0" noProof="0" dirty="0">
              <a:ln>
                <a:noFill/>
              </a:ln>
              <a:solidFill>
                <a:srgbClr val="FFFFFF"/>
              </a:solidFill>
              <a:effectLst/>
              <a:uLnTx/>
              <a:uFillTx/>
              <a:latin typeface="Aptos (cuerpo)"/>
              <a:ea typeface="+mn-ea"/>
              <a:cs typeface="+mn-cs"/>
            </a:endParaRPr>
          </a:p>
        </p:txBody>
      </p:sp>
      <p:sp>
        <p:nvSpPr>
          <p:cNvPr id="13" name="Rectángulo 12">
            <a:extLst>
              <a:ext uri="{FF2B5EF4-FFF2-40B4-BE49-F238E27FC236}">
                <a16:creationId xmlns:a16="http://schemas.microsoft.com/office/drawing/2014/main" id="{DB5FD7F8-B116-6185-4DF1-AC790A009874}"/>
              </a:ext>
            </a:extLst>
          </p:cNvPr>
          <p:cNvSpPr/>
          <p:nvPr/>
        </p:nvSpPr>
        <p:spPr>
          <a:xfrm>
            <a:off x="263352" y="6381328"/>
            <a:ext cx="1296144" cy="28803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282DF0"/>
              </a:solidFill>
              <a:effectLst/>
              <a:uLnTx/>
              <a:uFillTx/>
              <a:latin typeface="Aptos (cuerpo)"/>
              <a:ea typeface="+mn-ea"/>
              <a:cs typeface="+mn-cs"/>
            </a:endParaRPr>
          </a:p>
        </p:txBody>
      </p:sp>
      <p:sp>
        <p:nvSpPr>
          <p:cNvPr id="14" name="Rectángulo 13">
            <a:extLst>
              <a:ext uri="{FF2B5EF4-FFF2-40B4-BE49-F238E27FC236}">
                <a16:creationId xmlns:a16="http://schemas.microsoft.com/office/drawing/2014/main" id="{99D587CD-16E6-BE78-57D0-EE93CBE904AC}"/>
              </a:ext>
            </a:extLst>
          </p:cNvPr>
          <p:cNvSpPr/>
          <p:nvPr/>
        </p:nvSpPr>
        <p:spPr>
          <a:xfrm>
            <a:off x="2078902" y="1196752"/>
            <a:ext cx="1528769" cy="79208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$M/Margen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Base Instalada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 Visitas</a:t>
            </a:r>
            <a:endParaRPr kumimoji="0" lang="es-CL" sz="12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15" name="Rectángulo 14">
            <a:extLst>
              <a:ext uri="{FF2B5EF4-FFF2-40B4-BE49-F238E27FC236}">
                <a16:creationId xmlns:a16="http://schemas.microsoft.com/office/drawing/2014/main" id="{B3F165F5-9E42-F36E-F7E1-A402EB785BD3}"/>
              </a:ext>
            </a:extLst>
          </p:cNvPr>
          <p:cNvSpPr/>
          <p:nvPr/>
        </p:nvSpPr>
        <p:spPr>
          <a:xfrm>
            <a:off x="2150910" y="2708920"/>
            <a:ext cx="1528769" cy="79208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Referencia en el Mercado</a:t>
            </a:r>
            <a:endParaRPr kumimoji="0" lang="es-CL" sz="12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17" name="Rectángulo 16">
            <a:extLst>
              <a:ext uri="{FF2B5EF4-FFF2-40B4-BE49-F238E27FC236}">
                <a16:creationId xmlns:a16="http://schemas.microsoft.com/office/drawing/2014/main" id="{0FE39CDB-8E4D-09E1-43C6-8B6F08B3AA59}"/>
              </a:ext>
            </a:extLst>
          </p:cNvPr>
          <p:cNvSpPr/>
          <p:nvPr/>
        </p:nvSpPr>
        <p:spPr>
          <a:xfrm>
            <a:off x="2150910" y="4221088"/>
            <a:ext cx="1920761" cy="79208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Equipamiento / Proceso Complejo (# Cirugías)</a:t>
            </a:r>
            <a:endParaRPr kumimoji="0" lang="es-CL" sz="12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18" name="Rectángulo 17">
            <a:extLst>
              <a:ext uri="{FF2B5EF4-FFF2-40B4-BE49-F238E27FC236}">
                <a16:creationId xmlns:a16="http://schemas.microsoft.com/office/drawing/2014/main" id="{94FD6B76-0BB6-9122-DE6C-EEF0F4C016A4}"/>
              </a:ext>
            </a:extLst>
          </p:cNvPr>
          <p:cNvSpPr/>
          <p:nvPr/>
        </p:nvSpPr>
        <p:spPr>
          <a:xfrm>
            <a:off x="2150910" y="5742198"/>
            <a:ext cx="1920761" cy="79208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dirty="0">
                <a:ln>
                  <a:noFill/>
                </a:ln>
                <a:solidFill>
                  <a:srgbClr val="373C46"/>
                </a:solidFill>
                <a:effectLst/>
                <a:uLnTx/>
                <a:uFillTx/>
                <a:latin typeface="Aptos (cuerpo)"/>
                <a:ea typeface="+mn-ea"/>
                <a:cs typeface="+mn-cs"/>
              </a:rPr>
              <a:t>Negocios Futuros (Pipeline)</a:t>
            </a:r>
            <a:endParaRPr kumimoji="0" lang="es-CL" sz="1200" b="0" i="0" u="none" strike="noStrike" kern="1200" cap="none" spc="0" normalizeH="0" baseline="0" noProof="0" dirty="0">
              <a:ln>
                <a:noFill/>
              </a:ln>
              <a:solidFill>
                <a:srgbClr val="373C46"/>
              </a:solidFill>
              <a:effectLst/>
              <a:uLnTx/>
              <a:uFillTx/>
              <a:latin typeface="Aptos (cuerpo)"/>
              <a:ea typeface="+mn-ea"/>
              <a:cs typeface="+mn-cs"/>
            </a:endParaRPr>
          </a:p>
        </p:txBody>
      </p:sp>
      <p:sp>
        <p:nvSpPr>
          <p:cNvPr id="20" name="Triángulo isósceles 19">
            <a:extLst>
              <a:ext uri="{FF2B5EF4-FFF2-40B4-BE49-F238E27FC236}">
                <a16:creationId xmlns:a16="http://schemas.microsoft.com/office/drawing/2014/main" id="{F3FFA767-BDC1-9D7D-5715-AE61580FF91A}"/>
              </a:ext>
            </a:extLst>
          </p:cNvPr>
          <p:cNvSpPr/>
          <p:nvPr/>
        </p:nvSpPr>
        <p:spPr>
          <a:xfrm rot="5400000">
            <a:off x="1930833" y="3531523"/>
            <a:ext cx="4536504" cy="216024"/>
          </a:xfrm>
          <a:prstGeom prst="triangle">
            <a:avLst/>
          </a:prstGeom>
          <a:solidFill>
            <a:schemeClr val="tx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282DF0"/>
              </a:solidFill>
              <a:effectLst/>
              <a:uLnTx/>
              <a:uFillTx/>
              <a:latin typeface="Aptos (cuerpo)"/>
              <a:ea typeface="+mn-ea"/>
              <a:cs typeface="+mn-cs"/>
            </a:endParaRPr>
          </a:p>
        </p:txBody>
      </p:sp>
      <p:pic>
        <p:nvPicPr>
          <p:cNvPr id="7" name="Imagen 6">
            <a:extLst>
              <a:ext uri="{FF2B5EF4-FFF2-40B4-BE49-F238E27FC236}">
                <a16:creationId xmlns:a16="http://schemas.microsoft.com/office/drawing/2014/main" id="{2F7B713D-D0D6-E91A-52E4-1BC06DA8D3C2}"/>
              </a:ext>
            </a:extLst>
          </p:cNvPr>
          <p:cNvPicPr>
            <a:picLocks noChangeAspect="1"/>
          </p:cNvPicPr>
          <p:nvPr/>
        </p:nvPicPr>
        <p:blipFill>
          <a:blip r:embed="rId7"/>
          <a:srcRect r="22241"/>
          <a:stretch>
            <a:fillRect/>
          </a:stretch>
        </p:blipFill>
        <p:spPr>
          <a:xfrm>
            <a:off x="4440201" y="1007246"/>
            <a:ext cx="7516688" cy="3501874"/>
          </a:xfrm>
          <a:prstGeom prst="rect">
            <a:avLst/>
          </a:prstGeom>
        </p:spPr>
      </p:pic>
      <p:pic>
        <p:nvPicPr>
          <p:cNvPr id="12" name="Imagen 11">
            <a:extLst>
              <a:ext uri="{FF2B5EF4-FFF2-40B4-BE49-F238E27FC236}">
                <a16:creationId xmlns:a16="http://schemas.microsoft.com/office/drawing/2014/main" id="{9EA1F8BC-2AD3-2589-7D01-73C026251207}"/>
              </a:ext>
            </a:extLst>
          </p:cNvPr>
          <p:cNvPicPr>
            <a:picLocks noChangeAspect="1"/>
          </p:cNvPicPr>
          <p:nvPr/>
        </p:nvPicPr>
        <p:blipFill>
          <a:blip r:embed="rId8"/>
          <a:stretch>
            <a:fillRect/>
          </a:stretch>
        </p:blipFill>
        <p:spPr>
          <a:xfrm>
            <a:off x="4440201" y="4652714"/>
            <a:ext cx="7384622" cy="1250760"/>
          </a:xfrm>
          <a:prstGeom prst="rect">
            <a:avLst/>
          </a:prstGeom>
        </p:spPr>
      </p:pic>
    </p:spTree>
    <p:extLst>
      <p:ext uri="{BB962C8B-B14F-4D97-AF65-F5344CB8AC3E}">
        <p14:creationId xmlns:p14="http://schemas.microsoft.com/office/powerpoint/2010/main" val="1650546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62E94-05A6-2EB6-17F7-909776181B54}"/>
            </a:ext>
          </a:extLst>
        </p:cNvPr>
        <p:cNvGrpSpPr/>
        <p:nvPr/>
      </p:nvGrpSpPr>
      <p:grpSpPr>
        <a:xfrm>
          <a:off x="0" y="0"/>
          <a:ext cx="0" cy="0"/>
          <a:chOff x="0" y="0"/>
          <a:chExt cx="0" cy="0"/>
        </a:xfrm>
      </p:grpSpPr>
      <p:sp>
        <p:nvSpPr>
          <p:cNvPr id="8" name="Título 7">
            <a:extLst>
              <a:ext uri="{FF2B5EF4-FFF2-40B4-BE49-F238E27FC236}">
                <a16:creationId xmlns:a16="http://schemas.microsoft.com/office/drawing/2014/main" id="{1971B52D-C898-EDF2-4F78-252B45AB4F4F}"/>
              </a:ext>
            </a:extLst>
          </p:cNvPr>
          <p:cNvSpPr>
            <a:spLocks noGrp="1"/>
          </p:cNvSpPr>
          <p:nvPr>
            <p:ph type="title"/>
          </p:nvPr>
        </p:nvSpPr>
        <p:spPr/>
        <p:txBody>
          <a:bodyPr/>
          <a:lstStyle/>
          <a:p>
            <a:endParaRPr lang="es-CL"/>
          </a:p>
        </p:txBody>
      </p:sp>
      <p:sp>
        <p:nvSpPr>
          <p:cNvPr id="10" name="Marcador de contenido 9">
            <a:extLst>
              <a:ext uri="{FF2B5EF4-FFF2-40B4-BE49-F238E27FC236}">
                <a16:creationId xmlns:a16="http://schemas.microsoft.com/office/drawing/2014/main" id="{043659B2-D4F1-30FA-E09A-CEE57EA41BB5}"/>
              </a:ext>
            </a:extLst>
          </p:cNvPr>
          <p:cNvSpPr>
            <a:spLocks noGrp="1"/>
          </p:cNvSpPr>
          <p:nvPr>
            <p:ph idx="1"/>
          </p:nvPr>
        </p:nvSpPr>
        <p:spPr/>
        <p:txBody>
          <a:bodyPr/>
          <a:lstStyle/>
          <a:p>
            <a:endParaRPr lang="es-CL"/>
          </a:p>
        </p:txBody>
      </p:sp>
      <p:sp>
        <p:nvSpPr>
          <p:cNvPr id="4" name="Marcador de número de diapositiva 3">
            <a:extLst>
              <a:ext uri="{FF2B5EF4-FFF2-40B4-BE49-F238E27FC236}">
                <a16:creationId xmlns:a16="http://schemas.microsoft.com/office/drawing/2014/main" id="{B0BA6E50-32D1-A3F0-82DC-37BE55D958D5}"/>
              </a:ext>
            </a:extLst>
          </p:cNvPr>
          <p:cNvSpPr>
            <a:spLocks noGrp="1"/>
          </p:cNvSpPr>
          <p:nvPr>
            <p:ph type="sldNum" sz="quarter" idx="12"/>
          </p:nvPr>
        </p:nvSpPr>
        <p:spPr>
          <a:xfrm>
            <a:off x="8610600" y="6356350"/>
            <a:ext cx="2743200" cy="365125"/>
          </a:xfrm>
        </p:spPr>
        <p:txBody>
          <a:bodyPr/>
          <a:lstStyle/>
          <a:p>
            <a:pPr lvl="0"/>
            <a:fld id="{040A357F-9693-446B-B851-CFA52F9A264B}" type="slidenum">
              <a:rPr lang="es-CL" noProof="0" smtClean="0"/>
              <a:pPr lvl="0"/>
              <a:t>30</a:t>
            </a:fld>
            <a:endParaRPr lang="es-CL" noProof="0"/>
          </a:p>
        </p:txBody>
      </p:sp>
      <p:sp>
        <p:nvSpPr>
          <p:cNvPr id="5" name="Text 2">
            <a:extLst>
              <a:ext uri="{FF2B5EF4-FFF2-40B4-BE49-F238E27FC236}">
                <a16:creationId xmlns:a16="http://schemas.microsoft.com/office/drawing/2014/main" id="{C2FDCBE1-21DB-609F-658D-7B211CBDF4A5}"/>
              </a:ext>
            </a:extLst>
          </p:cNvPr>
          <p:cNvSpPr txBox="1"/>
          <p:nvPr/>
        </p:nvSpPr>
        <p:spPr>
          <a:xfrm>
            <a:off x="393700" y="182711"/>
            <a:ext cx="11430000" cy="4197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Lógica</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Ciudades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2700" b="1" i="0" u="none" strike="noStrike" kern="1200" cap="none" spc="0" normalizeH="0" baseline="0" noProof="0" dirty="0" err="1">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Satelites</a:t>
            </a:r>
            <a:r>
              <a:rPr kumimoji="0" lang="en-US" sz="2700" b="1" i="0" u="none" strike="noStrike" kern="1200" cap="none" spc="0" normalizeH="0" baseline="0" noProof="0" dirty="0">
                <a:ln>
                  <a:noFill/>
                </a:ln>
                <a:solidFill>
                  <a:srgbClr val="33448D"/>
                </a:solidFill>
                <a:effectLst/>
                <a:uLnTx/>
                <a:uFillTx/>
                <a:latin typeface="Roboto" panose="02000000000000000000" pitchFamily="2" charset="0"/>
                <a:ea typeface="Roboto" panose="02000000000000000000" pitchFamily="2" charset="0"/>
                <a:cs typeface="Roboto" panose="02000000000000000000" pitchFamily="2" charset="0"/>
              </a:rPr>
              <a:t> - Hub</a:t>
            </a:r>
            <a:endParaRPr kumimoji="0" lang="en-US" sz="27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38" name="Rectángulo 37">
            <a:extLst>
              <a:ext uri="{FF2B5EF4-FFF2-40B4-BE49-F238E27FC236}">
                <a16:creationId xmlns:a16="http://schemas.microsoft.com/office/drawing/2014/main" id="{DA233DEB-0D54-6DED-548C-4BF933EB44C0}"/>
              </a:ext>
            </a:extLst>
          </p:cNvPr>
          <p:cNvSpPr/>
          <p:nvPr/>
        </p:nvSpPr>
        <p:spPr>
          <a:xfrm>
            <a:off x="10345949" y="5272208"/>
            <a:ext cx="1777041" cy="4485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1050" dirty="0">
                <a:solidFill>
                  <a:schemeClr val="bg2"/>
                </a:solidFill>
                <a:latin typeface="Roboto" panose="02000000000000000000" pitchFamily="2" charset="0"/>
                <a:ea typeface="Roboto" panose="02000000000000000000" pitchFamily="2" charset="0"/>
                <a:cs typeface="Roboto" panose="02000000000000000000" pitchFamily="2" charset="0"/>
              </a:rPr>
              <a:t>-</a:t>
            </a:r>
            <a:endParaRPr lang="es-CL" sz="1050" dirty="0">
              <a:solidFill>
                <a:schemeClr val="bg2"/>
              </a:solidFill>
              <a:latin typeface="Roboto" panose="02000000000000000000" pitchFamily="2" charset="0"/>
              <a:ea typeface="Roboto" panose="02000000000000000000" pitchFamily="2" charset="0"/>
              <a:cs typeface="Roboto" panose="02000000000000000000" pitchFamily="2" charset="0"/>
            </a:endParaRPr>
          </a:p>
        </p:txBody>
      </p:sp>
      <p:pic>
        <p:nvPicPr>
          <p:cNvPr id="9" name="Imagen 8">
            <a:extLst>
              <a:ext uri="{FF2B5EF4-FFF2-40B4-BE49-F238E27FC236}">
                <a16:creationId xmlns:a16="http://schemas.microsoft.com/office/drawing/2014/main" id="{8CD35458-2105-1CA2-16B5-DACAFA531EA0}"/>
              </a:ext>
            </a:extLst>
          </p:cNvPr>
          <p:cNvPicPr>
            <a:picLocks noChangeAspect="1"/>
          </p:cNvPicPr>
          <p:nvPr/>
        </p:nvPicPr>
        <p:blipFill>
          <a:blip r:embed="rId2"/>
          <a:stretch>
            <a:fillRect/>
          </a:stretch>
        </p:blipFill>
        <p:spPr>
          <a:xfrm>
            <a:off x="117656" y="883246"/>
            <a:ext cx="2675710" cy="5351418"/>
          </a:xfrm>
          <a:prstGeom prst="rect">
            <a:avLst/>
          </a:prstGeom>
        </p:spPr>
      </p:pic>
      <p:sp>
        <p:nvSpPr>
          <p:cNvPr id="43" name="Rectángulo 42">
            <a:extLst>
              <a:ext uri="{FF2B5EF4-FFF2-40B4-BE49-F238E27FC236}">
                <a16:creationId xmlns:a16="http://schemas.microsoft.com/office/drawing/2014/main" id="{187EC7AB-E498-723C-F8A4-B5E73CD9239B}"/>
              </a:ext>
            </a:extLst>
          </p:cNvPr>
          <p:cNvSpPr/>
          <p:nvPr/>
        </p:nvSpPr>
        <p:spPr>
          <a:xfrm>
            <a:off x="1461506" y="4023360"/>
            <a:ext cx="539932" cy="16974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Rectángulo 44">
            <a:extLst>
              <a:ext uri="{FF2B5EF4-FFF2-40B4-BE49-F238E27FC236}">
                <a16:creationId xmlns:a16="http://schemas.microsoft.com/office/drawing/2014/main" id="{A70986F7-D2EE-7130-109E-BCE9C89F2EC5}"/>
              </a:ext>
            </a:extLst>
          </p:cNvPr>
          <p:cNvSpPr/>
          <p:nvPr/>
        </p:nvSpPr>
        <p:spPr>
          <a:xfrm>
            <a:off x="1461589" y="3352800"/>
            <a:ext cx="539932" cy="6705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Rectángulo 46">
            <a:extLst>
              <a:ext uri="{FF2B5EF4-FFF2-40B4-BE49-F238E27FC236}">
                <a16:creationId xmlns:a16="http://schemas.microsoft.com/office/drawing/2014/main" id="{B50A20BF-65A3-9DC5-1E1E-CC89B4A635D8}"/>
              </a:ext>
            </a:extLst>
          </p:cNvPr>
          <p:cNvSpPr/>
          <p:nvPr/>
        </p:nvSpPr>
        <p:spPr>
          <a:xfrm>
            <a:off x="1461589" y="865994"/>
            <a:ext cx="539932" cy="24968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49" name="Tabla 48">
            <a:extLst>
              <a:ext uri="{FF2B5EF4-FFF2-40B4-BE49-F238E27FC236}">
                <a16:creationId xmlns:a16="http://schemas.microsoft.com/office/drawing/2014/main" id="{BD5A05F4-AC7C-7CF1-3497-5BE87454BD41}"/>
              </a:ext>
            </a:extLst>
          </p:cNvPr>
          <p:cNvGraphicFramePr>
            <a:graphicFrameLocks noGrp="1"/>
          </p:cNvGraphicFramePr>
          <p:nvPr>
            <p:extLst>
              <p:ext uri="{D42A27DB-BD31-4B8C-83A1-F6EECF244321}">
                <p14:modId xmlns:p14="http://schemas.microsoft.com/office/powerpoint/2010/main" val="3137217925"/>
              </p:ext>
            </p:extLst>
          </p:nvPr>
        </p:nvGraphicFramePr>
        <p:xfrm>
          <a:off x="3225801" y="855928"/>
          <a:ext cx="8704941" cy="5378736"/>
        </p:xfrm>
        <a:graphic>
          <a:graphicData uri="http://schemas.openxmlformats.org/drawingml/2006/table">
            <a:tbl>
              <a:tblPr firstRow="1" bandRow="1">
                <a:tableStyleId>{5C22544A-7EE6-4342-B048-85BDC9FD1C3A}</a:tableStyleId>
              </a:tblPr>
              <a:tblGrid>
                <a:gridCol w="2114939">
                  <a:extLst>
                    <a:ext uri="{9D8B030D-6E8A-4147-A177-3AD203B41FA5}">
                      <a16:colId xmlns:a16="http://schemas.microsoft.com/office/drawing/2014/main" val="2871988816"/>
                    </a:ext>
                  </a:extLst>
                </a:gridCol>
                <a:gridCol w="3688355">
                  <a:extLst>
                    <a:ext uri="{9D8B030D-6E8A-4147-A177-3AD203B41FA5}">
                      <a16:colId xmlns:a16="http://schemas.microsoft.com/office/drawing/2014/main" val="990191345"/>
                    </a:ext>
                  </a:extLst>
                </a:gridCol>
                <a:gridCol w="2901647">
                  <a:extLst>
                    <a:ext uri="{9D8B030D-6E8A-4147-A177-3AD203B41FA5}">
                      <a16:colId xmlns:a16="http://schemas.microsoft.com/office/drawing/2014/main" val="2104030857"/>
                    </a:ext>
                  </a:extLst>
                </a:gridCol>
              </a:tblGrid>
              <a:tr h="368923">
                <a:tc>
                  <a:txBody>
                    <a:bodyPr/>
                    <a:lstStyle/>
                    <a:p>
                      <a:r>
                        <a:rPr lang="es-MX" sz="1000" dirty="0">
                          <a:solidFill>
                            <a:schemeClr val="tx1"/>
                          </a:solidFill>
                        </a:rPr>
                        <a:t>Región</a:t>
                      </a:r>
                      <a:endParaRPr lang="es-CL" sz="1000"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s-MX" sz="1000" dirty="0">
                          <a:solidFill>
                            <a:schemeClr val="tx1"/>
                          </a:solidFill>
                        </a:rPr>
                        <a:t>Región que presta Servicios (Camionetas/Bodegas/Coordinación/Jefatura)</a:t>
                      </a:r>
                      <a:endParaRPr lang="es-CL" sz="1000"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s-MX" sz="1000" dirty="0">
                          <a:solidFill>
                            <a:schemeClr val="tx1"/>
                          </a:solidFill>
                        </a:rPr>
                        <a:t>Tipo de Ciudad (Hub / Satélite / Receptora)</a:t>
                      </a:r>
                      <a:endParaRPr lang="es-CL" sz="1000"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768192972"/>
                  </a:ext>
                </a:extLst>
              </a:tr>
              <a:tr h="311406">
                <a:tc>
                  <a:txBody>
                    <a:bodyPr/>
                    <a:lstStyle/>
                    <a:p>
                      <a:r>
                        <a:rPr lang="es-MX" sz="1000" b="0" dirty="0">
                          <a:solidFill>
                            <a:schemeClr val="bg2"/>
                          </a:solidFill>
                        </a:rPr>
                        <a:t>Arica y Parinacota – XV</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Receptora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622841374"/>
                  </a:ext>
                </a:extLst>
              </a:tr>
              <a:tr h="311406">
                <a:tc>
                  <a:txBody>
                    <a:bodyPr/>
                    <a:lstStyle/>
                    <a:p>
                      <a:r>
                        <a:rPr lang="es-MX" sz="1000" b="0" dirty="0">
                          <a:solidFill>
                            <a:schemeClr val="bg2"/>
                          </a:solidFill>
                        </a:rPr>
                        <a:t>Tarapacá – 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Receptora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245372825"/>
                  </a:ext>
                </a:extLst>
              </a:tr>
              <a:tr h="311406">
                <a:tc>
                  <a:txBody>
                    <a:bodyPr/>
                    <a:lstStyle/>
                    <a:p>
                      <a:r>
                        <a:rPr lang="es-MX" sz="1000" b="0" dirty="0">
                          <a:solidFill>
                            <a:schemeClr val="bg2"/>
                          </a:solidFill>
                        </a:rPr>
                        <a:t>Antofagasta – II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250339581"/>
                  </a:ext>
                </a:extLst>
              </a:tr>
              <a:tr h="311406">
                <a:tc>
                  <a:txBody>
                    <a:bodyPr/>
                    <a:lstStyle/>
                    <a:p>
                      <a:r>
                        <a:rPr lang="es-MX" sz="1000" b="0" dirty="0">
                          <a:solidFill>
                            <a:schemeClr val="bg2"/>
                          </a:solidFill>
                        </a:rPr>
                        <a:t>Atacama – III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15551454"/>
                  </a:ext>
                </a:extLst>
              </a:tr>
              <a:tr h="311406">
                <a:tc>
                  <a:txBody>
                    <a:bodyPr/>
                    <a:lstStyle/>
                    <a:p>
                      <a:r>
                        <a:rPr lang="es-MX" sz="1000" b="0" dirty="0">
                          <a:solidFill>
                            <a:schemeClr val="bg2"/>
                          </a:solidFill>
                        </a:rPr>
                        <a:t>Coquimbo – IV</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dirty="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140286643"/>
                  </a:ext>
                </a:extLst>
              </a:tr>
              <a:tr h="311406">
                <a:tc>
                  <a:txBody>
                    <a:bodyPr/>
                    <a:lstStyle/>
                    <a:p>
                      <a:r>
                        <a:rPr lang="es-MX" sz="1000" b="0" dirty="0">
                          <a:solidFill>
                            <a:schemeClr val="bg2"/>
                          </a:solidFill>
                        </a:rPr>
                        <a:t>Valparaíso – V</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dirty="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48327518"/>
                  </a:ext>
                </a:extLst>
              </a:tr>
              <a:tr h="311406">
                <a:tc>
                  <a:txBody>
                    <a:bodyPr/>
                    <a:lstStyle/>
                    <a:p>
                      <a:r>
                        <a:rPr lang="es-MX" sz="1000" b="0" dirty="0">
                          <a:solidFill>
                            <a:schemeClr val="tx1"/>
                          </a:solidFill>
                        </a:rPr>
                        <a:t>Metropolitana de Santiago – RM</a:t>
                      </a:r>
                      <a:endParaRPr lang="es-CL" sz="1000" b="0"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4"/>
                    </a:solidFill>
                  </a:tcPr>
                </a:tc>
                <a:tc>
                  <a:txBody>
                    <a:bodyPr/>
                    <a:lstStyle/>
                    <a:p>
                      <a:r>
                        <a:rPr lang="es-MX" sz="1000" b="0" dirty="0">
                          <a:solidFill>
                            <a:schemeClr val="tx1"/>
                          </a:solidFill>
                        </a:rPr>
                        <a:t>RM</a:t>
                      </a:r>
                      <a:endParaRPr lang="es-CL" sz="1000" b="0"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4"/>
                    </a:solidFill>
                  </a:tcPr>
                </a:tc>
                <a:tc>
                  <a:txBody>
                    <a:bodyPr/>
                    <a:lstStyle/>
                    <a:p>
                      <a:r>
                        <a:rPr lang="es-MX" sz="1000" b="1" dirty="0">
                          <a:solidFill>
                            <a:schemeClr val="tx1"/>
                          </a:solidFill>
                        </a:rPr>
                        <a:t>Hub</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4"/>
                    </a:solidFill>
                  </a:tcPr>
                </a:tc>
                <a:extLst>
                  <a:ext uri="{0D108BD9-81ED-4DB2-BD59-A6C34878D82A}">
                    <a16:rowId xmlns:a16="http://schemas.microsoft.com/office/drawing/2014/main" val="4031761110"/>
                  </a:ext>
                </a:extLst>
              </a:tr>
              <a:tr h="311406">
                <a:tc>
                  <a:txBody>
                    <a:bodyPr/>
                    <a:lstStyle/>
                    <a:p>
                      <a:r>
                        <a:rPr lang="es-MX" sz="1000" b="0" dirty="0">
                          <a:solidFill>
                            <a:schemeClr val="bg2"/>
                          </a:solidFill>
                        </a:rPr>
                        <a:t>O’Higgins – VI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97300552"/>
                  </a:ext>
                </a:extLst>
              </a:tr>
              <a:tr h="311406">
                <a:tc>
                  <a:txBody>
                    <a:bodyPr/>
                    <a:lstStyle/>
                    <a:p>
                      <a:r>
                        <a:rPr lang="es-MX" sz="1000" b="0" dirty="0">
                          <a:solidFill>
                            <a:schemeClr val="bg2"/>
                          </a:solidFill>
                        </a:rPr>
                        <a:t>Maule – VII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dirty="0">
                          <a:ln>
                            <a:noFill/>
                          </a:ln>
                          <a:solidFill>
                            <a:srgbClr val="373C46"/>
                          </a:solidFill>
                          <a:effectLst/>
                          <a:uLnTx/>
                          <a:uFillTx/>
                          <a:latin typeface="Aptos (cuerpo)"/>
                          <a:ea typeface="+mn-ea"/>
                          <a:cs typeface="+mn-cs"/>
                        </a:rPr>
                        <a:t>Receptora -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719858837"/>
                  </a:ext>
                </a:extLst>
              </a:tr>
              <a:tr h="311406">
                <a:tc>
                  <a:txBody>
                    <a:bodyPr/>
                    <a:lstStyle/>
                    <a:p>
                      <a:r>
                        <a:rPr lang="es-MX" sz="1000" b="0" dirty="0">
                          <a:solidFill>
                            <a:schemeClr val="bg2"/>
                          </a:solidFill>
                        </a:rPr>
                        <a:t>Ñuble – XVI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(Camionetas – Bodega: VIII ; Coordinación – Jefatura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s-MX" sz="1000" b="0" dirty="0">
                          <a:solidFill>
                            <a:schemeClr val="bg2"/>
                          </a:solidFill>
                        </a:rPr>
                        <a:t>Receptora – VIII y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284802608"/>
                  </a:ext>
                </a:extLst>
              </a:tr>
              <a:tr h="311406">
                <a:tc>
                  <a:txBody>
                    <a:bodyPr/>
                    <a:lstStyle/>
                    <a:p>
                      <a:r>
                        <a:rPr lang="es-MX" sz="1000" b="1" dirty="0">
                          <a:solidFill>
                            <a:schemeClr val="tx1"/>
                          </a:solidFill>
                        </a:rPr>
                        <a:t>Bio </a:t>
                      </a:r>
                      <a:r>
                        <a:rPr lang="es-MX" sz="1000" b="1" dirty="0" err="1">
                          <a:solidFill>
                            <a:schemeClr val="tx1"/>
                          </a:solidFill>
                        </a:rPr>
                        <a:t>Bio</a:t>
                      </a:r>
                      <a:r>
                        <a:rPr lang="es-MX" sz="1000" b="1" dirty="0">
                          <a:solidFill>
                            <a:schemeClr val="tx1"/>
                          </a:solidFill>
                        </a:rPr>
                        <a:t> – VIII</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lang="es-MX" sz="1000" b="1" dirty="0">
                          <a:solidFill>
                            <a:schemeClr val="tx1"/>
                          </a:solidFill>
                        </a:rPr>
                        <a:t>VIII</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lang="es-MX" sz="1000" b="1" dirty="0">
                          <a:solidFill>
                            <a:schemeClr val="tx1"/>
                          </a:solidFill>
                        </a:rPr>
                        <a:t>Satélite</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875850028"/>
                  </a:ext>
                </a:extLst>
              </a:tr>
              <a:tr h="311406">
                <a:tc>
                  <a:txBody>
                    <a:bodyPr/>
                    <a:lstStyle/>
                    <a:p>
                      <a:r>
                        <a:rPr lang="es-MX" sz="1000" b="0" dirty="0">
                          <a:solidFill>
                            <a:schemeClr val="bg2"/>
                          </a:solidFill>
                        </a:rPr>
                        <a:t>La Araucanía – IX</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(Camionetas – Bodega: VIII ; Coordinación – Jefatura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373C46"/>
                          </a:solidFill>
                          <a:effectLst/>
                          <a:uLnTx/>
                          <a:uFillTx/>
                          <a:latin typeface="Aptos (cuerpo)"/>
                          <a:ea typeface="+mn-ea"/>
                          <a:cs typeface="+mn-cs"/>
                        </a:rPr>
                        <a:t>Receptora – VIII y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476727505"/>
                  </a:ext>
                </a:extLst>
              </a:tr>
              <a:tr h="311406">
                <a:tc>
                  <a:txBody>
                    <a:bodyPr/>
                    <a:lstStyle/>
                    <a:p>
                      <a:r>
                        <a:rPr lang="es-MX" sz="1000" b="0" dirty="0">
                          <a:solidFill>
                            <a:schemeClr val="bg2"/>
                          </a:solidFill>
                        </a:rPr>
                        <a:t>Los Ríos – XIV</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(Camionetas – Bodega: X ; Coordinación – Jefatura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dirty="0">
                          <a:ln>
                            <a:noFill/>
                          </a:ln>
                          <a:solidFill>
                            <a:srgbClr val="373C46"/>
                          </a:solidFill>
                          <a:effectLst/>
                          <a:uLnTx/>
                          <a:uFillTx/>
                          <a:latin typeface="Aptos (cuerpo)"/>
                          <a:ea typeface="+mn-ea"/>
                          <a:cs typeface="+mn-cs"/>
                        </a:rPr>
                        <a:t>Receptora – X y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995255705"/>
                  </a:ext>
                </a:extLst>
              </a:tr>
              <a:tr h="311406">
                <a:tc>
                  <a:txBody>
                    <a:bodyPr/>
                    <a:lstStyle/>
                    <a:p>
                      <a:r>
                        <a:rPr lang="es-MX" sz="1000" b="1" dirty="0">
                          <a:solidFill>
                            <a:schemeClr val="tx1"/>
                          </a:solidFill>
                        </a:rPr>
                        <a:t>Los Lagos - X</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lang="es-MX" sz="1000" b="1" dirty="0">
                          <a:solidFill>
                            <a:schemeClr val="tx1"/>
                          </a:solidFill>
                        </a:rPr>
                        <a:t>X</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1" dirty="0">
                          <a:solidFill>
                            <a:schemeClr val="tx1"/>
                          </a:solidFill>
                        </a:rPr>
                        <a:t>Satélite</a:t>
                      </a:r>
                      <a:endParaRPr lang="es-CL" sz="1000" b="1" dirty="0">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503932493"/>
                  </a:ext>
                </a:extLst>
              </a:tr>
              <a:tr h="311406">
                <a:tc>
                  <a:txBody>
                    <a:bodyPr/>
                    <a:lstStyle/>
                    <a:p>
                      <a:r>
                        <a:rPr lang="es-MX" sz="1000" b="0" dirty="0">
                          <a:solidFill>
                            <a:schemeClr val="bg2"/>
                          </a:solidFill>
                        </a:rPr>
                        <a:t>Aysén – XI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(Camionetas – Bodega: X ; Coordinación – Jefatura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373C46"/>
                          </a:solidFill>
                          <a:effectLst/>
                          <a:uLnTx/>
                          <a:uFillTx/>
                          <a:latin typeface="Aptos (cuerpo)"/>
                          <a:ea typeface="+mn-ea"/>
                          <a:cs typeface="+mn-cs"/>
                        </a:rPr>
                        <a:t>Receptora – X y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954250968"/>
                  </a:ext>
                </a:extLst>
              </a:tr>
              <a:tr h="311406">
                <a:tc>
                  <a:txBody>
                    <a:bodyPr/>
                    <a:lstStyle/>
                    <a:p>
                      <a:r>
                        <a:rPr lang="es-MX" sz="1000" b="0" dirty="0">
                          <a:solidFill>
                            <a:schemeClr val="bg2"/>
                          </a:solidFill>
                        </a:rPr>
                        <a:t>Magallanes - XII</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000" b="0" dirty="0">
                          <a:solidFill>
                            <a:schemeClr val="bg2"/>
                          </a:solidFill>
                        </a:rPr>
                        <a:t>(Camionetas – Bodega: X ; Coordinación – Jefatura : RM)</a:t>
                      </a:r>
                      <a:endParaRPr lang="es-CL" sz="1000" b="0" dirty="0">
                        <a:solidFill>
                          <a:schemeClr val="bg2"/>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dirty="0">
                          <a:ln>
                            <a:noFill/>
                          </a:ln>
                          <a:solidFill>
                            <a:srgbClr val="373C46"/>
                          </a:solidFill>
                          <a:effectLst/>
                          <a:uLnTx/>
                          <a:uFillTx/>
                          <a:latin typeface="Aptos (cuerpo)"/>
                          <a:ea typeface="+mn-ea"/>
                          <a:cs typeface="+mn-cs"/>
                        </a:rPr>
                        <a:t>Receptora – X y RM</a:t>
                      </a:r>
                      <a:endParaRPr kumimoji="0" lang="es-CL" sz="1000" b="0" i="0" u="none" strike="noStrike" kern="1200" cap="none" spc="0" normalizeH="0" baseline="0" noProof="0" dirty="0">
                        <a:ln>
                          <a:noFill/>
                        </a:ln>
                        <a:solidFill>
                          <a:srgbClr val="373C46"/>
                        </a:solidFill>
                        <a:effectLst/>
                        <a:uLnTx/>
                        <a:uFillTx/>
                        <a:latin typeface="Aptos (cuerpo)"/>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783450620"/>
                  </a:ext>
                </a:extLst>
              </a:tr>
            </a:tbl>
          </a:graphicData>
        </a:graphic>
      </p:graphicFrame>
    </p:spTree>
    <p:extLst>
      <p:ext uri="{BB962C8B-B14F-4D97-AF65-F5344CB8AC3E}">
        <p14:creationId xmlns:p14="http://schemas.microsoft.com/office/powerpoint/2010/main" val="8725434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eSVMqWVA9Gnjr9V9d_vW4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8iuT6SE3vESxae0jT2qMT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8iuT6SE3vESxae0jT2qMT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bITV3M6t1u7gbmbk99P4g"/>
</p:tagLst>
</file>

<file path=ppt/theme/theme1.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GEMCO S.A FUENTES">
      <a:majorFont>
        <a:latin typeface="Aptos Display (Titulos)"/>
        <a:ea typeface=""/>
        <a:cs typeface=""/>
      </a:majorFont>
      <a:minorFont>
        <a:latin typeface="Aptos (cuerp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ción3" id="{E80E6FEB-C94B-4094-825A-0530542A8056}" vid="{B31F2886-4491-4351-AB3F-77DC8EDD9CAD}"/>
    </a:ext>
  </a:extLst>
</a:theme>
</file>

<file path=ppt/theme/theme2.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ln w="9525">
          <a:solidFill>
            <a:schemeClr val="accent1"/>
          </a:solidFill>
          <a:miter lim="800000"/>
          <a:headEnd/>
          <a:tailEnd/>
        </a:ln>
        <a:effectLst/>
      </a:spPr>
      <a:bodyPr vert="horz" wrap="square" lIns="72009" tIns="72009" rIns="72009" bIns="72009" numCol="1" anchor="t" anchorCtr="0" compatLnSpc="1">
        <a:prstTxWarp prst="textNoShape">
          <a:avLst/>
        </a:prstTxWarp>
        <a:noAutofit/>
      </a:bodyPr>
      <a:lstStyle>
        <a:defPPr marL="1587" indent="0">
          <a:buNone/>
          <a:defRPr sz="1200" dirty="0" smtClean="0"/>
        </a:defPPr>
      </a:lstStyle>
    </a:txDef>
  </a:objectDefaults>
  <a:extraClrSchemeLst>
    <a:extraClrScheme>
      <a:clrScheme name="Blank">
        <a:dk1>
          <a:srgbClr val="00296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CLC2">
        <a:dk1>
          <a:srgbClr val="33448D"/>
        </a:dk1>
        <a:lt1>
          <a:srgbClr val="FFFFFF"/>
        </a:lt1>
        <a:dk2>
          <a:srgbClr val="33448D"/>
        </a:dk2>
        <a:lt2>
          <a:srgbClr val="FFFFFF"/>
        </a:lt2>
        <a:accent1>
          <a:srgbClr val="B6BFDF"/>
        </a:accent1>
        <a:accent2>
          <a:srgbClr val="33448D"/>
        </a:accent2>
        <a:accent3>
          <a:srgbClr val="7686BA"/>
        </a:accent3>
        <a:accent4>
          <a:srgbClr val="BDCB38"/>
        </a:accent4>
        <a:accent5>
          <a:srgbClr val="4BACC6"/>
        </a:accent5>
        <a:accent6>
          <a:srgbClr val="808080"/>
        </a:accent6>
        <a:hlink>
          <a:srgbClr val="7686BA"/>
        </a:hlink>
        <a:folHlink>
          <a:srgbClr val="BDCB3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Stal" id="{1AC1D935-2C88-C040-817C-D9A15233E390}" vid="{EC1175EB-BC99-E14A-9307-325B6B6D0A97}"/>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themeOverride>
</file>

<file path=docProps/app.xml><?xml version="1.0" encoding="utf-8"?>
<Properties xmlns="http://schemas.openxmlformats.org/officeDocument/2006/extended-properties" xmlns:vt="http://schemas.openxmlformats.org/officeDocument/2006/docPropsVTypes">
  <TotalTime>1566</TotalTime>
  <Words>5320</Words>
  <Application>Microsoft Office PowerPoint</Application>
  <PresentationFormat>Panorámica</PresentationFormat>
  <Paragraphs>1096</Paragraphs>
  <Slides>30</Slides>
  <Notes>3</Notes>
  <HiddenSlides>0</HiddenSlides>
  <MMClips>0</MMClips>
  <ScaleCrop>false</ScaleCrop>
  <HeadingPairs>
    <vt:vector size="8" baseType="variant">
      <vt:variant>
        <vt:lpstr>Fuentes usadas</vt:lpstr>
      </vt:variant>
      <vt:variant>
        <vt:i4>9</vt:i4>
      </vt:variant>
      <vt:variant>
        <vt:lpstr>Tema</vt:lpstr>
      </vt:variant>
      <vt:variant>
        <vt:i4>2</vt:i4>
      </vt:variant>
      <vt:variant>
        <vt:lpstr>Servidores OLE incrustados</vt:lpstr>
      </vt:variant>
      <vt:variant>
        <vt:i4>1</vt:i4>
      </vt:variant>
      <vt:variant>
        <vt:lpstr>Títulos de diapositiva</vt:lpstr>
      </vt:variant>
      <vt:variant>
        <vt:i4>30</vt:i4>
      </vt:variant>
    </vt:vector>
  </HeadingPairs>
  <TitlesOfParts>
    <vt:vector size="42" baseType="lpstr">
      <vt:lpstr>Aptos</vt:lpstr>
      <vt:lpstr>Aptos (cuerpo)</vt:lpstr>
      <vt:lpstr>Aptos Display (Titulos)</vt:lpstr>
      <vt:lpstr>Aptos Narrow</vt:lpstr>
      <vt:lpstr>Arial</vt:lpstr>
      <vt:lpstr>Calibri</vt:lpstr>
      <vt:lpstr>Roboto</vt:lpstr>
      <vt:lpstr>Segoe UI</vt:lpstr>
      <vt:lpstr>Wingdings</vt:lpstr>
      <vt:lpstr>Template Presentación Directorio</vt:lpstr>
      <vt:lpstr>12_Blank</vt:lpstr>
      <vt:lpstr>Diapositiva de think-cell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CMA</dc:creator>
  <cp:lastModifiedBy>Cristóbal Muñoz A.</cp:lastModifiedBy>
  <cp:revision>46</cp:revision>
  <dcterms:created xsi:type="dcterms:W3CDTF">2026-04-20T11:43:13Z</dcterms:created>
  <dcterms:modified xsi:type="dcterms:W3CDTF">2026-08-28T23:42:34Z</dcterms:modified>
</cp:coreProperties>
</file>