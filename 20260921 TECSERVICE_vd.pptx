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 id="2147483676" r:id="rId3"/>
  </p:sldMasterIdLst>
  <p:notesMasterIdLst>
    <p:notesMasterId r:id="rId76"/>
  </p:notesMasterIdLst>
  <p:sldIdLst>
    <p:sldId id="256" r:id="rId4"/>
    <p:sldId id="257" r:id="rId5"/>
    <p:sldId id="328" r:id="rId6"/>
    <p:sldId id="259" r:id="rId7"/>
    <p:sldId id="329" r:id="rId8"/>
    <p:sldId id="261" r:id="rId9"/>
    <p:sldId id="262" r:id="rId10"/>
    <p:sldId id="263" r:id="rId11"/>
    <p:sldId id="264" r:id="rId12"/>
    <p:sldId id="265" r:id="rId13"/>
    <p:sldId id="266" r:id="rId14"/>
    <p:sldId id="330" r:id="rId15"/>
    <p:sldId id="268" r:id="rId16"/>
    <p:sldId id="269" r:id="rId17"/>
    <p:sldId id="331" r:id="rId18"/>
    <p:sldId id="271" r:id="rId19"/>
    <p:sldId id="272" r:id="rId20"/>
    <p:sldId id="273" r:id="rId21"/>
    <p:sldId id="274" r:id="rId22"/>
    <p:sldId id="275" r:id="rId23"/>
    <p:sldId id="276" r:id="rId24"/>
    <p:sldId id="277" r:id="rId25"/>
    <p:sldId id="332" r:id="rId26"/>
    <p:sldId id="279" r:id="rId27"/>
    <p:sldId id="280" r:id="rId28"/>
    <p:sldId id="281" r:id="rId29"/>
    <p:sldId id="333" r:id="rId30"/>
    <p:sldId id="283" r:id="rId31"/>
    <p:sldId id="284" r:id="rId32"/>
    <p:sldId id="334" r:id="rId33"/>
    <p:sldId id="286" r:id="rId34"/>
    <p:sldId id="287" r:id="rId35"/>
    <p:sldId id="288" r:id="rId36"/>
    <p:sldId id="289" r:id="rId37"/>
    <p:sldId id="335" r:id="rId38"/>
    <p:sldId id="316" r:id="rId39"/>
    <p:sldId id="336" r:id="rId40"/>
    <p:sldId id="290" r:id="rId41"/>
    <p:sldId id="291" r:id="rId42"/>
    <p:sldId id="292" r:id="rId43"/>
    <p:sldId id="318" r:id="rId44"/>
    <p:sldId id="319" r:id="rId45"/>
    <p:sldId id="320" r:id="rId46"/>
    <p:sldId id="321" r:id="rId47"/>
    <p:sldId id="322" r:id="rId48"/>
    <p:sldId id="323" r:id="rId49"/>
    <p:sldId id="324" r:id="rId50"/>
    <p:sldId id="326" r:id="rId51"/>
    <p:sldId id="327" r:id="rId52"/>
    <p:sldId id="310"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1" r:id="rId71"/>
    <p:sldId id="312" r:id="rId72"/>
    <p:sldId id="313" r:id="rId73"/>
    <p:sldId id="314" r:id="rId74"/>
    <p:sldId id="315" r:id="rId75"/>
  </p:sldIdLst>
  <p:sldSz cx="12192000" cy="6858000"/>
  <p:notesSz cx="6858000" cy="12192000"/>
  <p:embeddedFontLst>
    <p:embeddedFont>
      <p:font typeface="Play" panose="020B0604020202020204" charset="0"/>
      <p:regular r:id="rId77"/>
      <p:bold r:id="rId78"/>
    </p:embeddedFont>
    <p:embeddedFont>
      <p:font typeface="Quattrocento Sans" panose="020B0502050000020003" pitchFamily="34" charset="0"/>
      <p:regular r:id="rId79"/>
      <p:bold r:id="rId80"/>
      <p:italic r:id="rId81"/>
      <p:boldItalic r:id="rId82"/>
    </p:embeddedFont>
    <p:embeddedFont>
      <p:font typeface="Roboto" panose="02000000000000000000" pitchFamily="2"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hcEJ+ppHuWwxQ5NLDVvr/Gil7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D43741-7D58-4360-86AC-F6E32FA5FF39}">
  <a:tblStyle styleId="{13D43741-7D58-4360-86AC-F6E32FA5FF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37305D2-9BBB-409F-AAFB-F33DB949016B}" styleName="Table_1">
    <a:wholeTbl>
      <a:tcTxStyle b="off" i="off">
        <a:font>
          <a:latin typeface="Aptos (cuerpo)"/>
          <a:ea typeface="Aptos (cuerpo)"/>
          <a:cs typeface="Aptos (cuerp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7F4"/>
          </a:solidFill>
        </a:fill>
      </a:tcStyle>
    </a:wholeTbl>
    <a:band1H>
      <a:tcTxStyle/>
      <a:tcStyle>
        <a:tcBdr/>
        <a:fill>
          <a:solidFill>
            <a:srgbClr val="CBEEE9"/>
          </a:solidFill>
        </a:fill>
      </a:tcStyle>
    </a:band1H>
    <a:band2H>
      <a:tcTxStyle/>
      <a:tcStyle>
        <a:tcBdr/>
      </a:tcStyle>
    </a:band2H>
    <a:band1V>
      <a:tcTxStyle/>
      <a:tcStyle>
        <a:tcBdr/>
        <a:fill>
          <a:solidFill>
            <a:srgbClr val="CBEEE9"/>
          </a:solidFill>
        </a:fill>
      </a:tcStyle>
    </a:band1V>
    <a:band2V>
      <a:tcTxStyle/>
      <a:tcStyle>
        <a:tcBdr/>
      </a:tcStyle>
    </a:band2V>
    <a:lastCol>
      <a:tcTxStyle b="on" i="off">
        <a:font>
          <a:latin typeface="Aptos (cuerpo)"/>
          <a:ea typeface="Aptos (cuerpo)"/>
          <a:cs typeface="Aptos (cuerpo)"/>
        </a:font>
        <a:schemeClr val="lt1"/>
      </a:tcTxStyle>
      <a:tcStyle>
        <a:tcBdr/>
        <a:fill>
          <a:solidFill>
            <a:schemeClr val="accent1"/>
          </a:solidFill>
        </a:fill>
      </a:tcStyle>
    </a:lastCol>
    <a:firstCol>
      <a:tcTxStyle b="on" i="off">
        <a:font>
          <a:latin typeface="Aptos (cuerpo)"/>
          <a:ea typeface="Aptos (cuerpo)"/>
          <a:cs typeface="Aptos (cuerpo)"/>
        </a:font>
        <a:schemeClr val="lt1"/>
      </a:tcTxStyle>
      <a:tcStyle>
        <a:tcBdr/>
        <a:fill>
          <a:solidFill>
            <a:schemeClr val="accent1"/>
          </a:solidFill>
        </a:fill>
      </a:tcStyle>
    </a:firstCol>
    <a:lastRow>
      <a:tcTxStyle b="on" i="off">
        <a:font>
          <a:latin typeface="Aptos (cuerpo)"/>
          <a:ea typeface="Aptos (cuerpo)"/>
          <a:cs typeface="Aptos (cuerp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cuerpo)"/>
          <a:ea typeface="Aptos (cuerpo)"/>
          <a:cs typeface="Aptos (cuerp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540" autoAdjust="0"/>
  </p:normalViewPr>
  <p:slideViewPr>
    <p:cSldViewPr showGuides="1">
      <p:cViewPr varScale="1">
        <p:scale>
          <a:sx n="106" d="100"/>
          <a:sy n="106" d="100"/>
        </p:scale>
        <p:origin x="756" y="114"/>
      </p:cViewPr>
      <p:guideLst>
        <p:guide orient="horz" pos="2160"/>
        <p:guide pos="384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8.fntdata"/><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font" Target="fonts/font3.fntdata"/><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font" Target="fonts/font1.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font" Target="fonts/font7.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customschemas.google.com/relationships/presentationmetadata" Target="metadata"/><Relationship Id="rId61" Type="http://schemas.openxmlformats.org/officeDocument/2006/relationships/slide" Target="slides/slide58.xml"/><Relationship Id="rId82" Type="http://schemas.openxmlformats.org/officeDocument/2006/relationships/font" Target="fonts/font6.fntdata"/><Relationship Id="rId19" Type="http://schemas.openxmlformats.org/officeDocument/2006/relationships/slide" Target="slides/slide1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1" name="Google Shape;2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E59A421F-4CA2-E1A1-9DA2-72155C5B2230}"/>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2051CA14-26EF-F3C9-0A8E-4B54FF726CA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BB64A1D-6677-25EA-F54A-6E1F52E1FBD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9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F1DD641-7095-D9DC-B95B-67530045BA18}"/>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657416-B473-1D6E-838D-349D792C75E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A407143-9587-137E-94DC-57210FAD99DB}"/>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965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F812BA8-8D1C-6CBC-D932-8F59A8C5B7A7}"/>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091DAA-B098-7C5A-A182-36729EEAA43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E611C7AA-5802-3FB1-4504-5CB07EB26745}"/>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219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2D4F856A-CE99-7485-A0B7-8FD7B4290A1E}"/>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49798AB8-413A-3F2C-7F96-5702B44E09A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6FE5AA7-DC92-D325-2CE7-A9D520B1230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153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2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39CA8C5-7832-719D-4525-A04BD67ABA1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95E48C49-D6A2-6231-ACBC-6B79FC984FA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5A4FFDF-8D6C-E6D3-CC6E-380480A9BDE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85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3FE2F9C-C37B-D809-F0A7-B9EDC9561C7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26668F6-455A-E2AE-B96A-EE4B159D610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65244A88-E7C8-1E08-7C90-7BB8648CFD8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940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264797E-343C-EFAC-E5E4-7144913B32B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C8C2F813-C534-59D2-72DD-5024AA38AEA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3CADE64-C5C5-C88F-E7FF-1A6929F28C3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372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C1C0580-06A1-D21B-6BAF-47B6D45BFE79}"/>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14091CE-3F58-99B0-737A-8368A51EDE2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CA807973-82CF-CEC7-5A8E-69431D90A9A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3933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3369F362-F4C6-12B7-ECD1-D308B4865564}"/>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CCC00660-C0B5-16F5-DBB0-0BEC2816AD1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F2BBD5C8-1637-4A7F-AFAC-5C519EE4521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906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2A4361-7816-9769-1B48-A43D40355D7F}"/>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C72461D-B107-E55D-3125-DE745FFA81C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454DDC4-8FCB-58B3-49DB-E95E74B3ACA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77374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4D19BCD7-460F-C3A9-42ED-1B4C9B701CCB}"/>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E0E8FF5D-C204-8CCD-E5ED-A6FEB001C94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5E240E1C-F265-B7A7-FF9E-9D04E7CF070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167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3475810-034E-1D38-8066-83DD8B76F0EF}"/>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304EA81B-82B8-BEBE-742D-70E1EF542AA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45E7B4B2-E67D-583F-3610-853AE2F8D40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2678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9A040A0C-4AE3-D3B3-B9C9-8320050ECE8C}"/>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82122D5A-581F-8EB0-7229-97615181630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D0DD008-DFDF-44D6-6687-246DDAB2F93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607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3E40192-3A1D-4366-84BE-08D1B996CD9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B139E11E-E640-58D2-8319-DBE811A48E2E}"/>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679EBFEA-B961-64B5-3BF8-631C10C3150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412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81DE44A-C7F4-1F95-7671-83DC70C7A442}"/>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CF94DC9C-4FD9-7F7E-59A5-569518E6BE3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45E7E4B9-351F-DF7F-11BF-D25EC20E5ED6}"/>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8539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2CC34D9-0734-5C9E-D62E-7A46C7CD3A91}"/>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ADB0B909-218B-A01F-CA15-2F15C8FB3226}"/>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28C4D9A6-7C76-A681-ED4C-7B1DA49AFF5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3686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8172DA3-DFD9-E168-517B-C3E6192E80B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230230BB-F85E-DA70-A891-1467EC19F12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9725F19-BA93-F179-574E-F3EC21CBC4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7190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5CBBBD0C-C0C6-EBEF-82F6-FA149EDA0C6E}"/>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13BD9216-1A83-001B-C379-B7980F59221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76B1CF5-E37B-AABE-B3DF-66AD1FE739A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5206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F4E92A06-1476-0A30-0482-AD4253CFB62F}"/>
            </a:ext>
          </a:extLst>
        </p:cNvPr>
        <p:cNvGrpSpPr/>
        <p:nvPr/>
      </p:nvGrpSpPr>
      <p:grpSpPr>
        <a:xfrm>
          <a:off x="0" y="0"/>
          <a:ext cx="0" cy="0"/>
          <a:chOff x="0" y="0"/>
          <a:chExt cx="0" cy="0"/>
        </a:xfrm>
      </p:grpSpPr>
      <p:sp>
        <p:nvSpPr>
          <p:cNvPr id="486" name="Google Shape;486;p38:notes">
            <a:extLst>
              <a:ext uri="{FF2B5EF4-FFF2-40B4-BE49-F238E27FC236}">
                <a16:creationId xmlns:a16="http://schemas.microsoft.com/office/drawing/2014/main" id="{F6495F03-0AC8-88A5-2EB7-45FAE1723BD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a:extLst>
              <a:ext uri="{FF2B5EF4-FFF2-40B4-BE49-F238E27FC236}">
                <a16:creationId xmlns:a16="http://schemas.microsoft.com/office/drawing/2014/main" id="{82B99D5C-99E9-7214-FAC7-7DE6D32E4EC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0521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4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4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4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4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6: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2" name="Google Shape;672;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s-CL" sz="1800">
                <a:solidFill>
                  <a:schemeClr val="dk1"/>
                </a:solidFill>
                <a:latin typeface="Calibri"/>
                <a:ea typeface="Calibri"/>
                <a:cs typeface="Calibri"/>
                <a:sym typeface="Calibri"/>
              </a:rPr>
              <a:t>69</a:t>
            </a:fld>
            <a:endParaRPr sz="1800">
              <a:solidFill>
                <a:schemeClr val="dk1"/>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4" name="Google Shape;774;p58: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5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s-CL" sz="1800" b="0" i="0" u="none" strike="noStrike" cap="none">
                <a:solidFill>
                  <a:srgbClr val="000000"/>
                </a:solidFill>
                <a:latin typeface="Calibri"/>
                <a:ea typeface="Calibri"/>
                <a:cs typeface="Calibri"/>
                <a:sym typeface="Calibri"/>
              </a:rPr>
              <a:t>72</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Layouts/_rels/slideLayout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chart" Target="../charts/chart9.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Diapositiva de título">
  <p:cSld name="1_Diapositiva de título">
    <p:spTree>
      <p:nvGrpSpPr>
        <p:cNvPr id="1" name="Shape 11"/>
        <p:cNvGrpSpPr/>
        <p:nvPr/>
      </p:nvGrpSpPr>
      <p:grpSpPr>
        <a:xfrm>
          <a:off x="0" y="0"/>
          <a:ext cx="0" cy="0"/>
          <a:chOff x="0" y="0"/>
          <a:chExt cx="0" cy="0"/>
        </a:xfrm>
      </p:grpSpPr>
      <p:sp>
        <p:nvSpPr>
          <p:cNvPr id="12" name="Google Shape;12;p62"/>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3" name="Google Shape;13;p62"/>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4" name="Google Shape;14;p62"/>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5" name="Google Shape;15;p62"/>
          <p:cNvSpPr txBox="1">
            <a:spLocks noGrp="1"/>
          </p:cNvSpPr>
          <p:nvPr>
            <p:ph type="ctrTitle"/>
          </p:nvPr>
        </p:nvSpPr>
        <p:spPr>
          <a:xfrm>
            <a:off x="304554" y="1164614"/>
            <a:ext cx="9211492" cy="702104"/>
          </a:xfrm>
          <a:prstGeom prst="rect">
            <a:avLst/>
          </a:prstGeom>
          <a:solidFill>
            <a:schemeClr val="lt2">
              <a:alpha val="74118"/>
            </a:schemeClr>
          </a:solidFill>
          <a:ln>
            <a:noFill/>
          </a:ln>
        </p:spPr>
        <p:txBody>
          <a:bodyPr spcFirstLastPara="1" wrap="square" lIns="73325" tIns="73325" rIns="73325" bIns="73325" anchor="t" anchorCtr="0">
            <a:spAutoFit/>
          </a:bodyPr>
          <a:lstStyle>
            <a:lvl1pPr lvl="0" algn="l">
              <a:spcBef>
                <a:spcPts val="0"/>
              </a:spcBef>
              <a:spcAft>
                <a:spcPts val="0"/>
              </a:spcAft>
              <a:buSzPts val="1400"/>
              <a:buNone/>
              <a:defRPr sz="3600"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2"/>
          <p:cNvSpPr txBox="1">
            <a:spLocks noGrp="1"/>
          </p:cNvSpPr>
          <p:nvPr>
            <p:ph type="subTitle" idx="1"/>
          </p:nvPr>
        </p:nvSpPr>
        <p:spPr>
          <a:xfrm>
            <a:off x="961120" y="5044946"/>
            <a:ext cx="6714779"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00">
                <a:latin typeface="Calibri"/>
                <a:ea typeface="Calibri"/>
                <a:cs typeface="Calibri"/>
                <a:sym typeface="Calibri"/>
              </a:defRPr>
            </a:lvl1pPr>
            <a:lvl2pPr lvl="1" algn="l">
              <a:spcBef>
                <a:spcPts val="0"/>
              </a:spcBef>
              <a:spcAft>
                <a:spcPts val="0"/>
              </a:spcAft>
              <a:buSzPts val="2250"/>
              <a:buChar char="▪"/>
              <a:defRPr/>
            </a:lvl2pPr>
            <a:lvl3pPr lvl="2" algn="l">
              <a:spcBef>
                <a:spcPts val="0"/>
              </a:spcBef>
              <a:spcAft>
                <a:spcPts val="0"/>
              </a:spcAft>
              <a:buSzPts val="2160"/>
              <a:buChar char="–"/>
              <a:defRPr/>
            </a:lvl3pPr>
            <a:lvl4pPr lvl="3" algn="l">
              <a:spcBef>
                <a:spcPts val="0"/>
              </a:spcBef>
              <a:spcAft>
                <a:spcPts val="0"/>
              </a:spcAft>
              <a:buSzPts val="2160"/>
              <a:buChar char="▫"/>
              <a:defRPr/>
            </a:lvl4pPr>
            <a:lvl5pPr lvl="4" algn="l">
              <a:spcBef>
                <a:spcPts val="0"/>
              </a:spcBef>
              <a:spcAft>
                <a:spcPts val="0"/>
              </a:spcAft>
              <a:buSzPts val="1602"/>
              <a:buChar char="-"/>
              <a:defRPr/>
            </a:lvl5pPr>
            <a:lvl6pPr lvl="5" algn="l">
              <a:spcBef>
                <a:spcPts val="0"/>
              </a:spcBef>
              <a:spcAft>
                <a:spcPts val="0"/>
              </a:spcAft>
              <a:buSzPts val="1602"/>
              <a:buChar char="-"/>
              <a:defRPr/>
            </a:lvl6pPr>
            <a:lvl7pPr lvl="6" algn="l">
              <a:spcBef>
                <a:spcPts val="0"/>
              </a:spcBef>
              <a:spcAft>
                <a:spcPts val="0"/>
              </a:spcAft>
              <a:buSzPts val="1602"/>
              <a:buChar char="-"/>
              <a:defRPr/>
            </a:lvl7pPr>
            <a:lvl8pPr lvl="7" algn="l">
              <a:spcBef>
                <a:spcPts val="0"/>
              </a:spcBef>
              <a:spcAft>
                <a:spcPts val="0"/>
              </a:spcAft>
              <a:buSzPts val="1602"/>
              <a:buChar char="-"/>
              <a:defRPr/>
            </a:lvl8pPr>
            <a:lvl9pPr lvl="8" algn="l">
              <a:spcBef>
                <a:spcPts val="0"/>
              </a:spcBef>
              <a:spcAft>
                <a:spcPts val="0"/>
              </a:spcAft>
              <a:buSzPts val="1602"/>
              <a:buChar char="-"/>
              <a:defRPr/>
            </a:lvl9pPr>
          </a:lstStyle>
          <a:p>
            <a:endParaRPr/>
          </a:p>
        </p:txBody>
      </p:sp>
      <p:pic>
        <p:nvPicPr>
          <p:cNvPr id="17" name="Google Shape;17;p62"/>
          <p:cNvPicPr preferRelativeResize="0"/>
          <p:nvPr/>
        </p:nvPicPr>
        <p:blipFill rotWithShape="1">
          <a:blip r:embed="rId2">
            <a:alphaModFix/>
          </a:blip>
          <a:srcRect/>
          <a:stretch/>
        </p:blipFill>
        <p:spPr>
          <a:xfrm>
            <a:off x="10032438" y="2787731"/>
            <a:ext cx="1863983" cy="123558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p:cSld name="Diapositiva de título">
    <p:spTree>
      <p:nvGrpSpPr>
        <p:cNvPr id="1" name="Shape 18"/>
        <p:cNvGrpSpPr/>
        <p:nvPr/>
      </p:nvGrpSpPr>
      <p:grpSpPr>
        <a:xfrm>
          <a:off x="0" y="0"/>
          <a:ext cx="0" cy="0"/>
          <a:chOff x="0" y="0"/>
          <a:chExt cx="0" cy="0"/>
        </a:xfrm>
      </p:grpSpPr>
      <p:sp>
        <p:nvSpPr>
          <p:cNvPr id="19" name="Google Shape;19;p87"/>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0" name="Google Shape;20;p87"/>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1" name="Google Shape;21;p87"/>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pic>
        <p:nvPicPr>
          <p:cNvPr id="22" name="Google Shape;22;p87"/>
          <p:cNvPicPr preferRelativeResize="0"/>
          <p:nvPr/>
        </p:nvPicPr>
        <p:blipFill rotWithShape="1">
          <a:blip r:embed="rId2">
            <a:alphaModFix/>
          </a:blip>
          <a:srcRect/>
          <a:stretch/>
        </p:blipFill>
        <p:spPr>
          <a:xfrm>
            <a:off x="2376597" y="5048676"/>
            <a:ext cx="2223747" cy="766810"/>
          </a:xfrm>
          <a:prstGeom prst="rect">
            <a:avLst/>
          </a:prstGeom>
          <a:noFill/>
          <a:ln>
            <a:noFill/>
          </a:ln>
        </p:spPr>
      </p:pic>
      <p:pic>
        <p:nvPicPr>
          <p:cNvPr id="23" name="Google Shape;23;p87"/>
          <p:cNvPicPr preferRelativeResize="0"/>
          <p:nvPr/>
        </p:nvPicPr>
        <p:blipFill rotWithShape="1">
          <a:blip r:embed="rId3">
            <a:alphaModFix/>
          </a:blip>
          <a:srcRect/>
          <a:stretch/>
        </p:blipFill>
        <p:spPr>
          <a:xfrm>
            <a:off x="7752184" y="5188802"/>
            <a:ext cx="1744452" cy="486559"/>
          </a:xfrm>
          <a:prstGeom prst="rect">
            <a:avLst/>
          </a:prstGeom>
          <a:noFill/>
          <a:ln>
            <a:noFill/>
          </a:ln>
        </p:spPr>
      </p:pic>
      <p:pic>
        <p:nvPicPr>
          <p:cNvPr id="24" name="Google Shape;24;p87"/>
          <p:cNvPicPr preferRelativeResize="0"/>
          <p:nvPr/>
        </p:nvPicPr>
        <p:blipFill rotWithShape="1">
          <a:blip r:embed="rId4">
            <a:alphaModFix/>
          </a:blip>
          <a:srcRect/>
          <a:stretch/>
        </p:blipFill>
        <p:spPr>
          <a:xfrm>
            <a:off x="5441133" y="4906988"/>
            <a:ext cx="1470262" cy="10501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5"/>
        <p:cNvGrpSpPr/>
        <p:nvPr/>
      </p:nvGrpSpPr>
      <p:grpSpPr>
        <a:xfrm>
          <a:off x="0" y="0"/>
          <a:ext cx="0" cy="0"/>
          <a:chOff x="0" y="0"/>
          <a:chExt cx="0" cy="0"/>
        </a:xfrm>
      </p:grpSpPr>
      <p:sp>
        <p:nvSpPr>
          <p:cNvPr id="26" name="Google Shape;26;p88"/>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8"/>
        <p:cNvGrpSpPr/>
        <p:nvPr/>
      </p:nvGrpSpPr>
      <p:grpSpPr>
        <a:xfrm>
          <a:off x="0" y="0"/>
          <a:ext cx="0" cy="0"/>
          <a:chOff x="0" y="0"/>
          <a:chExt cx="0" cy="0"/>
        </a:xfrm>
      </p:grpSpPr>
      <p:sp>
        <p:nvSpPr>
          <p:cNvPr id="29" name="Google Shape;29;p89"/>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90"/>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body" idx="1"/>
          </p:nvPr>
        </p:nvSpPr>
        <p:spPr>
          <a:xfrm>
            <a:off x="719403" y="1694212"/>
            <a:ext cx="5853024" cy="135421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371475" algn="l">
              <a:spcBef>
                <a:spcPts val="0"/>
              </a:spcBef>
              <a:spcAft>
                <a:spcPts val="0"/>
              </a:spcAft>
              <a:buSzPts val="2250"/>
              <a:buChar char="▪"/>
              <a:defRPr/>
            </a:lvl2pPr>
            <a:lvl3pPr marL="1371600" lvl="2" indent="-365760" algn="l">
              <a:spcBef>
                <a:spcPts val="0"/>
              </a:spcBef>
              <a:spcAft>
                <a:spcPts val="0"/>
              </a:spcAft>
              <a:buSzPts val="2160"/>
              <a:buChar char="–"/>
              <a:defRPr/>
            </a:lvl3pPr>
            <a:lvl4pPr marL="1828800" lvl="3" indent="-365760" algn="l">
              <a:spcBef>
                <a:spcPts val="0"/>
              </a:spcBef>
              <a:spcAft>
                <a:spcPts val="0"/>
              </a:spcAft>
              <a:buSzPts val="2160"/>
              <a:buChar char="▫"/>
              <a:defRPr/>
            </a:lvl4pPr>
            <a:lvl5pPr marL="2286000" lvl="4" indent="-330327" algn="l">
              <a:spcBef>
                <a:spcPts val="0"/>
              </a:spcBef>
              <a:spcAft>
                <a:spcPts val="0"/>
              </a:spcAft>
              <a:buSzPts val="1602"/>
              <a:buChar char="-"/>
              <a:defRPr/>
            </a:lvl5pPr>
            <a:lvl6pPr marL="2743200" lvl="5" indent="-330327" algn="l">
              <a:spcBef>
                <a:spcPts val="0"/>
              </a:spcBef>
              <a:spcAft>
                <a:spcPts val="0"/>
              </a:spcAft>
              <a:buSzPts val="1602"/>
              <a:buChar char="-"/>
              <a:defRPr/>
            </a:lvl6pPr>
            <a:lvl7pPr marL="3200400" lvl="6" indent="-330327" algn="l">
              <a:spcBef>
                <a:spcPts val="0"/>
              </a:spcBef>
              <a:spcAft>
                <a:spcPts val="0"/>
              </a:spcAft>
              <a:buSzPts val="1602"/>
              <a:buChar char="-"/>
              <a:defRPr/>
            </a:lvl7pPr>
            <a:lvl8pPr marL="3657600" lvl="7" indent="-330327" algn="l">
              <a:spcBef>
                <a:spcPts val="0"/>
              </a:spcBef>
              <a:spcAft>
                <a:spcPts val="0"/>
              </a:spcAft>
              <a:buSzPts val="1602"/>
              <a:buChar char="-"/>
              <a:defRPr/>
            </a:lvl8pPr>
            <a:lvl9pPr marL="4114800" lvl="8" indent="-330327" algn="l">
              <a:spcBef>
                <a:spcPts val="0"/>
              </a:spcBef>
              <a:spcAft>
                <a:spcPts val="0"/>
              </a:spcAft>
              <a:buSzPts val="1602"/>
              <a:buChar char="-"/>
              <a:defRPr/>
            </a:lvl9pPr>
          </a:lstStyle>
          <a:p>
            <a:endParaRPr/>
          </a:p>
        </p:txBody>
      </p:sp>
      <p:sp>
        <p:nvSpPr>
          <p:cNvPr id="33" name="Google Shape;33;p9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4" name="Google Shape;34;p9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9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33448D"/>
                </a:solidFill>
                <a:latin typeface="Arial"/>
                <a:ea typeface="Arial"/>
                <a:cs typeface="Arial"/>
                <a:sym typeface="Arial"/>
              </a:defRPr>
            </a:lvl1pPr>
            <a:lvl2pPr marL="0" marR="0" lvl="1" indent="0" algn="l" rtl="0">
              <a:spcBef>
                <a:spcPts val="0"/>
              </a:spcBef>
              <a:buNone/>
              <a:defRPr sz="1800">
                <a:solidFill>
                  <a:srgbClr val="33448D"/>
                </a:solidFill>
                <a:latin typeface="Arial"/>
                <a:ea typeface="Arial"/>
                <a:cs typeface="Arial"/>
                <a:sym typeface="Arial"/>
              </a:defRPr>
            </a:lvl2pPr>
            <a:lvl3pPr marL="0" marR="0" lvl="2" indent="0" algn="l" rtl="0">
              <a:spcBef>
                <a:spcPts val="0"/>
              </a:spcBef>
              <a:buNone/>
              <a:defRPr sz="1800">
                <a:solidFill>
                  <a:srgbClr val="33448D"/>
                </a:solidFill>
                <a:latin typeface="Arial"/>
                <a:ea typeface="Arial"/>
                <a:cs typeface="Arial"/>
                <a:sym typeface="Arial"/>
              </a:defRPr>
            </a:lvl3pPr>
            <a:lvl4pPr marL="0" marR="0" lvl="3" indent="0" algn="l" rtl="0">
              <a:spcBef>
                <a:spcPts val="0"/>
              </a:spcBef>
              <a:buNone/>
              <a:defRPr sz="1800">
                <a:solidFill>
                  <a:srgbClr val="33448D"/>
                </a:solidFill>
                <a:latin typeface="Arial"/>
                <a:ea typeface="Arial"/>
                <a:cs typeface="Arial"/>
                <a:sym typeface="Arial"/>
              </a:defRPr>
            </a:lvl4pPr>
            <a:lvl5pPr marL="0" marR="0" lvl="4" indent="0" algn="l" rtl="0">
              <a:spcBef>
                <a:spcPts val="0"/>
              </a:spcBef>
              <a:buNone/>
              <a:defRPr sz="1800">
                <a:solidFill>
                  <a:srgbClr val="33448D"/>
                </a:solidFill>
                <a:latin typeface="Arial"/>
                <a:ea typeface="Arial"/>
                <a:cs typeface="Arial"/>
                <a:sym typeface="Arial"/>
              </a:defRPr>
            </a:lvl5pPr>
            <a:lvl6pPr marL="0" marR="0" lvl="5" indent="0" algn="l" rtl="0">
              <a:spcBef>
                <a:spcPts val="0"/>
              </a:spcBef>
              <a:buNone/>
              <a:defRPr sz="1800">
                <a:solidFill>
                  <a:srgbClr val="33448D"/>
                </a:solidFill>
                <a:latin typeface="Arial"/>
                <a:ea typeface="Arial"/>
                <a:cs typeface="Arial"/>
                <a:sym typeface="Arial"/>
              </a:defRPr>
            </a:lvl6pPr>
            <a:lvl7pPr marL="0" marR="0" lvl="6" indent="0" algn="l" rtl="0">
              <a:spcBef>
                <a:spcPts val="0"/>
              </a:spcBef>
              <a:buNone/>
              <a:defRPr sz="1800">
                <a:solidFill>
                  <a:srgbClr val="33448D"/>
                </a:solidFill>
                <a:latin typeface="Arial"/>
                <a:ea typeface="Arial"/>
                <a:cs typeface="Arial"/>
                <a:sym typeface="Arial"/>
              </a:defRPr>
            </a:lvl7pPr>
            <a:lvl8pPr marL="0" marR="0" lvl="7" indent="0" algn="l" rtl="0">
              <a:spcBef>
                <a:spcPts val="0"/>
              </a:spcBef>
              <a:buNone/>
              <a:defRPr sz="1800">
                <a:solidFill>
                  <a:srgbClr val="33448D"/>
                </a:solidFill>
                <a:latin typeface="Arial"/>
                <a:ea typeface="Arial"/>
                <a:cs typeface="Arial"/>
                <a:sym typeface="Arial"/>
              </a:defRPr>
            </a:lvl8pPr>
            <a:lvl9pPr marL="0" marR="0" lvl="8" indent="0" algn="l" rtl="0">
              <a:spcBef>
                <a:spcPts val="0"/>
              </a:spcBef>
              <a:buNone/>
              <a:defRPr sz="1800">
                <a:solidFill>
                  <a:srgbClr val="33448D"/>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CL"/>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solidFill>
          <a:schemeClr val="dk1"/>
        </a:solidFill>
        <a:effectLst/>
      </p:bgPr>
    </p:bg>
    <p:spTree>
      <p:nvGrpSpPr>
        <p:cNvPr id="1" name="Shape 42"/>
        <p:cNvGrpSpPr/>
        <p:nvPr/>
      </p:nvGrpSpPr>
      <p:grpSpPr>
        <a:xfrm>
          <a:off x="0" y="0"/>
          <a:ext cx="0" cy="0"/>
          <a:chOff x="0" y="0"/>
          <a:chExt cx="0" cy="0"/>
        </a:xfrm>
      </p:grpSpPr>
      <p:sp>
        <p:nvSpPr>
          <p:cNvPr id="43" name="Google Shape;43;p64"/>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600"/>
              <a:buFont typeface="Play"/>
              <a:buNone/>
              <a:defRPr sz="1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4"/>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lt2"/>
              </a:buClr>
              <a:buSzPts val="1600"/>
              <a:buChar char="•"/>
              <a:defRPr>
                <a:solidFill>
                  <a:schemeClr val="lt2"/>
                </a:solidFill>
              </a:defRPr>
            </a:lvl1pPr>
            <a:lvl2pPr marL="914400" lvl="1" indent="-317500" algn="l">
              <a:lnSpc>
                <a:spcPct val="90000"/>
              </a:lnSpc>
              <a:spcBef>
                <a:spcPts val="500"/>
              </a:spcBef>
              <a:spcAft>
                <a:spcPts val="0"/>
              </a:spcAft>
              <a:buClr>
                <a:schemeClr val="lt2"/>
              </a:buClr>
              <a:buSzPts val="1400"/>
              <a:buChar char="•"/>
              <a:defRPr>
                <a:solidFill>
                  <a:schemeClr val="lt2"/>
                </a:solidFill>
              </a:defRPr>
            </a:lvl2pPr>
            <a:lvl3pPr marL="1371600" lvl="2" indent="-317500" algn="l">
              <a:lnSpc>
                <a:spcPct val="90000"/>
              </a:lnSpc>
              <a:spcBef>
                <a:spcPts val="500"/>
              </a:spcBef>
              <a:spcAft>
                <a:spcPts val="0"/>
              </a:spcAft>
              <a:buClr>
                <a:schemeClr val="lt2"/>
              </a:buClr>
              <a:buSzPts val="1400"/>
              <a:buChar char="•"/>
              <a:defRPr>
                <a:solidFill>
                  <a:schemeClr val="lt2"/>
                </a:solidFill>
              </a:defRPr>
            </a:lvl3pPr>
            <a:lvl4pPr marL="1828800" lvl="3" indent="-317500" algn="l">
              <a:lnSpc>
                <a:spcPct val="90000"/>
              </a:lnSpc>
              <a:spcBef>
                <a:spcPts val="500"/>
              </a:spcBef>
              <a:spcAft>
                <a:spcPts val="0"/>
              </a:spcAft>
              <a:buClr>
                <a:schemeClr val="lt2"/>
              </a:buClr>
              <a:buSzPts val="1400"/>
              <a:buChar char="•"/>
              <a:defRPr>
                <a:solidFill>
                  <a:schemeClr val="lt2"/>
                </a:solidFill>
              </a:defRPr>
            </a:lvl4pPr>
            <a:lvl5pPr marL="2286000" lvl="4" indent="-317500" algn="l">
              <a:lnSpc>
                <a:spcPct val="90000"/>
              </a:lnSpc>
              <a:spcBef>
                <a:spcPts val="500"/>
              </a:spcBef>
              <a:spcAft>
                <a:spcPts val="0"/>
              </a:spcAft>
              <a:buClr>
                <a:schemeClr val="lt2"/>
              </a:buClr>
              <a:buSzPts val="1400"/>
              <a:buChar char="•"/>
              <a:defRPr>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46" name="Google Shape;46;p64"/>
          <p:cNvSpPr/>
          <p:nvPr/>
        </p:nvSpPr>
        <p:spPr>
          <a:xfrm>
            <a:off x="0" y="716439"/>
            <a:ext cx="12192000" cy="54000"/>
          </a:xfrm>
          <a:prstGeom prst="rect">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2"/>
              </a:solidFill>
              <a:latin typeface="Arial"/>
              <a:ea typeface="Arial"/>
              <a:cs typeface="Arial"/>
              <a:sym typeface="Arial"/>
            </a:endParaRPr>
          </a:p>
        </p:txBody>
      </p:sp>
      <p:pic>
        <p:nvPicPr>
          <p:cNvPr id="47" name="Google Shape;47;p64" descr="Logotipo&#10;&#10;Descripción generada automáticamente con confianza media"/>
          <p:cNvPicPr preferRelativeResize="0"/>
          <p:nvPr/>
        </p:nvPicPr>
        <p:blipFill rotWithShape="1">
          <a:blip r:embed="rId2">
            <a:alphaModFix/>
          </a:blip>
          <a:srcRect/>
          <a:stretch/>
        </p:blipFill>
        <p:spPr>
          <a:xfrm>
            <a:off x="330200" y="6399764"/>
            <a:ext cx="1223729" cy="278296"/>
          </a:xfrm>
          <a:prstGeom prst="rect">
            <a:avLst/>
          </a:prstGeom>
          <a:noFill/>
          <a:ln>
            <a:noFill/>
          </a:ln>
        </p:spPr>
      </p:pic>
      <p:pic>
        <p:nvPicPr>
          <p:cNvPr id="48" name="Google Shape;48;p64" descr="Logotipo&#10;&#10;Descripción generada automáticamente con confianza media"/>
          <p:cNvPicPr preferRelativeResize="0"/>
          <p:nvPr/>
        </p:nvPicPr>
        <p:blipFill rotWithShape="1">
          <a:blip r:embed="rId3">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bg>
      <p:bgPr>
        <a:solidFill>
          <a:schemeClr val="dk1"/>
        </a:solidFill>
        <a:effectLst/>
      </p:bgPr>
    </p:bg>
    <p:spTree>
      <p:nvGrpSpPr>
        <p:cNvPr id="1" name="Shape 49"/>
        <p:cNvGrpSpPr/>
        <p:nvPr/>
      </p:nvGrpSpPr>
      <p:grpSpPr>
        <a:xfrm>
          <a:off x="0" y="0"/>
          <a:ext cx="0" cy="0"/>
          <a:chOff x="0" y="0"/>
          <a:chExt cx="0" cy="0"/>
        </a:xfrm>
      </p:grpSpPr>
      <p:sp>
        <p:nvSpPr>
          <p:cNvPr id="50" name="Google Shape;50;p65"/>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4400"/>
              <a:buFont typeface="Play"/>
              <a:buNone/>
              <a:defRPr sz="44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subTitle" idx="1"/>
          </p:nvPr>
        </p:nvSpPr>
        <p:spPr>
          <a:xfrm>
            <a:off x="838200" y="3300756"/>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1600"/>
              <a:buNone/>
              <a:defRPr sz="1600" i="1">
                <a:solidFill>
                  <a:schemeClr val="lt2"/>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65"/>
          <p:cNvSpPr txBox="1">
            <a:spLocks noGrp="1"/>
          </p:cNvSpPr>
          <p:nvPr>
            <p:ph type="dt" idx="10"/>
          </p:nvPr>
        </p:nvSpPr>
        <p:spPr>
          <a:xfrm>
            <a:off x="9585434" y="5080092"/>
            <a:ext cx="1263869" cy="4428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Arial"/>
                <a:ea typeface="Arial"/>
                <a:cs typeface="Arial"/>
                <a:sym typeface="Arial"/>
              </a:defRPr>
            </a:lvl1pPr>
            <a:lvl2pPr marL="0" lvl="1" indent="0" algn="r">
              <a:spcBef>
                <a:spcPts val="0"/>
              </a:spcBef>
              <a:buNone/>
              <a:defRPr sz="1200">
                <a:solidFill>
                  <a:schemeClr val="lt2"/>
                </a:solidFill>
                <a:latin typeface="Arial"/>
                <a:ea typeface="Arial"/>
                <a:cs typeface="Arial"/>
                <a:sym typeface="Arial"/>
              </a:defRPr>
            </a:lvl2pPr>
            <a:lvl3pPr marL="0" lvl="2" indent="0" algn="r">
              <a:spcBef>
                <a:spcPts val="0"/>
              </a:spcBef>
              <a:buNone/>
              <a:defRPr sz="1200">
                <a:solidFill>
                  <a:schemeClr val="lt2"/>
                </a:solidFill>
                <a:latin typeface="Arial"/>
                <a:ea typeface="Arial"/>
                <a:cs typeface="Arial"/>
                <a:sym typeface="Arial"/>
              </a:defRPr>
            </a:lvl3pPr>
            <a:lvl4pPr marL="0" lvl="3" indent="0" algn="r">
              <a:spcBef>
                <a:spcPts val="0"/>
              </a:spcBef>
              <a:buNone/>
              <a:defRPr sz="1200">
                <a:solidFill>
                  <a:schemeClr val="lt2"/>
                </a:solidFill>
                <a:latin typeface="Arial"/>
                <a:ea typeface="Arial"/>
                <a:cs typeface="Arial"/>
                <a:sym typeface="Arial"/>
              </a:defRPr>
            </a:lvl4pPr>
            <a:lvl5pPr marL="0" lvl="4" indent="0" algn="r">
              <a:spcBef>
                <a:spcPts val="0"/>
              </a:spcBef>
              <a:buNone/>
              <a:defRPr sz="1200">
                <a:solidFill>
                  <a:schemeClr val="lt2"/>
                </a:solidFill>
                <a:latin typeface="Arial"/>
                <a:ea typeface="Arial"/>
                <a:cs typeface="Arial"/>
                <a:sym typeface="Arial"/>
              </a:defRPr>
            </a:lvl5pPr>
            <a:lvl6pPr marL="0" lvl="5" indent="0" algn="r">
              <a:spcBef>
                <a:spcPts val="0"/>
              </a:spcBef>
              <a:buNone/>
              <a:defRPr sz="1200">
                <a:solidFill>
                  <a:schemeClr val="lt2"/>
                </a:solidFill>
                <a:latin typeface="Arial"/>
                <a:ea typeface="Arial"/>
                <a:cs typeface="Arial"/>
                <a:sym typeface="Arial"/>
              </a:defRPr>
            </a:lvl6pPr>
            <a:lvl7pPr marL="0" lvl="6" indent="0" algn="r">
              <a:spcBef>
                <a:spcPts val="0"/>
              </a:spcBef>
              <a:buNone/>
              <a:defRPr sz="1200">
                <a:solidFill>
                  <a:schemeClr val="lt2"/>
                </a:solidFill>
                <a:latin typeface="Arial"/>
                <a:ea typeface="Arial"/>
                <a:cs typeface="Arial"/>
                <a:sym typeface="Arial"/>
              </a:defRPr>
            </a:lvl7pPr>
            <a:lvl8pPr marL="0" lvl="7" indent="0" algn="r">
              <a:spcBef>
                <a:spcPts val="0"/>
              </a:spcBef>
              <a:buNone/>
              <a:defRPr sz="1200">
                <a:solidFill>
                  <a:schemeClr val="lt2"/>
                </a:solidFill>
                <a:latin typeface="Arial"/>
                <a:ea typeface="Arial"/>
                <a:cs typeface="Arial"/>
                <a:sym typeface="Arial"/>
              </a:defRPr>
            </a:lvl8pPr>
            <a:lvl9pPr marL="0" lvl="8" indent="0" algn="r">
              <a:spcBef>
                <a:spcPts val="0"/>
              </a:spcBef>
              <a:buNone/>
              <a:defRPr sz="1200">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54" name="Google Shape;54;p65"/>
          <p:cNvSpPr/>
          <p:nvPr/>
        </p:nvSpPr>
        <p:spPr>
          <a:xfrm>
            <a:off x="0" y="3875730"/>
            <a:ext cx="12192000" cy="933428"/>
          </a:xfrm>
          <a:prstGeom prst="rect">
            <a:avLst/>
          </a:prstGeom>
          <a:solidFill>
            <a:schemeClr val="lt1"/>
          </a:solid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5" name="Google Shape;55;p65" descr="Logotipo&#10;&#10;Descripción generada automáticamente"/>
          <p:cNvPicPr preferRelativeResize="0"/>
          <p:nvPr/>
        </p:nvPicPr>
        <p:blipFill rotWithShape="1">
          <a:blip r:embed="rId2">
            <a:alphaModFix/>
          </a:blip>
          <a:srcRect/>
          <a:stretch/>
        </p:blipFill>
        <p:spPr>
          <a:xfrm>
            <a:off x="7346822" y="4068265"/>
            <a:ext cx="1890650" cy="607897"/>
          </a:xfrm>
          <a:prstGeom prst="rect">
            <a:avLst/>
          </a:prstGeom>
          <a:noFill/>
          <a:ln>
            <a:noFill/>
          </a:ln>
        </p:spPr>
      </p:pic>
      <p:pic>
        <p:nvPicPr>
          <p:cNvPr id="56" name="Google Shape;56;p65" descr="Logotipo&#10;&#10;Descripción generada automáticamente"/>
          <p:cNvPicPr preferRelativeResize="0"/>
          <p:nvPr/>
        </p:nvPicPr>
        <p:blipFill rotWithShape="1">
          <a:blip r:embed="rId3">
            <a:alphaModFix/>
          </a:blip>
          <a:srcRect/>
          <a:stretch/>
        </p:blipFill>
        <p:spPr>
          <a:xfrm>
            <a:off x="5304548" y="4127570"/>
            <a:ext cx="1295949" cy="489287"/>
          </a:xfrm>
          <a:prstGeom prst="rect">
            <a:avLst/>
          </a:prstGeom>
          <a:noFill/>
          <a:ln>
            <a:noFill/>
          </a:ln>
        </p:spPr>
      </p:pic>
      <p:pic>
        <p:nvPicPr>
          <p:cNvPr id="57" name="Google Shape;57;p65" descr="Logotipo&#10;&#10;Descripción generada automáticamente con confianza media"/>
          <p:cNvPicPr preferRelativeResize="0"/>
          <p:nvPr/>
        </p:nvPicPr>
        <p:blipFill rotWithShape="1">
          <a:blip r:embed="rId4">
            <a:alphaModFix/>
          </a:blip>
          <a:srcRect/>
          <a:stretch/>
        </p:blipFill>
        <p:spPr>
          <a:xfrm>
            <a:off x="2672984" y="4068265"/>
            <a:ext cx="1736849" cy="6078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59"/>
        <p:cNvGrpSpPr/>
        <p:nvPr/>
      </p:nvGrpSpPr>
      <p:grpSpPr>
        <a:xfrm>
          <a:off x="0" y="0"/>
          <a:ext cx="0" cy="0"/>
          <a:chOff x="0" y="0"/>
          <a:chExt cx="0" cy="0"/>
        </a:xfrm>
      </p:grpSpPr>
      <p:sp>
        <p:nvSpPr>
          <p:cNvPr id="60" name="Google Shape;60;p69"/>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Play"/>
              <a:buNone/>
              <a:defRPr sz="4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9"/>
          <p:cNvSpPr txBox="1">
            <a:spLocks noGrp="1"/>
          </p:cNvSpPr>
          <p:nvPr>
            <p:ph type="subTitle" idx="1"/>
          </p:nvPr>
        </p:nvSpPr>
        <p:spPr>
          <a:xfrm>
            <a:off x="838200" y="3381857"/>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i="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69"/>
          <p:cNvSpPr txBox="1">
            <a:spLocks noGrp="1"/>
          </p:cNvSpPr>
          <p:nvPr>
            <p:ph type="dt" idx="10"/>
          </p:nvPr>
        </p:nvSpPr>
        <p:spPr>
          <a:xfrm>
            <a:off x="838200" y="44409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64" name="Google Shape;64;p69"/>
          <p:cNvSpPr/>
          <p:nvPr/>
        </p:nvSpPr>
        <p:spPr>
          <a:xfrm>
            <a:off x="0" y="3875730"/>
            <a:ext cx="12192000" cy="365125"/>
          </a:xfrm>
          <a:prstGeom prst="rect">
            <a:avLst/>
          </a:prstGeom>
          <a:solidFill>
            <a:schemeClr val="dk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5" name="Google Shape;65;p69" descr="Logotipo&#10;&#10;Descripción generada automáticamente"/>
          <p:cNvPicPr preferRelativeResize="0"/>
          <p:nvPr/>
        </p:nvPicPr>
        <p:blipFill rotWithShape="1">
          <a:blip r:embed="rId2">
            <a:alphaModFix/>
          </a:blip>
          <a:srcRect/>
          <a:stretch/>
        </p:blipFill>
        <p:spPr>
          <a:xfrm>
            <a:off x="7315291" y="5315205"/>
            <a:ext cx="1890650" cy="607897"/>
          </a:xfrm>
          <a:prstGeom prst="rect">
            <a:avLst/>
          </a:prstGeom>
          <a:noFill/>
          <a:ln>
            <a:noFill/>
          </a:ln>
        </p:spPr>
      </p:pic>
      <p:pic>
        <p:nvPicPr>
          <p:cNvPr id="66" name="Google Shape;66;p69" descr="Logotipo&#10;&#10;Descripción generada automáticamente"/>
          <p:cNvPicPr preferRelativeResize="0"/>
          <p:nvPr/>
        </p:nvPicPr>
        <p:blipFill rotWithShape="1">
          <a:blip r:embed="rId3">
            <a:alphaModFix/>
          </a:blip>
          <a:srcRect/>
          <a:stretch/>
        </p:blipFill>
        <p:spPr>
          <a:xfrm>
            <a:off x="5136382" y="5350936"/>
            <a:ext cx="1420828" cy="536435"/>
          </a:xfrm>
          <a:prstGeom prst="rect">
            <a:avLst/>
          </a:prstGeom>
          <a:noFill/>
          <a:ln>
            <a:noFill/>
          </a:ln>
        </p:spPr>
      </p:pic>
      <p:pic>
        <p:nvPicPr>
          <p:cNvPr id="67" name="Google Shape;67;p69" descr="Logotipo&#10;&#10;Descripción generada automáticamente con confianza media"/>
          <p:cNvPicPr preferRelativeResize="0"/>
          <p:nvPr/>
        </p:nvPicPr>
        <p:blipFill rotWithShape="1">
          <a:blip r:embed="rId4">
            <a:alphaModFix/>
          </a:blip>
          <a:srcRect/>
          <a:stretch/>
        </p:blipFill>
        <p:spPr>
          <a:xfrm>
            <a:off x="2641453" y="5315205"/>
            <a:ext cx="1736849" cy="60789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ítulo y objetos">
  <p:cSld name="1_Título y objetos">
    <p:bg>
      <p:bgPr>
        <a:solidFill>
          <a:schemeClr val="dk1"/>
        </a:solidFill>
        <a:effectLst/>
      </p:bgPr>
    </p:bg>
    <p:spTree>
      <p:nvGrpSpPr>
        <p:cNvPr id="1" name="Shape 68"/>
        <p:cNvGrpSpPr/>
        <p:nvPr/>
      </p:nvGrpSpPr>
      <p:grpSpPr>
        <a:xfrm>
          <a:off x="0" y="0"/>
          <a:ext cx="0" cy="0"/>
          <a:chOff x="0" y="0"/>
          <a:chExt cx="0" cy="0"/>
        </a:xfrm>
      </p:grpSpPr>
      <p:pic>
        <p:nvPicPr>
          <p:cNvPr id="69" name="Google Shape;69;p70" descr="Logotipo&#10;&#10;Descripción generada automáticamente"/>
          <p:cNvPicPr preferRelativeResize="0"/>
          <p:nvPr/>
        </p:nvPicPr>
        <p:blipFill rotWithShape="1">
          <a:blip r:embed="rId2">
            <a:alphaModFix/>
          </a:blip>
          <a:srcRect/>
          <a:stretch/>
        </p:blipFill>
        <p:spPr>
          <a:xfrm>
            <a:off x="11415224" y="148488"/>
            <a:ext cx="444782" cy="429137"/>
          </a:xfrm>
          <a:prstGeom prst="rect">
            <a:avLst/>
          </a:prstGeom>
          <a:noFill/>
          <a:ln>
            <a:noFill/>
          </a:ln>
        </p:spPr>
      </p:pic>
      <p:pic>
        <p:nvPicPr>
          <p:cNvPr id="70" name="Google Shape;70;p70" descr="Logotipo&#10;&#10;Descripción generada automáticamente"/>
          <p:cNvPicPr preferRelativeResize="0"/>
          <p:nvPr/>
        </p:nvPicPr>
        <p:blipFill rotWithShape="1">
          <a:blip r:embed="rId3">
            <a:alphaModFix/>
          </a:blip>
          <a:srcRect/>
          <a:stretch/>
        </p:blipFill>
        <p:spPr>
          <a:xfrm>
            <a:off x="330200" y="6399764"/>
            <a:ext cx="1473330" cy="278296"/>
          </a:xfrm>
          <a:prstGeom prst="rect">
            <a:avLst/>
          </a:prstGeom>
          <a:noFill/>
          <a:ln>
            <a:noFill/>
          </a:ln>
        </p:spPr>
      </p:pic>
      <p:sp>
        <p:nvSpPr>
          <p:cNvPr id="71" name="Google Shape;71;p70"/>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2"/>
              </a:buClr>
              <a:buSzPts val="1600"/>
              <a:buFont typeface="Play"/>
              <a:buNone/>
              <a:defRPr sz="16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0"/>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74" name="Google Shape;74;p70"/>
          <p:cNvSpPr/>
          <p:nvPr/>
        </p:nvSpPr>
        <p:spPr>
          <a:xfrm>
            <a:off x="0" y="716439"/>
            <a:ext cx="12192000" cy="54000"/>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ítulo y objetos">
  <p:cSld name="2_Título y objetos">
    <p:bg>
      <p:bgPr>
        <a:solidFill>
          <a:schemeClr val="dk1"/>
        </a:solidFill>
        <a:effectLst/>
      </p:bgPr>
    </p:bg>
    <p:spTree>
      <p:nvGrpSpPr>
        <p:cNvPr id="1" name="Shape 75"/>
        <p:cNvGrpSpPr/>
        <p:nvPr/>
      </p:nvGrpSpPr>
      <p:grpSpPr>
        <a:xfrm>
          <a:off x="0" y="0"/>
          <a:ext cx="0" cy="0"/>
          <a:chOff x="0" y="0"/>
          <a:chExt cx="0" cy="0"/>
        </a:xfrm>
      </p:grpSpPr>
      <p:pic>
        <p:nvPicPr>
          <p:cNvPr id="76" name="Google Shape;76;p71" descr="Interfaz de usuario gráfica, Logotipo&#10;&#10;Descripción generada automáticamente"/>
          <p:cNvPicPr preferRelativeResize="0"/>
          <p:nvPr/>
        </p:nvPicPr>
        <p:blipFill rotWithShape="1">
          <a:blip r:embed="rId2">
            <a:alphaModFix/>
          </a:blip>
          <a:srcRect/>
          <a:stretch/>
        </p:blipFill>
        <p:spPr>
          <a:xfrm>
            <a:off x="11415225" y="102371"/>
            <a:ext cx="471976" cy="503746"/>
          </a:xfrm>
          <a:prstGeom prst="rect">
            <a:avLst/>
          </a:prstGeom>
          <a:noFill/>
          <a:ln>
            <a:noFill/>
          </a:ln>
        </p:spPr>
      </p:pic>
      <p:sp>
        <p:nvSpPr>
          <p:cNvPr id="77" name="Google Shape;77;p71"/>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6"/>
              </a:buClr>
              <a:buSzPts val="1600"/>
              <a:buFont typeface="Play"/>
              <a:buNone/>
              <a:defRPr sz="1600" b="1">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1"/>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0" name="Google Shape;80;p71"/>
          <p:cNvSpPr/>
          <p:nvPr/>
        </p:nvSpPr>
        <p:spPr>
          <a:xfrm>
            <a:off x="0" y="716439"/>
            <a:ext cx="12192000" cy="54000"/>
          </a:xfrm>
          <a:prstGeom prst="rect">
            <a:avLst/>
          </a:prstGeom>
          <a:solidFill>
            <a:schemeClr val="accent5"/>
          </a:solidFill>
          <a:ln w="19050"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1" name="Google Shape;81;p71" descr="Interfaz de usuario gráfica, Logotipo&#10;&#10;Descripción generada automáticamente"/>
          <p:cNvPicPr preferRelativeResize="0"/>
          <p:nvPr/>
        </p:nvPicPr>
        <p:blipFill rotWithShape="1">
          <a:blip r:embed="rId3">
            <a:alphaModFix/>
          </a:blip>
          <a:srcRect/>
          <a:stretch/>
        </p:blipFill>
        <p:spPr>
          <a:xfrm>
            <a:off x="351220" y="6369269"/>
            <a:ext cx="1057873" cy="30879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ítulo y objetos">
  <p:cSld name="3_Título y objetos">
    <p:bg>
      <p:bgPr>
        <a:solidFill>
          <a:schemeClr val="dk1"/>
        </a:solidFill>
        <a:effectLst/>
      </p:bgPr>
    </p:bg>
    <p:spTree>
      <p:nvGrpSpPr>
        <p:cNvPr id="1" name="Shape 82"/>
        <p:cNvGrpSpPr/>
        <p:nvPr/>
      </p:nvGrpSpPr>
      <p:grpSpPr>
        <a:xfrm>
          <a:off x="0" y="0"/>
          <a:ext cx="0" cy="0"/>
          <a:chOff x="0" y="0"/>
          <a:chExt cx="0" cy="0"/>
        </a:xfrm>
      </p:grpSpPr>
      <p:pic>
        <p:nvPicPr>
          <p:cNvPr id="83" name="Google Shape;83;p72"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84" name="Google Shape;84;p72"/>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72"/>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7" name="Google Shape;87;p72"/>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88" name="Google Shape;88;p72"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89" name="Google Shape;89;p72"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grpSp>
        <p:nvGrpSpPr>
          <p:cNvPr id="90" name="Google Shape;90;p72"/>
          <p:cNvGrpSpPr/>
          <p:nvPr/>
        </p:nvGrpSpPr>
        <p:grpSpPr>
          <a:xfrm>
            <a:off x="330200" y="6416593"/>
            <a:ext cx="3814681" cy="304882"/>
            <a:chOff x="717990" y="3332097"/>
            <a:chExt cx="10730146" cy="876191"/>
          </a:xfrm>
        </p:grpSpPr>
        <p:pic>
          <p:nvPicPr>
            <p:cNvPr id="91" name="Google Shape;91;p72" descr="Interfaz de usuario gráfica, Logotipo&#10;&#10;Descripción generada automáticamente"/>
            <p:cNvPicPr preferRelativeResize="0"/>
            <p:nvPr/>
          </p:nvPicPr>
          <p:blipFill rotWithShape="1">
            <a:blip r:embed="rId5">
              <a:alphaModFix/>
            </a:blip>
            <a:srcRect/>
            <a:stretch/>
          </p:blipFill>
          <p:spPr>
            <a:xfrm>
              <a:off x="8654758" y="3386689"/>
              <a:ext cx="2793378" cy="772817"/>
            </a:xfrm>
            <a:prstGeom prst="rect">
              <a:avLst/>
            </a:prstGeom>
            <a:noFill/>
            <a:ln>
              <a:noFill/>
            </a:ln>
          </p:spPr>
        </p:pic>
        <p:pic>
          <p:nvPicPr>
            <p:cNvPr id="92" name="Google Shape;92;p72" descr="Logotipo&#10;&#10;Descripción generada automáticamente"/>
            <p:cNvPicPr preferRelativeResize="0"/>
            <p:nvPr/>
          </p:nvPicPr>
          <p:blipFill rotWithShape="1">
            <a:blip r:embed="rId6">
              <a:alphaModFix/>
            </a:blip>
            <a:srcRect l="24752" t="40142" r="19087" b="39788"/>
            <a:stretch/>
          </p:blipFill>
          <p:spPr>
            <a:xfrm>
              <a:off x="4295868" y="3332097"/>
              <a:ext cx="4358890" cy="876191"/>
            </a:xfrm>
            <a:prstGeom prst="rect">
              <a:avLst/>
            </a:prstGeom>
            <a:noFill/>
            <a:ln>
              <a:noFill/>
            </a:ln>
          </p:spPr>
        </p:pic>
        <p:pic>
          <p:nvPicPr>
            <p:cNvPr id="93" name="Google Shape;93;p72" descr="Logotipo&#10;&#10;Descripción generada automáticamente con confianza media"/>
            <p:cNvPicPr preferRelativeResize="0"/>
            <p:nvPr/>
          </p:nvPicPr>
          <p:blipFill rotWithShape="1">
            <a:blip r:embed="rId7">
              <a:alphaModFix/>
            </a:blip>
            <a:srcRect/>
            <a:stretch/>
          </p:blipFill>
          <p:spPr>
            <a:xfrm>
              <a:off x="717990" y="3383785"/>
              <a:ext cx="3321748" cy="77281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ítulo y objetos">
  <p:cSld name="4_Título y objetos">
    <p:bg>
      <p:bgPr>
        <a:solidFill>
          <a:schemeClr val="dk1"/>
        </a:solidFill>
        <a:effectLst/>
      </p:bgPr>
    </p:bg>
    <p:spTree>
      <p:nvGrpSpPr>
        <p:cNvPr id="1" name="Shape 94"/>
        <p:cNvGrpSpPr/>
        <p:nvPr/>
      </p:nvGrpSpPr>
      <p:grpSpPr>
        <a:xfrm>
          <a:off x="0" y="0"/>
          <a:ext cx="0" cy="0"/>
          <a:chOff x="0" y="0"/>
          <a:chExt cx="0" cy="0"/>
        </a:xfrm>
      </p:grpSpPr>
      <p:pic>
        <p:nvPicPr>
          <p:cNvPr id="95" name="Google Shape;95;p73"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96" name="Google Shape;96;p73"/>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99" name="Google Shape;99;p73"/>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100" name="Google Shape;100;p73"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101" name="Google Shape;101;p73"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p:cSld name="Comparación">
    <p:bg>
      <p:bgPr>
        <a:solidFill>
          <a:schemeClr val="dk1"/>
        </a:solidFill>
        <a:effectLst/>
      </p:bgPr>
    </p:bg>
    <p:spTree>
      <p:nvGrpSpPr>
        <p:cNvPr id="1" name="Shape 102"/>
        <p:cNvGrpSpPr/>
        <p:nvPr/>
      </p:nvGrpSpPr>
      <p:grpSpPr>
        <a:xfrm>
          <a:off x="0" y="0"/>
          <a:ext cx="0" cy="0"/>
          <a:chOff x="0" y="0"/>
          <a:chExt cx="0" cy="0"/>
        </a:xfrm>
      </p:grpSpPr>
      <p:sp>
        <p:nvSpPr>
          <p:cNvPr id="103" name="Google Shape;103;p74"/>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4"/>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Gemco:</a:t>
            </a:r>
            <a:endParaRPr sz="1800">
              <a:solidFill>
                <a:schemeClr val="lt2"/>
              </a:solidFill>
              <a:latin typeface="Arial"/>
              <a:ea typeface="Arial"/>
              <a:cs typeface="Arial"/>
              <a:sym typeface="Arial"/>
            </a:endParaRPr>
          </a:p>
        </p:txBody>
      </p:sp>
      <p:sp>
        <p:nvSpPr>
          <p:cNvPr id="105" name="Google Shape;105;p74"/>
          <p:cNvSpPr/>
          <p:nvPr/>
        </p:nvSpPr>
        <p:spPr>
          <a:xfrm>
            <a:off x="1051673" y="1909103"/>
            <a:ext cx="1382486" cy="1175657"/>
          </a:xfrm>
          <a:prstGeom prst="roundRect">
            <a:avLst>
              <a:gd name="adj" fmla="val 16667"/>
            </a:avLst>
          </a:prstGeom>
          <a:solidFill>
            <a:srgbClr val="282DF0"/>
          </a:solidFill>
          <a:ln w="19050" cap="flat" cmpd="sng">
            <a:solidFill>
              <a:srgbClr val="282D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6" name="Google Shape;106;p74"/>
          <p:cNvSpPr/>
          <p:nvPr/>
        </p:nvSpPr>
        <p:spPr>
          <a:xfrm>
            <a:off x="2655987" y="1909102"/>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7" name="Google Shape;107;p74"/>
          <p:cNvSpPr/>
          <p:nvPr/>
        </p:nvSpPr>
        <p:spPr>
          <a:xfrm>
            <a:off x="4260301" y="1909102"/>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8" name="Google Shape;108;p74"/>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45 240 </a:t>
            </a:r>
            <a:endParaRPr sz="1800">
              <a:solidFill>
                <a:schemeClr val="lt2"/>
              </a:solidFill>
              <a:latin typeface="Arial"/>
              <a:ea typeface="Arial"/>
              <a:cs typeface="Arial"/>
              <a:sym typeface="Arial"/>
            </a:endParaRPr>
          </a:p>
        </p:txBody>
      </p:sp>
      <p:sp>
        <p:nvSpPr>
          <p:cNvPr id="109" name="Google Shape;109;p74"/>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10" name="Google Shape;110;p74"/>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1" name="Google Shape;111;p74"/>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MMQ:</a:t>
            </a:r>
            <a:endParaRPr sz="1800">
              <a:solidFill>
                <a:schemeClr val="lt2"/>
              </a:solidFill>
              <a:latin typeface="Arial"/>
              <a:ea typeface="Arial"/>
              <a:cs typeface="Arial"/>
              <a:sym typeface="Arial"/>
            </a:endParaRPr>
          </a:p>
        </p:txBody>
      </p:sp>
      <p:sp>
        <p:nvSpPr>
          <p:cNvPr id="112" name="Google Shape;112;p74"/>
          <p:cNvSpPr/>
          <p:nvPr/>
        </p:nvSpPr>
        <p:spPr>
          <a:xfrm>
            <a:off x="1051673" y="4237780"/>
            <a:ext cx="1382486" cy="1175657"/>
          </a:xfrm>
          <a:prstGeom prst="roundRect">
            <a:avLst>
              <a:gd name="adj" fmla="val 16667"/>
            </a:avLst>
          </a:prstGeom>
          <a:solidFill>
            <a:srgbClr val="0074BF"/>
          </a:solidFill>
          <a:ln w="19050" cap="flat" cmpd="sng">
            <a:solidFill>
              <a:srgbClr val="0074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3" name="Google Shape;113;p74"/>
          <p:cNvSpPr/>
          <p:nvPr/>
        </p:nvSpPr>
        <p:spPr>
          <a:xfrm>
            <a:off x="2655987" y="4237779"/>
            <a:ext cx="1382486" cy="1175657"/>
          </a:xfrm>
          <a:prstGeom prst="roundRect">
            <a:avLst>
              <a:gd name="adj" fmla="val 16667"/>
            </a:avLst>
          </a:prstGeom>
          <a:solidFill>
            <a:srgbClr val="FF7016"/>
          </a:solidFill>
          <a:ln w="19050" cap="flat" cmpd="sng">
            <a:solidFill>
              <a:srgbClr val="FF701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4" name="Google Shape;114;p74"/>
          <p:cNvSpPr/>
          <p:nvPr/>
        </p:nvSpPr>
        <p:spPr>
          <a:xfrm>
            <a:off x="4260301" y="4237779"/>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5" name="Google Shape;115;p74"/>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0  116 191</a:t>
            </a:r>
            <a:endParaRPr sz="1800">
              <a:solidFill>
                <a:schemeClr val="lt2"/>
              </a:solidFill>
              <a:latin typeface="Arial"/>
              <a:ea typeface="Arial"/>
              <a:cs typeface="Arial"/>
              <a:sym typeface="Arial"/>
            </a:endParaRPr>
          </a:p>
        </p:txBody>
      </p:sp>
      <p:sp>
        <p:nvSpPr>
          <p:cNvPr id="116" name="Google Shape;116;p74"/>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255 132 37 </a:t>
            </a:r>
            <a:endParaRPr sz="1800">
              <a:solidFill>
                <a:schemeClr val="lt2"/>
              </a:solidFill>
              <a:latin typeface="Arial"/>
              <a:ea typeface="Arial"/>
              <a:cs typeface="Arial"/>
              <a:sym typeface="Arial"/>
            </a:endParaRPr>
          </a:p>
        </p:txBody>
      </p:sp>
      <p:sp>
        <p:nvSpPr>
          <p:cNvPr id="117" name="Google Shape;117;p74"/>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8" name="Google Shape;118;p74"/>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Incardia:</a:t>
            </a:r>
            <a:endParaRPr sz="1800">
              <a:solidFill>
                <a:schemeClr val="lt2"/>
              </a:solidFill>
              <a:latin typeface="Arial"/>
              <a:ea typeface="Arial"/>
              <a:cs typeface="Arial"/>
              <a:sym typeface="Arial"/>
            </a:endParaRPr>
          </a:p>
        </p:txBody>
      </p:sp>
      <p:sp>
        <p:nvSpPr>
          <p:cNvPr id="119" name="Google Shape;119;p74"/>
          <p:cNvSpPr/>
          <p:nvPr/>
        </p:nvSpPr>
        <p:spPr>
          <a:xfrm>
            <a:off x="6725915" y="3257282"/>
            <a:ext cx="1382486" cy="1175657"/>
          </a:xfrm>
          <a:prstGeom prst="roundRect">
            <a:avLst>
              <a:gd name="adj" fmla="val 16667"/>
            </a:avLst>
          </a:prstGeom>
          <a:solidFill>
            <a:srgbClr val="D30101"/>
          </a:solidFill>
          <a:ln w="19050" cap="flat" cmpd="sng">
            <a:solidFill>
              <a:srgbClr val="D3010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0" name="Google Shape;120;p74"/>
          <p:cNvSpPr/>
          <p:nvPr/>
        </p:nvSpPr>
        <p:spPr>
          <a:xfrm>
            <a:off x="8330229" y="3257281"/>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1" name="Google Shape;121;p74"/>
          <p:cNvSpPr/>
          <p:nvPr/>
        </p:nvSpPr>
        <p:spPr>
          <a:xfrm>
            <a:off x="9972902" y="3257281"/>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2" name="Google Shape;122;p74"/>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s-CL" sz="1050">
                <a:solidFill>
                  <a:schemeClr val="lt2"/>
                </a:solidFill>
                <a:highlight>
                  <a:srgbClr val="FFFFFF"/>
                </a:highlight>
                <a:latin typeface="Arial"/>
                <a:ea typeface="Arial"/>
                <a:cs typeface="Arial"/>
                <a:sym typeface="Arial"/>
              </a:rPr>
              <a:t>RGB : 210 01 01</a:t>
            </a:r>
            <a:endParaRPr sz="1800">
              <a:solidFill>
                <a:schemeClr val="lt2"/>
              </a:solidFill>
              <a:latin typeface="Arial"/>
              <a:ea typeface="Arial"/>
              <a:cs typeface="Arial"/>
              <a:sym typeface="Arial"/>
            </a:endParaRPr>
          </a:p>
        </p:txBody>
      </p:sp>
      <p:sp>
        <p:nvSpPr>
          <p:cNvPr id="123" name="Google Shape;123;p74"/>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24" name="Google Shape;124;p74"/>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pic>
        <p:nvPicPr>
          <p:cNvPr id="125" name="Google Shape;125;p74" descr="Interfaz de usuario gráfica, Logotipo&#10;&#10;Descripción generada automáticamente"/>
          <p:cNvPicPr preferRelativeResize="0"/>
          <p:nvPr/>
        </p:nvPicPr>
        <p:blipFill rotWithShape="1">
          <a:blip r:embed="rId2">
            <a:alphaModFix/>
          </a:blip>
          <a:srcRect/>
          <a:stretch/>
        </p:blipFill>
        <p:spPr>
          <a:xfrm>
            <a:off x="8373335" y="6159751"/>
            <a:ext cx="1105337" cy="305803"/>
          </a:xfrm>
          <a:prstGeom prst="rect">
            <a:avLst/>
          </a:prstGeom>
          <a:noFill/>
          <a:ln>
            <a:noFill/>
          </a:ln>
        </p:spPr>
      </p:pic>
      <p:pic>
        <p:nvPicPr>
          <p:cNvPr id="126" name="Google Shape;126;p74" descr="Logotipo&#10;&#10;Descripción generada automáticamente"/>
          <p:cNvPicPr preferRelativeResize="0"/>
          <p:nvPr/>
        </p:nvPicPr>
        <p:blipFill rotWithShape="1">
          <a:blip r:embed="rId3">
            <a:alphaModFix/>
          </a:blip>
          <a:srcRect/>
          <a:stretch/>
        </p:blipFill>
        <p:spPr>
          <a:xfrm>
            <a:off x="9478672" y="6132431"/>
            <a:ext cx="1793138" cy="360443"/>
          </a:xfrm>
          <a:prstGeom prst="rect">
            <a:avLst/>
          </a:prstGeom>
          <a:noFill/>
          <a:ln>
            <a:noFill/>
          </a:ln>
        </p:spPr>
      </p:pic>
      <p:pic>
        <p:nvPicPr>
          <p:cNvPr id="127" name="Google Shape;127;p74" descr="Logotipo&#10;&#10;Descripción generada automáticamente con confianza media"/>
          <p:cNvPicPr preferRelativeResize="0"/>
          <p:nvPr/>
        </p:nvPicPr>
        <p:blipFill rotWithShape="1">
          <a:blip r:embed="rId4">
            <a:alphaModFix/>
          </a:blip>
          <a:srcRect/>
          <a:stretch/>
        </p:blipFill>
        <p:spPr>
          <a:xfrm>
            <a:off x="6955017" y="6158486"/>
            <a:ext cx="1325283" cy="3083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mparación">
  <p:cSld name="1_Comparación">
    <p:bg>
      <p:bgPr>
        <a:solidFill>
          <a:schemeClr val="dk1"/>
        </a:solidFill>
        <a:effectLst/>
      </p:bgPr>
    </p:bg>
    <p:spTree>
      <p:nvGrpSpPr>
        <p:cNvPr id="1" name="Shape 128"/>
        <p:cNvGrpSpPr/>
        <p:nvPr/>
      </p:nvGrpSpPr>
      <p:grpSpPr>
        <a:xfrm>
          <a:off x="0" y="0"/>
          <a:ext cx="0" cy="0"/>
          <a:chOff x="0" y="0"/>
          <a:chExt cx="0" cy="0"/>
        </a:xfrm>
      </p:grpSpPr>
      <p:sp>
        <p:nvSpPr>
          <p:cNvPr id="129" name="Google Shape;129;p75"/>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30" name="Google Shape;130;p75"/>
          <p:cNvGraphicFramePr/>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1" name="Google Shape;131;p75"/>
          <p:cNvGraphicFramePr/>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2" name="Google Shape;132;p75"/>
          <p:cNvGraphicFramePr/>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133" name="Google Shape;133;p75" descr="Logotipo&#10;&#10;Descripción generada automáticamente con confianza media"/>
          <p:cNvPicPr preferRelativeResize="0"/>
          <p:nvPr/>
        </p:nvPicPr>
        <p:blipFill rotWithShape="1">
          <a:blip r:embed="rId5">
            <a:alphaModFix/>
          </a:blip>
          <a:srcRect/>
          <a:stretch/>
        </p:blipFill>
        <p:spPr>
          <a:xfrm>
            <a:off x="330200" y="6399764"/>
            <a:ext cx="1223729" cy="278296"/>
          </a:xfrm>
          <a:prstGeom prst="rect">
            <a:avLst/>
          </a:prstGeom>
          <a:noFill/>
          <a:ln>
            <a:noFill/>
          </a:ln>
        </p:spPr>
      </p:pic>
      <p:pic>
        <p:nvPicPr>
          <p:cNvPr id="134" name="Google Shape;134;p75" descr="Logotipo&#10;&#10;Descripción generada automáticamente con confianza media"/>
          <p:cNvPicPr preferRelativeResize="0"/>
          <p:nvPr/>
        </p:nvPicPr>
        <p:blipFill rotWithShape="1">
          <a:blip r:embed="rId6">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Comparación">
  <p:cSld name="2_Comparación">
    <p:bg>
      <p:bgPr>
        <a:solidFill>
          <a:schemeClr val="dk1"/>
        </a:solidFill>
        <a:effectLst/>
      </p:bgPr>
    </p:bg>
    <p:spTree>
      <p:nvGrpSpPr>
        <p:cNvPr id="1" name="Shape 135"/>
        <p:cNvGrpSpPr/>
        <p:nvPr/>
      </p:nvGrpSpPr>
      <p:grpSpPr>
        <a:xfrm>
          <a:off x="0" y="0"/>
          <a:ext cx="0" cy="0"/>
          <a:chOff x="0" y="0"/>
          <a:chExt cx="0" cy="0"/>
        </a:xfrm>
      </p:grpSpPr>
      <p:sp>
        <p:nvSpPr>
          <p:cNvPr id="136" name="Google Shape;136;p76"/>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76" descr="Logotipo&#10;&#10;Descripción generada automáticamente"/>
          <p:cNvPicPr preferRelativeResize="0"/>
          <p:nvPr/>
        </p:nvPicPr>
        <p:blipFill rotWithShape="1">
          <a:blip r:embed="rId2">
            <a:alphaModFix/>
          </a:blip>
          <a:srcRect/>
          <a:stretch/>
        </p:blipFill>
        <p:spPr>
          <a:xfrm>
            <a:off x="330200" y="6399764"/>
            <a:ext cx="1473330" cy="278296"/>
          </a:xfrm>
          <a:prstGeom prst="rect">
            <a:avLst/>
          </a:prstGeom>
          <a:noFill/>
          <a:ln>
            <a:noFill/>
          </a:ln>
        </p:spPr>
      </p:pic>
      <p:graphicFrame>
        <p:nvGraphicFramePr>
          <p:cNvPr id="138" name="Google Shape;138;p76"/>
          <p:cNvGraphicFramePr/>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9" name="Google Shape;139;p76"/>
          <p:cNvGraphicFramePr/>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0" name="Google Shape;140;p76"/>
          <p:cNvGraphicFramePr/>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41" name="Google Shape;141;p76" descr="Logotipo&#10;&#10;Descripción generada automáticamente"/>
          <p:cNvPicPr preferRelativeResize="0"/>
          <p:nvPr/>
        </p:nvPicPr>
        <p:blipFill rotWithShape="1">
          <a:blip r:embed="rId6">
            <a:alphaModFix/>
          </a:blip>
          <a:srcRect/>
          <a:stretch/>
        </p:blipFill>
        <p:spPr>
          <a:xfrm>
            <a:off x="11415224" y="148488"/>
            <a:ext cx="444782" cy="4291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Comparación">
  <p:cSld name="3_Comparación">
    <p:bg>
      <p:bgPr>
        <a:solidFill>
          <a:schemeClr val="dk1"/>
        </a:solidFill>
        <a:effectLst/>
      </p:bgPr>
    </p:bg>
    <p:spTree>
      <p:nvGrpSpPr>
        <p:cNvPr id="1" name="Shape 142"/>
        <p:cNvGrpSpPr/>
        <p:nvPr/>
      </p:nvGrpSpPr>
      <p:grpSpPr>
        <a:xfrm>
          <a:off x="0" y="0"/>
          <a:ext cx="0" cy="0"/>
          <a:chOff x="0" y="0"/>
          <a:chExt cx="0" cy="0"/>
        </a:xfrm>
      </p:grpSpPr>
      <p:sp>
        <p:nvSpPr>
          <p:cNvPr id="143" name="Google Shape;143;p77"/>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44" name="Google Shape;144;p77"/>
          <p:cNvGraphicFramePr/>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Google Shape;145;p77"/>
          <p:cNvGraphicFramePr/>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6" name="Google Shape;146;p77"/>
          <p:cNvGraphicFramePr/>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147" name="Google Shape;147;p77" descr="Interfaz de usuario gráfica, Logotipo&#10;&#10;Descripción generada automáticamente"/>
          <p:cNvPicPr preferRelativeResize="0"/>
          <p:nvPr/>
        </p:nvPicPr>
        <p:blipFill rotWithShape="1">
          <a:blip r:embed="rId5">
            <a:alphaModFix/>
          </a:blip>
          <a:srcRect/>
          <a:stretch/>
        </p:blipFill>
        <p:spPr>
          <a:xfrm>
            <a:off x="351220" y="6369269"/>
            <a:ext cx="1057873" cy="308790"/>
          </a:xfrm>
          <a:prstGeom prst="rect">
            <a:avLst/>
          </a:prstGeom>
          <a:noFill/>
          <a:ln>
            <a:noFill/>
          </a:ln>
        </p:spPr>
      </p:pic>
      <p:pic>
        <p:nvPicPr>
          <p:cNvPr id="148" name="Google Shape;148;p77" descr="Interfaz de usuario gráfica, Logotipo&#10;&#10;Descripción generada automáticamente"/>
          <p:cNvPicPr preferRelativeResize="0"/>
          <p:nvPr/>
        </p:nvPicPr>
        <p:blipFill rotWithShape="1">
          <a:blip r:embed="rId6">
            <a:alphaModFix/>
          </a:blip>
          <a:srcRect/>
          <a:stretch/>
        </p:blipFill>
        <p:spPr>
          <a:xfrm>
            <a:off x="11415225" y="102371"/>
            <a:ext cx="471976" cy="50374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Comparación">
  <p:cSld name="4_Comparación">
    <p:bg>
      <p:bgPr>
        <a:solidFill>
          <a:schemeClr val="dk1"/>
        </a:solidFill>
        <a:effectLst/>
      </p:bgPr>
    </p:bg>
    <p:spTree>
      <p:nvGrpSpPr>
        <p:cNvPr id="1" name="Shape 149"/>
        <p:cNvGrpSpPr/>
        <p:nvPr/>
      </p:nvGrpSpPr>
      <p:grpSpPr>
        <a:xfrm>
          <a:off x="0" y="0"/>
          <a:ext cx="0" cy="0"/>
          <a:chOff x="0" y="0"/>
          <a:chExt cx="0" cy="0"/>
        </a:xfrm>
      </p:grpSpPr>
      <p:sp>
        <p:nvSpPr>
          <p:cNvPr id="150" name="Google Shape;150;p78"/>
          <p:cNvSpPr/>
          <p:nvPr/>
        </p:nvSpPr>
        <p:spPr>
          <a:xfrm>
            <a:off x="-10510" y="1179213"/>
            <a:ext cx="12192000" cy="1574816"/>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78"/>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2" name="Google Shape;152;p78" descr="Logotipo&#10;&#10;Descripción generada automáticamente"/>
          <p:cNvPicPr preferRelativeResize="0"/>
          <p:nvPr/>
        </p:nvPicPr>
        <p:blipFill rotWithShape="1">
          <a:blip r:embed="rId2">
            <a:alphaModFix/>
          </a:blip>
          <a:srcRect/>
          <a:stretch/>
        </p:blipFill>
        <p:spPr>
          <a:xfrm>
            <a:off x="4471612" y="1311120"/>
            <a:ext cx="4142322" cy="1331873"/>
          </a:xfrm>
          <a:prstGeom prst="rect">
            <a:avLst/>
          </a:prstGeom>
          <a:noFill/>
          <a:ln>
            <a:noFill/>
          </a:ln>
        </p:spPr>
      </p:pic>
      <p:pic>
        <p:nvPicPr>
          <p:cNvPr id="153" name="Google Shape;153;p78" descr="Logotipo&#10;&#10;Descripción generada automáticamente"/>
          <p:cNvPicPr preferRelativeResize="0"/>
          <p:nvPr/>
        </p:nvPicPr>
        <p:blipFill rotWithShape="1">
          <a:blip r:embed="rId3">
            <a:alphaModFix/>
          </a:blip>
          <a:srcRect/>
          <a:stretch/>
        </p:blipFill>
        <p:spPr>
          <a:xfrm>
            <a:off x="8915958" y="1480479"/>
            <a:ext cx="2630517" cy="993154"/>
          </a:xfrm>
          <a:prstGeom prst="rect">
            <a:avLst/>
          </a:prstGeom>
          <a:noFill/>
          <a:ln>
            <a:noFill/>
          </a:ln>
        </p:spPr>
      </p:pic>
      <p:pic>
        <p:nvPicPr>
          <p:cNvPr id="154" name="Google Shape;154;p78" descr="Logotipo&#10;&#10;Descripción generada automáticamente con confianza media"/>
          <p:cNvPicPr preferRelativeResize="0"/>
          <p:nvPr/>
        </p:nvPicPr>
        <p:blipFill rotWithShape="1">
          <a:blip r:embed="rId4">
            <a:alphaModFix/>
          </a:blip>
          <a:srcRect/>
          <a:stretch/>
        </p:blipFill>
        <p:spPr>
          <a:xfrm>
            <a:off x="909799" y="1410689"/>
            <a:ext cx="3314381" cy="1160033"/>
          </a:xfrm>
          <a:prstGeom prst="rect">
            <a:avLst/>
          </a:prstGeom>
          <a:noFill/>
          <a:ln>
            <a:noFill/>
          </a:ln>
        </p:spPr>
      </p:pic>
      <p:pic>
        <p:nvPicPr>
          <p:cNvPr id="155" name="Google Shape;155;p78" descr="Interfaz de usuario gráfica, Logotipo&#10;&#10;Descripción generada automáticamente"/>
          <p:cNvPicPr preferRelativeResize="0"/>
          <p:nvPr/>
        </p:nvPicPr>
        <p:blipFill rotWithShape="1">
          <a:blip r:embed="rId5">
            <a:alphaModFix/>
          </a:blip>
          <a:srcRect/>
          <a:stretch/>
        </p:blipFill>
        <p:spPr>
          <a:xfrm>
            <a:off x="8907005" y="3092179"/>
            <a:ext cx="2528249" cy="699466"/>
          </a:xfrm>
          <a:prstGeom prst="rect">
            <a:avLst/>
          </a:prstGeom>
          <a:noFill/>
          <a:ln>
            <a:noFill/>
          </a:ln>
        </p:spPr>
      </p:pic>
      <p:pic>
        <p:nvPicPr>
          <p:cNvPr id="156" name="Google Shape;156;p78" descr="Logotipo&#10;&#10;Descripción generada automáticamente"/>
          <p:cNvPicPr preferRelativeResize="0"/>
          <p:nvPr/>
        </p:nvPicPr>
        <p:blipFill rotWithShape="1">
          <a:blip r:embed="rId6">
            <a:alphaModFix/>
          </a:blip>
          <a:srcRect/>
          <a:stretch/>
        </p:blipFill>
        <p:spPr>
          <a:xfrm>
            <a:off x="4548115" y="3047398"/>
            <a:ext cx="3945173" cy="793029"/>
          </a:xfrm>
          <a:prstGeom prst="rect">
            <a:avLst/>
          </a:prstGeom>
          <a:noFill/>
          <a:ln>
            <a:noFill/>
          </a:ln>
        </p:spPr>
      </p:pic>
      <p:pic>
        <p:nvPicPr>
          <p:cNvPr id="157" name="Google Shape;157;p78" descr="Logotipo&#10;&#10;Descripción generada automáticamente con confianza media"/>
          <p:cNvPicPr preferRelativeResize="0"/>
          <p:nvPr/>
        </p:nvPicPr>
        <p:blipFill rotWithShape="1">
          <a:blip r:embed="rId7">
            <a:alphaModFix/>
          </a:blip>
          <a:srcRect/>
          <a:stretch/>
        </p:blipFill>
        <p:spPr>
          <a:xfrm>
            <a:off x="970237" y="3089275"/>
            <a:ext cx="3006470" cy="699466"/>
          </a:xfrm>
          <a:prstGeom prst="rect">
            <a:avLst/>
          </a:prstGeom>
          <a:noFill/>
          <a:ln>
            <a:noFill/>
          </a:ln>
        </p:spPr>
      </p:pic>
      <p:sp>
        <p:nvSpPr>
          <p:cNvPr id="158" name="Google Shape;158;p78"/>
          <p:cNvSpPr/>
          <p:nvPr/>
        </p:nvSpPr>
        <p:spPr>
          <a:xfrm>
            <a:off x="-10510" y="4175673"/>
            <a:ext cx="12192000" cy="1371207"/>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9" name="Google Shape;159;p78" descr="Logotipo&#10;&#10;Descripción generada automáticamente con confianza media"/>
          <p:cNvPicPr preferRelativeResize="0"/>
          <p:nvPr/>
        </p:nvPicPr>
        <p:blipFill rotWithShape="1">
          <a:blip r:embed="rId8">
            <a:alphaModFix/>
          </a:blip>
          <a:srcRect/>
          <a:stretch/>
        </p:blipFill>
        <p:spPr>
          <a:xfrm>
            <a:off x="1731618" y="4293580"/>
            <a:ext cx="1670742" cy="1195598"/>
          </a:xfrm>
          <a:prstGeom prst="rect">
            <a:avLst/>
          </a:prstGeom>
          <a:noFill/>
          <a:ln>
            <a:noFill/>
          </a:ln>
        </p:spPr>
      </p:pic>
      <p:pic>
        <p:nvPicPr>
          <p:cNvPr id="160" name="Google Shape;160;p78" descr="Logotipo&#10;&#10;Descripción generada automáticamente con confianza media"/>
          <p:cNvPicPr preferRelativeResize="0"/>
          <p:nvPr/>
        </p:nvPicPr>
        <p:blipFill rotWithShape="1">
          <a:blip r:embed="rId8">
            <a:alphaModFix/>
          </a:blip>
          <a:srcRect/>
          <a:stretch/>
        </p:blipFill>
        <p:spPr>
          <a:xfrm>
            <a:off x="5563731" y="4293580"/>
            <a:ext cx="1670742" cy="1195598"/>
          </a:xfrm>
          <a:prstGeom prst="rect">
            <a:avLst/>
          </a:prstGeom>
          <a:noFill/>
          <a:ln>
            <a:noFill/>
          </a:ln>
        </p:spPr>
      </p:pic>
      <p:pic>
        <p:nvPicPr>
          <p:cNvPr id="161" name="Google Shape;161;p78" descr="Logotipo&#10;&#10;Descripción generada automáticamente con confianza media"/>
          <p:cNvPicPr preferRelativeResize="0"/>
          <p:nvPr/>
        </p:nvPicPr>
        <p:blipFill rotWithShape="1">
          <a:blip r:embed="rId8">
            <a:alphaModFix/>
          </a:blip>
          <a:srcRect/>
          <a:stretch/>
        </p:blipFill>
        <p:spPr>
          <a:xfrm>
            <a:off x="9395845" y="4276628"/>
            <a:ext cx="1670742" cy="1195598"/>
          </a:xfrm>
          <a:prstGeom prst="rect">
            <a:avLst/>
          </a:prstGeom>
          <a:noFill/>
          <a:ln>
            <a:noFill/>
          </a:ln>
        </p:spPr>
      </p:pic>
      <p:pic>
        <p:nvPicPr>
          <p:cNvPr id="162" name="Google Shape;162;p78" descr="Logotipo&#10;&#10;Descripción generada automáticamente con confianza media"/>
          <p:cNvPicPr preferRelativeResize="0"/>
          <p:nvPr/>
        </p:nvPicPr>
        <p:blipFill rotWithShape="1">
          <a:blip r:embed="rId9">
            <a:alphaModFix/>
          </a:blip>
          <a:srcRect/>
          <a:stretch/>
        </p:blipFill>
        <p:spPr>
          <a:xfrm>
            <a:off x="1731618" y="5562353"/>
            <a:ext cx="1346858" cy="1406171"/>
          </a:xfrm>
          <a:prstGeom prst="rect">
            <a:avLst/>
          </a:prstGeom>
          <a:noFill/>
          <a:ln>
            <a:noFill/>
          </a:ln>
        </p:spPr>
      </p:pic>
      <p:pic>
        <p:nvPicPr>
          <p:cNvPr id="163" name="Google Shape;163;p78" descr="Logotipo&#10;&#10;Descripción generada automáticamente"/>
          <p:cNvPicPr preferRelativeResize="0"/>
          <p:nvPr/>
        </p:nvPicPr>
        <p:blipFill rotWithShape="1">
          <a:blip r:embed="rId10">
            <a:alphaModFix/>
          </a:blip>
          <a:srcRect/>
          <a:stretch/>
        </p:blipFill>
        <p:spPr>
          <a:xfrm>
            <a:off x="5353837" y="5472226"/>
            <a:ext cx="2090530" cy="1549901"/>
          </a:xfrm>
          <a:prstGeom prst="rect">
            <a:avLst/>
          </a:prstGeom>
          <a:noFill/>
          <a:ln>
            <a:noFill/>
          </a:ln>
        </p:spPr>
      </p:pic>
      <p:pic>
        <p:nvPicPr>
          <p:cNvPr id="164" name="Google Shape;164;p78" descr="Interfaz de usuario gráfica, Logotipo&#10;&#10;Descripción generada automáticamente"/>
          <p:cNvPicPr preferRelativeResize="0"/>
          <p:nvPr/>
        </p:nvPicPr>
        <p:blipFill rotWithShape="1">
          <a:blip r:embed="rId11">
            <a:alphaModFix/>
          </a:blip>
          <a:srcRect/>
          <a:stretch/>
        </p:blipFill>
        <p:spPr>
          <a:xfrm>
            <a:off x="9395845" y="5393708"/>
            <a:ext cx="1670742" cy="157481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65"/>
        <p:cNvGrpSpPr/>
        <p:nvPr/>
      </p:nvGrpSpPr>
      <p:grpSpPr>
        <a:xfrm>
          <a:off x="0" y="0"/>
          <a:ext cx="0" cy="0"/>
          <a:chOff x="0" y="0"/>
          <a:chExt cx="0" cy="0"/>
        </a:xfrm>
      </p:grpSpPr>
      <p:pic>
        <p:nvPicPr>
          <p:cNvPr id="166" name="Google Shape;166;p79" descr="Logotipo&#10;&#10;Descripción generada automáticamente"/>
          <p:cNvPicPr preferRelativeResize="0"/>
          <p:nvPr/>
        </p:nvPicPr>
        <p:blipFill rotWithShape="1">
          <a:blip r:embed="rId2">
            <a:alphaModFix/>
          </a:blip>
          <a:srcRect/>
          <a:stretch/>
        </p:blipFill>
        <p:spPr>
          <a:xfrm>
            <a:off x="4387529" y="2919202"/>
            <a:ext cx="4142322" cy="1331873"/>
          </a:xfrm>
          <a:prstGeom prst="rect">
            <a:avLst/>
          </a:prstGeom>
          <a:noFill/>
          <a:ln>
            <a:noFill/>
          </a:ln>
        </p:spPr>
      </p:pic>
      <p:pic>
        <p:nvPicPr>
          <p:cNvPr id="167" name="Google Shape;167;p79" descr="Logotipo&#10;&#10;Descripción generada automáticamente"/>
          <p:cNvPicPr preferRelativeResize="0"/>
          <p:nvPr/>
        </p:nvPicPr>
        <p:blipFill rotWithShape="1">
          <a:blip r:embed="rId3">
            <a:alphaModFix/>
          </a:blip>
          <a:srcRect/>
          <a:stretch/>
        </p:blipFill>
        <p:spPr>
          <a:xfrm>
            <a:off x="8831875" y="3088561"/>
            <a:ext cx="2630517" cy="993154"/>
          </a:xfrm>
          <a:prstGeom prst="rect">
            <a:avLst/>
          </a:prstGeom>
          <a:noFill/>
          <a:ln>
            <a:noFill/>
          </a:ln>
        </p:spPr>
      </p:pic>
      <p:pic>
        <p:nvPicPr>
          <p:cNvPr id="168" name="Google Shape;168;p79" descr="Logotipo&#10;&#10;Descripción generada automáticamente con confianza media"/>
          <p:cNvPicPr preferRelativeResize="0"/>
          <p:nvPr/>
        </p:nvPicPr>
        <p:blipFill rotWithShape="1">
          <a:blip r:embed="rId4">
            <a:alphaModFix/>
          </a:blip>
          <a:srcRect/>
          <a:stretch/>
        </p:blipFill>
        <p:spPr>
          <a:xfrm>
            <a:off x="825716" y="3018771"/>
            <a:ext cx="3314381" cy="116003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solidFill>
          <a:schemeClr val="dk1"/>
        </a:solidFill>
        <a:effectLst/>
      </p:bgPr>
    </p:bg>
    <p:spTree>
      <p:nvGrpSpPr>
        <p:cNvPr id="1" name="Shape 169"/>
        <p:cNvGrpSpPr/>
        <p:nvPr/>
      </p:nvGrpSpPr>
      <p:grpSpPr>
        <a:xfrm>
          <a:off x="0" y="0"/>
          <a:ext cx="0" cy="0"/>
          <a:chOff x="0" y="0"/>
          <a:chExt cx="0" cy="0"/>
        </a:xfrm>
      </p:grpSpPr>
      <p:pic>
        <p:nvPicPr>
          <p:cNvPr id="170" name="Google Shape;170;p80" descr="Interfaz de usuario gráfica, Logotipo&#10;&#10;Descripción generada automáticamente"/>
          <p:cNvPicPr preferRelativeResize="0"/>
          <p:nvPr/>
        </p:nvPicPr>
        <p:blipFill rotWithShape="1">
          <a:blip r:embed="rId2">
            <a:alphaModFix/>
          </a:blip>
          <a:srcRect/>
          <a:stretch/>
        </p:blipFill>
        <p:spPr>
          <a:xfrm>
            <a:off x="8654758" y="3386689"/>
            <a:ext cx="2793378" cy="772817"/>
          </a:xfrm>
          <a:prstGeom prst="rect">
            <a:avLst/>
          </a:prstGeom>
          <a:noFill/>
          <a:ln>
            <a:noFill/>
          </a:ln>
        </p:spPr>
      </p:pic>
      <p:pic>
        <p:nvPicPr>
          <p:cNvPr id="171" name="Google Shape;171;p80" descr="Logotipo&#10;&#10;Descripción generada automáticamente"/>
          <p:cNvPicPr preferRelativeResize="0"/>
          <p:nvPr/>
        </p:nvPicPr>
        <p:blipFill rotWithShape="1">
          <a:blip r:embed="rId3">
            <a:alphaModFix/>
          </a:blip>
          <a:srcRect/>
          <a:stretch/>
        </p:blipFill>
        <p:spPr>
          <a:xfrm>
            <a:off x="4295868" y="3332097"/>
            <a:ext cx="4358890" cy="876191"/>
          </a:xfrm>
          <a:prstGeom prst="rect">
            <a:avLst/>
          </a:prstGeom>
          <a:noFill/>
          <a:ln>
            <a:noFill/>
          </a:ln>
        </p:spPr>
      </p:pic>
      <p:pic>
        <p:nvPicPr>
          <p:cNvPr id="172" name="Google Shape;172;p80" descr="Logotipo&#10;&#10;Descripción generada automáticamente con confianza media"/>
          <p:cNvPicPr preferRelativeResize="0"/>
          <p:nvPr/>
        </p:nvPicPr>
        <p:blipFill rotWithShape="1">
          <a:blip r:embed="rId4">
            <a:alphaModFix/>
          </a:blip>
          <a:srcRect/>
          <a:stretch/>
        </p:blipFill>
        <p:spPr>
          <a:xfrm>
            <a:off x="717990" y="3383785"/>
            <a:ext cx="3321748" cy="7728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3"/>
        <p:cNvGrpSpPr/>
        <p:nvPr/>
      </p:nvGrpSpPr>
      <p:grpSpPr>
        <a:xfrm>
          <a:off x="0" y="0"/>
          <a:ext cx="0" cy="0"/>
          <a:chOff x="0" y="0"/>
          <a:chExt cx="0" cy="0"/>
        </a:xfrm>
      </p:grpSpPr>
      <p:sp>
        <p:nvSpPr>
          <p:cNvPr id="174" name="Google Shape;174;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1"/>
          <p:cNvSpPr>
            <a:spLocks noGrp="1"/>
          </p:cNvSpPr>
          <p:nvPr>
            <p:ph type="pic" idx="2"/>
          </p:nvPr>
        </p:nvSpPr>
        <p:spPr>
          <a:xfrm>
            <a:off x="5183188" y="987425"/>
            <a:ext cx="6172200" cy="4873625"/>
          </a:xfrm>
          <a:prstGeom prst="rect">
            <a:avLst/>
          </a:prstGeom>
          <a:noFill/>
          <a:ln>
            <a:noFill/>
          </a:ln>
        </p:spPr>
      </p:sp>
      <p:sp>
        <p:nvSpPr>
          <p:cNvPr id="176" name="Google Shape;176;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pic>
        <p:nvPicPr>
          <p:cNvPr id="178" name="Google Shape;178;p81"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pic>
        <p:nvPicPr>
          <p:cNvPr id="179" name="Google Shape;179;p81"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bg>
      <p:bgPr>
        <a:solidFill>
          <a:schemeClr val="accent1"/>
        </a:solidFill>
        <a:effectLst/>
      </p:bgPr>
    </p:bg>
    <p:spTree>
      <p:nvGrpSpPr>
        <p:cNvPr id="1" name="Shape 180"/>
        <p:cNvGrpSpPr/>
        <p:nvPr/>
      </p:nvGrpSpPr>
      <p:grpSpPr>
        <a:xfrm>
          <a:off x="0" y="0"/>
          <a:ext cx="0" cy="0"/>
          <a:chOff x="0" y="0"/>
          <a:chExt cx="0" cy="0"/>
        </a:xfrm>
      </p:grpSpPr>
      <p:pic>
        <p:nvPicPr>
          <p:cNvPr id="181" name="Google Shape;181;p82"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sp>
        <p:nvSpPr>
          <p:cNvPr id="182" name="Google Shape;18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3200"/>
              <a:buFont typeface="Play"/>
              <a:buNone/>
              <a:defRPr sz="32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82"/>
          <p:cNvSpPr>
            <a:spLocks noGrp="1"/>
          </p:cNvSpPr>
          <p:nvPr>
            <p:ph type="pic" idx="2"/>
          </p:nvPr>
        </p:nvSpPr>
        <p:spPr>
          <a:xfrm>
            <a:off x="5183188" y="987425"/>
            <a:ext cx="6172200" cy="4873625"/>
          </a:xfrm>
          <a:prstGeom prst="rect">
            <a:avLst/>
          </a:prstGeom>
          <a:noFill/>
          <a:ln>
            <a:noFill/>
          </a:ln>
        </p:spPr>
      </p:sp>
      <p:sp>
        <p:nvSpPr>
          <p:cNvPr id="184" name="Google Shape;184;p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2"/>
              </a:buClr>
              <a:buSzPts val="1600"/>
              <a:buNone/>
              <a:defRPr sz="1600">
                <a:solidFill>
                  <a:schemeClr val="lt2"/>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5" name="Google Shape;18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86" name="Google Shape;186;p82"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bg>
      <p:bgPr>
        <a:solidFill>
          <a:schemeClr val="accent4"/>
        </a:solidFill>
        <a:effectLst/>
      </p:bgPr>
    </p:bg>
    <p:spTree>
      <p:nvGrpSpPr>
        <p:cNvPr id="1" name="Shape 187"/>
        <p:cNvGrpSpPr/>
        <p:nvPr/>
      </p:nvGrpSpPr>
      <p:grpSpPr>
        <a:xfrm>
          <a:off x="0" y="0"/>
          <a:ext cx="0" cy="0"/>
          <a:chOff x="0" y="0"/>
          <a:chExt cx="0" cy="0"/>
        </a:xfrm>
      </p:grpSpPr>
      <p:pic>
        <p:nvPicPr>
          <p:cNvPr id="188" name="Google Shape;188;p83" descr="Logotipo&#10;&#10;Descripción generada automáticamente"/>
          <p:cNvPicPr preferRelativeResize="0"/>
          <p:nvPr/>
        </p:nvPicPr>
        <p:blipFill rotWithShape="1">
          <a:blip r:embed="rId2">
            <a:alphaModFix/>
          </a:blip>
          <a:srcRect/>
          <a:stretch/>
        </p:blipFill>
        <p:spPr>
          <a:xfrm>
            <a:off x="674921" y="6113578"/>
            <a:ext cx="1890650" cy="607897"/>
          </a:xfrm>
          <a:prstGeom prst="rect">
            <a:avLst/>
          </a:prstGeom>
          <a:noFill/>
          <a:ln>
            <a:noFill/>
          </a:ln>
        </p:spPr>
      </p:pic>
      <p:pic>
        <p:nvPicPr>
          <p:cNvPr id="189" name="Google Shape;189;p83"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0" name="Google Shape;190;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3"/>
          <p:cNvSpPr>
            <a:spLocks noGrp="1"/>
          </p:cNvSpPr>
          <p:nvPr>
            <p:ph type="pic" idx="2"/>
          </p:nvPr>
        </p:nvSpPr>
        <p:spPr>
          <a:xfrm>
            <a:off x="5183188" y="987425"/>
            <a:ext cx="6172200" cy="4873625"/>
          </a:xfrm>
          <a:prstGeom prst="rect">
            <a:avLst/>
          </a:prstGeom>
          <a:noFill/>
          <a:ln>
            <a:noFill/>
          </a:ln>
        </p:spPr>
      </p:sp>
      <p:sp>
        <p:nvSpPr>
          <p:cNvPr id="192" name="Google Shape;192;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Imagen con título">
  <p:cSld name="3_Imagen con título">
    <p:bg>
      <p:bgPr>
        <a:solidFill>
          <a:schemeClr val="accent5"/>
        </a:solidFill>
        <a:effectLst/>
      </p:bgPr>
    </p:bg>
    <p:spTree>
      <p:nvGrpSpPr>
        <p:cNvPr id="1" name="Shape 194"/>
        <p:cNvGrpSpPr/>
        <p:nvPr/>
      </p:nvGrpSpPr>
      <p:grpSpPr>
        <a:xfrm>
          <a:off x="0" y="0"/>
          <a:ext cx="0" cy="0"/>
          <a:chOff x="0" y="0"/>
          <a:chExt cx="0" cy="0"/>
        </a:xfrm>
      </p:grpSpPr>
      <p:pic>
        <p:nvPicPr>
          <p:cNvPr id="195" name="Google Shape;195;p84" descr="Logotipo&#10;&#10;Descripción generada automáticamente"/>
          <p:cNvPicPr preferRelativeResize="0"/>
          <p:nvPr/>
        </p:nvPicPr>
        <p:blipFill rotWithShape="1">
          <a:blip r:embed="rId2">
            <a:alphaModFix/>
          </a:blip>
          <a:srcRect/>
          <a:stretch/>
        </p:blipFill>
        <p:spPr>
          <a:xfrm>
            <a:off x="717120" y="6119502"/>
            <a:ext cx="1275453" cy="481548"/>
          </a:xfrm>
          <a:prstGeom prst="rect">
            <a:avLst/>
          </a:prstGeom>
          <a:noFill/>
          <a:ln>
            <a:noFill/>
          </a:ln>
        </p:spPr>
      </p:pic>
      <p:pic>
        <p:nvPicPr>
          <p:cNvPr id="196" name="Google Shape;196;p84"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7" name="Google Shape;197;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4"/>
          <p:cNvSpPr>
            <a:spLocks noGrp="1"/>
          </p:cNvSpPr>
          <p:nvPr>
            <p:ph type="pic" idx="2"/>
          </p:nvPr>
        </p:nvSpPr>
        <p:spPr>
          <a:xfrm>
            <a:off x="5183188" y="987425"/>
            <a:ext cx="6172200" cy="4873625"/>
          </a:xfrm>
          <a:prstGeom prst="rect">
            <a:avLst/>
          </a:prstGeom>
          <a:noFill/>
          <a:ln>
            <a:noFill/>
          </a:ln>
        </p:spPr>
      </p:sp>
      <p:sp>
        <p:nvSpPr>
          <p:cNvPr id="199" name="Google Shape;199;p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01"/>
        <p:cNvGrpSpPr/>
        <p:nvPr/>
      </p:nvGrpSpPr>
      <p:grpSpPr>
        <a:xfrm>
          <a:off x="0" y="0"/>
          <a:ext cx="0" cy="0"/>
          <a:chOff x="0" y="0"/>
          <a:chExt cx="0" cy="0"/>
        </a:xfrm>
      </p:grpSpPr>
      <p:sp>
        <p:nvSpPr>
          <p:cNvPr id="202" name="Google Shape;202;p85"/>
          <p:cNvSpPr txBox="1">
            <a:spLocks noGrp="1"/>
          </p:cNvSpPr>
          <p:nvPr>
            <p:ph type="title"/>
          </p:nvPr>
        </p:nvSpPr>
        <p:spPr>
          <a:xfrm>
            <a:off x="551384" y="302459"/>
            <a:ext cx="10081120" cy="2462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3"/>
        <p:cNvGrpSpPr/>
        <p:nvPr/>
      </p:nvGrpSpPr>
      <p:grpSpPr>
        <a:xfrm>
          <a:off x="0" y="0"/>
          <a:ext cx="0" cy="0"/>
          <a:chOff x="0" y="0"/>
          <a:chExt cx="0" cy="0"/>
        </a:xfrm>
      </p:grpSpPr>
      <p:sp>
        <p:nvSpPr>
          <p:cNvPr id="204" name="Google Shape;204;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86"/>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719403" y="1694212"/>
            <a:ext cx="5853024" cy="9848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2"/>
              </a:buClr>
              <a:buSzPts val="2000"/>
              <a:buFont typeface="Arial"/>
              <a:buChar char="▪"/>
              <a:defRPr sz="1600" b="0" i="0" u="none" strike="noStrike" cap="none">
                <a:solidFill>
                  <a:schemeClr val="dk1"/>
                </a:solidFill>
                <a:latin typeface="Calibri"/>
                <a:ea typeface="Calibri"/>
                <a:cs typeface="Calibri"/>
                <a:sym typeface="Calibri"/>
              </a:defRPr>
            </a:lvl2pPr>
            <a:lvl3pPr marL="1371600" marR="0" lvl="2"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3pPr>
            <a:lvl4pPr marL="1828800" marR="0" lvl="3"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4pPr>
            <a:lvl5pPr marL="2286000" marR="0" lvl="4" indent="-319024" algn="l" rtl="0">
              <a:spcBef>
                <a:spcPts val="0"/>
              </a:spcBef>
              <a:spcAft>
                <a:spcPts val="0"/>
              </a:spcAft>
              <a:buClr>
                <a:schemeClr val="dk2"/>
              </a:buClr>
              <a:buSzPts val="1424"/>
              <a:buFont typeface="Arial"/>
              <a:buChar char="-"/>
              <a:defRPr sz="1600" b="0" i="0" u="none" strike="noStrike" cap="none">
                <a:solidFill>
                  <a:schemeClr val="dk1"/>
                </a:solidFill>
                <a:latin typeface="Calibri"/>
                <a:ea typeface="Calibri"/>
                <a:cs typeface="Calibri"/>
                <a:sym typeface="Calibri"/>
              </a:defRPr>
            </a:lvl5pPr>
            <a:lvl6pPr marL="2743200" marR="0" lvl="5"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6pPr>
            <a:lvl7pPr marL="3200400" marR="0" lvl="6"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7pPr>
            <a:lvl8pPr marL="3657600" marR="0" lvl="7"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8pPr>
            <a:lvl9pPr marL="4114800" marR="0" lvl="8"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 name="Google Shape;7;p61"/>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6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9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9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9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9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9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9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9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900" b="1" i="0" u="none" strike="noStrike" cap="none">
                <a:solidFill>
                  <a:schemeClr val="dk2"/>
                </a:solidFill>
                <a:latin typeface="Arial"/>
                <a:ea typeface="Arial"/>
                <a:cs typeface="Arial"/>
                <a:sym typeface="Arial"/>
              </a:defRPr>
            </a:lvl9pPr>
          </a:lstStyle>
          <a:p>
            <a:endParaRPr/>
          </a:p>
        </p:txBody>
      </p:sp>
      <p:sp>
        <p:nvSpPr>
          <p:cNvPr id="8" name="Google Shape;8;p61"/>
          <p:cNvSpPr txBox="1"/>
          <p:nvPr/>
        </p:nvSpPr>
        <p:spPr>
          <a:xfrm>
            <a:off x="11716644" y="6566446"/>
            <a:ext cx="284012" cy="1554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s-CL" sz="1000" b="0" i="0" u="none" strike="noStrike" cap="none">
                <a:solidFill>
                  <a:srgbClr val="33448D"/>
                </a:solidFill>
                <a:latin typeface="Arial"/>
                <a:ea typeface="Arial"/>
                <a:cs typeface="Arial"/>
                <a:sym typeface="Arial"/>
              </a:rPr>
              <a:t>‹Nº›</a:t>
            </a:fld>
            <a:endParaRPr sz="1000" b="0" i="0" u="none" strike="noStrike" cap="none">
              <a:solidFill>
                <a:srgbClr val="33448D"/>
              </a:solidFill>
              <a:latin typeface="Arial"/>
              <a:ea typeface="Arial"/>
              <a:cs typeface="Arial"/>
              <a:sym typeface="Arial"/>
            </a:endParaRPr>
          </a:p>
        </p:txBody>
      </p:sp>
      <p:sp>
        <p:nvSpPr>
          <p:cNvPr id="9" name="Google Shape;9;p61"/>
          <p:cNvSpPr/>
          <p:nvPr/>
        </p:nvSpPr>
        <p:spPr>
          <a:xfrm>
            <a:off x="0" y="831533"/>
            <a:ext cx="12192000" cy="46648"/>
          </a:xfrm>
          <a:prstGeom prst="roundRect">
            <a:avLst>
              <a:gd name="adj" fmla="val 11644"/>
            </a:avLst>
          </a:prstGeom>
          <a:solidFill>
            <a:srgbClr val="2C73BB"/>
          </a:solidFill>
          <a:ln>
            <a:noFill/>
          </a:ln>
        </p:spPr>
        <p:txBody>
          <a:bodyPr spcFirstLastPara="1" wrap="square" lIns="93125" tIns="46550" rIns="93125" bIns="4655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0" name="Google Shape;10;p61"/>
          <p:cNvPicPr preferRelativeResize="0"/>
          <p:nvPr/>
        </p:nvPicPr>
        <p:blipFill rotWithShape="1">
          <a:blip r:embed="rId7">
            <a:alphaModFix/>
          </a:blip>
          <a:srcRect/>
          <a:stretch/>
        </p:blipFill>
        <p:spPr>
          <a:xfrm>
            <a:off x="11208568" y="111753"/>
            <a:ext cx="876400" cy="5809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
        <p:nvSpPr>
          <p:cNvPr id="37" name="Google Shape;3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Play"/>
              <a:buNone/>
              <a:defRPr sz="40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1" name="Google Shape;41;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0.xml"/><Relationship Id="rId1" Type="http://schemas.openxmlformats.org/officeDocument/2006/relationships/slideLayout" Target="../slideLayouts/slideLayout6.xml"/><Relationship Id="rId5" Type="http://schemas.openxmlformats.org/officeDocument/2006/relationships/image" Target="../media/image67.png"/><Relationship Id="rId4" Type="http://schemas.openxmlformats.org/officeDocument/2006/relationships/image" Target="../media/image66.png"/></Relationships>
</file>

<file path=ppt/slides/_rels/slide7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jpg"/><Relationship Id="rId2" Type="http://schemas.openxmlformats.org/officeDocument/2006/relationships/notesSlide" Target="../notesSlides/notesSlide72.xml"/><Relationship Id="rId1" Type="http://schemas.openxmlformats.org/officeDocument/2006/relationships/slideLayout" Target="../slideLayouts/slideLayout27.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
          <p:cNvSpPr txBox="1">
            <a:spLocks noGrp="1"/>
          </p:cNvSpPr>
          <p:nvPr>
            <p:ph type="subTitle" idx="1"/>
          </p:nvPr>
        </p:nvSpPr>
        <p:spPr>
          <a:xfrm>
            <a:off x="928356" y="5044946"/>
            <a:ext cx="5036084"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000" b="1" dirty="0">
                <a:solidFill>
                  <a:srgbClr val="192146"/>
                </a:solidFill>
              </a:rPr>
              <a:t>Comité TECSERVICE</a:t>
            </a:r>
            <a:endParaRPr dirty="0"/>
          </a:p>
          <a:p>
            <a:pPr marL="0" lvl="0" indent="0" algn="l" rtl="0">
              <a:spcBef>
                <a:spcPts val="0"/>
              </a:spcBef>
              <a:spcAft>
                <a:spcPts val="0"/>
              </a:spcAft>
              <a:buNone/>
            </a:pPr>
            <a:r>
              <a:rPr lang="es-CL" dirty="0">
                <a:solidFill>
                  <a:srgbClr val="192146"/>
                </a:solidFill>
              </a:rPr>
              <a:t>21 septiembre 2026</a:t>
            </a:r>
            <a:endParaRPr dirty="0"/>
          </a:p>
        </p:txBody>
      </p:sp>
      <p:sp>
        <p:nvSpPr>
          <p:cNvPr id="214" name="Google Shape;214;p1"/>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215" name="Google Shape;215;p1"/>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216" name="Google Shape;216;p1"/>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217" name="Google Shape;217;p1"/>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335FC8E7-B8F5-F89D-81A6-1730A638EE00}"/>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18C43288-93FE-68BA-CA33-339ACE5BDBA4}"/>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5CB74DE0-8D84-3C66-BBB2-DD1F99EF195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E3E1B001-4175-540F-A765-DFD02DFCCA49}"/>
              </a:ext>
            </a:extLst>
          </p:cNvPr>
          <p:cNvSpPr/>
          <p:nvPr/>
        </p:nvSpPr>
        <p:spPr>
          <a:xfrm>
            <a:off x="393700" y="845389"/>
            <a:ext cx="11312345" cy="25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395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Información Importante Último Comite</a:t>
            </a:r>
            <a:endParaRPr sz="2700" b="0" i="0" u="none" strike="noStrike" cap="none">
              <a:solidFill>
                <a:srgbClr val="FFFFFF"/>
              </a:solidFill>
              <a:latin typeface="Roboto"/>
              <a:ea typeface="Roboto"/>
              <a:cs typeface="Roboto"/>
              <a:sym typeface="Roboto"/>
            </a:endParaRPr>
          </a:p>
        </p:txBody>
      </p:sp>
      <p:sp>
        <p:nvSpPr>
          <p:cNvPr id="236" name="Google Shape;236;p4"/>
          <p:cNvSpPr/>
          <p:nvPr/>
        </p:nvSpPr>
        <p:spPr>
          <a:xfrm>
            <a:off x="393700" y="854015"/>
            <a:ext cx="11070806" cy="55848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br>
              <a:rPr lang="es-CL" sz="1200" b="1" i="0" u="none" strike="noStrike" cap="none" dirty="0">
                <a:solidFill>
                  <a:schemeClr val="lt1"/>
                </a:solidFill>
                <a:latin typeface="Arial"/>
                <a:ea typeface="Arial"/>
                <a:cs typeface="Arial"/>
                <a:sym typeface="Arial"/>
              </a:rPr>
            </a:br>
            <a:r>
              <a:rPr lang="es-CL" sz="1200" b="1" i="0" u="none" strike="noStrike" cap="none" dirty="0">
                <a:solidFill>
                  <a:schemeClr val="lt1"/>
                </a:solidFill>
                <a:latin typeface="Arial"/>
                <a:ea typeface="Arial"/>
                <a:cs typeface="Arial"/>
                <a:sym typeface="Arial"/>
              </a:rPr>
              <a:t>1. </a:t>
            </a:r>
            <a:r>
              <a:rPr lang="es-MX" sz="1200" b="1" dirty="0">
                <a:solidFill>
                  <a:schemeClr val="lt1"/>
                </a:solidFill>
              </a:rPr>
              <a:t>Foco en plan de negocios – Plan RM y </a:t>
            </a:r>
            <a:r>
              <a:rPr lang="es-MX" sz="1200" b="1" dirty="0" err="1">
                <a:solidFill>
                  <a:schemeClr val="lt1"/>
                </a:solidFill>
              </a:rPr>
              <a:t>Valparaiso</a:t>
            </a:r>
            <a:endParaRPr lang="es-MX" sz="1200" b="1" dirty="0">
              <a:solidFill>
                <a:schemeClr val="lt1"/>
              </a:solidFill>
            </a:endParaRPr>
          </a:p>
          <a:p>
            <a:pPr marL="0" marR="0" lvl="0" indent="0" algn="l" rtl="0">
              <a:spcBef>
                <a:spcPts val="0"/>
              </a:spcBef>
              <a:spcAft>
                <a:spcPts val="0"/>
              </a:spcAft>
              <a:buNone/>
            </a:pPr>
            <a:r>
              <a:rPr lang="es-MX" sz="1200" b="1" dirty="0">
                <a:solidFill>
                  <a:schemeClr val="lt1"/>
                </a:solidFill>
                <a:latin typeface="Arial"/>
                <a:ea typeface="Arial"/>
                <a:cs typeface="Arial"/>
                <a:sym typeface="Arial"/>
              </a:rPr>
              <a:t>2. Plan de Acción Bio – Bio ; Status Plan Sur</a:t>
            </a:r>
            <a:br>
              <a:rPr lang="es-CL" sz="1200" dirty="0">
                <a:solidFill>
                  <a:srgbClr val="7F7F7F"/>
                </a:solidFill>
                <a:latin typeface="Arial"/>
                <a:ea typeface="Arial"/>
                <a:cs typeface="Arial"/>
                <a:sym typeface="Arial"/>
              </a:rPr>
            </a:br>
            <a:endParaRPr sz="1200" dirty="0">
              <a:solidFill>
                <a:srgbClr val="7F7F7F"/>
              </a:solidFill>
              <a:latin typeface="Arial"/>
              <a:ea typeface="Arial"/>
              <a:cs typeface="Arial"/>
              <a:sym typeface="Arial"/>
            </a:endParaRPr>
          </a:p>
          <a:p>
            <a:pPr marL="0" marR="0" lvl="0" indent="0" algn="l" rtl="0">
              <a:spcBef>
                <a:spcPts val="0"/>
              </a:spcBef>
              <a:spcAft>
                <a:spcPts val="0"/>
              </a:spcAft>
              <a:buNone/>
            </a:pPr>
            <a:endParaRPr sz="1200" dirty="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0560562-841D-0614-4996-0C126C5E6DA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0E5A4D55-4770-E145-5D42-B0DB6406279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97AF97A3-160F-401A-F05A-9C230288BFCF}"/>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54A2BD3-B50F-11A5-358B-61911454A6C6}"/>
              </a:ext>
            </a:extLst>
          </p:cNvPr>
          <p:cNvSpPr/>
          <p:nvPr/>
        </p:nvSpPr>
        <p:spPr>
          <a:xfrm>
            <a:off x="393700" y="1134000"/>
            <a:ext cx="11312345" cy="9900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01269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Facturación 2</a:t>
            </a:r>
            <a:r>
              <a:rPr lang="es-CL" sz="2700" b="1">
                <a:solidFill>
                  <a:srgbClr val="33448D"/>
                </a:solidFill>
                <a:latin typeface="Roboto"/>
                <a:ea typeface="Roboto"/>
                <a:cs typeface="Roboto"/>
                <a:sym typeface="Roboto"/>
              </a:rPr>
              <a:t>° </a:t>
            </a:r>
            <a:r>
              <a:rPr lang="es-CL" sz="2700" b="1" i="0" u="none" strike="noStrike" cap="none">
                <a:solidFill>
                  <a:srgbClr val="33448D"/>
                </a:solidFill>
                <a:latin typeface="Roboto"/>
                <a:ea typeface="Roboto"/>
                <a:cs typeface="Roboto"/>
                <a:sym typeface="Roboto"/>
              </a:rPr>
              <a:t>Semana de </a:t>
            </a:r>
            <a:r>
              <a:rPr lang="es-CL" sz="2700" b="1">
                <a:solidFill>
                  <a:srgbClr val="33448D"/>
                </a:solidFill>
                <a:latin typeface="Roboto"/>
                <a:ea typeface="Roboto"/>
                <a:cs typeface="Roboto"/>
                <a:sym typeface="Roboto"/>
              </a:rPr>
              <a:t>Septiembre</a:t>
            </a:r>
            <a:endParaRPr sz="2700" b="0" i="0" u="none" strike="noStrike" cap="none">
              <a:solidFill>
                <a:srgbClr val="FFFFFF"/>
              </a:solidFill>
              <a:latin typeface="Roboto"/>
              <a:ea typeface="Roboto"/>
              <a:cs typeface="Roboto"/>
              <a:sym typeface="Roboto"/>
            </a:endParaRPr>
          </a:p>
        </p:txBody>
      </p:sp>
      <p:sp>
        <p:nvSpPr>
          <p:cNvPr id="249" name="Google Shape;249;p6"/>
          <p:cNvSpPr/>
          <p:nvPr/>
        </p:nvSpPr>
        <p:spPr>
          <a:xfrm>
            <a:off x="198408" y="5141343"/>
            <a:ext cx="11625292" cy="1138687"/>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 septiembre se acumulan MM$78,2 de facturación, concentrada principalmente en Servicio Técnico (MM$74,0).</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Servicio Técnico acumula MM$1.720,3 de facturación, representando 89% de la facturación acumulada.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facturación acumulada alcanza MM$1.923,9, un 25,7% por sobre el mismo período del año anterior, equivalente a MM$347,3 adicionales.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Trazabilidad acumula MM$21,2 y presenta un avance mensual de 92,4% sobre el presupuesto, mientras que Servicio Técnico se encuentra 64,0% bajo presupuesto mensual.</a:t>
            </a:r>
          </a:p>
        </p:txBody>
      </p:sp>
      <p:pic>
        <p:nvPicPr>
          <p:cNvPr id="3" name="Imagen 2">
            <a:extLst>
              <a:ext uri="{FF2B5EF4-FFF2-40B4-BE49-F238E27FC236}">
                <a16:creationId xmlns:a16="http://schemas.microsoft.com/office/drawing/2014/main" id="{C1BD6AFE-0A0F-B5D3-77CC-A9ED32230CEA}"/>
              </a:ext>
            </a:extLst>
          </p:cNvPr>
          <p:cNvPicPr>
            <a:picLocks noChangeAspect="1"/>
          </p:cNvPicPr>
          <p:nvPr/>
        </p:nvPicPr>
        <p:blipFill>
          <a:blip r:embed="rId3"/>
          <a:srcRect t="10436"/>
          <a:stretch>
            <a:fillRect/>
          </a:stretch>
        </p:blipFill>
        <p:spPr>
          <a:xfrm>
            <a:off x="533054" y="909000"/>
            <a:ext cx="10956000" cy="40279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Desglose Garantía</a:t>
            </a:r>
            <a:r>
              <a:rPr lang="es-CL" sz="2700" b="1">
                <a:solidFill>
                  <a:srgbClr val="33448D"/>
                </a:solidFill>
                <a:latin typeface="Roboto"/>
                <a:ea typeface="Roboto"/>
                <a:cs typeface="Roboto"/>
                <a:sym typeface="Roboto"/>
              </a:rPr>
              <a:t>s Vigentes</a:t>
            </a:r>
            <a:endParaRPr sz="2700" b="0" i="0" u="none" strike="noStrike" cap="none">
              <a:solidFill>
                <a:srgbClr val="FFFFFF"/>
              </a:solidFill>
              <a:latin typeface="Roboto"/>
              <a:ea typeface="Roboto"/>
              <a:cs typeface="Roboto"/>
              <a:sym typeface="Roboto"/>
            </a:endParaRPr>
          </a:p>
        </p:txBody>
      </p:sp>
      <p:sp>
        <p:nvSpPr>
          <p:cNvPr id="256" name="Google Shape;256;p7"/>
          <p:cNvSpPr/>
          <p:nvPr/>
        </p:nvSpPr>
        <p:spPr>
          <a:xfrm>
            <a:off x="7496175" y="988142"/>
            <a:ext cx="4530557" cy="568714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cartera de garantías vigentes alcanza MM$284,6 de ingresos estimados, asociados a 45 contratos, con MM$132,6 de costo estimado y MM$72,0 aún por consumir.</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costo estimado representa aproximadamente 47% de los ingresos, dejando un margen estimado cercano al 53%.</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cartera presenta una alta concentración en los contratos de mayor monto: los 10 principales reúnen aproximadamente MM$127 millones, equivalentes al 45% del monto total.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contratos presentan distintos niveles de consumo y vigencia, con vencimientos que se extienden hasta 2030; una parte relevante aún mantiene un bajo porcentaje de consumo.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Esterilización concentra la mayor parte de la cartera, tanto en número de contratos como en monto, mientras que Dental presenta una participación menor.</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cartera mantiene MM$72,0 de costo estimado remanente, lo que representa una base relevante de actividad futura, especialmente en contratos con bajo porcentaje de consumo y mayor plazo restante.</a:t>
            </a:r>
          </a:p>
        </p:txBody>
      </p:sp>
      <p:pic>
        <p:nvPicPr>
          <p:cNvPr id="5" name="Imagen 4">
            <a:extLst>
              <a:ext uri="{FF2B5EF4-FFF2-40B4-BE49-F238E27FC236}">
                <a16:creationId xmlns:a16="http://schemas.microsoft.com/office/drawing/2014/main" id="{87F30B21-E211-38EE-DC01-CB6B45B2EAE4}"/>
              </a:ext>
            </a:extLst>
          </p:cNvPr>
          <p:cNvPicPr>
            <a:picLocks noChangeAspect="1"/>
          </p:cNvPicPr>
          <p:nvPr/>
        </p:nvPicPr>
        <p:blipFill>
          <a:blip r:embed="rId3"/>
          <a:srcRect t="5382" b="5380"/>
          <a:stretch>
            <a:fillRect/>
          </a:stretch>
        </p:blipFill>
        <p:spPr>
          <a:xfrm>
            <a:off x="122405" y="879894"/>
            <a:ext cx="7330908" cy="59036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Agrupación por Línea de Negocio </a:t>
            </a:r>
            <a:endParaRPr sz="2700" b="0" i="0" u="none" strike="noStrike" cap="none">
              <a:solidFill>
                <a:srgbClr val="FFFFFF"/>
              </a:solidFill>
              <a:latin typeface="Roboto"/>
              <a:ea typeface="Roboto"/>
              <a:cs typeface="Roboto"/>
              <a:sym typeface="Roboto"/>
            </a:endParaRPr>
          </a:p>
        </p:txBody>
      </p:sp>
      <p:sp>
        <p:nvSpPr>
          <p:cNvPr id="263" name="Google Shape;263;p8"/>
          <p:cNvSpPr/>
          <p:nvPr/>
        </p:nvSpPr>
        <p:spPr>
          <a:xfrm>
            <a:off x="246000" y="2510210"/>
            <a:ext cx="11700000" cy="3695705"/>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80% de los contratos vigentes, con 36 de los 45 contratos de la cartera, versus 9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representa cerca del 90% del costo total estimado, alcanzando MM$118,9, versus MM$13,6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costo remanente asciende a MM$72,0, equivalente al 54,3% del costo total estimado, quedando MM$60,6 consumidos.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A nivel consolidado, se ha consumido 45,7% del costo estimado, manteniéndose 54,3% pendiente de consumir.</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Los contratos de Dental presentan un mayor nivel de avance, con 55,0% consumido, versus 44,6% en Esterilización.</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91,5% del costo remanente, con MM$65,9, constituyendo la principal exposición futura de la cartera.</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promedio de días restantes es de 354 días, con una diferencia relevante entre Esterilización (406 días) y Dental (147 días).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cartera presenta una alta concentración en proyectos de Esterilización, que además concentran la mayor parte del costo remanente y del plazo pendiente.</a:t>
            </a:r>
          </a:p>
        </p:txBody>
      </p:sp>
      <p:pic>
        <p:nvPicPr>
          <p:cNvPr id="3" name="Imagen 2">
            <a:extLst>
              <a:ext uri="{FF2B5EF4-FFF2-40B4-BE49-F238E27FC236}">
                <a16:creationId xmlns:a16="http://schemas.microsoft.com/office/drawing/2014/main" id="{A54178FB-D084-4734-DCAB-51BDD31333E5}"/>
              </a:ext>
            </a:extLst>
          </p:cNvPr>
          <p:cNvPicPr>
            <a:picLocks noChangeAspect="1"/>
          </p:cNvPicPr>
          <p:nvPr/>
        </p:nvPicPr>
        <p:blipFill>
          <a:blip r:embed="rId3"/>
          <a:srcRect t="18971" b="26728"/>
          <a:stretch>
            <a:fillRect/>
          </a:stretch>
        </p:blipFill>
        <p:spPr>
          <a:xfrm>
            <a:off x="0" y="909000"/>
            <a:ext cx="12192000" cy="126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4" name="Imagen 3">
            <a:extLst>
              <a:ext uri="{FF2B5EF4-FFF2-40B4-BE49-F238E27FC236}">
                <a16:creationId xmlns:a16="http://schemas.microsoft.com/office/drawing/2014/main" id="{56793527-BCA1-4392-D946-377368DB9B6E}"/>
              </a:ext>
            </a:extLst>
          </p:cNvPr>
          <p:cNvPicPr>
            <a:picLocks noChangeAspect="1"/>
          </p:cNvPicPr>
          <p:nvPr/>
        </p:nvPicPr>
        <p:blipFill>
          <a:blip r:embed="rId3"/>
          <a:srcRect t="15845" b="10380"/>
          <a:stretch>
            <a:fillRect/>
          </a:stretch>
        </p:blipFill>
        <p:spPr>
          <a:xfrm>
            <a:off x="-1125" y="847025"/>
            <a:ext cx="12192000" cy="2430001"/>
          </a:xfrm>
          <a:prstGeom prst="rect">
            <a:avLst/>
          </a:prstGeom>
        </p:spPr>
      </p:pic>
      <p:sp>
        <p:nvSpPr>
          <p:cNvPr id="269" name="Google Shape;269;p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Brechas de Facturación</a:t>
            </a:r>
            <a:endParaRPr sz="2700" b="0" i="0" u="none" strike="noStrike" cap="none">
              <a:solidFill>
                <a:srgbClr val="FFFFFF"/>
              </a:solidFill>
              <a:latin typeface="Roboto"/>
              <a:ea typeface="Roboto"/>
              <a:cs typeface="Roboto"/>
              <a:sym typeface="Roboto"/>
            </a:endParaRPr>
          </a:p>
        </p:txBody>
      </p:sp>
      <p:sp>
        <p:nvSpPr>
          <p:cNvPr id="270" name="Google Shape;270;p9"/>
          <p:cNvSpPr/>
          <p:nvPr/>
        </p:nvSpPr>
        <p:spPr>
          <a:xfrm>
            <a:off x="94891" y="3526971"/>
            <a:ext cx="1319839" cy="3148318"/>
          </a:xfrm>
          <a:prstGeom prst="rect">
            <a:avLst/>
          </a:prstGeom>
          <a:solidFill>
            <a:schemeClr val="dk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050" dirty="0">
                <a:solidFill>
                  <a:schemeClr val="lt1"/>
                </a:solidFill>
                <a:latin typeface="Arial"/>
                <a:ea typeface="Arial"/>
                <a:cs typeface="Arial"/>
                <a:sym typeface="Arial"/>
              </a:rPr>
              <a:t>En total MM$14,3 por facturar, sin embargo, </a:t>
            </a:r>
            <a:r>
              <a:rPr lang="es-CL" sz="1050" b="1" dirty="0">
                <a:solidFill>
                  <a:schemeClr val="lt1"/>
                </a:solidFill>
                <a:latin typeface="Arial"/>
                <a:ea typeface="Arial"/>
                <a:cs typeface="Arial"/>
                <a:sym typeface="Arial"/>
              </a:rPr>
              <a:t>no se ha recibido la documentación pendiente por parte de ciertos hospitales.</a:t>
            </a:r>
            <a:endParaRPr dirty="0"/>
          </a:p>
          <a:p>
            <a:pPr marL="0" marR="0" lvl="0" indent="0" algn="l" rtl="0">
              <a:spcBef>
                <a:spcPts val="0"/>
              </a:spcBef>
              <a:spcAft>
                <a:spcPts val="0"/>
              </a:spcAft>
              <a:buNone/>
            </a:pPr>
            <a:endParaRPr sz="1050" b="1" dirty="0">
              <a:solidFill>
                <a:schemeClr val="lt1"/>
              </a:solidFill>
              <a:latin typeface="Arial"/>
              <a:ea typeface="Arial"/>
              <a:cs typeface="Arial"/>
              <a:sym typeface="Arial"/>
            </a:endParaRPr>
          </a:p>
          <a:p>
            <a:pPr marL="0" marR="0" lvl="0" indent="0" algn="l" rtl="0">
              <a:spcBef>
                <a:spcPts val="0"/>
              </a:spcBef>
              <a:spcAft>
                <a:spcPts val="0"/>
              </a:spcAft>
              <a:buNone/>
            </a:pPr>
            <a:r>
              <a:rPr lang="es-CL" sz="1050" dirty="0">
                <a:solidFill>
                  <a:schemeClr val="lt1"/>
                </a:solidFill>
                <a:latin typeface="Arial"/>
                <a:ea typeface="Arial"/>
                <a:cs typeface="Arial"/>
                <a:sym typeface="Arial"/>
              </a:rPr>
              <a:t>Se concentra fuerte: dos clientes explican el 67%</a:t>
            </a:r>
            <a:endParaRPr dirty="0"/>
          </a:p>
          <a:p>
            <a:pPr marL="171450" marR="0" lvl="0" indent="-171450" algn="l" rtl="0">
              <a:spcBef>
                <a:spcPts val="0"/>
              </a:spcBef>
              <a:spcAft>
                <a:spcPts val="0"/>
              </a:spcAft>
              <a:buClr>
                <a:schemeClr val="lt1"/>
              </a:buClr>
              <a:buSzPts val="1050"/>
              <a:buFont typeface="Arial"/>
              <a:buChar char="•"/>
            </a:pPr>
            <a:r>
              <a:rPr lang="es-CL" sz="1050" dirty="0">
                <a:solidFill>
                  <a:schemeClr val="lt1"/>
                </a:solidFill>
                <a:latin typeface="Arial"/>
                <a:ea typeface="Arial"/>
                <a:cs typeface="Arial"/>
                <a:sym typeface="Arial"/>
              </a:rPr>
              <a:t>Hospital San José: MM$4,8 (33,3%)</a:t>
            </a:r>
          </a:p>
          <a:p>
            <a:pPr marL="171450" marR="0" lvl="0" indent="-171450" algn="l" rtl="0">
              <a:spcBef>
                <a:spcPts val="0"/>
              </a:spcBef>
              <a:spcAft>
                <a:spcPts val="0"/>
              </a:spcAft>
              <a:buClr>
                <a:schemeClr val="lt1"/>
              </a:buClr>
              <a:buSzPts val="1050"/>
              <a:buFont typeface="Arial"/>
              <a:buChar char="•"/>
            </a:pPr>
            <a:r>
              <a:rPr lang="es-CL" sz="1050" dirty="0">
                <a:solidFill>
                  <a:schemeClr val="lt1"/>
                </a:solidFill>
                <a:latin typeface="Arial"/>
                <a:ea typeface="Arial"/>
                <a:cs typeface="Arial"/>
                <a:sym typeface="Arial"/>
              </a:rPr>
              <a:t>Clínica WLK: MM$1,7 (11,6%)</a:t>
            </a:r>
          </a:p>
          <a:p>
            <a:pPr marL="0" marR="0" lvl="0" indent="0" algn="l" rtl="0">
              <a:spcBef>
                <a:spcPts val="0"/>
              </a:spcBef>
              <a:spcAft>
                <a:spcPts val="0"/>
              </a:spcAft>
              <a:buNone/>
            </a:pPr>
            <a:endParaRPr sz="1050" b="1" dirty="0">
              <a:solidFill>
                <a:schemeClr val="lt1"/>
              </a:solidFill>
              <a:latin typeface="Arial"/>
              <a:ea typeface="Arial"/>
              <a:cs typeface="Arial"/>
              <a:sym typeface="Arial"/>
            </a:endParaRPr>
          </a:p>
        </p:txBody>
      </p:sp>
      <p:sp>
        <p:nvSpPr>
          <p:cNvPr id="271" name="Google Shape;271;p9"/>
          <p:cNvSpPr/>
          <p:nvPr/>
        </p:nvSpPr>
        <p:spPr>
          <a:xfrm>
            <a:off x="1414733" y="3524301"/>
            <a:ext cx="2794410" cy="3134514"/>
          </a:xfrm>
          <a:prstGeom prst="rect">
            <a:avLst/>
          </a:prstGeom>
          <a:solidFill>
            <a:schemeClr val="dk1"/>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De 19 clientes, se esperaba una facturación de MM$209,4, sin embargo, a la fecha, se ha facturado solo MM$155,9 (de este efecto, gran parte se explica porque se considera efecto de rezago hacia la última semana del mes)</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Principales clientes:</a:t>
            </a:r>
            <a:endParaRPr sz="1100" dirty="0">
              <a:solidFill>
                <a:schemeClr val="lt1"/>
              </a:solidFill>
              <a:highlight>
                <a:srgbClr val="FFFF00"/>
              </a:highlight>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Fundación </a:t>
            </a:r>
            <a:r>
              <a:rPr lang="es-MX" sz="1100" dirty="0" err="1">
                <a:solidFill>
                  <a:schemeClr val="lt1"/>
                </a:solidFill>
                <a:latin typeface="Arial"/>
                <a:ea typeface="Arial"/>
                <a:cs typeface="Arial"/>
                <a:sym typeface="Arial"/>
              </a:rPr>
              <a:t>Anchora</a:t>
            </a:r>
            <a:r>
              <a:rPr lang="es-MX" sz="1100" dirty="0">
                <a:solidFill>
                  <a:schemeClr val="lt1"/>
                </a:solidFill>
                <a:latin typeface="Arial"/>
                <a:ea typeface="Arial"/>
                <a:cs typeface="Arial"/>
                <a:sym typeface="Arial"/>
              </a:rPr>
              <a:t> UC (MM$12,9 vs. MM$2,4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Exequiel González Cortes (MM$34,9 vs. MM$28,8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Johnson y Johnson (MM$28,0 vs. MM$22,5 real</a:t>
            </a:r>
          </a:p>
          <a:p>
            <a:pPr marL="171450" marR="0" lvl="0" indent="-101600" algn="l" rtl="0">
              <a:spcBef>
                <a:spcPts val="0"/>
              </a:spcBef>
              <a:spcAft>
                <a:spcPts val="0"/>
              </a:spcAft>
              <a:buClr>
                <a:schemeClr val="dk1"/>
              </a:buClr>
              <a:buSzPts val="1100"/>
              <a:buFont typeface="Arial"/>
              <a:buNone/>
            </a:pPr>
            <a:endParaRPr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i="1" dirty="0">
                <a:solidFill>
                  <a:schemeClr val="lt1"/>
                </a:solidFill>
                <a:latin typeface="Arial"/>
                <a:ea typeface="Arial"/>
                <a:cs typeface="Arial"/>
                <a:sym typeface="Arial"/>
              </a:rPr>
              <a:t>Cliente Johnson y Johnson se encuentra en ultimo proceso para regularización de contrato.</a:t>
            </a:r>
            <a:endParaRPr dirty="0"/>
          </a:p>
        </p:txBody>
      </p:sp>
      <p:sp>
        <p:nvSpPr>
          <p:cNvPr id="272" name="Google Shape;272;p9"/>
          <p:cNvSpPr/>
          <p:nvPr/>
        </p:nvSpPr>
        <p:spPr>
          <a:xfrm>
            <a:off x="4209142" y="3524300"/>
            <a:ext cx="7887967" cy="3134515"/>
          </a:xfrm>
          <a:prstGeom prst="rect">
            <a:avLst/>
          </a:prstGeom>
          <a:no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Hay un total de MM$61,6 de repuestos que no tienen Stock, de estos son 183 SKU en 32 clientes. Los principales clientes que están en espera son:</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Base Osorno: 11,7% de la brecha (3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Sótero del Río: 11,4% (36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Asociación Chilena de Seguridad: 10,0% (13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de Puerto Aysén: 9,7% (12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Insumos y Servicios Médicos: 7,5% (116 SKU)</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Cobertura de estos repuestos (valorizada):</a:t>
            </a:r>
            <a:endParaRPr dirty="0"/>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34%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stock </a:t>
            </a:r>
            <a:r>
              <a:rPr lang="en-US" sz="1100" dirty="0" err="1">
                <a:solidFill>
                  <a:schemeClr val="lt1"/>
                </a:solidFill>
                <a:latin typeface="Arial"/>
                <a:ea typeface="Arial"/>
                <a:cs typeface="Arial"/>
                <a:sym typeface="Arial"/>
              </a:rPr>
              <a:t>en</a:t>
            </a:r>
            <a:r>
              <a:rPr lang="en-US" sz="1100" dirty="0">
                <a:solidFill>
                  <a:schemeClr val="lt1"/>
                </a:solidFill>
                <a:latin typeface="Arial"/>
                <a:ea typeface="Arial"/>
                <a:cs typeface="Arial"/>
                <a:sym typeface="Arial"/>
              </a:rPr>
              <a:t> bodega</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10%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back order</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Stock + Back order = 44%</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MX" sz="1100" dirty="0">
                <a:solidFill>
                  <a:schemeClr val="lt1"/>
                </a:solidFill>
                <a:latin typeface="Arial"/>
                <a:ea typeface="Arial"/>
                <a:cs typeface="Arial"/>
                <a:sym typeface="Arial"/>
              </a:rPr>
              <a:t>El restante 56% son MM$34,4 en 80 SKU, principalmente porque 84 de los 183 SKU (46%) no figuran en el maestro de inventario — repuestos que nunca se han </a:t>
            </a:r>
            <a:r>
              <a:rPr lang="es-MX" sz="1100" dirty="0" err="1">
                <a:solidFill>
                  <a:schemeClr val="lt1"/>
                </a:solidFill>
                <a:latin typeface="Arial"/>
                <a:ea typeface="Arial"/>
                <a:cs typeface="Arial"/>
                <a:sym typeface="Arial"/>
              </a:rPr>
              <a:t>stockeado</a:t>
            </a:r>
            <a:r>
              <a:rPr lang="es-MX" sz="1100" dirty="0">
                <a:solidFill>
                  <a:schemeClr val="lt1"/>
                </a:solidFill>
                <a:latin typeface="Arial"/>
                <a:ea typeface="Arial"/>
                <a:cs typeface="Arial"/>
                <a:sym typeface="Arial"/>
              </a:rPr>
              <a:t>. El resto se explica por fecha de disponibilidad pendiente del proveedor y desfases en pagos/OC antes de entrar en Back </a:t>
            </a:r>
            <a:r>
              <a:rPr lang="es-MX" sz="1100" dirty="0" err="1">
                <a:solidFill>
                  <a:schemeClr val="lt1"/>
                </a:solidFill>
                <a:latin typeface="Arial"/>
                <a:ea typeface="Arial"/>
                <a:cs typeface="Arial"/>
                <a:sym typeface="Arial"/>
              </a:rPr>
              <a:t>Order</a:t>
            </a:r>
            <a:r>
              <a:rPr lang="es-MX" sz="1100" dirty="0">
                <a:solidFill>
                  <a:schemeClr val="lt1"/>
                </a:solidFill>
                <a:latin typeface="Arial"/>
                <a:ea typeface="Arial"/>
                <a:cs typeface="Arial"/>
                <a:sym typeface="Arial"/>
              </a:rPr>
              <a:t>.</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p:txBody>
      </p:sp>
      <p:sp>
        <p:nvSpPr>
          <p:cNvPr id="273" name="Google Shape;273;p9"/>
          <p:cNvSpPr/>
          <p:nvPr/>
        </p:nvSpPr>
        <p:spPr>
          <a:xfrm>
            <a:off x="94892" y="3353665"/>
            <a:ext cx="1319838" cy="198409"/>
          </a:xfrm>
          <a:prstGeom prst="rect">
            <a:avLst/>
          </a:pr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Op. X facturar</a:t>
            </a:r>
            <a:endParaRPr sz="1100" b="1">
              <a:solidFill>
                <a:schemeClr val="dk1"/>
              </a:solidFill>
              <a:latin typeface="Arial"/>
              <a:ea typeface="Arial"/>
              <a:cs typeface="Arial"/>
              <a:sym typeface="Arial"/>
            </a:endParaRPr>
          </a:p>
        </p:txBody>
      </p:sp>
      <p:sp>
        <p:nvSpPr>
          <p:cNvPr id="274" name="Google Shape;274;p9"/>
          <p:cNvSpPr/>
          <p:nvPr/>
        </p:nvSpPr>
        <p:spPr>
          <a:xfrm>
            <a:off x="1414733" y="3351025"/>
            <a:ext cx="2794409" cy="220234"/>
          </a:xfrm>
          <a:prstGeom prst="rect">
            <a:avLst/>
          </a:prstGeom>
          <a:solidFill>
            <a:srgbClr val="FFC000"/>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Facturaciones bajo contrato</a:t>
            </a:r>
            <a:endParaRPr sz="1100" b="1">
              <a:solidFill>
                <a:schemeClr val="dk1"/>
              </a:solidFill>
              <a:latin typeface="Arial"/>
              <a:ea typeface="Arial"/>
              <a:cs typeface="Arial"/>
              <a:sym typeface="Arial"/>
            </a:endParaRPr>
          </a:p>
        </p:txBody>
      </p:sp>
      <p:sp>
        <p:nvSpPr>
          <p:cNvPr id="275" name="Google Shape;275;p9"/>
          <p:cNvSpPr/>
          <p:nvPr/>
        </p:nvSpPr>
        <p:spPr>
          <a:xfrm>
            <a:off x="4209142" y="3351025"/>
            <a:ext cx="7887967" cy="220233"/>
          </a:xfrm>
          <a:prstGeom prst="rect">
            <a:avLst/>
          </a:prstGeom>
          <a:solidFill>
            <a:schemeClr val="accent4"/>
          </a:solidFill>
          <a:ln w="19050"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Sin Stock de Repuestos</a:t>
            </a:r>
            <a:endParaRPr sz="1100" b="1">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Bruto</a:t>
            </a:r>
            <a:endParaRPr sz="2700" b="0" i="0" u="none" strike="noStrike" cap="none">
              <a:solidFill>
                <a:srgbClr val="FFFFFF"/>
              </a:solidFill>
              <a:latin typeface="Roboto"/>
              <a:ea typeface="Roboto"/>
              <a:cs typeface="Roboto"/>
              <a:sym typeface="Roboto"/>
            </a:endParaRPr>
          </a:p>
        </p:txBody>
      </p:sp>
      <p:sp>
        <p:nvSpPr>
          <p:cNvPr id="282" name="Google Shape;282;p10"/>
          <p:cNvSpPr/>
          <p:nvPr/>
        </p:nvSpPr>
        <p:spPr>
          <a:xfrm>
            <a:off x="8481000" y="999000"/>
            <a:ext cx="3342700" cy="5676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stock pendiente alcanza MM$61,6, distribuido en 355 SKU y 32 clientes, con una alta concentración en productos de baja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69,6% del stock presenta baja rotación (&gt;180 días), mientras que 27,3% corresponde a rotación mediana y solo 3,0% a alta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 principales clientes concentran MM$22,6, equivalentes a aproximadamente 37% del stock pendiente, evidenciando una concentración relevante.</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Solo 30,3% del stock presenta rotación mediana o alta, dejando un volumen importante de inventario con potencial de gestión para acelerar su salida.</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Base Osorno concentra el mayor stock pendiente, con MM$7,2, equivalente a 11,7% del total, seguido por Complejo Asistencial Dr. Sótero del Río (MM$7,0) y Asociación Chilena de Seguridad (MM$6,1).</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10 principales clientes concentran aproximadamente 75% del stock pendiente, por lo que las acciones de gestión pueden focalizarse principalmente en este grupo.</a:t>
            </a:r>
          </a:p>
          <a:p>
            <a:pPr marL="171450" marR="0" lvl="0" indent="-95250" algn="l" rtl="0">
              <a:spcBef>
                <a:spcPts val="0"/>
              </a:spcBef>
              <a:spcAft>
                <a:spcPts val="0"/>
              </a:spcAft>
              <a:buClr>
                <a:schemeClr val="dk1"/>
              </a:buClr>
              <a:buSzPts val="1200"/>
              <a:buFont typeface="Arial"/>
              <a:buNone/>
            </a:pPr>
            <a:endParaRPr sz="1200" dirty="0">
              <a:solidFill>
                <a:schemeClr val="lt1"/>
              </a:solidFill>
              <a:latin typeface="Arial"/>
              <a:ea typeface="Arial"/>
              <a:cs typeface="Arial"/>
              <a:sym typeface="Arial"/>
            </a:endParaRPr>
          </a:p>
        </p:txBody>
      </p:sp>
      <p:pic>
        <p:nvPicPr>
          <p:cNvPr id="3" name="Imagen 2">
            <a:extLst>
              <a:ext uri="{FF2B5EF4-FFF2-40B4-BE49-F238E27FC236}">
                <a16:creationId xmlns:a16="http://schemas.microsoft.com/office/drawing/2014/main" id="{D808A595-E2B9-C105-2EEB-DFC886D2074E}"/>
              </a:ext>
            </a:extLst>
          </p:cNvPr>
          <p:cNvPicPr>
            <a:picLocks noChangeAspect="1"/>
          </p:cNvPicPr>
          <p:nvPr/>
        </p:nvPicPr>
        <p:blipFill>
          <a:blip r:embed="rId3"/>
          <a:srcRect t="8784"/>
          <a:stretch>
            <a:fillRect/>
          </a:stretch>
        </p:blipFill>
        <p:spPr>
          <a:xfrm>
            <a:off x="156000" y="819001"/>
            <a:ext cx="8325000" cy="60137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Neto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81F8220B-32BA-9639-12DF-B99B73F90880}"/>
              </a:ext>
            </a:extLst>
          </p:cNvPr>
          <p:cNvPicPr>
            <a:picLocks noChangeAspect="1"/>
          </p:cNvPicPr>
          <p:nvPr/>
        </p:nvPicPr>
        <p:blipFill>
          <a:blip r:embed="rId3"/>
          <a:srcRect t="8005" b="9318"/>
          <a:stretch>
            <a:fillRect/>
          </a:stretch>
        </p:blipFill>
        <p:spPr>
          <a:xfrm>
            <a:off x="1911000" y="909000"/>
            <a:ext cx="8153327" cy="567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DED96D71-249C-1393-8177-BE2796AC10E6}"/>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6255AEBD-354F-668D-E6B2-5B387B59611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9EC3EFD-5CFD-A0BE-8A58-C9748B1950B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26FA9176-4C68-21DE-8E6B-B550A4C697B0}"/>
              </a:ext>
            </a:extLst>
          </p:cNvPr>
          <p:cNvSpPr/>
          <p:nvPr/>
        </p:nvSpPr>
        <p:spPr>
          <a:xfrm>
            <a:off x="393700" y="214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62901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TECSERVICE Cierre Jul-26</a:t>
            </a:r>
            <a:endParaRPr sz="2700" b="0" i="0" u="none" strike="noStrike" cap="none">
              <a:solidFill>
                <a:srgbClr val="FFFFFF"/>
              </a:solidFill>
              <a:latin typeface="Roboto"/>
              <a:ea typeface="Roboto"/>
              <a:cs typeface="Roboto"/>
              <a:sym typeface="Roboto"/>
            </a:endParaRPr>
          </a:p>
        </p:txBody>
      </p:sp>
      <p:sp>
        <p:nvSpPr>
          <p:cNvPr id="302" name="Google Shape;302;p13"/>
          <p:cNvSpPr/>
          <p:nvPr/>
        </p:nvSpPr>
        <p:spPr>
          <a:xfrm>
            <a:off x="7518900" y="923464"/>
            <a:ext cx="4416348" cy="568234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Los ingresos acumulados alcanzan MM$1.610,7, superando el presupuesto en MM$51,5 (+3,3%). </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El EBITDA Directo alcanza MM$455,8, con un margen de 28,3%, superior al 20,6% presupuestado, reflejando una mayor rentabilidad sobre los ingresos. </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Al incorporar GAV Indirecto, el EBITDA Empresa alcanza MM$288,3, MM$67,1 sobre presupuesto (+35,1%), con un margen de 16,0%, superior al 12,3% presupuestado. </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El resultado del ejercicio alcanza MM$43,9, versus MM$81,3 presupuestados, evidenciando que, pese al mayor nivel de ingresos y EBITDA, los resultados no se están traduciendo proporcionalmente en utilidad. </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El principal desafío está en mejorar la conversión del EBITDA en resultado final, dado que, pese a que ingresos y márgenes operacionales se encuentran sobre presupuesto, el resultado del ejercicio permanece MM$37,3 por debajo de lo esperado.</a:t>
            </a:r>
            <a:endParaRPr/>
          </a:p>
        </p:txBody>
      </p:sp>
      <p:pic>
        <p:nvPicPr>
          <p:cNvPr id="303" name="Google Shape;303;p13"/>
          <p:cNvPicPr preferRelativeResize="0"/>
          <p:nvPr/>
        </p:nvPicPr>
        <p:blipFill rotWithShape="1">
          <a:blip r:embed="rId3">
            <a:alphaModFix/>
          </a:blip>
          <a:srcRect l="2062" t="6437" r="2179"/>
          <a:stretch/>
        </p:blipFill>
        <p:spPr>
          <a:xfrm>
            <a:off x="40825" y="923465"/>
            <a:ext cx="7425387" cy="56034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Mensualizado</a:t>
            </a:r>
            <a:endParaRPr sz="2700" b="0" i="0" u="none" strike="noStrike" cap="none">
              <a:solidFill>
                <a:srgbClr val="FFFFFF"/>
              </a:solidFill>
              <a:latin typeface="Roboto"/>
              <a:ea typeface="Roboto"/>
              <a:cs typeface="Roboto"/>
              <a:sym typeface="Roboto"/>
            </a:endParaRPr>
          </a:p>
        </p:txBody>
      </p:sp>
      <p:pic>
        <p:nvPicPr>
          <p:cNvPr id="309" name="Google Shape;309;p14"/>
          <p:cNvPicPr preferRelativeResize="0"/>
          <p:nvPr/>
        </p:nvPicPr>
        <p:blipFill rotWithShape="1">
          <a:blip r:embed="rId3">
            <a:alphaModFix/>
          </a:blip>
          <a:srcRect t="3845" b="16328"/>
          <a:stretch/>
        </p:blipFill>
        <p:spPr>
          <a:xfrm>
            <a:off x="0" y="935421"/>
            <a:ext cx="12192000" cy="52761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38F64D8-F821-E76F-053F-04A9B119C3DF}"/>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F2599118-DF22-C4F0-1851-B52B1A4C957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6235CEA0-DC86-C3E5-B2CC-3E542D415879}"/>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8644B18-6BA9-8C73-6545-7364223F393D}"/>
              </a:ext>
            </a:extLst>
          </p:cNvPr>
          <p:cNvSpPr/>
          <p:nvPr/>
        </p:nvSpPr>
        <p:spPr>
          <a:xfrm>
            <a:off x="393700" y="268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07811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sp>
        <p:nvSpPr>
          <p:cNvPr id="322" name="Google Shape;322;p16"/>
          <p:cNvSpPr/>
          <p:nvPr/>
        </p:nvSpPr>
        <p:spPr>
          <a:xfrm>
            <a:off x="243307" y="4773168"/>
            <a:ext cx="11948693" cy="190212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 total hay 42 equipos detenidos, correspondientes a 11 clientes y 8 marcas, con una valorización total de MM$749,6.</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62% de los equipos se encuentra en espera de OC, equivalente a 26 equipos y MM$361,6, siendo la principal concentración dentro del flujo de equipos detenidos.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STEELCO concentra aproximadamente MM$578,3 del valor de los equipos detenidos, equivalente a cerca del 77% del total, con 17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Sociedad Concesionaria Metropolitana de Salud (6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Sótero del Río (4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Hospital Complejo Asistencial Padre Las Casas (4 equipos)</a:t>
            </a:r>
          </a:p>
          <a:p>
            <a:pPr marL="0" marR="0" lvl="0" indent="0" algn="l" rtl="0">
              <a:spcBef>
                <a:spcPts val="0"/>
              </a:spcBef>
              <a:spcAft>
                <a:spcPts val="0"/>
              </a:spcAft>
              <a:buNone/>
            </a:pPr>
            <a:r>
              <a:rPr lang="es-CL" sz="1200" dirty="0">
                <a:solidFill>
                  <a:schemeClr val="lt1"/>
                </a:solidFill>
                <a:latin typeface="Arial"/>
                <a:ea typeface="Arial"/>
                <a:cs typeface="Arial"/>
                <a:sym typeface="Arial"/>
              </a:rPr>
              <a:t>Los equipos con mayor cantidad de unidades detenidas son:</a:t>
            </a:r>
            <a:endParaRPr dirty="0"/>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 7 equipos (17%)</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BIEN AIR CHIROPRO PLUS – 4 equipos (10%)</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ULTIMA – 3 equipos (7%)</a:t>
            </a:r>
          </a:p>
        </p:txBody>
      </p:sp>
      <p:pic>
        <p:nvPicPr>
          <p:cNvPr id="323" name="Google Shape;323;p16"/>
          <p:cNvPicPr preferRelativeResize="0"/>
          <p:nvPr/>
        </p:nvPicPr>
        <p:blipFill rotWithShape="1">
          <a:blip r:embed="rId3">
            <a:alphaModFix/>
          </a:blip>
          <a:srcRect t="6627" b="14175"/>
          <a:stretch/>
        </p:blipFill>
        <p:spPr>
          <a:xfrm>
            <a:off x="1048871" y="822467"/>
            <a:ext cx="9690847" cy="3857911"/>
          </a:xfrm>
          <a:prstGeom prst="rect">
            <a:avLst/>
          </a:prstGeom>
          <a:noFill/>
          <a:ln>
            <a:noFill/>
          </a:ln>
        </p:spPr>
      </p:pic>
      <p:pic>
        <p:nvPicPr>
          <p:cNvPr id="3" name="Imagen 2">
            <a:extLst>
              <a:ext uri="{FF2B5EF4-FFF2-40B4-BE49-F238E27FC236}">
                <a16:creationId xmlns:a16="http://schemas.microsoft.com/office/drawing/2014/main" id="{74376114-F1C6-31A7-76EE-4CAF75BDE05C}"/>
              </a:ext>
            </a:extLst>
          </p:cNvPr>
          <p:cNvPicPr>
            <a:picLocks noChangeAspect="1"/>
          </p:cNvPicPr>
          <p:nvPr/>
        </p:nvPicPr>
        <p:blipFill>
          <a:blip r:embed="rId4"/>
          <a:srcRect t="7127" b="15018"/>
          <a:stretch>
            <a:fillRect/>
          </a:stretch>
        </p:blipFill>
        <p:spPr>
          <a:xfrm>
            <a:off x="1146000" y="822466"/>
            <a:ext cx="9690847" cy="385791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Equipo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ABF213A2-4BDB-660E-3A21-0AFD7EA75E35}"/>
              </a:ext>
            </a:extLst>
          </p:cNvPr>
          <p:cNvPicPr>
            <a:picLocks noChangeAspect="1"/>
          </p:cNvPicPr>
          <p:nvPr/>
        </p:nvPicPr>
        <p:blipFill>
          <a:blip r:embed="rId3"/>
          <a:srcRect l="1411" t="8785" b="6037"/>
          <a:stretch>
            <a:fillRect/>
          </a:stretch>
        </p:blipFill>
        <p:spPr>
          <a:xfrm>
            <a:off x="1551000" y="833709"/>
            <a:ext cx="9430714" cy="58415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Marca</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22724487-DCDF-7058-C286-5C7F8DEC5235}"/>
              </a:ext>
            </a:extLst>
          </p:cNvPr>
          <p:cNvPicPr>
            <a:picLocks noChangeAspect="1"/>
          </p:cNvPicPr>
          <p:nvPr/>
        </p:nvPicPr>
        <p:blipFill>
          <a:blip r:embed="rId3"/>
          <a:srcRect t="9477" b="4709"/>
          <a:stretch>
            <a:fillRect/>
          </a:stretch>
        </p:blipFill>
        <p:spPr>
          <a:xfrm>
            <a:off x="16725" y="1479291"/>
            <a:ext cx="12192000" cy="324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Cliente</a:t>
            </a:r>
            <a:endParaRPr sz="2700" b="0" i="0" u="none" strike="noStrike" cap="none">
              <a:solidFill>
                <a:srgbClr val="FFFFFF"/>
              </a:solidFill>
              <a:latin typeface="Roboto"/>
              <a:ea typeface="Roboto"/>
              <a:cs typeface="Roboto"/>
              <a:sym typeface="Roboto"/>
            </a:endParaRPr>
          </a:p>
        </p:txBody>
      </p:sp>
      <p:sp>
        <p:nvSpPr>
          <p:cNvPr id="341" name="Google Shape;341;p19"/>
          <p:cNvSpPr txBox="1"/>
          <p:nvPr/>
        </p:nvSpPr>
        <p:spPr>
          <a:xfrm>
            <a:off x="10094614" y="1192319"/>
            <a:ext cx="633742" cy="16927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500">
                <a:solidFill>
                  <a:schemeClr val="lt2"/>
                </a:solidFill>
                <a:latin typeface="Arial"/>
                <a:ea typeface="Arial"/>
                <a:cs typeface="Arial"/>
                <a:sym typeface="Arial"/>
              </a:rPr>
              <a:t>401</a:t>
            </a:r>
            <a:endParaRPr sz="500">
              <a:solidFill>
                <a:schemeClr val="lt2"/>
              </a:solidFill>
              <a:latin typeface="Arial"/>
              <a:ea typeface="Arial"/>
              <a:cs typeface="Arial"/>
              <a:sym typeface="Arial"/>
            </a:endParaRPr>
          </a:p>
        </p:txBody>
      </p:sp>
      <p:sp>
        <p:nvSpPr>
          <p:cNvPr id="342" name="Google Shape;342;p19"/>
          <p:cNvSpPr/>
          <p:nvPr/>
        </p:nvSpPr>
        <p:spPr>
          <a:xfrm>
            <a:off x="246000" y="4723232"/>
            <a:ext cx="11700000" cy="167576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42 equipos detenidos se concentran principalmente en 18 equipos sin cliente asociado, equivalentes al 43% del total.</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los clientes, Sociedad Concesionaria Metropolitana de Salud S.A. concentra 6 equipos, con MM$51,0 valorizados y MM$191,9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Complejo Asistencial Dr. Sótero del Río registra 4 equipos detenidos, valorizados en MM$116,2, frente a MM$39,0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Complejo Asistencial Padre Las Casas e I. Municipalidad de Vicuña mantienen 4 y 3 equipos detenidos, respectivamente, con valorizados de MM$20,6 y MM$18,1.</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total de equipos detenidos alcanza un valorizado de MM$749,6, frente a MM$302,3 de ingresos facturados a la fecha y un contrato anual esperado de MM$357,5.</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concentración de equipos sin cliente asociado representa MM$233,2 valorizados, equivalente a aproximadamente 31% del valorizado total, constituyendo el principal grupo pendiente de asignación.</a:t>
            </a:r>
          </a:p>
        </p:txBody>
      </p:sp>
      <p:pic>
        <p:nvPicPr>
          <p:cNvPr id="3" name="Imagen 2">
            <a:extLst>
              <a:ext uri="{FF2B5EF4-FFF2-40B4-BE49-F238E27FC236}">
                <a16:creationId xmlns:a16="http://schemas.microsoft.com/office/drawing/2014/main" id="{6552CEC8-9037-6C9A-B9E0-82DF6CF8551C}"/>
              </a:ext>
            </a:extLst>
          </p:cNvPr>
          <p:cNvPicPr>
            <a:picLocks noChangeAspect="1"/>
          </p:cNvPicPr>
          <p:nvPr/>
        </p:nvPicPr>
        <p:blipFill>
          <a:blip r:embed="rId3"/>
          <a:srcRect t="9837" b="10770"/>
          <a:stretch>
            <a:fillRect/>
          </a:stretch>
        </p:blipFill>
        <p:spPr>
          <a:xfrm>
            <a:off x="12700" y="853231"/>
            <a:ext cx="12192000" cy="38250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Casos Críticos</a:t>
            </a:r>
            <a:endParaRPr sz="2700" b="0" i="0" u="none" strike="noStrike" cap="none">
              <a:solidFill>
                <a:srgbClr val="FFFFFF"/>
              </a:solidFill>
              <a:latin typeface="Roboto"/>
              <a:ea typeface="Roboto"/>
              <a:cs typeface="Roboto"/>
              <a:sym typeface="Roboto"/>
            </a:endParaRPr>
          </a:p>
        </p:txBody>
      </p:sp>
      <p:sp>
        <p:nvSpPr>
          <p:cNvPr id="349" name="Google Shape;349;p20"/>
          <p:cNvSpPr/>
          <p:nvPr/>
        </p:nvSpPr>
        <p:spPr>
          <a:xfrm>
            <a:off x="155240" y="5665671"/>
            <a:ext cx="11913079" cy="109650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indent="-171450">
              <a:buClr>
                <a:schemeClr val="lt1"/>
              </a:buClr>
              <a:buSzPts val="1200"/>
              <a:buFont typeface="Arial"/>
              <a:buChar char="•"/>
            </a:pPr>
            <a:r>
              <a:rPr lang="es-CL" sz="1200" dirty="0">
                <a:solidFill>
                  <a:schemeClr val="lt1"/>
                </a:solidFill>
              </a:rPr>
              <a:t>Se registran 8 casos críticos: 5 no operativos, 2 operativos y 1 siniestrado.</a:t>
            </a:r>
          </a:p>
          <a:p>
            <a:pPr marL="171450" indent="-171450">
              <a:buClr>
                <a:schemeClr val="lt1"/>
              </a:buClr>
              <a:buSzPts val="1200"/>
              <a:buFont typeface="Arial"/>
              <a:buChar char="•"/>
            </a:pPr>
            <a:r>
              <a:rPr lang="es-CL" sz="1200" dirty="0">
                <a:solidFill>
                  <a:schemeClr val="lt1"/>
                </a:solidFill>
              </a:rPr>
              <a:t>3 casos están a la espera de repuestos y 1 continúa en diagnóstico.</a:t>
            </a:r>
          </a:p>
          <a:p>
            <a:pPr marL="171450" indent="-171450">
              <a:buClr>
                <a:schemeClr val="lt1"/>
              </a:buClr>
              <a:buSzPts val="1200"/>
              <a:buFont typeface="Arial"/>
              <a:buChar char="•"/>
            </a:pPr>
            <a:r>
              <a:rPr lang="es-CL" sz="1200" dirty="0">
                <a:solidFill>
                  <a:schemeClr val="lt1"/>
                </a:solidFill>
              </a:rPr>
              <a:t>Se han realizado MM$46,9 en inversiones asociadas a 2 equipos.</a:t>
            </a:r>
          </a:p>
          <a:p>
            <a:pPr marL="171450" indent="-171450">
              <a:buClr>
                <a:schemeClr val="lt1"/>
              </a:buClr>
              <a:buSzPts val="1200"/>
              <a:buFont typeface="Arial"/>
              <a:buChar char="•"/>
            </a:pPr>
            <a:r>
              <a:rPr lang="es-CL" sz="1200" dirty="0">
                <a:solidFill>
                  <a:schemeClr val="lt1"/>
                </a:solidFill>
              </a:rPr>
              <a:t>El valorizado total alcanza MM$239,8, asociado a MM$564,3 de ingresos de clientes</a:t>
            </a:r>
            <a:r>
              <a:rPr lang="es-CL" sz="1200" dirty="0"/>
              <a:t>.</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Durante estas dos semanas se han solucionado 4 casos (ISM , C. Sanz, 1 Equipo de H. </a:t>
            </a:r>
            <a:r>
              <a:rPr lang="es-CL" sz="1200" dirty="0" err="1">
                <a:solidFill>
                  <a:schemeClr val="lt1"/>
                </a:solidFill>
                <a:latin typeface="Arial"/>
                <a:ea typeface="Arial"/>
                <a:cs typeface="Arial"/>
                <a:sym typeface="Arial"/>
              </a:rPr>
              <a:t>Tisné</a:t>
            </a:r>
            <a:r>
              <a:rPr lang="es-CL" sz="1200" dirty="0">
                <a:solidFill>
                  <a:schemeClr val="lt1"/>
                </a:solidFill>
                <a:latin typeface="Arial"/>
                <a:ea typeface="Arial"/>
                <a:cs typeface="Arial"/>
                <a:sym typeface="Arial"/>
              </a:rPr>
              <a:t> y H. San Camilo</a:t>
            </a:r>
            <a:endParaRPr dirty="0"/>
          </a:p>
        </p:txBody>
      </p:sp>
      <p:graphicFrame>
        <p:nvGraphicFramePr>
          <p:cNvPr id="350" name="Google Shape;350;p20"/>
          <p:cNvGraphicFramePr/>
          <p:nvPr>
            <p:extLst>
              <p:ext uri="{D42A27DB-BD31-4B8C-83A1-F6EECF244321}">
                <p14:modId xmlns:p14="http://schemas.microsoft.com/office/powerpoint/2010/main" val="2518567970"/>
              </p:ext>
            </p:extLst>
          </p:nvPr>
        </p:nvGraphicFramePr>
        <p:xfrm>
          <a:off x="155240" y="864000"/>
          <a:ext cx="11762100" cy="4754864"/>
        </p:xfrm>
        <a:graphic>
          <a:graphicData uri="http://schemas.openxmlformats.org/drawingml/2006/table">
            <a:tbl>
              <a:tblPr>
                <a:noFill/>
                <a:tableStyleId>{13D43741-7D58-4360-86AC-F6E32FA5FF39}</a:tableStyleId>
              </a:tblPr>
              <a:tblGrid>
                <a:gridCol w="67576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855000">
                  <a:extLst>
                    <a:ext uri="{9D8B030D-6E8A-4147-A177-3AD203B41FA5}">
                      <a16:colId xmlns:a16="http://schemas.microsoft.com/office/drawing/2014/main" val="20002"/>
                    </a:ext>
                  </a:extLst>
                </a:gridCol>
                <a:gridCol w="630000">
                  <a:extLst>
                    <a:ext uri="{9D8B030D-6E8A-4147-A177-3AD203B41FA5}">
                      <a16:colId xmlns:a16="http://schemas.microsoft.com/office/drawing/2014/main" val="20003"/>
                    </a:ext>
                  </a:extLst>
                </a:gridCol>
                <a:gridCol w="450000">
                  <a:extLst>
                    <a:ext uri="{9D8B030D-6E8A-4147-A177-3AD203B41FA5}">
                      <a16:colId xmlns:a16="http://schemas.microsoft.com/office/drawing/2014/main" val="20004"/>
                    </a:ext>
                  </a:extLst>
                </a:gridCol>
                <a:gridCol w="3330000">
                  <a:extLst>
                    <a:ext uri="{9D8B030D-6E8A-4147-A177-3AD203B41FA5}">
                      <a16:colId xmlns:a16="http://schemas.microsoft.com/office/drawing/2014/main" val="20005"/>
                    </a:ext>
                  </a:extLst>
                </a:gridCol>
                <a:gridCol w="2515650">
                  <a:extLst>
                    <a:ext uri="{9D8B030D-6E8A-4147-A177-3AD203B41FA5}">
                      <a16:colId xmlns:a16="http://schemas.microsoft.com/office/drawing/2014/main" val="20006"/>
                    </a:ext>
                  </a:extLst>
                </a:gridCol>
                <a:gridCol w="765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650690">
                  <a:extLst>
                    <a:ext uri="{9D8B030D-6E8A-4147-A177-3AD203B41FA5}">
                      <a16:colId xmlns:a16="http://schemas.microsoft.com/office/drawing/2014/main" val="20009"/>
                    </a:ext>
                  </a:extLst>
                </a:gridCol>
              </a:tblGrid>
              <a:tr h="354824">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Cliente</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Problema</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ESTADO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Fecha de caso</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Responsable</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Comentario</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Acciones</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Inversión requerida (MM$ )</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a:solidFill>
                            <a:schemeClr val="tx1"/>
                          </a:solidFill>
                          <a:latin typeface="Arial"/>
                          <a:ea typeface="Arial"/>
                          <a:cs typeface="Arial"/>
                          <a:sym typeface="Arial"/>
                        </a:rPr>
                        <a:t>Valorizado Equipo (MM$)</a:t>
                      </a:r>
                      <a:endParaRPr sz="65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50" b="1" i="0" u="none" strike="noStrike" cap="none" dirty="0">
                          <a:solidFill>
                            <a:schemeClr val="tx1"/>
                          </a:solidFill>
                          <a:latin typeface="Arial"/>
                          <a:ea typeface="Arial"/>
                          <a:cs typeface="Arial"/>
                          <a:sym typeface="Arial"/>
                        </a:rPr>
                        <a:t>Ingreso Cliente (MM$)</a:t>
                      </a:r>
                      <a:endParaRPr sz="650" dirty="0">
                        <a:solidFill>
                          <a:schemeClr val="tx1"/>
                        </a:solidFill>
                      </a:endParaRP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952175">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TISNÉ</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AUTOCLAVE STEELCO VS 8/1 SN 9988</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28-05-2026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Rohr</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DESDE MARZO DE 2026 (1RA OT DE SALESFORCE), LA ÚLTIMA VISITA SE REALIZÓ EL 28 DE MAYO, DONDE SE REALIZÓ INSTALACIÓN DE SOFTWARE, EL EQUIPO PERMANECE INOPERATIVO, SE SOLICITÓ NUEVO AYUDA A FÁBRICA PORQUE EL QUE ENVIARON NO SIRVIÓ, CRISTIAN FUE AYER 25 DE JUNIO AL HOSPITAL A RECOPILAR INFORMACIÓN SOLICITADA POR STEELCO Y SE LAS ENVIÓ HACE 2 SEMANAS ¿HAY RESPUESTA?, INTERNAMENTE VEREMOS SI SE PUEDE CAMBIAR LA PANTALLA POR UNA QUE TENEMOS ACÁ DEL MISMO MODELO, EN PARALELO HAY QUE INFORMAR AL CLIENTE ALGUNOS REPUESTOS ESTÁN DESCONTINUADOS, POR LO QUE SI SE PRESENTA UNA FUTURA FALLA Y NO SE TIENE EL  LOS REPUESTOS, . 31-07, EN COORDINACION CON FABRICA STEELCO, CLIENTE INFORMADO EN CORREO DE CRISTIAN ROHR // MARTES 18/08 CRISTIAN ASISTISTIO HACER NUEVAS PRUEBAS // CRISTIAN ASISTE HOY 02/09 PARA NUEVA REVISION // EQUIPO OPERATIVO A MODO DE PRUEBA, SE SOLICITARON 2 REPUESTOS MAS PARA MAS PRUEBAS.</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OPERATIVO A PRUEBA, SE MANTENDRÁ EN PRUEBA LA SEMANA QUE VIENE</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28.9</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418475">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BUIN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CON CAMBIO DE PUERTA LAVADORA DESCONTAMINADORA DS500 SN1802012EP166</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08-06-2026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REVISIÓN EXAUSTIVA DE LA IMPORTACIÓN PARA ASEGURAR LA LLEGADA DE REPUESTO FALTANTE, REPUESTO DEBIESE LLEGAR LA SEMANA DE L 07 DE SEPTIEMBRE</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viene en Camino)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6,8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26,8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269550">
                <a:tc rowSpan="2">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VAN BUREN</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CON FALLA RECURRENTE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26-03-2026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NO OPERATIVO CON FALLA RECURRENTE LAVADORA DS610 SN1806510LN088 . SE GESTIONO CON JONATHAN PARA RETIRAR EL EQUIPO EL MARTES 18/08 Y TRAERLO A LABORATORIO/09/09 ESTÁ EN DIAGNÓSTICO</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ESTÁ EN DIAGNOSTICO, SE ESPERA SABER QUÉ OCURRE DENTRO DE LOS PRIMEROS DÍAS DE LA SEMANA DEL 14 DE SEPTIEMBRE//LA SEMANA DEL 21 DE SEPTIEMBRE SIGUE EN REVISIÓN</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Por Definir - En Diagnóstico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36,7</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44,1</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164750">
                <a:tc vMerge="1">
                  <a:txBody>
                    <a:bodyPr/>
                    <a:lstStyle/>
                    <a:p>
                      <a:endParaRPr lang="es-CL"/>
                    </a:p>
                  </a:txBody>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AUTOCLAVE MODELO: LVS 2 C/2 EDX 2P SERIE: 9945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NO OPERATIVO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04-08-2026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Jonathan</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 SEDILE NO OPERTATIVO EN ESPERA DE REPUESTO - DETENIDO DESDE  04/08/2026</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MX" sz="650" b="0" i="0" u="none" strike="noStrike" cap="none" dirty="0">
                          <a:solidFill>
                            <a:srgbClr val="242424"/>
                          </a:solidFill>
                          <a:latin typeface="Arial"/>
                          <a:ea typeface="Arial"/>
                          <a:cs typeface="Arial"/>
                          <a:sym typeface="Arial"/>
                        </a:rPr>
                        <a:t>REPUESTO LLEGÓ A CHILE, ESTAMOS A ESPERA DE INGRESO A BODEGA, PARA ENVIAR A CLIENTE Y PROGRAMAR VISITA</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a:solidFill>
                            <a:srgbClr val="242424"/>
                          </a:solidFill>
                          <a:latin typeface="Arial"/>
                          <a:ea typeface="Arial"/>
                          <a:cs typeface="Arial"/>
                          <a:sym typeface="Arial"/>
                        </a:rPr>
                        <a:t>28,6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endParaRPr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4"/>
                  </a:ext>
                </a:extLst>
              </a:tr>
              <a:tr h="240575">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BASE DE OSORNO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DETENIDO HACE 2 SEMANA EN ESPERA DE CÓDIGOS Y VALORES</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04-08-2026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Cristian</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DE SEDILES AUTOCLAVE VS/202038-2 SN30014 DE SEDILES DETENIDO POR 2 SEMANAS EN ESPERA DE CÓDIGOSA Y VALORES, YA SE ENVIARON COTIZACIONES Y SOLICITARON LOS REPUESTOS.EN ESPERA DE REPUESTO. LLEGA ESTA SEMANA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MX" sz="650" b="0" i="0" u="none" strike="noStrike" cap="none" dirty="0">
                          <a:solidFill>
                            <a:srgbClr val="242424"/>
                          </a:solidFill>
                          <a:latin typeface="Arial"/>
                          <a:ea typeface="Arial"/>
                          <a:cs typeface="Arial"/>
                          <a:sym typeface="Arial"/>
                        </a:rPr>
                        <a:t>REPUESTO LLEGÓ A CHILE, ESTAMOS A ESPERA DE INGRESO A BODEGA, PARA ENVIAR A CLIENTE Y PROGRAMAR VISITA</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 (Repuesto en Ingreso)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dirty="0">
                          <a:solidFill>
                            <a:srgbClr val="242424"/>
                          </a:solidFill>
                          <a:latin typeface="Arial"/>
                          <a:ea typeface="Arial"/>
                          <a:cs typeface="Arial"/>
                          <a:sym typeface="Arial"/>
                        </a:rPr>
                        <a:t>31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242424"/>
                        </a:buClr>
                        <a:buSzPts val="700"/>
                        <a:buFont typeface="Arial"/>
                        <a:buNone/>
                      </a:pPr>
                      <a:r>
                        <a:rPr lang="es-CL" sz="650" b="0" i="0" u="none" strike="noStrike" cap="none" dirty="0">
                          <a:solidFill>
                            <a:srgbClr val="242424"/>
                          </a:solidFill>
                          <a:latin typeface="Arial"/>
                          <a:cs typeface="Arial"/>
                          <a:sym typeface="Arial"/>
                        </a:rPr>
                        <a:t>65,4</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325450">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VICTOR RIOS RUIZ</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MODELO: US 200/2 SERIE: 25A4310JJ033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OPERATIVO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01-07-2026</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Cristian/ Jonathan</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EN ESPERA DE REPUESTO RUSELECTRODO (OPERATIVO  UNA SOLA CUBA)  -VISITA PROGRAMADA PARA EL JUVES 27/08</a:t>
                      </a:r>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DADA LA DEMORA DE IMPORTACIÓN, SE MANDARON A FABRICAR ELECTRODOS EN EL MERCADO NACIONAL, CON MUESTRA QUE SACAMOS DE UN EQUIPO DE VENTAS (PREVIA AUTORIZACIÓN DE COMERCIAL)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 (Inversión realizada)</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8,6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245100">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PUERTO AYSEN </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LAVADORA ULTRASÓNICA STEELCO US80 SERIE: 1509210I3015</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NO OPERATIVO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22-06-2026</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EQUIPO LLEGO A BODEGA EL  22/06/2026 ( SE REVISO POR PRIMERA VEZ EL 17/07 09/09 CALEFACTOR QUEMADO INTERNAMENTE </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OPERATIVO A ESPERA DE DESPACHO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Por Definir - En Diagnóstico</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9,8</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46,1</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59175">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HP FÉLIX BULNES</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EQUIPO QUEMADO</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SINIESTRADO</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Alexis Flores</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MX" sz="650" b="0" i="0" u="none" strike="noStrike" cap="none" dirty="0">
                          <a:solidFill>
                            <a:srgbClr val="000000"/>
                          </a:solidFill>
                          <a:latin typeface="Arial"/>
                          <a:ea typeface="Arial"/>
                          <a:cs typeface="Arial"/>
                          <a:sym typeface="Arial"/>
                        </a:rPr>
                        <a:t>LAVADORA DESCONTAMINADORA DS610 - 2SL-2S SN 1706510KT069 SE QUEMA, DESINSTALACIÓN 01-07-2026 OT 68149 (SA-68186), LA CONCESIONARIA SOLICITÓ INVESTIGACIÓN A TERCERO, ALEXIS INDICÓ QUE OFRECEREMOS EQUIPO EN CUANTO SE ACTIVE EL SEGURO, SE DEBE ESPERAR INFORME</a:t>
                      </a:r>
                      <a:endParaRPr lang="es-MX"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NA</a:t>
                      </a:r>
                      <a:endParaRPr lang="es-CL" sz="650" dirty="0"/>
                    </a:p>
                  </a:txBody>
                  <a:tcPr marL="36000" marR="36000" marT="36000" marB="36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44, 9 (Inversión realizada)</a:t>
                      </a:r>
                      <a:endParaRPr sz="65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44,9</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344,4</a:t>
                      </a:r>
                      <a:endParaRPr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84400">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TOTAL</a:t>
                      </a:r>
                      <a:endParaRPr lang="es-CL" sz="650" dirty="0"/>
                    </a:p>
                  </a:txBody>
                  <a:tcPr marL="36000" marR="4600" marT="4600" marB="0" anchor="ctr">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lang="es-CL"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 </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 </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a:solidFill>
                            <a:srgbClr val="000000"/>
                          </a:solidFill>
                          <a:latin typeface="Arial"/>
                          <a:ea typeface="Arial"/>
                          <a:cs typeface="Arial"/>
                          <a:sym typeface="Arial"/>
                        </a:rPr>
                        <a:t>107,9</a:t>
                      </a:r>
                      <a:endParaRPr sz="65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239,8</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CL" sz="650" b="0" i="0" u="none" strike="noStrike" cap="none" dirty="0">
                          <a:solidFill>
                            <a:srgbClr val="000000"/>
                          </a:solidFill>
                          <a:latin typeface="Arial"/>
                          <a:ea typeface="Arial"/>
                          <a:cs typeface="Arial"/>
                          <a:sym typeface="Arial"/>
                        </a:rPr>
                        <a:t>564,3</a:t>
                      </a:r>
                      <a:endParaRPr sz="650" dirty="0"/>
                    </a:p>
                  </a:txBody>
                  <a:tcPr marL="36000" marR="4600" marT="4600" marB="0" anchor="ctr">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pic>
        <p:nvPicPr>
          <p:cNvPr id="5" name="Imagen 4">
            <a:extLst>
              <a:ext uri="{FF2B5EF4-FFF2-40B4-BE49-F238E27FC236}">
                <a16:creationId xmlns:a16="http://schemas.microsoft.com/office/drawing/2014/main" id="{1B575568-227F-5C4A-A691-F7D7FDC30262}"/>
              </a:ext>
            </a:extLst>
          </p:cNvPr>
          <p:cNvPicPr>
            <a:picLocks noChangeAspect="1"/>
          </p:cNvPicPr>
          <p:nvPr/>
        </p:nvPicPr>
        <p:blipFill>
          <a:blip r:embed="rId3"/>
          <a:stretch>
            <a:fillRect/>
          </a:stretch>
        </p:blipFill>
        <p:spPr>
          <a:xfrm>
            <a:off x="0" y="1442884"/>
            <a:ext cx="12192000" cy="39722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Fill Rate</a:t>
            </a:r>
            <a:endParaRPr sz="2700" b="0" i="0" u="none" strike="noStrike" cap="none">
              <a:solidFill>
                <a:srgbClr val="FFFFFF"/>
              </a:solidFill>
              <a:latin typeface="Roboto"/>
              <a:ea typeface="Roboto"/>
              <a:cs typeface="Roboto"/>
              <a:sym typeface="Roboto"/>
            </a:endParaRPr>
          </a:p>
        </p:txBody>
      </p:sp>
      <p:sp>
        <p:nvSpPr>
          <p:cNvPr id="362" name="Google Shape;362;p22"/>
          <p:cNvSpPr/>
          <p:nvPr/>
        </p:nvSpPr>
        <p:spPr>
          <a:xfrm>
            <a:off x="204679" y="5724394"/>
            <a:ext cx="11785759" cy="638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Stock top 10 clientes y compra requerida para distintos niveles de Fill Rate</a:t>
            </a:r>
            <a:endParaRPr/>
          </a:p>
        </p:txBody>
      </p:sp>
      <p:pic>
        <p:nvPicPr>
          <p:cNvPr id="3" name="Imagen 2">
            <a:extLst>
              <a:ext uri="{FF2B5EF4-FFF2-40B4-BE49-F238E27FC236}">
                <a16:creationId xmlns:a16="http://schemas.microsoft.com/office/drawing/2014/main" id="{ADDA2112-85EE-9F12-6A00-22BA656A0C19}"/>
              </a:ext>
            </a:extLst>
          </p:cNvPr>
          <p:cNvPicPr>
            <a:picLocks noChangeAspect="1"/>
          </p:cNvPicPr>
          <p:nvPr/>
        </p:nvPicPr>
        <p:blipFill>
          <a:blip r:embed="rId3"/>
          <a:srcRect t="6538" b="12425"/>
          <a:stretch>
            <a:fillRect/>
          </a:stretch>
        </p:blipFill>
        <p:spPr>
          <a:xfrm>
            <a:off x="203121" y="770684"/>
            <a:ext cx="11785758" cy="478544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60E0CC5A-764C-BD98-0A07-B9158C2B776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828AD388-EC03-83FC-6384-26411DCFDAF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75B3E588-0B4C-45D3-321B-BA403BF85323}"/>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CC2E225-2E81-CEC3-3793-46BB7CE81D18}"/>
              </a:ext>
            </a:extLst>
          </p:cNvPr>
          <p:cNvSpPr/>
          <p:nvPr/>
        </p:nvSpPr>
        <p:spPr>
          <a:xfrm>
            <a:off x="393700" y="322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82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76" name="Google Shape;376;p24"/>
          <p:cNvSpPr/>
          <p:nvPr/>
        </p:nvSpPr>
        <p:spPr>
          <a:xfrm>
            <a:off x="283354" y="5897358"/>
            <a:ext cx="11625292" cy="86203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32 contratos vencen en el horizonte de 90 días, asociados a 29 clientes y por un monto total de MM$246,1.</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13 contratos ya se encuentran vencidos, por MM$96,5, siendo el principal foco de gestión inmediata.</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Septiembre concentra 2 contratos (MM$3,1), octubre 9 (MM$32,7), noviembre 6 (MM$89,7) y diciembre 2 (MM$24,1).</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Noviembre concentra el mayor monto del período, con MM$89,7, equivalente al 36% del total del horizonte.</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21 contratos corresponden a la cartera comercial, por MM$197,0, mientras que 11 son de garantía, por MM$49,0.</a:t>
            </a:r>
          </a:p>
        </p:txBody>
      </p:sp>
      <p:pic>
        <p:nvPicPr>
          <p:cNvPr id="3" name="Imagen 2">
            <a:extLst>
              <a:ext uri="{FF2B5EF4-FFF2-40B4-BE49-F238E27FC236}">
                <a16:creationId xmlns:a16="http://schemas.microsoft.com/office/drawing/2014/main" id="{15A4522F-F2D2-5AE5-2C16-5946FA337BF3}"/>
              </a:ext>
            </a:extLst>
          </p:cNvPr>
          <p:cNvPicPr>
            <a:picLocks noChangeAspect="1"/>
          </p:cNvPicPr>
          <p:nvPr/>
        </p:nvPicPr>
        <p:blipFill>
          <a:blip r:embed="rId3"/>
          <a:srcRect t="5381" b="1438"/>
          <a:stretch>
            <a:fillRect/>
          </a:stretch>
        </p:blipFill>
        <p:spPr>
          <a:xfrm>
            <a:off x="1371000" y="864000"/>
            <a:ext cx="9318445" cy="49719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83" name="Google Shape;383;p25"/>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este 14% de la cartera ya el 12% se encuentra en proceso de renovación, puede que haya expirado, sin embargo, todavía el contrato se sigue ejecutando, por ejemplo, </a:t>
            </a:r>
            <a:r>
              <a:rPr lang="es-CL" sz="1000" b="1">
                <a:solidFill>
                  <a:schemeClr val="lt1"/>
                </a:solidFill>
                <a:latin typeface="Arial"/>
                <a:ea typeface="Arial"/>
                <a:cs typeface="Arial"/>
                <a:sym typeface="Arial"/>
              </a:rPr>
              <a:t>Clínica INDISA</a:t>
            </a:r>
            <a:endParaRPr/>
          </a:p>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1 Nuevo contrato durante esta semana H. Luis Calvo Mackenna MM$3,5 anual</a:t>
            </a:r>
            <a:endParaRPr/>
          </a:p>
        </p:txBody>
      </p:sp>
      <p:graphicFrame>
        <p:nvGraphicFramePr>
          <p:cNvPr id="384" name="Google Shape;384;p25"/>
          <p:cNvGraphicFramePr/>
          <p:nvPr/>
        </p:nvGraphicFramePr>
        <p:xfrm>
          <a:off x="393702" y="1641277"/>
          <a:ext cx="11625250" cy="2092930"/>
        </p:xfrm>
        <a:graphic>
          <a:graphicData uri="http://schemas.openxmlformats.org/drawingml/2006/table">
            <a:tbl>
              <a:tblPr>
                <a:noFill/>
                <a:tableStyleId>{13D43741-7D58-4360-86AC-F6E32FA5FF39}</a:tableStyleId>
              </a:tblPr>
              <a:tblGrid>
                <a:gridCol w="2838875">
                  <a:extLst>
                    <a:ext uri="{9D8B030D-6E8A-4147-A177-3AD203B41FA5}">
                      <a16:colId xmlns:a16="http://schemas.microsoft.com/office/drawing/2014/main" val="20000"/>
                    </a:ext>
                  </a:extLst>
                </a:gridCol>
                <a:gridCol w="1618550">
                  <a:extLst>
                    <a:ext uri="{9D8B030D-6E8A-4147-A177-3AD203B41FA5}">
                      <a16:colId xmlns:a16="http://schemas.microsoft.com/office/drawing/2014/main" val="20001"/>
                    </a:ext>
                  </a:extLst>
                </a:gridCol>
                <a:gridCol w="950575">
                  <a:extLst>
                    <a:ext uri="{9D8B030D-6E8A-4147-A177-3AD203B41FA5}">
                      <a16:colId xmlns:a16="http://schemas.microsoft.com/office/drawing/2014/main" val="20002"/>
                    </a:ext>
                  </a:extLst>
                </a:gridCol>
                <a:gridCol w="1079025">
                  <a:extLst>
                    <a:ext uri="{9D8B030D-6E8A-4147-A177-3AD203B41FA5}">
                      <a16:colId xmlns:a16="http://schemas.microsoft.com/office/drawing/2014/main" val="20003"/>
                    </a:ext>
                  </a:extLst>
                </a:gridCol>
                <a:gridCol w="1079025">
                  <a:extLst>
                    <a:ext uri="{9D8B030D-6E8A-4147-A177-3AD203B41FA5}">
                      <a16:colId xmlns:a16="http://schemas.microsoft.com/office/drawing/2014/main" val="20004"/>
                    </a:ext>
                  </a:extLst>
                </a:gridCol>
                <a:gridCol w="950575">
                  <a:extLst>
                    <a:ext uri="{9D8B030D-6E8A-4147-A177-3AD203B41FA5}">
                      <a16:colId xmlns:a16="http://schemas.microsoft.com/office/drawing/2014/main" val="20005"/>
                    </a:ext>
                  </a:extLst>
                </a:gridCol>
                <a:gridCol w="1014800">
                  <a:extLst>
                    <a:ext uri="{9D8B030D-6E8A-4147-A177-3AD203B41FA5}">
                      <a16:colId xmlns:a16="http://schemas.microsoft.com/office/drawing/2014/main" val="20006"/>
                    </a:ext>
                  </a:extLst>
                </a:gridCol>
                <a:gridCol w="1014800">
                  <a:extLst>
                    <a:ext uri="{9D8B030D-6E8A-4147-A177-3AD203B41FA5}">
                      <a16:colId xmlns:a16="http://schemas.microsoft.com/office/drawing/2014/main" val="20007"/>
                    </a:ext>
                  </a:extLst>
                </a:gridCol>
                <a:gridCol w="1079025">
                  <a:extLst>
                    <a:ext uri="{9D8B030D-6E8A-4147-A177-3AD203B41FA5}">
                      <a16:colId xmlns:a16="http://schemas.microsoft.com/office/drawing/2014/main" val="20008"/>
                    </a:ext>
                  </a:extLst>
                </a:gridCol>
              </a:tblGrid>
              <a:tr h="288950">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CLIENTE</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CLASIFICACIÓN (indicada por usuario)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TIPO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VALOR TOTAL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Cartera</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CUOTA MENSUAL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FECHA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MES DE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ESTADO EN PANEL (dato actual)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extLst>
                  <a:ext uri="{0D108BD9-81ED-4DB2-BD59-A6C34878D82A}">
                    <a16:rowId xmlns:a16="http://schemas.microsoft.com/office/drawing/2014/main" val="10000"/>
                  </a:ext>
                </a:extLst>
              </a:tr>
              <a:tr h="201150">
                <a:tc>
                  <a:txBody>
                    <a:bodyPr/>
                    <a:lstStyle/>
                    <a:p>
                      <a:pPr marL="0" marR="0" lvl="0" indent="0" algn="l" rtl="0">
                        <a:spcBef>
                          <a:spcPts val="0"/>
                        </a:spcBef>
                        <a:spcAft>
                          <a:spcPts val="0"/>
                        </a:spcAft>
                        <a:buClr>
                          <a:srgbClr val="000000"/>
                        </a:buClr>
                        <a:buSzPts val="800"/>
                        <a:buFont typeface="Arial"/>
                        <a:buNone/>
                      </a:pPr>
                      <a:r>
                        <a:rPr lang="es-CL" sz="800" b="0" i="0" u="none" strike="noStrike" cap="none">
                          <a:solidFill>
                            <a:srgbClr val="000000"/>
                          </a:solidFill>
                          <a:latin typeface="Arial"/>
                          <a:ea typeface="Arial"/>
                          <a:cs typeface="Arial"/>
                          <a:sym typeface="Arial"/>
                        </a:rPr>
                        <a:t>Hospital Exequiel González Cortés</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34.900.000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2,68%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2.908.000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01/09/2026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Sept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23.803.992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1,83%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5.950.998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08/03/2027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Marzo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2"/>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INSTITUTO DE DIAGNOSTICO S.A. / CLÍNICA INDISA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23.049.612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1,77%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2.881.201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07/08/2026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CLÍNICA BUPA ANTOFAGASTA 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5.585.865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698.233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4"/>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CONSTITUCION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31/05/2026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Mayo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5"/>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MILITAR DE SANTIAGO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4.695.262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782.544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02/06/2026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Junio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6"/>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4.168.932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1.389.644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7"/>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VICUÑA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3.932.726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1.966.363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8"/>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DIPRECA FONDO HOSPITAL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3.671.517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1.223.839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05/08/2026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9"/>
                  </a:ext>
                </a:extLst>
              </a:tr>
              <a:tr h="20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 ILLAPEL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31/07/2026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Julio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0"/>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2.738.309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1.369.155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23/12/2026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Diciembre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2"/>
                  </a:ext>
                </a:extLst>
              </a:tr>
              <a:tr h="123425">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CLINICA WLK</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2.404.630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801.543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1.376.598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688.299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30/04/2027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Abril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4"/>
                  </a:ext>
                </a:extLst>
              </a:tr>
            </a:tbl>
          </a:graphicData>
        </a:graphic>
      </p:graphicFrame>
      <p:sp>
        <p:nvSpPr>
          <p:cNvPr id="385" name="Google Shape;385;p25"/>
          <p:cNvSpPr/>
          <p:nvPr/>
        </p:nvSpPr>
        <p:spPr>
          <a:xfrm>
            <a:off x="300787" y="3840007"/>
            <a:ext cx="11718203"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Pendientes por Iniciar Conversaciones</a:t>
            </a:r>
            <a:endParaRPr/>
          </a:p>
        </p:txBody>
      </p:sp>
      <p:graphicFrame>
        <p:nvGraphicFramePr>
          <p:cNvPr id="386" name="Google Shape;386;p25"/>
          <p:cNvGraphicFramePr/>
          <p:nvPr/>
        </p:nvGraphicFramePr>
        <p:xfrm>
          <a:off x="300788" y="4445503"/>
          <a:ext cx="11718200" cy="1049085"/>
        </p:xfrm>
        <a:graphic>
          <a:graphicData uri="http://schemas.openxmlformats.org/drawingml/2006/table">
            <a:tbl>
              <a:tblPr>
                <a:noFill/>
                <a:tableStyleId>{13D43741-7D58-4360-86AC-F6E32FA5FF39}</a:tableStyleId>
              </a:tblPr>
              <a:tblGrid>
                <a:gridCol w="9086900">
                  <a:extLst>
                    <a:ext uri="{9D8B030D-6E8A-4147-A177-3AD203B41FA5}">
                      <a16:colId xmlns:a16="http://schemas.microsoft.com/office/drawing/2014/main" val="20000"/>
                    </a:ext>
                  </a:extLst>
                </a:gridCol>
                <a:gridCol w="877100">
                  <a:extLst>
                    <a:ext uri="{9D8B030D-6E8A-4147-A177-3AD203B41FA5}">
                      <a16:colId xmlns:a16="http://schemas.microsoft.com/office/drawing/2014/main" val="20001"/>
                    </a:ext>
                  </a:extLst>
                </a:gridCol>
                <a:gridCol w="877100">
                  <a:extLst>
                    <a:ext uri="{9D8B030D-6E8A-4147-A177-3AD203B41FA5}">
                      <a16:colId xmlns:a16="http://schemas.microsoft.com/office/drawing/2014/main" val="20002"/>
                    </a:ext>
                  </a:extLst>
                </a:gridCol>
                <a:gridCol w="877100">
                  <a:extLst>
                    <a:ext uri="{9D8B030D-6E8A-4147-A177-3AD203B41FA5}">
                      <a16:colId xmlns:a16="http://schemas.microsoft.com/office/drawing/2014/main" val="20003"/>
                    </a:ext>
                  </a:extLst>
                </a:gridCol>
              </a:tblGrid>
              <a:tr h="175575">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Cliente</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Vcto</a:t>
                      </a:r>
                      <a:endParaRPr sz="900" b="1" i="0" u="none" strike="noStrike" cap="none">
                        <a:solidFill>
                          <a:srgbClr val="000000"/>
                        </a:solidFill>
                        <a:latin typeface="Arial"/>
                        <a:ea typeface="Arial"/>
                        <a:cs typeface="Arial"/>
                        <a:sym typeface="Arial"/>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MM$</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Hospital San Luis Buin</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2,8</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0,22%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Hospital San Luis Buin</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5,3</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Servicios Clínicos del Desarrollo S.A.</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Corporación Municipal de Conchalí</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Hospital de Urgencia Asistencia Pública Dr. Alejandro del Río</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Hospital de Puerto Aysén</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12-11-26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32,7</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2,52%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Contratos Perdidos</a:t>
            </a:r>
            <a:endParaRPr sz="2700" b="0" i="0" u="none" strike="noStrike" cap="none">
              <a:solidFill>
                <a:srgbClr val="FFFFFF"/>
              </a:solidFill>
              <a:latin typeface="Roboto"/>
              <a:ea typeface="Roboto"/>
              <a:cs typeface="Roboto"/>
              <a:sym typeface="Roboto"/>
            </a:endParaRPr>
          </a:p>
        </p:txBody>
      </p:sp>
      <p:sp>
        <p:nvSpPr>
          <p:cNvPr id="392" name="Google Shape;392;p26"/>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Durante el año 2026 no se han renovado 17 contratos (13% de la cartera de contratos), no obstante, la mayoría de los clientes sigue preservando el servicio con TECSERVICE</a:t>
            </a:r>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Fundación ANCHORA UC indica termino de contratos asociados a equipos determinados pero no cliente</a:t>
            </a:r>
            <a:endParaRPr/>
          </a:p>
        </p:txBody>
      </p:sp>
      <p:graphicFrame>
        <p:nvGraphicFramePr>
          <p:cNvPr id="393" name="Google Shape;393;p26"/>
          <p:cNvGraphicFramePr/>
          <p:nvPr/>
        </p:nvGraphicFramePr>
        <p:xfrm>
          <a:off x="380999" y="1799770"/>
          <a:ext cx="11429975" cy="3081225"/>
        </p:xfrm>
        <a:graphic>
          <a:graphicData uri="http://schemas.openxmlformats.org/drawingml/2006/table">
            <a:tbl>
              <a:tblPr>
                <a:noFill/>
                <a:tableStyleId>{13D43741-7D58-4360-86AC-F6E32FA5FF39}</a:tableStyleId>
              </a:tblPr>
              <a:tblGrid>
                <a:gridCol w="1109500">
                  <a:extLst>
                    <a:ext uri="{9D8B030D-6E8A-4147-A177-3AD203B41FA5}">
                      <a16:colId xmlns:a16="http://schemas.microsoft.com/office/drawing/2014/main" val="20000"/>
                    </a:ext>
                  </a:extLst>
                </a:gridCol>
                <a:gridCol w="2620900">
                  <a:extLst>
                    <a:ext uri="{9D8B030D-6E8A-4147-A177-3AD203B41FA5}">
                      <a16:colId xmlns:a16="http://schemas.microsoft.com/office/drawing/2014/main" val="20001"/>
                    </a:ext>
                  </a:extLst>
                </a:gridCol>
                <a:gridCol w="698900">
                  <a:extLst>
                    <a:ext uri="{9D8B030D-6E8A-4147-A177-3AD203B41FA5}">
                      <a16:colId xmlns:a16="http://schemas.microsoft.com/office/drawing/2014/main" val="20002"/>
                    </a:ext>
                  </a:extLst>
                </a:gridCol>
                <a:gridCol w="698900">
                  <a:extLst>
                    <a:ext uri="{9D8B030D-6E8A-4147-A177-3AD203B41FA5}">
                      <a16:colId xmlns:a16="http://schemas.microsoft.com/office/drawing/2014/main" val="20003"/>
                    </a:ext>
                  </a:extLst>
                </a:gridCol>
                <a:gridCol w="698900">
                  <a:extLst>
                    <a:ext uri="{9D8B030D-6E8A-4147-A177-3AD203B41FA5}">
                      <a16:colId xmlns:a16="http://schemas.microsoft.com/office/drawing/2014/main" val="20004"/>
                    </a:ext>
                  </a:extLst>
                </a:gridCol>
                <a:gridCol w="698900">
                  <a:extLst>
                    <a:ext uri="{9D8B030D-6E8A-4147-A177-3AD203B41FA5}">
                      <a16:colId xmlns:a16="http://schemas.microsoft.com/office/drawing/2014/main" val="20005"/>
                    </a:ext>
                  </a:extLst>
                </a:gridCol>
                <a:gridCol w="2387925">
                  <a:extLst>
                    <a:ext uri="{9D8B030D-6E8A-4147-A177-3AD203B41FA5}">
                      <a16:colId xmlns:a16="http://schemas.microsoft.com/office/drawing/2014/main" val="20006"/>
                    </a:ext>
                  </a:extLst>
                </a:gridCol>
                <a:gridCol w="2516050">
                  <a:extLst>
                    <a:ext uri="{9D8B030D-6E8A-4147-A177-3AD203B41FA5}">
                      <a16:colId xmlns:a16="http://schemas.microsoft.com/office/drawing/2014/main" val="20007"/>
                    </a:ext>
                  </a:extLst>
                </a:gridCol>
              </a:tblGrid>
              <a:tr h="564225">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Responsable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Nombre del cliente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de inicio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final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Contratos</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Cartera</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Comentario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Razon de Perdida</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FUNDACIÓN OFTALMOLÓGICA LOS ANDES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12-02-2024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11-02-2026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5.177.375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Equipos antiguos no invertiran en contrato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CLINICO SAN BORJA-ARRIARAN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25-06-2026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43.089.900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Licitacion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04-05-2023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03-05-2026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24.065.784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contrato pero con servicio x licitacion</a:t>
                      </a:r>
                      <a:endParaRPr sz="900" b="0" i="0" u="none" strike="noStrike" cap="none">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09-08-2023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08-08-2026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6.989.760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contrato pero con servicio x licitacion</a:t>
                      </a:r>
                      <a:endParaRPr sz="900" b="0" i="0" u="none" strike="noStrike" cap="none">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I.MUNICIPALIDAD DE LA UNION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3.308.250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En negociación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Los Alamos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8.939.285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contrato por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LUIS CALVO MACKENNA</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7.296.300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Adjudicado 24 meses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COMPLEJO ASISTENCIAL DR SOTERO DEL RIO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22-07-2026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39.022.480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contrato pero con servicio x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METROPOLITANO DE SANTIAGO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19-03-2024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18-03-2026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6.646.990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Equipo ya no comercializado mamografo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INSTITUTO NACIONAL DEL CANCER</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2.669.508</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de Adjudicacion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 Municipalidad de Parral - Dpto Salud</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16-01-2026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5.682.924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No hay respuesta de cliente, nos deben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Total</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186.918.320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2B3377A-F1E3-BD86-BD28-3CD3D01C9A4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928DD958-9C70-B581-F2BD-9B6F02BB014B}"/>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B1F28129-34B4-631C-9A7B-14C3F146D54E}"/>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1E54197-7BE9-3C24-457D-538306EC50C5}"/>
              </a:ext>
            </a:extLst>
          </p:cNvPr>
          <p:cNvSpPr/>
          <p:nvPr/>
        </p:nvSpPr>
        <p:spPr>
          <a:xfrm>
            <a:off x="393700" y="385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5636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1C4F5DD1-2425-A8D7-A681-A7D83664EAF7}"/>
              </a:ext>
            </a:extLst>
          </p:cNvPr>
          <p:cNvPicPr>
            <a:picLocks noChangeAspect="1"/>
          </p:cNvPicPr>
          <p:nvPr/>
        </p:nvPicPr>
        <p:blipFill>
          <a:blip r:embed="rId3"/>
          <a:srcRect t="4724"/>
          <a:stretch>
            <a:fillRect/>
          </a:stretch>
        </p:blipFill>
        <p:spPr>
          <a:xfrm>
            <a:off x="1866000" y="749572"/>
            <a:ext cx="9315000" cy="592571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 - Detractores</a:t>
            </a:r>
            <a:endParaRPr sz="2700" b="0" i="0" u="none" strike="noStrike" cap="none">
              <a:solidFill>
                <a:srgbClr val="FFFFFF"/>
              </a:solidFill>
              <a:latin typeface="Roboto"/>
              <a:ea typeface="Roboto"/>
              <a:cs typeface="Roboto"/>
              <a:sym typeface="Roboto"/>
            </a:endParaRPr>
          </a:p>
        </p:txBody>
      </p:sp>
      <p:graphicFrame>
        <p:nvGraphicFramePr>
          <p:cNvPr id="412" name="Google Shape;412;p29"/>
          <p:cNvGraphicFramePr/>
          <p:nvPr>
            <p:extLst>
              <p:ext uri="{D42A27DB-BD31-4B8C-83A1-F6EECF244321}">
                <p14:modId xmlns:p14="http://schemas.microsoft.com/office/powerpoint/2010/main" val="229164777"/>
              </p:ext>
            </p:extLst>
          </p:nvPr>
        </p:nvGraphicFramePr>
        <p:xfrm>
          <a:off x="291000" y="928913"/>
          <a:ext cx="11610000" cy="5276786"/>
        </p:xfrm>
        <a:graphic>
          <a:graphicData uri="http://schemas.openxmlformats.org/drawingml/2006/table">
            <a:tbl>
              <a:tblPr>
                <a:noFill/>
                <a:tableStyleId>{13D43741-7D58-4360-86AC-F6E32FA5FF39}</a:tableStyleId>
              </a:tblPr>
              <a:tblGrid>
                <a:gridCol w="2231454">
                  <a:extLst>
                    <a:ext uri="{9D8B030D-6E8A-4147-A177-3AD203B41FA5}">
                      <a16:colId xmlns:a16="http://schemas.microsoft.com/office/drawing/2014/main" val="20000"/>
                    </a:ext>
                  </a:extLst>
                </a:gridCol>
                <a:gridCol w="1811032">
                  <a:extLst>
                    <a:ext uri="{9D8B030D-6E8A-4147-A177-3AD203B41FA5}">
                      <a16:colId xmlns:a16="http://schemas.microsoft.com/office/drawing/2014/main" val="20001"/>
                    </a:ext>
                  </a:extLst>
                </a:gridCol>
                <a:gridCol w="3120788">
                  <a:extLst>
                    <a:ext uri="{9D8B030D-6E8A-4147-A177-3AD203B41FA5}">
                      <a16:colId xmlns:a16="http://schemas.microsoft.com/office/drawing/2014/main" val="20002"/>
                    </a:ext>
                  </a:extLst>
                </a:gridCol>
                <a:gridCol w="1051041">
                  <a:extLst>
                    <a:ext uri="{9D8B030D-6E8A-4147-A177-3AD203B41FA5}">
                      <a16:colId xmlns:a16="http://schemas.microsoft.com/office/drawing/2014/main" val="20003"/>
                    </a:ext>
                  </a:extLst>
                </a:gridCol>
                <a:gridCol w="3395685">
                  <a:extLst>
                    <a:ext uri="{9D8B030D-6E8A-4147-A177-3AD203B41FA5}">
                      <a16:colId xmlns:a16="http://schemas.microsoft.com/office/drawing/2014/main" val="20004"/>
                    </a:ext>
                  </a:extLst>
                </a:gridCol>
              </a:tblGrid>
              <a:tr h="279037">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Cliente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Responsable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Plan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Fecha de Implementación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Descripción Caso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8879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LLANQUIHUE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PROGRAMA VISITA PARA REVISAR SELLADORA Y REALIZAR CAPACITACIÓN, QUEDANDO EL EQUIPO OPERATIVO Y PERSONAL CAPACITADO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19-02-2026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 EQUIPO ESTÁ SELLANDO DE FORMA INTERMITENTE Y PRESENTA UN SONIDO AGUDO, ADEMÁS SOLICITA CAPACITACIÓN ONLINE CON ALGUNO DE LOS INGENIEROS DE SERVICIO + APOYO EN CONFIGURACIÓN DE SELLADORA MELASEAL 300.</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30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DAVILA VESPUCIO3 resp.</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Patricia Guzmán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CONSEGUIR REPUESTO E INFORMAR AL CLIENTE QUE YA NO SOMOS REPRESENTANTES DE LA MARCA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SOLICITAN ENVÍO DE REPUESTO DE OC QUE NO ENVIARON A ST, HASTA ESE MOMENTO 2 MESES DESPUÉS, EL REPUESTO ERA DE MARCA DABI ATLANTE Y NOS COSTÓ CONSEGUIERLO YA QUE NO SOMOS REPRESENTANTES ACTUALES, LO CONSEGUIMOS Y LES RESOLVIMOS EL INCONVENIENTE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SAN CAMILO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REVISIÓN EN TALLER DE ST/EVALUAR CON FÁBRICA SOLUCIÓN/CAMBIO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31-08-2026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203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ACHS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BASE SAN JOSE OSORNO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err="1">
                          <a:solidFill>
                            <a:srgbClr val="000000"/>
                          </a:solidFill>
                          <a:latin typeface="Arial"/>
                          <a:ea typeface="Arial"/>
                          <a:cs typeface="Arial"/>
                          <a:sym typeface="Arial"/>
                        </a:rPr>
                        <a:t>Maria</a:t>
                      </a:r>
                      <a:r>
                        <a:rPr lang="es-CL" sz="900" b="0" i="0" u="none" strike="noStrike" cap="none" dirty="0">
                          <a:solidFill>
                            <a:srgbClr val="000000"/>
                          </a:solidFill>
                          <a:latin typeface="Arial"/>
                          <a:ea typeface="Arial"/>
                          <a:cs typeface="Arial"/>
                          <a:sym typeface="Arial"/>
                        </a:rPr>
                        <a:t> de Los </a:t>
                      </a:r>
                      <a:r>
                        <a:rPr lang="es-CL" sz="900" b="0" i="0" u="none" strike="noStrike" cap="none" dirty="0" err="1">
                          <a:solidFill>
                            <a:srgbClr val="000000"/>
                          </a:solidFill>
                          <a:latin typeface="Arial"/>
                          <a:ea typeface="Arial"/>
                          <a:cs typeface="Arial"/>
                          <a:sym typeface="Arial"/>
                        </a:rPr>
                        <a:t>Angeles</a:t>
                      </a:r>
                      <a:r>
                        <a:rPr lang="es-CL" sz="900" b="0" i="0" u="none" strike="noStrike" cap="none" dirty="0">
                          <a:solidFill>
                            <a:srgbClr val="000000"/>
                          </a:solidFill>
                          <a:latin typeface="Arial"/>
                          <a:ea typeface="Arial"/>
                          <a:cs typeface="Arial"/>
                          <a:sym typeface="Arial"/>
                        </a:rPr>
                        <a:t> Colina</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SCMS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Elizabeth Gálvez</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ASISTIMOS AL CLIENTE PARA REVISAR ANTECEDENTES, ESPERAMOS LA RESOLUCIÓN DE LA INVESTIGACIÓN, PARA EVALUAR ACCIONES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SINIESTRADO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ISM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LLAMÓ POR TELÉFONO DÓNDE INDICÓ QUE NO SABÍA A QUÉ CORRESPONDÍA LA ENCUENTA Y SE EQUIVOCÓ AL EVALUAR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16-06-2026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SABÍA A QUÉ CORRESPONDÍA, SE EQUIVOCÓ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COOPORACION MUNICIPAL DE LAMPA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hay casos asociados a ese cliente en sistema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CARLOS VAN BUREN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DERMATOLOGICA DRA DIANA YANINE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Matilde Carrillo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SOLICITÓ CELERIDAD EN ENVÍO DE FACTURA A CLIENTE Y YA LA RECIBIÓ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MOLESTIA POR LA DEMORA EN ENVÍO DE FACTURA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PUERTO AYSEN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SOLICITARON PROGRAMAS A FÁBRICA PARA VOLVER A CARGARLOS EN EL EQUIPO Y PODER DIAGNÓSTICAR, YA LLEGARON, SE REALIZARÁ LA ACCIÓN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01-09-2026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 SE ENVIÓ A ST PARA REVISIÓN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CLINICO SANBORJA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OFRECIÓ AL CLIENTE VISITA DE DIAGNÓSTICO DE NUESTRO ST, ESPERAMOS RESPUESTA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18-08-2026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a:solidFill>
                            <a:srgbClr val="000000"/>
                          </a:solidFill>
                          <a:latin typeface="Arial"/>
                          <a:ea typeface="Arial"/>
                          <a:cs typeface="Arial"/>
                          <a:sym typeface="Arial"/>
                        </a:rPr>
                        <a:t>EQUIPO CON FALLA DIAGNÓSTICADO POR ST EXTERNO, QUERÍAN COMPRARNOS SOLO EL REPUESTO </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A83204-05A4-9AC5-9834-FD93596707AE}"/>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CB981F3E-0BF2-05B0-9010-AB322118C5C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851655F4-2750-DF60-2227-6D8C87BF9AA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8087892-0016-BCD8-33E0-B43F4E9723E6}"/>
              </a:ext>
            </a:extLst>
          </p:cNvPr>
          <p:cNvSpPr/>
          <p:nvPr/>
        </p:nvSpPr>
        <p:spPr>
          <a:xfrm>
            <a:off x="393700" y="439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60483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Prospectos Clientes Según Renovación Base Instalada</a:t>
            </a:r>
            <a:endParaRPr/>
          </a:p>
        </p:txBody>
      </p:sp>
      <p:sp>
        <p:nvSpPr>
          <p:cNvPr id="425" name="Google Shape;425;p31"/>
          <p:cNvSpPr/>
          <p:nvPr/>
        </p:nvSpPr>
        <p:spPr>
          <a:xfrm>
            <a:off x="204679" y="4178333"/>
            <a:ext cx="11785759" cy="253679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Actualmente, existen 2.933 equipos instalados en 854 clientes, con una valorización de MM$35.451,5 para 2.100 equipos valorizados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519 equipos ya cumplieron su vida útil, representando un valor a renovar de MM$3.277,6</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2026 y 2033, se identifican 1.310 equipos que cumplen su vida útil, con un valor potencial de renovación de MM$16.209,8</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2026 concentra 97 equipos, equivalentes a MM$840,6 de potencial de renovación.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mayor volumen de renovación se concentra entre 2027 y 2029, con 613 equipos y MM$5.434,0 de valor potencial.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Dental concentra el mayor número de equipos con vencimiento, con 879 equipos y MM$3.093,8, seguido por Esterilización con 782 equipos y MM$13.406,0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distribución de vencimientos permite construir un pipeline de renovación de largo plazo, priorizando inicialmente los equipos que ya cumplieron su vida útil.</a:t>
            </a:r>
          </a:p>
        </p:txBody>
      </p:sp>
      <p:pic>
        <p:nvPicPr>
          <p:cNvPr id="5" name="Imagen 4">
            <a:extLst>
              <a:ext uri="{FF2B5EF4-FFF2-40B4-BE49-F238E27FC236}">
                <a16:creationId xmlns:a16="http://schemas.microsoft.com/office/drawing/2014/main" id="{5BC249EB-3205-4189-04F5-D069306EF4A0}"/>
              </a:ext>
            </a:extLst>
          </p:cNvPr>
          <p:cNvPicPr>
            <a:picLocks noChangeAspect="1"/>
          </p:cNvPicPr>
          <p:nvPr/>
        </p:nvPicPr>
        <p:blipFill>
          <a:blip r:embed="rId3"/>
          <a:stretch>
            <a:fillRect/>
          </a:stretch>
        </p:blipFill>
        <p:spPr>
          <a:xfrm>
            <a:off x="0" y="820352"/>
            <a:ext cx="12192000" cy="1927123"/>
          </a:xfrm>
          <a:prstGeom prst="rect">
            <a:avLst/>
          </a:prstGeom>
        </p:spPr>
      </p:pic>
      <p:pic>
        <p:nvPicPr>
          <p:cNvPr id="7" name="Imagen 6">
            <a:extLst>
              <a:ext uri="{FF2B5EF4-FFF2-40B4-BE49-F238E27FC236}">
                <a16:creationId xmlns:a16="http://schemas.microsoft.com/office/drawing/2014/main" id="{B6A92DF8-1632-E25A-ABBB-E2557B3AFB5D}"/>
              </a:ext>
            </a:extLst>
          </p:cNvPr>
          <p:cNvPicPr>
            <a:picLocks noChangeAspect="1"/>
          </p:cNvPicPr>
          <p:nvPr/>
        </p:nvPicPr>
        <p:blipFill>
          <a:blip r:embed="rId4"/>
          <a:srcRect t="16028" b="17349"/>
          <a:stretch>
            <a:fillRect/>
          </a:stretch>
        </p:blipFill>
        <p:spPr>
          <a:xfrm>
            <a:off x="0" y="2394000"/>
            <a:ext cx="12192000" cy="152897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628BE697-891B-1C9F-5A00-69214132DA92}"/>
              </a:ext>
            </a:extLst>
          </p:cNvPr>
          <p:cNvPicPr>
            <a:picLocks noChangeAspect="1"/>
          </p:cNvPicPr>
          <p:nvPr/>
        </p:nvPicPr>
        <p:blipFill>
          <a:blip r:embed="rId3"/>
          <a:srcRect t="8671" b="10967"/>
          <a:stretch>
            <a:fillRect/>
          </a:stretch>
        </p:blipFill>
        <p:spPr>
          <a:xfrm>
            <a:off x="0" y="998999"/>
            <a:ext cx="12192000" cy="472500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8D14DBE8-3510-43CB-A5C3-3E11FA8C8A52}"/>
              </a:ext>
            </a:extLst>
          </p:cNvPr>
          <p:cNvPicPr>
            <a:picLocks noChangeAspect="1"/>
          </p:cNvPicPr>
          <p:nvPr/>
        </p:nvPicPr>
        <p:blipFill>
          <a:blip r:embed="rId3"/>
          <a:srcRect t="7068"/>
          <a:stretch>
            <a:fillRect/>
          </a:stretch>
        </p:blipFill>
        <p:spPr>
          <a:xfrm>
            <a:off x="0" y="1089000"/>
            <a:ext cx="12192000" cy="50652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2000"/>
              <a:buNone/>
            </a:pPr>
            <a:r>
              <a:rPr lang="es-CL" sz="2000" b="1">
                <a:solidFill>
                  <a:srgbClr val="7F7F7F"/>
                </a:solidFill>
              </a:rPr>
              <a:t>Plan por Región</a:t>
            </a:r>
            <a:endParaRPr>
              <a:solidFill>
                <a:srgbClr val="7F7F7F"/>
              </a:solidFill>
            </a:endParaRPr>
          </a:p>
        </p:txBody>
      </p:sp>
      <p:sp>
        <p:nvSpPr>
          <p:cNvPr id="446" name="Google Shape;446;p34"/>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447" name="Google Shape;447;p34"/>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448" name="Google Shape;448;p34"/>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449" name="Google Shape;449;p34"/>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7E648FE-7095-C4DA-375B-F4513EAB952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256A51E9-E4F8-F5C7-9687-34D89875792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3E04E6C-F188-0469-7CDC-E3415D01AB7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455248BD-7FD4-DA7D-2794-8C06693652F1}"/>
              </a:ext>
            </a:extLst>
          </p:cNvPr>
          <p:cNvSpPr/>
          <p:nvPr/>
        </p:nvSpPr>
        <p:spPr>
          <a:xfrm>
            <a:off x="393700" y="4914000"/>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5430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21CFC961-4229-734E-A151-AB5A74C09787}"/>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B64377C-D635-CA84-5B16-AC8C76153D63}"/>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Bío Bio</a:t>
            </a:r>
            <a:endParaRPr dirty="0"/>
          </a:p>
        </p:txBody>
      </p:sp>
      <p:sp>
        <p:nvSpPr>
          <p:cNvPr id="457" name="Google Shape;457;p35">
            <a:extLst>
              <a:ext uri="{FF2B5EF4-FFF2-40B4-BE49-F238E27FC236}">
                <a16:creationId xmlns:a16="http://schemas.microsoft.com/office/drawing/2014/main" id="{656C2264-9CE6-438B-398A-FD3A0351A5E6}"/>
              </a:ext>
            </a:extLst>
          </p:cNvPr>
          <p:cNvSpPr/>
          <p:nvPr/>
        </p:nvSpPr>
        <p:spPr>
          <a:xfrm>
            <a:off x="313658" y="3722176"/>
            <a:ext cx="11502870" cy="233135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Se identifican 7 clientes foco en la Región del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con una facturación 2026 acumulada de MM$75,9.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Estos clientes presentan un potencial de Servicio Técnico de MM$129,3 anuales, destacando Hospital Víctor Ríos Ruiz, Clínica Sanatorio Alemán y Hospital Guillermo Grant Benavente.</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Hospital Víctor Ríos Ruiz concentra el mayor potencial, con MM$37,9 anuales, seguido por Clínica Sanatorio Alemán (MM$26,6) y Hospital Guillermo Grant Benavente (MM$24,9).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Las principales oportunidades identificadas se relacionan con renovación de contratos, venta de repuestos y conversión de equipos en garantía a contratos de servicio.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 región presenta una oportunidad de profundizar la cobertura comercial y técnica, utilizando estos clientes como foco para capturar el potencial de Servicio Técnico.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endParaRPr>
          </a:p>
          <a:p>
            <a:pPr marL="171450" marR="0" lvl="0" indent="-171450" algn="l" rtl="0">
              <a:spcBef>
                <a:spcPts val="0"/>
              </a:spcBef>
              <a:spcAft>
                <a:spcPts val="0"/>
              </a:spcAft>
              <a:buClr>
                <a:schemeClr val="lt1"/>
              </a:buClr>
              <a:buSzPts val="1000"/>
              <a:buFont typeface="Arial"/>
              <a:buChar char="•"/>
            </a:pPr>
            <a:r>
              <a:rPr lang="es-MX" sz="1000" b="1" dirty="0">
                <a:solidFill>
                  <a:schemeClr val="lt1"/>
                </a:solidFill>
                <a:latin typeface="Arial"/>
                <a:ea typeface="Arial"/>
                <a:cs typeface="Arial"/>
                <a:sym typeface="Arial"/>
              </a:rPr>
              <a:t>Con respecto al Plan Sur, en la Región de Los Lagos, Araucanía, Bío </a:t>
            </a:r>
            <a:r>
              <a:rPr lang="es-MX" sz="1000" b="1" dirty="0" err="1">
                <a:solidFill>
                  <a:schemeClr val="lt1"/>
                </a:solidFill>
                <a:latin typeface="Arial"/>
                <a:ea typeface="Arial"/>
                <a:cs typeface="Arial"/>
                <a:sym typeface="Arial"/>
              </a:rPr>
              <a:t>Bío</a:t>
            </a:r>
            <a:r>
              <a:rPr lang="es-MX" sz="1000" b="1" dirty="0">
                <a:solidFill>
                  <a:schemeClr val="lt1"/>
                </a:solidFill>
                <a:latin typeface="Arial"/>
                <a:ea typeface="Arial"/>
                <a:cs typeface="Arial"/>
                <a:sym typeface="Arial"/>
              </a:rPr>
              <a:t>, Maule y Ñuble durante el año 2025 a Septiembre se tenía una facturación acumulada de MM$210,4 y ahora el año 2026 se tiene una facturación acumulada MM$269,9 (+28,2%), en este ejercicio se descuenta REAS</a:t>
            </a:r>
          </a:p>
        </p:txBody>
      </p:sp>
      <p:graphicFrame>
        <p:nvGraphicFramePr>
          <p:cNvPr id="2" name="Tabla 1">
            <a:extLst>
              <a:ext uri="{FF2B5EF4-FFF2-40B4-BE49-F238E27FC236}">
                <a16:creationId xmlns:a16="http://schemas.microsoft.com/office/drawing/2014/main" id="{36558937-F729-66CB-527E-7C03F6F676CF}"/>
              </a:ext>
            </a:extLst>
          </p:cNvPr>
          <p:cNvGraphicFramePr>
            <a:graphicFrameLocks noGrp="1"/>
          </p:cNvGraphicFramePr>
          <p:nvPr>
            <p:extLst>
              <p:ext uri="{D42A27DB-BD31-4B8C-83A1-F6EECF244321}">
                <p14:modId xmlns:p14="http://schemas.microsoft.com/office/powerpoint/2010/main" val="3416609292"/>
              </p:ext>
            </p:extLst>
          </p:nvPr>
        </p:nvGraphicFramePr>
        <p:xfrm>
          <a:off x="395572" y="999000"/>
          <a:ext cx="11428127" cy="2136825"/>
        </p:xfrm>
        <a:graphic>
          <a:graphicData uri="http://schemas.openxmlformats.org/drawingml/2006/table">
            <a:tbl>
              <a:tblPr/>
              <a:tblGrid>
                <a:gridCol w="285797">
                  <a:extLst>
                    <a:ext uri="{9D8B030D-6E8A-4147-A177-3AD203B41FA5}">
                      <a16:colId xmlns:a16="http://schemas.microsoft.com/office/drawing/2014/main" val="1540014077"/>
                    </a:ext>
                  </a:extLst>
                </a:gridCol>
                <a:gridCol w="2515767">
                  <a:extLst>
                    <a:ext uri="{9D8B030D-6E8A-4147-A177-3AD203B41FA5}">
                      <a16:colId xmlns:a16="http://schemas.microsoft.com/office/drawing/2014/main" val="1379151209"/>
                    </a:ext>
                  </a:extLst>
                </a:gridCol>
                <a:gridCol w="1297369">
                  <a:extLst>
                    <a:ext uri="{9D8B030D-6E8A-4147-A177-3AD203B41FA5}">
                      <a16:colId xmlns:a16="http://schemas.microsoft.com/office/drawing/2014/main" val="1425047119"/>
                    </a:ext>
                  </a:extLst>
                </a:gridCol>
                <a:gridCol w="1026613">
                  <a:extLst>
                    <a:ext uri="{9D8B030D-6E8A-4147-A177-3AD203B41FA5}">
                      <a16:colId xmlns:a16="http://schemas.microsoft.com/office/drawing/2014/main" val="12025"/>
                    </a:ext>
                  </a:extLst>
                </a:gridCol>
                <a:gridCol w="1022853">
                  <a:extLst>
                    <a:ext uri="{9D8B030D-6E8A-4147-A177-3AD203B41FA5}">
                      <a16:colId xmlns:a16="http://schemas.microsoft.com/office/drawing/2014/main" val="4006094135"/>
                    </a:ext>
                  </a:extLst>
                </a:gridCol>
                <a:gridCol w="1128147">
                  <a:extLst>
                    <a:ext uri="{9D8B030D-6E8A-4147-A177-3AD203B41FA5}">
                      <a16:colId xmlns:a16="http://schemas.microsoft.com/office/drawing/2014/main" val="1433054861"/>
                    </a:ext>
                  </a:extLst>
                </a:gridCol>
                <a:gridCol w="4151581">
                  <a:extLst>
                    <a:ext uri="{9D8B030D-6E8A-4147-A177-3AD203B41FA5}">
                      <a16:colId xmlns:a16="http://schemas.microsoft.com/office/drawing/2014/main" val="440334234"/>
                    </a:ext>
                  </a:extLst>
                </a:gridCol>
              </a:tblGrid>
              <a:tr h="405000">
                <a:tc>
                  <a:txBody>
                    <a:bodyPr/>
                    <a:lstStyle/>
                    <a:p>
                      <a:pPr algn="ctr" fontAlgn="ctr">
                        <a:buNone/>
                      </a:pPr>
                      <a:r>
                        <a:rPr lang="es-CL"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Cliente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Región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Pot. ST anual MM$</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l" fontAlgn="ctr">
                        <a:buNone/>
                      </a:pPr>
                      <a:r>
                        <a:rPr lang="es-CL" sz="1000" b="1" i="0" u="none" strike="noStrike">
                          <a:solidFill>
                            <a:srgbClr val="FFFFFF"/>
                          </a:solidFill>
                          <a:effectLst/>
                          <a:latin typeface="Calibri" panose="020F0502020204030204" pitchFamily="34" charset="0"/>
                        </a:rPr>
                        <a:t>Estado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E7D4F"/>
                    </a:solidFill>
                  </a:tcPr>
                </a:tc>
                <a:extLst>
                  <a:ext uri="{0D108BD9-81ED-4DB2-BD59-A6C34878D82A}">
                    <a16:rowId xmlns:a16="http://schemas.microsoft.com/office/drawing/2014/main" val="245514815"/>
                  </a:ext>
                </a:extLst>
              </a:tr>
              <a:tr h="202500">
                <a:tc>
                  <a:txBody>
                    <a:bodyPr/>
                    <a:lstStyle/>
                    <a:p>
                      <a:pPr algn="r" fontAlgn="t">
                        <a:buNone/>
                      </a:pPr>
                      <a:r>
                        <a:rPr lang="es-CL" sz="1000" b="0" i="0" u="none" strike="noStrike" dirty="0">
                          <a:solidFill>
                            <a:schemeClr val="tx2"/>
                          </a:solidFill>
                          <a:effectLst/>
                          <a:latin typeface="Calibri" panose="020F0502020204030204" pitchFamily="34" charset="0"/>
                        </a:rPr>
                        <a:t>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Guillermo Grant Benavente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25.485.358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14.213.737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24.925.315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119092765"/>
                  </a:ext>
                </a:extLst>
              </a:tr>
              <a:tr h="202500">
                <a:tc>
                  <a:txBody>
                    <a:bodyPr/>
                    <a:lstStyle/>
                    <a:p>
                      <a:pPr algn="r" fontAlgn="t">
                        <a:buNone/>
                      </a:pPr>
                      <a:r>
                        <a:rPr lang="es-CL" sz="1000" b="0" i="0" u="none" strike="noStrike">
                          <a:solidFill>
                            <a:schemeClr val="tx2"/>
                          </a:solidFill>
                          <a:effectLst/>
                          <a:latin typeface="Calibri" panose="020F0502020204030204" pitchFamily="34" charset="0"/>
                        </a:rPr>
                        <a:t>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Hospital Pitrufquén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Araucanía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24.282.977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402.732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10.216.195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FINALIZA EN NOV</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3359162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Penco Lirquén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Bío </a:t>
                      </a:r>
                      <a:r>
                        <a:rPr lang="es-CL" sz="1000" b="0" i="0" u="none" strike="noStrike" dirty="0" err="1">
                          <a:solidFill>
                            <a:schemeClr val="tx2"/>
                          </a:solidFill>
                          <a:effectLst/>
                          <a:latin typeface="Calibri" panose="020F0502020204030204" pitchFamily="34" charset="0"/>
                        </a:rPr>
                        <a:t>Bío</a:t>
                      </a:r>
                      <a:endParaRPr lang="es-CL" sz="1000" b="0" i="0" u="none" strike="noStrike" dirty="0">
                        <a:solidFill>
                          <a:schemeClr val="tx2"/>
                        </a:solidFill>
                        <a:effectLst/>
                        <a:latin typeface="Calibri" panose="020F0502020204030204" pitchFamily="34" charset="0"/>
                      </a:endParaRP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dirty="0">
                          <a:solidFill>
                            <a:schemeClr val="tx2"/>
                          </a:solidFill>
                          <a:effectLst/>
                          <a:latin typeface="Calibri" panose="020F0502020204030204" pitchFamily="34" charset="0"/>
                        </a:rPr>
                        <a:t>         10.253.258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10.809.369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            16.345.912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2028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863946442"/>
                  </a:ext>
                </a:extLst>
              </a:tr>
              <a:tr h="202500">
                <a:tc>
                  <a:txBody>
                    <a:bodyPr/>
                    <a:lstStyle/>
                    <a:p>
                      <a:pPr algn="r" fontAlgn="t">
                        <a:buNone/>
                      </a:pPr>
                      <a:r>
                        <a:rPr lang="es-CL" sz="1000" b="0" i="0" u="none" strike="noStrike">
                          <a:solidFill>
                            <a:schemeClr val="tx2"/>
                          </a:solidFill>
                          <a:effectLst/>
                          <a:latin typeface="Calibri" panose="020F0502020204030204" pitchFamily="34" charset="0"/>
                        </a:rPr>
                        <a:t>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Víctor Ríos Ruiz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8.551.286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6.711.156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37.869.087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EQUIPOS LAVADORAS EN GARANTIA, SILLONES CONVERSACION PARA CONTRATO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004416790"/>
                  </a:ext>
                </a:extLst>
              </a:tr>
              <a:tr h="202500">
                <a:tc>
                  <a:txBody>
                    <a:bodyPr/>
                    <a:lstStyle/>
                    <a:p>
                      <a:pPr algn="r" fontAlgn="t">
                        <a:buNone/>
                      </a:pPr>
                      <a:r>
                        <a:rPr lang="es-CL" sz="1000" b="0" i="0" u="none" strike="noStrike">
                          <a:solidFill>
                            <a:schemeClr val="tx2"/>
                          </a:solidFill>
                          <a:effectLst/>
                          <a:latin typeface="Calibri" panose="020F0502020204030204" pitchFamily="34" charset="0"/>
                        </a:rPr>
                        <a:t>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5.959.997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8.579.403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 SERVICIOS SPOT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12722837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Clínica Sanatorio Alemán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1.338.767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4.473.351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26.642.795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067611126"/>
                  </a:ext>
                </a:extLst>
              </a:tr>
              <a:tr h="202500">
                <a:tc>
                  <a:txBody>
                    <a:bodyPr/>
                    <a:lstStyle/>
                    <a:p>
                      <a:pPr algn="r" fontAlgn="t">
                        <a:buNone/>
                      </a:pPr>
                      <a:r>
                        <a:rPr lang="es-CL" sz="1000" b="0" i="0" u="none" strike="noStrike">
                          <a:solidFill>
                            <a:schemeClr val="tx2"/>
                          </a:solidFill>
                          <a:effectLst/>
                          <a:latin typeface="Calibri" panose="020F0502020204030204" pitchFamily="34" charset="0"/>
                        </a:rPr>
                        <a:t>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Hospital de Talcahuano (Las Higueras)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Bío Bío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a:solidFill>
                            <a:schemeClr val="tx2"/>
                          </a:solidFill>
                          <a:effectLst/>
                          <a:latin typeface="Calibri" panose="020F0502020204030204" pitchFamily="34" charset="0"/>
                        </a:rPr>
                        <a:t>              4.699.149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S/I</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3EC"/>
                    </a:solidFill>
                  </a:tcPr>
                </a:tc>
                <a:extLst>
                  <a:ext uri="{0D108BD9-81ED-4DB2-BD59-A6C34878D82A}">
                    <a16:rowId xmlns:a16="http://schemas.microsoft.com/office/drawing/2014/main" val="2094106028"/>
                  </a:ext>
                </a:extLst>
              </a:tr>
              <a:tr h="202500">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75.871.643</a:t>
                      </a:r>
                    </a:p>
                  </a:txBody>
                  <a:tcPr marL="9525" marR="9525" marT="9525" marB="0" anchor="ctr">
                    <a:lnL>
                      <a:noFill/>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36.610.345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a:solidFill>
                            <a:schemeClr val="tx2"/>
                          </a:solidFill>
                          <a:effectLst/>
                          <a:latin typeface="Calibri" panose="020F0502020204030204" pitchFamily="34" charset="0"/>
                        </a:rPr>
                        <a:t>129.277.856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endParaRPr lang="es-CL" sz="1000" b="1" i="0" u="none" strike="noStrike" dirty="0">
                        <a:solidFill>
                          <a:schemeClr val="tx2"/>
                        </a:solidFill>
                        <a:effectLst/>
                        <a:latin typeface="Calibri" panose="020F0502020204030204" pitchFamily="34" charset="0"/>
                      </a:endParaRPr>
                    </a:p>
                  </a:txBody>
                  <a:tcPr marL="9525" marR="9525" marT="9525" marB="0" anchor="b">
                    <a:lnL w="6350" cap="flat" cmpd="sng" algn="ctr">
                      <a:solidFill>
                        <a:srgbClr val="D4D5E8"/>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08790933"/>
                  </a:ext>
                </a:extLst>
              </a:tr>
            </a:tbl>
          </a:graphicData>
        </a:graphic>
      </p:graphicFrame>
    </p:spTree>
    <p:extLst>
      <p:ext uri="{BB962C8B-B14F-4D97-AF65-F5344CB8AC3E}">
        <p14:creationId xmlns:p14="http://schemas.microsoft.com/office/powerpoint/2010/main" val="2102219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0FE01447-5AD3-6657-E68A-381B20D03774}"/>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D8584F3D-02B6-4306-5834-43CE842F5F1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C6C8D671-BEBB-E275-FD1E-752AAE8FCC1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9C21C81-C4A1-480D-D46C-13C0D95FA6DE}"/>
              </a:ext>
            </a:extLst>
          </p:cNvPr>
          <p:cNvSpPr/>
          <p:nvPr/>
        </p:nvSpPr>
        <p:spPr>
          <a:xfrm>
            <a:off x="393700" y="5113834"/>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621595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sp>
        <p:nvSpPr>
          <p:cNvPr id="455" name="Google Shape;455;p35"/>
          <p:cNvSpPr txBox="1"/>
          <p:nvPr/>
        </p:nvSpPr>
        <p:spPr>
          <a:xfrm>
            <a:off x="320832" y="78336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b="1">
                <a:solidFill>
                  <a:srgbClr val="33448D"/>
                </a:solidFill>
                <a:latin typeface="Roboto"/>
                <a:ea typeface="Roboto"/>
                <a:cs typeface="Roboto"/>
                <a:sym typeface="Roboto"/>
              </a:rPr>
              <a:t>Status y Potencial Base Instalada Actual</a:t>
            </a:r>
            <a:endParaRPr/>
          </a:p>
        </p:txBody>
      </p:sp>
      <p:sp>
        <p:nvSpPr>
          <p:cNvPr id="457" name="Google Shape;457;p35"/>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Actualmente se tiene la región Metropolitana como Ciudad Hub (Técnicos, Coordinación, Jefatura y Distribución) y la región de Bío Bío como Satélite (Técnicos + Camioneta) de las regiones de Ñuble y la región de Los Lagos como Satélite (Técnicos + Camioneta) de la región de La Araucanía</a:t>
            </a:r>
            <a:endParaRPr/>
          </a:p>
          <a:p>
            <a:pPr marL="171450" marR="0" lvl="0" indent="-107950" algn="l" rtl="0">
              <a:spcBef>
                <a:spcPts val="0"/>
              </a:spcBef>
              <a:spcAft>
                <a:spcPts val="0"/>
              </a:spcAft>
              <a:buClr>
                <a:schemeClr val="dk1"/>
              </a:buClr>
              <a:buSzPts val="1000"/>
              <a:buFont typeface="Arial"/>
              <a:buNone/>
            </a:pPr>
            <a:endParaRPr sz="10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Considerando que para que una ciudad sea considerada Satélite y llegue a break even, debe ser capaz de capturar al menos MM$100 anuales, considerando Gastos de Bodegaje, Camioneta, un técnico alocado en al región y un margen de un 50%</a:t>
            </a:r>
            <a:endParaRPr/>
          </a:p>
          <a:p>
            <a:pPr marL="171450" marR="0" lvl="0" indent="-107950" algn="l" rtl="0">
              <a:spcBef>
                <a:spcPts val="0"/>
              </a:spcBef>
              <a:spcAft>
                <a:spcPts val="0"/>
              </a:spcAft>
              <a:buClr>
                <a:schemeClr val="dk1"/>
              </a:buClr>
              <a:buSzPts val="1000"/>
              <a:buFont typeface="Arial"/>
              <a:buNone/>
            </a:pPr>
            <a:endParaRPr sz="10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esto, y considerando los Hub actuales, hay una región “disponible para set Hub actualmente que es la región de Valparaiso, el resto no presentan el potencial suficiente para llegar a Break-even</a:t>
            </a:r>
            <a:endParaRPr sz="1000">
              <a:solidFill>
                <a:schemeClr val="lt1"/>
              </a:solidFill>
              <a:latin typeface="Arial"/>
              <a:ea typeface="Arial"/>
              <a:cs typeface="Arial"/>
              <a:sym typeface="Arial"/>
            </a:endParaRPr>
          </a:p>
        </p:txBody>
      </p:sp>
      <p:graphicFrame>
        <p:nvGraphicFramePr>
          <p:cNvPr id="3" name="Google Shape;456;p35">
            <a:extLst>
              <a:ext uri="{FF2B5EF4-FFF2-40B4-BE49-F238E27FC236}">
                <a16:creationId xmlns:a16="http://schemas.microsoft.com/office/drawing/2014/main" id="{677FF7F2-B4A4-4158-4EA1-0528479EF28E}"/>
              </a:ext>
            </a:extLst>
          </p:cNvPr>
          <p:cNvGraphicFramePr/>
          <p:nvPr/>
        </p:nvGraphicFramePr>
        <p:xfrm>
          <a:off x="320832" y="1104900"/>
          <a:ext cx="11502750" cy="4146955"/>
        </p:xfrm>
        <a:graphic>
          <a:graphicData uri="http://schemas.openxmlformats.org/drawingml/2006/table">
            <a:tbl>
              <a:tblPr>
                <a:noFill/>
                <a:tableStyleId>{13D43741-7D58-4360-86AC-F6E32FA5FF39}</a:tableStyleId>
              </a:tblPr>
              <a:tblGrid>
                <a:gridCol w="1150275">
                  <a:extLst>
                    <a:ext uri="{9D8B030D-6E8A-4147-A177-3AD203B41FA5}">
                      <a16:colId xmlns:a16="http://schemas.microsoft.com/office/drawing/2014/main" val="20000"/>
                    </a:ext>
                  </a:extLst>
                </a:gridCol>
                <a:gridCol w="1150275">
                  <a:extLst>
                    <a:ext uri="{9D8B030D-6E8A-4147-A177-3AD203B41FA5}">
                      <a16:colId xmlns:a16="http://schemas.microsoft.com/office/drawing/2014/main" val="20001"/>
                    </a:ext>
                  </a:extLst>
                </a:gridCol>
                <a:gridCol w="1150275">
                  <a:extLst>
                    <a:ext uri="{9D8B030D-6E8A-4147-A177-3AD203B41FA5}">
                      <a16:colId xmlns:a16="http://schemas.microsoft.com/office/drawing/2014/main" val="20002"/>
                    </a:ext>
                  </a:extLst>
                </a:gridCol>
                <a:gridCol w="1150275">
                  <a:extLst>
                    <a:ext uri="{9D8B030D-6E8A-4147-A177-3AD203B41FA5}">
                      <a16:colId xmlns:a16="http://schemas.microsoft.com/office/drawing/2014/main" val="20003"/>
                    </a:ext>
                  </a:extLst>
                </a:gridCol>
                <a:gridCol w="1150275">
                  <a:extLst>
                    <a:ext uri="{9D8B030D-6E8A-4147-A177-3AD203B41FA5}">
                      <a16:colId xmlns:a16="http://schemas.microsoft.com/office/drawing/2014/main" val="20004"/>
                    </a:ext>
                  </a:extLst>
                </a:gridCol>
                <a:gridCol w="1150275">
                  <a:extLst>
                    <a:ext uri="{9D8B030D-6E8A-4147-A177-3AD203B41FA5}">
                      <a16:colId xmlns:a16="http://schemas.microsoft.com/office/drawing/2014/main" val="20005"/>
                    </a:ext>
                  </a:extLst>
                </a:gridCol>
                <a:gridCol w="1150275">
                  <a:extLst>
                    <a:ext uri="{9D8B030D-6E8A-4147-A177-3AD203B41FA5}">
                      <a16:colId xmlns:a16="http://schemas.microsoft.com/office/drawing/2014/main" val="20006"/>
                    </a:ext>
                  </a:extLst>
                </a:gridCol>
                <a:gridCol w="1150275">
                  <a:extLst>
                    <a:ext uri="{9D8B030D-6E8A-4147-A177-3AD203B41FA5}">
                      <a16:colId xmlns:a16="http://schemas.microsoft.com/office/drawing/2014/main" val="20007"/>
                    </a:ext>
                  </a:extLst>
                </a:gridCol>
                <a:gridCol w="1150275">
                  <a:extLst>
                    <a:ext uri="{9D8B030D-6E8A-4147-A177-3AD203B41FA5}">
                      <a16:colId xmlns:a16="http://schemas.microsoft.com/office/drawing/2014/main" val="20008"/>
                    </a:ext>
                  </a:extLst>
                </a:gridCol>
                <a:gridCol w="1150275">
                  <a:extLst>
                    <a:ext uri="{9D8B030D-6E8A-4147-A177-3AD203B41FA5}">
                      <a16:colId xmlns:a16="http://schemas.microsoft.com/office/drawing/2014/main" val="20009"/>
                    </a:ext>
                  </a:extLst>
                </a:gridCol>
              </a:tblGrid>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REGIÓN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EQUIPOS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DENTAL</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ESTERILIZAC</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ENDOSCOPÍA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INCARDIA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OTRO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CLIENTES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POTENCIAL ST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Metropolitana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1.159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39.5%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543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489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125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509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MM$883,0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Bío Bío</a:t>
                      </a:r>
                      <a:endParaRPr sz="900" b="1" i="0" u="none" strike="noStrike" cap="none">
                        <a:solidFill>
                          <a:schemeClr val="dk1"/>
                        </a:solidFill>
                        <a:latin typeface="Roboto"/>
                        <a:ea typeface="Roboto"/>
                        <a:cs typeface="Roboto"/>
                        <a:sym typeface="Roboto"/>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299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10.2%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125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149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129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MM$312,7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Valparaíso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267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9.1%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130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105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141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MM$185,3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Los Lagos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157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5.4%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30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68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59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66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MM$110,2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Araucanía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133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4.5%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35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97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49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MM$157,2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Maule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4.0%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71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43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97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MM$127,0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6"/>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Coquimbo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90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59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MM$81,6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O'Higgins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77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57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53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MM$71,2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Antofagasta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52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MM$59,0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Ñuble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51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30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36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MM$52,7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10"/>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Tarapacá</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49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MM$39,8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Magallanes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MM$40,0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Aysén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0.7%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17</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MM$12,1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Arica y Parinacota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0.6%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MM$25,9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Los Ríos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0.5%</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MM$28,4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Atacama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0.4%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8</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MM$18,2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TOTAL · 17 regiones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2.933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100%</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1.289</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1.224</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416</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1502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MM$2.204,3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3" name="Imagen 2">
            <a:extLst>
              <a:ext uri="{FF2B5EF4-FFF2-40B4-BE49-F238E27FC236}">
                <a16:creationId xmlns:a16="http://schemas.microsoft.com/office/drawing/2014/main" id="{D6B6D040-8398-B44A-0BBB-F06F69A45691}"/>
              </a:ext>
            </a:extLst>
          </p:cNvPr>
          <p:cNvPicPr>
            <a:picLocks noChangeAspect="1"/>
          </p:cNvPicPr>
          <p:nvPr/>
        </p:nvPicPr>
        <p:blipFill>
          <a:blip r:embed="rId3"/>
          <a:stretch>
            <a:fillRect/>
          </a:stretch>
        </p:blipFill>
        <p:spPr>
          <a:xfrm>
            <a:off x="175404" y="841620"/>
            <a:ext cx="12192000" cy="3674479"/>
          </a:xfrm>
          <a:prstGeom prst="rect">
            <a:avLst/>
          </a:prstGeom>
        </p:spPr>
      </p:pic>
      <p:sp>
        <p:nvSpPr>
          <p:cNvPr id="469" name="Google Shape;469;p3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por Región – Considerando Antigüedad de Equipos </a:t>
            </a:r>
            <a:endParaRPr dirty="0"/>
          </a:p>
        </p:txBody>
      </p:sp>
      <p:sp>
        <p:nvSpPr>
          <p:cNvPr id="470" name="Google Shape;470;p36"/>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Sí de lo anterior, se cruza con la antigüedad de los equipos (en donde probablemente haya más potencial de reparación y/o renovación) se obtienen los Top 10 Clientes Foco con mayor base instalada y potencial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Clientes Foco</a:t>
            </a:r>
            <a:endParaRPr/>
          </a:p>
        </p:txBody>
      </p:sp>
      <p:sp>
        <p:nvSpPr>
          <p:cNvPr id="483" name="Google Shape;483;p37"/>
          <p:cNvSpPr/>
          <p:nvPr/>
        </p:nvSpPr>
        <p:spPr>
          <a:xfrm>
            <a:off x="320832" y="4822166"/>
            <a:ext cx="11502870" cy="1934747"/>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Se toma como clientes foco aquellos que según la matriz presenta gran potencial de (reparación) debido a Rango de Vida útil crítico &gt;6 y &lt;9 y gran cantidad de base instalada en equipos, con esto se cubre un 50% del Potencial actual con la base instalada a lo largo de todo Chile</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Los Clientes de este plan son los que tienen base instalada de GEMCO y no tienen ningún contrato activo</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Con foco inmediato en la región Metropolitana, Bío Bío, Araucanía, Los Lagos y Valparaíso</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Con respecto a la zona norte esta actualmente no presenta potencial de ejecución actual, por lo cual no permite la existencia de región Hub con el contexto actual</a:t>
            </a:r>
            <a:endParaRPr/>
          </a:p>
          <a:p>
            <a:pPr marL="171450" marR="0" lvl="0" indent="-9525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No obstante, desde el mes de oct-27 el HS entra en marcha permitiendo tener un Hub ahí.</a:t>
            </a:r>
            <a:endParaRPr/>
          </a:p>
        </p:txBody>
      </p:sp>
      <p:graphicFrame>
        <p:nvGraphicFramePr>
          <p:cNvPr id="484" name="Google Shape;484;p37"/>
          <p:cNvGraphicFramePr/>
          <p:nvPr/>
        </p:nvGraphicFramePr>
        <p:xfrm>
          <a:off x="331104" y="855318"/>
          <a:ext cx="11492625" cy="3794275"/>
        </p:xfrm>
        <a:graphic>
          <a:graphicData uri="http://schemas.openxmlformats.org/drawingml/2006/table">
            <a:tbl>
              <a:tblPr>
                <a:noFill/>
                <a:tableStyleId>{13D43741-7D58-4360-86AC-F6E32FA5FF39}</a:tableStyleId>
              </a:tblPr>
              <a:tblGrid>
                <a:gridCol w="486800">
                  <a:extLst>
                    <a:ext uri="{9D8B030D-6E8A-4147-A177-3AD203B41FA5}">
                      <a16:colId xmlns:a16="http://schemas.microsoft.com/office/drawing/2014/main" val="20000"/>
                    </a:ext>
                  </a:extLst>
                </a:gridCol>
                <a:gridCol w="1065450">
                  <a:extLst>
                    <a:ext uri="{9D8B030D-6E8A-4147-A177-3AD203B41FA5}">
                      <a16:colId xmlns:a16="http://schemas.microsoft.com/office/drawing/2014/main" val="20001"/>
                    </a:ext>
                  </a:extLst>
                </a:gridCol>
                <a:gridCol w="532725">
                  <a:extLst>
                    <a:ext uri="{9D8B030D-6E8A-4147-A177-3AD203B41FA5}">
                      <a16:colId xmlns:a16="http://schemas.microsoft.com/office/drawing/2014/main" val="20002"/>
                    </a:ext>
                  </a:extLst>
                </a:gridCol>
                <a:gridCol w="532725">
                  <a:extLst>
                    <a:ext uri="{9D8B030D-6E8A-4147-A177-3AD203B41FA5}">
                      <a16:colId xmlns:a16="http://schemas.microsoft.com/office/drawing/2014/main" val="20003"/>
                    </a:ext>
                  </a:extLst>
                </a:gridCol>
                <a:gridCol w="578650">
                  <a:extLst>
                    <a:ext uri="{9D8B030D-6E8A-4147-A177-3AD203B41FA5}">
                      <a16:colId xmlns:a16="http://schemas.microsoft.com/office/drawing/2014/main" val="20004"/>
                    </a:ext>
                  </a:extLst>
                </a:gridCol>
                <a:gridCol w="578650">
                  <a:extLst>
                    <a:ext uri="{9D8B030D-6E8A-4147-A177-3AD203B41FA5}">
                      <a16:colId xmlns:a16="http://schemas.microsoft.com/office/drawing/2014/main" val="20005"/>
                    </a:ext>
                  </a:extLst>
                </a:gridCol>
                <a:gridCol w="679675">
                  <a:extLst>
                    <a:ext uri="{9D8B030D-6E8A-4147-A177-3AD203B41FA5}">
                      <a16:colId xmlns:a16="http://schemas.microsoft.com/office/drawing/2014/main" val="20006"/>
                    </a:ext>
                  </a:extLst>
                </a:gridCol>
                <a:gridCol w="679675">
                  <a:extLst>
                    <a:ext uri="{9D8B030D-6E8A-4147-A177-3AD203B41FA5}">
                      <a16:colId xmlns:a16="http://schemas.microsoft.com/office/drawing/2014/main" val="20007"/>
                    </a:ext>
                  </a:extLst>
                </a:gridCol>
                <a:gridCol w="626875">
                  <a:extLst>
                    <a:ext uri="{9D8B030D-6E8A-4147-A177-3AD203B41FA5}">
                      <a16:colId xmlns:a16="http://schemas.microsoft.com/office/drawing/2014/main" val="20008"/>
                    </a:ext>
                  </a:extLst>
                </a:gridCol>
                <a:gridCol w="1065450">
                  <a:extLst>
                    <a:ext uri="{9D8B030D-6E8A-4147-A177-3AD203B41FA5}">
                      <a16:colId xmlns:a16="http://schemas.microsoft.com/office/drawing/2014/main" val="20009"/>
                    </a:ext>
                  </a:extLst>
                </a:gridCol>
                <a:gridCol w="578650">
                  <a:extLst>
                    <a:ext uri="{9D8B030D-6E8A-4147-A177-3AD203B41FA5}">
                      <a16:colId xmlns:a16="http://schemas.microsoft.com/office/drawing/2014/main" val="20010"/>
                    </a:ext>
                  </a:extLst>
                </a:gridCol>
                <a:gridCol w="3122875">
                  <a:extLst>
                    <a:ext uri="{9D8B030D-6E8A-4147-A177-3AD203B41FA5}">
                      <a16:colId xmlns:a16="http://schemas.microsoft.com/office/drawing/2014/main" val="20011"/>
                    </a:ext>
                  </a:extLst>
                </a:gridCol>
                <a:gridCol w="964425">
                  <a:extLst>
                    <a:ext uri="{9D8B030D-6E8A-4147-A177-3AD203B41FA5}">
                      <a16:colId xmlns:a16="http://schemas.microsoft.com/office/drawing/2014/main" val="20012"/>
                    </a:ext>
                  </a:extLst>
                </a:gridCol>
              </a:tblGrid>
              <a:tr h="182200">
                <a:tc gridSpan="5">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PLAN DE VISITAS TECSERVICE — RESUMEN CONSOLIDADO POR REGIÓN</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98425">
                <a:tc>
                  <a:txBody>
                    <a:bodyPr/>
                    <a:lstStyle/>
                    <a:p>
                      <a:pPr marL="0" marR="0" lvl="0" indent="0" algn="l" rtl="0">
                        <a:spcBef>
                          <a:spcPts val="0"/>
                        </a:spcBef>
                        <a:spcAft>
                          <a:spcPts val="0"/>
                        </a:spcAft>
                        <a:buClr>
                          <a:srgbClr val="BDD7EE"/>
                        </a:buClr>
                        <a:buSzPts val="600"/>
                        <a:buFont typeface="Roboto"/>
                        <a:buNone/>
                      </a:pPr>
                      <a:r>
                        <a:rPr lang="es-CL" sz="600" b="0" i="1" u="none" strike="noStrike" cap="none">
                          <a:solidFill>
                            <a:srgbClr val="BDD7EE"/>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000000"/>
                        </a:buClr>
                        <a:buSzPts val="600"/>
                        <a:buFont typeface="Roboto"/>
                        <a:buNone/>
                      </a:pPr>
                      <a:r>
                        <a:rPr lang="es-CL" sz="600" b="0" i="0" u="none" strike="noStrike" cap="none">
                          <a:solidFill>
                            <a:srgbClr val="000000"/>
                          </a:solidFill>
                          <a:latin typeface="Roboto"/>
                          <a:ea typeface="Roboto"/>
                          <a:cs typeface="Roboto"/>
                          <a:sym typeface="Roboto"/>
                        </a:rPr>
                        <a:t> </a:t>
                      </a:r>
                      <a:endParaRPr/>
                    </a:p>
                  </a:txBody>
                  <a:tcPr marL="6000" marR="6000" marT="60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265975">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Prior.</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Región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N° Clientes</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Foco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Equipos</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Foco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Pot. Foco</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MM$</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Margen (MM$)</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Pot. Total</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Región MM$</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Pot. Total Atacado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Ticket Promedio por Cliente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Período</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Campaña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Estado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Acciones Clave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Obs.</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195125">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Metropolitana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255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306,0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168,3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EA8CB"/>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883,0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34,7%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3,5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0C1E7"/>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Sep–Oct 2026 (inmediato) + continuo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Reunión / Visita gerencial · Levantamiento técnico · Auditoría técnica · Contrato preventivo · Oferta comercial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Prioridad máxima. Inicio inmediato.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extLst>
                  <a:ext uri="{0D108BD9-81ED-4DB2-BD59-A6C34878D82A}">
                    <a16:rowId xmlns:a16="http://schemas.microsoft.com/office/drawing/2014/main" val="10003"/>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Bío Bío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145,4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9EB4D3"/>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72,7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0DBEA"/>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312,7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46,5%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9D1E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Contrato preventivo · Convenio institucional · Oferta comercial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Araucanía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80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123,7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ADC0DA"/>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61,9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D"/>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157,2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78,7%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FF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Contrato preventivo · Convenio institucional · Oferta comercial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Los Lagos</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77,5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DD8E8"/>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38,8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8EDF5"/>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110,2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70,3%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9E6F6"/>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Reunión / Visita gerencial · Contrato preventivo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Valparaíso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74,4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FDAE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40,9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6ECF4"/>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185,3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40,2%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3,9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Oct–Nov 2026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Inicio oct con foco Zona Naval.</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Maule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D8E1E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33,6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BF0F6"/>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127,0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48,0%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4D8F0"/>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Contrato preventivo · Convenio institucional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O'Higgins</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2E9F2"/>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25,9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71,2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66,0%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DF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Nov–Dic 2026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Convenio institucional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nov–dic, post RM.</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Antofagasta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46,0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3E9F2"/>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25,3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59,0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78,0%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Ene 2027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Coordinar con técnico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Coquimbo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44,0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AF3"/>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24,2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5F9"/>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81,6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53,9%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3,0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B5CEE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Ene 2027 (Téc.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 Base del técnico norte. Foco H. La Serena.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Magallanes</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39,7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7EDF4"/>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21,8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6FA"/>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40,0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99,3%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Oct–Nov 2026 (Téc. Sur)</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Convenio institucional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Apoya técnico sur.</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Tarapacá</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37,2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9EEF5"/>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18,6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8FB"/>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39,8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93,5%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Ene 2027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Contrato preventivo · Convenio institucional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Ronda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Ñuble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35,3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EFF6"/>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17,7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6F9FB"/>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52,7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67,0%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0EBF7"/>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Contrato preventivo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Los Ríos</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26,1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1F4F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13,1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AFBFD"/>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28,4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91,9%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AF1FA"/>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Sep 2026 – 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 ejecución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Auditoría técnica · Convenio institucional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en curso.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5"/>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Arica y Parinacota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22,6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3F6FA"/>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11,3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BFCFD"/>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25,9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87,3%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1,7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2F6FC"/>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Feb 2027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Auditoría técnica · Convenio institucional · Programa preventivo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Ronda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Atacama</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18,2</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53,8%</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9DBF2"/>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Feb 2027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Levantamiento técnico · Auditoría técnica · 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Ronda zona norte.</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7"/>
                  </a:ext>
                </a:extLst>
              </a:tr>
              <a:tr h="195125">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Aysén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5</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FDFE"/>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12,1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600"/>
                        <a:buFont typeface="Roboto"/>
                        <a:buNone/>
                      </a:pPr>
                      <a:r>
                        <a:rPr lang="es-CL" sz="600" b="1" i="0" u="none" strike="noStrike" cap="none">
                          <a:solidFill>
                            <a:srgbClr val="000000"/>
                          </a:solidFill>
                          <a:latin typeface="Roboto"/>
                          <a:ea typeface="Roboto"/>
                          <a:cs typeface="Roboto"/>
                          <a:sym typeface="Roboto"/>
                        </a:rPr>
                        <a:t>76,9%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rgbClr val="375623"/>
                        </a:buClr>
                        <a:buSzPts val="600"/>
                        <a:buFont typeface="Roboto"/>
                        <a:buNone/>
                      </a:pPr>
                      <a:r>
                        <a:rPr lang="es-CL" sz="600" b="1" i="0" u="none" strike="noStrike" cap="none">
                          <a:solidFill>
                            <a:srgbClr val="375623"/>
                          </a:solidFill>
                          <a:latin typeface="Roboto"/>
                          <a:ea typeface="Roboto"/>
                          <a:cs typeface="Roboto"/>
                          <a:sym typeface="Roboto"/>
                        </a:rPr>
                        <a:t>2,0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4EDF8"/>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Oct–Nov 2026 (Téc. Sur)</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7F6000"/>
                        </a:buClr>
                        <a:buSzPts val="600"/>
                        <a:buFont typeface="Roboto"/>
                        <a:buNone/>
                      </a:pPr>
                      <a:r>
                        <a:rPr lang="es-CL" sz="600" b="0" i="0" u="none" strike="noStrike" cap="none">
                          <a:solidFill>
                            <a:srgbClr val="7F6000"/>
                          </a:solidFill>
                          <a:latin typeface="Roboto"/>
                          <a:ea typeface="Roboto"/>
                          <a:cs typeface="Roboto"/>
                          <a:sym typeface="Roboto"/>
                        </a:rPr>
                        <a:t>Planificado</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E699"/>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Programa preventivo · Evaluación de renovación</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Apoya técnico sur.</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25675">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TOTAL</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821</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1.105,0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583,4</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2.204,3</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50%</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179,9</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tc>
                  <a:txBody>
                    <a:bodyPr/>
                    <a:lstStyle/>
                    <a:p>
                      <a:pPr marL="0" marR="0" lvl="0" indent="0" algn="l"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 </a:t>
                      </a:r>
                      <a:endParaRPr/>
                    </a:p>
                  </a:txBody>
                  <a:tcPr marL="6000" marR="6000" marT="600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864"/>
                    </a:solidFill>
                  </a:tcPr>
                </a:tc>
                <a:extLst>
                  <a:ext uri="{0D108BD9-81ED-4DB2-BD59-A6C34878D82A}">
                    <a16:rowId xmlns:a16="http://schemas.microsoft.com/office/drawing/2014/main" val="10019"/>
                  </a:ext>
                </a:extLst>
              </a:tr>
            </a:tbl>
          </a:graphicData>
        </a:graphic>
      </p:graphicFrame>
      <p:sp>
        <p:nvSpPr>
          <p:cNvPr id="2" name="Rectángulo 1">
            <a:extLst>
              <a:ext uri="{FF2B5EF4-FFF2-40B4-BE49-F238E27FC236}">
                <a16:creationId xmlns:a16="http://schemas.microsoft.com/office/drawing/2014/main" id="{D7B5B03A-5116-1E51-C19B-F06CDA3C9384}"/>
              </a:ext>
            </a:extLst>
          </p:cNvPr>
          <p:cNvSpPr/>
          <p:nvPr/>
        </p:nvSpPr>
        <p:spPr>
          <a:xfrm>
            <a:off x="201000" y="1359000"/>
            <a:ext cx="11659896"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8D984386-A783-7A78-7F83-E382848845D8}"/>
              </a:ext>
            </a:extLst>
          </p:cNvPr>
          <p:cNvSpPr/>
          <p:nvPr/>
        </p:nvSpPr>
        <p:spPr>
          <a:xfrm>
            <a:off x="196104" y="2169000"/>
            <a:ext cx="11659896"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9DB65916-497E-3093-C498-4DF9CAA7997B}"/>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881D41AA-FDCE-331E-A24B-7B5C8DFE743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RM y Valparaíso</a:t>
            </a:r>
            <a:endParaRPr dirty="0"/>
          </a:p>
        </p:txBody>
      </p:sp>
      <p:sp>
        <p:nvSpPr>
          <p:cNvPr id="4" name="Rectángulo 3">
            <a:extLst>
              <a:ext uri="{FF2B5EF4-FFF2-40B4-BE49-F238E27FC236}">
                <a16:creationId xmlns:a16="http://schemas.microsoft.com/office/drawing/2014/main" id="{310655F4-FE23-7513-BD96-2AA1B8A514C7}"/>
              </a:ext>
            </a:extLst>
          </p:cNvPr>
          <p:cNvSpPr/>
          <p:nvPr/>
        </p:nvSpPr>
        <p:spPr>
          <a:xfrm>
            <a:off x="471000" y="1089000"/>
            <a:ext cx="48150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Potencial Región Metropolitana</a:t>
            </a:r>
            <a:endParaRPr lang="es-CL" b="1" dirty="0">
              <a:solidFill>
                <a:schemeClr val="tx1"/>
              </a:solidFill>
            </a:endParaRPr>
          </a:p>
        </p:txBody>
      </p:sp>
      <p:sp>
        <p:nvSpPr>
          <p:cNvPr id="6" name="Rectángulo 5">
            <a:extLst>
              <a:ext uri="{FF2B5EF4-FFF2-40B4-BE49-F238E27FC236}">
                <a16:creationId xmlns:a16="http://schemas.microsoft.com/office/drawing/2014/main" id="{83DE50E8-1AEE-8EBD-3546-1A21ADBA6F53}"/>
              </a:ext>
            </a:extLst>
          </p:cNvPr>
          <p:cNvSpPr/>
          <p:nvPr/>
        </p:nvSpPr>
        <p:spPr>
          <a:xfrm>
            <a:off x="7039200" y="1089000"/>
            <a:ext cx="48168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Región de Valparaíso</a:t>
            </a:r>
            <a:endParaRPr lang="es-CL" b="1" dirty="0">
              <a:solidFill>
                <a:schemeClr val="tx1"/>
              </a:solidFill>
            </a:endParaRPr>
          </a:p>
        </p:txBody>
      </p:sp>
      <p:sp>
        <p:nvSpPr>
          <p:cNvPr id="7" name="Rectángulo 6">
            <a:extLst>
              <a:ext uri="{FF2B5EF4-FFF2-40B4-BE49-F238E27FC236}">
                <a16:creationId xmlns:a16="http://schemas.microsoft.com/office/drawing/2014/main" id="{13150B88-8A30-A57E-1591-15D33E8F6A46}"/>
              </a:ext>
            </a:extLst>
          </p:cNvPr>
          <p:cNvSpPr/>
          <p:nvPr/>
        </p:nvSpPr>
        <p:spPr>
          <a:xfrm>
            <a:off x="47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9" name="Rectángulo 8">
            <a:extLst>
              <a:ext uri="{FF2B5EF4-FFF2-40B4-BE49-F238E27FC236}">
                <a16:creationId xmlns:a16="http://schemas.microsoft.com/office/drawing/2014/main" id="{6F67E22D-43EE-2E44-523B-78AB859679C3}"/>
              </a:ext>
            </a:extLst>
          </p:cNvPr>
          <p:cNvSpPr/>
          <p:nvPr/>
        </p:nvSpPr>
        <p:spPr>
          <a:xfrm>
            <a:off x="188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11" name="Rectángulo 10">
            <a:extLst>
              <a:ext uri="{FF2B5EF4-FFF2-40B4-BE49-F238E27FC236}">
                <a16:creationId xmlns:a16="http://schemas.microsoft.com/office/drawing/2014/main" id="{224D9E36-7867-7A83-7CC3-0383BF4E032E}"/>
              </a:ext>
            </a:extLst>
          </p:cNvPr>
          <p:cNvSpPr/>
          <p:nvPr/>
        </p:nvSpPr>
        <p:spPr>
          <a:xfrm>
            <a:off x="329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19" name="Rectángulo 18">
            <a:extLst>
              <a:ext uri="{FF2B5EF4-FFF2-40B4-BE49-F238E27FC236}">
                <a16:creationId xmlns:a16="http://schemas.microsoft.com/office/drawing/2014/main" id="{7C218992-088C-5548-7416-70072E025CCB}"/>
              </a:ext>
            </a:extLst>
          </p:cNvPr>
          <p:cNvSpPr/>
          <p:nvPr/>
        </p:nvSpPr>
        <p:spPr>
          <a:xfrm>
            <a:off x="4710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1" name="Rectángulo 20">
            <a:extLst>
              <a:ext uri="{FF2B5EF4-FFF2-40B4-BE49-F238E27FC236}">
                <a16:creationId xmlns:a16="http://schemas.microsoft.com/office/drawing/2014/main" id="{6AB06410-7FF9-A769-4295-AC9C8C73B407}"/>
              </a:ext>
            </a:extLst>
          </p:cNvPr>
          <p:cNvSpPr/>
          <p:nvPr/>
        </p:nvSpPr>
        <p:spPr>
          <a:xfrm>
            <a:off x="18834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3" name="Rectángulo 22">
            <a:extLst>
              <a:ext uri="{FF2B5EF4-FFF2-40B4-BE49-F238E27FC236}">
                <a16:creationId xmlns:a16="http://schemas.microsoft.com/office/drawing/2014/main" id="{991E9840-3361-BB33-8474-F0AC6E982254}"/>
              </a:ext>
            </a:extLst>
          </p:cNvPr>
          <p:cNvSpPr/>
          <p:nvPr/>
        </p:nvSpPr>
        <p:spPr>
          <a:xfrm>
            <a:off x="3295800" y="3563999"/>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5E9D9E48-B928-35D5-8300-8F67805CD609}"/>
              </a:ext>
            </a:extLst>
          </p:cNvPr>
          <p:cNvSpPr/>
          <p:nvPr/>
        </p:nvSpPr>
        <p:spPr>
          <a:xfrm>
            <a:off x="704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C5D84449-1FB2-D3F6-2CAC-177C0C3B31B0}"/>
              </a:ext>
            </a:extLst>
          </p:cNvPr>
          <p:cNvSpPr/>
          <p:nvPr/>
        </p:nvSpPr>
        <p:spPr>
          <a:xfrm>
            <a:off x="845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60DAD808-CC68-2D78-C9C7-2080A857AB36}"/>
              </a:ext>
            </a:extLst>
          </p:cNvPr>
          <p:cNvSpPr/>
          <p:nvPr/>
        </p:nvSpPr>
        <p:spPr>
          <a:xfrm>
            <a:off x="986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E80B99D0-A96B-45B8-91EA-45A34A1C4E82}"/>
              </a:ext>
            </a:extLst>
          </p:cNvPr>
          <p:cNvSpPr/>
          <p:nvPr/>
        </p:nvSpPr>
        <p:spPr>
          <a:xfrm>
            <a:off x="70411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114483FA-CA3A-F5E9-E7A7-1A957F93FE15}"/>
              </a:ext>
            </a:extLst>
          </p:cNvPr>
          <p:cNvSpPr/>
          <p:nvPr/>
        </p:nvSpPr>
        <p:spPr>
          <a:xfrm>
            <a:off x="84535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BDC4BFAD-6930-A86B-5FA3-B64887627B1A}"/>
              </a:ext>
            </a:extLst>
          </p:cNvPr>
          <p:cNvSpPr/>
          <p:nvPr/>
        </p:nvSpPr>
        <p:spPr>
          <a:xfrm>
            <a:off x="9865984" y="3563072"/>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Tree>
    <p:extLst>
      <p:ext uri="{BB962C8B-B14F-4D97-AF65-F5344CB8AC3E}">
        <p14:creationId xmlns:p14="http://schemas.microsoft.com/office/powerpoint/2010/main" val="3319398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D963A12-D53E-B206-73A2-CA10067AFE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130241FE-70E5-11F4-B89E-B97562122A1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Valparaíso</a:t>
            </a:r>
            <a:endParaRPr dirty="0"/>
          </a:p>
        </p:txBody>
      </p:sp>
      <p:sp>
        <p:nvSpPr>
          <p:cNvPr id="31" name="Rectángulo 30">
            <a:extLst>
              <a:ext uri="{FF2B5EF4-FFF2-40B4-BE49-F238E27FC236}">
                <a16:creationId xmlns:a16="http://schemas.microsoft.com/office/drawing/2014/main" id="{58B0CF5B-7EEE-D759-CD36-55FDF3FAF347}"/>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D885502C-F25D-6975-DB24-D0F095AA774D}"/>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B5C6F263-605A-0486-CD15-F137E84BD42E}"/>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7D908FF9-C35B-C1E7-1CF6-50720D927B2E}"/>
              </a:ext>
            </a:extLst>
          </p:cNvPr>
          <p:cNvSpPr/>
          <p:nvPr/>
        </p:nvSpPr>
        <p:spPr>
          <a:xfrm>
            <a:off x="3462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F0E1AA9A-7B4C-484A-AC92-5097524F7C37}"/>
              </a:ext>
            </a:extLst>
          </p:cNvPr>
          <p:cNvSpPr/>
          <p:nvPr/>
        </p:nvSpPr>
        <p:spPr>
          <a:xfrm>
            <a:off x="17586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84BB99B7-5E6B-0A65-941E-D90C81C29601}"/>
              </a:ext>
            </a:extLst>
          </p:cNvPr>
          <p:cNvSpPr/>
          <p:nvPr/>
        </p:nvSpPr>
        <p:spPr>
          <a:xfrm>
            <a:off x="3171000" y="2034000"/>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8" name="Rectángulo 7">
            <a:extLst>
              <a:ext uri="{FF2B5EF4-FFF2-40B4-BE49-F238E27FC236}">
                <a16:creationId xmlns:a16="http://schemas.microsoft.com/office/drawing/2014/main" id="{72CBFD95-8BEE-AC20-1F39-FDD6A34B89EF}"/>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184,9</a:t>
            </a:r>
          </a:p>
          <a:p>
            <a:pPr marL="171450" indent="-171450">
              <a:buFont typeface="Arial" panose="020B0604020202020204" pitchFamily="34" charset="0"/>
              <a:buChar char="•"/>
            </a:pPr>
            <a:r>
              <a:rPr lang="es-MX" sz="900" b="1" dirty="0">
                <a:solidFill>
                  <a:schemeClr val="tx2"/>
                </a:solidFill>
              </a:rPr>
              <a:t># Clientes: 67</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pic>
        <p:nvPicPr>
          <p:cNvPr id="14" name="Imagen 13">
            <a:extLst>
              <a:ext uri="{FF2B5EF4-FFF2-40B4-BE49-F238E27FC236}">
                <a16:creationId xmlns:a16="http://schemas.microsoft.com/office/drawing/2014/main" id="{5718D67B-3494-DD23-2437-D262D8BE9784}"/>
              </a:ext>
            </a:extLst>
          </p:cNvPr>
          <p:cNvPicPr>
            <a:picLocks noChangeAspect="1"/>
          </p:cNvPicPr>
          <p:nvPr/>
        </p:nvPicPr>
        <p:blipFill>
          <a:blip r:embed="rId3"/>
          <a:srcRect t="10375"/>
          <a:stretch>
            <a:fillRect/>
          </a:stretch>
        </p:blipFill>
        <p:spPr>
          <a:xfrm>
            <a:off x="291000" y="4142298"/>
            <a:ext cx="11655000" cy="2600276"/>
          </a:xfrm>
          <a:prstGeom prst="rect">
            <a:avLst/>
          </a:prstGeom>
        </p:spPr>
      </p:pic>
      <p:sp>
        <p:nvSpPr>
          <p:cNvPr id="16" name="Rectángulo 15">
            <a:extLst>
              <a:ext uri="{FF2B5EF4-FFF2-40B4-BE49-F238E27FC236}">
                <a16:creationId xmlns:a16="http://schemas.microsoft.com/office/drawing/2014/main" id="{58D8EBA6-C0F4-7F48-8C45-48CCF0668D3A}"/>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CB15659-C952-9413-C0A3-9FA17EEFBF0D}"/>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1E0CC572-1E6A-212E-B4B4-93277C8C53A7}"/>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67 clientes, de los cuales los Top 10 según potencial ya están tomados por la ejecutiva </a:t>
            </a:r>
            <a:r>
              <a:rPr lang="es-MX" sz="900" dirty="0" err="1">
                <a:solidFill>
                  <a:schemeClr val="tx2"/>
                </a:solidFill>
              </a:rPr>
              <a:t>Eglys</a:t>
            </a:r>
            <a:r>
              <a:rPr lang="es-MX" sz="900" dirty="0">
                <a:solidFill>
                  <a:schemeClr val="tx2"/>
                </a:solidFill>
              </a:rPr>
              <a:t> Ramírez</a:t>
            </a:r>
          </a:p>
          <a:p>
            <a:pPr marL="171450" lvl="1" indent="-171450">
              <a:buFont typeface="Arial" panose="020B0604020202020204" pitchFamily="34" charset="0"/>
              <a:buChar char="•"/>
            </a:pPr>
            <a:r>
              <a:rPr lang="es-MX" sz="900" dirty="0">
                <a:solidFill>
                  <a:schemeClr val="tx2"/>
                </a:solidFill>
              </a:rPr>
              <a:t>Los Top 15 Clientes en términos de magnitud (según número de camas) serán tomados en conjunto con Alexis Flores y una KAM (propuesta) </a:t>
            </a:r>
          </a:p>
          <a:p>
            <a:pPr marL="171450" lvl="1" indent="-171450">
              <a:buFont typeface="Arial" panose="020B0604020202020204" pitchFamily="34" charset="0"/>
              <a:buChar char="•"/>
            </a:pPr>
            <a:r>
              <a:rPr lang="es-MX" sz="900" dirty="0">
                <a:solidFill>
                  <a:schemeClr val="tx2"/>
                </a:solidFill>
              </a:rPr>
              <a:t>Mientras que el resto restante que son 40 clientes serán tomados por una KAM (propuesta)</a:t>
            </a:r>
            <a:endParaRPr lang="es-CL" sz="1600" dirty="0">
              <a:solidFill>
                <a:schemeClr val="tx1"/>
              </a:solidFill>
            </a:endParaRPr>
          </a:p>
        </p:txBody>
      </p:sp>
    </p:spTree>
    <p:extLst>
      <p:ext uri="{BB962C8B-B14F-4D97-AF65-F5344CB8AC3E}">
        <p14:creationId xmlns:p14="http://schemas.microsoft.com/office/powerpoint/2010/main" val="4262845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0097D9B6-A561-10D4-D76B-5C13A796B74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1751EA0-A914-9C89-5917-7AAB0F3DE7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1 – Top según Potencial</a:t>
            </a:r>
            <a:endParaRPr dirty="0"/>
          </a:p>
        </p:txBody>
      </p:sp>
      <p:cxnSp>
        <p:nvCxnSpPr>
          <p:cNvPr id="516" name="Google Shape;516;p41">
            <a:extLst>
              <a:ext uri="{FF2B5EF4-FFF2-40B4-BE49-F238E27FC236}">
                <a16:creationId xmlns:a16="http://schemas.microsoft.com/office/drawing/2014/main" id="{A9DA05FC-7125-7CCB-6A5D-22FCF46D98B7}"/>
              </a:ext>
            </a:extLst>
          </p:cNvPr>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a:extLst>
              <a:ext uri="{FF2B5EF4-FFF2-40B4-BE49-F238E27FC236}">
                <a16:creationId xmlns:a16="http://schemas.microsoft.com/office/drawing/2014/main" id="{75ADE1B2-7B0E-B74E-641D-CD5688C7CEAA}"/>
              </a:ext>
            </a:extLst>
          </p:cNvPr>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C9939BC3-FBE3-EBFC-7A7E-738A4D101746}"/>
              </a:ext>
            </a:extLst>
          </p:cNvPr>
          <p:cNvGraphicFramePr>
            <a:graphicFrameLocks noGrp="1"/>
          </p:cNvGraphicFramePr>
          <p:nvPr>
            <p:extLst>
              <p:ext uri="{D42A27DB-BD31-4B8C-83A1-F6EECF244321}">
                <p14:modId xmlns:p14="http://schemas.microsoft.com/office/powerpoint/2010/main" val="3679352811"/>
              </p:ext>
            </p:extLst>
          </p:nvPr>
        </p:nvGraphicFramePr>
        <p:xfrm>
          <a:off x="322750" y="1299602"/>
          <a:ext cx="11869249" cy="5182277"/>
        </p:xfrm>
        <a:graphic>
          <a:graphicData uri="http://schemas.openxmlformats.org/drawingml/2006/table">
            <a:tbl>
              <a:tblPr/>
              <a:tblGrid>
                <a:gridCol w="422523">
                  <a:extLst>
                    <a:ext uri="{9D8B030D-6E8A-4147-A177-3AD203B41FA5}">
                      <a16:colId xmlns:a16="http://schemas.microsoft.com/office/drawing/2014/main" val="3682049527"/>
                    </a:ext>
                  </a:extLst>
                </a:gridCol>
                <a:gridCol w="1917606">
                  <a:extLst>
                    <a:ext uri="{9D8B030D-6E8A-4147-A177-3AD203B41FA5}">
                      <a16:colId xmlns:a16="http://schemas.microsoft.com/office/drawing/2014/main" val="1447774929"/>
                    </a:ext>
                  </a:extLst>
                </a:gridCol>
                <a:gridCol w="503778">
                  <a:extLst>
                    <a:ext uri="{9D8B030D-6E8A-4147-A177-3AD203B41FA5}">
                      <a16:colId xmlns:a16="http://schemas.microsoft.com/office/drawing/2014/main" val="3923726705"/>
                    </a:ext>
                  </a:extLst>
                </a:gridCol>
                <a:gridCol w="505809">
                  <a:extLst>
                    <a:ext uri="{9D8B030D-6E8A-4147-A177-3AD203B41FA5}">
                      <a16:colId xmlns:a16="http://schemas.microsoft.com/office/drawing/2014/main" val="977636864"/>
                    </a:ext>
                  </a:extLst>
                </a:gridCol>
                <a:gridCol w="503778">
                  <a:extLst>
                    <a:ext uri="{9D8B030D-6E8A-4147-A177-3AD203B41FA5}">
                      <a16:colId xmlns:a16="http://schemas.microsoft.com/office/drawing/2014/main" val="3732638462"/>
                    </a:ext>
                  </a:extLst>
                </a:gridCol>
                <a:gridCol w="505809">
                  <a:extLst>
                    <a:ext uri="{9D8B030D-6E8A-4147-A177-3AD203B41FA5}">
                      <a16:colId xmlns:a16="http://schemas.microsoft.com/office/drawing/2014/main" val="3181110123"/>
                    </a:ext>
                  </a:extLst>
                </a:gridCol>
                <a:gridCol w="503778">
                  <a:extLst>
                    <a:ext uri="{9D8B030D-6E8A-4147-A177-3AD203B41FA5}">
                      <a16:colId xmlns:a16="http://schemas.microsoft.com/office/drawing/2014/main" val="3916584342"/>
                    </a:ext>
                  </a:extLst>
                </a:gridCol>
                <a:gridCol w="505809">
                  <a:extLst>
                    <a:ext uri="{9D8B030D-6E8A-4147-A177-3AD203B41FA5}">
                      <a16:colId xmlns:a16="http://schemas.microsoft.com/office/drawing/2014/main" val="2298795141"/>
                    </a:ext>
                  </a:extLst>
                </a:gridCol>
                <a:gridCol w="593158">
                  <a:extLst>
                    <a:ext uri="{9D8B030D-6E8A-4147-A177-3AD203B41FA5}">
                      <a16:colId xmlns:a16="http://schemas.microsoft.com/office/drawing/2014/main" val="3688097150"/>
                    </a:ext>
                  </a:extLst>
                </a:gridCol>
                <a:gridCol w="591127">
                  <a:extLst>
                    <a:ext uri="{9D8B030D-6E8A-4147-A177-3AD203B41FA5}">
                      <a16:colId xmlns:a16="http://schemas.microsoft.com/office/drawing/2014/main" val="1021856631"/>
                    </a:ext>
                  </a:extLst>
                </a:gridCol>
                <a:gridCol w="893799">
                  <a:extLst>
                    <a:ext uri="{9D8B030D-6E8A-4147-A177-3AD203B41FA5}">
                      <a16:colId xmlns:a16="http://schemas.microsoft.com/office/drawing/2014/main" val="4227412962"/>
                    </a:ext>
                  </a:extLst>
                </a:gridCol>
                <a:gridCol w="511903">
                  <a:extLst>
                    <a:ext uri="{9D8B030D-6E8A-4147-A177-3AD203B41FA5}">
                      <a16:colId xmlns:a16="http://schemas.microsoft.com/office/drawing/2014/main" val="181412641"/>
                    </a:ext>
                  </a:extLst>
                </a:gridCol>
                <a:gridCol w="2382787">
                  <a:extLst>
                    <a:ext uri="{9D8B030D-6E8A-4147-A177-3AD203B41FA5}">
                      <a16:colId xmlns:a16="http://schemas.microsoft.com/office/drawing/2014/main" val="4121126903"/>
                    </a:ext>
                  </a:extLst>
                </a:gridCol>
                <a:gridCol w="715040">
                  <a:extLst>
                    <a:ext uri="{9D8B030D-6E8A-4147-A177-3AD203B41FA5}">
                      <a16:colId xmlns:a16="http://schemas.microsoft.com/office/drawing/2014/main" val="3627639309"/>
                    </a:ext>
                  </a:extLst>
                </a:gridCol>
                <a:gridCol w="812545">
                  <a:extLst>
                    <a:ext uri="{9D8B030D-6E8A-4147-A177-3AD203B41FA5}">
                      <a16:colId xmlns:a16="http://schemas.microsoft.com/office/drawing/2014/main" val="2817686619"/>
                    </a:ext>
                  </a:extLst>
                </a:gridCol>
              </a:tblGrid>
              <a:tr h="436396">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Cliente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Dental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Esterilización</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Endoscopía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Base Instalada Total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Pot. Mantenimiento MM$</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Margen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Plan de Acción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Visita Comercial/Fecha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Responsable Comercial</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2948408121"/>
                  </a:ext>
                </a:extLst>
              </a:tr>
              <a:tr h="651336">
                <a:tc vMerge="1">
                  <a:txBody>
                    <a:bodyPr/>
                    <a:lstStyle/>
                    <a:p>
                      <a:endParaRPr lang="es-CL"/>
                    </a:p>
                  </a:txBody>
                  <a:tcPr/>
                </a:tc>
                <a:tc vMerge="1">
                  <a:txBody>
                    <a:bodyPr/>
                    <a:lstStyle/>
                    <a:p>
                      <a:endParaRPr lang="es-CL"/>
                    </a:p>
                  </a:txBody>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Vida Media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527871949"/>
                  </a:ext>
                </a:extLst>
              </a:tr>
              <a:tr h="534098">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CLINICA REÑACA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18,4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9,2</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Auditoría preventiva.</a:t>
                      </a:r>
                      <a:b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b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Contrato anual de mantenimiento.</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1"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oct-26</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700" b="0" i="0" u="none" strike="noStrike" dirty="0" err="1">
                          <a:solidFill>
                            <a:schemeClr val="tx2"/>
                          </a:solidFill>
                          <a:effectLst/>
                          <a:latin typeface="Roboto" panose="02000000000000000000" pitchFamily="2" charset="0"/>
                          <a:ea typeface="Roboto" panose="02000000000000000000" pitchFamily="2" charset="0"/>
                          <a:cs typeface="Roboto" panose="02000000000000000000" pitchFamily="2" charset="0"/>
                        </a:rPr>
                        <a:t>Eglys</a:t>
                      </a: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 </a:t>
                      </a:r>
                      <a:r>
                        <a:rPr lang="es-CL" sz="700" b="0" i="0" u="none" strike="noStrike" dirty="0" err="1">
                          <a:solidFill>
                            <a:schemeClr val="tx2"/>
                          </a:solidFill>
                          <a:effectLst/>
                          <a:latin typeface="Roboto" panose="02000000000000000000" pitchFamily="2" charset="0"/>
                          <a:ea typeface="Roboto" panose="02000000000000000000" pitchFamily="2" charset="0"/>
                          <a:cs typeface="Roboto" panose="02000000000000000000" pitchFamily="2" charset="0"/>
                        </a:rPr>
                        <a:t>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8937019"/>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CENTRAL ODONTOLOGICA PRIMERA ZONA NAVAL VIÑA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12,3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6,2</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Convenio institucional de mantenimiento y soporte especializado.</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530080"/>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CENT. ODONT. DE VALPARAISO 1° ZONA NAVAL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11,1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11,1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4,1</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Programa preventivo anual y fortalecimiento de vínculo institucional.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69178676"/>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HOSPITAL CLINICO IST VIÑA DEL MAR</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3,2</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Levantamiento técnico y propuesta de cobertura preventiva.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196648"/>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5</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CESFAM RAUL SILVA HENRIQUEZ</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11,8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11,8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3,1</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Gestión mediante ruta regional preventiva programada.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2749123"/>
                  </a:ext>
                </a:extLst>
              </a:tr>
              <a:tr h="53409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HOSPITAL DE QUILLOTA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9,8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7,8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5,3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2,7</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Levantamiento de equipos.</a:t>
                      </a:r>
                      <a:b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b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Contrato parcial por criticidad.</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40122527"/>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CESFAM LLOLLEO</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2,5</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Cobertura preventiva mediante planificación de rutas.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29335852"/>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HOSPITAL LA LIGUA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2,4</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Levantamiento técnico y propuesta preventiva básica.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68128302"/>
                  </a:ext>
                </a:extLst>
              </a:tr>
              <a:tr h="325668">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HOSPITAL DE QUILPUE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5,8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5,8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2,1</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Evaluación de cobertura y propuesta de mantenimiento anual.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 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014905"/>
                  </a:ext>
                </a:extLst>
              </a:tr>
              <a:tr h="325668">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10</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HOSPITAL DE HANGA ROA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6,6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 </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6,6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2,1</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Programa preventivo anual coordinado desde Santiago.</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r>
                        <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rPr>
                        <a:t>oct-26</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kumimoji="0" lang="es-CL" sz="700" b="0" i="0" u="none" strike="noStrike" kern="0" cap="none" spc="0" normalizeH="0" baseline="0" noProof="0" dirty="0" err="1">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Eglys</a:t>
                      </a:r>
                      <a:r>
                        <a:rPr kumimoji="0" lang="es-CL" sz="700" b="0" i="0" u="none" strike="noStrike" kern="0" cap="none" spc="0" normalizeH="0" baseline="0" noProof="0" dirty="0">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 </a:t>
                      </a:r>
                      <a:r>
                        <a:rPr kumimoji="0" lang="es-CL" sz="700" b="0" i="0" u="none" strike="noStrike" kern="0" cap="none" spc="0" normalizeH="0" baseline="0" noProof="0" dirty="0" err="1">
                          <a:ln>
                            <a:noFill/>
                          </a:ln>
                          <a:solidFill>
                            <a:srgbClr val="373C46"/>
                          </a:solidFill>
                          <a:effectLst/>
                          <a:uLnTx/>
                          <a:uFillTx/>
                          <a:latin typeface="Roboto" panose="02000000000000000000" pitchFamily="2" charset="0"/>
                          <a:ea typeface="Roboto" panose="02000000000000000000" pitchFamily="2" charset="0"/>
                          <a:cs typeface="Roboto" panose="02000000000000000000" pitchFamily="2" charset="0"/>
                          <a:sym typeface="Arial"/>
                        </a:rPr>
                        <a:t>Ramirez</a:t>
                      </a: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68996092"/>
                  </a:ext>
                </a:extLst>
              </a:tr>
              <a:tr h="325668">
                <a:tc>
                  <a:txBody>
                    <a:bodyPr/>
                    <a:lstStyle/>
                    <a:p>
                      <a:pPr algn="l" fontAlgn="b">
                        <a:buNone/>
                      </a:pPr>
                      <a:r>
                        <a:rPr lang="es-CL" sz="900" b="1" i="0" u="none" strike="noStrike" dirty="0">
                          <a:solidFill>
                            <a:schemeClr val="tx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11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5,9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30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4,4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48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6,7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solidFill>
                          <a:effectLst/>
                          <a:latin typeface="Calibri" panose="020F0502020204030204" pitchFamily="34" charset="0"/>
                        </a:rPr>
                        <a:t>74,3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ctr" fontAlgn="ctr">
                        <a:buNone/>
                      </a:pPr>
                      <a:r>
                        <a:rPr lang="es-CL" sz="900" b="0" i="0" u="none" strike="noStrike">
                          <a:solidFill>
                            <a:schemeClr val="tx2"/>
                          </a:solidFill>
                          <a:effectLst/>
                          <a:latin typeface="Arial" panose="020B0604020202020204" pitchFamily="34" charset="0"/>
                        </a:rPr>
                        <a:t>37,2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1" i="0" u="none" strike="noStrike" dirty="0">
                          <a:solidFill>
                            <a:schemeClr val="tx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
                          <a:srgbClr val="000000"/>
                        </a:buClr>
                        <a:buSzTx/>
                        <a:buFont typeface="Arial"/>
                        <a:buNone/>
                        <a:tabLst/>
                        <a:defRPr/>
                      </a:pPr>
                      <a:endParaRPr kumimoji="0" lang="es-CL" sz="700" b="1" i="0" u="none" strike="noStrike" kern="0" cap="none" spc="0" normalizeH="0" baseline="0" noProof="0" dirty="0">
                        <a:ln>
                          <a:noFill/>
                        </a:ln>
                        <a:solidFill>
                          <a:schemeClr val="tx2"/>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endPar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endParaRP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95728688"/>
                  </a:ext>
                </a:extLst>
              </a:tr>
            </a:tbl>
          </a:graphicData>
        </a:graphic>
      </p:graphicFrame>
    </p:spTree>
    <p:extLst>
      <p:ext uri="{BB962C8B-B14F-4D97-AF65-F5344CB8AC3E}">
        <p14:creationId xmlns:p14="http://schemas.microsoft.com/office/powerpoint/2010/main" val="2906937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63006681-5E64-102B-1501-9E484FF0209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13F9459-3ACD-38EC-DB1D-59C5DE8CA5E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2 – Top según número de Camas</a:t>
            </a:r>
            <a:endParaRPr dirty="0"/>
          </a:p>
        </p:txBody>
      </p:sp>
      <p:graphicFrame>
        <p:nvGraphicFramePr>
          <p:cNvPr id="6" name="Tabla 5">
            <a:extLst>
              <a:ext uri="{FF2B5EF4-FFF2-40B4-BE49-F238E27FC236}">
                <a16:creationId xmlns:a16="http://schemas.microsoft.com/office/drawing/2014/main" id="{0F7D89FB-7D62-8A38-CD5A-689379CD97DA}"/>
              </a:ext>
            </a:extLst>
          </p:cNvPr>
          <p:cNvGraphicFramePr>
            <a:graphicFrameLocks noGrp="1"/>
          </p:cNvGraphicFramePr>
          <p:nvPr>
            <p:extLst>
              <p:ext uri="{D42A27DB-BD31-4B8C-83A1-F6EECF244321}">
                <p14:modId xmlns:p14="http://schemas.microsoft.com/office/powerpoint/2010/main" val="501573889"/>
              </p:ext>
            </p:extLst>
          </p:nvPr>
        </p:nvGraphicFramePr>
        <p:xfrm>
          <a:off x="265050" y="819001"/>
          <a:ext cx="11687300" cy="5239374"/>
        </p:xfrm>
        <a:graphic>
          <a:graphicData uri="http://schemas.openxmlformats.org/drawingml/2006/table">
            <a:tbl>
              <a:tblPr/>
              <a:tblGrid>
                <a:gridCol w="224259">
                  <a:extLst>
                    <a:ext uri="{9D8B030D-6E8A-4147-A177-3AD203B41FA5}">
                      <a16:colId xmlns:a16="http://schemas.microsoft.com/office/drawing/2014/main" val="2001093109"/>
                    </a:ext>
                  </a:extLst>
                </a:gridCol>
                <a:gridCol w="2121827">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72774">
                  <a:extLst>
                    <a:ext uri="{9D8B030D-6E8A-4147-A177-3AD203B41FA5}">
                      <a16:colId xmlns:a16="http://schemas.microsoft.com/office/drawing/2014/main" val="5409698"/>
                    </a:ext>
                  </a:extLst>
                </a:gridCol>
                <a:gridCol w="62964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19318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8956">
                <a:tc>
                  <a:txBody>
                    <a:bodyPr/>
                    <a:lstStyle/>
                    <a:p>
                      <a:pPr algn="l" fontAlgn="t">
                        <a:buNone/>
                      </a:pPr>
                      <a:r>
                        <a:rPr lang="es-CL" sz="700" b="0" i="0" u="none" strike="noStrike">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HOSPITAL PSIQUIATRICO DR. PHILIPPE PINEL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Putaendo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354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Alexis Flores - </a:t>
                      </a:r>
                      <a:r>
                        <a:rPr lang="es-CL" sz="700" b="0" i="0" u="none" strike="noStrike" dirty="0" err="1">
                          <a:solidFill>
                            <a:schemeClr val="tx2"/>
                          </a:solidFill>
                          <a:effectLst/>
                          <a:latin typeface="Calibri" panose="020F0502020204030204" pitchFamily="34" charset="0"/>
                        </a:rPr>
                        <a:t>Nvo</a:t>
                      </a:r>
                      <a:r>
                        <a:rPr lang="es-CL" sz="700" b="0" i="0" u="none" strike="noStrike" dirty="0">
                          <a:solidFill>
                            <a:schemeClr val="tx2"/>
                          </a:solidFill>
                          <a:effectLst/>
                          <a:latin typeface="Calibri" panose="020F0502020204030204" pitchFamily="34" charset="0"/>
                        </a:rPr>
                        <a:t>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8805">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CLINICA LOS CARRERA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Quilpué</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158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2,0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8805">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DE QUILPUE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Quilpué</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156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4,1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8956">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HOSPITAL PEÑABLANCA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Villa Alemana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108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0,6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8805">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PROVINCIAL MARGA MARGA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103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Estimado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2,0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8805">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CLINICO VINA DEL MAR S 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Viña del Mar</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93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2,0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258805">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INSTITUTO DE SEGURIDAD DEL TRABAJO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Viña del Mar</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83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3,6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8956">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CLINICA PINARES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63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Estimado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0,6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8956">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SAN AGUSTIN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La Ligua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59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0,6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SANTO TOMAS DE LIMACHE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Limache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57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2,7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28956">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DE LIMACHE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Limache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57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Alexis Flores - </a:t>
                      </a:r>
                      <a:r>
                        <a:rPr lang="es-CL" sz="700" b="0" i="0" u="none" strike="noStrike" dirty="0" err="1">
                          <a:solidFill>
                            <a:schemeClr val="tx2"/>
                          </a:solidFill>
                          <a:effectLst/>
                          <a:latin typeface="Calibri" panose="020F0502020204030204" pitchFamily="34" charset="0"/>
                        </a:rPr>
                        <a:t>Nvo</a:t>
                      </a:r>
                      <a:r>
                        <a:rPr lang="es-CL" sz="700" b="0" i="0" u="none" strike="noStrike" dirty="0">
                          <a:solidFill>
                            <a:schemeClr val="tx2"/>
                          </a:solidFill>
                          <a:effectLst/>
                          <a:latin typeface="Calibri" panose="020F0502020204030204" pitchFamily="34" charset="0"/>
                        </a:rPr>
                        <a:t>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DE QUINTEROS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Quintero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31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3,3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Alexis Flores - </a:t>
                      </a:r>
                      <a:r>
                        <a:rPr lang="es-CL" sz="700" b="0" i="0" u="none" strike="noStrike" dirty="0" err="1">
                          <a:solidFill>
                            <a:schemeClr val="tx2"/>
                          </a:solidFill>
                          <a:effectLst/>
                          <a:latin typeface="Calibri" panose="020F0502020204030204" pitchFamily="34" charset="0"/>
                        </a:rPr>
                        <a:t>Nvo</a:t>
                      </a:r>
                      <a:r>
                        <a:rPr lang="es-CL" sz="700" b="0" i="0" u="none" strike="noStrike" dirty="0">
                          <a:solidFill>
                            <a:schemeClr val="tx2"/>
                          </a:solidFill>
                          <a:effectLst/>
                          <a:latin typeface="Calibri" panose="020F0502020204030204" pitchFamily="34" charset="0"/>
                        </a:rPr>
                        <a:t>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8805">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DE CABILDO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Cabildo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21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3,3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Alexis Flores - Nvo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98580">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HOSPITAL DE HANGA ROA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Isla de Pascua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Viaje aparte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4,1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Viaje aparte, visita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Alexis Flores - </a:t>
                      </a:r>
                      <a:r>
                        <a:rPr lang="es-CL" sz="700" b="0" i="0" u="none" strike="noStrike" dirty="0" err="1">
                          <a:solidFill>
                            <a:schemeClr val="tx2"/>
                          </a:solidFill>
                          <a:effectLst/>
                          <a:latin typeface="Calibri" panose="020F0502020204030204" pitchFamily="34" charset="0"/>
                        </a:rPr>
                        <a:t>Nvo</a:t>
                      </a:r>
                      <a:r>
                        <a:rPr lang="es-CL" sz="700" b="0" i="0" u="none" strike="noStrike" dirty="0">
                          <a:solidFill>
                            <a:schemeClr val="tx2"/>
                          </a:solidFill>
                          <a:effectLst/>
                          <a:latin typeface="Calibri" panose="020F0502020204030204" pitchFamily="34" charset="0"/>
                        </a:rPr>
                        <a:t>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9318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HOSPITAL SAN JOSE DE CASA BLANCA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Casablanca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KAM 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oct-26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Registro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0,6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Plan de </a:t>
                      </a:r>
                      <a:r>
                        <a:rPr lang="es-CL" sz="700" b="0" i="0" u="none" strike="noStrike" dirty="0" err="1">
                          <a:solidFill>
                            <a:schemeClr val="tx2"/>
                          </a:solidFill>
                          <a:effectLst/>
                          <a:latin typeface="Calibri" panose="020F0502020204030204" pitchFamily="34" charset="0"/>
                        </a:rPr>
                        <a:t>manteniemiento</a:t>
                      </a:r>
                      <a:r>
                        <a:rPr lang="es-CL" sz="700" b="0" i="0" u="none" strike="noStrike" dirty="0">
                          <a:solidFill>
                            <a:schemeClr val="tx2"/>
                          </a:solidFill>
                          <a:effectLst/>
                          <a:latin typeface="Calibri" panose="020F0502020204030204" pitchFamily="34" charset="0"/>
                        </a:rPr>
                        <a:t> por equipos dentales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Alexis Flores - </a:t>
                      </a:r>
                      <a:r>
                        <a:rPr lang="es-CL" sz="700" b="0" i="0" u="none" strike="noStrike" dirty="0" err="1">
                          <a:solidFill>
                            <a:schemeClr val="tx2"/>
                          </a:solidFill>
                          <a:effectLst/>
                          <a:latin typeface="Calibri" panose="020F0502020204030204" pitchFamily="34" charset="0"/>
                        </a:rPr>
                        <a:t>Nvo</a:t>
                      </a:r>
                      <a:r>
                        <a:rPr lang="es-CL" sz="700" b="0" i="0" u="none" strike="noStrike" dirty="0">
                          <a:solidFill>
                            <a:schemeClr val="tx2"/>
                          </a:solidFill>
                          <a:effectLst/>
                          <a:latin typeface="Calibri" panose="020F0502020204030204" pitchFamily="34" charset="0"/>
                        </a:rPr>
                        <a:t> Kam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89532">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31,9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1FE12B2D-60A0-8F28-2565-241C9C9EDB65}"/>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plan incluye dos premisas principales: Levantamiento de equipos completos del hospital/clínica para hacer un plan de mantenimiento completo “en pack” y además</a:t>
            </a:r>
            <a:r>
              <a:rPr lang="es-CL" sz="900" dirty="0">
                <a:solidFill>
                  <a:schemeClr val="tx2"/>
                </a:solidFill>
              </a:rPr>
              <a:t> levantamiento si la base instalada sigue siendo utilizada según antigüedad de la vida </a:t>
            </a:r>
            <a:r>
              <a:rPr lang="es-CL" sz="900" dirty="0" err="1">
                <a:solidFill>
                  <a:schemeClr val="tx2"/>
                </a:solidFill>
              </a:rPr>
              <a:t>útil</a:t>
            </a:r>
            <a:r>
              <a:rPr lang="es-CL" sz="900" dirty="0" err="1">
                <a:solidFill>
                  <a:schemeClr val="tx1"/>
                </a:solidFill>
              </a:rPr>
              <a:t>DF</a:t>
            </a:r>
            <a:endParaRPr lang="es-MX" sz="900" dirty="0">
              <a:solidFill>
                <a:schemeClr val="tx2"/>
              </a:solidFill>
            </a:endParaRPr>
          </a:p>
        </p:txBody>
      </p:sp>
    </p:spTree>
    <p:extLst>
      <p:ext uri="{BB962C8B-B14F-4D97-AF65-F5344CB8AC3E}">
        <p14:creationId xmlns:p14="http://schemas.microsoft.com/office/powerpoint/2010/main" val="34033975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8F12B10F-FA45-A319-5F7E-B2097CC4D32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7DC661D5-2641-166C-4D82-11C0A6D07B2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3 – Clientes Valparaíso</a:t>
            </a:r>
            <a:endParaRPr dirty="0"/>
          </a:p>
        </p:txBody>
      </p:sp>
      <p:pic>
        <p:nvPicPr>
          <p:cNvPr id="3" name="Imagen 2">
            <a:extLst>
              <a:ext uri="{FF2B5EF4-FFF2-40B4-BE49-F238E27FC236}">
                <a16:creationId xmlns:a16="http://schemas.microsoft.com/office/drawing/2014/main" id="{F6CE202C-B0FB-1A6C-4D73-4EECAF6DB99D}"/>
              </a:ext>
            </a:extLst>
          </p:cNvPr>
          <p:cNvPicPr>
            <a:picLocks noChangeAspect="1"/>
          </p:cNvPicPr>
          <p:nvPr/>
        </p:nvPicPr>
        <p:blipFill>
          <a:blip r:embed="rId3"/>
          <a:srcRect l="25238" r="31819"/>
          <a:stretch>
            <a:fillRect/>
          </a:stretch>
        </p:blipFill>
        <p:spPr>
          <a:xfrm>
            <a:off x="385829" y="990259"/>
            <a:ext cx="3960001" cy="4877481"/>
          </a:xfrm>
          <a:prstGeom prst="rect">
            <a:avLst/>
          </a:prstGeom>
        </p:spPr>
      </p:pic>
      <p:sp>
        <p:nvSpPr>
          <p:cNvPr id="5" name="Triángulo isósceles 4">
            <a:extLst>
              <a:ext uri="{FF2B5EF4-FFF2-40B4-BE49-F238E27FC236}">
                <a16:creationId xmlns:a16="http://schemas.microsoft.com/office/drawing/2014/main" id="{D6A17410-AB89-A50F-79A5-B07ECBA513CA}"/>
              </a:ext>
            </a:extLst>
          </p:cNvPr>
          <p:cNvSpPr/>
          <p:nvPr/>
        </p:nvSpPr>
        <p:spPr>
          <a:xfrm rot="5400000">
            <a:off x="3975525" y="318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AF5CFED-C476-DB93-33A7-4D27B7101DE2}"/>
              </a:ext>
            </a:extLst>
          </p:cNvPr>
          <p:cNvSpPr/>
          <p:nvPr/>
        </p:nvSpPr>
        <p:spPr>
          <a:xfrm>
            <a:off x="9471000" y="1134001"/>
            <a:ext cx="2518084" cy="47337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40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de 1 KAM dedicado a la región ESTIMATIVO</a:t>
            </a:r>
            <a:endParaRPr lang="es-CL" sz="1600" b="1" dirty="0">
              <a:solidFill>
                <a:schemeClr val="tx1"/>
              </a:solidFill>
            </a:endParaRPr>
          </a:p>
        </p:txBody>
      </p:sp>
      <p:pic>
        <p:nvPicPr>
          <p:cNvPr id="11" name="Imagen 10">
            <a:extLst>
              <a:ext uri="{FF2B5EF4-FFF2-40B4-BE49-F238E27FC236}">
                <a16:creationId xmlns:a16="http://schemas.microsoft.com/office/drawing/2014/main" id="{65FDF9BC-986F-EE5D-7BB1-144818E59361}"/>
              </a:ext>
            </a:extLst>
          </p:cNvPr>
          <p:cNvPicPr>
            <a:picLocks noChangeAspect="1"/>
          </p:cNvPicPr>
          <p:nvPr/>
        </p:nvPicPr>
        <p:blipFill>
          <a:blip r:embed="rId4"/>
          <a:srcRect r="53335"/>
          <a:stretch>
            <a:fillRect/>
          </a:stretch>
        </p:blipFill>
        <p:spPr>
          <a:xfrm>
            <a:off x="5270220" y="990259"/>
            <a:ext cx="3276390" cy="4427834"/>
          </a:xfrm>
          <a:prstGeom prst="rect">
            <a:avLst/>
          </a:prstGeom>
        </p:spPr>
      </p:pic>
      <p:sp>
        <p:nvSpPr>
          <p:cNvPr id="13" name="Triángulo isósceles 12">
            <a:extLst>
              <a:ext uri="{FF2B5EF4-FFF2-40B4-BE49-F238E27FC236}">
                <a16:creationId xmlns:a16="http://schemas.microsoft.com/office/drawing/2014/main" id="{9DA28DD3-3E24-FB65-7896-3E81D06FF3D6}"/>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3752505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BA8679A5-9A4F-C64E-2172-5758B6E493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54C4C19-D56F-CF04-2635-5867054353B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Región Metropolitana</a:t>
            </a:r>
            <a:endParaRPr dirty="0"/>
          </a:p>
        </p:txBody>
      </p:sp>
      <p:sp>
        <p:nvSpPr>
          <p:cNvPr id="31" name="Rectángulo 30">
            <a:extLst>
              <a:ext uri="{FF2B5EF4-FFF2-40B4-BE49-F238E27FC236}">
                <a16:creationId xmlns:a16="http://schemas.microsoft.com/office/drawing/2014/main" id="{78AFE1EC-12B5-57C5-9649-3432E5C8E91D}"/>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A5ADBE80-21A5-1B76-954A-83260D4A9511}"/>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F6572F1A-CF38-50E0-AC6C-BDAE99789FDB}"/>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8" name="Rectángulo 7">
            <a:extLst>
              <a:ext uri="{FF2B5EF4-FFF2-40B4-BE49-F238E27FC236}">
                <a16:creationId xmlns:a16="http://schemas.microsoft.com/office/drawing/2014/main" id="{C80DFCBD-F36C-196D-C1BD-2EE6600326B5}"/>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787,8</a:t>
            </a:r>
          </a:p>
          <a:p>
            <a:pPr marL="171450" indent="-171450">
              <a:buFont typeface="Arial" panose="020B0604020202020204" pitchFamily="34" charset="0"/>
              <a:buChar char="•"/>
            </a:pPr>
            <a:r>
              <a:rPr lang="es-MX" sz="900" b="1" dirty="0">
                <a:solidFill>
                  <a:schemeClr val="tx2"/>
                </a:solidFill>
              </a:rPr>
              <a:t># Clientes273</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E8BB6D2B-E3DC-CC9F-02C4-D8F3D8B24140}"/>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F82CB7B-E167-5543-705A-383DB49D5E24}"/>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FC4949FD-3DC1-60FA-FBFB-11E79701E22F}"/>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273 clientes, de los cuales los Top 10 según potencial ya están tomados por el ejecutivo Cristián </a:t>
            </a:r>
            <a:r>
              <a:rPr lang="es-MX" sz="900" dirty="0" err="1">
                <a:solidFill>
                  <a:schemeClr val="tx2"/>
                </a:solidFill>
              </a:rPr>
              <a:t>Perez</a:t>
            </a:r>
            <a:endParaRPr lang="es-MX" sz="900" dirty="0">
              <a:solidFill>
                <a:schemeClr val="tx2"/>
              </a:solidFill>
            </a:endParaRPr>
          </a:p>
          <a:p>
            <a:pPr marL="171450" lvl="1" indent="-171450">
              <a:buFont typeface="Arial" panose="020B0604020202020204" pitchFamily="34" charset="0"/>
              <a:buChar char="•"/>
            </a:pPr>
            <a:r>
              <a:rPr lang="es-MX" sz="900" dirty="0">
                <a:solidFill>
                  <a:schemeClr val="tx2"/>
                </a:solidFill>
              </a:rPr>
              <a:t>Los Top 15 Clientes en términos de magnitud (según número de camas) serán tomados en conjunto con Alexis Flores y un KAM (propuesta) </a:t>
            </a:r>
          </a:p>
          <a:p>
            <a:pPr marL="171450" lvl="1" indent="-171450">
              <a:buFont typeface="Arial" panose="020B0604020202020204" pitchFamily="34" charset="0"/>
              <a:buChar char="•"/>
            </a:pPr>
            <a:r>
              <a:rPr lang="es-MX" sz="900" dirty="0">
                <a:solidFill>
                  <a:schemeClr val="tx2"/>
                </a:solidFill>
              </a:rPr>
              <a:t>Mientras que el resto restante que son 273 clientes serán tomados por una KAM (propuesta)</a:t>
            </a:r>
            <a:endParaRPr lang="es-CL" sz="1600" dirty="0">
              <a:solidFill>
                <a:schemeClr val="tx1"/>
              </a:solidFill>
            </a:endParaRPr>
          </a:p>
        </p:txBody>
      </p:sp>
      <p:sp>
        <p:nvSpPr>
          <p:cNvPr id="3" name="Rectángulo 2">
            <a:extLst>
              <a:ext uri="{FF2B5EF4-FFF2-40B4-BE49-F238E27FC236}">
                <a16:creationId xmlns:a16="http://schemas.microsoft.com/office/drawing/2014/main" id="{4739562D-3A05-5EBD-A7B3-C01052B1D7EC}"/>
              </a:ext>
            </a:extLst>
          </p:cNvPr>
          <p:cNvSpPr/>
          <p:nvPr/>
        </p:nvSpPr>
        <p:spPr>
          <a:xfrm>
            <a:off x="3460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 name="Rectángulo 4">
            <a:extLst>
              <a:ext uri="{FF2B5EF4-FFF2-40B4-BE49-F238E27FC236}">
                <a16:creationId xmlns:a16="http://schemas.microsoft.com/office/drawing/2014/main" id="{90A3BBCB-63DD-0BE3-EEE4-2845CEAFDE2B}"/>
              </a:ext>
            </a:extLst>
          </p:cNvPr>
          <p:cNvSpPr/>
          <p:nvPr/>
        </p:nvSpPr>
        <p:spPr>
          <a:xfrm>
            <a:off x="17584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7" name="Rectángulo 6">
            <a:extLst>
              <a:ext uri="{FF2B5EF4-FFF2-40B4-BE49-F238E27FC236}">
                <a16:creationId xmlns:a16="http://schemas.microsoft.com/office/drawing/2014/main" id="{908E518B-D9D0-9461-B5DA-D63E37A6465D}"/>
              </a:ext>
            </a:extLst>
          </p:cNvPr>
          <p:cNvSpPr/>
          <p:nvPr/>
        </p:nvSpPr>
        <p:spPr>
          <a:xfrm>
            <a:off x="3170816" y="2079463"/>
            <a:ext cx="19902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pic>
        <p:nvPicPr>
          <p:cNvPr id="10" name="Imagen 9">
            <a:extLst>
              <a:ext uri="{FF2B5EF4-FFF2-40B4-BE49-F238E27FC236}">
                <a16:creationId xmlns:a16="http://schemas.microsoft.com/office/drawing/2014/main" id="{0DCEE8A7-9AD7-9D9B-7358-8EB5ED6CDECD}"/>
              </a:ext>
            </a:extLst>
          </p:cNvPr>
          <p:cNvPicPr>
            <a:picLocks noChangeAspect="1"/>
          </p:cNvPicPr>
          <p:nvPr/>
        </p:nvPicPr>
        <p:blipFill>
          <a:blip r:embed="rId3"/>
          <a:stretch>
            <a:fillRect/>
          </a:stretch>
        </p:blipFill>
        <p:spPr>
          <a:xfrm>
            <a:off x="284210" y="4159382"/>
            <a:ext cx="11536334" cy="2653779"/>
          </a:xfrm>
          <a:prstGeom prst="rect">
            <a:avLst/>
          </a:prstGeom>
        </p:spPr>
      </p:pic>
    </p:spTree>
    <p:extLst>
      <p:ext uri="{BB962C8B-B14F-4D97-AF65-F5344CB8AC3E}">
        <p14:creationId xmlns:p14="http://schemas.microsoft.com/office/powerpoint/2010/main" val="265019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908A2BA0-C668-4733-25E1-FFC9E0F21F9E}"/>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1FF4FF3E-9CE0-8094-D8E2-79A67D4FD7F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1 – Top según Potencial</a:t>
            </a:r>
            <a:endParaRPr dirty="0"/>
          </a:p>
        </p:txBody>
      </p:sp>
      <p:graphicFrame>
        <p:nvGraphicFramePr>
          <p:cNvPr id="5" name="Tabla 4">
            <a:extLst>
              <a:ext uri="{FF2B5EF4-FFF2-40B4-BE49-F238E27FC236}">
                <a16:creationId xmlns:a16="http://schemas.microsoft.com/office/drawing/2014/main" id="{CC884BF3-A22F-2F84-B23B-6993C1E58712}"/>
              </a:ext>
            </a:extLst>
          </p:cNvPr>
          <p:cNvGraphicFramePr>
            <a:graphicFrameLocks noGrp="1"/>
          </p:cNvGraphicFramePr>
          <p:nvPr>
            <p:extLst>
              <p:ext uri="{D42A27DB-BD31-4B8C-83A1-F6EECF244321}">
                <p14:modId xmlns:p14="http://schemas.microsoft.com/office/powerpoint/2010/main" val="2697777101"/>
              </p:ext>
            </p:extLst>
          </p:nvPr>
        </p:nvGraphicFramePr>
        <p:xfrm>
          <a:off x="405308" y="999000"/>
          <a:ext cx="11499349" cy="5198027"/>
        </p:xfrm>
        <a:graphic>
          <a:graphicData uri="http://schemas.openxmlformats.org/drawingml/2006/table">
            <a:tbl>
              <a:tblPr/>
              <a:tblGrid>
                <a:gridCol w="330597">
                  <a:extLst>
                    <a:ext uri="{9D8B030D-6E8A-4147-A177-3AD203B41FA5}">
                      <a16:colId xmlns:a16="http://schemas.microsoft.com/office/drawing/2014/main" val="2377786312"/>
                    </a:ext>
                  </a:extLst>
                </a:gridCol>
                <a:gridCol w="1500399">
                  <a:extLst>
                    <a:ext uri="{9D8B030D-6E8A-4147-A177-3AD203B41FA5}">
                      <a16:colId xmlns:a16="http://schemas.microsoft.com/office/drawing/2014/main" val="4166687763"/>
                    </a:ext>
                  </a:extLst>
                </a:gridCol>
                <a:gridCol w="394173">
                  <a:extLst>
                    <a:ext uri="{9D8B030D-6E8A-4147-A177-3AD203B41FA5}">
                      <a16:colId xmlns:a16="http://schemas.microsoft.com/office/drawing/2014/main" val="3207652588"/>
                    </a:ext>
                  </a:extLst>
                </a:gridCol>
                <a:gridCol w="395762">
                  <a:extLst>
                    <a:ext uri="{9D8B030D-6E8A-4147-A177-3AD203B41FA5}">
                      <a16:colId xmlns:a16="http://schemas.microsoft.com/office/drawing/2014/main" val="3112297389"/>
                    </a:ext>
                  </a:extLst>
                </a:gridCol>
                <a:gridCol w="394173">
                  <a:extLst>
                    <a:ext uri="{9D8B030D-6E8A-4147-A177-3AD203B41FA5}">
                      <a16:colId xmlns:a16="http://schemas.microsoft.com/office/drawing/2014/main" val="2061590127"/>
                    </a:ext>
                  </a:extLst>
                </a:gridCol>
                <a:gridCol w="395762">
                  <a:extLst>
                    <a:ext uri="{9D8B030D-6E8A-4147-A177-3AD203B41FA5}">
                      <a16:colId xmlns:a16="http://schemas.microsoft.com/office/drawing/2014/main" val="1657697352"/>
                    </a:ext>
                  </a:extLst>
                </a:gridCol>
                <a:gridCol w="394173">
                  <a:extLst>
                    <a:ext uri="{9D8B030D-6E8A-4147-A177-3AD203B41FA5}">
                      <a16:colId xmlns:a16="http://schemas.microsoft.com/office/drawing/2014/main" val="3313375200"/>
                    </a:ext>
                  </a:extLst>
                </a:gridCol>
                <a:gridCol w="395762">
                  <a:extLst>
                    <a:ext uri="{9D8B030D-6E8A-4147-A177-3AD203B41FA5}">
                      <a16:colId xmlns:a16="http://schemas.microsoft.com/office/drawing/2014/main" val="688529537"/>
                    </a:ext>
                  </a:extLst>
                </a:gridCol>
                <a:gridCol w="394173">
                  <a:extLst>
                    <a:ext uri="{9D8B030D-6E8A-4147-A177-3AD203B41FA5}">
                      <a16:colId xmlns:a16="http://schemas.microsoft.com/office/drawing/2014/main" val="1693759417"/>
                    </a:ext>
                  </a:extLst>
                </a:gridCol>
                <a:gridCol w="395762">
                  <a:extLst>
                    <a:ext uri="{9D8B030D-6E8A-4147-A177-3AD203B41FA5}">
                      <a16:colId xmlns:a16="http://schemas.microsoft.com/office/drawing/2014/main" val="2949893495"/>
                    </a:ext>
                  </a:extLst>
                </a:gridCol>
                <a:gridCol w="464106">
                  <a:extLst>
                    <a:ext uri="{9D8B030D-6E8A-4147-A177-3AD203B41FA5}">
                      <a16:colId xmlns:a16="http://schemas.microsoft.com/office/drawing/2014/main" val="444163237"/>
                    </a:ext>
                  </a:extLst>
                </a:gridCol>
                <a:gridCol w="462517">
                  <a:extLst>
                    <a:ext uri="{9D8B030D-6E8A-4147-A177-3AD203B41FA5}">
                      <a16:colId xmlns:a16="http://schemas.microsoft.com/office/drawing/2014/main" val="1623993083"/>
                    </a:ext>
                  </a:extLst>
                </a:gridCol>
                <a:gridCol w="699338">
                  <a:extLst>
                    <a:ext uri="{9D8B030D-6E8A-4147-A177-3AD203B41FA5}">
                      <a16:colId xmlns:a16="http://schemas.microsoft.com/office/drawing/2014/main" val="1969374527"/>
                    </a:ext>
                  </a:extLst>
                </a:gridCol>
                <a:gridCol w="699338">
                  <a:extLst>
                    <a:ext uri="{9D8B030D-6E8A-4147-A177-3AD203B41FA5}">
                      <a16:colId xmlns:a16="http://schemas.microsoft.com/office/drawing/2014/main" val="1533789510"/>
                    </a:ext>
                  </a:extLst>
                </a:gridCol>
                <a:gridCol w="1824637">
                  <a:extLst>
                    <a:ext uri="{9D8B030D-6E8A-4147-A177-3AD203B41FA5}">
                      <a16:colId xmlns:a16="http://schemas.microsoft.com/office/drawing/2014/main" val="1371810591"/>
                    </a:ext>
                  </a:extLst>
                </a:gridCol>
                <a:gridCol w="1563975">
                  <a:extLst>
                    <a:ext uri="{9D8B030D-6E8A-4147-A177-3AD203B41FA5}">
                      <a16:colId xmlns:a16="http://schemas.microsoft.com/office/drawing/2014/main" val="638137369"/>
                    </a:ext>
                  </a:extLst>
                </a:gridCol>
                <a:gridCol w="794702">
                  <a:extLst>
                    <a:ext uri="{9D8B030D-6E8A-4147-A177-3AD203B41FA5}">
                      <a16:colId xmlns:a16="http://schemas.microsoft.com/office/drawing/2014/main" val="1615124969"/>
                    </a:ext>
                  </a:extLst>
                </a:gridCol>
              </a:tblGrid>
              <a:tr h="190956">
                <a:tc rowSpan="2">
                  <a:txBody>
                    <a:bodyPr/>
                    <a:lstStyle/>
                    <a:p>
                      <a:pPr algn="ctr" fontAlgn="ctr">
                        <a:buNone/>
                      </a:pPr>
                      <a:r>
                        <a:rPr lang="es-CL" sz="600" b="1" i="0" u="none" strike="noStrike" dirty="0">
                          <a:solidFill>
                            <a:srgbClr val="FFFFFF"/>
                          </a:solidFill>
                          <a:effectLst/>
                          <a:latin typeface="Roboto" panose="02000000000000000000" pitchFamily="2" charset="0"/>
                        </a:rPr>
                        <a:t>#</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Cliente</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500" b="1" i="0" u="none" strike="noStrike">
                          <a:solidFill>
                            <a:srgbClr val="1A1A1A"/>
                          </a:solidFill>
                          <a:effectLst/>
                          <a:latin typeface="Roboto" panose="02000000000000000000" pitchFamily="2" charset="0"/>
                        </a:rPr>
                        <a:t>Dental</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500" b="1" i="0" u="none" strike="noStrike">
                          <a:solidFill>
                            <a:srgbClr val="FFFFFF"/>
                          </a:solidFill>
                          <a:effectLst/>
                          <a:latin typeface="Roboto" panose="02000000000000000000" pitchFamily="2" charset="0"/>
                        </a:rPr>
                        <a:t>Esterilización</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500" b="1" i="0" u="none" strike="noStrike">
                          <a:solidFill>
                            <a:srgbClr val="FFFFFF"/>
                          </a:solidFill>
                          <a:effectLst/>
                          <a:latin typeface="Roboto" panose="02000000000000000000" pitchFamily="2" charset="0"/>
                        </a:rPr>
                        <a:t>Incardia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500" b="1" i="0" u="none" strike="noStrike">
                          <a:solidFill>
                            <a:srgbClr val="1A1A1A"/>
                          </a:solidFill>
                          <a:effectLst/>
                          <a:latin typeface="Roboto" panose="02000000000000000000" pitchFamily="2" charset="0"/>
                        </a:rPr>
                        <a:t>Endoscopía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500" b="1" i="0" u="none" strike="noStrike">
                          <a:solidFill>
                            <a:srgbClr val="FFFFFF"/>
                          </a:solidFill>
                          <a:effectLst/>
                          <a:latin typeface="Roboto" panose="02000000000000000000" pitchFamily="2" charset="0"/>
                        </a:rPr>
                        <a:t>Base Instalada Total</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600" b="1" i="0" u="none" strike="noStrike">
                          <a:solidFill>
                            <a:srgbClr val="FFFFFF"/>
                          </a:solidFill>
                          <a:effectLst/>
                          <a:latin typeface="Roboto" panose="02000000000000000000" pitchFamily="2" charset="0"/>
                        </a:rPr>
                        <a:t>Pot. Mantenimiento MM$</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Margen</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Plan de Acción</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B26A00"/>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Visita Comercial/Fecha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12700" cap="flat" cmpd="sng" algn="ctr">
                      <a:solidFill>
                        <a:srgbClr val="E6E6E6"/>
                      </a:solidFill>
                      <a:prstDash val="solid"/>
                      <a:round/>
                      <a:headEnd type="none" w="med" len="med"/>
                      <a:tailEnd type="none" w="med" len="med"/>
                    </a:lnB>
                    <a:solidFill>
                      <a:srgbClr val="B26A00"/>
                    </a:solidFill>
                  </a:tcPr>
                </a:tc>
                <a:tc rowSpan="2">
                  <a:txBody>
                    <a:bodyPr/>
                    <a:lstStyle/>
                    <a:p>
                      <a:pPr algn="ctr" fontAlgn="ctr">
                        <a:buNone/>
                      </a:pPr>
                      <a:r>
                        <a:rPr lang="es-CL" sz="600" b="1" i="0" u="none" strike="noStrike">
                          <a:solidFill>
                            <a:srgbClr val="FFFFFF"/>
                          </a:solidFill>
                          <a:effectLst/>
                          <a:latin typeface="Roboto" panose="02000000000000000000" pitchFamily="2" charset="0"/>
                        </a:rPr>
                        <a:t>Responsable Comercial</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3658556840"/>
                  </a:ext>
                </a:extLst>
              </a:tr>
              <a:tr h="285008">
                <a:tc vMerge="1">
                  <a:txBody>
                    <a:bodyPr/>
                    <a:lstStyle/>
                    <a:p>
                      <a:endParaRPr lang="es-CL"/>
                    </a:p>
                  </a:txBody>
                  <a:tcPr/>
                </a:tc>
                <a:tc vMerge="1">
                  <a:txBody>
                    <a:bodyPr/>
                    <a:lstStyle/>
                    <a:p>
                      <a:endParaRPr lang="es-CL"/>
                    </a:p>
                  </a:txBody>
                  <a:tcPr/>
                </a:tc>
                <a:tc>
                  <a:txBody>
                    <a:bodyPr/>
                    <a:lstStyle/>
                    <a:p>
                      <a:pPr algn="ctr" fontAlgn="ctr">
                        <a:buNone/>
                      </a:pPr>
                      <a:r>
                        <a:rPr lang="es-CL" sz="600" b="1" i="0" u="none" strike="noStrike">
                          <a:solidFill>
                            <a:srgbClr val="1A1A1A"/>
                          </a:solidFill>
                          <a:effectLst/>
                          <a:latin typeface="Roboto" panose="02000000000000000000" pitchFamily="2" charset="0"/>
                        </a:rPr>
                        <a:t>Equipos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1A1A1A"/>
                          </a:solidFill>
                          <a:effectLst/>
                          <a:latin typeface="Roboto" panose="02000000000000000000" pitchFamily="2" charset="0"/>
                        </a:rPr>
                        <a:t>Vida (años)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600" b="1" i="0" u="none" strike="noStrike">
                          <a:solidFill>
                            <a:srgbClr val="FFFFFF"/>
                          </a:solidFill>
                          <a:effectLst/>
                          <a:latin typeface="Roboto" panose="02000000000000000000" pitchFamily="2" charset="0"/>
                        </a:rPr>
                        <a:t>Equipos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Roboto" panose="02000000000000000000" pitchFamily="2" charset="0"/>
                        </a:rPr>
                        <a:t>Vida (años)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Roboto" panose="02000000000000000000" pitchFamily="2" charset="0"/>
                        </a:rPr>
                        <a:t>Equipos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600" b="1" i="0" u="none" strike="noStrike">
                          <a:solidFill>
                            <a:srgbClr val="FFFFFF"/>
                          </a:solidFill>
                          <a:effectLst/>
                          <a:latin typeface="Roboto" panose="02000000000000000000" pitchFamily="2" charset="0"/>
                        </a:rPr>
                        <a:t>Vida (años)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600" b="1" i="0" u="none" strike="noStrike">
                          <a:solidFill>
                            <a:srgbClr val="1A1A1A"/>
                          </a:solidFill>
                          <a:effectLst/>
                          <a:latin typeface="Roboto" panose="02000000000000000000" pitchFamily="2" charset="0"/>
                        </a:rPr>
                        <a:t>Equipos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1A1A1A"/>
                          </a:solidFill>
                          <a:effectLst/>
                          <a:latin typeface="Roboto" panose="02000000000000000000" pitchFamily="2" charset="0"/>
                        </a:rPr>
                        <a:t>Vida (años)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600" b="1" i="0" u="none" strike="noStrike">
                          <a:solidFill>
                            <a:srgbClr val="FFFFFF"/>
                          </a:solidFill>
                          <a:effectLst/>
                          <a:latin typeface="Roboto" panose="02000000000000000000" pitchFamily="2" charset="0"/>
                        </a:rPr>
                        <a:t>Equipos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600" b="1" i="0" u="none" strike="noStrike">
                          <a:solidFill>
                            <a:srgbClr val="FFFFFF"/>
                          </a:solidFill>
                          <a:effectLst/>
                          <a:latin typeface="Roboto" panose="02000000000000000000" pitchFamily="2" charset="0"/>
                        </a:rPr>
                        <a:t>Vida Media (años)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2273526166"/>
                  </a:ext>
                </a:extLst>
              </a:tr>
              <a:tr h="963802">
                <a:tc>
                  <a:txBody>
                    <a:bodyPr/>
                    <a:lstStyle/>
                    <a:p>
                      <a:pPr algn="r" fontAlgn="ctr">
                        <a:buNone/>
                      </a:pPr>
                      <a:r>
                        <a:rPr lang="es-CL" sz="600" b="0" i="0" u="none" strike="noStrike">
                          <a:solidFill>
                            <a:srgbClr val="000000"/>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dirty="0">
                          <a:solidFill>
                            <a:srgbClr val="000000"/>
                          </a:solidFill>
                          <a:effectLst/>
                          <a:latin typeface="Roboto" panose="02000000000000000000" pitchFamily="2" charset="0"/>
                        </a:rPr>
                        <a:t>CLINICA MOVIL CENTINELA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76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7,9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dirty="0">
                          <a:solidFill>
                            <a:srgbClr val="000000"/>
                          </a:solidFill>
                          <a:effectLst/>
                          <a:latin typeface="Roboto" panose="02000000000000000000" pitchFamily="2" charset="0"/>
                        </a:rPr>
                        <a:t>8,0</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122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8,0</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140,6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77,3</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w="6350" cap="flat" cmpd="sng" algn="ctr">
                      <a:solidFill>
                        <a:srgbClr val="D4D5E8"/>
                      </a:solidFill>
                      <a:prstDash val="solid"/>
                      <a:round/>
                      <a:headEnd type="none" w="med" len="med"/>
                      <a:tailEnd type="none" w="med" len="med"/>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Reunión gerencial.</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Levantamiento técnico completo.</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Oferta corporativa multiequipamiento.</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Contrato marco trianual.</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Programa de renovación escalonada para los equipos más antiguos.</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sept-26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78041897"/>
                  </a:ext>
                </a:extLst>
              </a:tr>
              <a:tr h="645069">
                <a:tc>
                  <a:txBody>
                    <a:bodyPr/>
                    <a:lstStyle/>
                    <a:p>
                      <a:pPr algn="r" fontAlgn="ctr">
                        <a:buNone/>
                      </a:pPr>
                      <a:r>
                        <a:rPr lang="es-CL" sz="600" b="0" i="0" u="none" strike="noStrike">
                          <a:solidFill>
                            <a:srgbClr val="000000"/>
                          </a:solidFill>
                          <a:effectLst/>
                          <a:latin typeface="Roboto" panose="02000000000000000000" pitchFamily="2" charset="0"/>
                        </a:rPr>
                        <a:t>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POSTA CENTRAL</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45,3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24,9</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Auditoría técnica.</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Identificación de equipos fuera de contrato.</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Oferta de contrato preventivo para equipos críticos.</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sept-26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916977"/>
                  </a:ext>
                </a:extLst>
              </a:tr>
              <a:tr h="484514">
                <a:tc>
                  <a:txBody>
                    <a:bodyPr/>
                    <a:lstStyle/>
                    <a:p>
                      <a:pPr algn="r" fontAlgn="ctr">
                        <a:buNone/>
                      </a:pPr>
                      <a:r>
                        <a:rPr lang="es-CL" sz="600" b="0" i="0" u="none" strike="noStrike">
                          <a:solidFill>
                            <a:srgbClr val="000000"/>
                          </a:solidFill>
                          <a:effectLst/>
                          <a:latin typeface="Roboto" panose="02000000000000000000" pitchFamily="2" charset="0"/>
                        </a:rPr>
                        <a:t>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HOSPITAL CLINICO SAN BORJA-ARRIARAN</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9,8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8,7</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22,5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dirty="0">
                          <a:solidFill>
                            <a:srgbClr val="000000"/>
                          </a:solidFill>
                          <a:effectLst/>
                          <a:latin typeface="Roboto" panose="02000000000000000000" pitchFamily="2" charset="0"/>
                        </a:rPr>
                        <a:t>12,4</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Visita conjunta Comercial + Servicio.</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Presentar análisis de riesgo asociado a antigüedad.</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Contrato preventivo por familias tecnológicas.</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sept-26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9075150"/>
                  </a:ext>
                </a:extLst>
              </a:tr>
              <a:tr h="484514">
                <a:tc>
                  <a:txBody>
                    <a:bodyPr/>
                    <a:lstStyle/>
                    <a:p>
                      <a:pPr algn="r" fontAlgn="ctr">
                        <a:buNone/>
                      </a:pPr>
                      <a:r>
                        <a:rPr lang="es-CL" sz="600" b="0" i="0" u="none" strike="noStrike">
                          <a:solidFill>
                            <a:srgbClr val="000000"/>
                          </a:solidFill>
                          <a:effectLst/>
                          <a:latin typeface="Roboto" panose="02000000000000000000" pitchFamily="2" charset="0"/>
                        </a:rPr>
                        <a:t>4</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UC CHRISTUS SERVICIOS AMBULATORIOS SPA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dirty="0">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5,4</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18,5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10,2</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Levantamiento de endoscopía.</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Oferta de mantenimiento integral.</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Potenciar contratos y venta de repuestos.</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oct-26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14518094"/>
                  </a:ext>
                </a:extLst>
              </a:tr>
              <a:tr h="484514">
                <a:tc>
                  <a:txBody>
                    <a:bodyPr/>
                    <a:lstStyle/>
                    <a:p>
                      <a:pPr algn="r" fontAlgn="ctr">
                        <a:buNone/>
                      </a:pPr>
                      <a:r>
                        <a:rPr lang="es-CL" sz="600" b="0" i="0" u="none" strike="noStrike">
                          <a:solidFill>
                            <a:srgbClr val="000000"/>
                          </a:solidFill>
                          <a:effectLst/>
                          <a:latin typeface="Roboto" panose="02000000000000000000" pitchFamily="2" charset="0"/>
                        </a:rPr>
                        <a:t>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CLINICA ALEMANA DE SANTIAGO S 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18,2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10,0</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Revisión de equipos sin cobertura.</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Presentar indicadores de disponibilidad.</a:t>
                      </a:r>
                      <a:br>
                        <a:rPr lang="es-CL" sz="700" b="0" i="0" u="none" strike="noStrike">
                          <a:solidFill>
                            <a:srgbClr val="000000"/>
                          </a:solidFill>
                          <a:effectLst/>
                          <a:latin typeface="Roboto" panose="02000000000000000000" pitchFamily="2" charset="0"/>
                        </a:rPr>
                      </a:br>
                      <a:r>
                        <a:rPr lang="es-CL" sz="700" b="0" i="0" u="none" strike="noStrike">
                          <a:solidFill>
                            <a:srgbClr val="000000"/>
                          </a:solidFill>
                          <a:effectLst/>
                          <a:latin typeface="Roboto" panose="02000000000000000000" pitchFamily="2" charset="0"/>
                        </a:rPr>
                        <a:t>Buscar acuerdo marco de mantenimiento</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dirty="0">
                          <a:solidFill>
                            <a:srgbClr val="000000"/>
                          </a:solidFill>
                          <a:effectLst/>
                          <a:latin typeface="Roboto" panose="02000000000000000000" pitchFamily="2" charset="0"/>
                        </a:rPr>
                        <a:t>oct-26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63087393"/>
                  </a:ext>
                </a:extLst>
              </a:tr>
              <a:tr h="324434">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JUNAEB ESCUELA NUEVA ZELANDIA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17</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14,5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8,0</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Programa preventivo anual, capacitación a usuarios y seguimiento para futuras renovaciones.</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oct-26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71790978"/>
                  </a:ext>
                </a:extLst>
              </a:tr>
              <a:tr h="165780">
                <a:tc>
                  <a:txBody>
                    <a:bodyPr/>
                    <a:lstStyle/>
                    <a:p>
                      <a:pPr algn="r" fontAlgn="ctr">
                        <a:buNone/>
                      </a:pPr>
                      <a:r>
                        <a:rPr lang="es-CL" sz="600" b="0" i="0" u="none" strike="noStrike">
                          <a:solidFill>
                            <a:srgbClr val="000000"/>
                          </a:solidFill>
                          <a:effectLst/>
                          <a:latin typeface="Roboto" panose="02000000000000000000" pitchFamily="2" charset="0"/>
                        </a:rPr>
                        <a:t>7</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JOHNSON &amp; JOHNSON DE CHILE S.A.</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3,4</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3,4</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12,3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6,8</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Contrato en último tramite</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oct-26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dirty="0">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279619"/>
                  </a:ext>
                </a:extLst>
              </a:tr>
              <a:tr h="324434">
                <a:tc>
                  <a:txBody>
                    <a:bodyPr/>
                    <a:lstStyle/>
                    <a:p>
                      <a:pPr algn="r" fontAlgn="ctr">
                        <a:buNone/>
                      </a:pPr>
                      <a:r>
                        <a:rPr lang="es-CL" sz="600" b="0" i="0" u="none" strike="noStrike">
                          <a:solidFill>
                            <a:srgbClr val="000000"/>
                          </a:solidFill>
                          <a:effectLst/>
                          <a:latin typeface="Roboto" panose="02000000000000000000" pitchFamily="2" charset="0"/>
                        </a:rPr>
                        <a:t>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CESFAM STEGGER</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10,8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10,8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12,3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6,8</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Integrar a rutas programadas de mantenimiento y oferta preventiva anual.</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nov-26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8164985"/>
                  </a:ext>
                </a:extLst>
              </a:tr>
              <a:tr h="324434">
                <a:tc>
                  <a:txBody>
                    <a:bodyPr/>
                    <a:lstStyle/>
                    <a:p>
                      <a:pPr algn="r" fontAlgn="ctr">
                        <a:buNone/>
                      </a:pPr>
                      <a:r>
                        <a:rPr lang="es-CL" sz="600" b="0" i="0" u="none" strike="noStrike">
                          <a:solidFill>
                            <a:srgbClr val="000000"/>
                          </a:solidFill>
                          <a:effectLst/>
                          <a:latin typeface="Roboto" panose="02000000000000000000" pitchFamily="2" charset="0"/>
                        </a:rPr>
                        <a:t>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HOSPITAL SAN JUAN DE DIOS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8,2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4,9</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7,1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11,6</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6,4</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a:noFill/>
                    </a:lnB>
                    <a:noFill/>
                  </a:tcPr>
                </a:tc>
                <a:tc>
                  <a:txBody>
                    <a:bodyPr/>
                    <a:lstStyle/>
                    <a:p>
                      <a:pPr algn="l" fontAlgn="ctr">
                        <a:buNone/>
                      </a:pPr>
                      <a:r>
                        <a:rPr lang="es-CL" sz="700" b="0" i="0" u="none" strike="noStrike">
                          <a:solidFill>
                            <a:srgbClr val="000000"/>
                          </a:solidFill>
                          <a:effectLst/>
                          <a:latin typeface="Roboto" panose="02000000000000000000" pitchFamily="2" charset="0"/>
                        </a:rPr>
                        <a:t>Levantamiento técnico completo y propuesta de cobertura institucional.</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nov-26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12700" cap="flat" cmpd="sng" algn="ctr">
                      <a:solidFill>
                        <a:srgbClr val="E6E6E6"/>
                      </a:solidFill>
                      <a:prstDash val="solid"/>
                      <a:round/>
                      <a:headEnd type="none" w="med" len="med"/>
                      <a:tailEnd type="none" w="med" len="med"/>
                    </a:lnB>
                    <a:noFill/>
                  </a:tcPr>
                </a:tc>
                <a:tc>
                  <a:txBody>
                    <a:bodyPr/>
                    <a:lstStyle/>
                    <a:p>
                      <a:pPr algn="ctr" fontAlgn="ctr">
                        <a:buNone/>
                      </a:pPr>
                      <a:r>
                        <a:rPr lang="es-CL" sz="600" b="0" i="0" u="none" strike="noStrike" dirty="0">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89202483"/>
                  </a:ext>
                </a:extLst>
              </a:tr>
              <a:tr h="324434">
                <a:tc>
                  <a:txBody>
                    <a:bodyPr/>
                    <a:lstStyle/>
                    <a:p>
                      <a:pPr algn="r" fontAlgn="ctr">
                        <a:buNone/>
                      </a:pPr>
                      <a:r>
                        <a:rPr lang="es-CL" sz="600" b="0" i="0" u="none" strike="noStrike">
                          <a:solidFill>
                            <a:srgbClr val="000000"/>
                          </a:solidFill>
                          <a:effectLst/>
                          <a:latin typeface="Roboto" panose="02000000000000000000" pitchFamily="2" charset="0"/>
                        </a:rPr>
                        <a:t>10</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600" b="0" i="0" u="none" strike="noStrike">
                          <a:solidFill>
                            <a:srgbClr val="000000"/>
                          </a:solidFill>
                          <a:effectLst/>
                          <a:latin typeface="Roboto" panose="02000000000000000000" pitchFamily="2" charset="0"/>
                        </a:rPr>
                        <a:t>MUTUAL DE SEGURIDAD SANTIAGO</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4,8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10,2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600" b="0" i="0" u="none" strike="noStrike">
                          <a:solidFill>
                            <a:srgbClr val="000000"/>
                          </a:solidFill>
                          <a:effectLst/>
                          <a:latin typeface="Roboto" panose="02000000000000000000" pitchFamily="2" charset="0"/>
                        </a:rPr>
                        <a:t>5,6</a:t>
                      </a:r>
                    </a:p>
                  </a:txBody>
                  <a:tcPr marL="4569" marR="4569" marT="4569" marB="0" anchor="ctr">
                    <a:lnL w="6350" cap="flat" cmpd="sng" algn="ctr">
                      <a:solidFill>
                        <a:srgbClr val="D4D5E8"/>
                      </a:solidFill>
                      <a:prstDash val="solid"/>
                      <a:round/>
                      <a:headEnd type="none" w="med" len="med"/>
                      <a:tailEnd type="none" w="med" len="med"/>
                    </a:lnL>
                    <a:lnR w="12700" cap="flat" cmpd="sng" algn="ctr">
                      <a:solidFill>
                        <a:srgbClr val="E6E6E6"/>
                      </a:solidFill>
                      <a:prstDash val="solid"/>
                      <a:round/>
                      <a:headEnd type="none" w="med" len="med"/>
                      <a:tailEnd type="none" w="med" len="med"/>
                    </a:lnR>
                    <a:lnT>
                      <a:noFill/>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0" i="0" u="none" strike="noStrike" dirty="0">
                          <a:solidFill>
                            <a:srgbClr val="000000"/>
                          </a:solidFill>
                          <a:effectLst/>
                          <a:latin typeface="Roboto" panose="02000000000000000000" pitchFamily="2" charset="0"/>
                        </a:rPr>
                        <a:t>Programa de disponibilidad operacional y mantenimiento preventivo periódico.</a:t>
                      </a:r>
                    </a:p>
                  </a:txBody>
                  <a:tcPr marL="4569" marR="4569" marT="4569" marB="0" anchor="ctr">
                    <a:lnL w="12700" cap="flat" cmpd="sng" algn="ctr">
                      <a:solidFill>
                        <a:srgbClr val="E6E6E6"/>
                      </a:solidFill>
                      <a:prstDash val="solid"/>
                      <a:round/>
                      <a:headEnd type="none" w="med" len="med"/>
                      <a:tailEnd type="none" w="med" len="med"/>
                    </a:lnL>
                    <a:lnR w="12700" cap="flat" cmpd="sng" algn="ctr">
                      <a:solidFill>
                        <a:srgbClr val="E6E6E6"/>
                      </a:solidFill>
                      <a:prstDash val="solid"/>
                      <a:round/>
                      <a:headEnd type="none" w="med" len="med"/>
                      <a:tailEnd type="none" w="med" len="med"/>
                    </a:lnR>
                    <a:lnT w="12700" cap="flat" cmpd="sng" algn="ctr">
                      <a:solidFill>
                        <a:srgbClr val="E6E6E6"/>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700" b="0" i="0" u="none" strike="noStrike">
                          <a:solidFill>
                            <a:srgbClr val="000000"/>
                          </a:solidFill>
                          <a:effectLst/>
                          <a:latin typeface="Roboto" panose="02000000000000000000" pitchFamily="2" charset="0"/>
                        </a:rPr>
                        <a:t>nov-26</a:t>
                      </a:r>
                    </a:p>
                  </a:txBody>
                  <a:tcPr marL="4569" marR="4569" marT="4569" marB="0" anchor="ctr">
                    <a:lnL w="12700" cap="flat" cmpd="sng" algn="ctr">
                      <a:solidFill>
                        <a:srgbClr val="E6E6E6"/>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E6E6E6"/>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ctr" fontAlgn="ctr">
                        <a:buNone/>
                      </a:pPr>
                      <a:r>
                        <a:rPr lang="es-CL" sz="600" b="0" i="0" u="none" strike="noStrike" dirty="0">
                          <a:solidFill>
                            <a:srgbClr val="000000"/>
                          </a:solidFill>
                          <a:effectLst/>
                          <a:latin typeface="Roboto" panose="02000000000000000000" pitchFamily="2" charset="0"/>
                        </a:rPr>
                        <a:t>Cristian Pérez</a:t>
                      </a:r>
                    </a:p>
                  </a:txBody>
                  <a:tcPr marL="4569" marR="4569" marT="4569"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51424738"/>
                  </a:ext>
                </a:extLst>
              </a:tr>
              <a:tr h="142504">
                <a:tc>
                  <a:txBody>
                    <a:bodyPr/>
                    <a:lstStyle/>
                    <a:p>
                      <a:pPr algn="l" fontAlgn="b">
                        <a:buNone/>
                      </a:pPr>
                      <a:r>
                        <a:rPr lang="es-CL" sz="600" b="1" i="0" u="none" strike="noStrike">
                          <a:solidFill>
                            <a:srgbClr val="FFFFFF"/>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a:solidFill>
                            <a:srgbClr val="FFFFFF"/>
                          </a:solidFill>
                          <a:effectLst/>
                          <a:latin typeface="Roboto" panose="02000000000000000000" pitchFamily="2" charset="0"/>
                        </a:rPr>
                        <a:t>TOTAL · 10 clientes</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121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7,3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dirty="0">
                          <a:solidFill>
                            <a:srgbClr val="FFFFFF"/>
                          </a:solidFill>
                          <a:effectLst/>
                          <a:latin typeface="Roboto" panose="02000000000000000000" pitchFamily="2" charset="0"/>
                        </a:rPr>
                        <a:t>98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7,7</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1</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8,2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35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3,3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255</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7,3</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305,8</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600" b="1" i="0" u="none" strike="noStrike">
                          <a:solidFill>
                            <a:srgbClr val="FFFFFF"/>
                          </a:solidFill>
                          <a:effectLst/>
                          <a:latin typeface="Roboto" panose="02000000000000000000" pitchFamily="2" charset="0"/>
                        </a:rPr>
                        <a:t>168,2</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a:solidFill>
                            <a:srgbClr val="FFFFFF"/>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r>
                        <a:rPr lang="es-CL" sz="600" b="1" i="0" u="none" strike="noStrike">
                          <a:solidFill>
                            <a:srgbClr val="FFFFFF"/>
                          </a:solidFill>
                          <a:effectLst/>
                          <a:latin typeface="Roboto" panose="02000000000000000000" pitchFamily="2" charset="0"/>
                        </a:rPr>
                        <a:t> </a:t>
                      </a:r>
                    </a:p>
                  </a:txBody>
                  <a:tcPr marL="4569" marR="4569" marT="4569"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b">
                        <a:buNone/>
                      </a:pPr>
                      <a:endParaRPr lang="es-CL" sz="700" b="0" i="0" u="none" strike="noStrike" dirty="0">
                        <a:solidFill>
                          <a:srgbClr val="000000"/>
                        </a:solidFill>
                        <a:effectLst/>
                        <a:latin typeface="Roboto" panose="02000000000000000000" pitchFamily="2" charset="0"/>
                      </a:endParaRPr>
                    </a:p>
                  </a:txBody>
                  <a:tcPr marL="4569" marR="4569" marT="4569" marB="0" anchor="ctr">
                    <a:lnL w="6350" cap="flat" cmpd="sng" algn="ctr">
                      <a:solidFill>
                        <a:srgbClr val="D4D5E8"/>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1019726508"/>
                  </a:ext>
                </a:extLst>
              </a:tr>
            </a:tbl>
          </a:graphicData>
        </a:graphic>
      </p:graphicFrame>
    </p:spTree>
    <p:extLst>
      <p:ext uri="{BB962C8B-B14F-4D97-AF65-F5344CB8AC3E}">
        <p14:creationId xmlns:p14="http://schemas.microsoft.com/office/powerpoint/2010/main" val="11685134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0FA3B12-D3B0-0E67-7B74-D927E94B1CE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841F8691-2902-0E97-3C81-04E8DB35AF2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3 – Clientes</a:t>
            </a:r>
            <a:endParaRPr dirty="0"/>
          </a:p>
        </p:txBody>
      </p:sp>
      <p:sp>
        <p:nvSpPr>
          <p:cNvPr id="5" name="Triángulo isósceles 4">
            <a:extLst>
              <a:ext uri="{FF2B5EF4-FFF2-40B4-BE49-F238E27FC236}">
                <a16:creationId xmlns:a16="http://schemas.microsoft.com/office/drawing/2014/main" id="{EC92A9E8-4D6E-897E-8D3B-C60E0953A110}"/>
              </a:ext>
            </a:extLst>
          </p:cNvPr>
          <p:cNvSpPr/>
          <p:nvPr/>
        </p:nvSpPr>
        <p:spPr>
          <a:xfrm rot="5400000">
            <a:off x="3975525" y="318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3D42CFE-C5F6-9D86-9359-E8347E2F235B}"/>
              </a:ext>
            </a:extLst>
          </p:cNvPr>
          <p:cNvSpPr/>
          <p:nvPr/>
        </p:nvSpPr>
        <p:spPr>
          <a:xfrm>
            <a:off x="9471000" y="1134001"/>
            <a:ext cx="2518084" cy="47337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245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con 2 KAM, es un numero ESTIMATIVO</a:t>
            </a:r>
            <a:endParaRPr lang="es-CL" sz="1600" b="1" dirty="0">
              <a:solidFill>
                <a:schemeClr val="tx1"/>
              </a:solidFill>
            </a:endParaRPr>
          </a:p>
        </p:txBody>
      </p:sp>
      <p:sp>
        <p:nvSpPr>
          <p:cNvPr id="13" name="Triángulo isósceles 12">
            <a:extLst>
              <a:ext uri="{FF2B5EF4-FFF2-40B4-BE49-F238E27FC236}">
                <a16:creationId xmlns:a16="http://schemas.microsoft.com/office/drawing/2014/main" id="{919A5566-B124-4E1D-0D94-8F31B8B0D57C}"/>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Imagen 3">
            <a:extLst>
              <a:ext uri="{FF2B5EF4-FFF2-40B4-BE49-F238E27FC236}">
                <a16:creationId xmlns:a16="http://schemas.microsoft.com/office/drawing/2014/main" id="{9C59B21B-9E5F-D957-F25B-19C69A822AF6}"/>
              </a:ext>
            </a:extLst>
          </p:cNvPr>
          <p:cNvPicPr>
            <a:picLocks noChangeAspect="1"/>
          </p:cNvPicPr>
          <p:nvPr/>
        </p:nvPicPr>
        <p:blipFill>
          <a:blip r:embed="rId3"/>
          <a:srcRect l="10512" r="19530"/>
          <a:stretch>
            <a:fillRect/>
          </a:stretch>
        </p:blipFill>
        <p:spPr>
          <a:xfrm>
            <a:off x="191344" y="1215083"/>
            <a:ext cx="4318084" cy="4427833"/>
          </a:xfrm>
          <a:prstGeom prst="rect">
            <a:avLst/>
          </a:prstGeom>
        </p:spPr>
      </p:pic>
      <p:pic>
        <p:nvPicPr>
          <p:cNvPr id="7" name="Imagen 6">
            <a:extLst>
              <a:ext uri="{FF2B5EF4-FFF2-40B4-BE49-F238E27FC236}">
                <a16:creationId xmlns:a16="http://schemas.microsoft.com/office/drawing/2014/main" id="{E09507F0-8F09-CA27-CC52-A2E2074F7701}"/>
              </a:ext>
            </a:extLst>
          </p:cNvPr>
          <p:cNvPicPr>
            <a:picLocks noChangeAspect="1"/>
          </p:cNvPicPr>
          <p:nvPr/>
        </p:nvPicPr>
        <p:blipFill>
          <a:blip r:embed="rId4"/>
          <a:srcRect r="55151"/>
          <a:stretch>
            <a:fillRect/>
          </a:stretch>
        </p:blipFill>
        <p:spPr>
          <a:xfrm>
            <a:off x="5236505" y="1363371"/>
            <a:ext cx="3048382" cy="3906258"/>
          </a:xfrm>
          <a:prstGeom prst="rect">
            <a:avLst/>
          </a:prstGeom>
        </p:spPr>
      </p:pic>
    </p:spTree>
    <p:extLst>
      <p:ext uri="{BB962C8B-B14F-4D97-AF65-F5344CB8AC3E}">
        <p14:creationId xmlns:p14="http://schemas.microsoft.com/office/powerpoint/2010/main" val="4012271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09B4B21-AFAE-2F87-9403-9732BC8FD60D}"/>
            </a:ext>
          </a:extLst>
        </p:cNvPr>
        <p:cNvGrpSpPr/>
        <p:nvPr/>
      </p:nvGrpSpPr>
      <p:grpSpPr>
        <a:xfrm>
          <a:off x="0" y="0"/>
          <a:ext cx="0" cy="0"/>
          <a:chOff x="0" y="0"/>
          <a:chExt cx="0" cy="0"/>
        </a:xfrm>
      </p:grpSpPr>
      <p:sp>
        <p:nvSpPr>
          <p:cNvPr id="489" name="Google Shape;489;p38">
            <a:extLst>
              <a:ext uri="{FF2B5EF4-FFF2-40B4-BE49-F238E27FC236}">
                <a16:creationId xmlns:a16="http://schemas.microsoft.com/office/drawing/2014/main" id="{9C89433C-9CE3-6CE8-BEEB-E04DFE2A263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Propuesta</a:t>
            </a:r>
            <a:endParaRPr dirty="0"/>
          </a:p>
        </p:txBody>
      </p:sp>
      <p:sp>
        <p:nvSpPr>
          <p:cNvPr id="3" name="Rectángulo 2">
            <a:extLst>
              <a:ext uri="{FF2B5EF4-FFF2-40B4-BE49-F238E27FC236}">
                <a16:creationId xmlns:a16="http://schemas.microsoft.com/office/drawing/2014/main" id="{7D319B1B-A781-DCC7-CA95-F8915EB147C5}"/>
              </a:ext>
            </a:extLst>
          </p:cNvPr>
          <p:cNvSpPr/>
          <p:nvPr/>
        </p:nvSpPr>
        <p:spPr>
          <a:xfrm>
            <a:off x="471000" y="1314000"/>
            <a:ext cx="4815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Potencial Región Metropolitana</a:t>
            </a:r>
            <a:endParaRPr lang="es-CL" sz="1100" b="1" dirty="0">
              <a:solidFill>
                <a:schemeClr val="tx1"/>
              </a:solidFill>
            </a:endParaRPr>
          </a:p>
        </p:txBody>
      </p:sp>
      <p:sp>
        <p:nvSpPr>
          <p:cNvPr id="5" name="Rectángulo 4">
            <a:extLst>
              <a:ext uri="{FF2B5EF4-FFF2-40B4-BE49-F238E27FC236}">
                <a16:creationId xmlns:a16="http://schemas.microsoft.com/office/drawing/2014/main" id="{5C7600A5-3E04-0EBE-F326-AF1FBD5E430E}"/>
              </a:ext>
            </a:extLst>
          </p:cNvPr>
          <p:cNvSpPr/>
          <p:nvPr/>
        </p:nvSpPr>
        <p:spPr>
          <a:xfrm>
            <a:off x="471000" y="3384000"/>
            <a:ext cx="48168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Región de Valparaíso</a:t>
            </a:r>
            <a:endParaRPr lang="es-CL" sz="1100" b="1" dirty="0">
              <a:solidFill>
                <a:schemeClr val="tx1"/>
              </a:solidFill>
            </a:endParaRPr>
          </a:p>
        </p:txBody>
      </p:sp>
      <p:sp>
        <p:nvSpPr>
          <p:cNvPr id="7" name="Rectángulo 6">
            <a:extLst>
              <a:ext uri="{FF2B5EF4-FFF2-40B4-BE49-F238E27FC236}">
                <a16:creationId xmlns:a16="http://schemas.microsoft.com/office/drawing/2014/main" id="{413B10CD-1511-1737-B231-C29B95F1598D}"/>
              </a:ext>
            </a:extLst>
          </p:cNvPr>
          <p:cNvSpPr/>
          <p:nvPr/>
        </p:nvSpPr>
        <p:spPr>
          <a:xfrm>
            <a:off x="471000" y="909927"/>
            <a:ext cx="1170000" cy="3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a:t>
            </a:r>
            <a:endParaRPr lang="es-CL" sz="800" b="1" dirty="0">
              <a:solidFill>
                <a:schemeClr val="tx1"/>
              </a:solidFill>
            </a:endParaRPr>
          </a:p>
        </p:txBody>
      </p:sp>
      <p:sp>
        <p:nvSpPr>
          <p:cNvPr id="9" name="Rectángulo 8">
            <a:extLst>
              <a:ext uri="{FF2B5EF4-FFF2-40B4-BE49-F238E27FC236}">
                <a16:creationId xmlns:a16="http://schemas.microsoft.com/office/drawing/2014/main" id="{30F675D9-F543-88DD-7751-0A853BB3D42E}"/>
              </a:ext>
            </a:extLst>
          </p:cNvPr>
          <p:cNvSpPr/>
          <p:nvPr/>
        </p:nvSpPr>
        <p:spPr>
          <a:xfrm>
            <a:off x="1686000" y="909927"/>
            <a:ext cx="1170000" cy="32328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a:t>
            </a:r>
            <a:endParaRPr lang="es-CL" sz="1100" b="1" dirty="0">
              <a:solidFill>
                <a:schemeClr val="tx1"/>
              </a:solidFill>
            </a:endParaRPr>
          </a:p>
        </p:txBody>
      </p:sp>
      <p:sp>
        <p:nvSpPr>
          <p:cNvPr id="11" name="Rectángulo 10">
            <a:extLst>
              <a:ext uri="{FF2B5EF4-FFF2-40B4-BE49-F238E27FC236}">
                <a16:creationId xmlns:a16="http://schemas.microsoft.com/office/drawing/2014/main" id="{6C14E108-8620-B259-4E10-4DACEB74CB1A}"/>
              </a:ext>
            </a:extLst>
          </p:cNvPr>
          <p:cNvSpPr/>
          <p:nvPr/>
        </p:nvSpPr>
        <p:spPr>
          <a:xfrm>
            <a:off x="2895500" y="909000"/>
            <a:ext cx="1310500" cy="3232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a:t>
            </a:r>
            <a:endParaRPr lang="es-CL" sz="1100" b="1" dirty="0">
              <a:solidFill>
                <a:schemeClr val="tx1"/>
              </a:solidFill>
            </a:endParaRPr>
          </a:p>
        </p:txBody>
      </p:sp>
      <p:sp>
        <p:nvSpPr>
          <p:cNvPr id="13" name="Rectángulo 12">
            <a:extLst>
              <a:ext uri="{FF2B5EF4-FFF2-40B4-BE49-F238E27FC236}">
                <a16:creationId xmlns:a16="http://schemas.microsoft.com/office/drawing/2014/main" id="{A227DE72-DA72-5717-250E-FD8D9244ED83}"/>
              </a:ext>
            </a:extLst>
          </p:cNvPr>
          <p:cNvSpPr/>
          <p:nvPr/>
        </p:nvSpPr>
        <p:spPr>
          <a:xfrm>
            <a:off x="471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MM$255,9</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15" name="Rectángulo 14">
            <a:extLst>
              <a:ext uri="{FF2B5EF4-FFF2-40B4-BE49-F238E27FC236}">
                <a16:creationId xmlns:a16="http://schemas.microsoft.com/office/drawing/2014/main" id="{22AD6056-81DB-572D-A826-6FB23C726F7C}"/>
              </a:ext>
            </a:extLst>
          </p:cNvPr>
          <p:cNvSpPr/>
          <p:nvPr/>
        </p:nvSpPr>
        <p:spPr>
          <a:xfrm>
            <a:off x="1686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MM$47,8</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1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17" name="Rectángulo 16">
            <a:extLst>
              <a:ext uri="{FF2B5EF4-FFF2-40B4-BE49-F238E27FC236}">
                <a16:creationId xmlns:a16="http://schemas.microsoft.com/office/drawing/2014/main" id="{46DAFAF9-3F86-8916-7A90-053CB7D2A59A}"/>
              </a:ext>
            </a:extLst>
          </p:cNvPr>
          <p:cNvSpPr/>
          <p:nvPr/>
        </p:nvSpPr>
        <p:spPr>
          <a:xfrm>
            <a:off x="2895500" y="1629000"/>
            <a:ext cx="13105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MM$484,1</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25" name="Rectángulo 24">
            <a:extLst>
              <a:ext uri="{FF2B5EF4-FFF2-40B4-BE49-F238E27FC236}">
                <a16:creationId xmlns:a16="http://schemas.microsoft.com/office/drawing/2014/main" id="{AD284749-6DB9-3697-1F8D-8102A17D62F9}"/>
              </a:ext>
            </a:extLst>
          </p:cNvPr>
          <p:cNvSpPr/>
          <p:nvPr/>
        </p:nvSpPr>
        <p:spPr>
          <a:xfrm>
            <a:off x="471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MM$83,4</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a:t>
            </a:r>
            <a:r>
              <a:rPr lang="es-MX" sz="900" dirty="0" err="1">
                <a:solidFill>
                  <a:schemeClr val="tx2"/>
                </a:solidFill>
              </a:rPr>
              <a:t>Eglys</a:t>
            </a:r>
            <a:r>
              <a:rPr lang="es-MX" sz="900" dirty="0">
                <a:solidFill>
                  <a:schemeClr val="tx2"/>
                </a:solidFill>
              </a:rPr>
              <a:t> Ramírez</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7" name="Rectángulo 26">
            <a:extLst>
              <a:ext uri="{FF2B5EF4-FFF2-40B4-BE49-F238E27FC236}">
                <a16:creationId xmlns:a16="http://schemas.microsoft.com/office/drawing/2014/main" id="{5B65E494-5D32-5179-F68E-8CDC32CC36A5}"/>
              </a:ext>
            </a:extLst>
          </p:cNvPr>
          <p:cNvSpPr/>
          <p:nvPr/>
        </p:nvSpPr>
        <p:spPr>
          <a:xfrm>
            <a:off x="1686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MM$31,9</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KAM 2 – Alexis Flores</a:t>
            </a: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9" name="Rectángulo 28">
            <a:extLst>
              <a:ext uri="{FF2B5EF4-FFF2-40B4-BE49-F238E27FC236}">
                <a16:creationId xmlns:a16="http://schemas.microsoft.com/office/drawing/2014/main" id="{03667DE7-8627-3F85-175A-8A104C47BC96}"/>
              </a:ext>
            </a:extLst>
          </p:cNvPr>
          <p:cNvSpPr/>
          <p:nvPr/>
        </p:nvSpPr>
        <p:spPr>
          <a:xfrm>
            <a:off x="2895500" y="3743072"/>
            <a:ext cx="13105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MM$69,6</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KAM 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65D5F4BE-3DE9-479E-56D8-5148BBEBF8E3}"/>
              </a:ext>
            </a:extLst>
          </p:cNvPr>
          <p:cNvSpPr/>
          <p:nvPr/>
        </p:nvSpPr>
        <p:spPr>
          <a:xfrm>
            <a:off x="6108700" y="1470956"/>
            <a:ext cx="1546401" cy="19095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121 Clientes se concentra el 80% del Potencial de la Región Metropolitana (MM$634,5)</a:t>
            </a:r>
            <a:endParaRPr lang="es-CL" sz="1600" dirty="0">
              <a:solidFill>
                <a:schemeClr val="tx1"/>
              </a:solidFill>
            </a:endParaRPr>
          </a:p>
        </p:txBody>
      </p:sp>
      <p:sp>
        <p:nvSpPr>
          <p:cNvPr id="33" name="Triángulo isósceles 32">
            <a:extLst>
              <a:ext uri="{FF2B5EF4-FFF2-40B4-BE49-F238E27FC236}">
                <a16:creationId xmlns:a16="http://schemas.microsoft.com/office/drawing/2014/main" id="{ED54F256-508E-AFF5-BC74-F2115D5083FC}"/>
              </a:ext>
            </a:extLst>
          </p:cNvPr>
          <p:cNvSpPr/>
          <p:nvPr/>
        </p:nvSpPr>
        <p:spPr>
          <a:xfrm rot="5400000">
            <a:off x="4903500" y="232650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8D244A5-3572-CE36-750F-C3441AD99F31}"/>
              </a:ext>
            </a:extLst>
          </p:cNvPr>
          <p:cNvSpPr/>
          <p:nvPr/>
        </p:nvSpPr>
        <p:spPr>
          <a:xfrm>
            <a:off x="6132801" y="3846742"/>
            <a:ext cx="1546401" cy="1787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Mientras que Valparaíso en 35 clientes se concentra el 80% de potencial (MM$150,2)</a:t>
            </a:r>
            <a:endParaRPr lang="es-CL" sz="1600" dirty="0">
              <a:solidFill>
                <a:schemeClr val="tx1"/>
              </a:solidFill>
            </a:endParaRPr>
          </a:p>
        </p:txBody>
      </p:sp>
      <p:sp>
        <p:nvSpPr>
          <p:cNvPr id="37" name="Triángulo isósceles 36">
            <a:extLst>
              <a:ext uri="{FF2B5EF4-FFF2-40B4-BE49-F238E27FC236}">
                <a16:creationId xmlns:a16="http://schemas.microsoft.com/office/drawing/2014/main" id="{ABD6CB9F-F59D-B011-D6DB-3E84483AAC46}"/>
              </a:ext>
            </a:extLst>
          </p:cNvPr>
          <p:cNvSpPr/>
          <p:nvPr/>
        </p:nvSpPr>
        <p:spPr>
          <a:xfrm rot="5400000">
            <a:off x="4903500" y="459807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Triángulo isósceles 44">
            <a:extLst>
              <a:ext uri="{FF2B5EF4-FFF2-40B4-BE49-F238E27FC236}">
                <a16:creationId xmlns:a16="http://schemas.microsoft.com/office/drawing/2014/main" id="{8E8E6C9D-D3D4-4787-D84D-66A76E037395}"/>
              </a:ext>
            </a:extLst>
          </p:cNvPr>
          <p:cNvSpPr/>
          <p:nvPr/>
        </p:nvSpPr>
        <p:spPr>
          <a:xfrm rot="5400000">
            <a:off x="7108503" y="33840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ángulo 50">
            <a:extLst>
              <a:ext uri="{FF2B5EF4-FFF2-40B4-BE49-F238E27FC236}">
                <a16:creationId xmlns:a16="http://schemas.microsoft.com/office/drawing/2014/main" id="{6DA4D865-9D42-907F-08BA-A5672B255BDA}"/>
              </a:ext>
            </a:extLst>
          </p:cNvPr>
          <p:cNvSpPr/>
          <p:nvPr/>
        </p:nvSpPr>
        <p:spPr>
          <a:xfrm>
            <a:off x="8251300" y="1449000"/>
            <a:ext cx="3781501" cy="418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Grupo 1 ya se encuentra abordado en ambas regiones por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Ramirez</a:t>
            </a:r>
            <a:r>
              <a:rPr lang="es-MX" sz="900" dirty="0">
                <a:solidFill>
                  <a:schemeClr val="tx2"/>
                </a:solidFill>
              </a:rPr>
              <a:t>  20 Clientes – MM$339,3 (34%)</a:t>
            </a:r>
          </a:p>
          <a:p>
            <a:pPr marL="171450" lvl="1" indent="-171450">
              <a:buFont typeface="Arial" panose="020B0604020202020204" pitchFamily="34" charset="0"/>
              <a:buChar char="•"/>
            </a:pPr>
            <a:r>
              <a:rPr lang="es-MX" sz="900" dirty="0">
                <a:solidFill>
                  <a:schemeClr val="tx2"/>
                </a:solidFill>
              </a:rPr>
              <a:t>Mientras que para los Grupos 2, se abarquen con un </a:t>
            </a:r>
            <a:r>
              <a:rPr lang="es-MX" sz="900" b="1" dirty="0">
                <a:solidFill>
                  <a:schemeClr val="tx2"/>
                </a:solidFill>
              </a:rPr>
              <a:t>KAM perfil técnico (30 clientes)</a:t>
            </a:r>
            <a:r>
              <a:rPr lang="es-MX" sz="900" dirty="0">
                <a:solidFill>
                  <a:schemeClr val="tx2"/>
                </a:solidFill>
              </a:rPr>
              <a:t> junto con Apoyo el Alexis Flores</a:t>
            </a:r>
          </a:p>
          <a:p>
            <a:pPr marL="171450" lvl="1" indent="-171450">
              <a:buFont typeface="Arial" panose="020B0604020202020204" pitchFamily="34" charset="0"/>
              <a:buChar char="•"/>
            </a:pPr>
            <a:r>
              <a:rPr lang="es-MX" sz="900" b="1" dirty="0">
                <a:solidFill>
                  <a:schemeClr val="tx2"/>
                </a:solidFill>
              </a:rPr>
              <a:t>Y ese KAM también abarque los 60 clientes más prioritarios del Grupo 3 entre las dos regiones de tal manera que la Cartera sea cubierta en un plazo de 2 meses</a:t>
            </a:r>
          </a:p>
          <a:p>
            <a:pPr marL="171450" lvl="1" indent="-171450">
              <a:buFont typeface="Arial" panose="020B0604020202020204" pitchFamily="34" charset="0"/>
              <a:buChar char="•"/>
            </a:pPr>
            <a:r>
              <a:rPr lang="es-MX" sz="900" b="1" dirty="0">
                <a:solidFill>
                  <a:schemeClr val="tx2"/>
                </a:solidFill>
              </a:rPr>
              <a:t>Con esto, considerando solo una persona adicional se cubre el 70% del Potencial en las Regiones Metropolitana y Valparaíso</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En una segunda etapa, pasado este periodo de prospección existirán dos caminos: Contratación de un técnico para dar ejecución a los contratos conseguidos o un nuevo KAM para aumentar la prospección</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err="1">
                <a:solidFill>
                  <a:schemeClr val="tx2"/>
                </a:solidFill>
              </a:rPr>
              <a:t>Margenes</a:t>
            </a:r>
            <a:r>
              <a:rPr lang="es-MX" sz="900" b="1" dirty="0">
                <a:solidFill>
                  <a:schemeClr val="tx2"/>
                </a:solidFill>
              </a:rPr>
              <a:t> y potenciales están sujetos al levantamiento que realizará cada KAM en cada cliente</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El KAM se pagará logrando un 10% de los Clientes </a:t>
            </a:r>
            <a:r>
              <a:rPr lang="es-MX" sz="900" b="1" dirty="0" err="1">
                <a:solidFill>
                  <a:schemeClr val="tx2"/>
                </a:solidFill>
              </a:rPr>
              <a:t>Potneciales</a:t>
            </a:r>
            <a:r>
              <a:rPr lang="es-MX" sz="900" b="1" dirty="0">
                <a:solidFill>
                  <a:schemeClr val="tx2"/>
                </a:solidFill>
              </a:rPr>
              <a:t> </a:t>
            </a:r>
            <a:r>
              <a:rPr lang="es-MX" sz="900" b="1" dirty="0" err="1">
                <a:solidFill>
                  <a:schemeClr val="tx2"/>
                </a:solidFill>
              </a:rPr>
              <a:t>estimdos</a:t>
            </a:r>
            <a:endParaRPr lang="es-MX" sz="900" b="1" dirty="0">
              <a:solidFill>
                <a:schemeClr val="tx2"/>
              </a:solidFill>
            </a:endParaRPr>
          </a:p>
        </p:txBody>
      </p:sp>
      <p:sp>
        <p:nvSpPr>
          <p:cNvPr id="53" name="Rectángulo 52">
            <a:extLst>
              <a:ext uri="{FF2B5EF4-FFF2-40B4-BE49-F238E27FC236}">
                <a16:creationId xmlns:a16="http://schemas.microsoft.com/office/drawing/2014/main" id="{30336DB1-29D3-C367-88E3-A79857E6CC3F}"/>
              </a:ext>
            </a:extLst>
          </p:cNvPr>
          <p:cNvSpPr/>
          <p:nvPr/>
        </p:nvSpPr>
        <p:spPr>
          <a:xfrm>
            <a:off x="4341000" y="909000"/>
            <a:ext cx="945000" cy="323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2"/>
                </a:solidFill>
              </a:rPr>
              <a:t>Total</a:t>
            </a:r>
            <a:endParaRPr lang="es-CL" sz="1100" b="1" dirty="0">
              <a:solidFill>
                <a:schemeClr val="tx2"/>
              </a:solidFill>
            </a:endParaRPr>
          </a:p>
        </p:txBody>
      </p:sp>
      <p:sp>
        <p:nvSpPr>
          <p:cNvPr id="55" name="Rectángulo 54">
            <a:extLst>
              <a:ext uri="{FF2B5EF4-FFF2-40B4-BE49-F238E27FC236}">
                <a16:creationId xmlns:a16="http://schemas.microsoft.com/office/drawing/2014/main" id="{31313765-CF83-B6B2-1BD9-843D1297242D}"/>
              </a:ext>
            </a:extLst>
          </p:cNvPr>
          <p:cNvSpPr/>
          <p:nvPr/>
        </p:nvSpPr>
        <p:spPr>
          <a:xfrm>
            <a:off x="4356901" y="1628999"/>
            <a:ext cx="945999"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MM$ 787,8</a:t>
            </a:r>
          </a:p>
          <a:p>
            <a:pPr marL="171450" indent="-171450">
              <a:buFont typeface="Arial" panose="020B0604020202020204" pitchFamily="34" charset="0"/>
              <a:buChar char="•"/>
            </a:pPr>
            <a:r>
              <a:rPr lang="es-MX" sz="900" b="1" dirty="0">
                <a:solidFill>
                  <a:schemeClr val="tx2"/>
                </a:solidFill>
              </a:rPr>
              <a:t>270 Clientes</a:t>
            </a:r>
            <a:endParaRPr lang="es-CL" sz="1600" b="1" dirty="0">
              <a:solidFill>
                <a:schemeClr val="tx1"/>
              </a:solidFill>
            </a:endParaRPr>
          </a:p>
        </p:txBody>
      </p:sp>
      <p:sp>
        <p:nvSpPr>
          <p:cNvPr id="57" name="Rectángulo 56">
            <a:extLst>
              <a:ext uri="{FF2B5EF4-FFF2-40B4-BE49-F238E27FC236}">
                <a16:creationId xmlns:a16="http://schemas.microsoft.com/office/drawing/2014/main" id="{FD3042F6-DF4F-BB10-96EE-C6E34C53E24F}"/>
              </a:ext>
            </a:extLst>
          </p:cNvPr>
          <p:cNvSpPr/>
          <p:nvPr/>
        </p:nvSpPr>
        <p:spPr>
          <a:xfrm>
            <a:off x="4341000" y="3743072"/>
            <a:ext cx="945999"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MM$184,9</a:t>
            </a:r>
          </a:p>
          <a:p>
            <a:pPr marL="171450" indent="-171450">
              <a:buFont typeface="Arial" panose="020B0604020202020204" pitchFamily="34" charset="0"/>
              <a:buChar char="•"/>
            </a:pPr>
            <a:r>
              <a:rPr lang="es-MX" sz="900" b="1" dirty="0">
                <a:solidFill>
                  <a:schemeClr val="tx2"/>
                </a:solidFill>
              </a:rPr>
              <a:t>65 Clientes</a:t>
            </a:r>
            <a:endParaRPr lang="es-CL" sz="1600" b="1" dirty="0">
              <a:solidFill>
                <a:schemeClr val="tx1"/>
              </a:solidFill>
            </a:endParaRPr>
          </a:p>
        </p:txBody>
      </p:sp>
      <p:sp>
        <p:nvSpPr>
          <p:cNvPr id="59" name="Rectángulo 58">
            <a:extLst>
              <a:ext uri="{FF2B5EF4-FFF2-40B4-BE49-F238E27FC236}">
                <a16:creationId xmlns:a16="http://schemas.microsoft.com/office/drawing/2014/main" id="{E9B290C5-F2C2-85BC-6FB2-75288F55C4D6}"/>
              </a:ext>
            </a:extLst>
          </p:cNvPr>
          <p:cNvSpPr/>
          <p:nvPr/>
        </p:nvSpPr>
        <p:spPr>
          <a:xfrm>
            <a:off x="4485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MM$339,3</a:t>
            </a:r>
          </a:p>
          <a:p>
            <a:pPr marL="171450" indent="-171450">
              <a:buFont typeface="Arial" panose="020B0604020202020204" pitchFamily="34" charset="0"/>
              <a:buChar char="•"/>
            </a:pPr>
            <a:r>
              <a:rPr lang="es-MX" sz="900" b="1" dirty="0">
                <a:solidFill>
                  <a:schemeClr val="tx2"/>
                </a:solidFill>
              </a:rPr>
              <a:t>20Clientes</a:t>
            </a:r>
            <a:r>
              <a:rPr lang="es-MX" sz="1600" b="1" dirty="0">
                <a:solidFill>
                  <a:schemeClr val="tx1"/>
                </a:solidFill>
              </a:rPr>
              <a:t>M</a:t>
            </a:r>
            <a:endParaRPr lang="es-CL" sz="1050" b="1" dirty="0">
              <a:solidFill>
                <a:schemeClr val="tx1"/>
              </a:solidFill>
            </a:endParaRPr>
          </a:p>
        </p:txBody>
      </p:sp>
      <p:sp>
        <p:nvSpPr>
          <p:cNvPr id="61" name="Rectángulo 60">
            <a:extLst>
              <a:ext uri="{FF2B5EF4-FFF2-40B4-BE49-F238E27FC236}">
                <a16:creationId xmlns:a16="http://schemas.microsoft.com/office/drawing/2014/main" id="{0958BC26-FD08-8CDF-71E9-8AD8152864FD}"/>
              </a:ext>
            </a:extLst>
          </p:cNvPr>
          <p:cNvSpPr/>
          <p:nvPr/>
        </p:nvSpPr>
        <p:spPr>
          <a:xfrm>
            <a:off x="16860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MM$79,19</a:t>
            </a:r>
          </a:p>
          <a:p>
            <a:pPr marL="171450" indent="-171450">
              <a:buFont typeface="Arial" panose="020B0604020202020204" pitchFamily="34" charset="0"/>
              <a:buChar char="•"/>
            </a:pPr>
            <a:r>
              <a:rPr lang="es-MX" sz="900" b="1" dirty="0">
                <a:solidFill>
                  <a:schemeClr val="tx2"/>
                </a:solidFill>
              </a:rPr>
              <a:t>30 </a:t>
            </a:r>
            <a:r>
              <a:rPr lang="es-MX" sz="900" b="1" dirty="0" err="1">
                <a:solidFill>
                  <a:schemeClr val="tx2"/>
                </a:solidFill>
              </a:rPr>
              <a:t>Clientes</a:t>
            </a:r>
            <a:r>
              <a:rPr lang="es-MX" sz="1600" b="1" dirty="0" err="1">
                <a:solidFill>
                  <a:schemeClr val="tx1"/>
                </a:solidFill>
              </a:rPr>
              <a:t>M</a:t>
            </a:r>
            <a:endParaRPr lang="es-CL" sz="1050" b="1" dirty="0">
              <a:solidFill>
                <a:schemeClr val="tx1"/>
              </a:solidFill>
            </a:endParaRPr>
          </a:p>
        </p:txBody>
      </p:sp>
      <p:sp>
        <p:nvSpPr>
          <p:cNvPr id="63" name="Rectángulo 62">
            <a:extLst>
              <a:ext uri="{FF2B5EF4-FFF2-40B4-BE49-F238E27FC236}">
                <a16:creationId xmlns:a16="http://schemas.microsoft.com/office/drawing/2014/main" id="{6F593A8E-08D4-C04E-7A91-2985F1EAF4C9}"/>
              </a:ext>
            </a:extLst>
          </p:cNvPr>
          <p:cNvSpPr/>
          <p:nvPr/>
        </p:nvSpPr>
        <p:spPr>
          <a:xfrm>
            <a:off x="2895500" y="5809810"/>
            <a:ext cx="13105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MM$553,7</a:t>
            </a:r>
          </a:p>
          <a:p>
            <a:pPr marL="171450" indent="-171450">
              <a:buFont typeface="Arial" panose="020B0604020202020204" pitchFamily="34" charset="0"/>
              <a:buChar char="•"/>
            </a:pPr>
            <a:r>
              <a:rPr lang="es-MX" sz="900" b="1" dirty="0">
                <a:solidFill>
                  <a:schemeClr val="tx2"/>
                </a:solidFill>
              </a:rPr>
              <a:t>285Clientes</a:t>
            </a:r>
            <a:endParaRPr lang="es-CL" sz="900" b="1" dirty="0">
              <a:solidFill>
                <a:schemeClr val="tx2"/>
              </a:solidFill>
            </a:endParaRPr>
          </a:p>
        </p:txBody>
      </p:sp>
      <p:sp>
        <p:nvSpPr>
          <p:cNvPr id="449" name="Rectángulo 448">
            <a:extLst>
              <a:ext uri="{FF2B5EF4-FFF2-40B4-BE49-F238E27FC236}">
                <a16:creationId xmlns:a16="http://schemas.microsoft.com/office/drawing/2014/main" id="{01287FEA-2769-9B74-619D-76E2746C5AA3}"/>
              </a:ext>
            </a:extLst>
          </p:cNvPr>
          <p:cNvSpPr/>
          <p:nvPr/>
        </p:nvSpPr>
        <p:spPr>
          <a:xfrm>
            <a:off x="4341000" y="5809810"/>
            <a:ext cx="9619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800" b="1" dirty="0">
                <a:solidFill>
                  <a:schemeClr val="tx2"/>
                </a:solidFill>
              </a:rPr>
              <a:t>Pot: MM$972,7</a:t>
            </a:r>
          </a:p>
          <a:p>
            <a:pPr marL="171450" indent="-171450">
              <a:buFont typeface="Arial" panose="020B0604020202020204" pitchFamily="34" charset="0"/>
              <a:buChar char="•"/>
            </a:pPr>
            <a:r>
              <a:rPr lang="es-MX" sz="800" b="1" dirty="0">
                <a:solidFill>
                  <a:schemeClr val="tx2"/>
                </a:solidFill>
              </a:rPr>
              <a:t>335 Clientes</a:t>
            </a:r>
            <a:endParaRPr lang="es-CL" sz="800" b="1" dirty="0">
              <a:solidFill>
                <a:schemeClr val="tx2"/>
              </a:solidFill>
            </a:endParaRPr>
          </a:p>
        </p:txBody>
      </p:sp>
    </p:spTree>
    <p:extLst>
      <p:ext uri="{BB962C8B-B14F-4D97-AF65-F5344CB8AC3E}">
        <p14:creationId xmlns:p14="http://schemas.microsoft.com/office/powerpoint/2010/main" val="2038911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5"/>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7F7F7F"/>
              </a:buClr>
              <a:buSzPct val="100000"/>
              <a:buNone/>
            </a:pPr>
            <a:r>
              <a:rPr lang="es-CL" sz="2000" b="1" dirty="0">
                <a:solidFill>
                  <a:srgbClr val="7F7F7F"/>
                </a:solidFill>
              </a:rPr>
              <a:t>Anexos</a:t>
            </a:r>
            <a:endParaRPr dirty="0"/>
          </a:p>
          <a:p>
            <a:pPr marL="0" lvl="0" indent="0" algn="l" rtl="0">
              <a:lnSpc>
                <a:spcPct val="90000"/>
              </a:lnSpc>
              <a:spcBef>
                <a:spcPts val="1000"/>
              </a:spcBef>
              <a:spcAft>
                <a:spcPts val="0"/>
              </a:spcAft>
              <a:buClr>
                <a:srgbClr val="7F7F7F"/>
              </a:buClr>
              <a:buSzPct val="100000"/>
              <a:buNone/>
            </a:pPr>
            <a:r>
              <a:rPr lang="es-CL" dirty="0">
                <a:solidFill>
                  <a:srgbClr val="7F7F7F"/>
                </a:solidFill>
              </a:rPr>
              <a:t>21 septiembre 2026</a:t>
            </a:r>
            <a:endParaRPr dirty="0"/>
          </a:p>
        </p:txBody>
      </p:sp>
      <p:sp>
        <p:nvSpPr>
          <p:cNvPr id="628" name="Google Shape;628;p55"/>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629" name="Google Shape;629;p55"/>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630" name="Google Shape;630;p55"/>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631" name="Google Shape;631;p55"/>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Carta Gantt</a:t>
            </a:r>
            <a:endParaRPr/>
          </a:p>
        </p:txBody>
      </p:sp>
      <p:graphicFrame>
        <p:nvGraphicFramePr>
          <p:cNvPr id="490" name="Google Shape;490;p38"/>
          <p:cNvGraphicFramePr/>
          <p:nvPr/>
        </p:nvGraphicFramePr>
        <p:xfrm>
          <a:off x="620923" y="938703"/>
          <a:ext cx="9666100" cy="5108425"/>
        </p:xfrm>
        <a:graphic>
          <a:graphicData uri="http://schemas.openxmlformats.org/drawingml/2006/table">
            <a:tbl>
              <a:tblPr>
                <a:noFill/>
                <a:tableStyleId>{13D43741-7D58-4360-86AC-F6E32FA5FF39}</a:tableStyleId>
              </a:tblPr>
              <a:tblGrid>
                <a:gridCol w="473075">
                  <a:extLst>
                    <a:ext uri="{9D8B030D-6E8A-4147-A177-3AD203B41FA5}">
                      <a16:colId xmlns:a16="http://schemas.microsoft.com/office/drawing/2014/main" val="20000"/>
                    </a:ext>
                  </a:extLst>
                </a:gridCol>
                <a:gridCol w="1342500">
                  <a:extLst>
                    <a:ext uri="{9D8B030D-6E8A-4147-A177-3AD203B41FA5}">
                      <a16:colId xmlns:a16="http://schemas.microsoft.com/office/drawing/2014/main" val="20001"/>
                    </a:ext>
                  </a:extLst>
                </a:gridCol>
                <a:gridCol w="537000">
                  <a:extLst>
                    <a:ext uri="{9D8B030D-6E8A-4147-A177-3AD203B41FA5}">
                      <a16:colId xmlns:a16="http://schemas.microsoft.com/office/drawing/2014/main" val="20002"/>
                    </a:ext>
                  </a:extLst>
                </a:gridCol>
                <a:gridCol w="537000">
                  <a:extLst>
                    <a:ext uri="{9D8B030D-6E8A-4147-A177-3AD203B41FA5}">
                      <a16:colId xmlns:a16="http://schemas.microsoft.com/office/drawing/2014/main" val="20003"/>
                    </a:ext>
                  </a:extLst>
                </a:gridCol>
                <a:gridCol w="2416525">
                  <a:extLst>
                    <a:ext uri="{9D8B030D-6E8A-4147-A177-3AD203B41FA5}">
                      <a16:colId xmlns:a16="http://schemas.microsoft.com/office/drawing/2014/main" val="20004"/>
                    </a:ext>
                  </a:extLst>
                </a:gridCol>
                <a:gridCol w="843875">
                  <a:extLst>
                    <a:ext uri="{9D8B030D-6E8A-4147-A177-3AD203B41FA5}">
                      <a16:colId xmlns:a16="http://schemas.microsoft.com/office/drawing/2014/main" val="20005"/>
                    </a:ext>
                  </a:extLst>
                </a:gridCol>
                <a:gridCol w="703225">
                  <a:extLst>
                    <a:ext uri="{9D8B030D-6E8A-4147-A177-3AD203B41FA5}">
                      <a16:colId xmlns:a16="http://schemas.microsoft.com/office/drawing/2014/main" val="20006"/>
                    </a:ext>
                  </a:extLst>
                </a:gridCol>
                <a:gridCol w="703225">
                  <a:extLst>
                    <a:ext uri="{9D8B030D-6E8A-4147-A177-3AD203B41FA5}">
                      <a16:colId xmlns:a16="http://schemas.microsoft.com/office/drawing/2014/main" val="20007"/>
                    </a:ext>
                  </a:extLst>
                </a:gridCol>
                <a:gridCol w="703225">
                  <a:extLst>
                    <a:ext uri="{9D8B030D-6E8A-4147-A177-3AD203B41FA5}">
                      <a16:colId xmlns:a16="http://schemas.microsoft.com/office/drawing/2014/main" val="20008"/>
                    </a:ext>
                  </a:extLst>
                </a:gridCol>
                <a:gridCol w="703225">
                  <a:extLst>
                    <a:ext uri="{9D8B030D-6E8A-4147-A177-3AD203B41FA5}">
                      <a16:colId xmlns:a16="http://schemas.microsoft.com/office/drawing/2014/main" val="20009"/>
                    </a:ext>
                  </a:extLst>
                </a:gridCol>
                <a:gridCol w="703225">
                  <a:extLst>
                    <a:ext uri="{9D8B030D-6E8A-4147-A177-3AD203B41FA5}">
                      <a16:colId xmlns:a16="http://schemas.microsoft.com/office/drawing/2014/main" val="20010"/>
                    </a:ext>
                  </a:extLst>
                </a:gridCol>
              </a:tblGrid>
              <a:tr h="255175">
                <a:tc gridSpan="5">
                  <a:txBody>
                    <a:bodyPr/>
                    <a:lstStyle/>
                    <a:p>
                      <a:pPr marL="0" marR="0" lvl="0" indent="0" algn="l" rtl="0">
                        <a:spcBef>
                          <a:spcPts val="0"/>
                        </a:spcBef>
                        <a:spcAft>
                          <a:spcPts val="0"/>
                        </a:spcAft>
                        <a:buClr>
                          <a:srgbClr val="FFFFFF"/>
                        </a:buClr>
                        <a:buSzPts val="700"/>
                        <a:buFont typeface="Roboto"/>
                        <a:buNone/>
                      </a:pPr>
                      <a:r>
                        <a:rPr lang="es-CL" sz="700" b="1" i="0" u="none" strike="noStrike" cap="none">
                          <a:solidFill>
                            <a:srgbClr val="FFFFFF"/>
                          </a:solidFill>
                          <a:latin typeface="Roboto"/>
                          <a:ea typeface="Roboto"/>
                          <a:cs typeface="Roboto"/>
                          <a:sym typeface="Roboto"/>
                        </a:rPr>
                        <a:t>CARTA GANTT — PLAN TEMPORAL DE VISITAS TECSERVICE (SEP 2026 – FEB 2027)</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50075">
                <a:tc>
                  <a:txBody>
                    <a:bodyPr/>
                    <a:lstStyle/>
                    <a:p>
                      <a:pPr marL="0" marR="0" lvl="0" indent="0" algn="l" rtl="0">
                        <a:spcBef>
                          <a:spcPts val="0"/>
                        </a:spcBef>
                        <a:spcAft>
                          <a:spcPts val="0"/>
                        </a:spcAft>
                        <a:buClr>
                          <a:srgbClr val="FFFFFF"/>
                        </a:buClr>
                        <a:buSzPts val="500"/>
                        <a:buFont typeface="Roboto"/>
                        <a:buNone/>
                      </a:pPr>
                      <a:r>
                        <a:rPr lang="es-CL" sz="500" b="0" i="1"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800" b="0" i="0" u="none" strike="noStrike" cap="none">
                          <a:solidFill>
                            <a:srgbClr val="FFFFFF"/>
                          </a:solidFill>
                          <a:latin typeface="Roboto"/>
                          <a:ea typeface="Roboto"/>
                          <a:cs typeface="Roboto"/>
                          <a:sym typeface="Roboto"/>
                        </a:rPr>
                        <a:t> </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341275">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Prior.</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Región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Eq.</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Pot.</a:t>
                      </a:r>
                      <a:br>
                        <a:rPr lang="es-CL" sz="600" b="1" i="0" u="none" strike="noStrike" cap="none">
                          <a:solidFill>
                            <a:srgbClr val="FFFFFF"/>
                          </a:solidFill>
                          <a:latin typeface="Roboto"/>
                          <a:ea typeface="Roboto"/>
                          <a:cs typeface="Roboto"/>
                          <a:sym typeface="Roboto"/>
                        </a:rPr>
                      </a:br>
                      <a:r>
                        <a:rPr lang="es-CL" sz="600" b="1" i="0" u="none" strike="noStrike" cap="none">
                          <a:solidFill>
                            <a:srgbClr val="FFFFFF"/>
                          </a:solidFill>
                          <a:latin typeface="Roboto"/>
                          <a:ea typeface="Roboto"/>
                          <a:cs typeface="Roboto"/>
                          <a:sym typeface="Roboto"/>
                        </a:rPr>
                        <a:t>MM$</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Acciones Clave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Sep 2026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Oct 2026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Nov 2026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Dic 2026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Ene 2027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Feb 2027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13700">
                <a:tc>
                  <a:txBody>
                    <a:bodyPr/>
                    <a:lstStyle/>
                    <a:p>
                      <a:pPr marL="0" marR="0" lvl="0" indent="0" algn="ctr" rtl="0">
                        <a:spcBef>
                          <a:spcPts val="0"/>
                        </a:spcBef>
                        <a:spcAft>
                          <a:spcPts val="0"/>
                        </a:spcAft>
                        <a:buClr>
                          <a:srgbClr val="FFFFFF"/>
                        </a:buClr>
                        <a:buSzPts val="600"/>
                        <a:buFont typeface="Roboto"/>
                        <a:buNone/>
                      </a:pPr>
                      <a:r>
                        <a:rPr lang="es-CL" sz="600" b="1" i="0" u="none" strike="noStrike" cap="none">
                          <a:solidFill>
                            <a:srgbClr val="FFFFFF"/>
                          </a:solidFill>
                          <a:latin typeface="Roboto"/>
                          <a:ea typeface="Roboto"/>
                          <a:cs typeface="Roboto"/>
                          <a:sym typeface="Roboto"/>
                        </a:rPr>
                        <a:t>1</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Metropolitana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255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1F1F1F"/>
                        </a:buClr>
                        <a:buSzPts val="600"/>
                        <a:buFont typeface="Roboto"/>
                        <a:buNone/>
                      </a:pPr>
                      <a:r>
                        <a:rPr lang="es-CL" sz="600" b="1" i="0" u="none" strike="noStrike" cap="none">
                          <a:solidFill>
                            <a:srgbClr val="1F1F1F"/>
                          </a:solidFill>
                          <a:latin typeface="Roboto"/>
                          <a:ea typeface="Roboto"/>
                          <a:cs typeface="Roboto"/>
                          <a:sym typeface="Roboto"/>
                        </a:rPr>
                        <a:t>306,0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500"/>
                        <a:buFont typeface="Roboto"/>
                        <a:buNone/>
                      </a:pPr>
                      <a:r>
                        <a:rPr lang="es-CL" sz="500" b="1" i="0" u="none" strike="noStrike" cap="none">
                          <a:solidFill>
                            <a:srgbClr val="1F1F1F"/>
                          </a:solidFill>
                          <a:latin typeface="Roboto"/>
                          <a:ea typeface="Roboto"/>
                          <a:cs typeface="Roboto"/>
                          <a:sym typeface="Roboto"/>
                        </a:rPr>
                        <a:t>Reunión / Visita gerencial · Levantamiento técnico · Auditoría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gridSpan="3">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SEGUIMIENTO</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3"/>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Bío Bío</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145,4</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Contrato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Araucanía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80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123,7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Contrato preventivo · Convenio insti…</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Los Lagos</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49</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77,5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Reunión / Visita gerencial · Contrato preventivo · Programa …</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Maule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61,0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Contrato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12</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Ñuble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35,3</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Contrato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13</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Los Ríos</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26,1</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Auditoría técnica · Convenio institucional · Programa preven…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EN EJECUCIÓN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 </a:t>
                      </a:r>
                      <a:endParaRPr/>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Valparaíso</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48</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74,4</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Contrato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CAMPAÑA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Magallanes</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28</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39,7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Convenio institu…</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rowSpan="2" gridSpan="3">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TÉC. SUR</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B0F0"/>
                    </a:solidFill>
                  </a:tcPr>
                </a:tc>
                <a:tc rowSpan="2" hMerge="1">
                  <a:txBody>
                    <a:bodyPr/>
                    <a:lstStyle/>
                    <a:p>
                      <a:endParaRPr lang="es-CL"/>
                    </a:p>
                  </a:txBody>
                  <a:tcPr/>
                </a:tc>
                <a:tc rowSpan="2"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Aysén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9,3</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Programa preventivo · Evaluación de renovación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O'Higgins</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47,0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Convenio institu…</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CAMPAÑA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8</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Antofagasta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39</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46,0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Programa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rowSpan="3" gridSpan="2">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ZONA NORTE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tc rowSpan="3" hMerge="1">
                  <a:txBody>
                    <a:bodyPr/>
                    <a:lstStyle/>
                    <a:p>
                      <a:endParaRPr lang="es-CL"/>
                    </a:p>
                  </a:txBody>
                  <a:tcPr/>
                </a:tc>
                <a:extLst>
                  <a:ext uri="{0D108BD9-81ED-4DB2-BD59-A6C34878D82A}">
                    <a16:rowId xmlns:a16="http://schemas.microsoft.com/office/drawing/2014/main" val="10014"/>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Coquimbo</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44,0</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Programa preventivo</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5"/>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11</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Tarapacá</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37,2</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Contrato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6"/>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14</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Arica y Parinacota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22,6</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Auditoría técnica · Convenio institucional · Programa preven…</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ZONA NORTE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7"/>
                  </a:ext>
                </a:extLst>
              </a:tr>
              <a:tr h="213700">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15</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Atacama</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7</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9,8</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500" b="0" i="0" u="none" strike="noStrike" cap="none">
                          <a:solidFill>
                            <a:srgbClr val="1F1F1F"/>
                          </a:solidFill>
                          <a:latin typeface="Roboto"/>
                          <a:ea typeface="Roboto"/>
                          <a:cs typeface="Roboto"/>
                          <a:sym typeface="Roboto"/>
                        </a:rPr>
                        <a:t>Levantamiento técnico · Auditoría técnica · Programa prevent…</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 </a:t>
                      </a:r>
                      <a:endParaRPr/>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500"/>
                        <a:buFont typeface="Roboto"/>
                        <a:buNone/>
                      </a:pPr>
                      <a:r>
                        <a:rPr lang="es-CL" sz="500" b="1" i="0" u="none" strike="noStrike" cap="none">
                          <a:solidFill>
                            <a:srgbClr val="FFFFFF"/>
                          </a:solidFill>
                          <a:latin typeface="Roboto"/>
                          <a:ea typeface="Roboto"/>
                          <a:cs typeface="Roboto"/>
                          <a:sym typeface="Roboto"/>
                        </a:rPr>
                        <a:t>ZONA NORTE</a:t>
                      </a:r>
                      <a:endParaRPr/>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8"/>
                  </a:ext>
                </a:extLst>
              </a:tr>
              <a:tr h="215300">
                <a:tc>
                  <a:txBody>
                    <a:bodyPr/>
                    <a:lstStyle/>
                    <a:p>
                      <a:pPr marL="0" marR="0" lvl="0" indent="0" algn="l"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Total</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800"/>
                        <a:buFont typeface="Roboto"/>
                        <a:buNone/>
                      </a:pPr>
                      <a:r>
                        <a:rPr lang="es-CL" sz="800" b="0" i="0" u="none" strike="noStrike" cap="none">
                          <a:solidFill>
                            <a:srgbClr val="000000"/>
                          </a:solidFill>
                          <a:latin typeface="Roboto"/>
                          <a:ea typeface="Roboto"/>
                          <a:cs typeface="Roboto"/>
                          <a:sym typeface="Roboto"/>
                        </a:rPr>
                        <a:t>1.105,0</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50075">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86600">
                <a:tc>
                  <a:txBody>
                    <a:bodyPr/>
                    <a:lstStyle/>
                    <a:p>
                      <a:pPr marL="0" marR="0" lvl="0" indent="0" algn="l" rtl="0">
                        <a:spcBef>
                          <a:spcPts val="0"/>
                        </a:spcBef>
                        <a:spcAft>
                          <a:spcPts val="0"/>
                        </a:spcAft>
                        <a:buClr>
                          <a:srgbClr val="006B3C"/>
                        </a:buClr>
                        <a:buSzPts val="1000"/>
                        <a:buFont typeface="Roboto"/>
                        <a:buNone/>
                      </a:pPr>
                      <a:r>
                        <a:rPr lang="es-CL" sz="1000" b="1" i="0" u="none" strike="noStrike" cap="none">
                          <a:solidFill>
                            <a:srgbClr val="006B3C"/>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EN EJECUCIÓN: Campaña ya iniciada</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2E5D9F"/>
                        </a:buClr>
                        <a:buSzPts val="1000"/>
                        <a:buFont typeface="Roboto"/>
                        <a:buNone/>
                      </a:pPr>
                      <a:r>
                        <a:rPr lang="es-CL" sz="1000" b="1" i="0" u="none" strike="noStrike" cap="none">
                          <a:solidFill>
                            <a:srgbClr val="2E5D9F"/>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SEGUIMIENTO: Región Metropolitana – continuo</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7030A0"/>
                        </a:buClr>
                        <a:buSzPts val="1000"/>
                        <a:buFont typeface="Roboto"/>
                        <a:buNone/>
                      </a:pPr>
                      <a:r>
                        <a:rPr lang="es-CL" sz="1000" b="1" i="0" u="none" strike="noStrike" cap="none">
                          <a:solidFill>
                            <a:srgbClr val="7030A0"/>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3">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CAMPAÑA: Campaña programada</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221150">
                <a:tc>
                  <a:txBody>
                    <a:bodyPr/>
                    <a:lstStyle/>
                    <a:p>
                      <a:pPr marL="0" marR="0" lvl="0" indent="0" algn="l" rtl="0">
                        <a:spcBef>
                          <a:spcPts val="0"/>
                        </a:spcBef>
                        <a:spcAft>
                          <a:spcPts val="0"/>
                        </a:spcAft>
                        <a:buClr>
                          <a:srgbClr val="00B0F0"/>
                        </a:buClr>
                        <a:buSzPts val="1000"/>
                        <a:buFont typeface="Roboto"/>
                        <a:buNone/>
                      </a:pPr>
                      <a:r>
                        <a:rPr lang="es-CL" sz="1000" b="1" i="0" u="none" strike="noStrike" cap="none">
                          <a:solidFill>
                            <a:srgbClr val="00B0F0"/>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TÉC. SUR: Apoya técnico de la zona sur</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C00000"/>
                        </a:buClr>
                        <a:buSzPts val="1000"/>
                        <a:buFont typeface="Roboto"/>
                        <a:buNone/>
                      </a:pPr>
                      <a:r>
                        <a:rPr lang="es-CL" sz="1000" b="1" i="0" u="none" strike="noStrike" cap="none">
                          <a:solidFill>
                            <a:srgbClr val="C00000"/>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TÉC. NORTE: Propuesta: técnico norte (base La Serena)</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ED7D31"/>
                        </a:buClr>
                        <a:buSzPts val="1000"/>
                        <a:buFont typeface="Roboto"/>
                        <a:buNone/>
                      </a:pPr>
                      <a:r>
                        <a:rPr lang="es-CL" sz="1000" b="1" i="0" u="none" strike="noStrike" cap="none">
                          <a:solidFill>
                            <a:srgbClr val="ED7D31"/>
                          </a:solidFill>
                          <a:latin typeface="Roboto"/>
                          <a:ea typeface="Roboto"/>
                          <a:cs typeface="Roboto"/>
                          <a:sym typeface="Roboto"/>
                        </a:rPr>
                        <a:t>■</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4">
                  <a:txBody>
                    <a:bodyPr/>
                    <a:lstStyle/>
                    <a:p>
                      <a:pPr marL="0" marR="0" lvl="0" indent="0" algn="l" rtl="0">
                        <a:spcBef>
                          <a:spcPts val="0"/>
                        </a:spcBef>
                        <a:spcAft>
                          <a:spcPts val="0"/>
                        </a:spcAft>
                        <a:buClr>
                          <a:srgbClr val="1F1F1F"/>
                        </a:buClr>
                        <a:buSzPts val="600"/>
                        <a:buFont typeface="Roboto"/>
                        <a:buNone/>
                      </a:pPr>
                      <a:r>
                        <a:rPr lang="es-CL" sz="600" b="0" i="0" u="none" strike="noStrike" cap="none">
                          <a:solidFill>
                            <a:srgbClr val="1F1F1F"/>
                          </a:solidFill>
                          <a:latin typeface="Roboto"/>
                          <a:ea typeface="Roboto"/>
                          <a:cs typeface="Roboto"/>
                          <a:sym typeface="Roboto"/>
                        </a:rPr>
                        <a:t>ZONA NORTE: Ronda zona norte coordinada</a:t>
                      </a:r>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22"/>
                  </a:ext>
                </a:extLst>
              </a:tr>
              <a:tr h="169575">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8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bl>
          </a:graphicData>
        </a:graphic>
      </p:graphicFrame>
      <p:sp>
        <p:nvSpPr>
          <p:cNvPr id="491" name="Google Shape;491;p38"/>
          <p:cNvSpPr/>
          <p:nvPr/>
        </p:nvSpPr>
        <p:spPr>
          <a:xfrm>
            <a:off x="8706809" y="3492910"/>
            <a:ext cx="1759789" cy="2251494"/>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38"/>
          <p:cNvSpPr/>
          <p:nvPr/>
        </p:nvSpPr>
        <p:spPr>
          <a:xfrm>
            <a:off x="10843404" y="3348687"/>
            <a:ext cx="1252030" cy="253993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En análisis, mismo técnico dedicado a operación de HLS (oct-27), puede generar prospección con anticipación de la zona norte</a:t>
            </a:r>
            <a:endParaRPr/>
          </a:p>
        </p:txBody>
      </p:sp>
      <p:sp>
        <p:nvSpPr>
          <p:cNvPr id="493" name="Google Shape;493;p38"/>
          <p:cNvSpPr/>
          <p:nvPr/>
        </p:nvSpPr>
        <p:spPr>
          <a:xfrm rot="5400000">
            <a:off x="10394831" y="4373594"/>
            <a:ext cx="586597" cy="215660"/>
          </a:xfrm>
          <a:prstGeom prst="triangle">
            <a:avLst>
              <a:gd name="adj" fmla="val 50000"/>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499" name="Google Shape;499;p3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0" name="Google Shape;500;p3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Metropolitana</a:t>
            </a:r>
            <a:endParaRPr/>
          </a:p>
        </p:txBody>
      </p:sp>
      <p:graphicFrame>
        <p:nvGraphicFramePr>
          <p:cNvPr id="501" name="Google Shape;501;p39"/>
          <p:cNvGraphicFramePr/>
          <p:nvPr/>
        </p:nvGraphicFramePr>
        <p:xfrm>
          <a:off x="323850" y="1203394"/>
          <a:ext cx="11235575" cy="5303445"/>
        </p:xfrm>
        <a:graphic>
          <a:graphicData uri="http://schemas.openxmlformats.org/drawingml/2006/table">
            <a:tbl>
              <a:tblPr>
                <a:noFill/>
                <a:tableStyleId>{13D43741-7D58-4360-86AC-F6E32FA5FF39}</a:tableStyleId>
              </a:tblPr>
              <a:tblGrid>
                <a:gridCol w="1706050">
                  <a:extLst>
                    <a:ext uri="{9D8B030D-6E8A-4147-A177-3AD203B41FA5}">
                      <a16:colId xmlns:a16="http://schemas.microsoft.com/office/drawing/2014/main" val="20000"/>
                    </a:ext>
                  </a:extLst>
                </a:gridCol>
                <a:gridCol w="479325">
                  <a:extLst>
                    <a:ext uri="{9D8B030D-6E8A-4147-A177-3AD203B41FA5}">
                      <a16:colId xmlns:a16="http://schemas.microsoft.com/office/drawing/2014/main" val="20001"/>
                    </a:ext>
                  </a:extLst>
                </a:gridCol>
                <a:gridCol w="481350">
                  <a:extLst>
                    <a:ext uri="{9D8B030D-6E8A-4147-A177-3AD203B41FA5}">
                      <a16:colId xmlns:a16="http://schemas.microsoft.com/office/drawing/2014/main" val="20002"/>
                    </a:ext>
                  </a:extLst>
                </a:gridCol>
                <a:gridCol w="479325">
                  <a:extLst>
                    <a:ext uri="{9D8B030D-6E8A-4147-A177-3AD203B41FA5}">
                      <a16:colId xmlns:a16="http://schemas.microsoft.com/office/drawing/2014/main" val="20003"/>
                    </a:ext>
                  </a:extLst>
                </a:gridCol>
                <a:gridCol w="479325">
                  <a:extLst>
                    <a:ext uri="{9D8B030D-6E8A-4147-A177-3AD203B41FA5}">
                      <a16:colId xmlns:a16="http://schemas.microsoft.com/office/drawing/2014/main" val="20004"/>
                    </a:ext>
                  </a:extLst>
                </a:gridCol>
                <a:gridCol w="432600">
                  <a:extLst>
                    <a:ext uri="{9D8B030D-6E8A-4147-A177-3AD203B41FA5}">
                      <a16:colId xmlns:a16="http://schemas.microsoft.com/office/drawing/2014/main" val="20005"/>
                    </a:ext>
                  </a:extLst>
                </a:gridCol>
                <a:gridCol w="503700">
                  <a:extLst>
                    <a:ext uri="{9D8B030D-6E8A-4147-A177-3AD203B41FA5}">
                      <a16:colId xmlns:a16="http://schemas.microsoft.com/office/drawing/2014/main" val="20006"/>
                    </a:ext>
                  </a:extLst>
                </a:gridCol>
                <a:gridCol w="503700">
                  <a:extLst>
                    <a:ext uri="{9D8B030D-6E8A-4147-A177-3AD203B41FA5}">
                      <a16:colId xmlns:a16="http://schemas.microsoft.com/office/drawing/2014/main" val="20007"/>
                    </a:ext>
                  </a:extLst>
                </a:gridCol>
                <a:gridCol w="454950">
                  <a:extLst>
                    <a:ext uri="{9D8B030D-6E8A-4147-A177-3AD203B41FA5}">
                      <a16:colId xmlns:a16="http://schemas.microsoft.com/office/drawing/2014/main" val="20008"/>
                    </a:ext>
                  </a:extLst>
                </a:gridCol>
                <a:gridCol w="649925">
                  <a:extLst>
                    <a:ext uri="{9D8B030D-6E8A-4147-A177-3AD203B41FA5}">
                      <a16:colId xmlns:a16="http://schemas.microsoft.com/office/drawing/2014/main" val="20009"/>
                    </a:ext>
                  </a:extLst>
                </a:gridCol>
                <a:gridCol w="651950">
                  <a:extLst>
                    <a:ext uri="{9D8B030D-6E8A-4147-A177-3AD203B41FA5}">
                      <a16:colId xmlns:a16="http://schemas.microsoft.com/office/drawing/2014/main" val="20010"/>
                    </a:ext>
                  </a:extLst>
                </a:gridCol>
                <a:gridCol w="641800">
                  <a:extLst>
                    <a:ext uri="{9D8B030D-6E8A-4147-A177-3AD203B41FA5}">
                      <a16:colId xmlns:a16="http://schemas.microsoft.com/office/drawing/2014/main" val="20011"/>
                    </a:ext>
                  </a:extLst>
                </a:gridCol>
                <a:gridCol w="3771575">
                  <a:extLst>
                    <a:ext uri="{9D8B030D-6E8A-4147-A177-3AD203B41FA5}">
                      <a16:colId xmlns:a16="http://schemas.microsoft.com/office/drawing/2014/main" val="20012"/>
                    </a:ext>
                  </a:extLst>
                </a:gridCol>
              </a:tblGrid>
              <a:tr h="1119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Incardia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D46000"/>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289950">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D46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D46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8519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MOVIL CENTINELA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Reunión gerencial.</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Levantamiento técnico completo.</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Oferta corporativa multiequipamiento.</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Contrato marco trianual.</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Programa de renovación escalonada para los equipos más antiguos.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4724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POSTA CENTRAL</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45,3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Auditoría técnica.</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Identificación de equipos fuera de contrato.</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Oferta de contrato preventivo para equipos críticos.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4724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CLINICO SAN BORJA-ARRIARAN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22,5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Visita conjunta Comercial + Servicio.</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Presentar análisis de riesgo asociado a antigüedad.</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Contrato preventivo por familias tecnológicas.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r h="4300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UC CHRISTUS SERVICIOS AMBULATORIOS SPA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Levantamiento de endoscopía.</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Oferta de mantenimiento integral.</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Potenciar contratos y venta de repuestos.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5"/>
                  </a:ext>
                </a:extLst>
              </a:tr>
              <a:tr h="4300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ALEMANA DE SANTIAGO S 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Revisión de equipos sin cobertura.</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Presentar indicadores de disponibilidad.</a:t>
                      </a:r>
                      <a:br>
                        <a:rPr lang="es-CL" sz="1100" b="0" i="0" u="none" strike="noStrike" cap="none">
                          <a:solidFill>
                            <a:srgbClr val="1B1E23"/>
                          </a:solidFill>
                          <a:latin typeface="Quattrocento Sans"/>
                          <a:ea typeface="Quattrocento Sans"/>
                          <a:cs typeface="Quattrocento Sans"/>
                          <a:sym typeface="Quattrocento Sans"/>
                        </a:rPr>
                      </a:br>
                      <a:r>
                        <a:rPr lang="es-CL" sz="1100" b="0" i="0" u="none" strike="noStrike" cap="none">
                          <a:solidFill>
                            <a:srgbClr val="1B1E23"/>
                          </a:solidFill>
                          <a:latin typeface="Quattrocento Sans"/>
                          <a:ea typeface="Quattrocento Sans"/>
                          <a:cs typeface="Quattrocento Sans"/>
                          <a:sym typeface="Quattrocento Sans"/>
                        </a:rPr>
                        <a:t>Buscar acuerdo marco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6"/>
                  </a:ext>
                </a:extLst>
              </a:tr>
              <a:tr h="3559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JUNAEB ESCUELA NUEVA ZELANDIA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preventivo anual, capacitación a usuarios y seguimiento para futuras renovaciones.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chemeClr val="dk1"/>
                    </a:solidFill>
                  </a:tcPr>
                </a:tc>
                <a:extLst>
                  <a:ext uri="{0D108BD9-81ED-4DB2-BD59-A6C34878D82A}">
                    <a16:rowId xmlns:a16="http://schemas.microsoft.com/office/drawing/2014/main" val="10007"/>
                  </a:ext>
                </a:extLst>
              </a:tr>
              <a:tr h="2395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JOHNSON &amp; JOHNSON DE CHILE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Contrato en último tramite</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8"/>
                  </a:ext>
                </a:extLst>
              </a:tr>
              <a:tr h="2893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STEGGER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Integrar a rutas programadas de mantenimiento y oferta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2893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SAN JUAN DE DIOS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Levantamiento técnico completo y propuesta de cobertura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2893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MUTUAL DE SEGURIDAD SANTIAGO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de disponibilidad operacional y mantenimiento preventivo periódico.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123075">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121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255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305,8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graphicFrame>
        <p:nvGraphicFramePr>
          <p:cNvPr id="507" name="Google Shape;507;p40"/>
          <p:cNvGraphicFramePr/>
          <p:nvPr/>
        </p:nvGraphicFramePr>
        <p:xfrm>
          <a:off x="323850" y="1203394"/>
          <a:ext cx="10582275" cy="431238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LOS ANGELES DR. VICTOR RIOS RUIZ</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28,4</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Visita trimestral programada.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Diagnóstico gratuito inicial.</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Oferta de contrato preventivo integral.</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SANATORIO ALEMAN S.A</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26,6</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Presentar riesgos de obsolescencia.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Paquete PM + correctivos.</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Potenciar venta de repuestos.</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 LOS TILOS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14,9</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Convenio de soporte, auditoría técnica y programa preventivo anual.</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UNIVERSIDAD DEL DESARROLLO CONCEPCION</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12,7</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Convenio académico y de soporte.</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Cobertura para laboratorios y simulación.</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CENTRAL ODONTOLGICA II ZONA NAVAL TALCAHUANO</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12,3</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anual preventivo, gestión institucional y stock de repuestos críticos.</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CONSULTORIO NORTE</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12,3</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Incorporación a rutas regionales y programa preventivo anual.</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UNIVERSIDAD DE CONCEPCION</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10,2</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Levantamiento de toda la base instalada.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Recuperar equipos sin seguimiento técnico.</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UNIVERSITARIA CONCEPCION</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10,2</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Auditoría técnica completa de todos los equipos.</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Identificación de equipos fuera de cobertura.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Presentación de contrato preventivo anual.</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Programa de visitas semestrales desde la base Biobío.</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Propuesta de stock crítico de repuestos.</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Construcción de indicadores de disponibilidad para la administración clínica.</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LABORATORIO CLINICO CENTRAL LTDA.</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9,2</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de disponibilidad operacional y mantenimiento preventivo.</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BIO BIO SPA</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8,6</a:t>
                      </a:r>
                      <a:endParaRPr/>
                    </a:p>
                  </a:txBody>
                  <a:tcPr marL="9525" marR="9525" marT="9525" marB="0" anchor="b">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Auditoría técnica y propuesta de contrato preventivo.</a:t>
                      </a:r>
                      <a:endParaRPr/>
                    </a:p>
                  </a:txBody>
                  <a:tcPr marL="9525" marR="9525" marT="9525" marB="0" anchor="b">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5,1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53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107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145,4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cxnSp>
        <p:nvCxnSpPr>
          <p:cNvPr id="508" name="Google Shape;508;p4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9" name="Google Shape;509;p4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Bío Bío</a:t>
            </a:r>
            <a:endParaRPr sz="1400">
              <a:solidFill>
                <a:srgbClr val="33448D"/>
              </a:solidFill>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Plan de Acción Para Clientes por Región </a:t>
            </a:r>
            <a:endParaRPr/>
          </a:p>
        </p:txBody>
      </p:sp>
      <p:graphicFrame>
        <p:nvGraphicFramePr>
          <p:cNvPr id="515" name="Google Shape;515;p41"/>
          <p:cNvGraphicFramePr/>
          <p:nvPr/>
        </p:nvGraphicFramePr>
        <p:xfrm>
          <a:off x="323850" y="1203394"/>
          <a:ext cx="10582275" cy="507744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56725">
                <a:tc rowSpan="2">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chemeClr val="dk1"/>
                        </a:buClr>
                        <a:buSzPts val="600"/>
                        <a:buFont typeface="Calibri"/>
                        <a:buNone/>
                      </a:pPr>
                      <a:r>
                        <a:rPr lang="es-CL" sz="600" b="1" i="0" u="none" strike="noStrike" cap="none">
                          <a:solidFill>
                            <a:schemeClr val="dk1"/>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chemeClr val="dk1"/>
                        </a:buClr>
                        <a:buSzPts val="600"/>
                        <a:buFont typeface="Calibri"/>
                        <a:buNone/>
                      </a:pPr>
                      <a:r>
                        <a:rPr lang="es-CL" sz="600" b="1" i="0" u="none" strike="noStrike" cap="none">
                          <a:solidFill>
                            <a:schemeClr val="dk1"/>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chemeClr val="dk1"/>
                        </a:buClr>
                        <a:buSzPts val="600"/>
                        <a:buFont typeface="Calibri"/>
                        <a:buNone/>
                      </a:pPr>
                      <a:r>
                        <a:rPr lang="es-CL" sz="600" b="1" i="0" u="none" strike="noStrike" cap="none">
                          <a:solidFill>
                            <a:schemeClr val="dk1"/>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chemeClr val="dk1"/>
                        </a:buClr>
                        <a:buSzPts val="600"/>
                        <a:buFont typeface="Calibri"/>
                        <a:buNone/>
                      </a:pPr>
                      <a:r>
                        <a:rPr lang="es-CL" sz="600" b="1" i="0" u="none" strike="noStrike" cap="none">
                          <a:solidFill>
                            <a:schemeClr val="dk1"/>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332725">
                <a:tc vMerge="1">
                  <a:txBody>
                    <a:bodyPr/>
                    <a:lstStyle/>
                    <a:p>
                      <a:endParaRPr lang="es-CL"/>
                    </a:p>
                  </a:txBody>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6491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REÑACA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18,4</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Auditoría preventiva.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Contrato anual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4936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CENTRAL ODONTOLOGICA PRIMERA ZONA NAVAL VIÑA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Convenio institucional de mantenimiento y soporte especializado.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918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CENT. ODONT. DE VALPARAISO 1° ZONA NAVAL</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preventivo anual y fortalecimiento de vínculo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918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CLINICO IST VIÑA DEL MAR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Levantamiento técnico y propuesta de cobertura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918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RAUL SILVA HENRIQUEZ</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Gestión mediante ruta regional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63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QUILLOTA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Levantamiento de equipos.</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Contrato parcial por criticidad.</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7"/>
                  </a:ext>
                </a:extLst>
              </a:tr>
              <a:tr h="3328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LLOLLEO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4,9</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Cobertura preventiva mediante planificación de rutas.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9761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LA LIGUA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Levantamiento técnico y propuesta preventiva básica.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3328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QUILPUE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Evaluación de cobertura y propuesta de mantenimiento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720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HANGA ROA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preventivo anual coordinado desde Santiago.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172000">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4,4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74,3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cxnSp>
        <p:nvCxnSpPr>
          <p:cNvPr id="516" name="Google Shape;516;p4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23" name="Google Shape;523;p4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24" name="Google Shape;524;p4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la Araucanía</a:t>
            </a:r>
            <a:endParaRPr/>
          </a:p>
        </p:txBody>
      </p:sp>
      <p:graphicFrame>
        <p:nvGraphicFramePr>
          <p:cNvPr id="525" name="Google Shape;525;p42"/>
          <p:cNvGraphicFramePr/>
          <p:nvPr/>
        </p:nvGraphicFramePr>
        <p:xfrm>
          <a:off x="323850" y="1203394"/>
          <a:ext cx="10582275" cy="367247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ANGOL</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28,4</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Campaña de recuperación de BI.</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Oferta de contrato preventivo.</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Identificación de equipos cercanos a renovación.</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UNIVERSIDAD DE LA FRONTERA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27,2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Convenio institucional.</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Cobertura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LAUTARO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21,3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Evaluación de riesgo operativo y propuesta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VICTORIA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preventivo anual y reuniones periódicas.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PUCON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800"/>
                        <a:buFont typeface="Quattrocento Sans"/>
                        <a:buNone/>
                      </a:pPr>
                      <a:r>
                        <a:rPr lang="es-CL" sz="800" b="0" i="0" u="none" strike="noStrike" cap="none">
                          <a:solidFill>
                            <a:srgbClr val="1B1E23"/>
                          </a:solidFill>
                          <a:latin typeface="Quattrocento Sans"/>
                          <a:ea typeface="Quattrocento Sans"/>
                          <a:cs typeface="Quattrocento Sans"/>
                          <a:sym typeface="Quattrocento Sans"/>
                        </a:rPr>
                        <a:t>Cobertura regional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TRAIGUEN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800"/>
                        <a:buFont typeface="Quattrocento Sans"/>
                        <a:buNone/>
                      </a:pPr>
                      <a:r>
                        <a:rPr lang="es-CL" sz="800" b="0" i="0" u="none" strike="noStrike" cap="none">
                          <a:solidFill>
                            <a:srgbClr val="1B1E23"/>
                          </a:solidFill>
                          <a:latin typeface="Quattrocento Sans"/>
                          <a:ea typeface="Quattrocento Sans"/>
                          <a:cs typeface="Quattrocento Sans"/>
                          <a:sym typeface="Quattrocento Sans"/>
                        </a:rPr>
                        <a:t>Levantamiento técnico y cobertura planificada.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COLLIPULLI</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800"/>
                        <a:buFont typeface="Quattrocento Sans"/>
                        <a:buNone/>
                      </a:pPr>
                      <a:r>
                        <a:rPr lang="es-CL" sz="800" b="0" i="0" u="none" strike="noStrike" cap="none">
                          <a:solidFill>
                            <a:srgbClr val="1B1E23"/>
                          </a:solidFill>
                          <a:latin typeface="Quattrocento Sans"/>
                          <a:ea typeface="Quattrocento Sans"/>
                          <a:cs typeface="Quattrocento Sans"/>
                          <a:sym typeface="Quattrocento Sans"/>
                        </a:rPr>
                        <a:t>Programa preventivo y evaluación de renovación.</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LONQUIMAY</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Incorporación a rutas regionales de soporte.</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ERCILLA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Programa preventivo básico.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VICTORIA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Cobertura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6,4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123,7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1" name="Google Shape;531;p4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32" name="Google Shape;532;p4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del Maule</a:t>
            </a:r>
            <a:endParaRPr/>
          </a:p>
        </p:txBody>
      </p:sp>
      <p:graphicFrame>
        <p:nvGraphicFramePr>
          <p:cNvPr id="533" name="Google Shape;533;p43"/>
          <p:cNvGraphicFramePr/>
          <p:nvPr/>
        </p:nvGraphicFramePr>
        <p:xfrm>
          <a:off x="323850" y="1203394"/>
          <a:ext cx="10582275" cy="372449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I. MUNICIPALIDAD DE PARRAL - DPTO SALUD</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12,9</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Convenio institucional y programa preventivo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CURICO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Levantamiento técnico institucional y propuesta de cobertura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BASE CURICO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Contrato preventivo institucional y soporte programado.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LONGAVI</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Incorporación a rutas preventivas regionales.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COLBUN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preventivo y seguimiento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RIO CLARO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Cobertura preventiva básica.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YERBAS BUENAS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anual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LAS AMERICAS TALCA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Cobertura preventiva regional.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CARABINEROS CURICO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Convenio institucional de soporte técnico.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CLINICA PICHIMAPU SPA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Auditoría técnica y propuesta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1B1E23"/>
                        </a:buClr>
                        <a:buSzPts val="900"/>
                        <a:buFont typeface="Calibri"/>
                        <a:buNone/>
                      </a:pPr>
                      <a:r>
                        <a:rPr lang="es-CL" sz="900" b="1" i="0" u="none" strike="noStrike" cap="none">
                          <a:solidFill>
                            <a:srgbClr val="1B1E23"/>
                          </a:solidFill>
                          <a:latin typeface="Calibri"/>
                          <a:ea typeface="Calibri"/>
                          <a:cs typeface="Calibri"/>
                          <a:sym typeface="Calibri"/>
                        </a:rPr>
                        <a:t>60,8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1B1E23"/>
                        </a:buClr>
                        <a:buSzPts val="900"/>
                        <a:buFont typeface="Calibri"/>
                        <a:buNone/>
                      </a:pPr>
                      <a:r>
                        <a:rPr lang="es-CL" sz="900" b="1"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39" name="Google Shape;539;p4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0" name="Google Shape;540;p4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Lagos</a:t>
            </a:r>
            <a:endParaRPr/>
          </a:p>
        </p:txBody>
      </p:sp>
      <p:graphicFrame>
        <p:nvGraphicFramePr>
          <p:cNvPr id="541" name="Google Shape;541;p44"/>
          <p:cNvGraphicFramePr/>
          <p:nvPr/>
        </p:nvGraphicFramePr>
        <p:xfrm>
          <a:off x="323850" y="1203394"/>
          <a:ext cx="10582275" cy="382051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CASTRO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28,3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Visita gerencial.</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Diagnóstico completo.</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Propuesta de contrato integral.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ALERCE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preventivo utilizando base Puerto Montt.</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JUNAEB MODULO FRUTILLAR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preventivo anual y capacitación usuarios.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FUTALEUFU</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Cobertura programada en rondas regionales.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PUERTO OCTAY</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Programa preventivo y revisión periódica.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CHUYACA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Cobertura preventiva programada desde Osorno.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REDSALUD PUERTO MONTT</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Recuperación de activos sin cobertura.</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Contrato preventivo programado.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HOSPITAL DE FRUTILLAR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9,3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8DB4E2"/>
                    </a:solidFill>
                  </a:tcPr>
                </a:tc>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Ruta técnica trimestral.</a:t>
                      </a:r>
                      <a:br>
                        <a:rPr lang="es-CL" sz="900" b="0" i="0" u="none" strike="noStrike" cap="none">
                          <a:solidFill>
                            <a:srgbClr val="1B1E23"/>
                          </a:solidFill>
                          <a:latin typeface="Calibri"/>
                          <a:ea typeface="Calibri"/>
                          <a:cs typeface="Calibri"/>
                          <a:sym typeface="Calibri"/>
                        </a:rPr>
                      </a:br>
                      <a:r>
                        <a:rPr lang="es-CL" sz="900" b="0" i="0" u="none" strike="noStrike" cap="none">
                          <a:solidFill>
                            <a:srgbClr val="1B1E23"/>
                          </a:solidFill>
                          <a:latin typeface="Calibri"/>
                          <a:ea typeface="Calibri"/>
                          <a:cs typeface="Calibri"/>
                          <a:sym typeface="Calibri"/>
                        </a:rPr>
                        <a:t>Programa de inspección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solidFill>
                      <a:srgbClr val="8DB4E2"/>
                    </a:solidFill>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CESFAM ANTONIO VARAS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Integración en rutas técnicas programadas.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POSTA CHAUCHIL</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12,4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rgbClr val="1B1E23"/>
                        </a:buClr>
                        <a:buSzPts val="900"/>
                        <a:buFont typeface="Calibri"/>
                        <a:buNone/>
                      </a:pPr>
                      <a:r>
                        <a:rPr lang="es-CL" sz="900" b="0" i="0" u="none" strike="noStrike" cap="none">
                          <a:solidFill>
                            <a:srgbClr val="1B1E23"/>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rgbClr val="1B1E23"/>
                        </a:buClr>
                        <a:buSzPts val="1100"/>
                        <a:buFont typeface="Quattrocento Sans"/>
                        <a:buNone/>
                      </a:pPr>
                      <a:r>
                        <a:rPr lang="es-CL" sz="1100" b="0" i="0" u="none" strike="noStrike" cap="none">
                          <a:solidFill>
                            <a:srgbClr val="1B1E23"/>
                          </a:solidFill>
                          <a:latin typeface="Quattrocento Sans"/>
                          <a:ea typeface="Quattrocento Sans"/>
                          <a:cs typeface="Quattrocento Sans"/>
                          <a:sym typeface="Quattrocento Sans"/>
                        </a:rPr>
                        <a:t>Cobertura preventiva regional.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49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77,5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47" name="Google Shape;547;p45"/>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8" name="Google Shape;548;p45"/>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O’Higgins</a:t>
            </a:r>
            <a:endParaRPr/>
          </a:p>
        </p:txBody>
      </p:sp>
      <p:graphicFrame>
        <p:nvGraphicFramePr>
          <p:cNvPr id="549" name="Google Shape;549;p45"/>
          <p:cNvGraphicFramePr/>
          <p:nvPr/>
        </p:nvGraphicFramePr>
        <p:xfrm>
          <a:off x="323850" y="1203394"/>
          <a:ext cx="10582275" cy="371383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N° 2 RANCAGUA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técnico y propuesta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REDSALUD RANCAGUA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Contrato institucional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REGIONAL DE RANCAGUA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5,4</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y propuesta de soporte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SAN VICENTE TAGUA TAGUA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N°1 RANCAGUA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básico.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POSTA PAILIMO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Evaluación de activos y propuesta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RENGO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regional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RENGO ORIENTE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LITUECHE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regional.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SERVICIO SALUD O'HIGGINS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regional.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7,9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55" name="Google Shape;555;p46"/>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56" name="Google Shape;556;p46"/>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Coquimbo</a:t>
            </a:r>
            <a:endParaRPr/>
          </a:p>
        </p:txBody>
      </p:sp>
      <p:graphicFrame>
        <p:nvGraphicFramePr>
          <p:cNvPr id="557" name="Google Shape;557;p46"/>
          <p:cNvGraphicFramePr/>
          <p:nvPr/>
        </p:nvGraphicFramePr>
        <p:xfrm>
          <a:off x="323850" y="1203394"/>
          <a:ext cx="10582275" cy="371383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LA SERENA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12,9</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Desarrollo de cuenta estratégica y propuesta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EL SAUCE COQUIMBO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OVALLE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5,4</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Evaluación completa de base instalada.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SAN JUAN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Incorporación a rutas regionales.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LILA CORTES (TIERRAS BLANCAS)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VENTA ENDOSCOPIA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comercial y generación de contratos.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PUNITAQUI</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SALAMANCA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URBANO III OVALLE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FRAY JORGE OVALLE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27</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44,0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63" name="Google Shape;563;p47"/>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64" name="Google Shape;564;p47"/>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Antofagasta</a:t>
            </a:r>
            <a:endParaRPr/>
          </a:p>
        </p:txBody>
      </p:sp>
      <p:graphicFrame>
        <p:nvGraphicFramePr>
          <p:cNvPr id="565" name="Google Shape;565;p47"/>
          <p:cNvGraphicFramePr/>
          <p:nvPr/>
        </p:nvGraphicFramePr>
        <p:xfrm>
          <a:off x="323850" y="1203394"/>
          <a:ext cx="10582275" cy="387993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REGIONAL DE ANTOFAGASTA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21,3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Cuenta estratégica regional y propuesta integral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CARLOS CISTERNA DE CALAMA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técnico y cobertura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DIAGNORAD ANTOFAGASTA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y disponibilidad operacional.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REGIONAL LA PORTADA DE ANTOFAGASTA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y propuesta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SOCIEDAD VERDEJO Y VERDEJO LIMITADA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básico de mantenimiento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CENTRO OFTALMOLOGICO LASER CEOLA ANTOFAGASTA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y soporte especializado.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E.CL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técnico y seguimiento comercial.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MEJILLONES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regional.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POSTA RURAL CALETA PAPOSO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programada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CENTRO CLINICO BIOIMAGEN DENTAL Y CIA LTDA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Servicio preventivo y soporte técnico.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7,4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46,2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1" name="Google Shape;571;p48"/>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72" name="Google Shape;572;p48"/>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Ñuble</a:t>
            </a:r>
            <a:endParaRPr/>
          </a:p>
        </p:txBody>
      </p:sp>
      <p:graphicFrame>
        <p:nvGraphicFramePr>
          <p:cNvPr id="573" name="Google Shape;573;p48"/>
          <p:cNvGraphicFramePr/>
          <p:nvPr/>
        </p:nvGraphicFramePr>
        <p:xfrm>
          <a:off x="323850" y="1203394"/>
          <a:ext cx="9597300" cy="420146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ANDES SALUD CHILLAN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de base instalada, propuesta de mantenimiento preventivo anual y presentación de indicadores de continuidad operacional.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CLINICO HERMINDA MARTIN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técnico institucional, identificación de equipos sin cobertura y propuesta de contrato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COBQUECURA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Incorporación a rutas preventivas regionales y programa anual de mantención.</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SAN NICOLAS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 y seguimiento de necesidades de renovación.</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PORTEZUELO ÑUBLE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3,3</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mediante visitas programadas.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ULTRAESTACION CHILLAN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Integración a rutas técnicas regionales y programa de inspección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EL CARMEN DE CHILLAN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Evaluación de base instalada y propuesta de cobertura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CHILLAN VIEJO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básico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BACHELET CHILLAN VIEJO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Mantención preventiva programada y seguimiento técnico.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JUNAEB SAN NICOLAS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 capacitación de usuarios y preparación para futuras renovaciones.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5,3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35,3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79" name="Google Shape;579;p4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0" name="Google Shape;580;p4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Magallanes</a:t>
            </a:r>
            <a:endParaRPr/>
          </a:p>
        </p:txBody>
      </p:sp>
      <p:graphicFrame>
        <p:nvGraphicFramePr>
          <p:cNvPr id="581" name="Google Shape;581;p49"/>
          <p:cNvGraphicFramePr/>
          <p:nvPr/>
        </p:nvGraphicFramePr>
        <p:xfrm>
          <a:off x="323850" y="1203394"/>
          <a:ext cx="9597300" cy="389213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THOMAS FENTON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6,9</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 y soporte remoto prioritario.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SOCIEDAD CMA-COSTANERA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técnico y propuesta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SERVICIOS ODONTOLOGICOS AMAR SPA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y seguimiento comercial.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CLINICO DE MAGALLANES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5,9</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Contrato institucional de mantenimiento y continuidad operacional.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PUERTO WILLIAMS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anual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PUERTO NATALES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periódico y evaluación de renovación.</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MAGALLANES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y propuesta anual de soporte.</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CENTROS MEDICO IMET</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de disponibilidad operacional y mantenimiento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PORVENIR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mediante visitas programadas.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SERVICIO SALUD MAGALLANES, HOSPITAL DE PUNTA ARENA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regional para soporte técnico y renovación tecnológica futura.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5,8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8,3</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28</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7,4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40,0</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87" name="Google Shape;587;p5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8" name="Google Shape;588;p5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Tarapacá</a:t>
            </a:r>
            <a:endParaRPr/>
          </a:p>
        </p:txBody>
      </p:sp>
      <p:graphicFrame>
        <p:nvGraphicFramePr>
          <p:cNvPr id="589" name="Google Shape;589;p50"/>
          <p:cNvGraphicFramePr/>
          <p:nvPr/>
        </p:nvGraphicFramePr>
        <p:xfrm>
          <a:off x="323850" y="1203394"/>
          <a:ext cx="9597300" cy="411919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IQUIQUE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completo de activos, propuesta institucional de mantenimiento y análisis de criticidad.</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DOCTOR ERNESTO TORRES GALDAMES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institucional y evaluación de renovación tecnológica.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PICA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 durante rondas zonales.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POSTA PACHICA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básico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SERVICLINICA IQUIQUE INMOBILIARIA S.A.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y propuesta de contrato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SERVICIO SALUD IQUIQUE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regional y soporte para futuros proyectos.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PEDRO PULGAR DE ALTO HOSPICIO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y seguimiento de activos.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POSTA HUARA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FACHS IQUIQUE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y planificación anual de servicios.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POLICLINICO NAVAL IQUIQUE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institucional y fortalecimiento de relación para futuras licitaciones.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11"/>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10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6,1</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7,2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37,4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595" name="Google Shape;595;p5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96" name="Google Shape;596;p5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Los Ríos</a:t>
            </a:r>
            <a:endParaRPr/>
          </a:p>
        </p:txBody>
      </p:sp>
      <p:graphicFrame>
        <p:nvGraphicFramePr>
          <p:cNvPr id="597" name="Google Shape;597;p51"/>
          <p:cNvGraphicFramePr/>
          <p:nvPr/>
        </p:nvGraphicFramePr>
        <p:xfrm>
          <a:off x="323850" y="1203394"/>
          <a:ext cx="9597300" cy="378504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LANCO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Evaluación técnica de activos y propuesta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BASE DE VALDIVIA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4,7</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Cuenta estratégica regional, propuesta integral de mantenimiento y plan de renovación tecnológica.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COSTANERA VALDIVIA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y propuesta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I.MUNICIPALIDAD DE LA UNION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9,2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para soporte de equipamiento y servicios asociados.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LA UNION</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y fortalecimiento de relación institucional.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SOCIEDAD DE SERVICIOS MEDICOS Y ODONTOLOGICOS MERI</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básico y soporte programado.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UNIVERSIDAD AUSTRAL DE VALDIVIA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soporte para laboratorios y cobertura preventiva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8"/>
                  </a:ext>
                </a:extLst>
              </a:tr>
              <a:tr h="5036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ALEMANA DE VALDIVIA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preventiva y propuesta de cobertura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9"/>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FUTRONO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Integración a rutas regionales programadas.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10"/>
                  </a:ext>
                </a:extLst>
              </a:tr>
              <a:tr h="99750">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TOTAL · 9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8,4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15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8,9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26,4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chemeClr val="dk1"/>
                        </a:buClr>
                        <a:buSzPts val="900"/>
                        <a:buFont typeface="Calibri"/>
                        <a:buNone/>
                      </a:pPr>
                      <a:r>
                        <a:rPr lang="es-CL" sz="900" b="1" i="0" u="none" strike="noStrike" cap="none">
                          <a:solidFill>
                            <a:schemeClr val="dk1"/>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03" name="Google Shape;603;p5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04" name="Google Shape;604;p5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Arica y Parinacota</a:t>
            </a:r>
            <a:endParaRPr/>
          </a:p>
        </p:txBody>
      </p:sp>
      <p:graphicFrame>
        <p:nvGraphicFramePr>
          <p:cNvPr id="605" name="Google Shape;605;p52"/>
          <p:cNvGraphicFramePr/>
          <p:nvPr/>
        </p:nvGraphicFramePr>
        <p:xfrm>
          <a:off x="323850" y="1203394"/>
          <a:ext cx="10582275" cy="284053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467450">
                  <a:extLst>
                    <a:ext uri="{9D8B030D-6E8A-4147-A177-3AD203B41FA5}">
                      <a16:colId xmlns:a16="http://schemas.microsoft.com/office/drawing/2014/main" val="20006"/>
                    </a:ext>
                  </a:extLst>
                </a:gridCol>
                <a:gridCol w="667775">
                  <a:extLst>
                    <a:ext uri="{9D8B030D-6E8A-4147-A177-3AD203B41FA5}">
                      <a16:colId xmlns:a16="http://schemas.microsoft.com/office/drawing/2014/main" val="20007"/>
                    </a:ext>
                  </a:extLst>
                </a:gridCol>
                <a:gridCol w="669875">
                  <a:extLst>
                    <a:ext uri="{9D8B030D-6E8A-4147-A177-3AD203B41FA5}">
                      <a16:colId xmlns:a16="http://schemas.microsoft.com/office/drawing/2014/main" val="20008"/>
                    </a:ext>
                  </a:extLst>
                </a:gridCol>
                <a:gridCol w="659425">
                  <a:extLst>
                    <a:ext uri="{9D8B030D-6E8A-4147-A177-3AD203B41FA5}">
                      <a16:colId xmlns:a16="http://schemas.microsoft.com/office/drawing/2014/main" val="20009"/>
                    </a:ext>
                  </a:extLst>
                </a:gridCol>
                <a:gridCol w="3875225">
                  <a:extLst>
                    <a:ext uri="{9D8B030D-6E8A-4147-A177-3AD203B41FA5}">
                      <a16:colId xmlns:a16="http://schemas.microsoft.com/office/drawing/2014/main" val="20010"/>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Endoscopía</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28D2C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CENTRO CLINICO MILITAR ARICA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y programa anual de mantenimiento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SERVICIO DE SALUD ARICA HOSP DR JUAN NOE CREVANI</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6,5</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Propuesta institucional de mantenimiento y continuidad operacional.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SOCIEDAD ARICA SALUD LTDA. (ARICA)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de equipos e identificación de oportunidades de contrato.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ARICALAB SPA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básico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REDSALUD ARICA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Evaluación de base instalada y generación de propuesta preventiva.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1717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POLICLINICO GENARMERIA DE ARICA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institucional de soporte técnico.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11470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GENDARMERIA DE ARICA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Convenio institucional y planificación anual de mantenimiento.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tcPr>
                </a:tc>
                <a:extLst>
                  <a:ext uri="{0D108BD9-81ED-4DB2-BD59-A6C34878D82A}">
                    <a16:rowId xmlns:a16="http://schemas.microsoft.com/office/drawing/2014/main" val="10008"/>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7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5,7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10,8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22,6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1" name="Google Shape;611;p5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12" name="Google Shape;612;p5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de Atacama</a:t>
            </a:r>
            <a:endParaRPr/>
          </a:p>
        </p:txBody>
      </p:sp>
      <p:graphicFrame>
        <p:nvGraphicFramePr>
          <p:cNvPr id="613" name="Google Shape;613;p53"/>
          <p:cNvGraphicFramePr/>
          <p:nvPr/>
        </p:nvGraphicFramePr>
        <p:xfrm>
          <a:off x="323850" y="1203394"/>
          <a:ext cx="9597300" cy="2689320"/>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PEDRO LEON GALLO COPIAPO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 y seguimiento técnico.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CLINICA ATACAMA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Auditoría técnica, propuesta preventiva y evaluación de renovación tecnológica.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VARGAS ROJAS SOC.RESP. LTDA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básico de mantenimiento preventivo.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VALLENAR</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Levantamiento institucional y propuesta anual de cobertura.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FLORENCIO VARGAS DIAZ</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1,2</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institucional y análisis de criticidad.</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FREIRINA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11,6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programada.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7"/>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6 clientes</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8,8</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7</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10,0</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cxnSp>
        <p:nvCxnSpPr>
          <p:cNvPr id="619" name="Google Shape;619;p5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20" name="Google Shape;620;p5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a:solidFill>
                  <a:srgbClr val="33448D"/>
                </a:solidFill>
                <a:latin typeface="Roboto"/>
                <a:ea typeface="Roboto"/>
                <a:cs typeface="Roboto"/>
                <a:sym typeface="Roboto"/>
              </a:rPr>
              <a:t>Región Aysén</a:t>
            </a:r>
            <a:endParaRPr/>
          </a:p>
        </p:txBody>
      </p:sp>
      <p:graphicFrame>
        <p:nvGraphicFramePr>
          <p:cNvPr id="621" name="Google Shape;621;p54"/>
          <p:cNvGraphicFramePr/>
          <p:nvPr/>
        </p:nvGraphicFramePr>
        <p:xfrm>
          <a:off x="323850" y="1203394"/>
          <a:ext cx="9597300" cy="2365825"/>
        </p:xfrm>
        <a:graphic>
          <a:graphicData uri="http://schemas.openxmlformats.org/drawingml/2006/table">
            <a:tbl>
              <a:tblPr>
                <a:noFill/>
                <a:tableStyleId>{13D43741-7D58-4360-86AC-F6E32FA5FF39}</a:tableStyleId>
              </a:tblPr>
              <a:tblGrid>
                <a:gridCol w="1752925">
                  <a:extLst>
                    <a:ext uri="{9D8B030D-6E8A-4147-A177-3AD203B41FA5}">
                      <a16:colId xmlns:a16="http://schemas.microsoft.com/office/drawing/2014/main" val="20000"/>
                    </a:ext>
                  </a:extLst>
                </a:gridCol>
                <a:gridCol w="492500">
                  <a:extLst>
                    <a:ext uri="{9D8B030D-6E8A-4147-A177-3AD203B41FA5}">
                      <a16:colId xmlns:a16="http://schemas.microsoft.com/office/drawing/2014/main" val="20001"/>
                    </a:ext>
                  </a:extLst>
                </a:gridCol>
                <a:gridCol w="494575">
                  <a:extLst>
                    <a:ext uri="{9D8B030D-6E8A-4147-A177-3AD203B41FA5}">
                      <a16:colId xmlns:a16="http://schemas.microsoft.com/office/drawing/2014/main" val="20002"/>
                    </a:ext>
                  </a:extLst>
                </a:gridCol>
                <a:gridCol w="492500">
                  <a:extLst>
                    <a:ext uri="{9D8B030D-6E8A-4147-A177-3AD203B41FA5}">
                      <a16:colId xmlns:a16="http://schemas.microsoft.com/office/drawing/2014/main" val="20003"/>
                    </a:ext>
                  </a:extLst>
                </a:gridCol>
                <a:gridCol w="492500">
                  <a:extLst>
                    <a:ext uri="{9D8B030D-6E8A-4147-A177-3AD203B41FA5}">
                      <a16:colId xmlns:a16="http://schemas.microsoft.com/office/drawing/2014/main" val="20004"/>
                    </a:ext>
                  </a:extLst>
                </a:gridCol>
                <a:gridCol w="667775">
                  <a:extLst>
                    <a:ext uri="{9D8B030D-6E8A-4147-A177-3AD203B41FA5}">
                      <a16:colId xmlns:a16="http://schemas.microsoft.com/office/drawing/2014/main" val="20005"/>
                    </a:ext>
                  </a:extLst>
                </a:gridCol>
                <a:gridCol w="669875">
                  <a:extLst>
                    <a:ext uri="{9D8B030D-6E8A-4147-A177-3AD203B41FA5}">
                      <a16:colId xmlns:a16="http://schemas.microsoft.com/office/drawing/2014/main" val="20006"/>
                    </a:ext>
                  </a:extLst>
                </a:gridCol>
                <a:gridCol w="659425">
                  <a:extLst>
                    <a:ext uri="{9D8B030D-6E8A-4147-A177-3AD203B41FA5}">
                      <a16:colId xmlns:a16="http://schemas.microsoft.com/office/drawing/2014/main" val="20007"/>
                    </a:ext>
                  </a:extLst>
                </a:gridCol>
                <a:gridCol w="3875225">
                  <a:extLst>
                    <a:ext uri="{9D8B030D-6E8A-4147-A177-3AD203B41FA5}">
                      <a16:colId xmlns:a16="http://schemas.microsoft.com/office/drawing/2014/main" val="20008"/>
                    </a:ext>
                  </a:extLst>
                </a:gridCol>
              </a:tblGrid>
              <a:tr h="133650">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Cliente</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gridSpan="2">
                  <a:txBody>
                    <a:bodyPr/>
                    <a:lstStyle/>
                    <a:p>
                      <a:pPr marL="0" marR="0" lvl="0" indent="0" algn="ctr" rtl="0">
                        <a:spcBef>
                          <a:spcPts val="0"/>
                        </a:spcBef>
                        <a:spcAft>
                          <a:spcPts val="0"/>
                        </a:spcAft>
                        <a:buClr>
                          <a:srgbClr val="1A1A1A"/>
                        </a:buClr>
                        <a:buSzPts val="600"/>
                        <a:buFont typeface="Calibri"/>
                        <a:buNone/>
                      </a:pPr>
                      <a:r>
                        <a:rPr lang="es-CL" sz="600" b="1" i="0" u="none" strike="noStrike" cap="none">
                          <a:solidFill>
                            <a:srgbClr val="1A1A1A"/>
                          </a:solidFill>
                          <a:latin typeface="Calibri"/>
                          <a:ea typeface="Calibri"/>
                          <a:cs typeface="Calibri"/>
                          <a:sym typeface="Calibri"/>
                        </a:rPr>
                        <a:t>Dental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Esterilización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gridSpan="2">
                  <a:txBody>
                    <a:bodyPr/>
                    <a:lstStyle/>
                    <a:p>
                      <a:pPr marL="0" marR="0" lvl="0" indent="0" algn="ctr" rtl="0">
                        <a:spcBef>
                          <a:spcPts val="0"/>
                        </a:spcBef>
                        <a:spcAft>
                          <a:spcPts val="0"/>
                        </a:spcAft>
                        <a:buClr>
                          <a:srgbClr val="FFFFFF"/>
                        </a:buClr>
                        <a:buSzPts val="600"/>
                        <a:buFont typeface="Calibri"/>
                        <a:buNone/>
                      </a:pPr>
                      <a:r>
                        <a:rPr lang="es-CL" sz="600" b="1" i="0" u="none" strike="noStrike" cap="none">
                          <a:solidFill>
                            <a:srgbClr val="FFFFFF"/>
                          </a:solidFill>
                          <a:latin typeface="Calibri"/>
                          <a:ea typeface="Calibri"/>
                          <a:cs typeface="Calibri"/>
                          <a:sym typeface="Calibri"/>
                        </a:rPr>
                        <a:t>Base Instalada Total</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hMerge="1">
                  <a:txBody>
                    <a:bodyPr/>
                    <a:lstStyle/>
                    <a:p>
                      <a:endParaRPr lang="es-CL"/>
                    </a:p>
                  </a:txBody>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Pot. Mantenimiento MM$</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rowSpan="2">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Plan de Acción</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12700" cap="flat" cmpd="sng">
                      <a:solidFill>
                        <a:srgbClr val="E6E6E6"/>
                      </a:solidFill>
                      <a:prstDash val="solid"/>
                      <a:round/>
                      <a:headEnd type="none" w="sm" len="sm"/>
                      <a:tailEnd type="none" w="sm" len="sm"/>
                    </a:lnB>
                    <a:solidFill>
                      <a:srgbClr val="9BBB59"/>
                    </a:solidFill>
                  </a:tcPr>
                </a:tc>
                <a:extLst>
                  <a:ext uri="{0D108BD9-81ED-4DB2-BD59-A6C34878D82A}">
                    <a16:rowId xmlns:a16="http://schemas.microsoft.com/office/drawing/2014/main" val="10000"/>
                  </a:ext>
                </a:extLst>
              </a:tr>
              <a:tr h="199475">
                <a:tc vMerge="1">
                  <a:txBody>
                    <a:bodyPr/>
                    <a:lstStyle/>
                    <a:p>
                      <a:endParaRPr lang="es-CL"/>
                    </a:p>
                  </a:txBody>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1A1A1A"/>
                        </a:buClr>
                        <a:buSzPts val="900"/>
                        <a:buFont typeface="Calibri"/>
                        <a:buNone/>
                      </a:pPr>
                      <a:r>
                        <a:rPr lang="es-CL" sz="900" b="1" i="0" u="none" strike="noStrike" cap="none">
                          <a:solidFill>
                            <a:srgbClr val="1A1A1A"/>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Equipos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a:txBody>
                    <a:bodyPr/>
                    <a:lstStyle/>
                    <a:p>
                      <a:pPr marL="0" marR="0" lvl="0" indent="0" algn="ct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Vida Media (años)</a:t>
                      </a:r>
                      <a:endParaRPr/>
                    </a:p>
                  </a:txBody>
                  <a:tcPr marL="5900" marR="5900" marT="5900"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02D73"/>
                    </a:solidFill>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55357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COCHRANE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7,2</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4,1</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anual y evaluación periódica de equipos.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2"/>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HOSPITAL DE COYHAIQUE</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5,5</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Cuenta regional principal, propuesta institucional de mantenimiento y renovación tecnológica.</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3"/>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CESFAM LA JUNTA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10,3</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2,0</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Programa preventivo programado e integración a rutas regionales.</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4"/>
                  </a:ext>
                </a:extLst>
              </a:tr>
              <a:tr h="334150">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CECOSF CHACABUCO</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8,6</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Mantención preventiva básica y seguimiento anual.</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5"/>
                  </a:ext>
                </a:extLst>
              </a:tr>
              <a:tr h="224425">
                <a:tc>
                  <a:txBody>
                    <a:bodyPr/>
                    <a:lstStyle/>
                    <a:p>
                      <a:pPr marL="0" marR="0" lvl="0" indent="0" algn="l"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POSTA BAHÍA MURTA</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 </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6,1</a:t>
                      </a:r>
                      <a:endParaRPr/>
                    </a:p>
                  </a:txBody>
                  <a:tcPr marL="9525" marR="9525" marT="9525" marB="0" anchor="ctr">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r" rtl="0">
                        <a:spcBef>
                          <a:spcPts val="0"/>
                        </a:spcBef>
                        <a:spcAft>
                          <a:spcPts val="0"/>
                        </a:spcAft>
                        <a:buClr>
                          <a:schemeClr val="lt2"/>
                        </a:buClr>
                        <a:buSzPts val="900"/>
                        <a:buFont typeface="Calibri"/>
                        <a:buNone/>
                      </a:pPr>
                      <a:r>
                        <a:rPr lang="es-CL" sz="900" b="0" i="0" u="none" strike="noStrike" cap="none">
                          <a:solidFill>
                            <a:schemeClr val="lt2"/>
                          </a:solidFill>
                          <a:latin typeface="Calibri"/>
                          <a:ea typeface="Calibri"/>
                          <a:cs typeface="Calibri"/>
                          <a:sym typeface="Calibri"/>
                        </a:rPr>
                        <a:t>0,6</a:t>
                      </a:r>
                      <a:endParaRPr/>
                    </a:p>
                  </a:txBody>
                  <a:tcPr marL="9525" marR="9525" marT="9525" marB="0" anchor="ctr">
                    <a:lnL w="9525" cap="flat" cmpd="sng">
                      <a:solidFill>
                        <a:srgbClr val="D4D5E8"/>
                      </a:solidFill>
                      <a:prstDash val="solid"/>
                      <a:round/>
                      <a:headEnd type="none" w="sm" len="sm"/>
                      <a:tailEnd type="none" w="sm" len="sm"/>
                    </a:lnL>
                    <a:lnR w="12700" cap="flat" cmpd="sng">
                      <a:solidFill>
                        <a:srgbClr val="E6E6E6"/>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tcPr>
                </a:tc>
                <a:tc>
                  <a:txBody>
                    <a:bodyPr/>
                    <a:lstStyle/>
                    <a:p>
                      <a:pPr marL="0" marR="0" lvl="0" indent="0" algn="l" rtl="0">
                        <a:spcBef>
                          <a:spcPts val="0"/>
                        </a:spcBef>
                        <a:spcAft>
                          <a:spcPts val="0"/>
                        </a:spcAft>
                        <a:buClr>
                          <a:schemeClr val="lt2"/>
                        </a:buClr>
                        <a:buSzPts val="1100"/>
                        <a:buFont typeface="Quattrocento Sans"/>
                        <a:buNone/>
                      </a:pPr>
                      <a:r>
                        <a:rPr lang="es-CL" sz="1100" b="0" i="0" u="none" strike="noStrike" cap="none">
                          <a:solidFill>
                            <a:schemeClr val="lt2"/>
                          </a:solidFill>
                          <a:latin typeface="Quattrocento Sans"/>
                          <a:ea typeface="Quattrocento Sans"/>
                          <a:cs typeface="Quattrocento Sans"/>
                          <a:sym typeface="Quattrocento Sans"/>
                        </a:rPr>
                        <a:t>Cobertura preventiva anual y soporte remoto prioritario.</a:t>
                      </a:r>
                      <a:endParaRPr/>
                    </a:p>
                  </a:txBody>
                  <a:tcPr marL="9525" marR="9525" marT="9525" marB="0" anchor="ctr">
                    <a:lnL w="12700" cap="flat" cmpd="sng">
                      <a:solidFill>
                        <a:srgbClr val="E6E6E6"/>
                      </a:solidFill>
                      <a:prstDash val="solid"/>
                      <a:round/>
                      <a:headEnd type="none" w="sm" len="sm"/>
                      <a:tailEnd type="none" w="sm" len="sm"/>
                    </a:lnL>
                    <a:lnR w="12700" cap="flat" cmpd="sng">
                      <a:solidFill>
                        <a:srgbClr val="E6E6E6"/>
                      </a:solidFill>
                      <a:prstDash val="solid"/>
                      <a:round/>
                      <a:headEnd type="none" w="sm" len="sm"/>
                      <a:tailEnd type="none" w="sm" len="sm"/>
                    </a:lnR>
                    <a:lnT w="12700" cap="flat" cmpd="sng">
                      <a:solidFill>
                        <a:srgbClr val="E6E6E6"/>
                      </a:solidFill>
                      <a:prstDash val="solid"/>
                      <a:round/>
                      <a:headEnd type="none" w="sm" len="sm"/>
                      <a:tailEnd type="none" w="sm" len="sm"/>
                    </a:lnT>
                    <a:lnB w="12700" cap="flat" cmpd="sng">
                      <a:solidFill>
                        <a:srgbClr val="E6E6E6"/>
                      </a:solidFill>
                      <a:prstDash val="solid"/>
                      <a:round/>
                      <a:headEnd type="none" w="sm" len="sm"/>
                      <a:tailEnd type="none" w="sm" len="sm"/>
                    </a:lnB>
                  </a:tcPr>
                </a:tc>
                <a:extLst>
                  <a:ext uri="{0D108BD9-81ED-4DB2-BD59-A6C34878D82A}">
                    <a16:rowId xmlns:a16="http://schemas.microsoft.com/office/drawing/2014/main" val="10006"/>
                  </a:ext>
                </a:extLst>
              </a:tr>
              <a:tr h="99750">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 5 clientes</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6,9</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8,2</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6,5</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r"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9,4</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9525" cap="flat" cmpd="sng">
                      <a:solidFill>
                        <a:srgbClr val="D4D5E8"/>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a:t>
                      </a:r>
                      <a:endParaRPr/>
                    </a:p>
                  </a:txBody>
                  <a:tcPr marL="9525" marR="9525" marT="9525" marB="0" anchor="b">
                    <a:lnL w="9525" cap="flat" cmpd="sng">
                      <a:solidFill>
                        <a:srgbClr val="D4D5E8"/>
                      </a:solidFill>
                      <a:prstDash val="solid"/>
                      <a:round/>
                      <a:headEnd type="none" w="sm" len="sm"/>
                      <a:tailEnd type="none" w="sm" len="sm"/>
                    </a:lnL>
                    <a:lnR w="9525" cap="flat" cmpd="sng">
                      <a:solidFill>
                        <a:srgbClr val="D4D5E8"/>
                      </a:solidFill>
                      <a:prstDash val="solid"/>
                      <a:round/>
                      <a:headEnd type="none" w="sm" len="sm"/>
                      <a:tailEnd type="none" w="sm" len="sm"/>
                    </a:lnR>
                    <a:lnT w="12700" cap="flat" cmpd="sng">
                      <a:solidFill>
                        <a:srgbClr val="E6E6E6"/>
                      </a:solidFill>
                      <a:prstDash val="solid"/>
                      <a:round/>
                      <a:headEnd type="none" w="sm" len="sm"/>
                      <a:tailEnd type="none" w="sm" len="sm"/>
                    </a:lnT>
                    <a:lnB w="9525" cap="flat" cmpd="sng">
                      <a:solidFill>
                        <a:srgbClr val="D4D5E8"/>
                      </a:solidFill>
                      <a:prstDash val="solid"/>
                      <a:round/>
                      <a:headEnd type="none" w="sm" len="sm"/>
                      <a:tailEnd type="none" w="sm" len="sm"/>
                    </a:lnB>
                    <a:solidFill>
                      <a:srgbClr val="0E2D5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Estructura Operativa 2026</a:t>
            </a:r>
            <a:endParaRPr sz="2700" b="0" i="0" u="none" strike="noStrike" cap="none">
              <a:solidFill>
                <a:srgbClr val="FFFFFF"/>
              </a:solidFill>
              <a:latin typeface="Roboto"/>
              <a:ea typeface="Roboto"/>
              <a:cs typeface="Roboto"/>
              <a:sym typeface="Roboto"/>
            </a:endParaRPr>
          </a:p>
        </p:txBody>
      </p:sp>
      <p:sp>
        <p:nvSpPr>
          <p:cNvPr id="637" name="Google Shape;637;p56"/>
          <p:cNvSpPr/>
          <p:nvPr/>
        </p:nvSpPr>
        <p:spPr>
          <a:xfrm>
            <a:off x="4810504" y="810883"/>
            <a:ext cx="2716380" cy="777240"/>
          </a:xfrm>
          <a:prstGeom prst="roundRect">
            <a:avLst>
              <a:gd name="adj" fmla="val 5882"/>
            </a:avLst>
          </a:prstGeom>
          <a:solidFill>
            <a:srgbClr val="21295C"/>
          </a:solidFill>
          <a:ln w="12700" cap="flat" cmpd="sng">
            <a:solidFill>
              <a:srgbClr val="21295C"/>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56"/>
          <p:cNvSpPr/>
          <p:nvPr/>
        </p:nvSpPr>
        <p:spPr>
          <a:xfrm>
            <a:off x="4212184" y="789615"/>
            <a:ext cx="3931920" cy="77724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C9D3F0"/>
              </a:buClr>
              <a:buSzPts val="1050"/>
              <a:buFont typeface="Calibri"/>
              <a:buNone/>
            </a:pPr>
            <a:r>
              <a:rPr lang="es-CL" sz="1050" b="1">
                <a:solidFill>
                  <a:srgbClr val="C9D3F0"/>
                </a:solidFill>
                <a:latin typeface="Calibri"/>
                <a:ea typeface="Calibri"/>
                <a:cs typeface="Calibri"/>
                <a:sym typeface="Calibri"/>
              </a:rPr>
              <a:t>LIDERAZGO EJECUTIVO</a:t>
            </a:r>
            <a:endParaRPr sz="10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50"/>
              <a:buFont typeface="Calibri"/>
              <a:buNone/>
            </a:pPr>
            <a:r>
              <a:rPr lang="es-CL" sz="1150" b="1">
                <a:solidFill>
                  <a:srgbClr val="FFFFFF"/>
                </a:solidFill>
                <a:latin typeface="Calibri"/>
                <a:ea typeface="Calibri"/>
                <a:cs typeface="Calibri"/>
                <a:sym typeface="Calibri"/>
              </a:rPr>
              <a:t>Marcelo Ruminot — Gerente General</a:t>
            </a:r>
            <a:endParaRPr sz="1050">
              <a:solidFill>
                <a:schemeClr val="dk1"/>
              </a:solidFill>
              <a:latin typeface="Arial"/>
              <a:ea typeface="Arial"/>
              <a:cs typeface="Arial"/>
              <a:sym typeface="Arial"/>
            </a:endParaRPr>
          </a:p>
        </p:txBody>
      </p:sp>
      <p:cxnSp>
        <p:nvCxnSpPr>
          <p:cNvPr id="639" name="Google Shape;639;p56"/>
          <p:cNvCxnSpPr/>
          <p:nvPr/>
        </p:nvCxnSpPr>
        <p:spPr>
          <a:xfrm>
            <a:off x="6095848" y="2524089"/>
            <a:ext cx="0" cy="274320"/>
          </a:xfrm>
          <a:prstGeom prst="straightConnector1">
            <a:avLst/>
          </a:prstGeom>
          <a:noFill/>
          <a:ln w="15875" cap="flat" cmpd="sng">
            <a:solidFill>
              <a:srgbClr val="94A3B8"/>
            </a:solidFill>
            <a:prstDash val="solid"/>
            <a:round/>
            <a:headEnd type="none" w="sm" len="sm"/>
            <a:tailEnd type="none" w="sm" len="sm"/>
          </a:ln>
        </p:spPr>
      </p:cxnSp>
      <p:cxnSp>
        <p:nvCxnSpPr>
          <p:cNvPr id="640" name="Google Shape;640;p56"/>
          <p:cNvCxnSpPr/>
          <p:nvPr/>
        </p:nvCxnSpPr>
        <p:spPr>
          <a:xfrm>
            <a:off x="1802740" y="279840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41" name="Google Shape;641;p56"/>
          <p:cNvCxnSpPr/>
          <p:nvPr/>
        </p:nvCxnSpPr>
        <p:spPr>
          <a:xfrm>
            <a:off x="1802740"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2" name="Google Shape;642;p56"/>
          <p:cNvCxnSpPr/>
          <p:nvPr/>
        </p:nvCxnSpPr>
        <p:spPr>
          <a:xfrm>
            <a:off x="4664812"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3" name="Google Shape;643;p56"/>
          <p:cNvCxnSpPr/>
          <p:nvPr/>
        </p:nvCxnSpPr>
        <p:spPr>
          <a:xfrm>
            <a:off x="7526884"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4" name="Google Shape;644;p56"/>
          <p:cNvCxnSpPr/>
          <p:nvPr/>
        </p:nvCxnSpPr>
        <p:spPr>
          <a:xfrm>
            <a:off x="10388956" y="2798409"/>
            <a:ext cx="0" cy="91440"/>
          </a:xfrm>
          <a:prstGeom prst="straightConnector1">
            <a:avLst/>
          </a:prstGeom>
          <a:noFill/>
          <a:ln w="15875" cap="flat" cmpd="sng">
            <a:solidFill>
              <a:srgbClr val="94A3B8"/>
            </a:solidFill>
            <a:prstDash val="solid"/>
            <a:round/>
            <a:headEnd type="none" w="sm" len="sm"/>
            <a:tailEnd type="none" w="sm" len="sm"/>
          </a:ln>
        </p:spPr>
      </p:cxnSp>
      <p:sp>
        <p:nvSpPr>
          <p:cNvPr id="645" name="Google Shape;645;p56"/>
          <p:cNvSpPr/>
          <p:nvPr/>
        </p:nvSpPr>
        <p:spPr>
          <a:xfrm>
            <a:off x="454000"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56"/>
          <p:cNvSpPr/>
          <p:nvPr/>
        </p:nvSpPr>
        <p:spPr>
          <a:xfrm>
            <a:off x="499720"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INGENIERÍA DE PROYECTOS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Camilo Alexis Morales Aguilera</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Ingeniero de Soluciones Estratégicas</a:t>
            </a:r>
            <a:endParaRPr sz="950">
              <a:solidFill>
                <a:schemeClr val="dk1"/>
              </a:solidFill>
              <a:latin typeface="Arial"/>
              <a:ea typeface="Arial"/>
              <a:cs typeface="Arial"/>
              <a:sym typeface="Arial"/>
            </a:endParaRPr>
          </a:p>
        </p:txBody>
      </p:sp>
      <p:sp>
        <p:nvSpPr>
          <p:cNvPr id="647" name="Google Shape;647;p56"/>
          <p:cNvSpPr/>
          <p:nvPr/>
        </p:nvSpPr>
        <p:spPr>
          <a:xfrm>
            <a:off x="3316072"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56"/>
          <p:cNvSpPr/>
          <p:nvPr/>
        </p:nvSpPr>
        <p:spPr>
          <a:xfrm>
            <a:off x="3361792"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GESTIÓN COMERCIAL (KAM SERVICIOS)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Cristian Silvano Pérez Ramirez — Ejec. de Servicio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Eglys Anadris Ramirez Caraballo — Ejec. de Servicio</a:t>
            </a:r>
            <a:endParaRPr sz="950">
              <a:solidFill>
                <a:schemeClr val="dk1"/>
              </a:solidFill>
              <a:latin typeface="Arial"/>
              <a:ea typeface="Arial"/>
              <a:cs typeface="Arial"/>
              <a:sym typeface="Arial"/>
            </a:endParaRPr>
          </a:p>
        </p:txBody>
      </p:sp>
      <p:sp>
        <p:nvSpPr>
          <p:cNvPr id="649" name="Google Shape;649;p56"/>
          <p:cNvSpPr/>
          <p:nvPr/>
        </p:nvSpPr>
        <p:spPr>
          <a:xfrm>
            <a:off x="6178144"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56"/>
          <p:cNvSpPr/>
          <p:nvPr/>
        </p:nvSpPr>
        <p:spPr>
          <a:xfrm>
            <a:off x="6223864"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ATENCIÓN AL CLIENTE</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Matilde Rebeca Carrillo Castillo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Jefe de Servicio al Cliente</a:t>
            </a:r>
            <a:endParaRPr sz="950">
              <a:solidFill>
                <a:schemeClr val="dk1"/>
              </a:solidFill>
              <a:latin typeface="Arial"/>
              <a:ea typeface="Arial"/>
              <a:cs typeface="Arial"/>
              <a:sym typeface="Arial"/>
            </a:endParaRPr>
          </a:p>
        </p:txBody>
      </p:sp>
      <p:sp>
        <p:nvSpPr>
          <p:cNvPr id="651" name="Google Shape;651;p56"/>
          <p:cNvSpPr/>
          <p:nvPr/>
        </p:nvSpPr>
        <p:spPr>
          <a:xfrm>
            <a:off x="9040216"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56"/>
          <p:cNvSpPr/>
          <p:nvPr/>
        </p:nvSpPr>
        <p:spPr>
          <a:xfrm>
            <a:off x="9085936"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SOPORTE OPERATIVO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Edson De Morais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Asistente de Coordinación</a:t>
            </a:r>
            <a:endParaRPr sz="950">
              <a:solidFill>
                <a:schemeClr val="dk1"/>
              </a:solidFill>
              <a:latin typeface="Arial"/>
              <a:ea typeface="Arial"/>
              <a:cs typeface="Arial"/>
              <a:sym typeface="Arial"/>
            </a:endParaRPr>
          </a:p>
        </p:txBody>
      </p:sp>
      <p:cxnSp>
        <p:nvCxnSpPr>
          <p:cNvPr id="653" name="Google Shape;653;p56"/>
          <p:cNvCxnSpPr/>
          <p:nvPr/>
        </p:nvCxnSpPr>
        <p:spPr>
          <a:xfrm>
            <a:off x="7526884" y="3849969"/>
            <a:ext cx="0" cy="274320"/>
          </a:xfrm>
          <a:prstGeom prst="straightConnector1">
            <a:avLst/>
          </a:prstGeom>
          <a:noFill/>
          <a:ln w="15875" cap="flat" cmpd="sng">
            <a:solidFill>
              <a:srgbClr val="94A3B8"/>
            </a:solidFill>
            <a:prstDash val="solid"/>
            <a:round/>
            <a:headEnd type="none" w="sm" len="sm"/>
            <a:tailEnd type="none" w="sm" len="sm"/>
          </a:ln>
        </p:spPr>
      </p:cxnSp>
      <p:cxnSp>
        <p:nvCxnSpPr>
          <p:cNvPr id="654" name="Google Shape;654;p56"/>
          <p:cNvCxnSpPr/>
          <p:nvPr/>
        </p:nvCxnSpPr>
        <p:spPr>
          <a:xfrm>
            <a:off x="1802740" y="412428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55" name="Google Shape;655;p56"/>
          <p:cNvCxnSpPr/>
          <p:nvPr/>
        </p:nvCxnSpPr>
        <p:spPr>
          <a:xfrm>
            <a:off x="1802740"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6" name="Google Shape;656;p56"/>
          <p:cNvCxnSpPr/>
          <p:nvPr/>
        </p:nvCxnSpPr>
        <p:spPr>
          <a:xfrm>
            <a:off x="4664812"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7" name="Google Shape;657;p56"/>
          <p:cNvCxnSpPr/>
          <p:nvPr/>
        </p:nvCxnSpPr>
        <p:spPr>
          <a:xfrm>
            <a:off x="7526884"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8" name="Google Shape;658;p56"/>
          <p:cNvCxnSpPr/>
          <p:nvPr/>
        </p:nvCxnSpPr>
        <p:spPr>
          <a:xfrm>
            <a:off x="10388956" y="4124289"/>
            <a:ext cx="0" cy="182880"/>
          </a:xfrm>
          <a:prstGeom prst="straightConnector1">
            <a:avLst/>
          </a:prstGeom>
          <a:noFill/>
          <a:ln w="15875" cap="flat" cmpd="sng">
            <a:solidFill>
              <a:srgbClr val="94A3B8"/>
            </a:solidFill>
            <a:prstDash val="solid"/>
            <a:round/>
            <a:headEnd type="none" w="sm" len="sm"/>
            <a:tailEnd type="none" w="sm" len="sm"/>
          </a:ln>
        </p:spPr>
      </p:cxnSp>
      <p:sp>
        <p:nvSpPr>
          <p:cNvPr id="659" name="Google Shape;659;p56"/>
          <p:cNvSpPr/>
          <p:nvPr/>
        </p:nvSpPr>
        <p:spPr>
          <a:xfrm>
            <a:off x="454000"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56"/>
          <p:cNvSpPr/>
          <p:nvPr/>
        </p:nvSpPr>
        <p:spPr>
          <a:xfrm>
            <a:off x="499720"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EQUIPO ATENCIÓN AL CLIENTE</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C. Alvarado, P. Guzman,</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M.A. Colina, E. Galvez</a:t>
            </a:r>
            <a:endParaRPr sz="900">
              <a:solidFill>
                <a:schemeClr val="dk1"/>
              </a:solidFill>
              <a:latin typeface="Arial"/>
              <a:ea typeface="Arial"/>
              <a:cs typeface="Arial"/>
              <a:sym typeface="Arial"/>
            </a:endParaRPr>
          </a:p>
        </p:txBody>
      </p:sp>
      <p:sp>
        <p:nvSpPr>
          <p:cNvPr id="661" name="Google Shape;661;p56"/>
          <p:cNvSpPr/>
          <p:nvPr/>
        </p:nvSpPr>
        <p:spPr>
          <a:xfrm>
            <a:off x="3316072"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6"/>
          <p:cNvSpPr/>
          <p:nvPr/>
        </p:nvSpPr>
        <p:spPr>
          <a:xfrm>
            <a:off x="3361792"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Jonathan Valerio Sumoza Ávila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10 Técnicos: J. Pino, L. Quezada, M. Cerpa,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I. Muñoz, M. Gutiérrez, P. Esteves, F. Toloza,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M. Montenegro, I. Miranda, D. Torres</a:t>
            </a:r>
            <a:endParaRPr sz="900">
              <a:solidFill>
                <a:schemeClr val="dk1"/>
              </a:solidFill>
              <a:latin typeface="Arial"/>
              <a:ea typeface="Arial"/>
              <a:cs typeface="Arial"/>
              <a:sym typeface="Arial"/>
            </a:endParaRPr>
          </a:p>
        </p:txBody>
      </p:sp>
      <p:sp>
        <p:nvSpPr>
          <p:cNvPr id="663" name="Google Shape;663;p56"/>
          <p:cNvSpPr/>
          <p:nvPr/>
        </p:nvSpPr>
        <p:spPr>
          <a:xfrm>
            <a:off x="6178144"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56"/>
          <p:cNvSpPr/>
          <p:nvPr/>
        </p:nvSpPr>
        <p:spPr>
          <a:xfrm>
            <a:off x="6223864"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B</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Cristian Rohr Toro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9 Técnicos: R. Leiva, E. Valle, C. Castro,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Labado, N. Rodríguez</a:t>
            </a:r>
            <a:r>
              <a:rPr lang="es-CL" sz="800" b="1">
                <a:solidFill>
                  <a:srgbClr val="FF0000"/>
                </a:solidFill>
                <a:latin typeface="Calibri"/>
                <a:ea typeface="Calibri"/>
                <a:cs typeface="Calibri"/>
                <a:sym typeface="Calibri"/>
              </a:rPr>
              <a:t>, T. Rojas</a:t>
            </a:r>
            <a:r>
              <a:rPr lang="es-CL" sz="800">
                <a:solidFill>
                  <a:srgbClr val="FFFFFF"/>
                </a:solidFill>
                <a:latin typeface="Calibri"/>
                <a:ea typeface="Calibri"/>
                <a:cs typeface="Calibri"/>
                <a:sym typeface="Calibri"/>
              </a:rPr>
              <a:t>,</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Arnaiz, E. Acevedo, C. Mayorga</a:t>
            </a:r>
            <a:endParaRPr sz="900">
              <a:solidFill>
                <a:schemeClr val="dk1"/>
              </a:solidFill>
              <a:latin typeface="Arial"/>
              <a:ea typeface="Arial"/>
              <a:cs typeface="Arial"/>
              <a:sym typeface="Arial"/>
            </a:endParaRPr>
          </a:p>
        </p:txBody>
      </p:sp>
      <p:sp>
        <p:nvSpPr>
          <p:cNvPr id="665" name="Google Shape;665;p56"/>
          <p:cNvSpPr/>
          <p:nvPr/>
        </p:nvSpPr>
        <p:spPr>
          <a:xfrm>
            <a:off x="9040216"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56"/>
          <p:cNvSpPr/>
          <p:nvPr/>
        </p:nvSpPr>
        <p:spPr>
          <a:xfrm>
            <a:off x="9085936"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ESPECIALIDAD ENDOSCOPIA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G. Ramirez, N. Martinez,</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N. Técnico (En Contratación)</a:t>
            </a:r>
            <a:endParaRPr sz="900">
              <a:solidFill>
                <a:schemeClr val="dk1"/>
              </a:solidFill>
              <a:latin typeface="Arial"/>
              <a:ea typeface="Arial"/>
              <a:cs typeface="Arial"/>
              <a:sym typeface="Arial"/>
            </a:endParaRPr>
          </a:p>
        </p:txBody>
      </p:sp>
      <p:sp>
        <p:nvSpPr>
          <p:cNvPr id="667" name="Google Shape;667;p56"/>
          <p:cNvSpPr/>
          <p:nvPr/>
        </p:nvSpPr>
        <p:spPr>
          <a:xfrm>
            <a:off x="4810504" y="1862443"/>
            <a:ext cx="2697480" cy="661646"/>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5000"/>
              </a:lnSpc>
              <a:spcBef>
                <a:spcPts val="0"/>
              </a:spcBef>
              <a:spcAft>
                <a:spcPts val="0"/>
              </a:spcAft>
              <a:buNone/>
            </a:pPr>
            <a:r>
              <a:rPr lang="es-CL" sz="1150" b="1">
                <a:solidFill>
                  <a:srgbClr val="BFE3F0"/>
                </a:solidFill>
                <a:latin typeface="Calibri"/>
                <a:ea typeface="Calibri"/>
                <a:cs typeface="Calibri"/>
                <a:sym typeface="Calibri"/>
              </a:rPr>
              <a:t>Alexis Flores — Sub Gerente Técnico</a:t>
            </a:r>
            <a:endParaRPr/>
          </a:p>
        </p:txBody>
      </p:sp>
      <p:cxnSp>
        <p:nvCxnSpPr>
          <p:cNvPr id="668" name="Google Shape;668;p56"/>
          <p:cNvCxnSpPr/>
          <p:nvPr/>
        </p:nvCxnSpPr>
        <p:spPr>
          <a:xfrm>
            <a:off x="6095848" y="1588123"/>
            <a:ext cx="0" cy="274320"/>
          </a:xfrm>
          <a:prstGeom prst="straightConnector1">
            <a:avLst/>
          </a:prstGeom>
          <a:noFill/>
          <a:ln w="15875" cap="flat" cmpd="sng">
            <a:solidFill>
              <a:srgbClr val="94A3B8"/>
            </a:solidFill>
            <a:prstDash val="solid"/>
            <a:round/>
            <a:headEnd type="none" w="sm" len="sm"/>
            <a:tailEnd type="none" w="sm" len="sm"/>
          </a:ln>
        </p:spPr>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3"/>
        <p:cNvGrpSpPr/>
        <p:nvPr/>
      </p:nvGrpSpPr>
      <p:grpSpPr>
        <a:xfrm>
          <a:off x="0" y="0"/>
          <a:ext cx="0" cy="0"/>
          <a:chOff x="0" y="0"/>
          <a:chExt cx="0" cy="0"/>
        </a:xfrm>
      </p:grpSpPr>
      <p:sp>
        <p:nvSpPr>
          <p:cNvPr id="674" name="Google Shape;674;p57"/>
          <p:cNvSpPr/>
          <p:nvPr/>
        </p:nvSpPr>
        <p:spPr>
          <a:xfrm>
            <a:off x="274320" y="45720"/>
            <a:ext cx="1164031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03640"/>
              </a:buClr>
              <a:buSzPts val="1700"/>
              <a:buFont typeface="Calibri"/>
              <a:buNone/>
            </a:pPr>
            <a:r>
              <a:rPr lang="es-CL" sz="1700" b="1">
                <a:solidFill>
                  <a:srgbClr val="303640"/>
                </a:solidFill>
                <a:latin typeface="Calibri"/>
                <a:ea typeface="Calibri"/>
                <a:cs typeface="Calibri"/>
                <a:sym typeface="Calibri"/>
              </a:rPr>
              <a:t>Flujo de Atención al Cliente — Servicio Técnico</a:t>
            </a:r>
            <a:endParaRPr sz="1700">
              <a:solidFill>
                <a:schemeClr val="dk1"/>
              </a:solidFill>
              <a:latin typeface="Arial"/>
              <a:ea typeface="Arial"/>
              <a:cs typeface="Arial"/>
              <a:sym typeface="Arial"/>
            </a:endParaRPr>
          </a:p>
        </p:txBody>
      </p:sp>
      <p:sp>
        <p:nvSpPr>
          <p:cNvPr id="675" name="Google Shape;675;p57"/>
          <p:cNvSpPr/>
          <p:nvPr/>
        </p:nvSpPr>
        <p:spPr>
          <a:xfrm>
            <a:off x="3657600" y="374904"/>
            <a:ext cx="182880" cy="137160"/>
          </a:xfrm>
          <a:prstGeom prst="roundRect">
            <a:avLst>
              <a:gd name="adj" fmla="val 2666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6" name="Google Shape;676;p57"/>
          <p:cNvSpPr/>
          <p:nvPr/>
        </p:nvSpPr>
        <p:spPr>
          <a:xfrm>
            <a:off x="3877056" y="329184"/>
            <a:ext cx="5486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Paso</a:t>
            </a:r>
            <a:endParaRPr sz="750">
              <a:solidFill>
                <a:schemeClr val="dk1"/>
              </a:solidFill>
              <a:latin typeface="Arial"/>
              <a:ea typeface="Arial"/>
              <a:cs typeface="Arial"/>
              <a:sym typeface="Arial"/>
            </a:endParaRPr>
          </a:p>
        </p:txBody>
      </p:sp>
      <p:sp>
        <p:nvSpPr>
          <p:cNvPr id="677" name="Google Shape;677;p57"/>
          <p:cNvSpPr/>
          <p:nvPr/>
        </p:nvSpPr>
        <p:spPr>
          <a:xfrm>
            <a:off x="4572000" y="338328"/>
            <a:ext cx="201168" cy="201168"/>
          </a:xfrm>
          <a:prstGeom prst="diamond">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7"/>
          <p:cNvSpPr/>
          <p:nvPr/>
        </p:nvSpPr>
        <p:spPr>
          <a:xfrm>
            <a:off x="4809744" y="329184"/>
            <a:ext cx="7315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Decisión</a:t>
            </a:r>
            <a:endParaRPr sz="750">
              <a:solidFill>
                <a:schemeClr val="dk1"/>
              </a:solidFill>
              <a:latin typeface="Arial"/>
              <a:ea typeface="Arial"/>
              <a:cs typeface="Arial"/>
              <a:sym typeface="Arial"/>
            </a:endParaRPr>
          </a:p>
        </p:txBody>
      </p:sp>
      <p:sp>
        <p:nvSpPr>
          <p:cNvPr id="679" name="Google Shape;679;p57"/>
          <p:cNvSpPr/>
          <p:nvPr/>
        </p:nvSpPr>
        <p:spPr>
          <a:xfrm>
            <a:off x="5669280" y="374904"/>
            <a:ext cx="274320" cy="137160"/>
          </a:xfrm>
          <a:prstGeom prst="roundRect">
            <a:avLst>
              <a:gd name="adj" fmla="val 4666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7"/>
          <p:cNvSpPr/>
          <p:nvPr/>
        </p:nvSpPr>
        <p:spPr>
          <a:xfrm>
            <a:off x="5989320" y="329184"/>
            <a:ext cx="1920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SLA / tiempo de respuesta</a:t>
            </a:r>
            <a:endParaRPr sz="750">
              <a:solidFill>
                <a:schemeClr val="dk1"/>
              </a:solidFill>
              <a:latin typeface="Arial"/>
              <a:ea typeface="Arial"/>
              <a:cs typeface="Arial"/>
              <a:sym typeface="Arial"/>
            </a:endParaRPr>
          </a:p>
        </p:txBody>
      </p:sp>
      <p:sp>
        <p:nvSpPr>
          <p:cNvPr id="681" name="Google Shape;681;p57"/>
          <p:cNvSpPr/>
          <p:nvPr/>
        </p:nvSpPr>
        <p:spPr>
          <a:xfrm>
            <a:off x="274320" y="768096"/>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2" name="Google Shape;682;p57"/>
          <p:cNvSpPr/>
          <p:nvPr/>
        </p:nvSpPr>
        <p:spPr>
          <a:xfrm>
            <a:off x="274320" y="768096"/>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INICIO</a:t>
            </a:r>
            <a:endParaRPr sz="900">
              <a:solidFill>
                <a:schemeClr val="dk1"/>
              </a:solidFill>
              <a:latin typeface="Arial"/>
              <a:ea typeface="Arial"/>
              <a:cs typeface="Arial"/>
              <a:sym typeface="Arial"/>
            </a:endParaRPr>
          </a:p>
        </p:txBody>
      </p:sp>
      <p:cxnSp>
        <p:nvCxnSpPr>
          <p:cNvPr id="683" name="Google Shape;683;p57"/>
          <p:cNvCxnSpPr/>
          <p:nvPr/>
        </p:nvCxnSpPr>
        <p:spPr>
          <a:xfrm>
            <a:off x="118872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4" name="Google Shape;684;p57"/>
          <p:cNvSpPr/>
          <p:nvPr/>
        </p:nvSpPr>
        <p:spPr>
          <a:xfrm>
            <a:off x="1371600" y="658368"/>
            <a:ext cx="2286000" cy="475488"/>
          </a:xfrm>
          <a:prstGeom prst="roundRect">
            <a:avLst>
              <a:gd name="adj" fmla="val 6316"/>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57"/>
          <p:cNvSpPr/>
          <p:nvPr/>
        </p:nvSpPr>
        <p:spPr>
          <a:xfrm>
            <a:off x="1463040" y="704088"/>
            <a:ext cx="21031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1. Recepción de requerimiento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Asistente recibe el caso en Salesforce (mail/fono) y asigna Coordinador.</a:t>
            </a:r>
            <a:endParaRPr sz="840">
              <a:solidFill>
                <a:schemeClr val="dk1"/>
              </a:solidFill>
              <a:latin typeface="Arial"/>
              <a:ea typeface="Arial"/>
              <a:cs typeface="Arial"/>
              <a:sym typeface="Arial"/>
            </a:endParaRPr>
          </a:p>
        </p:txBody>
      </p:sp>
      <p:sp>
        <p:nvSpPr>
          <p:cNvPr id="686" name="Google Shape;686;p57"/>
          <p:cNvSpPr/>
          <p:nvPr/>
        </p:nvSpPr>
        <p:spPr>
          <a:xfrm>
            <a:off x="2971800" y="41148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57"/>
          <p:cNvSpPr/>
          <p:nvPr/>
        </p:nvSpPr>
        <p:spPr>
          <a:xfrm>
            <a:off x="2971800" y="41148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60 min</a:t>
            </a:r>
            <a:endParaRPr sz="760">
              <a:solidFill>
                <a:schemeClr val="dk1"/>
              </a:solidFill>
              <a:latin typeface="Arial"/>
              <a:ea typeface="Arial"/>
              <a:cs typeface="Arial"/>
              <a:sym typeface="Arial"/>
            </a:endParaRPr>
          </a:p>
        </p:txBody>
      </p:sp>
      <p:cxnSp>
        <p:nvCxnSpPr>
          <p:cNvPr id="688" name="Google Shape;688;p57"/>
          <p:cNvCxnSpPr/>
          <p:nvPr/>
        </p:nvCxnSpPr>
        <p:spPr>
          <a:xfrm>
            <a:off x="365760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9" name="Google Shape;689;p57"/>
          <p:cNvSpPr/>
          <p:nvPr/>
        </p:nvSpPr>
        <p:spPr>
          <a:xfrm>
            <a:off x="3840480" y="566928"/>
            <a:ext cx="1554480" cy="96012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57"/>
          <p:cNvSpPr/>
          <p:nvPr/>
        </p:nvSpPr>
        <p:spPr>
          <a:xfrm>
            <a:off x="3895344" y="621792"/>
            <a:ext cx="1444752" cy="85039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visita técnica?</a:t>
            </a:r>
            <a:endParaRPr sz="760">
              <a:solidFill>
                <a:schemeClr val="dk1"/>
              </a:solidFill>
              <a:latin typeface="Arial"/>
              <a:ea typeface="Arial"/>
              <a:cs typeface="Arial"/>
              <a:sym typeface="Arial"/>
            </a:endParaRPr>
          </a:p>
        </p:txBody>
      </p:sp>
      <p:cxnSp>
        <p:nvCxnSpPr>
          <p:cNvPr id="691" name="Google Shape;691;p57"/>
          <p:cNvCxnSpPr/>
          <p:nvPr/>
        </p:nvCxnSpPr>
        <p:spPr>
          <a:xfrm>
            <a:off x="5120640" y="1042416"/>
            <a:ext cx="3383280" cy="0"/>
          </a:xfrm>
          <a:prstGeom prst="straightConnector1">
            <a:avLst/>
          </a:prstGeom>
          <a:noFill/>
          <a:ln w="19050" cap="flat" cmpd="sng">
            <a:solidFill>
              <a:srgbClr val="303640"/>
            </a:solidFill>
            <a:prstDash val="solid"/>
            <a:round/>
            <a:headEnd type="none" w="sm" len="sm"/>
            <a:tailEnd type="none" w="sm" len="sm"/>
          </a:ln>
        </p:spPr>
      </p:cxnSp>
      <p:cxnSp>
        <p:nvCxnSpPr>
          <p:cNvPr id="692" name="Google Shape;692;p57"/>
          <p:cNvCxnSpPr/>
          <p:nvPr/>
        </p:nvCxnSpPr>
        <p:spPr>
          <a:xfrm>
            <a:off x="8503920" y="1042416"/>
            <a:ext cx="0" cy="768096"/>
          </a:xfrm>
          <a:prstGeom prst="straightConnector1">
            <a:avLst/>
          </a:prstGeom>
          <a:noFill/>
          <a:ln w="19050" cap="flat" cmpd="sng">
            <a:solidFill>
              <a:srgbClr val="303640"/>
            </a:solidFill>
            <a:prstDash val="solid"/>
            <a:round/>
            <a:headEnd type="none" w="sm" len="sm"/>
            <a:tailEnd type="triangle" w="med" len="med"/>
          </a:ln>
        </p:spPr>
      </p:cxnSp>
      <p:sp>
        <p:nvSpPr>
          <p:cNvPr id="693" name="Google Shape;693;p57"/>
          <p:cNvSpPr/>
          <p:nvPr/>
        </p:nvSpPr>
        <p:spPr>
          <a:xfrm>
            <a:off x="8275320" y="1307592"/>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 name="Google Shape;694;p57"/>
          <p:cNvSpPr/>
          <p:nvPr/>
        </p:nvSpPr>
        <p:spPr>
          <a:xfrm>
            <a:off x="8275320" y="1307592"/>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cxnSp>
        <p:nvCxnSpPr>
          <p:cNvPr id="695" name="Google Shape;695;p57"/>
          <p:cNvCxnSpPr/>
          <p:nvPr/>
        </p:nvCxnSpPr>
        <p:spPr>
          <a:xfrm>
            <a:off x="960120" y="1225296"/>
            <a:ext cx="2880360" cy="0"/>
          </a:xfrm>
          <a:prstGeom prst="straightConnector1">
            <a:avLst/>
          </a:prstGeom>
          <a:noFill/>
          <a:ln w="19050" cap="flat" cmpd="sng">
            <a:solidFill>
              <a:srgbClr val="303640"/>
            </a:solidFill>
            <a:prstDash val="solid"/>
            <a:round/>
            <a:headEnd type="none" w="sm" len="sm"/>
            <a:tailEnd type="none" w="sm" len="sm"/>
          </a:ln>
        </p:spPr>
      </p:cxnSp>
      <p:cxnSp>
        <p:nvCxnSpPr>
          <p:cNvPr id="696" name="Google Shape;696;p57"/>
          <p:cNvCxnSpPr/>
          <p:nvPr/>
        </p:nvCxnSpPr>
        <p:spPr>
          <a:xfrm>
            <a:off x="960120" y="1225296"/>
            <a:ext cx="0" cy="3090672"/>
          </a:xfrm>
          <a:prstGeom prst="straightConnector1">
            <a:avLst/>
          </a:prstGeom>
          <a:noFill/>
          <a:ln w="19050" cap="flat" cmpd="sng">
            <a:solidFill>
              <a:srgbClr val="303640"/>
            </a:solidFill>
            <a:prstDash val="solid"/>
            <a:round/>
            <a:headEnd type="none" w="sm" len="sm"/>
            <a:tailEnd type="triangle" w="med" len="med"/>
          </a:ln>
        </p:spPr>
      </p:cxnSp>
      <p:sp>
        <p:nvSpPr>
          <p:cNvPr id="697" name="Google Shape;697;p57"/>
          <p:cNvSpPr/>
          <p:nvPr/>
        </p:nvSpPr>
        <p:spPr>
          <a:xfrm>
            <a:off x="749808" y="137160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 name="Google Shape;698;p57"/>
          <p:cNvSpPr/>
          <p:nvPr/>
        </p:nvSpPr>
        <p:spPr>
          <a:xfrm>
            <a:off x="749808" y="137160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699" name="Google Shape;699;p57"/>
          <p:cNvSpPr/>
          <p:nvPr/>
        </p:nvSpPr>
        <p:spPr>
          <a:xfrm>
            <a:off x="4023360" y="1810512"/>
            <a:ext cx="7863840" cy="237744"/>
          </a:xfrm>
          <a:prstGeom prst="roundRect">
            <a:avLst>
              <a:gd name="adj" fmla="val 2307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 name="Google Shape;700;p57"/>
          <p:cNvSpPr/>
          <p:nvPr/>
        </p:nvSpPr>
        <p:spPr>
          <a:xfrm>
            <a:off x="4023360" y="1810512"/>
            <a:ext cx="78638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s-CL" sz="850" b="1">
                <a:solidFill>
                  <a:srgbClr val="FFFFFF"/>
                </a:solidFill>
                <a:latin typeface="Calibri"/>
                <a:ea typeface="Calibri"/>
                <a:cs typeface="Calibri"/>
                <a:sym typeface="Calibri"/>
              </a:rPr>
              <a:t>CAMINO A  ·  Visita técnica</a:t>
            </a:r>
            <a:endParaRPr sz="850">
              <a:solidFill>
                <a:schemeClr val="dk1"/>
              </a:solidFill>
              <a:latin typeface="Arial"/>
              <a:ea typeface="Arial"/>
              <a:cs typeface="Arial"/>
              <a:sym typeface="Arial"/>
            </a:endParaRPr>
          </a:p>
        </p:txBody>
      </p:sp>
      <p:sp>
        <p:nvSpPr>
          <p:cNvPr id="701" name="Google Shape;701;p57"/>
          <p:cNvSpPr/>
          <p:nvPr/>
        </p:nvSpPr>
        <p:spPr>
          <a:xfrm>
            <a:off x="4133088" y="2340864"/>
            <a:ext cx="146304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2" name="Google Shape;702;p57"/>
          <p:cNvSpPr/>
          <p:nvPr/>
        </p:nvSpPr>
        <p:spPr>
          <a:xfrm>
            <a:off x="4187952" y="2395728"/>
            <a:ext cx="135331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¿Contrato /</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Garantía?</a:t>
            </a:r>
            <a:endParaRPr sz="760">
              <a:solidFill>
                <a:schemeClr val="dk1"/>
              </a:solidFill>
              <a:latin typeface="Arial"/>
              <a:ea typeface="Arial"/>
              <a:cs typeface="Arial"/>
              <a:sym typeface="Arial"/>
            </a:endParaRPr>
          </a:p>
        </p:txBody>
      </p:sp>
      <p:cxnSp>
        <p:nvCxnSpPr>
          <p:cNvPr id="703" name="Google Shape;703;p57"/>
          <p:cNvCxnSpPr/>
          <p:nvPr/>
        </p:nvCxnSpPr>
        <p:spPr>
          <a:xfrm>
            <a:off x="5596128" y="2715768"/>
            <a:ext cx="301752" cy="0"/>
          </a:xfrm>
          <a:prstGeom prst="straightConnector1">
            <a:avLst/>
          </a:prstGeom>
          <a:noFill/>
          <a:ln w="19050" cap="flat" cmpd="sng">
            <a:solidFill>
              <a:srgbClr val="303640"/>
            </a:solidFill>
            <a:prstDash val="solid"/>
            <a:round/>
            <a:headEnd type="none" w="sm" len="sm"/>
            <a:tailEnd type="triangle" w="med" len="med"/>
          </a:ln>
        </p:spPr>
      </p:cxnSp>
      <p:sp>
        <p:nvSpPr>
          <p:cNvPr id="704" name="Google Shape;704;p57"/>
          <p:cNvSpPr/>
          <p:nvPr/>
        </p:nvSpPr>
        <p:spPr>
          <a:xfrm>
            <a:off x="589788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5" name="Google Shape;705;p57"/>
          <p:cNvSpPr/>
          <p:nvPr/>
        </p:nvSpPr>
        <p:spPr>
          <a:xfrm>
            <a:off x="598932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2. Asignación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Coordinador contacta y programa la visita.</a:t>
            </a:r>
            <a:endParaRPr sz="840">
              <a:solidFill>
                <a:schemeClr val="dk1"/>
              </a:solidFill>
              <a:latin typeface="Arial"/>
              <a:ea typeface="Arial"/>
              <a:cs typeface="Arial"/>
              <a:sym typeface="Arial"/>
            </a:endParaRPr>
          </a:p>
        </p:txBody>
      </p:sp>
      <p:sp>
        <p:nvSpPr>
          <p:cNvPr id="706" name="Google Shape;706;p57"/>
          <p:cNvSpPr/>
          <p:nvPr/>
        </p:nvSpPr>
        <p:spPr>
          <a:xfrm>
            <a:off x="6603797" y="2112264"/>
            <a:ext cx="985723"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7" name="Google Shape;707;p57"/>
          <p:cNvSpPr/>
          <p:nvPr/>
        </p:nvSpPr>
        <p:spPr>
          <a:xfrm>
            <a:off x="6603797" y="2112264"/>
            <a:ext cx="985723"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Según contrato</a:t>
            </a:r>
            <a:endParaRPr sz="760">
              <a:solidFill>
                <a:schemeClr val="dk1"/>
              </a:solidFill>
              <a:latin typeface="Arial"/>
              <a:ea typeface="Arial"/>
              <a:cs typeface="Arial"/>
              <a:sym typeface="Arial"/>
            </a:endParaRPr>
          </a:p>
        </p:txBody>
      </p:sp>
      <p:cxnSp>
        <p:nvCxnSpPr>
          <p:cNvPr id="708" name="Google Shape;708;p57"/>
          <p:cNvCxnSpPr/>
          <p:nvPr/>
        </p:nvCxnSpPr>
        <p:spPr>
          <a:xfrm>
            <a:off x="758952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09" name="Google Shape;709;p57"/>
          <p:cNvSpPr/>
          <p:nvPr/>
        </p:nvSpPr>
        <p:spPr>
          <a:xfrm>
            <a:off x="777240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0" name="Google Shape;710;p57"/>
          <p:cNvSpPr/>
          <p:nvPr/>
        </p:nvSpPr>
        <p:spPr>
          <a:xfrm>
            <a:off x="786384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3. Agendamiento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Consola de despachador Field Service.</a:t>
            </a:r>
            <a:endParaRPr sz="840">
              <a:solidFill>
                <a:schemeClr val="dk1"/>
              </a:solidFill>
              <a:latin typeface="Arial"/>
              <a:ea typeface="Arial"/>
              <a:cs typeface="Arial"/>
              <a:sym typeface="Arial"/>
            </a:endParaRPr>
          </a:p>
        </p:txBody>
      </p:sp>
      <p:sp>
        <p:nvSpPr>
          <p:cNvPr id="711" name="Google Shape;711;p57"/>
          <p:cNvSpPr/>
          <p:nvPr/>
        </p:nvSpPr>
        <p:spPr>
          <a:xfrm>
            <a:off x="8097926" y="2112264"/>
            <a:ext cx="1366114"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2" name="Google Shape;712;p57"/>
          <p:cNvSpPr/>
          <p:nvPr/>
        </p:nvSpPr>
        <p:spPr>
          <a:xfrm>
            <a:off x="8097926" y="2112264"/>
            <a:ext cx="136611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Contrato · si no, 96 h</a:t>
            </a:r>
            <a:endParaRPr sz="760">
              <a:solidFill>
                <a:schemeClr val="dk1"/>
              </a:solidFill>
              <a:latin typeface="Arial"/>
              <a:ea typeface="Arial"/>
              <a:cs typeface="Arial"/>
              <a:sym typeface="Arial"/>
            </a:endParaRPr>
          </a:p>
        </p:txBody>
      </p:sp>
      <p:cxnSp>
        <p:nvCxnSpPr>
          <p:cNvPr id="713" name="Google Shape;713;p57"/>
          <p:cNvCxnSpPr/>
          <p:nvPr/>
        </p:nvCxnSpPr>
        <p:spPr>
          <a:xfrm>
            <a:off x="946404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14" name="Google Shape;714;p57"/>
          <p:cNvSpPr/>
          <p:nvPr/>
        </p:nvSpPr>
        <p:spPr>
          <a:xfrm>
            <a:off x="964692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5" name="Google Shape;715;p57"/>
          <p:cNvSpPr/>
          <p:nvPr/>
        </p:nvSpPr>
        <p:spPr>
          <a:xfrm>
            <a:off x="973836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4. Correo con OT y fecha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envía la Orden de Trabajo y la fecha al cliente.</a:t>
            </a:r>
            <a:endParaRPr sz="840">
              <a:solidFill>
                <a:schemeClr val="dk1"/>
              </a:solidFill>
              <a:latin typeface="Arial"/>
              <a:ea typeface="Arial"/>
              <a:cs typeface="Arial"/>
              <a:sym typeface="Arial"/>
            </a:endParaRPr>
          </a:p>
        </p:txBody>
      </p:sp>
      <p:cxnSp>
        <p:nvCxnSpPr>
          <p:cNvPr id="716" name="Google Shape;716;p57"/>
          <p:cNvCxnSpPr/>
          <p:nvPr/>
        </p:nvCxnSpPr>
        <p:spPr>
          <a:xfrm>
            <a:off x="10492740" y="3072384"/>
            <a:ext cx="0" cy="347472"/>
          </a:xfrm>
          <a:prstGeom prst="straightConnector1">
            <a:avLst/>
          </a:prstGeom>
          <a:noFill/>
          <a:ln w="19050" cap="flat" cmpd="sng">
            <a:solidFill>
              <a:srgbClr val="303640"/>
            </a:solidFill>
            <a:prstDash val="solid"/>
            <a:round/>
            <a:headEnd type="none" w="sm" len="sm"/>
            <a:tailEnd type="triangle" w="med" len="med"/>
          </a:ln>
        </p:spPr>
      </p:cxnSp>
      <p:sp>
        <p:nvSpPr>
          <p:cNvPr id="717" name="Google Shape;717;p57"/>
          <p:cNvSpPr/>
          <p:nvPr/>
        </p:nvSpPr>
        <p:spPr>
          <a:xfrm>
            <a:off x="964692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7"/>
          <p:cNvSpPr/>
          <p:nvPr/>
        </p:nvSpPr>
        <p:spPr>
          <a:xfrm>
            <a:off x="973836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5. 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el caso y se notifica al cliente.</a:t>
            </a:r>
            <a:endParaRPr sz="840">
              <a:solidFill>
                <a:schemeClr val="dk1"/>
              </a:solidFill>
              <a:latin typeface="Arial"/>
              <a:ea typeface="Arial"/>
              <a:cs typeface="Arial"/>
              <a:sym typeface="Arial"/>
            </a:endParaRPr>
          </a:p>
        </p:txBody>
      </p:sp>
      <p:sp>
        <p:nvSpPr>
          <p:cNvPr id="719" name="Google Shape;719;p57"/>
          <p:cNvSpPr/>
          <p:nvPr/>
        </p:nvSpPr>
        <p:spPr>
          <a:xfrm>
            <a:off x="10652760" y="3172968"/>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0" name="Google Shape;720;p57"/>
          <p:cNvSpPr/>
          <p:nvPr/>
        </p:nvSpPr>
        <p:spPr>
          <a:xfrm>
            <a:off x="10652760" y="3172968"/>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21" name="Google Shape;721;p57"/>
          <p:cNvCxnSpPr/>
          <p:nvPr/>
        </p:nvCxnSpPr>
        <p:spPr>
          <a:xfrm>
            <a:off x="946404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2" name="Google Shape;722;p57"/>
          <p:cNvSpPr/>
          <p:nvPr/>
        </p:nvSpPr>
        <p:spPr>
          <a:xfrm>
            <a:off x="777240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3" name="Google Shape;723;p57"/>
          <p:cNvSpPr/>
          <p:nvPr/>
        </p:nvSpPr>
        <p:spPr>
          <a:xfrm>
            <a:off x="786384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6. Gestión de Recursos</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Pasajes, hospedaje, vehículos y viáticos.</a:t>
            </a:r>
            <a:endParaRPr sz="840">
              <a:solidFill>
                <a:schemeClr val="dk1"/>
              </a:solidFill>
              <a:latin typeface="Arial"/>
              <a:ea typeface="Arial"/>
              <a:cs typeface="Arial"/>
              <a:sym typeface="Arial"/>
            </a:endParaRPr>
          </a:p>
        </p:txBody>
      </p:sp>
      <p:cxnSp>
        <p:nvCxnSpPr>
          <p:cNvPr id="724" name="Google Shape;724;p57"/>
          <p:cNvCxnSpPr/>
          <p:nvPr/>
        </p:nvCxnSpPr>
        <p:spPr>
          <a:xfrm>
            <a:off x="758952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5" name="Google Shape;725;p57"/>
          <p:cNvSpPr/>
          <p:nvPr/>
        </p:nvSpPr>
        <p:spPr>
          <a:xfrm>
            <a:off x="589788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6" name="Google Shape;726;p57"/>
          <p:cNvSpPr/>
          <p:nvPr/>
        </p:nvSpPr>
        <p:spPr>
          <a:xfrm>
            <a:off x="598932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7. Planificación y Ejecución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Ejecución del servicio técnico en terreno.</a:t>
            </a:r>
            <a:endParaRPr sz="840">
              <a:solidFill>
                <a:schemeClr val="dk1"/>
              </a:solidFill>
              <a:latin typeface="Arial"/>
              <a:ea typeface="Arial"/>
              <a:cs typeface="Arial"/>
              <a:sym typeface="Arial"/>
            </a:endParaRPr>
          </a:p>
        </p:txBody>
      </p:sp>
      <p:cxnSp>
        <p:nvCxnSpPr>
          <p:cNvPr id="727" name="Google Shape;727;p57"/>
          <p:cNvCxnSpPr/>
          <p:nvPr/>
        </p:nvCxnSpPr>
        <p:spPr>
          <a:xfrm>
            <a:off x="5596128" y="3776472"/>
            <a:ext cx="301752" cy="0"/>
          </a:xfrm>
          <a:prstGeom prst="straightConnector1">
            <a:avLst/>
          </a:prstGeom>
          <a:noFill/>
          <a:ln w="19050" cap="flat" cmpd="sng">
            <a:solidFill>
              <a:srgbClr val="303640"/>
            </a:solidFill>
            <a:prstDash val="solid"/>
            <a:round/>
            <a:headEnd type="triangle" w="med" len="med"/>
            <a:tailEnd type="none" w="sm" len="sm"/>
          </a:ln>
        </p:spPr>
      </p:cxnSp>
      <p:sp>
        <p:nvSpPr>
          <p:cNvPr id="728" name="Google Shape;728;p57"/>
          <p:cNvSpPr/>
          <p:nvPr/>
        </p:nvSpPr>
        <p:spPr>
          <a:xfrm>
            <a:off x="4023360" y="3419856"/>
            <a:ext cx="1572768"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57"/>
          <p:cNvSpPr/>
          <p:nvPr/>
        </p:nvSpPr>
        <p:spPr>
          <a:xfrm>
            <a:off x="4114800" y="3465576"/>
            <a:ext cx="1389888"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8. Revisión y Cierre</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Revisión, facturación y cierre administrativo.</a:t>
            </a:r>
            <a:endParaRPr sz="840">
              <a:solidFill>
                <a:schemeClr val="dk1"/>
              </a:solidFill>
              <a:latin typeface="Arial"/>
              <a:ea typeface="Arial"/>
              <a:cs typeface="Arial"/>
              <a:sym typeface="Arial"/>
            </a:endParaRPr>
          </a:p>
        </p:txBody>
      </p:sp>
      <p:cxnSp>
        <p:nvCxnSpPr>
          <p:cNvPr id="730" name="Google Shape;730;p57"/>
          <p:cNvCxnSpPr/>
          <p:nvPr/>
        </p:nvCxnSpPr>
        <p:spPr>
          <a:xfrm>
            <a:off x="2148840" y="3776472"/>
            <a:ext cx="1874520" cy="0"/>
          </a:xfrm>
          <a:prstGeom prst="straightConnector1">
            <a:avLst/>
          </a:prstGeom>
          <a:noFill/>
          <a:ln w="19050" cap="flat" cmpd="sng">
            <a:solidFill>
              <a:srgbClr val="303640"/>
            </a:solidFill>
            <a:prstDash val="solid"/>
            <a:round/>
            <a:headEnd type="triangle" w="med" len="med"/>
            <a:tailEnd type="none" w="sm" len="sm"/>
          </a:ln>
        </p:spPr>
      </p:cxnSp>
      <p:sp>
        <p:nvSpPr>
          <p:cNvPr id="731" name="Google Shape;731;p57"/>
          <p:cNvSpPr/>
          <p:nvPr/>
        </p:nvSpPr>
        <p:spPr>
          <a:xfrm>
            <a:off x="1188720" y="3547872"/>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2" name="Google Shape;732;p57"/>
          <p:cNvSpPr/>
          <p:nvPr/>
        </p:nvSpPr>
        <p:spPr>
          <a:xfrm>
            <a:off x="1188720" y="3547872"/>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sp>
        <p:nvSpPr>
          <p:cNvPr id="733" name="Google Shape;733;p57"/>
          <p:cNvSpPr/>
          <p:nvPr/>
        </p:nvSpPr>
        <p:spPr>
          <a:xfrm>
            <a:off x="274320" y="4315968"/>
            <a:ext cx="7955280" cy="237744"/>
          </a:xfrm>
          <a:prstGeom prst="roundRect">
            <a:avLst>
              <a:gd name="adj" fmla="val 2307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7"/>
          <p:cNvSpPr/>
          <p:nvPr/>
        </p:nvSpPr>
        <p:spPr>
          <a:xfrm>
            <a:off x="274320" y="4315968"/>
            <a:ext cx="79552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CAMINO B  ·  Solicitud de cotización</a:t>
            </a:r>
            <a:endParaRPr sz="850">
              <a:solidFill>
                <a:schemeClr val="dk1"/>
              </a:solidFill>
              <a:latin typeface="Arial"/>
              <a:ea typeface="Arial"/>
              <a:cs typeface="Arial"/>
              <a:sym typeface="Arial"/>
            </a:endParaRPr>
          </a:p>
        </p:txBody>
      </p:sp>
      <p:sp>
        <p:nvSpPr>
          <p:cNvPr id="735" name="Google Shape;735;p57"/>
          <p:cNvSpPr/>
          <p:nvPr/>
        </p:nvSpPr>
        <p:spPr>
          <a:xfrm>
            <a:off x="274320" y="4818888"/>
            <a:ext cx="141732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6" name="Google Shape;736;p57"/>
          <p:cNvSpPr/>
          <p:nvPr/>
        </p:nvSpPr>
        <p:spPr>
          <a:xfrm>
            <a:off x="329184" y="4873752"/>
            <a:ext cx="130759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cotización?</a:t>
            </a:r>
            <a:endParaRPr sz="760">
              <a:solidFill>
                <a:schemeClr val="dk1"/>
              </a:solidFill>
              <a:latin typeface="Arial"/>
              <a:ea typeface="Arial"/>
              <a:cs typeface="Arial"/>
              <a:sym typeface="Arial"/>
            </a:endParaRPr>
          </a:p>
        </p:txBody>
      </p:sp>
      <p:cxnSp>
        <p:nvCxnSpPr>
          <p:cNvPr id="737" name="Google Shape;737;p57"/>
          <p:cNvCxnSpPr/>
          <p:nvPr/>
        </p:nvCxnSpPr>
        <p:spPr>
          <a:xfrm>
            <a:off x="16916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38" name="Google Shape;738;p57"/>
          <p:cNvSpPr/>
          <p:nvPr/>
        </p:nvSpPr>
        <p:spPr>
          <a:xfrm>
            <a:off x="1874520" y="4864608"/>
            <a:ext cx="19202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9" name="Google Shape;739;p57"/>
          <p:cNvSpPr/>
          <p:nvPr/>
        </p:nvSpPr>
        <p:spPr>
          <a:xfrm>
            <a:off x="1965960" y="4910328"/>
            <a:ext cx="17373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Generar oportunidad</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Cotización en Salesforce enviada al cliente.</a:t>
            </a:r>
            <a:endParaRPr sz="840">
              <a:solidFill>
                <a:schemeClr val="dk1"/>
              </a:solidFill>
              <a:latin typeface="Arial"/>
              <a:ea typeface="Arial"/>
              <a:cs typeface="Arial"/>
              <a:sym typeface="Arial"/>
            </a:endParaRPr>
          </a:p>
        </p:txBody>
      </p:sp>
      <p:sp>
        <p:nvSpPr>
          <p:cNvPr id="740" name="Google Shape;740;p57"/>
          <p:cNvSpPr/>
          <p:nvPr/>
        </p:nvSpPr>
        <p:spPr>
          <a:xfrm>
            <a:off x="3108960" y="461772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1" name="Google Shape;741;p57"/>
          <p:cNvSpPr/>
          <p:nvPr/>
        </p:nvSpPr>
        <p:spPr>
          <a:xfrm>
            <a:off x="3108960" y="461772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24 h</a:t>
            </a:r>
            <a:endParaRPr sz="760">
              <a:solidFill>
                <a:schemeClr val="dk1"/>
              </a:solidFill>
              <a:latin typeface="Arial"/>
              <a:ea typeface="Arial"/>
              <a:cs typeface="Arial"/>
              <a:sym typeface="Arial"/>
            </a:endParaRPr>
          </a:p>
        </p:txBody>
      </p:sp>
      <p:cxnSp>
        <p:nvCxnSpPr>
          <p:cNvPr id="742" name="Google Shape;742;p57"/>
          <p:cNvCxnSpPr/>
          <p:nvPr/>
        </p:nvCxnSpPr>
        <p:spPr>
          <a:xfrm>
            <a:off x="379476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3" name="Google Shape;743;p57"/>
          <p:cNvSpPr/>
          <p:nvPr/>
        </p:nvSpPr>
        <p:spPr>
          <a:xfrm>
            <a:off x="3977640" y="4818888"/>
            <a:ext cx="137160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4" name="Google Shape;744;p57"/>
          <p:cNvSpPr/>
          <p:nvPr/>
        </p:nvSpPr>
        <p:spPr>
          <a:xfrm>
            <a:off x="4032504" y="4873752"/>
            <a:ext cx="126187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¿Cliente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acepta?</a:t>
            </a:r>
            <a:endParaRPr sz="760">
              <a:solidFill>
                <a:schemeClr val="dk1"/>
              </a:solidFill>
              <a:latin typeface="Arial"/>
              <a:ea typeface="Arial"/>
              <a:cs typeface="Arial"/>
              <a:sym typeface="Arial"/>
            </a:endParaRPr>
          </a:p>
        </p:txBody>
      </p:sp>
      <p:cxnSp>
        <p:nvCxnSpPr>
          <p:cNvPr id="745" name="Google Shape;745;p57"/>
          <p:cNvCxnSpPr/>
          <p:nvPr/>
        </p:nvCxnSpPr>
        <p:spPr>
          <a:xfrm>
            <a:off x="53492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6" name="Google Shape;746;p57"/>
          <p:cNvSpPr/>
          <p:nvPr/>
        </p:nvSpPr>
        <p:spPr>
          <a:xfrm>
            <a:off x="5532120" y="4864608"/>
            <a:ext cx="2148840" cy="640080"/>
          </a:xfrm>
          <a:prstGeom prst="roundRect">
            <a:avLst>
              <a:gd name="adj" fmla="val 8571"/>
            </a:avLst>
          </a:prstGeom>
          <a:solidFill>
            <a:srgbClr val="EAFBFB"/>
          </a:solidFill>
          <a:ln w="15875" cap="flat" cmpd="sng">
            <a:solidFill>
              <a:srgbClr val="3AD1D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7"/>
          <p:cNvSpPr/>
          <p:nvPr/>
        </p:nvSpPr>
        <p:spPr>
          <a:xfrm>
            <a:off x="5669280" y="4864608"/>
            <a:ext cx="1874520" cy="6400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 Continúa en Camino A</a:t>
            </a:r>
            <a:endParaRPr sz="76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2. Asignación</a:t>
            </a:r>
            <a:endParaRPr sz="760">
              <a:solidFill>
                <a:schemeClr val="dk1"/>
              </a:solidFill>
              <a:latin typeface="Arial"/>
              <a:ea typeface="Arial"/>
              <a:cs typeface="Arial"/>
              <a:sym typeface="Arial"/>
            </a:endParaRPr>
          </a:p>
        </p:txBody>
      </p:sp>
      <p:cxnSp>
        <p:nvCxnSpPr>
          <p:cNvPr id="748" name="Google Shape;748;p57"/>
          <p:cNvCxnSpPr/>
          <p:nvPr/>
        </p:nvCxnSpPr>
        <p:spPr>
          <a:xfrm>
            <a:off x="98298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49" name="Google Shape;749;p57"/>
          <p:cNvSpPr/>
          <p:nvPr/>
        </p:nvSpPr>
        <p:spPr>
          <a:xfrm>
            <a:off x="27432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7"/>
          <p:cNvSpPr/>
          <p:nvPr/>
        </p:nvSpPr>
        <p:spPr>
          <a:xfrm>
            <a:off x="36576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cxnSp>
        <p:nvCxnSpPr>
          <p:cNvPr id="751" name="Google Shape;751;p57"/>
          <p:cNvCxnSpPr/>
          <p:nvPr/>
        </p:nvCxnSpPr>
        <p:spPr>
          <a:xfrm>
            <a:off x="2057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2" name="Google Shape;752;p57"/>
          <p:cNvSpPr/>
          <p:nvPr/>
        </p:nvSpPr>
        <p:spPr>
          <a:xfrm>
            <a:off x="224028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3" name="Google Shape;753;p57"/>
          <p:cNvSpPr/>
          <p:nvPr/>
        </p:nvSpPr>
        <p:spPr>
          <a:xfrm>
            <a:off x="224028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54" name="Google Shape;754;p57"/>
          <p:cNvCxnSpPr/>
          <p:nvPr/>
        </p:nvCxnSpPr>
        <p:spPr>
          <a:xfrm>
            <a:off x="466344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55" name="Google Shape;755;p57"/>
          <p:cNvSpPr/>
          <p:nvPr/>
        </p:nvSpPr>
        <p:spPr>
          <a:xfrm>
            <a:off x="3794760" y="5852160"/>
            <a:ext cx="16916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6" name="Google Shape;756;p57"/>
          <p:cNvSpPr/>
          <p:nvPr/>
        </p:nvSpPr>
        <p:spPr>
          <a:xfrm>
            <a:off x="3886200" y="5897880"/>
            <a:ext cx="15087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Oportunidad perdida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la oportunidad en Salesforce.</a:t>
            </a:r>
            <a:endParaRPr sz="840">
              <a:solidFill>
                <a:schemeClr val="dk1"/>
              </a:solidFill>
              <a:latin typeface="Arial"/>
              <a:ea typeface="Arial"/>
              <a:cs typeface="Arial"/>
              <a:sym typeface="Arial"/>
            </a:endParaRPr>
          </a:p>
        </p:txBody>
      </p:sp>
      <p:cxnSp>
        <p:nvCxnSpPr>
          <p:cNvPr id="757" name="Google Shape;757;p57"/>
          <p:cNvCxnSpPr/>
          <p:nvPr/>
        </p:nvCxnSpPr>
        <p:spPr>
          <a:xfrm>
            <a:off x="5486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8" name="Google Shape;758;p57"/>
          <p:cNvSpPr/>
          <p:nvPr/>
        </p:nvSpPr>
        <p:spPr>
          <a:xfrm>
            <a:off x="566928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9" name="Google Shape;759;p57"/>
          <p:cNvSpPr/>
          <p:nvPr/>
        </p:nvSpPr>
        <p:spPr>
          <a:xfrm>
            <a:off x="576072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sp>
        <p:nvSpPr>
          <p:cNvPr id="760" name="Google Shape;760;p57"/>
          <p:cNvSpPr/>
          <p:nvPr/>
        </p:nvSpPr>
        <p:spPr>
          <a:xfrm>
            <a:off x="6766560" y="5605272"/>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1" name="Google Shape;761;p57"/>
          <p:cNvSpPr/>
          <p:nvPr/>
        </p:nvSpPr>
        <p:spPr>
          <a:xfrm>
            <a:off x="6766560" y="5605272"/>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62" name="Google Shape;762;p57"/>
          <p:cNvCxnSpPr/>
          <p:nvPr/>
        </p:nvCxnSpPr>
        <p:spPr>
          <a:xfrm>
            <a:off x="745236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63" name="Google Shape;763;p57"/>
          <p:cNvSpPr/>
          <p:nvPr/>
        </p:nvSpPr>
        <p:spPr>
          <a:xfrm>
            <a:off x="763524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7"/>
          <p:cNvSpPr/>
          <p:nvPr/>
        </p:nvSpPr>
        <p:spPr>
          <a:xfrm>
            <a:off x="763524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65" name="Google Shape;765;p57"/>
          <p:cNvCxnSpPr/>
          <p:nvPr/>
        </p:nvCxnSpPr>
        <p:spPr>
          <a:xfrm rot="10800000" flipH="1">
            <a:off x="960120" y="2730489"/>
            <a:ext cx="3172968" cy="21855"/>
          </a:xfrm>
          <a:prstGeom prst="straightConnector1">
            <a:avLst/>
          </a:prstGeom>
          <a:noFill/>
          <a:ln w="19050" cap="flat" cmpd="sng">
            <a:solidFill>
              <a:srgbClr val="303640"/>
            </a:solidFill>
            <a:prstDash val="solid"/>
            <a:round/>
            <a:headEnd type="none" w="sm" len="sm"/>
            <a:tailEnd type="none" w="sm" len="sm"/>
          </a:ln>
        </p:spPr>
      </p:cxnSp>
      <p:sp>
        <p:nvSpPr>
          <p:cNvPr id="766" name="Google Shape;766;p57"/>
          <p:cNvSpPr/>
          <p:nvPr/>
        </p:nvSpPr>
        <p:spPr>
          <a:xfrm>
            <a:off x="1781355" y="260604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7"/>
          <p:cNvSpPr/>
          <p:nvPr/>
        </p:nvSpPr>
        <p:spPr>
          <a:xfrm>
            <a:off x="1781355" y="260604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768" name="Google Shape;768;p57"/>
          <p:cNvSpPr/>
          <p:nvPr/>
        </p:nvSpPr>
        <p:spPr>
          <a:xfrm>
            <a:off x="5417734" y="2596609"/>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9" name="Google Shape;769;p57"/>
          <p:cNvSpPr/>
          <p:nvPr/>
        </p:nvSpPr>
        <p:spPr>
          <a:xfrm>
            <a:off x="5417734" y="2596609"/>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sp>
        <p:nvSpPr>
          <p:cNvPr id="770" name="Google Shape;770;p57"/>
          <p:cNvSpPr/>
          <p:nvPr/>
        </p:nvSpPr>
        <p:spPr>
          <a:xfrm>
            <a:off x="4480560" y="5514868"/>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7"/>
          <p:cNvSpPr/>
          <p:nvPr/>
        </p:nvSpPr>
        <p:spPr>
          <a:xfrm>
            <a:off x="4480560" y="5514868"/>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58"/>
          <p:cNvSpPr txBox="1"/>
          <p:nvPr/>
        </p:nvSpPr>
        <p:spPr>
          <a:xfrm>
            <a:off x="397024" y="274439"/>
            <a:ext cx="10081120" cy="34624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3448D"/>
              </a:buClr>
              <a:buSzPts val="2250"/>
              <a:buFont typeface="Calibri"/>
              <a:buNone/>
            </a:pPr>
            <a:r>
              <a:rPr lang="es-CL" sz="2250" b="1" i="0" u="none" strike="noStrike" cap="none">
                <a:solidFill>
                  <a:srgbClr val="33448D"/>
                </a:solidFill>
                <a:latin typeface="Calibri"/>
                <a:ea typeface="Calibri"/>
                <a:cs typeface="Calibri"/>
                <a:sym typeface="Calibri"/>
              </a:rPr>
              <a:t>Segmentación Clientes TECSERVICE</a:t>
            </a:r>
            <a:endParaRPr/>
          </a:p>
        </p:txBody>
      </p:sp>
      <p:pic>
        <p:nvPicPr>
          <p:cNvPr id="777" name="Google Shape;777;p58"/>
          <p:cNvPicPr preferRelativeResize="0"/>
          <p:nvPr/>
        </p:nvPicPr>
        <p:blipFill rotWithShape="1">
          <a:blip r:embed="rId3">
            <a:alphaModFix/>
          </a:blip>
          <a:srcRect r="73077"/>
          <a:stretch/>
        </p:blipFill>
        <p:spPr>
          <a:xfrm>
            <a:off x="10776520" y="37422"/>
            <a:ext cx="504056" cy="584616"/>
          </a:xfrm>
          <a:prstGeom prst="rect">
            <a:avLst/>
          </a:prstGeom>
          <a:noFill/>
          <a:ln>
            <a:noFill/>
          </a:ln>
        </p:spPr>
      </p:pic>
      <p:sp>
        <p:nvSpPr>
          <p:cNvPr id="778" name="Google Shape;778;p58"/>
          <p:cNvSpPr/>
          <p:nvPr/>
        </p:nvSpPr>
        <p:spPr>
          <a:xfrm>
            <a:off x="767408" y="1196752"/>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Tamaño</a:t>
            </a:r>
            <a:endParaRPr sz="1600" b="1" i="0" u="none" strike="noStrike" cap="none">
              <a:solidFill>
                <a:srgbClr val="FFFFFF"/>
              </a:solidFill>
              <a:latin typeface="Arial"/>
              <a:ea typeface="Arial"/>
              <a:cs typeface="Arial"/>
              <a:sym typeface="Arial"/>
            </a:endParaRPr>
          </a:p>
        </p:txBody>
      </p:sp>
      <p:sp>
        <p:nvSpPr>
          <p:cNvPr id="779" name="Google Shape;779;p58"/>
          <p:cNvSpPr/>
          <p:nvPr/>
        </p:nvSpPr>
        <p:spPr>
          <a:xfrm>
            <a:off x="767408" y="2708920"/>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Importancia</a:t>
            </a:r>
            <a:endParaRPr sz="1600" b="1" i="0" u="none" strike="noStrike" cap="none">
              <a:solidFill>
                <a:srgbClr val="FFFFFF"/>
              </a:solidFill>
              <a:latin typeface="Arial"/>
              <a:ea typeface="Arial"/>
              <a:cs typeface="Arial"/>
              <a:sym typeface="Arial"/>
            </a:endParaRPr>
          </a:p>
        </p:txBody>
      </p:sp>
      <p:sp>
        <p:nvSpPr>
          <p:cNvPr id="780" name="Google Shape;780;p58"/>
          <p:cNvSpPr/>
          <p:nvPr/>
        </p:nvSpPr>
        <p:spPr>
          <a:xfrm>
            <a:off x="767408" y="4221088"/>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Complejidad</a:t>
            </a:r>
            <a:endParaRPr sz="1600" b="1" i="0" u="none" strike="noStrike" cap="none">
              <a:solidFill>
                <a:srgbClr val="FFFFFF"/>
              </a:solidFill>
              <a:latin typeface="Arial"/>
              <a:ea typeface="Arial"/>
              <a:cs typeface="Arial"/>
              <a:sym typeface="Arial"/>
            </a:endParaRPr>
          </a:p>
        </p:txBody>
      </p:sp>
      <p:sp>
        <p:nvSpPr>
          <p:cNvPr id="781" name="Google Shape;781;p58"/>
          <p:cNvSpPr/>
          <p:nvPr/>
        </p:nvSpPr>
        <p:spPr>
          <a:xfrm>
            <a:off x="767408" y="5733256"/>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Potencial</a:t>
            </a:r>
            <a:endParaRPr sz="1600" b="1" i="0" u="none" strike="noStrike" cap="none">
              <a:solidFill>
                <a:srgbClr val="FFFFFF"/>
              </a:solidFill>
              <a:latin typeface="Arial"/>
              <a:ea typeface="Arial"/>
              <a:cs typeface="Arial"/>
              <a:sym typeface="Arial"/>
            </a:endParaRPr>
          </a:p>
        </p:txBody>
      </p:sp>
      <p:sp>
        <p:nvSpPr>
          <p:cNvPr id="782" name="Google Shape;782;p58"/>
          <p:cNvSpPr/>
          <p:nvPr/>
        </p:nvSpPr>
        <p:spPr>
          <a:xfrm>
            <a:off x="263352" y="6381328"/>
            <a:ext cx="1296144" cy="288032"/>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sp>
        <p:nvSpPr>
          <p:cNvPr id="783" name="Google Shape;783;p58"/>
          <p:cNvSpPr/>
          <p:nvPr/>
        </p:nvSpPr>
        <p:spPr>
          <a:xfrm>
            <a:off x="2078902" y="1196752"/>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$M/Margen</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Base Instalada</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 Visitas</a:t>
            </a:r>
            <a:endParaRPr sz="1200" b="0" i="0" u="none" strike="noStrike" cap="none">
              <a:solidFill>
                <a:srgbClr val="373C46"/>
              </a:solidFill>
              <a:latin typeface="Arial"/>
              <a:ea typeface="Arial"/>
              <a:cs typeface="Arial"/>
              <a:sym typeface="Arial"/>
            </a:endParaRPr>
          </a:p>
        </p:txBody>
      </p:sp>
      <p:sp>
        <p:nvSpPr>
          <p:cNvPr id="784" name="Google Shape;784;p58"/>
          <p:cNvSpPr/>
          <p:nvPr/>
        </p:nvSpPr>
        <p:spPr>
          <a:xfrm>
            <a:off x="2150910" y="2708920"/>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Referencia en el Mercado</a:t>
            </a:r>
            <a:endParaRPr sz="1200" b="0" i="0" u="none" strike="noStrike" cap="none">
              <a:solidFill>
                <a:srgbClr val="373C46"/>
              </a:solidFill>
              <a:latin typeface="Arial"/>
              <a:ea typeface="Arial"/>
              <a:cs typeface="Arial"/>
              <a:sym typeface="Arial"/>
            </a:endParaRPr>
          </a:p>
        </p:txBody>
      </p:sp>
      <p:sp>
        <p:nvSpPr>
          <p:cNvPr id="785" name="Google Shape;785;p58"/>
          <p:cNvSpPr/>
          <p:nvPr/>
        </p:nvSpPr>
        <p:spPr>
          <a:xfrm>
            <a:off x="2150910" y="422108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Equipamiento / Proceso Complejo (# Cirugías)</a:t>
            </a:r>
            <a:endParaRPr sz="1200" b="0" i="0" u="none" strike="noStrike" cap="none">
              <a:solidFill>
                <a:srgbClr val="373C46"/>
              </a:solidFill>
              <a:latin typeface="Arial"/>
              <a:ea typeface="Arial"/>
              <a:cs typeface="Arial"/>
              <a:sym typeface="Arial"/>
            </a:endParaRPr>
          </a:p>
        </p:txBody>
      </p:sp>
      <p:sp>
        <p:nvSpPr>
          <p:cNvPr id="786" name="Google Shape;786;p58"/>
          <p:cNvSpPr/>
          <p:nvPr/>
        </p:nvSpPr>
        <p:spPr>
          <a:xfrm>
            <a:off x="2150910" y="574219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Negocios Futuros (Pipeline)</a:t>
            </a:r>
            <a:endParaRPr sz="1200" b="0" i="0" u="none" strike="noStrike" cap="none">
              <a:solidFill>
                <a:srgbClr val="373C46"/>
              </a:solidFill>
              <a:latin typeface="Arial"/>
              <a:ea typeface="Arial"/>
              <a:cs typeface="Arial"/>
              <a:sym typeface="Arial"/>
            </a:endParaRPr>
          </a:p>
        </p:txBody>
      </p:sp>
      <p:sp>
        <p:nvSpPr>
          <p:cNvPr id="787" name="Google Shape;787;p58"/>
          <p:cNvSpPr/>
          <p:nvPr/>
        </p:nvSpPr>
        <p:spPr>
          <a:xfrm rot="5400000">
            <a:off x="1930833" y="3531523"/>
            <a:ext cx="4536504" cy="216024"/>
          </a:xfrm>
          <a:prstGeom prst="triangle">
            <a:avLst>
              <a:gd name="adj" fmla="val 50000"/>
            </a:avLst>
          </a:prstGeom>
          <a:solidFill>
            <a:srgbClr val="D8D8D8"/>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pic>
        <p:nvPicPr>
          <p:cNvPr id="788" name="Google Shape;788;p58"/>
          <p:cNvPicPr preferRelativeResize="0"/>
          <p:nvPr/>
        </p:nvPicPr>
        <p:blipFill rotWithShape="1">
          <a:blip r:embed="rId4">
            <a:alphaModFix/>
          </a:blip>
          <a:srcRect r="22241"/>
          <a:stretch/>
        </p:blipFill>
        <p:spPr>
          <a:xfrm>
            <a:off x="4440201" y="1007246"/>
            <a:ext cx="7516688" cy="3501874"/>
          </a:xfrm>
          <a:prstGeom prst="rect">
            <a:avLst/>
          </a:prstGeom>
          <a:noFill/>
          <a:ln>
            <a:noFill/>
          </a:ln>
        </p:spPr>
      </p:pic>
      <p:pic>
        <p:nvPicPr>
          <p:cNvPr id="789" name="Google Shape;789;p58"/>
          <p:cNvPicPr preferRelativeResize="0"/>
          <p:nvPr/>
        </p:nvPicPr>
        <p:blipFill rotWithShape="1">
          <a:blip r:embed="rId5">
            <a:alphaModFix/>
          </a:blip>
          <a:srcRect/>
          <a:stretch/>
        </p:blipFill>
        <p:spPr>
          <a:xfrm>
            <a:off x="4440201" y="4652714"/>
            <a:ext cx="7384622" cy="125076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9"/>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1600"/>
              <a:buFont typeface="Play"/>
              <a:buNone/>
            </a:pPr>
            <a:endParaRPr/>
          </a:p>
        </p:txBody>
      </p:sp>
      <p:sp>
        <p:nvSpPr>
          <p:cNvPr id="795" name="Google Shape;795;p59"/>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p>
            <a:pPr marL="228600" lvl="0" indent="-127000" algn="l" rtl="0">
              <a:lnSpc>
                <a:spcPct val="90000"/>
              </a:lnSpc>
              <a:spcBef>
                <a:spcPts val="0"/>
              </a:spcBef>
              <a:spcAft>
                <a:spcPts val="0"/>
              </a:spcAft>
              <a:buClr>
                <a:schemeClr val="lt2"/>
              </a:buClr>
              <a:buSzPts val="1600"/>
              <a:buNone/>
            </a:pPr>
            <a:endParaRPr/>
          </a:p>
        </p:txBody>
      </p:sp>
      <p:sp>
        <p:nvSpPr>
          <p:cNvPr id="796" name="Google Shape;79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L"/>
              <a:t>71</a:t>
            </a:fld>
            <a:endParaRPr/>
          </a:p>
        </p:txBody>
      </p:sp>
      <p:sp>
        <p:nvSpPr>
          <p:cNvPr id="797" name="Google Shape;797;p5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Lógica Ciudades Satelites - Hub</a:t>
            </a:r>
            <a:endParaRPr sz="2700" b="0" i="0" u="none" strike="noStrike" cap="none">
              <a:solidFill>
                <a:srgbClr val="FFFFFF"/>
              </a:solidFill>
              <a:latin typeface="Roboto"/>
              <a:ea typeface="Roboto"/>
              <a:cs typeface="Roboto"/>
              <a:sym typeface="Roboto"/>
            </a:endParaRPr>
          </a:p>
        </p:txBody>
      </p:sp>
      <p:sp>
        <p:nvSpPr>
          <p:cNvPr id="798" name="Google Shape;798;p59"/>
          <p:cNvSpPr/>
          <p:nvPr/>
        </p:nvSpPr>
        <p:spPr>
          <a:xfrm>
            <a:off x="10345949" y="5272208"/>
            <a:ext cx="1777041" cy="44858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2"/>
              </a:buClr>
              <a:buSzPts val="1050"/>
              <a:buFont typeface="Arial"/>
              <a:buChar char="•"/>
            </a:pPr>
            <a:r>
              <a:rPr lang="es-CL" sz="1050">
                <a:solidFill>
                  <a:schemeClr val="lt2"/>
                </a:solidFill>
                <a:latin typeface="Roboto"/>
                <a:ea typeface="Roboto"/>
                <a:cs typeface="Roboto"/>
                <a:sym typeface="Roboto"/>
              </a:rPr>
              <a:t>-</a:t>
            </a:r>
            <a:endParaRPr sz="1050">
              <a:solidFill>
                <a:schemeClr val="lt2"/>
              </a:solidFill>
              <a:latin typeface="Roboto"/>
              <a:ea typeface="Roboto"/>
              <a:cs typeface="Roboto"/>
              <a:sym typeface="Roboto"/>
            </a:endParaRPr>
          </a:p>
        </p:txBody>
      </p:sp>
      <p:pic>
        <p:nvPicPr>
          <p:cNvPr id="799" name="Google Shape;799;p59"/>
          <p:cNvPicPr preferRelativeResize="0"/>
          <p:nvPr/>
        </p:nvPicPr>
        <p:blipFill rotWithShape="1">
          <a:blip r:embed="rId3">
            <a:alphaModFix/>
          </a:blip>
          <a:srcRect/>
          <a:stretch/>
        </p:blipFill>
        <p:spPr>
          <a:xfrm>
            <a:off x="117656" y="883246"/>
            <a:ext cx="2675710" cy="5351418"/>
          </a:xfrm>
          <a:prstGeom prst="rect">
            <a:avLst/>
          </a:prstGeom>
          <a:noFill/>
          <a:ln>
            <a:noFill/>
          </a:ln>
        </p:spPr>
      </p:pic>
      <p:sp>
        <p:nvSpPr>
          <p:cNvPr id="800" name="Google Shape;800;p59"/>
          <p:cNvSpPr/>
          <p:nvPr/>
        </p:nvSpPr>
        <p:spPr>
          <a:xfrm>
            <a:off x="1461506" y="4023360"/>
            <a:ext cx="539932" cy="169742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59"/>
          <p:cNvSpPr/>
          <p:nvPr/>
        </p:nvSpPr>
        <p:spPr>
          <a:xfrm>
            <a:off x="1461589" y="3352800"/>
            <a:ext cx="539932" cy="670560"/>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59"/>
          <p:cNvSpPr/>
          <p:nvPr/>
        </p:nvSpPr>
        <p:spPr>
          <a:xfrm>
            <a:off x="1461589" y="865994"/>
            <a:ext cx="539932" cy="2496872"/>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3" name="Google Shape;803;p59"/>
          <p:cNvGraphicFramePr/>
          <p:nvPr/>
        </p:nvGraphicFramePr>
        <p:xfrm>
          <a:off x="3225801" y="855928"/>
          <a:ext cx="3000000" cy="3000000"/>
        </p:xfrm>
        <a:graphic>
          <a:graphicData uri="http://schemas.openxmlformats.org/drawingml/2006/table">
            <a:tbl>
              <a:tblPr firstRow="1" bandRow="1">
                <a:noFill/>
                <a:tableStyleId>{C37305D2-9BBB-409F-AAFB-F33DB949016B}</a:tableStyleId>
              </a:tblPr>
              <a:tblGrid>
                <a:gridCol w="2114950">
                  <a:extLst>
                    <a:ext uri="{9D8B030D-6E8A-4147-A177-3AD203B41FA5}">
                      <a16:colId xmlns:a16="http://schemas.microsoft.com/office/drawing/2014/main" val="20000"/>
                    </a:ext>
                  </a:extLst>
                </a:gridCol>
                <a:gridCol w="3688350">
                  <a:extLst>
                    <a:ext uri="{9D8B030D-6E8A-4147-A177-3AD203B41FA5}">
                      <a16:colId xmlns:a16="http://schemas.microsoft.com/office/drawing/2014/main" val="20001"/>
                    </a:ext>
                  </a:extLst>
                </a:gridCol>
                <a:gridCol w="2901650">
                  <a:extLst>
                    <a:ext uri="{9D8B030D-6E8A-4147-A177-3AD203B41FA5}">
                      <a16:colId xmlns:a16="http://schemas.microsoft.com/office/drawing/2014/main" val="20002"/>
                    </a:ext>
                  </a:extLst>
                </a:gridCol>
              </a:tblGrid>
              <a:tr h="368925">
                <a:tc>
                  <a:txBody>
                    <a:bodyPr/>
                    <a:lstStyle/>
                    <a:p>
                      <a:pPr marL="0" marR="0" lvl="0" indent="0" algn="l" rtl="0">
                        <a:spcBef>
                          <a:spcPts val="0"/>
                        </a:spcBef>
                        <a:spcAft>
                          <a:spcPts val="0"/>
                        </a:spcAft>
                        <a:buNone/>
                      </a:pPr>
                      <a:r>
                        <a:rPr lang="es-CL" sz="1000" u="none" strike="noStrike" cap="none">
                          <a:solidFill>
                            <a:schemeClr val="dk1"/>
                          </a:solidFill>
                        </a:rPr>
                        <a:t>Región</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Región que presta Servicios (Camionetas/Bodegas/Coordinación/Jefatura)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Tipo de Ciudad (Hub / Satélite / Receptora)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11400">
                <a:tc>
                  <a:txBody>
                    <a:bodyPr/>
                    <a:lstStyle/>
                    <a:p>
                      <a:pPr marL="0" marR="0" lvl="0" indent="0" algn="l" rtl="0">
                        <a:spcBef>
                          <a:spcPts val="0"/>
                        </a:spcBef>
                        <a:spcAft>
                          <a:spcPts val="0"/>
                        </a:spcAft>
                        <a:buNone/>
                      </a:pPr>
                      <a:r>
                        <a:rPr lang="es-CL" sz="1000" b="0">
                          <a:solidFill>
                            <a:schemeClr val="lt2"/>
                          </a:solidFill>
                        </a:rPr>
                        <a:t>Arica y Parinacota – XV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1400">
                <a:tc>
                  <a:txBody>
                    <a:bodyPr/>
                    <a:lstStyle/>
                    <a:p>
                      <a:pPr marL="0" marR="0" lvl="0" indent="0" algn="l" rtl="0">
                        <a:spcBef>
                          <a:spcPts val="0"/>
                        </a:spcBef>
                        <a:spcAft>
                          <a:spcPts val="0"/>
                        </a:spcAft>
                        <a:buNone/>
                      </a:pPr>
                      <a:r>
                        <a:rPr lang="es-CL" sz="1000" b="0">
                          <a:solidFill>
                            <a:schemeClr val="lt2"/>
                          </a:solidFill>
                        </a:rPr>
                        <a:t>Tarapacá – 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11400">
                <a:tc>
                  <a:txBody>
                    <a:bodyPr/>
                    <a:lstStyle/>
                    <a:p>
                      <a:pPr marL="0" marR="0" lvl="0" indent="0" algn="l" rtl="0">
                        <a:spcBef>
                          <a:spcPts val="0"/>
                        </a:spcBef>
                        <a:spcAft>
                          <a:spcPts val="0"/>
                        </a:spcAft>
                        <a:buNone/>
                      </a:pPr>
                      <a:r>
                        <a:rPr lang="es-CL" sz="1000" b="0">
                          <a:solidFill>
                            <a:schemeClr val="lt2"/>
                          </a:solidFill>
                        </a:rPr>
                        <a:t>Antofagasta – 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11400">
                <a:tc>
                  <a:txBody>
                    <a:bodyPr/>
                    <a:lstStyle/>
                    <a:p>
                      <a:pPr marL="0" marR="0" lvl="0" indent="0" algn="l" rtl="0">
                        <a:spcBef>
                          <a:spcPts val="0"/>
                        </a:spcBef>
                        <a:spcAft>
                          <a:spcPts val="0"/>
                        </a:spcAft>
                        <a:buNone/>
                      </a:pPr>
                      <a:r>
                        <a:rPr lang="es-CL" sz="1000" b="0">
                          <a:solidFill>
                            <a:schemeClr val="lt2"/>
                          </a:solidFill>
                        </a:rPr>
                        <a:t>Atacama – III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11400">
                <a:tc>
                  <a:txBody>
                    <a:bodyPr/>
                    <a:lstStyle/>
                    <a:p>
                      <a:pPr marL="0" marR="0" lvl="0" indent="0" algn="l" rtl="0">
                        <a:spcBef>
                          <a:spcPts val="0"/>
                        </a:spcBef>
                        <a:spcAft>
                          <a:spcPts val="0"/>
                        </a:spcAft>
                        <a:buNone/>
                      </a:pPr>
                      <a:r>
                        <a:rPr lang="es-CL" sz="1000" b="0">
                          <a:solidFill>
                            <a:schemeClr val="lt2"/>
                          </a:solidFill>
                        </a:rPr>
                        <a:t>Coquimbo – 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11400">
                <a:tc>
                  <a:txBody>
                    <a:bodyPr/>
                    <a:lstStyle/>
                    <a:p>
                      <a:pPr marL="0" marR="0" lvl="0" indent="0" algn="l" rtl="0">
                        <a:spcBef>
                          <a:spcPts val="0"/>
                        </a:spcBef>
                        <a:spcAft>
                          <a:spcPts val="0"/>
                        </a:spcAft>
                        <a:buNone/>
                      </a:pPr>
                      <a:r>
                        <a:rPr lang="es-CL" sz="1000" b="0">
                          <a:solidFill>
                            <a:schemeClr val="lt2"/>
                          </a:solidFill>
                        </a:rPr>
                        <a:t>Valparaíso – 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11400">
                <a:tc>
                  <a:txBody>
                    <a:bodyPr/>
                    <a:lstStyle/>
                    <a:p>
                      <a:pPr marL="0" marR="0" lvl="0" indent="0" algn="l" rtl="0">
                        <a:spcBef>
                          <a:spcPts val="0"/>
                        </a:spcBef>
                        <a:spcAft>
                          <a:spcPts val="0"/>
                        </a:spcAft>
                        <a:buNone/>
                      </a:pPr>
                      <a:r>
                        <a:rPr lang="es-CL" sz="1000" b="0">
                          <a:solidFill>
                            <a:schemeClr val="dk1"/>
                          </a:solidFill>
                        </a:rPr>
                        <a:t>Metropolitana de Santiago – 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0">
                          <a:solidFill>
                            <a:schemeClr val="dk1"/>
                          </a:solidFill>
                        </a:rPr>
                        <a:t>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1">
                          <a:solidFill>
                            <a:schemeClr val="dk1"/>
                          </a:solidFill>
                        </a:rPr>
                        <a:t>Hub</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11400">
                <a:tc>
                  <a:txBody>
                    <a:bodyPr/>
                    <a:lstStyle/>
                    <a:p>
                      <a:pPr marL="0" marR="0" lvl="0" indent="0" algn="l" rtl="0">
                        <a:spcBef>
                          <a:spcPts val="0"/>
                        </a:spcBef>
                        <a:spcAft>
                          <a:spcPts val="0"/>
                        </a:spcAft>
                        <a:buNone/>
                      </a:pPr>
                      <a:r>
                        <a:rPr lang="es-CL" sz="1000" b="0">
                          <a:solidFill>
                            <a:schemeClr val="lt2"/>
                          </a:solidFill>
                        </a:rPr>
                        <a:t>O’Higgins – 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11400">
                <a:tc>
                  <a:txBody>
                    <a:bodyPr/>
                    <a:lstStyle/>
                    <a:p>
                      <a:pPr marL="0" marR="0" lvl="0" indent="0" algn="l" rtl="0">
                        <a:spcBef>
                          <a:spcPts val="0"/>
                        </a:spcBef>
                        <a:spcAft>
                          <a:spcPts val="0"/>
                        </a:spcAft>
                        <a:buNone/>
                      </a:pPr>
                      <a:r>
                        <a:rPr lang="es-CL" sz="1000" b="0">
                          <a:solidFill>
                            <a:schemeClr val="lt2"/>
                          </a:solidFill>
                        </a:rPr>
                        <a:t>Maule – VII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r h="311400">
                <a:tc>
                  <a:txBody>
                    <a:bodyPr/>
                    <a:lstStyle/>
                    <a:p>
                      <a:pPr marL="0" marR="0" lvl="0" indent="0" algn="l" rtl="0">
                        <a:spcBef>
                          <a:spcPts val="0"/>
                        </a:spcBef>
                        <a:spcAft>
                          <a:spcPts val="0"/>
                        </a:spcAft>
                        <a:buNone/>
                      </a:pPr>
                      <a:r>
                        <a:rPr lang="es-CL" sz="1000" b="0">
                          <a:solidFill>
                            <a:schemeClr val="lt2"/>
                          </a:solidFill>
                        </a:rPr>
                        <a:t>Ñuble – XVI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VIII y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0"/>
                  </a:ext>
                </a:extLst>
              </a:tr>
              <a:tr h="311400">
                <a:tc>
                  <a:txBody>
                    <a:bodyPr/>
                    <a:lstStyle/>
                    <a:p>
                      <a:pPr marL="0" marR="0" lvl="0" indent="0" algn="l" rtl="0">
                        <a:spcBef>
                          <a:spcPts val="0"/>
                        </a:spcBef>
                        <a:spcAft>
                          <a:spcPts val="0"/>
                        </a:spcAft>
                        <a:buNone/>
                      </a:pPr>
                      <a:r>
                        <a:rPr lang="es-CL" sz="1000" b="1">
                          <a:solidFill>
                            <a:schemeClr val="dk1"/>
                          </a:solidFill>
                        </a:rPr>
                        <a:t>Bio Bio – 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1400">
                <a:tc>
                  <a:txBody>
                    <a:bodyPr/>
                    <a:lstStyle/>
                    <a:p>
                      <a:pPr marL="0" marR="0" lvl="0" indent="0" algn="l" rtl="0">
                        <a:spcBef>
                          <a:spcPts val="0"/>
                        </a:spcBef>
                        <a:spcAft>
                          <a:spcPts val="0"/>
                        </a:spcAft>
                        <a:buNone/>
                      </a:pPr>
                      <a:r>
                        <a:rPr lang="es-CL" sz="1000" b="0">
                          <a:solidFill>
                            <a:schemeClr val="lt2"/>
                          </a:solidFill>
                        </a:rPr>
                        <a:t>La Araucanía – IX</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VIII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2"/>
                  </a:ext>
                </a:extLst>
              </a:tr>
              <a:tr h="311400">
                <a:tc>
                  <a:txBody>
                    <a:bodyPr/>
                    <a:lstStyle/>
                    <a:p>
                      <a:pPr marL="0" marR="0" lvl="0" indent="0" algn="l" rtl="0">
                        <a:spcBef>
                          <a:spcPts val="0"/>
                        </a:spcBef>
                        <a:spcAft>
                          <a:spcPts val="0"/>
                        </a:spcAft>
                        <a:buNone/>
                      </a:pPr>
                      <a:r>
                        <a:rPr lang="es-CL" sz="1000" b="0">
                          <a:solidFill>
                            <a:schemeClr val="lt2"/>
                          </a:solidFill>
                        </a:rPr>
                        <a:t>Los Ríos – XIV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3"/>
                  </a:ext>
                </a:extLst>
              </a:tr>
              <a:tr h="311400">
                <a:tc>
                  <a:txBody>
                    <a:bodyPr/>
                    <a:lstStyle/>
                    <a:p>
                      <a:pPr marL="0" marR="0" lvl="0" indent="0" algn="l" rtl="0">
                        <a:spcBef>
                          <a:spcPts val="0"/>
                        </a:spcBef>
                        <a:spcAft>
                          <a:spcPts val="0"/>
                        </a:spcAft>
                        <a:buNone/>
                      </a:pPr>
                      <a:r>
                        <a:rPr lang="es-CL" sz="1000" b="1">
                          <a:solidFill>
                            <a:schemeClr val="dk1"/>
                          </a:solidFill>
                        </a:rPr>
                        <a:t>Los Lagos - 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311400">
                <a:tc>
                  <a:txBody>
                    <a:bodyPr/>
                    <a:lstStyle/>
                    <a:p>
                      <a:pPr marL="0" marR="0" lvl="0" indent="0" algn="l" rtl="0">
                        <a:spcBef>
                          <a:spcPts val="0"/>
                        </a:spcBef>
                        <a:spcAft>
                          <a:spcPts val="0"/>
                        </a:spcAft>
                        <a:buNone/>
                      </a:pPr>
                      <a:r>
                        <a:rPr lang="es-CL" sz="1000" b="0">
                          <a:solidFill>
                            <a:schemeClr val="lt2"/>
                          </a:solidFill>
                        </a:rPr>
                        <a:t>Aysén – XI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5"/>
                  </a:ext>
                </a:extLst>
              </a:tr>
              <a:tr h="311400">
                <a:tc>
                  <a:txBody>
                    <a:bodyPr/>
                    <a:lstStyle/>
                    <a:p>
                      <a:pPr marL="0" marR="0" lvl="0" indent="0" algn="l" rtl="0">
                        <a:spcBef>
                          <a:spcPts val="0"/>
                        </a:spcBef>
                        <a:spcAft>
                          <a:spcPts val="0"/>
                        </a:spcAft>
                        <a:buNone/>
                      </a:pPr>
                      <a:r>
                        <a:rPr lang="es-CL" sz="1000" b="0">
                          <a:solidFill>
                            <a:schemeClr val="lt2"/>
                          </a:solidFill>
                        </a:rPr>
                        <a:t>Magallanes - XII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8"/>
        <p:cNvGrpSpPr/>
        <p:nvPr/>
      </p:nvGrpSpPr>
      <p:grpSpPr>
        <a:xfrm>
          <a:off x="0" y="0"/>
          <a:ext cx="0" cy="0"/>
          <a:chOff x="0" y="0"/>
          <a:chExt cx="0" cy="0"/>
        </a:xfrm>
      </p:grpSpPr>
      <p:sp>
        <p:nvSpPr>
          <p:cNvPr id="809" name="Google Shape;809;p60"/>
          <p:cNvSpPr/>
          <p:nvPr/>
        </p:nvSpPr>
        <p:spPr>
          <a:xfrm>
            <a:off x="330200" y="127000"/>
            <a:ext cx="9779000" cy="279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500" b="1">
                <a:solidFill>
                  <a:srgbClr val="373C46"/>
                </a:solidFill>
                <a:latin typeface="Quattrocento Sans"/>
                <a:ea typeface="Quattrocento Sans"/>
                <a:cs typeface="Quattrocento Sans"/>
                <a:sym typeface="Quattrocento Sans"/>
              </a:rPr>
              <a:t>Arquitectura de sistemas actual (AS IS)</a:t>
            </a:r>
            <a:endParaRPr sz="1500">
              <a:solidFill>
                <a:srgbClr val="000000"/>
              </a:solidFill>
              <a:latin typeface="Calibri"/>
              <a:ea typeface="Calibri"/>
              <a:cs typeface="Calibri"/>
              <a:sym typeface="Calibri"/>
            </a:endParaRPr>
          </a:p>
        </p:txBody>
      </p:sp>
      <p:sp>
        <p:nvSpPr>
          <p:cNvPr id="810" name="Google Shape;810;p60"/>
          <p:cNvSpPr/>
          <p:nvPr/>
        </p:nvSpPr>
        <p:spPr>
          <a:xfrm>
            <a:off x="330200" y="431800"/>
            <a:ext cx="9779000"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50">
                <a:solidFill>
                  <a:srgbClr val="6E7480"/>
                </a:solidFill>
                <a:latin typeface="Quattrocento Sans"/>
                <a:ea typeface="Quattrocento Sans"/>
                <a:cs typeface="Quattrocento Sans"/>
                <a:sym typeface="Quattrocento Sans"/>
              </a:rPr>
              <a:t>Qué información se aloja en cada plataforma y cómo se conectan entre sí</a:t>
            </a:r>
            <a:endParaRPr sz="750">
              <a:solidFill>
                <a:srgbClr val="000000"/>
              </a:solidFill>
              <a:latin typeface="Calibri"/>
              <a:ea typeface="Calibri"/>
              <a:cs typeface="Calibri"/>
              <a:sym typeface="Calibri"/>
            </a:endParaRPr>
          </a:p>
        </p:txBody>
      </p:sp>
      <p:sp>
        <p:nvSpPr>
          <p:cNvPr id="811" name="Google Shape;811;p60"/>
          <p:cNvSpPr/>
          <p:nvPr/>
        </p:nvSpPr>
        <p:spPr>
          <a:xfrm>
            <a:off x="0" y="717550"/>
            <a:ext cx="12192000" cy="50800"/>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60" descr="preencoded.png"/>
          <p:cNvPicPr preferRelativeResize="0"/>
          <p:nvPr/>
        </p:nvPicPr>
        <p:blipFill rotWithShape="1">
          <a:blip r:embed="rId3">
            <a:alphaModFix/>
          </a:blip>
          <a:srcRect/>
          <a:stretch/>
        </p:blipFill>
        <p:spPr>
          <a:xfrm>
            <a:off x="10813554" y="139700"/>
            <a:ext cx="289818" cy="279400"/>
          </a:xfrm>
          <a:prstGeom prst="rect">
            <a:avLst/>
          </a:prstGeom>
          <a:noFill/>
          <a:ln>
            <a:noFill/>
          </a:ln>
        </p:spPr>
      </p:pic>
      <p:pic>
        <p:nvPicPr>
          <p:cNvPr id="813" name="Google Shape;813;p60" descr="preencoded.png"/>
          <p:cNvPicPr preferRelativeResize="0"/>
          <p:nvPr/>
        </p:nvPicPr>
        <p:blipFill rotWithShape="1">
          <a:blip r:embed="rId4">
            <a:alphaModFix/>
          </a:blip>
          <a:srcRect/>
          <a:stretch/>
        </p:blipFill>
        <p:spPr>
          <a:xfrm>
            <a:off x="11217672" y="139700"/>
            <a:ext cx="278309" cy="279400"/>
          </a:xfrm>
          <a:prstGeom prst="rect">
            <a:avLst/>
          </a:prstGeom>
          <a:noFill/>
          <a:ln>
            <a:noFill/>
          </a:ln>
        </p:spPr>
      </p:pic>
      <p:pic>
        <p:nvPicPr>
          <p:cNvPr id="814" name="Google Shape;814;p60" descr="preencoded.png"/>
          <p:cNvPicPr preferRelativeResize="0"/>
          <p:nvPr/>
        </p:nvPicPr>
        <p:blipFill rotWithShape="1">
          <a:blip r:embed="rId5">
            <a:alphaModFix/>
          </a:blip>
          <a:srcRect/>
          <a:stretch/>
        </p:blipFill>
        <p:spPr>
          <a:xfrm>
            <a:off x="11610281" y="139700"/>
            <a:ext cx="251519" cy="279400"/>
          </a:xfrm>
          <a:prstGeom prst="rect">
            <a:avLst/>
          </a:prstGeom>
          <a:noFill/>
          <a:ln>
            <a:noFill/>
          </a:ln>
        </p:spPr>
      </p:pic>
      <p:sp>
        <p:nvSpPr>
          <p:cNvPr id="815" name="Google Shape;815;p60"/>
          <p:cNvSpPr/>
          <p:nvPr/>
        </p:nvSpPr>
        <p:spPr>
          <a:xfrm>
            <a:off x="330200" y="95250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DE APLICACIONES DE NEGOCIO</a:t>
            </a:r>
            <a:endParaRPr sz="675">
              <a:solidFill>
                <a:srgbClr val="000000"/>
              </a:solidFill>
              <a:latin typeface="Calibri"/>
              <a:ea typeface="Calibri"/>
              <a:cs typeface="Calibri"/>
              <a:sym typeface="Calibri"/>
            </a:endParaRPr>
          </a:p>
        </p:txBody>
      </p:sp>
      <p:sp>
        <p:nvSpPr>
          <p:cNvPr id="816" name="Google Shape;816;p60"/>
          <p:cNvSpPr/>
          <p:nvPr/>
        </p:nvSpPr>
        <p:spPr>
          <a:xfrm>
            <a:off x="330200" y="1155700"/>
            <a:ext cx="5487095" cy="2927350"/>
          </a:xfrm>
          <a:prstGeom prst="roundRect">
            <a:avLst>
              <a:gd name="adj" fmla="val 3037"/>
            </a:avLst>
          </a:prstGeom>
          <a:solidFill>
            <a:srgbClr val="FBFBFF"/>
          </a:solidFill>
          <a:ln w="9525" cap="flat" cmpd="sng">
            <a:solidFill>
              <a:srgbClr val="C9CB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a:off x="463550" y="1292225"/>
            <a:ext cx="50800" cy="50800"/>
          </a:xfrm>
          <a:prstGeom prst="ellipse">
            <a:avLst/>
          </a:prstGeom>
          <a:solidFill>
            <a:srgbClr val="282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0"/>
          <p:cNvSpPr/>
          <p:nvPr/>
        </p:nvSpPr>
        <p:spPr>
          <a:xfrm>
            <a:off x="577850" y="1263650"/>
            <a:ext cx="2915037"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282DF0"/>
                </a:solidFill>
                <a:latin typeface="Quattrocento Sans"/>
                <a:ea typeface="Quattrocento Sans"/>
                <a:cs typeface="Quattrocento Sans"/>
                <a:sym typeface="Quattrocento Sans"/>
              </a:rPr>
              <a:t>PLATAFORMA SALESFORCE · UNA SOLA BASE DE DATOS</a:t>
            </a:r>
            <a:endParaRPr sz="650">
              <a:solidFill>
                <a:srgbClr val="000000"/>
              </a:solidFill>
              <a:latin typeface="Calibri"/>
              <a:ea typeface="Calibri"/>
              <a:cs typeface="Calibri"/>
              <a:sym typeface="Calibri"/>
            </a:endParaRPr>
          </a:p>
        </p:txBody>
      </p:sp>
      <p:sp>
        <p:nvSpPr>
          <p:cNvPr id="819" name="Google Shape;819;p60"/>
          <p:cNvSpPr/>
          <p:nvPr/>
        </p:nvSpPr>
        <p:spPr>
          <a:xfrm>
            <a:off x="438151" y="1447800"/>
            <a:ext cx="25847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0" descr="preencoded.png"/>
          <p:cNvSpPr/>
          <p:nvPr/>
        </p:nvSpPr>
        <p:spPr>
          <a:xfrm>
            <a:off x="571500" y="1619250"/>
            <a:ext cx="417215" cy="292100"/>
          </a:xfrm>
          <a:prstGeom prst="rect">
            <a:avLst/>
          </a:prstGeom>
          <a:noFill/>
          <a:ln>
            <a:noFill/>
          </a:ln>
        </p:spPr>
        <p:txBody>
          <a:bodyPr/>
          <a:lstStyle/>
          <a:p>
            <a:endParaRPr lang="es-CL"/>
          </a:p>
        </p:txBody>
      </p:sp>
      <p:sp>
        <p:nvSpPr>
          <p:cNvPr id="821" name="Google Shape;821;p60"/>
          <p:cNvSpPr/>
          <p:nvPr/>
        </p:nvSpPr>
        <p:spPr>
          <a:xfrm>
            <a:off x="571500" y="2025650"/>
            <a:ext cx="2549853"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Salesforce CRM</a:t>
            </a:r>
            <a:endParaRPr sz="1000">
              <a:solidFill>
                <a:srgbClr val="000000"/>
              </a:solidFill>
              <a:latin typeface="Calibri"/>
              <a:ea typeface="Calibri"/>
              <a:cs typeface="Calibri"/>
              <a:sym typeface="Calibri"/>
            </a:endParaRPr>
          </a:p>
        </p:txBody>
      </p:sp>
      <p:sp>
        <p:nvSpPr>
          <p:cNvPr id="822" name="Google Shape;822;p60"/>
          <p:cNvSpPr/>
          <p:nvPr/>
        </p:nvSpPr>
        <p:spPr>
          <a:xfrm>
            <a:off x="571500" y="2216150"/>
            <a:ext cx="2549853"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comercial</a:t>
            </a:r>
            <a:endParaRPr sz="650">
              <a:solidFill>
                <a:srgbClr val="000000"/>
              </a:solidFill>
              <a:latin typeface="Calibri"/>
              <a:ea typeface="Calibri"/>
              <a:cs typeface="Calibri"/>
              <a:sym typeface="Calibri"/>
            </a:endParaRPr>
          </a:p>
        </p:txBody>
      </p:sp>
      <p:sp>
        <p:nvSpPr>
          <p:cNvPr id="823" name="Google Shape;823;p60"/>
          <p:cNvSpPr/>
          <p:nvPr/>
        </p:nvSpPr>
        <p:spPr>
          <a:xfrm>
            <a:off x="571500" y="2425700"/>
            <a:ext cx="2549853"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24" name="Google Shape;824;p60"/>
          <p:cNvSpPr/>
          <p:nvPr/>
        </p:nvSpPr>
        <p:spPr>
          <a:xfrm>
            <a:off x="571500" y="2590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Ficha de clientes</a:t>
            </a:r>
            <a:endParaRPr sz="725">
              <a:solidFill>
                <a:srgbClr val="000000"/>
              </a:solidFill>
              <a:latin typeface="Calibri"/>
              <a:ea typeface="Calibri"/>
              <a:cs typeface="Calibri"/>
              <a:sym typeface="Calibri"/>
            </a:endParaRPr>
          </a:p>
        </p:txBody>
      </p:sp>
      <p:sp>
        <p:nvSpPr>
          <p:cNvPr id="825" name="Google Shape;825;p60"/>
          <p:cNvSpPr/>
          <p:nvPr/>
        </p:nvSpPr>
        <p:spPr>
          <a:xfrm>
            <a:off x="571500" y="2781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Equipos instalados</a:t>
            </a:r>
            <a:endParaRPr sz="725">
              <a:solidFill>
                <a:srgbClr val="000000"/>
              </a:solidFill>
              <a:latin typeface="Calibri"/>
              <a:ea typeface="Calibri"/>
              <a:cs typeface="Calibri"/>
              <a:sym typeface="Calibri"/>
            </a:endParaRPr>
          </a:p>
        </p:txBody>
      </p:sp>
      <p:sp>
        <p:nvSpPr>
          <p:cNvPr id="826" name="Google Shape;826;p60"/>
          <p:cNvSpPr/>
          <p:nvPr/>
        </p:nvSpPr>
        <p:spPr>
          <a:xfrm>
            <a:off x="571500" y="2971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Contratos</a:t>
            </a:r>
            <a:endParaRPr sz="725">
              <a:solidFill>
                <a:srgbClr val="000000"/>
              </a:solidFill>
              <a:latin typeface="Calibri"/>
              <a:ea typeface="Calibri"/>
              <a:cs typeface="Calibri"/>
              <a:sym typeface="Calibri"/>
            </a:endParaRPr>
          </a:p>
        </p:txBody>
      </p:sp>
      <p:sp>
        <p:nvSpPr>
          <p:cNvPr id="827" name="Google Shape;827;p60"/>
          <p:cNvSpPr/>
          <p:nvPr/>
        </p:nvSpPr>
        <p:spPr>
          <a:xfrm>
            <a:off x="571500" y="3162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Casos de servicio</a:t>
            </a:r>
            <a:endParaRPr sz="725">
              <a:solidFill>
                <a:srgbClr val="000000"/>
              </a:solidFill>
              <a:latin typeface="Calibri"/>
              <a:ea typeface="Calibri"/>
              <a:cs typeface="Calibri"/>
              <a:sym typeface="Calibri"/>
            </a:endParaRPr>
          </a:p>
        </p:txBody>
      </p:sp>
      <p:sp>
        <p:nvSpPr>
          <p:cNvPr id="828" name="Google Shape;828;p60"/>
          <p:cNvSpPr/>
          <p:nvPr/>
        </p:nvSpPr>
        <p:spPr>
          <a:xfrm>
            <a:off x="571500" y="3352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Solicitudes de facturación</a:t>
            </a:r>
            <a:endParaRPr sz="725">
              <a:solidFill>
                <a:srgbClr val="000000"/>
              </a:solidFill>
              <a:latin typeface="Calibri"/>
              <a:ea typeface="Calibri"/>
              <a:cs typeface="Calibri"/>
              <a:sym typeface="Calibri"/>
            </a:endParaRPr>
          </a:p>
        </p:txBody>
      </p:sp>
      <p:sp>
        <p:nvSpPr>
          <p:cNvPr id="829" name="Google Shape;829;p60"/>
          <p:cNvSpPr/>
          <p:nvPr/>
        </p:nvSpPr>
        <p:spPr>
          <a:xfrm>
            <a:off x="571500" y="3543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Gestión comercial</a:t>
            </a:r>
            <a:endParaRPr sz="725">
              <a:solidFill>
                <a:srgbClr val="000000"/>
              </a:solidFill>
              <a:latin typeface="Calibri"/>
              <a:ea typeface="Calibri"/>
              <a:cs typeface="Calibri"/>
              <a:sym typeface="Calibri"/>
            </a:endParaRPr>
          </a:p>
        </p:txBody>
      </p:sp>
      <p:sp>
        <p:nvSpPr>
          <p:cNvPr id="830" name="Google Shape;830;p60"/>
          <p:cNvSpPr/>
          <p:nvPr/>
        </p:nvSpPr>
        <p:spPr>
          <a:xfrm>
            <a:off x="3124497" y="1447800"/>
            <a:ext cx="25848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60" descr="preencoded.png"/>
          <p:cNvPicPr preferRelativeResize="0"/>
          <p:nvPr/>
        </p:nvPicPr>
        <p:blipFill rotWithShape="1">
          <a:blip r:embed="rId6">
            <a:alphaModFix/>
          </a:blip>
          <a:srcRect/>
          <a:stretch/>
        </p:blipFill>
        <p:spPr>
          <a:xfrm>
            <a:off x="3257848" y="1638300"/>
            <a:ext cx="841077" cy="254000"/>
          </a:xfrm>
          <a:prstGeom prst="rect">
            <a:avLst/>
          </a:prstGeom>
          <a:noFill/>
          <a:ln>
            <a:noFill/>
          </a:ln>
        </p:spPr>
      </p:pic>
      <p:sp>
        <p:nvSpPr>
          <p:cNvPr id="832" name="Google Shape;832;p60"/>
          <p:cNvSpPr/>
          <p:nvPr/>
        </p:nvSpPr>
        <p:spPr>
          <a:xfrm>
            <a:off x="3257848" y="2025650"/>
            <a:ext cx="2549961"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Field Service</a:t>
            </a:r>
            <a:endParaRPr sz="1000">
              <a:solidFill>
                <a:srgbClr val="000000"/>
              </a:solidFill>
              <a:latin typeface="Calibri"/>
              <a:ea typeface="Calibri"/>
              <a:cs typeface="Calibri"/>
              <a:sym typeface="Calibri"/>
            </a:endParaRPr>
          </a:p>
        </p:txBody>
      </p:sp>
      <p:sp>
        <p:nvSpPr>
          <p:cNvPr id="833" name="Google Shape;833;p60"/>
          <p:cNvSpPr/>
          <p:nvPr/>
        </p:nvSpPr>
        <p:spPr>
          <a:xfrm>
            <a:off x="3257848" y="2216150"/>
            <a:ext cx="254996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de servicio técnico</a:t>
            </a:r>
            <a:endParaRPr sz="650">
              <a:solidFill>
                <a:srgbClr val="000000"/>
              </a:solidFill>
              <a:latin typeface="Calibri"/>
              <a:ea typeface="Calibri"/>
              <a:cs typeface="Calibri"/>
              <a:sym typeface="Calibri"/>
            </a:endParaRPr>
          </a:p>
        </p:txBody>
      </p:sp>
      <p:sp>
        <p:nvSpPr>
          <p:cNvPr id="834" name="Google Shape;834;p60"/>
          <p:cNvSpPr/>
          <p:nvPr/>
        </p:nvSpPr>
        <p:spPr>
          <a:xfrm>
            <a:off x="3257848" y="2425700"/>
            <a:ext cx="2549961"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35" name="Google Shape;835;p60"/>
          <p:cNvSpPr/>
          <p:nvPr/>
        </p:nvSpPr>
        <p:spPr>
          <a:xfrm>
            <a:off x="3257848" y="2590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Órdenes de trabajo (OT)</a:t>
            </a:r>
            <a:endParaRPr sz="725">
              <a:solidFill>
                <a:srgbClr val="000000"/>
              </a:solidFill>
              <a:latin typeface="Calibri"/>
              <a:ea typeface="Calibri"/>
              <a:cs typeface="Calibri"/>
              <a:sym typeface="Calibri"/>
            </a:endParaRPr>
          </a:p>
        </p:txBody>
      </p:sp>
      <p:sp>
        <p:nvSpPr>
          <p:cNvPr id="836" name="Google Shape;836;p60"/>
          <p:cNvSpPr/>
          <p:nvPr/>
        </p:nvSpPr>
        <p:spPr>
          <a:xfrm>
            <a:off x="3257848" y="2781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Agenda y visitas</a:t>
            </a:r>
            <a:endParaRPr sz="725">
              <a:solidFill>
                <a:srgbClr val="000000"/>
              </a:solidFill>
              <a:latin typeface="Calibri"/>
              <a:ea typeface="Calibri"/>
              <a:cs typeface="Calibri"/>
              <a:sym typeface="Calibri"/>
            </a:endParaRPr>
          </a:p>
        </p:txBody>
      </p:sp>
      <p:sp>
        <p:nvSpPr>
          <p:cNvPr id="837" name="Google Shape;837;p60"/>
          <p:cNvSpPr/>
          <p:nvPr/>
        </p:nvSpPr>
        <p:spPr>
          <a:xfrm>
            <a:off x="3257848" y="2971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Planificación de técnicos</a:t>
            </a:r>
            <a:endParaRPr sz="725">
              <a:solidFill>
                <a:srgbClr val="000000"/>
              </a:solidFill>
              <a:latin typeface="Calibri"/>
              <a:ea typeface="Calibri"/>
              <a:cs typeface="Calibri"/>
              <a:sym typeface="Calibri"/>
            </a:endParaRPr>
          </a:p>
        </p:txBody>
      </p:sp>
      <p:sp>
        <p:nvSpPr>
          <p:cNvPr id="838" name="Google Shape;838;p60"/>
          <p:cNvSpPr/>
          <p:nvPr/>
        </p:nvSpPr>
        <p:spPr>
          <a:xfrm>
            <a:off x="3257848" y="3162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Repuestos utilizados</a:t>
            </a:r>
            <a:endParaRPr sz="725">
              <a:solidFill>
                <a:srgbClr val="000000"/>
              </a:solidFill>
              <a:latin typeface="Calibri"/>
              <a:ea typeface="Calibri"/>
              <a:cs typeface="Calibri"/>
              <a:sym typeface="Calibri"/>
            </a:endParaRPr>
          </a:p>
        </p:txBody>
      </p:sp>
      <p:sp>
        <p:nvSpPr>
          <p:cNvPr id="839" name="Google Shape;839;p60"/>
          <p:cNvSpPr/>
          <p:nvPr/>
        </p:nvSpPr>
        <p:spPr>
          <a:xfrm>
            <a:off x="3257848" y="3352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Registro de actividades</a:t>
            </a:r>
            <a:endParaRPr sz="725">
              <a:solidFill>
                <a:srgbClr val="000000"/>
              </a:solidFill>
              <a:latin typeface="Calibri"/>
              <a:ea typeface="Calibri"/>
              <a:cs typeface="Calibri"/>
              <a:sym typeface="Calibri"/>
            </a:endParaRPr>
          </a:p>
        </p:txBody>
      </p:sp>
      <p:sp>
        <p:nvSpPr>
          <p:cNvPr id="840" name="Google Shape;840;p60"/>
          <p:cNvSpPr/>
          <p:nvPr/>
        </p:nvSpPr>
        <p:spPr>
          <a:xfrm>
            <a:off x="3257848" y="3543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Cierre técnico</a:t>
            </a:r>
            <a:endParaRPr sz="725">
              <a:solidFill>
                <a:srgbClr val="000000"/>
              </a:solidFill>
              <a:latin typeface="Calibri"/>
              <a:ea typeface="Calibri"/>
              <a:cs typeface="Calibri"/>
              <a:sym typeface="Calibri"/>
            </a:endParaRPr>
          </a:p>
        </p:txBody>
      </p:sp>
      <p:sp>
        <p:nvSpPr>
          <p:cNvPr id="841" name="Google Shape;841;p60"/>
          <p:cNvSpPr/>
          <p:nvPr/>
        </p:nvSpPr>
        <p:spPr>
          <a:xfrm>
            <a:off x="463550" y="3867150"/>
            <a:ext cx="5747514"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Integración nativa: ambas aplicaciones comparten datos sin interfaces.</a:t>
            </a:r>
            <a:endParaRPr sz="650">
              <a:solidFill>
                <a:srgbClr val="000000"/>
              </a:solidFill>
              <a:latin typeface="Calibri"/>
              <a:ea typeface="Calibri"/>
              <a:cs typeface="Calibri"/>
              <a:sym typeface="Calibri"/>
            </a:endParaRPr>
          </a:p>
        </p:txBody>
      </p:sp>
      <p:sp>
        <p:nvSpPr>
          <p:cNvPr id="842" name="Google Shape;842;p60"/>
          <p:cNvSpPr/>
          <p:nvPr/>
        </p:nvSpPr>
        <p:spPr>
          <a:xfrm>
            <a:off x="5956995" y="1155700"/>
            <a:ext cx="2933005" cy="2927350"/>
          </a:xfrm>
          <a:prstGeom prst="roundRect">
            <a:avLst>
              <a:gd name="adj" fmla="val 3037"/>
            </a:avLst>
          </a:prstGeom>
          <a:solidFill>
            <a:srgbClr val="F8F9FA"/>
          </a:solidFill>
          <a:ln w="9525" cap="flat" cmpd="sng">
            <a:solidFill>
              <a:srgbClr val="B9C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0"/>
          <p:cNvSpPr/>
          <p:nvPr/>
        </p:nvSpPr>
        <p:spPr>
          <a:xfrm>
            <a:off x="6090345" y="1292225"/>
            <a:ext cx="50800" cy="50800"/>
          </a:xfrm>
          <a:prstGeom prst="ellipse">
            <a:avLst/>
          </a:prstGeom>
          <a:solidFill>
            <a:srgbClr val="5A6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0"/>
          <p:cNvSpPr/>
          <p:nvPr/>
        </p:nvSpPr>
        <p:spPr>
          <a:xfrm>
            <a:off x="6204645" y="1263650"/>
            <a:ext cx="94352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5A6472"/>
                </a:solidFill>
                <a:latin typeface="Quattrocento Sans"/>
                <a:ea typeface="Quattrocento Sans"/>
                <a:cs typeface="Quattrocento Sans"/>
                <a:sym typeface="Quattrocento Sans"/>
              </a:rPr>
              <a:t>PLATAFORMA ERP</a:t>
            </a:r>
            <a:endParaRPr sz="650">
              <a:solidFill>
                <a:srgbClr val="000000"/>
              </a:solidFill>
              <a:latin typeface="Calibri"/>
              <a:ea typeface="Calibri"/>
              <a:cs typeface="Calibri"/>
              <a:sym typeface="Calibri"/>
            </a:endParaRPr>
          </a:p>
        </p:txBody>
      </p:sp>
      <p:sp>
        <p:nvSpPr>
          <p:cNvPr id="845" name="Google Shape;845;p60"/>
          <p:cNvSpPr/>
          <p:nvPr/>
        </p:nvSpPr>
        <p:spPr>
          <a:xfrm>
            <a:off x="6064945" y="1447800"/>
            <a:ext cx="2717105" cy="2152650"/>
          </a:xfrm>
          <a:prstGeom prst="roundRect">
            <a:avLst>
              <a:gd name="adj" fmla="val 295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0" descr="preencoded.png"/>
          <p:cNvSpPr/>
          <p:nvPr/>
        </p:nvSpPr>
        <p:spPr>
          <a:xfrm>
            <a:off x="6198295" y="1612900"/>
            <a:ext cx="615355" cy="304800"/>
          </a:xfrm>
          <a:prstGeom prst="rect">
            <a:avLst/>
          </a:prstGeom>
          <a:noFill/>
          <a:ln>
            <a:noFill/>
          </a:ln>
        </p:spPr>
        <p:txBody>
          <a:bodyPr/>
          <a:lstStyle/>
          <a:p>
            <a:endParaRPr lang="es-CL"/>
          </a:p>
        </p:txBody>
      </p:sp>
      <p:sp>
        <p:nvSpPr>
          <p:cNvPr id="847" name="Google Shape;847;p60"/>
          <p:cNvSpPr/>
          <p:nvPr/>
        </p:nvSpPr>
        <p:spPr>
          <a:xfrm>
            <a:off x="6198295" y="2025650"/>
            <a:ext cx="2695446"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SAP</a:t>
            </a:r>
            <a:endParaRPr sz="1000">
              <a:solidFill>
                <a:srgbClr val="000000"/>
              </a:solidFill>
              <a:latin typeface="Calibri"/>
              <a:ea typeface="Calibri"/>
              <a:cs typeface="Calibri"/>
              <a:sym typeface="Calibri"/>
            </a:endParaRPr>
          </a:p>
        </p:txBody>
      </p:sp>
      <p:sp>
        <p:nvSpPr>
          <p:cNvPr id="848" name="Google Shape;848;p60"/>
          <p:cNvSpPr/>
          <p:nvPr/>
        </p:nvSpPr>
        <p:spPr>
          <a:xfrm>
            <a:off x="6198295" y="2216150"/>
            <a:ext cx="269544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financiero y administrativo</a:t>
            </a:r>
            <a:endParaRPr sz="650">
              <a:solidFill>
                <a:srgbClr val="000000"/>
              </a:solidFill>
              <a:latin typeface="Calibri"/>
              <a:ea typeface="Calibri"/>
              <a:cs typeface="Calibri"/>
              <a:sym typeface="Calibri"/>
            </a:endParaRPr>
          </a:p>
        </p:txBody>
      </p:sp>
      <p:sp>
        <p:nvSpPr>
          <p:cNvPr id="849" name="Google Shape;849;p60"/>
          <p:cNvSpPr/>
          <p:nvPr/>
        </p:nvSpPr>
        <p:spPr>
          <a:xfrm>
            <a:off x="6198295" y="2425700"/>
            <a:ext cx="2695446"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50" name="Google Shape;850;p60"/>
          <p:cNvSpPr/>
          <p:nvPr/>
        </p:nvSpPr>
        <p:spPr>
          <a:xfrm>
            <a:off x="6198295" y="2590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Compras</a:t>
            </a:r>
            <a:endParaRPr sz="725">
              <a:solidFill>
                <a:srgbClr val="000000"/>
              </a:solidFill>
              <a:latin typeface="Calibri"/>
              <a:ea typeface="Calibri"/>
              <a:cs typeface="Calibri"/>
              <a:sym typeface="Calibri"/>
            </a:endParaRPr>
          </a:p>
        </p:txBody>
      </p:sp>
      <p:sp>
        <p:nvSpPr>
          <p:cNvPr id="851" name="Google Shape;851;p60"/>
          <p:cNvSpPr/>
          <p:nvPr/>
        </p:nvSpPr>
        <p:spPr>
          <a:xfrm>
            <a:off x="6198295" y="2781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Inventario</a:t>
            </a:r>
            <a:endParaRPr sz="725">
              <a:solidFill>
                <a:srgbClr val="000000"/>
              </a:solidFill>
              <a:latin typeface="Calibri"/>
              <a:ea typeface="Calibri"/>
              <a:cs typeface="Calibri"/>
              <a:sym typeface="Calibri"/>
            </a:endParaRPr>
          </a:p>
        </p:txBody>
      </p:sp>
      <p:sp>
        <p:nvSpPr>
          <p:cNvPr id="852" name="Google Shape;852;p60"/>
          <p:cNvSpPr/>
          <p:nvPr/>
        </p:nvSpPr>
        <p:spPr>
          <a:xfrm>
            <a:off x="6198295" y="2971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Facturación</a:t>
            </a:r>
            <a:endParaRPr sz="725">
              <a:solidFill>
                <a:srgbClr val="000000"/>
              </a:solidFill>
              <a:latin typeface="Calibri"/>
              <a:ea typeface="Calibri"/>
              <a:cs typeface="Calibri"/>
              <a:sym typeface="Calibri"/>
            </a:endParaRPr>
          </a:p>
        </p:txBody>
      </p:sp>
      <p:sp>
        <p:nvSpPr>
          <p:cNvPr id="853" name="Google Shape;853;p60"/>
          <p:cNvSpPr/>
          <p:nvPr/>
        </p:nvSpPr>
        <p:spPr>
          <a:xfrm>
            <a:off x="6198295" y="3162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Finanzas y contabilidad</a:t>
            </a:r>
            <a:endParaRPr sz="725">
              <a:solidFill>
                <a:srgbClr val="000000"/>
              </a:solidFill>
              <a:latin typeface="Calibri"/>
              <a:ea typeface="Calibri"/>
              <a:cs typeface="Calibri"/>
              <a:sym typeface="Calibri"/>
            </a:endParaRPr>
          </a:p>
        </p:txBody>
      </p:sp>
      <p:sp>
        <p:nvSpPr>
          <p:cNvPr id="854" name="Google Shape;854;p60"/>
          <p:cNvSpPr/>
          <p:nvPr/>
        </p:nvSpPr>
        <p:spPr>
          <a:xfrm>
            <a:off x="6198295" y="3352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Control de gestión</a:t>
            </a:r>
            <a:endParaRPr sz="725">
              <a:solidFill>
                <a:srgbClr val="000000"/>
              </a:solidFill>
              <a:latin typeface="Calibri"/>
              <a:ea typeface="Calibri"/>
              <a:cs typeface="Calibri"/>
              <a:sym typeface="Calibri"/>
            </a:endParaRPr>
          </a:p>
        </p:txBody>
      </p:sp>
      <p:sp>
        <p:nvSpPr>
          <p:cNvPr id="855" name="Google Shape;855;p60"/>
          <p:cNvSpPr/>
          <p:nvPr/>
        </p:nvSpPr>
        <p:spPr>
          <a:xfrm>
            <a:off x="6090345" y="3676650"/>
            <a:ext cx="293801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Fuente única de la información contable y de inventario.</a:t>
            </a:r>
            <a:endParaRPr sz="650">
              <a:solidFill>
                <a:srgbClr val="000000"/>
              </a:solidFill>
              <a:latin typeface="Calibri"/>
              <a:ea typeface="Calibri"/>
              <a:cs typeface="Calibri"/>
              <a:sym typeface="Calibri"/>
            </a:endParaRPr>
          </a:p>
        </p:txBody>
      </p:sp>
      <p:sp>
        <p:nvSpPr>
          <p:cNvPr id="856" name="Google Shape;856;p60"/>
          <p:cNvSpPr/>
          <p:nvPr/>
        </p:nvSpPr>
        <p:spPr>
          <a:xfrm>
            <a:off x="330200" y="4248150"/>
            <a:ext cx="8559800" cy="342900"/>
          </a:xfrm>
          <a:prstGeom prst="roundRect">
            <a:avLst>
              <a:gd name="adj" fmla="val 22222"/>
            </a:avLst>
          </a:prstGeom>
          <a:solidFill>
            <a:srgbClr val="F7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0"/>
          <p:cNvSpPr/>
          <p:nvPr/>
        </p:nvSpPr>
        <p:spPr>
          <a:xfrm>
            <a:off x="330200" y="458470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0"/>
          <p:cNvSpPr/>
          <p:nvPr/>
        </p:nvSpPr>
        <p:spPr>
          <a:xfrm>
            <a:off x="330200" y="424815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0"/>
          <p:cNvSpPr/>
          <p:nvPr/>
        </p:nvSpPr>
        <p:spPr>
          <a:xfrm>
            <a:off x="330200" y="4248150"/>
            <a:ext cx="25400" cy="342900"/>
          </a:xfrm>
          <a:prstGeom prst="rect">
            <a:avLst/>
          </a:prstGeom>
          <a:solidFill>
            <a:srgbClr val="0B6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0"/>
          <p:cNvSpPr/>
          <p:nvPr/>
        </p:nvSpPr>
        <p:spPr>
          <a:xfrm>
            <a:off x="8883650" y="4248150"/>
            <a:ext cx="6350" cy="34290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0"/>
          <p:cNvSpPr/>
          <p:nvPr/>
        </p:nvSpPr>
        <p:spPr>
          <a:xfrm>
            <a:off x="482600" y="4368800"/>
            <a:ext cx="1640602" cy="127000"/>
          </a:xfrm>
          <a:prstGeom prst="rect">
            <a:avLst/>
          </a:prstGeom>
          <a:noFill/>
          <a:ln>
            <a:noFill/>
          </a:ln>
        </p:spPr>
        <p:txBody>
          <a:bodyPr spcFirstLastPara="1" wrap="square" lIns="16925" tIns="16925" rIns="16925" bIns="16925" anchor="t" anchorCtr="0">
            <a:normAutofit/>
          </a:bodyPr>
          <a:lstStyle/>
          <a:p>
            <a:pPr marL="0" marR="0" lvl="0" indent="0" algn="l" rtl="0">
              <a:lnSpc>
                <a:spcPct val="90000"/>
              </a:lnSpc>
              <a:spcBef>
                <a:spcPts val="0"/>
              </a:spcBef>
              <a:spcAft>
                <a:spcPts val="0"/>
              </a:spcAft>
              <a:buNone/>
            </a:pPr>
            <a:r>
              <a:rPr lang="es-CL" sz="625" b="1">
                <a:solidFill>
                  <a:srgbClr val="0B6E6A"/>
                </a:solidFill>
                <a:latin typeface="Quattrocento Sans"/>
                <a:ea typeface="Quattrocento Sans"/>
                <a:cs typeface="Quattrocento Sans"/>
                <a:sym typeface="Quattrocento Sans"/>
              </a:rPr>
              <a:t>INTERFAZ ENTRE PLATAFORMAS</a:t>
            </a:r>
            <a:endParaRPr sz="625">
              <a:solidFill>
                <a:srgbClr val="000000"/>
              </a:solidFill>
              <a:latin typeface="Calibri"/>
              <a:ea typeface="Calibri"/>
              <a:cs typeface="Calibri"/>
              <a:sym typeface="Calibri"/>
            </a:endParaRPr>
          </a:p>
        </p:txBody>
      </p:sp>
      <p:sp>
        <p:nvSpPr>
          <p:cNvPr id="862" name="Google Shape;862;p60"/>
          <p:cNvSpPr/>
          <p:nvPr/>
        </p:nvSpPr>
        <p:spPr>
          <a:xfrm>
            <a:off x="2075656" y="4356100"/>
            <a:ext cx="734909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44505F"/>
                </a:solidFill>
                <a:latin typeface="Quattrocento Sans"/>
                <a:ea typeface="Quattrocento Sans"/>
                <a:cs typeface="Quattrocento Sans"/>
                <a:sym typeface="Quattrocento Sans"/>
              </a:rPr>
              <a:t>Salesforce → SAP: la solicitud de facturación es hoy el único punto de traspaso entre CRM/servicio y el ERP, con actividades manuales de por medio.</a:t>
            </a:r>
            <a:endParaRPr sz="725">
              <a:solidFill>
                <a:srgbClr val="000000"/>
              </a:solidFill>
              <a:latin typeface="Calibri"/>
              <a:ea typeface="Calibri"/>
              <a:cs typeface="Calibri"/>
              <a:sym typeface="Calibri"/>
            </a:endParaRPr>
          </a:p>
        </p:txBody>
      </p:sp>
      <p:sp>
        <p:nvSpPr>
          <p:cNvPr id="863" name="Google Shape;863;p60"/>
          <p:cNvSpPr/>
          <p:nvPr/>
        </p:nvSpPr>
        <p:spPr>
          <a:xfrm>
            <a:off x="330200" y="475615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DOCUMENTAL Y COLABORATIVA</a:t>
            </a:r>
            <a:endParaRPr sz="675">
              <a:solidFill>
                <a:srgbClr val="000000"/>
              </a:solidFill>
              <a:latin typeface="Calibri"/>
              <a:ea typeface="Calibri"/>
              <a:cs typeface="Calibri"/>
              <a:sym typeface="Calibri"/>
            </a:endParaRPr>
          </a:p>
        </p:txBody>
      </p:sp>
      <p:sp>
        <p:nvSpPr>
          <p:cNvPr id="864" name="Google Shape;864;p60"/>
          <p:cNvSpPr/>
          <p:nvPr/>
        </p:nvSpPr>
        <p:spPr>
          <a:xfrm>
            <a:off x="330200" y="4959351"/>
            <a:ext cx="2171700" cy="1088231"/>
          </a:xfrm>
          <a:prstGeom prst="roundRect">
            <a:avLst>
              <a:gd name="adj" fmla="val 7002"/>
            </a:avLst>
          </a:prstGeom>
          <a:solidFill>
            <a:srgbClr val="F8F9FA"/>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5" name="Google Shape;865;p60" descr="preencoded.png"/>
          <p:cNvPicPr preferRelativeResize="0"/>
          <p:nvPr/>
        </p:nvPicPr>
        <p:blipFill rotWithShape="1">
          <a:blip r:embed="rId7">
            <a:alphaModFix/>
          </a:blip>
          <a:srcRect/>
          <a:stretch/>
        </p:blipFill>
        <p:spPr>
          <a:xfrm>
            <a:off x="463550" y="5080000"/>
            <a:ext cx="295870" cy="330200"/>
          </a:xfrm>
          <a:prstGeom prst="rect">
            <a:avLst/>
          </a:prstGeom>
          <a:noFill/>
          <a:ln>
            <a:noFill/>
          </a:ln>
        </p:spPr>
      </p:pic>
      <p:pic>
        <p:nvPicPr>
          <p:cNvPr id="866" name="Google Shape;866;p60" descr="preencoded.png"/>
          <p:cNvPicPr preferRelativeResize="0"/>
          <p:nvPr/>
        </p:nvPicPr>
        <p:blipFill rotWithShape="1">
          <a:blip r:embed="rId8">
            <a:alphaModFix/>
          </a:blip>
          <a:srcRect/>
          <a:stretch/>
        </p:blipFill>
        <p:spPr>
          <a:xfrm>
            <a:off x="861020" y="5162550"/>
            <a:ext cx="523776" cy="165100"/>
          </a:xfrm>
          <a:prstGeom prst="rect">
            <a:avLst/>
          </a:prstGeom>
          <a:noFill/>
          <a:ln>
            <a:noFill/>
          </a:ln>
        </p:spPr>
      </p:pic>
      <p:sp>
        <p:nvSpPr>
          <p:cNvPr id="867" name="Google Shape;867;p60"/>
          <p:cNvSpPr/>
          <p:nvPr/>
        </p:nvSpPr>
        <p:spPr>
          <a:xfrm>
            <a:off x="463550" y="5499101"/>
            <a:ext cx="1962150" cy="300831"/>
          </a:xfrm>
          <a:prstGeom prst="rect">
            <a:avLst/>
          </a:prstGeom>
          <a:noFill/>
          <a:ln>
            <a:noFill/>
          </a:ln>
        </p:spPr>
        <p:txBody>
          <a:bodyPr spcFirstLastPara="1" wrap="square" lIns="16925" tIns="16925" rIns="16925" bIns="16925" anchor="t" anchorCtr="0">
            <a:normAutofit/>
          </a:bodyPr>
          <a:lstStyle/>
          <a:p>
            <a:pPr marL="0" marR="0" lvl="0" indent="0" algn="l" rtl="0">
              <a:lnSpc>
                <a:spcPct val="114211"/>
              </a:lnSpc>
              <a:spcBef>
                <a:spcPts val="0"/>
              </a:spcBef>
              <a:spcAft>
                <a:spcPts val="0"/>
              </a:spcAft>
              <a:buNone/>
            </a:pPr>
            <a:r>
              <a:rPr lang="es-CL" sz="700">
                <a:solidFill>
                  <a:srgbClr val="55606E"/>
                </a:solidFill>
                <a:latin typeface="Quattrocento Sans"/>
                <a:ea typeface="Quattrocento Sans"/>
                <a:cs typeface="Quattrocento Sans"/>
                <a:sym typeface="Quattrocento Sans"/>
              </a:rPr>
              <a:t>Repositorio corporativo y entorno colaborativo transversal a todas las áreas.</a:t>
            </a:r>
            <a:endParaRPr sz="700">
              <a:solidFill>
                <a:srgbClr val="000000"/>
              </a:solidFill>
              <a:latin typeface="Calibri"/>
              <a:ea typeface="Calibri"/>
              <a:cs typeface="Calibri"/>
              <a:sym typeface="Calibri"/>
            </a:endParaRPr>
          </a:p>
        </p:txBody>
      </p:sp>
      <p:sp>
        <p:nvSpPr>
          <p:cNvPr id="868" name="Google Shape;868;p60"/>
          <p:cNvSpPr/>
          <p:nvPr/>
        </p:nvSpPr>
        <p:spPr>
          <a:xfrm>
            <a:off x="26416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0"/>
          <p:cNvSpPr/>
          <p:nvPr/>
        </p:nvSpPr>
        <p:spPr>
          <a:xfrm>
            <a:off x="26416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0"/>
          <p:cNvSpPr/>
          <p:nvPr/>
        </p:nvSpPr>
        <p:spPr>
          <a:xfrm>
            <a:off x="26416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0"/>
          <p:cNvSpPr/>
          <p:nvPr/>
        </p:nvSpPr>
        <p:spPr>
          <a:xfrm>
            <a:off x="46418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0"/>
          <p:cNvSpPr/>
          <p:nvPr/>
        </p:nvSpPr>
        <p:spPr>
          <a:xfrm>
            <a:off x="27749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Biblioteca documental</a:t>
            </a:r>
            <a:endParaRPr sz="800">
              <a:solidFill>
                <a:srgbClr val="000000"/>
              </a:solidFill>
              <a:latin typeface="Calibri"/>
              <a:ea typeface="Calibri"/>
              <a:cs typeface="Calibri"/>
              <a:sym typeface="Calibri"/>
            </a:endParaRPr>
          </a:p>
        </p:txBody>
      </p:sp>
      <p:sp>
        <p:nvSpPr>
          <p:cNvPr id="873" name="Google Shape;873;p60"/>
          <p:cNvSpPr/>
          <p:nvPr/>
        </p:nvSpPr>
        <p:spPr>
          <a:xfrm>
            <a:off x="27749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Manuales Certificados Contratos Informes</a:t>
            </a:r>
            <a:endParaRPr sz="700">
              <a:solidFill>
                <a:srgbClr val="000000"/>
              </a:solidFill>
              <a:latin typeface="Calibri"/>
              <a:ea typeface="Calibri"/>
              <a:cs typeface="Calibri"/>
              <a:sym typeface="Calibri"/>
            </a:endParaRPr>
          </a:p>
        </p:txBody>
      </p:sp>
      <p:sp>
        <p:nvSpPr>
          <p:cNvPr id="874" name="Google Shape;874;p60"/>
          <p:cNvSpPr/>
          <p:nvPr/>
        </p:nvSpPr>
        <p:spPr>
          <a:xfrm>
            <a:off x="47625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0"/>
          <p:cNvSpPr/>
          <p:nvPr/>
        </p:nvSpPr>
        <p:spPr>
          <a:xfrm>
            <a:off x="47625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0"/>
          <p:cNvSpPr/>
          <p:nvPr/>
        </p:nvSpPr>
        <p:spPr>
          <a:xfrm>
            <a:off x="47625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0"/>
          <p:cNvSpPr/>
          <p:nvPr/>
        </p:nvSpPr>
        <p:spPr>
          <a:xfrm>
            <a:off x="67627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0"/>
          <p:cNvSpPr/>
          <p:nvPr/>
        </p:nvSpPr>
        <p:spPr>
          <a:xfrm>
            <a:off x="48958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Licitaciones y propuestas</a:t>
            </a:r>
            <a:endParaRPr sz="800">
              <a:solidFill>
                <a:srgbClr val="000000"/>
              </a:solidFill>
              <a:latin typeface="Calibri"/>
              <a:ea typeface="Calibri"/>
              <a:cs typeface="Calibri"/>
              <a:sym typeface="Calibri"/>
            </a:endParaRPr>
          </a:p>
        </p:txBody>
      </p:sp>
      <p:sp>
        <p:nvSpPr>
          <p:cNvPr id="879" name="Google Shape;879;p60"/>
          <p:cNvSpPr/>
          <p:nvPr/>
        </p:nvSpPr>
        <p:spPr>
          <a:xfrm>
            <a:off x="48958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Bases Evaluaciones Respuestas Documentación</a:t>
            </a:r>
            <a:endParaRPr sz="700">
              <a:solidFill>
                <a:srgbClr val="000000"/>
              </a:solidFill>
              <a:latin typeface="Calibri"/>
              <a:ea typeface="Calibri"/>
              <a:cs typeface="Calibri"/>
              <a:sym typeface="Calibri"/>
            </a:endParaRPr>
          </a:p>
        </p:txBody>
      </p:sp>
      <p:sp>
        <p:nvSpPr>
          <p:cNvPr id="880" name="Google Shape;880;p60"/>
          <p:cNvSpPr/>
          <p:nvPr/>
        </p:nvSpPr>
        <p:spPr>
          <a:xfrm>
            <a:off x="68834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68834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p:nvPr/>
        </p:nvSpPr>
        <p:spPr>
          <a:xfrm>
            <a:off x="68834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0"/>
          <p:cNvSpPr/>
          <p:nvPr/>
        </p:nvSpPr>
        <p:spPr>
          <a:xfrm>
            <a:off x="88836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p:nvPr/>
        </p:nvSpPr>
        <p:spPr>
          <a:xfrm>
            <a:off x="70167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Procesos interáreas</a:t>
            </a:r>
            <a:endParaRPr sz="800">
              <a:solidFill>
                <a:srgbClr val="000000"/>
              </a:solidFill>
              <a:latin typeface="Calibri"/>
              <a:ea typeface="Calibri"/>
              <a:cs typeface="Calibri"/>
              <a:sym typeface="Calibri"/>
            </a:endParaRPr>
          </a:p>
        </p:txBody>
      </p:sp>
      <p:sp>
        <p:nvSpPr>
          <p:cNvPr id="885" name="Google Shape;885;p60"/>
          <p:cNvSpPr/>
          <p:nvPr/>
        </p:nvSpPr>
        <p:spPr>
          <a:xfrm>
            <a:off x="70167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Proyectos Directorio Procedimientos Colaboración</a:t>
            </a:r>
            <a:endParaRPr sz="700">
              <a:solidFill>
                <a:srgbClr val="000000"/>
              </a:solidFill>
              <a:latin typeface="Calibri"/>
              <a:ea typeface="Calibri"/>
              <a:cs typeface="Calibri"/>
              <a:sym typeface="Calibri"/>
            </a:endParaRPr>
          </a:p>
        </p:txBody>
      </p:sp>
      <p:sp>
        <p:nvSpPr>
          <p:cNvPr id="886" name="Google Shape;886;p60"/>
          <p:cNvSpPr/>
          <p:nvPr/>
        </p:nvSpPr>
        <p:spPr>
          <a:xfrm>
            <a:off x="9118600" y="9525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MENSAJE EJECUTIVO</a:t>
            </a:r>
            <a:endParaRPr sz="675">
              <a:solidFill>
                <a:srgbClr val="000000"/>
              </a:solidFill>
              <a:latin typeface="Calibri"/>
              <a:ea typeface="Calibri"/>
              <a:cs typeface="Calibri"/>
              <a:sym typeface="Calibri"/>
            </a:endParaRPr>
          </a:p>
        </p:txBody>
      </p:sp>
      <p:sp>
        <p:nvSpPr>
          <p:cNvPr id="887" name="Google Shape;887;p60"/>
          <p:cNvSpPr/>
          <p:nvPr/>
        </p:nvSpPr>
        <p:spPr>
          <a:xfrm>
            <a:off x="9118600" y="1155700"/>
            <a:ext cx="2825496" cy="4826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44505F"/>
                </a:solidFill>
                <a:latin typeface="Quattrocento Sans"/>
                <a:ea typeface="Quattrocento Sans"/>
                <a:cs typeface="Quattrocento Sans"/>
                <a:sym typeface="Quattrocento Sans"/>
              </a:rPr>
              <a:t>Tres plataformas sostienen la operación: Salesforce (clientes y servicio), SAP (finanzas) y SharePoint / OneDrive (documentos). Cada dato tiene un único lugar donde vive.</a:t>
            </a:r>
            <a:endParaRPr sz="750">
              <a:solidFill>
                <a:srgbClr val="000000"/>
              </a:solidFill>
              <a:latin typeface="Calibri"/>
              <a:ea typeface="Calibri"/>
              <a:cs typeface="Calibri"/>
              <a:sym typeface="Calibri"/>
            </a:endParaRPr>
          </a:p>
        </p:txBody>
      </p:sp>
      <p:sp>
        <p:nvSpPr>
          <p:cNvPr id="888" name="Google Shape;888;p60"/>
          <p:cNvSpPr/>
          <p:nvPr/>
        </p:nvSpPr>
        <p:spPr>
          <a:xfrm>
            <a:off x="9118600" y="18034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FORTALEZAS ACTUALES</a:t>
            </a:r>
            <a:endParaRPr sz="675">
              <a:solidFill>
                <a:srgbClr val="000000"/>
              </a:solidFill>
              <a:latin typeface="Calibri"/>
              <a:ea typeface="Calibri"/>
              <a:cs typeface="Calibri"/>
              <a:sym typeface="Calibri"/>
            </a:endParaRPr>
          </a:p>
        </p:txBody>
      </p:sp>
      <p:sp>
        <p:nvSpPr>
          <p:cNvPr id="889" name="Google Shape;889;p60"/>
          <p:cNvSpPr/>
          <p:nvPr/>
        </p:nvSpPr>
        <p:spPr>
          <a:xfrm>
            <a:off x="9118600" y="2019301"/>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p:nvPr/>
        </p:nvSpPr>
        <p:spPr>
          <a:xfrm>
            <a:off x="9251951" y="2139951"/>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1" name="Google Shape;891;p60"/>
          <p:cNvSpPr/>
          <p:nvPr/>
        </p:nvSpPr>
        <p:spPr>
          <a:xfrm>
            <a:off x="9396313" y="2139951"/>
            <a:ext cx="2380139"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Estandarización del proceso comercial y de servicio.</a:t>
            </a:r>
            <a:endParaRPr sz="750">
              <a:solidFill>
                <a:srgbClr val="000000"/>
              </a:solidFill>
              <a:latin typeface="Calibri"/>
              <a:ea typeface="Calibri"/>
              <a:cs typeface="Calibri"/>
              <a:sym typeface="Calibri"/>
            </a:endParaRPr>
          </a:p>
        </p:txBody>
      </p:sp>
      <p:sp>
        <p:nvSpPr>
          <p:cNvPr id="892" name="Google Shape;892;p60"/>
          <p:cNvSpPr/>
          <p:nvPr/>
        </p:nvSpPr>
        <p:spPr>
          <a:xfrm>
            <a:off x="9118600" y="2505076"/>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9251951" y="2625726"/>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4" name="Google Shape;894;p60"/>
          <p:cNvSpPr/>
          <p:nvPr/>
        </p:nvSpPr>
        <p:spPr>
          <a:xfrm>
            <a:off x="9396314" y="2625726"/>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Trazabilidad desde la creación del caso hasta la solicitud de facturación.</a:t>
            </a:r>
            <a:endParaRPr sz="750">
              <a:solidFill>
                <a:srgbClr val="000000"/>
              </a:solidFill>
              <a:latin typeface="Calibri"/>
              <a:ea typeface="Calibri"/>
              <a:cs typeface="Calibri"/>
              <a:sym typeface="Calibri"/>
            </a:endParaRPr>
          </a:p>
        </p:txBody>
      </p:sp>
      <p:sp>
        <p:nvSpPr>
          <p:cNvPr id="895" name="Google Shape;895;p60"/>
          <p:cNvSpPr/>
          <p:nvPr/>
        </p:nvSpPr>
        <p:spPr>
          <a:xfrm>
            <a:off x="9118600" y="3133726"/>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0"/>
          <p:cNvSpPr/>
          <p:nvPr/>
        </p:nvSpPr>
        <p:spPr>
          <a:xfrm>
            <a:off x="9251951" y="3254376"/>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7" name="Google Shape;897;p60"/>
          <p:cNvSpPr/>
          <p:nvPr/>
        </p:nvSpPr>
        <p:spPr>
          <a:xfrm>
            <a:off x="9396314" y="3254376"/>
            <a:ext cx="2161421"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Gestión centralizada de OT y recursos técnicos.</a:t>
            </a:r>
            <a:endParaRPr sz="750">
              <a:solidFill>
                <a:srgbClr val="000000"/>
              </a:solidFill>
              <a:latin typeface="Calibri"/>
              <a:ea typeface="Calibri"/>
              <a:cs typeface="Calibri"/>
              <a:sym typeface="Calibri"/>
            </a:endParaRPr>
          </a:p>
        </p:txBody>
      </p:sp>
      <p:sp>
        <p:nvSpPr>
          <p:cNvPr id="898" name="Google Shape;898;p60"/>
          <p:cNvSpPr/>
          <p:nvPr/>
        </p:nvSpPr>
        <p:spPr>
          <a:xfrm>
            <a:off x="9118600" y="3619500"/>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a:off x="9251951" y="3740150"/>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900" name="Google Shape;900;p60"/>
          <p:cNvSpPr/>
          <p:nvPr/>
        </p:nvSpPr>
        <p:spPr>
          <a:xfrm>
            <a:off x="9396314" y="3740150"/>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Plataforma colaborativa para trabajo transversal entre áreas.</a:t>
            </a:r>
            <a:endParaRPr sz="750">
              <a:solidFill>
                <a:srgbClr val="000000"/>
              </a:solidFill>
              <a:latin typeface="Calibri"/>
              <a:ea typeface="Calibri"/>
              <a:cs typeface="Calibri"/>
              <a:sym typeface="Calibri"/>
            </a:endParaRPr>
          </a:p>
        </p:txBody>
      </p:sp>
      <p:sp>
        <p:nvSpPr>
          <p:cNvPr id="901" name="Google Shape;901;p60"/>
          <p:cNvSpPr/>
          <p:nvPr/>
        </p:nvSpPr>
        <p:spPr>
          <a:xfrm>
            <a:off x="9118600" y="436245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DESAFÍO FUTURO</a:t>
            </a:r>
            <a:endParaRPr sz="675">
              <a:solidFill>
                <a:srgbClr val="000000"/>
              </a:solidFill>
              <a:latin typeface="Calibri"/>
              <a:ea typeface="Calibri"/>
              <a:cs typeface="Calibri"/>
              <a:sym typeface="Calibri"/>
            </a:endParaRPr>
          </a:p>
        </p:txBody>
      </p:sp>
      <p:sp>
        <p:nvSpPr>
          <p:cNvPr id="902" name="Google Shape;902;p60"/>
          <p:cNvSpPr/>
          <p:nvPr/>
        </p:nvSpPr>
        <p:spPr>
          <a:xfrm>
            <a:off x="9118600" y="4578350"/>
            <a:ext cx="2743200" cy="1117600"/>
          </a:xfrm>
          <a:prstGeom prst="roundRect">
            <a:avLst>
              <a:gd name="adj" fmla="val 6818"/>
            </a:avLst>
          </a:prstGeom>
          <a:solidFill>
            <a:srgbClr val="373C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a:off x="9283700" y="4730750"/>
            <a:ext cx="2654300" cy="1651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28D2C3"/>
                </a:solidFill>
                <a:latin typeface="Quattrocento Sans"/>
                <a:ea typeface="Quattrocento Sans"/>
                <a:cs typeface="Quattrocento Sans"/>
                <a:sym typeface="Quattrocento Sans"/>
              </a:rPr>
              <a:t>Salesforce + Field Service + SAP</a:t>
            </a:r>
            <a:endParaRPr sz="850">
              <a:solidFill>
                <a:srgbClr val="000000"/>
              </a:solidFill>
              <a:latin typeface="Calibri"/>
              <a:ea typeface="Calibri"/>
              <a:cs typeface="Calibri"/>
              <a:sym typeface="Calibri"/>
            </a:endParaRPr>
          </a:p>
        </p:txBody>
      </p:sp>
      <p:sp>
        <p:nvSpPr>
          <p:cNvPr id="904" name="Google Shape;904;p60"/>
          <p:cNvSpPr/>
          <p:nvPr/>
        </p:nvSpPr>
        <p:spPr>
          <a:xfrm>
            <a:off x="9283700" y="4933950"/>
            <a:ext cx="2485390" cy="6350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E3E6EA"/>
                </a:solidFill>
                <a:latin typeface="Quattrocento Sans"/>
                <a:ea typeface="Quattrocento Sans"/>
                <a:cs typeface="Quattrocento Sans"/>
                <a:sym typeface="Quattrocento Sans"/>
              </a:rPr>
              <a:t>Profundizar la integración entre las tres plataformas, reduciendo actividades manuales, mejorando la visibilidad gerencial y permitiendo un crecimiento escalable de la organización.</a:t>
            </a:r>
            <a:endParaRPr sz="750">
              <a:solidFill>
                <a:srgbClr val="000000"/>
              </a:solidFill>
              <a:latin typeface="Calibri"/>
              <a:ea typeface="Calibri"/>
              <a:cs typeface="Calibri"/>
              <a:sym typeface="Calibri"/>
            </a:endParaRPr>
          </a:p>
        </p:txBody>
      </p:sp>
      <p:pic>
        <p:nvPicPr>
          <p:cNvPr id="905" name="Google Shape;905;p60" descr="preencoded.png"/>
          <p:cNvPicPr preferRelativeResize="0"/>
          <p:nvPr/>
        </p:nvPicPr>
        <p:blipFill rotWithShape="1">
          <a:blip r:embed="rId9">
            <a:alphaModFix/>
          </a:blip>
          <a:srcRect/>
          <a:stretch/>
        </p:blipFill>
        <p:spPr>
          <a:xfrm>
            <a:off x="330200" y="6502400"/>
            <a:ext cx="819051" cy="190500"/>
          </a:xfrm>
          <a:prstGeom prst="rect">
            <a:avLst/>
          </a:prstGeom>
          <a:noFill/>
          <a:ln>
            <a:noFill/>
          </a:ln>
        </p:spPr>
      </p:pic>
      <p:pic>
        <p:nvPicPr>
          <p:cNvPr id="906" name="Google Shape;906;p60" descr="preencoded.png"/>
          <p:cNvPicPr preferRelativeResize="0"/>
          <p:nvPr/>
        </p:nvPicPr>
        <p:blipFill rotWithShape="1">
          <a:blip r:embed="rId10">
            <a:alphaModFix/>
          </a:blip>
          <a:srcRect/>
          <a:stretch/>
        </p:blipFill>
        <p:spPr>
          <a:xfrm>
            <a:off x="1339751" y="6515100"/>
            <a:ext cx="820142" cy="165100"/>
          </a:xfrm>
          <a:prstGeom prst="rect">
            <a:avLst/>
          </a:prstGeom>
          <a:noFill/>
          <a:ln>
            <a:noFill/>
          </a:ln>
        </p:spPr>
      </p:pic>
      <p:pic>
        <p:nvPicPr>
          <p:cNvPr id="907" name="Google Shape;907;p60" descr="preencoded.png"/>
          <p:cNvPicPr preferRelativeResize="0"/>
          <p:nvPr/>
        </p:nvPicPr>
        <p:blipFill rotWithShape="1">
          <a:blip r:embed="rId11">
            <a:alphaModFix/>
          </a:blip>
          <a:srcRect/>
          <a:stretch/>
        </p:blipFill>
        <p:spPr>
          <a:xfrm>
            <a:off x="2350393" y="6515100"/>
            <a:ext cx="597991" cy="165100"/>
          </a:xfrm>
          <a:prstGeom prst="rect">
            <a:avLst/>
          </a:prstGeom>
          <a:noFill/>
          <a:ln>
            <a:noFill/>
          </a:ln>
        </p:spPr>
      </p:pic>
    </p:spTree>
  </p:cSld>
  <p:clrMapOvr>
    <a:masterClrMapping/>
  </p:clrMapOvr>
</p:sld>
</file>

<file path=ppt/theme/theme1.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15144</Words>
  <Application>Microsoft Office PowerPoint</Application>
  <PresentationFormat>Panorámica</PresentationFormat>
  <Paragraphs>4535</Paragraphs>
  <Slides>72</Slides>
  <Notes>72</Notes>
  <HiddenSlides>0</HiddenSlides>
  <MMClips>0</MMClips>
  <ScaleCrop>false</ScaleCrop>
  <HeadingPairs>
    <vt:vector size="6" baseType="variant">
      <vt:variant>
        <vt:lpstr>Fuentes usadas</vt:lpstr>
      </vt:variant>
      <vt:variant>
        <vt:i4>6</vt:i4>
      </vt:variant>
      <vt:variant>
        <vt:lpstr>Tema</vt:lpstr>
      </vt:variant>
      <vt:variant>
        <vt:i4>3</vt:i4>
      </vt:variant>
      <vt:variant>
        <vt:lpstr>Títulos de diapositiva</vt:lpstr>
      </vt:variant>
      <vt:variant>
        <vt:i4>72</vt:i4>
      </vt:variant>
    </vt:vector>
  </HeadingPairs>
  <TitlesOfParts>
    <vt:vector size="81" baseType="lpstr">
      <vt:lpstr>Quattrocento Sans</vt:lpstr>
      <vt:lpstr>Play</vt:lpstr>
      <vt:lpstr>Calibri</vt:lpstr>
      <vt:lpstr>Noto Sans Symbols</vt:lpstr>
      <vt:lpstr>Arial</vt:lpstr>
      <vt:lpstr>Roboto</vt:lpstr>
      <vt:lpstr>12_Blank</vt:lpstr>
      <vt:lpstr>Template Presentación Directorio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Cristian Valenzuela</dc:creator>
  <cp:lastModifiedBy>Situ Situ</cp:lastModifiedBy>
  <cp:revision>3</cp:revision>
  <dcterms:created xsi:type="dcterms:W3CDTF">2026-09-12T02:09:26Z</dcterms:created>
  <dcterms:modified xsi:type="dcterms:W3CDTF">2026-09-17T18:17:21Z</dcterms:modified>
</cp:coreProperties>
</file>