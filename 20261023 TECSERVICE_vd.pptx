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4" r:id="rId2"/>
    <p:sldMasterId id="2147483676" r:id="rId3"/>
    <p:sldMasterId id="2147483678" r:id="rId4"/>
  </p:sldMasterIdLst>
  <p:notesMasterIdLst>
    <p:notesMasterId r:id="rId93"/>
  </p:notesMasterIdLst>
  <p:sldIdLst>
    <p:sldId id="256" r:id="rId5"/>
    <p:sldId id="257" r:id="rId6"/>
    <p:sldId id="328" r:id="rId7"/>
    <p:sldId id="340" r:id="rId8"/>
    <p:sldId id="259" r:id="rId9"/>
    <p:sldId id="329" r:id="rId10"/>
    <p:sldId id="261" r:id="rId11"/>
    <p:sldId id="262" r:id="rId12"/>
    <p:sldId id="263" r:id="rId13"/>
    <p:sldId id="264" r:id="rId14"/>
    <p:sldId id="265" r:id="rId15"/>
    <p:sldId id="266" r:id="rId16"/>
    <p:sldId id="330" r:id="rId17"/>
    <p:sldId id="268" r:id="rId18"/>
    <p:sldId id="269" r:id="rId19"/>
    <p:sldId id="354" r:id="rId20"/>
    <p:sldId id="348" r:id="rId21"/>
    <p:sldId id="331" r:id="rId22"/>
    <p:sldId id="347" r:id="rId23"/>
    <p:sldId id="272" r:id="rId24"/>
    <p:sldId id="273" r:id="rId25"/>
    <p:sldId id="274" r:id="rId26"/>
    <p:sldId id="275" r:id="rId27"/>
    <p:sldId id="276" r:id="rId28"/>
    <p:sldId id="277" r:id="rId29"/>
    <p:sldId id="332" r:id="rId30"/>
    <p:sldId id="345" r:id="rId31"/>
    <p:sldId id="279" r:id="rId32"/>
    <p:sldId id="280" r:id="rId33"/>
    <p:sldId id="281" r:id="rId34"/>
    <p:sldId id="333" r:id="rId35"/>
    <p:sldId id="283" r:id="rId36"/>
    <p:sldId id="284" r:id="rId37"/>
    <p:sldId id="334" r:id="rId38"/>
    <p:sldId id="286" r:id="rId39"/>
    <p:sldId id="287" r:id="rId40"/>
    <p:sldId id="288" r:id="rId41"/>
    <p:sldId id="289" r:id="rId42"/>
    <p:sldId id="335" r:id="rId43"/>
    <p:sldId id="316" r:id="rId44"/>
    <p:sldId id="336" r:id="rId45"/>
    <p:sldId id="290" r:id="rId46"/>
    <p:sldId id="291" r:id="rId47"/>
    <p:sldId id="292" r:id="rId48"/>
    <p:sldId id="318" r:id="rId49"/>
    <p:sldId id="319" r:id="rId50"/>
    <p:sldId id="320" r:id="rId51"/>
    <p:sldId id="321" r:id="rId52"/>
    <p:sldId id="322" r:id="rId53"/>
    <p:sldId id="323" r:id="rId54"/>
    <p:sldId id="324" r:id="rId55"/>
    <p:sldId id="357" r:id="rId56"/>
    <p:sldId id="326" r:id="rId57"/>
    <p:sldId id="338" r:id="rId58"/>
    <p:sldId id="346" r:id="rId59"/>
    <p:sldId id="355" r:id="rId60"/>
    <p:sldId id="356" r:id="rId61"/>
    <p:sldId id="350" r:id="rId62"/>
    <p:sldId id="339" r:id="rId63"/>
    <p:sldId id="258" r:id="rId64"/>
    <p:sldId id="337" r:id="rId65"/>
    <p:sldId id="310" r:id="rId66"/>
    <p:sldId id="360" r:id="rId67"/>
    <p:sldId id="293" r:id="rId68"/>
    <p:sldId id="294" r:id="rId69"/>
    <p:sldId id="295" r:id="rId70"/>
    <p:sldId id="296" r:id="rId71"/>
    <p:sldId id="297" r:id="rId72"/>
    <p:sldId id="298" r:id="rId73"/>
    <p:sldId id="299" r:id="rId74"/>
    <p:sldId id="300" r:id="rId75"/>
    <p:sldId id="301" r:id="rId76"/>
    <p:sldId id="302" r:id="rId77"/>
    <p:sldId id="303" r:id="rId78"/>
    <p:sldId id="304" r:id="rId79"/>
    <p:sldId id="305" r:id="rId80"/>
    <p:sldId id="306" r:id="rId81"/>
    <p:sldId id="307" r:id="rId82"/>
    <p:sldId id="308" r:id="rId83"/>
    <p:sldId id="309" r:id="rId84"/>
    <p:sldId id="311" r:id="rId85"/>
    <p:sldId id="341" r:id="rId86"/>
    <p:sldId id="342" r:id="rId87"/>
    <p:sldId id="343" r:id="rId88"/>
    <p:sldId id="312" r:id="rId89"/>
    <p:sldId id="313" r:id="rId90"/>
    <p:sldId id="314" r:id="rId91"/>
    <p:sldId id="315" r:id="rId92"/>
  </p:sldIdLst>
  <p:sldSz cx="12192000" cy="6858000"/>
  <p:notesSz cx="6858000" cy="12192000"/>
  <p:embeddedFontLst>
    <p:embeddedFont>
      <p:font typeface="Aptos Narrow" panose="020B0004020202020204" pitchFamily="34" charset="0"/>
      <p:regular r:id="rId94"/>
    </p:embeddedFont>
    <p:embeddedFont>
      <p:font typeface="Play" panose="020B0604020202020204" charset="0"/>
      <p:regular r:id="rId95"/>
      <p:bold r:id="rId96"/>
    </p:embeddedFont>
    <p:embeddedFont>
      <p:font typeface="Quattrocento Sans" panose="020B0502050000020003" pitchFamily="34" charset="0"/>
      <p:regular r:id="rId97"/>
      <p:bold r:id="rId98"/>
    </p:embeddedFont>
    <p:embeddedFont>
      <p:font typeface="Roboto" panose="02000000000000000000" pitchFamily="2" charset="0"/>
      <p:regular r:id="rId99"/>
      <p:bold r:id="rId100"/>
      <p:italic r:id="rId10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217" userDrawn="1">
          <p15:clr>
            <a:srgbClr val="A4A3A4"/>
          </p15:clr>
        </p15:guide>
        <p15:guide id="2" pos="3840" userDrawn="1">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08" roundtripDataSignature="AMtx7mihcEJ+ppHuWwxQ5NLDVvr/Gil7B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3D43741-7D58-4360-86AC-F6E32FA5FF39}">
  <a:tblStyle styleId="{13D43741-7D58-4360-86AC-F6E32FA5FF3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C37305D2-9BBB-409F-AAFB-F33DB949016B}" styleName="Table_1">
    <a:wholeTbl>
      <a:tcTxStyle b="off" i="off">
        <a:font>
          <a:latin typeface="Aptos (cuerpo)"/>
          <a:ea typeface="Aptos (cuerpo)"/>
          <a:cs typeface="Aptos (cuerpo)"/>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F7F4"/>
          </a:solidFill>
        </a:fill>
      </a:tcStyle>
    </a:wholeTbl>
    <a:band1H>
      <a:tcTxStyle/>
      <a:tcStyle>
        <a:tcBdr/>
        <a:fill>
          <a:solidFill>
            <a:srgbClr val="CBEEE9"/>
          </a:solidFill>
        </a:fill>
      </a:tcStyle>
    </a:band1H>
    <a:band2H>
      <a:tcTxStyle/>
      <a:tcStyle>
        <a:tcBdr/>
      </a:tcStyle>
    </a:band2H>
    <a:band1V>
      <a:tcTxStyle/>
      <a:tcStyle>
        <a:tcBdr/>
        <a:fill>
          <a:solidFill>
            <a:srgbClr val="CBEEE9"/>
          </a:solidFill>
        </a:fill>
      </a:tcStyle>
    </a:band1V>
    <a:band2V>
      <a:tcTxStyle/>
      <a:tcStyle>
        <a:tcBdr/>
      </a:tcStyle>
    </a:band2V>
    <a:lastCol>
      <a:tcTxStyle b="on" i="off">
        <a:font>
          <a:latin typeface="Aptos (cuerpo)"/>
          <a:ea typeface="Aptos (cuerpo)"/>
          <a:cs typeface="Aptos (cuerpo)"/>
        </a:font>
        <a:schemeClr val="lt1"/>
      </a:tcTxStyle>
      <a:tcStyle>
        <a:tcBdr/>
        <a:fill>
          <a:solidFill>
            <a:schemeClr val="accent1"/>
          </a:solidFill>
        </a:fill>
      </a:tcStyle>
    </a:lastCol>
    <a:firstCol>
      <a:tcTxStyle b="on" i="off">
        <a:font>
          <a:latin typeface="Aptos (cuerpo)"/>
          <a:ea typeface="Aptos (cuerpo)"/>
          <a:cs typeface="Aptos (cuerpo)"/>
        </a:font>
        <a:schemeClr val="lt1"/>
      </a:tcTxStyle>
      <a:tcStyle>
        <a:tcBdr/>
        <a:fill>
          <a:solidFill>
            <a:schemeClr val="accent1"/>
          </a:solidFill>
        </a:fill>
      </a:tcStyle>
    </a:firstCol>
    <a:lastRow>
      <a:tcTxStyle b="on" i="off">
        <a:font>
          <a:latin typeface="Aptos (cuerpo)"/>
          <a:ea typeface="Aptos (cuerpo)"/>
          <a:cs typeface="Aptos (cuerpo)"/>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cuerpo)"/>
          <a:ea typeface="Aptos (cuerpo)"/>
          <a:cs typeface="Aptos (cuerpo)"/>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250" autoAdjust="0"/>
    <p:restoredTop sz="93969" autoAdjust="0"/>
  </p:normalViewPr>
  <p:slideViewPr>
    <p:cSldViewPr showGuides="1">
      <p:cViewPr>
        <p:scale>
          <a:sx n="66" d="100"/>
          <a:sy n="66" d="100"/>
        </p:scale>
        <p:origin x="972" y="48"/>
      </p:cViewPr>
      <p:guideLst>
        <p:guide orient="horz" pos="2217"/>
        <p:guide pos="3840"/>
      </p:guideLst>
    </p:cSldViewPr>
  </p:slideViewPr>
  <p:notesTextViewPr>
    <p:cViewPr>
      <p:scale>
        <a:sx n="1" d="1"/>
        <a:sy n="1" d="1"/>
      </p:scale>
      <p:origin x="0" y="0"/>
    </p:cViewPr>
  </p:notesTextViewPr>
  <p:gridSpacing cx="45000" cy="450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font" Target="fonts/font2.fntdata"/><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8" Type="http://customschemas.google.com/relationships/presentationmetadata" Target="meta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font" Target="fonts/font3.fntdata"/><Relationship Id="rId11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font" Target="fonts/font1.fntdata"/><Relationship Id="rId99" Type="http://schemas.openxmlformats.org/officeDocument/2006/relationships/font" Target="fonts/font6.fntdata"/><Relationship Id="rId101" Type="http://schemas.openxmlformats.org/officeDocument/2006/relationships/font" Target="fonts/font8.fntdata"/><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presProps" Target="presProps.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font" Target="fonts/font4.fntdata"/><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font" Target="fonts/font7.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notesMaster" Target="notesMasters/notesMaster1.xml"/><Relationship Id="rId98" Type="http://schemas.openxmlformats.org/officeDocument/2006/relationships/font" Target="fonts/font5.fntdata"/><Relationship Id="rId3" Type="http://schemas.openxmlformats.org/officeDocument/2006/relationships/slideMaster" Target="slideMasters/slideMaster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Gemco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3849-4E66-B826-A582A488FD53}"/>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3849-4E66-B826-A582A488FD53}"/>
            </c:ext>
          </c:extLst>
        </c:ser>
        <c:ser>
          <c:idx val="2"/>
          <c:order val="2"/>
          <c:tx>
            <c:strRef>
              <c:f>Hoja1!$D$1</c:f>
              <c:strCache>
                <c:ptCount val="1"/>
                <c:pt idx="0">
                  <c:v>Serie 3</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3849-4E66-B826-A582A488FD53}"/>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282DF0"/>
              </a:solidFill>
              <a:ln w="19050">
                <a:solidFill>
                  <a:schemeClr val="lt1"/>
                </a:solidFill>
              </a:ln>
              <a:effectLst/>
            </c:spPr>
            <c:extLst>
              <c:ext xmlns:c16="http://schemas.microsoft.com/office/drawing/2014/chart" uri="{C3380CC4-5D6E-409C-BE32-E72D297353CC}">
                <c16:uniqueId val="{00000001-AB62-473A-BA36-3736C0486B52}"/>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AB62-473A-BA36-3736C0486B52}"/>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AB62-473A-BA36-3736C0486B52}"/>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AB62-473A-BA36-3736C0486B52}"/>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AB62-473A-BA36-3736C0486B52}"/>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2CB-4E37-BA0C-4D62EFF16F45}"/>
            </c:ext>
          </c:extLst>
        </c:ser>
        <c:ser>
          <c:idx val="1"/>
          <c:order val="1"/>
          <c:tx>
            <c:strRef>
              <c:f>Hoja1!$C$1</c:f>
              <c:strCache>
                <c:ptCount val="1"/>
                <c:pt idx="0">
                  <c:v>Serie 2</c:v>
                </c:pt>
              </c:strCache>
            </c:strRef>
          </c:tx>
          <c:spPr>
            <a:solidFill>
              <a:srgbClr val="282DF0"/>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2CB-4E37-BA0C-4D62EFF16F45}"/>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2CB-4E37-BA0C-4D62EFF16F45}"/>
            </c:ext>
          </c:extLst>
        </c:ser>
        <c:dLbls>
          <c:showLegendKey val="0"/>
          <c:showVal val="0"/>
          <c:showCatName val="0"/>
          <c:showSerName val="0"/>
          <c:showPercent val="0"/>
          <c:showBubbleSize val="0"/>
        </c:dLbls>
        <c:gapWidth val="150"/>
        <c:overlap val="100"/>
        <c:axId val="1896206448"/>
        <c:axId val="1896199728"/>
      </c:barChart>
      <c:catAx>
        <c:axId val="1896206448"/>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199728"/>
        <c:crosses val="autoZero"/>
        <c:auto val="1"/>
        <c:lblAlgn val="ctr"/>
        <c:lblOffset val="100"/>
        <c:noMultiLvlLbl val="0"/>
      </c:catAx>
      <c:valAx>
        <c:axId val="189619972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620644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28CB-42D1-B328-14618D802797}"/>
            </c:ext>
          </c:extLst>
        </c:ser>
        <c:ser>
          <c:idx val="1"/>
          <c:order val="1"/>
          <c:tx>
            <c:strRef>
              <c:f>Hoja1!$C$1</c:f>
              <c:strCache>
                <c:ptCount val="1"/>
                <c:pt idx="0">
                  <c:v>Serie 2</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28CB-42D1-B328-14618D802797}"/>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28CB-42D1-B328-14618D802797}"/>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D30101"/>
              </a:solidFill>
              <a:ln w="19050">
                <a:solidFill>
                  <a:schemeClr val="lt1"/>
                </a:solidFill>
              </a:ln>
              <a:effectLst/>
            </c:spPr>
            <c:extLst>
              <c:ext xmlns:c16="http://schemas.microsoft.com/office/drawing/2014/chart" uri="{C3380CC4-5D6E-409C-BE32-E72D297353CC}">
                <c16:uniqueId val="{00000001-6021-469B-96CA-FF6A0E02D9DD}"/>
              </c:ext>
            </c:extLst>
          </c:dPt>
          <c:dPt>
            <c:idx val="1"/>
            <c:bubble3D val="0"/>
            <c:spPr>
              <a:solidFill>
                <a:srgbClr val="28D2C3"/>
              </a:solidFill>
              <a:ln w="19050">
                <a:solidFill>
                  <a:schemeClr val="lt1"/>
                </a:solidFill>
              </a:ln>
              <a:effectLst/>
            </c:spPr>
            <c:extLst>
              <c:ext xmlns:c16="http://schemas.microsoft.com/office/drawing/2014/chart" uri="{C3380CC4-5D6E-409C-BE32-E72D297353CC}">
                <c16:uniqueId val="{00000003-6021-469B-96CA-FF6A0E02D9DD}"/>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6021-469B-96CA-FF6A0E02D9DD}"/>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6021-469B-96CA-FF6A0E02D9DD}"/>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6021-469B-96CA-FF6A0E02D9DD}"/>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D30101"/>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883E-41BC-A883-1154F4D5240C}"/>
            </c:ext>
          </c:extLst>
        </c:ser>
        <c:ser>
          <c:idx val="1"/>
          <c:order val="1"/>
          <c:tx>
            <c:strRef>
              <c:f>Hoja1!$C$1</c:f>
              <c:strCache>
                <c:ptCount val="1"/>
                <c:pt idx="0">
                  <c:v>Serie 2</c:v>
                </c:pt>
              </c:strCache>
            </c:strRef>
          </c:tx>
          <c:spPr>
            <a:solidFill>
              <a:srgbClr val="28D2C3"/>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883E-41BC-A883-1154F4D5240C}"/>
            </c:ext>
          </c:extLst>
        </c:ser>
        <c:ser>
          <c:idx val="2"/>
          <c:order val="2"/>
          <c:tx>
            <c:strRef>
              <c:f>Hoja1!$D$1</c:f>
              <c:strCache>
                <c:ptCount val="1"/>
                <c:pt idx="0">
                  <c:v>Serie 3</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883E-41BC-A883-1154F4D5240C}"/>
            </c:ext>
          </c:extLst>
        </c:ser>
        <c:dLbls>
          <c:showLegendKey val="0"/>
          <c:showVal val="0"/>
          <c:showCatName val="0"/>
          <c:showSerName val="0"/>
          <c:showPercent val="0"/>
          <c:showBubbleSize val="0"/>
        </c:dLbls>
        <c:gapWidth val="150"/>
        <c:overlap val="100"/>
        <c:axId val="1890469792"/>
        <c:axId val="1890462112"/>
      </c:barChart>
      <c:catAx>
        <c:axId val="189046979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2112"/>
        <c:crosses val="autoZero"/>
        <c:auto val="1"/>
        <c:lblAlgn val="ctr"/>
        <c:lblOffset val="100"/>
        <c:noMultiLvlLbl val="0"/>
      </c:catAx>
      <c:valAx>
        <c:axId val="189046211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6979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r>
              <a:rPr lang="es-CL"/>
              <a:t>Gráfico MMQ</a:t>
            </a:r>
          </a:p>
        </c:rich>
      </c:tx>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col"/>
        <c:grouping val="clustered"/>
        <c:varyColors val="0"/>
        <c:ser>
          <c:idx val="0"/>
          <c:order val="0"/>
          <c:tx>
            <c:strRef>
              <c:f>Hoja1!$B$1</c:f>
              <c:strCache>
                <c:ptCount val="1"/>
                <c:pt idx="0">
                  <c:v>Serie 1</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4C5E-4810-97DA-E5C595CFB7D6}"/>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4C5E-4810-97DA-E5C595CFB7D6}"/>
            </c:ext>
          </c:extLst>
        </c:ser>
        <c:ser>
          <c:idx val="2"/>
          <c:order val="2"/>
          <c:tx>
            <c:strRef>
              <c:f>Hoja1!$D$1</c:f>
              <c:strCache>
                <c:ptCount val="1"/>
                <c:pt idx="0">
                  <c:v>Serie 3</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4C5E-4810-97DA-E5C595CFB7D6}"/>
            </c:ext>
          </c:extLst>
        </c:ser>
        <c:dLbls>
          <c:showLegendKey val="0"/>
          <c:showVal val="0"/>
          <c:showCatName val="0"/>
          <c:showSerName val="0"/>
          <c:showPercent val="0"/>
          <c:showBubbleSize val="0"/>
        </c:dLbls>
        <c:gapWidth val="219"/>
        <c:overlap val="-27"/>
        <c:axId val="1719917312"/>
        <c:axId val="1719917792"/>
      </c:barChart>
      <c:catAx>
        <c:axId val="171991731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792"/>
        <c:crosses val="autoZero"/>
        <c:auto val="1"/>
        <c:lblAlgn val="ctr"/>
        <c:lblOffset val="100"/>
        <c:noMultiLvlLbl val="0"/>
      </c:catAx>
      <c:valAx>
        <c:axId val="171991779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7199173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pieChart>
        <c:varyColors val="1"/>
        <c:ser>
          <c:idx val="0"/>
          <c:order val="0"/>
          <c:tx>
            <c:strRef>
              <c:f>Hoja1!$B$1</c:f>
              <c:strCache>
                <c:ptCount val="1"/>
                <c:pt idx="0">
                  <c:v>Ventas</c:v>
                </c:pt>
              </c:strCache>
            </c:strRef>
          </c:tx>
          <c:dPt>
            <c:idx val="0"/>
            <c:bubble3D val="0"/>
            <c:spPr>
              <a:solidFill>
                <a:srgbClr val="FF7016"/>
              </a:solidFill>
              <a:ln w="19050">
                <a:solidFill>
                  <a:schemeClr val="lt1"/>
                </a:solidFill>
              </a:ln>
              <a:effectLst/>
            </c:spPr>
            <c:extLst>
              <c:ext xmlns:c16="http://schemas.microsoft.com/office/drawing/2014/chart" uri="{C3380CC4-5D6E-409C-BE32-E72D297353CC}">
                <c16:uniqueId val="{00000001-1981-4F7B-88A8-9F40F24EFCB7}"/>
              </c:ext>
            </c:extLst>
          </c:dPt>
          <c:dPt>
            <c:idx val="1"/>
            <c:bubble3D val="0"/>
            <c:spPr>
              <a:solidFill>
                <a:srgbClr val="0074BF"/>
              </a:solidFill>
              <a:ln w="19050">
                <a:solidFill>
                  <a:schemeClr val="lt1"/>
                </a:solidFill>
              </a:ln>
              <a:effectLst/>
            </c:spPr>
            <c:extLst>
              <c:ext xmlns:c16="http://schemas.microsoft.com/office/drawing/2014/chart" uri="{C3380CC4-5D6E-409C-BE32-E72D297353CC}">
                <c16:uniqueId val="{00000003-1981-4F7B-88A8-9F40F24EFCB7}"/>
              </c:ext>
            </c:extLst>
          </c:dPt>
          <c:dPt>
            <c:idx val="2"/>
            <c:bubble3D val="0"/>
            <c:spPr>
              <a:solidFill>
                <a:srgbClr val="373C46"/>
              </a:solidFill>
              <a:ln w="19050">
                <a:solidFill>
                  <a:schemeClr val="lt1"/>
                </a:solidFill>
              </a:ln>
              <a:effectLst/>
            </c:spPr>
            <c:extLst>
              <c:ext xmlns:c16="http://schemas.microsoft.com/office/drawing/2014/chart" uri="{C3380CC4-5D6E-409C-BE32-E72D297353CC}">
                <c16:uniqueId val="{00000005-1981-4F7B-88A8-9F40F24EFCB7}"/>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1981-4F7B-88A8-9F40F24EFCB7}"/>
              </c:ext>
            </c:extLst>
          </c:dPt>
          <c:cat>
            <c:strRef>
              <c:f>Hoja1!$A$2:$A$5</c:f>
              <c:strCache>
                <c:ptCount val="4"/>
                <c:pt idx="0">
                  <c:v>1er trim.</c:v>
                </c:pt>
                <c:pt idx="1">
                  <c:v>2º trim.</c:v>
                </c:pt>
                <c:pt idx="2">
                  <c:v>3er trim.</c:v>
                </c:pt>
                <c:pt idx="3">
                  <c:v>4º trim.</c:v>
                </c:pt>
              </c:strCache>
            </c:strRef>
          </c:cat>
          <c:val>
            <c:numRef>
              <c:f>Hoja1!$B$2:$B$5</c:f>
              <c:numCache>
                <c:formatCode>General</c:formatCode>
                <c:ptCount val="4"/>
                <c:pt idx="0">
                  <c:v>8.1999999999999993</c:v>
                </c:pt>
                <c:pt idx="1">
                  <c:v>3.2</c:v>
                </c:pt>
                <c:pt idx="2">
                  <c:v>1.4</c:v>
                </c:pt>
                <c:pt idx="3">
                  <c:v>1.2</c:v>
                </c:pt>
              </c:numCache>
            </c:numRef>
          </c:val>
          <c:extLst>
            <c:ext xmlns:c16="http://schemas.microsoft.com/office/drawing/2014/chart" uri="{C3380CC4-5D6E-409C-BE32-E72D297353CC}">
              <c16:uniqueId val="{00000008-1981-4F7B-88A8-9F40F24EFCB7}"/>
            </c:ext>
          </c:extLst>
        </c:ser>
        <c:dLbls>
          <c:showLegendKey val="0"/>
          <c:showVal val="0"/>
          <c:showCatName val="0"/>
          <c:showSerName val="0"/>
          <c:showPercent val="0"/>
          <c:showBubbleSize val="0"/>
          <c:showLeaderLines val="1"/>
        </c:dLbls>
        <c:firstSliceAng val="0"/>
      </c:pieChart>
      <c:spPr>
        <a:noFill/>
        <a:ln>
          <a:noFill/>
        </a:ln>
        <a:effectLst/>
      </c:spPr>
    </c:plotArea>
    <c:legend>
      <c:legendPos val="b"/>
      <c:legendEntry>
        <c:idx val="3"/>
        <c:delete val="1"/>
      </c:legendEntry>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overlay val="0"/>
      <c:spPr>
        <a:noFill/>
        <a:ln>
          <a:noFill/>
        </a:ln>
        <a:effectLst/>
      </c:spPr>
      <c:txPr>
        <a:bodyPr rot="0" spcFirstLastPara="1" vertOverflow="ellipsis" vert="horz" wrap="square" anchor="ctr" anchorCtr="1"/>
        <a:lstStyle/>
        <a:p>
          <a:pPr>
            <a:defRPr sz="1862" b="0" i="0" u="none" strike="noStrike" kern="1200" spc="0" baseline="0">
              <a:solidFill>
                <a:schemeClr val="bg2"/>
              </a:solidFill>
              <a:latin typeface="+mn-lt"/>
              <a:ea typeface="+mn-ea"/>
              <a:cs typeface="+mn-cs"/>
            </a:defRPr>
          </a:pPr>
          <a:endParaRPr lang="es-CL"/>
        </a:p>
      </c:txPr>
    </c:title>
    <c:autoTitleDeleted val="0"/>
    <c:plotArea>
      <c:layout/>
      <c:barChart>
        <c:barDir val="bar"/>
        <c:grouping val="stacked"/>
        <c:varyColors val="0"/>
        <c:ser>
          <c:idx val="0"/>
          <c:order val="0"/>
          <c:tx>
            <c:strRef>
              <c:f>Hoja1!$B$1</c:f>
              <c:strCache>
                <c:ptCount val="1"/>
                <c:pt idx="0">
                  <c:v>Serie 1</c:v>
                </c:pt>
              </c:strCache>
            </c:strRef>
          </c:tx>
          <c:spPr>
            <a:solidFill>
              <a:srgbClr val="FF701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EEBB-4D85-9960-93046E19B42E}"/>
            </c:ext>
          </c:extLst>
        </c:ser>
        <c:ser>
          <c:idx val="1"/>
          <c:order val="1"/>
          <c:tx>
            <c:strRef>
              <c:f>Hoja1!$C$1</c:f>
              <c:strCache>
                <c:ptCount val="1"/>
                <c:pt idx="0">
                  <c:v>Serie 2</c:v>
                </c:pt>
              </c:strCache>
            </c:strRef>
          </c:tx>
          <c:spPr>
            <a:solidFill>
              <a:srgbClr val="373C46"/>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EEBB-4D85-9960-93046E19B42E}"/>
            </c:ext>
          </c:extLst>
        </c:ser>
        <c:ser>
          <c:idx val="2"/>
          <c:order val="2"/>
          <c:tx>
            <c:strRef>
              <c:f>Hoja1!$D$1</c:f>
              <c:strCache>
                <c:ptCount val="1"/>
                <c:pt idx="0">
                  <c:v>Serie 3</c:v>
                </c:pt>
              </c:strCache>
            </c:strRef>
          </c:tx>
          <c:spPr>
            <a:solidFill>
              <a:srgbClr val="0074BF"/>
            </a:solidFill>
            <a:ln>
              <a:noFill/>
            </a:ln>
            <a:effectLst/>
          </c:spPr>
          <c:invertIfNegative val="0"/>
          <c:cat>
            <c:strRef>
              <c:f>Hoja1!$A$2:$A$5</c:f>
              <c:strCache>
                <c:ptCount val="4"/>
                <c:pt idx="0">
                  <c:v>Categoría 1</c:v>
                </c:pt>
                <c:pt idx="1">
                  <c:v>Categoría 2</c:v>
                </c:pt>
                <c:pt idx="2">
                  <c:v>Categoría 3</c:v>
                </c:pt>
                <c:pt idx="3">
                  <c:v>Categoría 4</c:v>
                </c:pt>
              </c:strCache>
            </c:strRef>
          </c:cat>
          <c:val>
            <c:numRef>
              <c:f>Hoja1!$D$2:$D$5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EEBB-4D85-9960-93046E19B42E}"/>
            </c:ext>
          </c:extLst>
        </c:ser>
        <c:dLbls>
          <c:showLegendKey val="0"/>
          <c:showVal val="0"/>
          <c:showCatName val="0"/>
          <c:showSerName val="0"/>
          <c:showPercent val="0"/>
          <c:showBubbleSize val="0"/>
        </c:dLbls>
        <c:gapWidth val="150"/>
        <c:overlap val="100"/>
        <c:axId val="1890447712"/>
        <c:axId val="1890444832"/>
      </c:barChart>
      <c:catAx>
        <c:axId val="189044771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4832"/>
        <c:crosses val="autoZero"/>
        <c:auto val="1"/>
        <c:lblAlgn val="ctr"/>
        <c:lblOffset val="100"/>
        <c:noMultiLvlLbl val="0"/>
      </c:catAx>
      <c:valAx>
        <c:axId val="189044483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crossAx val="1890447712"/>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bg2"/>
              </a:solidFill>
              <a:latin typeface="+mn-lt"/>
              <a:ea typeface="+mn-ea"/>
              <a:cs typeface="+mn-cs"/>
            </a:defRPr>
          </a:pPr>
          <a:endParaRPr lang="es-C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solidFill>
            <a:schemeClr val="bg2"/>
          </a:solidFill>
        </a:defRPr>
      </a:pPr>
      <a:endParaRPr lang="es-C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0" name="Google Shape;210;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211" name="Google Shape;211;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1</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E59A421F-4CA2-E1A1-9DA2-72155C5B2230}"/>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2051CA14-26EF-F3C9-0A8E-4B54FF726CA7}"/>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0BB64A1D-6677-25EA-F54A-6E1F52E1FBDC}"/>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699684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901CC8C9-3BBE-A303-D516-02AF57A53CF3}"/>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3229FA16-45CE-4F90-A0DC-A41C16A3AD40}"/>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9F3E5F29-4E15-64C8-2F90-823F82EAAA7D}"/>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80293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8F1DD641-7095-D9DC-B95B-67530045BA18}"/>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1E657416-B473-1D6E-838D-349D792C75E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0A407143-9587-137E-94DC-57210FAD99DB}"/>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7965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53" name="Google Shape;253;p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1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DF812BA8-8D1C-6CBC-D932-8F59A8C5B7A7}"/>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1E091DAA-B098-7C5A-A182-36729EEAA43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E611C7AA-5802-3FB1-4504-5CB07EB26745}"/>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212199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1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1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1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a:extLst>
            <a:ext uri="{FF2B5EF4-FFF2-40B4-BE49-F238E27FC236}">
              <a16:creationId xmlns:a16="http://schemas.microsoft.com/office/drawing/2014/main" id="{29527CCE-E241-CAA1-A1D3-ACD3693CDB09}"/>
            </a:ext>
          </a:extLst>
        </p:cNvPr>
        <p:cNvGrpSpPr/>
        <p:nvPr/>
      </p:nvGrpSpPr>
      <p:grpSpPr>
        <a:xfrm>
          <a:off x="0" y="0"/>
          <a:ext cx="0" cy="0"/>
          <a:chOff x="0" y="0"/>
          <a:chExt cx="0" cy="0"/>
        </a:xfrm>
      </p:grpSpPr>
      <p:sp>
        <p:nvSpPr>
          <p:cNvPr id="298" name="Google Shape;298;p13:notes">
            <a:extLst>
              <a:ext uri="{FF2B5EF4-FFF2-40B4-BE49-F238E27FC236}">
                <a16:creationId xmlns:a16="http://schemas.microsoft.com/office/drawing/2014/main" id="{1BEC1EDF-ED27-328B-93A9-B008DC9FEF4D}"/>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9" name="Google Shape;299;p13:notes">
            <a:extLst>
              <a:ext uri="{FF2B5EF4-FFF2-40B4-BE49-F238E27FC236}">
                <a16:creationId xmlns:a16="http://schemas.microsoft.com/office/drawing/2014/main" id="{8EF1E245-0E57-35B1-22CD-F8361C3ECC09}"/>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15597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a:extLst>
            <a:ext uri="{FF2B5EF4-FFF2-40B4-BE49-F238E27FC236}">
              <a16:creationId xmlns:a16="http://schemas.microsoft.com/office/drawing/2014/main" id="{0E3C0941-896E-C8CA-C606-A263148A9F36}"/>
            </a:ext>
          </a:extLst>
        </p:cNvPr>
        <p:cNvGrpSpPr/>
        <p:nvPr/>
      </p:nvGrpSpPr>
      <p:grpSpPr>
        <a:xfrm>
          <a:off x="0" y="0"/>
          <a:ext cx="0" cy="0"/>
          <a:chOff x="0" y="0"/>
          <a:chExt cx="0" cy="0"/>
        </a:xfrm>
      </p:grpSpPr>
      <p:sp>
        <p:nvSpPr>
          <p:cNvPr id="305" name="Google Shape;305;p14:notes">
            <a:extLst>
              <a:ext uri="{FF2B5EF4-FFF2-40B4-BE49-F238E27FC236}">
                <a16:creationId xmlns:a16="http://schemas.microsoft.com/office/drawing/2014/main" id="{67CB0F63-B3EA-559A-B650-DF872B5AA70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6" name="Google Shape;306;p14:notes">
            <a:extLst>
              <a:ext uri="{FF2B5EF4-FFF2-40B4-BE49-F238E27FC236}">
                <a16:creationId xmlns:a16="http://schemas.microsoft.com/office/drawing/2014/main" id="{3342C64B-5AC1-C24C-FB2B-1279362C41BE}"/>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086416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2D4F856A-CE99-7485-A0B7-8FD7B4290A1E}"/>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49798AB8-413A-3F2C-7F96-5702B44E09A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6FE5AA7-DC92-D325-2CE7-A9D520B12300}"/>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981538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6:notes"/>
          <p:cNvSpPr>
            <a:spLocks noGrp="1" noRot="1" noChangeAspect="1"/>
          </p:cNvSpPr>
          <p:nvPr>
            <p:ph type="sldImg" idx="2"/>
          </p:nvPr>
        </p:nvSpPr>
        <p:spPr>
          <a:xfrm>
            <a:off x="-228600" y="1524000"/>
            <a:ext cx="7315200" cy="4114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9" name="Google Shape;319;p16:notes"/>
          <p:cNvSpPr txBox="1">
            <a:spLocks noGrp="1"/>
          </p:cNvSpPr>
          <p:nvPr>
            <p:ph type="body" idx="1"/>
          </p:nvPr>
        </p:nvSpPr>
        <p:spPr>
          <a:xfrm>
            <a:off x="685800" y="5867400"/>
            <a:ext cx="5486400" cy="48006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1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2" name="Google Shape;332;p1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1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2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6" name="Google Shape;346;p2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2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53" name="Google Shape;353;p2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2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2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39CA8C5-7832-719D-4525-A04BD67ABA1B}"/>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95E48C49-D6A2-6231-ACBC-6B79FC984FA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5A4FFDF-8D6C-E6D3-CC6E-380480A9BDE0}"/>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15851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9B254619-6DCD-9132-125E-CD575829F047}"/>
            </a:ext>
          </a:extLst>
        </p:cNvPr>
        <p:cNvGrpSpPr/>
        <p:nvPr/>
      </p:nvGrpSpPr>
      <p:grpSpPr>
        <a:xfrm>
          <a:off x="0" y="0"/>
          <a:ext cx="0" cy="0"/>
          <a:chOff x="0" y="0"/>
          <a:chExt cx="0" cy="0"/>
        </a:xfrm>
      </p:grpSpPr>
      <p:sp>
        <p:nvSpPr>
          <p:cNvPr id="372" name="Google Shape;372;p24:notes">
            <a:extLst>
              <a:ext uri="{FF2B5EF4-FFF2-40B4-BE49-F238E27FC236}">
                <a16:creationId xmlns:a16="http://schemas.microsoft.com/office/drawing/2014/main" id="{B6039DC2-D822-FF10-70A0-74AA1E2A1A9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24:notes">
            <a:extLst>
              <a:ext uri="{FF2B5EF4-FFF2-40B4-BE49-F238E27FC236}">
                <a16:creationId xmlns:a16="http://schemas.microsoft.com/office/drawing/2014/main" id="{2D9F2CA5-7842-21B0-99C0-660FFEBCBFE4}"/>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01048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2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73" name="Google Shape;373;p2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2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2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p2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9" name="Google Shape;389;p2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B3FE2F9C-C37B-D809-F0A7-B9EDC9561C7B}"/>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26668F6-455A-E2AE-B96A-EE4B159D610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65244A88-E7C8-1E08-7C90-7BB8648CFD83}"/>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189408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2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2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409" name="Google Shape;409;p2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C264797E-343C-EFAC-E5E4-7144913B32B3}"/>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C8C2F813-C534-59D2-72DD-5024AA38AEA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93CADE64-C5C5-C88F-E7FF-1A6929F28C3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83728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2" name="Google Shape;422;p3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0" name="Google Shape;430;p3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3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3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42" name="Google Shape;442;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443" name="Google Shape;443;p3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38</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1C1C0580-06A1-D21B-6BAF-47B6D45BFE79}"/>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14091CE-3F58-99B0-737A-8368A51EDE2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CA807973-82CF-CEC7-5A8E-69431D90A9AC}"/>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83933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3369F362-F4C6-12B7-ECD1-D308B4865564}"/>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CCC00660-C0B5-16F5-DBB0-0BEC2816AD1F}"/>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F2BBD5C8-1637-4A7F-AFAC-5C519EE45217}"/>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199062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a:extLst>
            <a:ext uri="{FF2B5EF4-FFF2-40B4-BE49-F238E27FC236}">
              <a16:creationId xmlns:a16="http://schemas.microsoft.com/office/drawing/2014/main" id="{902A4361-7816-9769-1B48-A43D40355D7F}"/>
            </a:ext>
          </a:extLst>
        </p:cNvPr>
        <p:cNvGrpSpPr/>
        <p:nvPr/>
      </p:nvGrpSpPr>
      <p:grpSpPr>
        <a:xfrm>
          <a:off x="0" y="0"/>
          <a:ext cx="0" cy="0"/>
          <a:chOff x="0" y="0"/>
          <a:chExt cx="0" cy="0"/>
        </a:xfrm>
      </p:grpSpPr>
      <p:sp>
        <p:nvSpPr>
          <p:cNvPr id="219" name="Google Shape;219;p2:notes">
            <a:extLst>
              <a:ext uri="{FF2B5EF4-FFF2-40B4-BE49-F238E27FC236}">
                <a16:creationId xmlns:a16="http://schemas.microsoft.com/office/drawing/2014/main" id="{FC72461D-B107-E55D-3125-DE745FFA81C3}"/>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2:notes">
            <a:extLst>
              <a:ext uri="{FF2B5EF4-FFF2-40B4-BE49-F238E27FC236}">
                <a16:creationId xmlns:a16="http://schemas.microsoft.com/office/drawing/2014/main" id="{F454DDC4-8FCB-58B3-49DB-E95E74B3ACAD}"/>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6773744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7" name="Google Shape;467;p3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0" name="Google Shape;480;p3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4D19BCD7-460F-C3A9-42ED-1B4C9B701CCB}"/>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E0E8FF5D-C204-8CCD-E5ED-A6FEB001C94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5E240E1C-F265-B7A7-FF9E-9D04E7CF070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11675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C3475810-034E-1D38-8066-83DD8B76F0EF}"/>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304EA81B-82B8-BEBE-742D-70E1EF542AAF}"/>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45E7B4B2-E67D-583F-3610-853AE2F8D407}"/>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6126786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9A040A0C-4AE3-D3B3-B9C9-8320050ECE8C}"/>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82122D5A-581F-8EB0-7229-97615181630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AD0DD008-DFDF-44D6-6687-246DDAB2F931}"/>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9476074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33E40192-3A1D-4366-84BE-08D1B996CD9D}"/>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B139E11E-E640-58D2-8319-DBE811A48E2E}"/>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679EBFEA-B961-64B5-3BF8-631C10C31501}"/>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304123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A81DE44A-C7F4-1F95-7671-83DC70C7A442}"/>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CF94DC9C-4FD9-7F7E-59A5-569518E6BE3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45E7E4B9-351F-DF7F-11BF-D25EC20E5ED6}"/>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28539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a:extLst>
            <a:ext uri="{FF2B5EF4-FFF2-40B4-BE49-F238E27FC236}">
              <a16:creationId xmlns:a16="http://schemas.microsoft.com/office/drawing/2014/main" id="{62CC34D9-0734-5C9E-D62E-7A46C7CD3A91}"/>
            </a:ext>
          </a:extLst>
        </p:cNvPr>
        <p:cNvGrpSpPr/>
        <p:nvPr/>
      </p:nvGrpSpPr>
      <p:grpSpPr>
        <a:xfrm>
          <a:off x="0" y="0"/>
          <a:ext cx="0" cy="0"/>
          <a:chOff x="0" y="0"/>
          <a:chExt cx="0" cy="0"/>
        </a:xfrm>
      </p:grpSpPr>
      <p:sp>
        <p:nvSpPr>
          <p:cNvPr id="451" name="Google Shape;451;p35:notes">
            <a:extLst>
              <a:ext uri="{FF2B5EF4-FFF2-40B4-BE49-F238E27FC236}">
                <a16:creationId xmlns:a16="http://schemas.microsoft.com/office/drawing/2014/main" id="{ADB0B909-218B-A01F-CA15-2F15C8FB3226}"/>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2" name="Google Shape;452;p35:notes">
            <a:extLst>
              <a:ext uri="{FF2B5EF4-FFF2-40B4-BE49-F238E27FC236}">
                <a16:creationId xmlns:a16="http://schemas.microsoft.com/office/drawing/2014/main" id="{28C4D9A6-7C76-A681-ED4C-7B1DA49AFF5E}"/>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936864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38172DA3-DFD9-E168-517B-C3E6192E80B5}"/>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230230BB-F85E-DA70-A891-1467EC19F124}"/>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89725F19-BA93-F179-574E-F3EC21CBC44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2371900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0CD10267-A72A-54E1-57F9-18C45F46FDA5}"/>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72106DC1-FA23-01E7-F60E-7D0D5D0851C5}"/>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30AA2AC1-F0BA-DC70-C837-DD4F9F87B92D}"/>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3781251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5CBBBD0C-C0C6-EBEF-82F6-FA149EDA0C6E}"/>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13BD9216-1A83-001B-C379-B7980F592219}"/>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A76B1CF5-E37B-AABE-B3DF-66AD1FE739A2}"/>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7152061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6703C874-2927-EA1F-A6D3-2F8D188C71A9}"/>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F818EB23-DA8A-A1F4-A2D3-1D733B8E0851}"/>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3A3FF3B6-6B2C-A851-4EAA-3760BCE2CA4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313774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2F1BB4F3-2ADD-8292-39D0-260647FD054D}"/>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7B262524-3138-A6F5-CE16-BCD935035D52}"/>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EF659473-3F7F-EA8F-DFAF-BF71546DF96A}"/>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882479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AA06429E-C14A-BF85-1492-A56C8799D369}"/>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D50251F5-6E0E-F3CA-0E63-BB092914F801}"/>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8AB91AA2-CAA1-FF18-7892-4BC4CE7CE85F}"/>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296922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EE0F42D3-C94B-C8DF-5B42-7896E72EF743}"/>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DF54896C-B206-6790-E480-D13F8E9C143B}"/>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8F1910D8-0C3A-CD71-B4CB-821E8AB298B9}"/>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991263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0DDC7A63-5C0D-EFAD-56D8-B16D0E84C0BA}"/>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36F7CA0D-7D92-892D-0533-99ED73DF418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3A10963B-EDCF-446B-D8E9-FE32BDEE20C3}"/>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838143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59</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60</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a:extLst>
            <a:ext uri="{FF2B5EF4-FFF2-40B4-BE49-F238E27FC236}">
              <a16:creationId xmlns:a16="http://schemas.microsoft.com/office/drawing/2014/main" id="{F6E491FB-393E-FB99-89BC-A07EBA17E703}"/>
            </a:ext>
          </a:extLst>
        </p:cNvPr>
        <p:cNvGrpSpPr/>
        <p:nvPr/>
      </p:nvGrpSpPr>
      <p:grpSpPr>
        <a:xfrm>
          <a:off x="0" y="0"/>
          <a:ext cx="0" cy="0"/>
          <a:chOff x="0" y="0"/>
          <a:chExt cx="0" cy="0"/>
        </a:xfrm>
      </p:grpSpPr>
      <p:sp>
        <p:nvSpPr>
          <p:cNvPr id="511" name="Google Shape;511;p41:notes">
            <a:extLst>
              <a:ext uri="{FF2B5EF4-FFF2-40B4-BE49-F238E27FC236}">
                <a16:creationId xmlns:a16="http://schemas.microsoft.com/office/drawing/2014/main" id="{76D2F70E-4E83-C183-AC5A-40560FC86C67}"/>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a:extLst>
              <a:ext uri="{FF2B5EF4-FFF2-40B4-BE49-F238E27FC236}">
                <a16:creationId xmlns:a16="http://schemas.microsoft.com/office/drawing/2014/main" id="{8A38DE57-A197-6686-41DF-F9782C82BF3A}"/>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7649568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5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4" name="Google Shape;624;p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25" name="Google Shape;625;p5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s-CL" sz="1200" b="0" i="0" u="none" strike="noStrike" cap="none">
                <a:solidFill>
                  <a:srgbClr val="000000"/>
                </a:solidFill>
                <a:latin typeface="Calibri"/>
                <a:ea typeface="Calibri"/>
                <a:cs typeface="Calibri"/>
                <a:sym typeface="Calibri"/>
              </a:rPr>
              <a:t>62</a:t>
            </a:fld>
            <a:endParaRPr sz="1200" b="0" i="0" u="none" strike="noStrike" cap="none">
              <a:solidFill>
                <a:srgbClr val="000000"/>
              </a:solidFill>
              <a:latin typeface="Calibri"/>
              <a:ea typeface="Calibri"/>
              <a:cs typeface="Calibri"/>
              <a:sym typeface="Calibri"/>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a:extLst>
            <a:ext uri="{FF2B5EF4-FFF2-40B4-BE49-F238E27FC236}">
              <a16:creationId xmlns:a16="http://schemas.microsoft.com/office/drawing/2014/main" id="{F4E92A06-1476-0A30-0482-AD4253CFB62F}"/>
            </a:ext>
          </a:extLst>
        </p:cNvPr>
        <p:cNvGrpSpPr/>
        <p:nvPr/>
      </p:nvGrpSpPr>
      <p:grpSpPr>
        <a:xfrm>
          <a:off x="0" y="0"/>
          <a:ext cx="0" cy="0"/>
          <a:chOff x="0" y="0"/>
          <a:chExt cx="0" cy="0"/>
        </a:xfrm>
      </p:grpSpPr>
      <p:sp>
        <p:nvSpPr>
          <p:cNvPr id="486" name="Google Shape;486;p38:notes">
            <a:extLst>
              <a:ext uri="{FF2B5EF4-FFF2-40B4-BE49-F238E27FC236}">
                <a16:creationId xmlns:a16="http://schemas.microsoft.com/office/drawing/2014/main" id="{F6495F03-0AC8-88A5-2EB7-45FAE1723BD8}"/>
              </a:ext>
            </a:extLst>
          </p:cNvPr>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38:notes">
            <a:extLst>
              <a:ext uri="{FF2B5EF4-FFF2-40B4-BE49-F238E27FC236}">
                <a16:creationId xmlns:a16="http://schemas.microsoft.com/office/drawing/2014/main" id="{82B99D5C-99E9-7214-FAC7-7DE6D32E4EC2}"/>
              </a:ext>
            </a:extLst>
          </p:cNvPr>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6905212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3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7" name="Google Shape;487;p3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3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6" name="Google Shape;496;p3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4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4" name="Google Shape;504;p4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4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4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4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0" name="Google Shape;520;p4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4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8" name="Google Shape;528;p4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4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6" name="Google Shape;536;p4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p45: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4" name="Google Shape;544;p45: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p4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2" name="Google Shape;552;p46: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4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0" name="Google Shape;560;p4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6"/>
        <p:cNvGrpSpPr/>
        <p:nvPr/>
      </p:nvGrpSpPr>
      <p:grpSpPr>
        <a:xfrm>
          <a:off x="0" y="0"/>
          <a:ext cx="0" cy="0"/>
          <a:chOff x="0" y="0"/>
          <a:chExt cx="0" cy="0"/>
        </a:xfrm>
      </p:grpSpPr>
      <p:sp>
        <p:nvSpPr>
          <p:cNvPr id="567" name="Google Shape;567;p4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68" name="Google Shape;568;p48: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4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6" name="Google Shape;576;p4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50: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4" name="Google Shape;584;p50: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51: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2" name="Google Shape;592;p51: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52: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p52: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53: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8" name="Google Shape;608;p53: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p54: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16" name="Google Shape;616;p54: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56: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4" name="Google Shape;634;p56: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35000" y="914400"/>
            <a:ext cx="8128000" cy="4572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5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1" name="Google Shape;671;p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672" name="Google Shape;672;p5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s-CL" sz="1800">
                <a:solidFill>
                  <a:schemeClr val="dk1"/>
                </a:solidFill>
                <a:latin typeface="Calibri"/>
                <a:ea typeface="Calibri"/>
                <a:cs typeface="Calibri"/>
                <a:sym typeface="Calibri"/>
              </a:rPr>
              <a:t>85</a:t>
            </a:fld>
            <a:endParaRPr sz="1800">
              <a:solidFill>
                <a:schemeClr val="dk1"/>
              </a:solidFill>
              <a:latin typeface="Calibri"/>
              <a:ea typeface="Calibri"/>
              <a:cs typeface="Calibri"/>
              <a:sym typeface="Calibri"/>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58: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4" name="Google Shape;774;p58:notes"/>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p59: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92" name="Google Shape;792;p59: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6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06" name="Google Shape;806;p6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alibri"/>
              <a:ea typeface="Calibri"/>
              <a:cs typeface="Calibri"/>
              <a:sym typeface="Calibri"/>
            </a:endParaRPr>
          </a:p>
        </p:txBody>
      </p:sp>
      <p:sp>
        <p:nvSpPr>
          <p:cNvPr id="807" name="Google Shape;807;p6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fld id="{00000000-1234-1234-1234-123412341234}" type="slidenum">
              <a:rPr lang="es-CL" sz="1800" b="0" i="0" u="none" strike="noStrike" cap="none">
                <a:solidFill>
                  <a:srgbClr val="000000"/>
                </a:solidFill>
                <a:latin typeface="Calibri"/>
                <a:ea typeface="Calibri"/>
                <a:cs typeface="Calibri"/>
                <a:sym typeface="Calibri"/>
              </a:rPr>
              <a:t>88</a:t>
            </a:fld>
            <a:endParaRPr sz="1800" b="0" i="0" u="none" strike="noStrike" cap="non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image" Target="../media/image14.png"/><Relationship Id="rId1" Type="http://schemas.openxmlformats.org/officeDocument/2006/relationships/slideMaster" Target="../slideMasters/slideMaster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2.xml"/><Relationship Id="rId4" Type="http://schemas.openxmlformats.org/officeDocument/2006/relationships/image" Target="../media/image21.png"/></Relationships>
</file>

<file path=ppt/slideLayouts/_rels/slideLayout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Master" Target="../slideMasters/slideMaster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chart" Target="../charts/chart3.xml"/></Relationships>
</file>

<file path=ppt/slideLayouts/_rels/slideLayout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13.png"/><Relationship Id="rId1" Type="http://schemas.openxmlformats.org/officeDocument/2006/relationships/slideMaster" Target="../slideMasters/slideMaster2.xml"/><Relationship Id="rId6" Type="http://schemas.openxmlformats.org/officeDocument/2006/relationships/image" Target="../media/image12.png"/><Relationship Id="rId5" Type="http://schemas.openxmlformats.org/officeDocument/2006/relationships/chart" Target="../charts/chart6.xml"/><Relationship Id="rId4" Type="http://schemas.openxmlformats.org/officeDocument/2006/relationships/chart" Target="../charts/chart5.xml"/></Relationships>
</file>

<file path=ppt/slideLayouts/_rels/slideLayout1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5.png"/><Relationship Id="rId4" Type="http://schemas.openxmlformats.org/officeDocument/2006/relationships/chart" Target="../charts/chart9.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image" Target="../media/image22.png"/><Relationship Id="rId1" Type="http://schemas.openxmlformats.org/officeDocument/2006/relationships/slideMaster" Target="../slideMasters/slideMaster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Master" Target="../slideMasters/slideMaster2.xml"/><Relationship Id="rId4" Type="http://schemas.openxmlformats.org/officeDocument/2006/relationships/image" Target="../media/image32.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1_Diapositiva de título">
  <p:cSld name="1_Diapositiva de título">
    <p:spTree>
      <p:nvGrpSpPr>
        <p:cNvPr id="1" name="Shape 11"/>
        <p:cNvGrpSpPr/>
        <p:nvPr/>
      </p:nvGrpSpPr>
      <p:grpSpPr>
        <a:xfrm>
          <a:off x="0" y="0"/>
          <a:ext cx="0" cy="0"/>
          <a:chOff x="0" y="0"/>
          <a:chExt cx="0" cy="0"/>
        </a:xfrm>
      </p:grpSpPr>
      <p:sp>
        <p:nvSpPr>
          <p:cNvPr id="12" name="Google Shape;12;p62"/>
          <p:cNvSpPr/>
          <p:nvPr/>
        </p:nvSpPr>
        <p:spPr>
          <a:xfrm>
            <a:off x="0" y="4034798"/>
            <a:ext cx="12192000" cy="299652"/>
          </a:xfrm>
          <a:prstGeom prst="rect">
            <a:avLst/>
          </a:prstGeom>
          <a:solidFill>
            <a:srgbClr val="2C73BB"/>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3" name="Google Shape;13;p62"/>
          <p:cNvSpPr/>
          <p:nvPr/>
        </p:nvSpPr>
        <p:spPr>
          <a:xfrm>
            <a:off x="0" y="4316626"/>
            <a:ext cx="12192000" cy="115001"/>
          </a:xfrm>
          <a:prstGeom prst="rect">
            <a:avLst/>
          </a:prstGeom>
          <a:solidFill>
            <a:srgbClr val="47ADCF"/>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4" name="Google Shape;14;p62"/>
          <p:cNvSpPr/>
          <p:nvPr/>
        </p:nvSpPr>
        <p:spPr>
          <a:xfrm>
            <a:off x="0" y="6696026"/>
            <a:ext cx="12192000" cy="161974"/>
          </a:xfrm>
          <a:prstGeom prst="rect">
            <a:avLst/>
          </a:prstGeom>
          <a:solidFill>
            <a:srgbClr val="51A83D"/>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b="0" i="0" u="none" strike="noStrike" cap="none">
              <a:solidFill>
                <a:srgbClr val="33448D"/>
              </a:solidFill>
              <a:latin typeface="Arial"/>
              <a:ea typeface="Arial"/>
              <a:cs typeface="Arial"/>
              <a:sym typeface="Arial"/>
            </a:endParaRPr>
          </a:p>
        </p:txBody>
      </p:sp>
      <p:sp>
        <p:nvSpPr>
          <p:cNvPr id="15" name="Google Shape;15;p62"/>
          <p:cNvSpPr txBox="1">
            <a:spLocks noGrp="1"/>
          </p:cNvSpPr>
          <p:nvPr>
            <p:ph type="ctrTitle"/>
          </p:nvPr>
        </p:nvSpPr>
        <p:spPr>
          <a:xfrm>
            <a:off x="304554" y="1164614"/>
            <a:ext cx="9211492" cy="702104"/>
          </a:xfrm>
          <a:prstGeom prst="rect">
            <a:avLst/>
          </a:prstGeom>
          <a:solidFill>
            <a:schemeClr val="lt2">
              <a:alpha val="74118"/>
            </a:schemeClr>
          </a:solidFill>
          <a:ln>
            <a:noFill/>
          </a:ln>
        </p:spPr>
        <p:txBody>
          <a:bodyPr spcFirstLastPara="1" wrap="square" lIns="73325" tIns="73325" rIns="73325" bIns="73325" anchor="t" anchorCtr="0">
            <a:spAutoFit/>
          </a:bodyPr>
          <a:lstStyle>
            <a:lvl1pPr lvl="0" algn="l">
              <a:spcBef>
                <a:spcPts val="0"/>
              </a:spcBef>
              <a:spcAft>
                <a:spcPts val="0"/>
              </a:spcAft>
              <a:buSzPts val="1400"/>
              <a:buNone/>
              <a:defRPr sz="3600" b="0">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62"/>
          <p:cNvSpPr txBox="1">
            <a:spLocks noGrp="1"/>
          </p:cNvSpPr>
          <p:nvPr>
            <p:ph type="subTitle" idx="1"/>
          </p:nvPr>
        </p:nvSpPr>
        <p:spPr>
          <a:xfrm>
            <a:off x="961120" y="5044946"/>
            <a:ext cx="6714779"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600">
                <a:latin typeface="Calibri"/>
                <a:ea typeface="Calibri"/>
                <a:cs typeface="Calibri"/>
                <a:sym typeface="Calibri"/>
              </a:defRPr>
            </a:lvl1pPr>
            <a:lvl2pPr lvl="1" algn="l">
              <a:spcBef>
                <a:spcPts val="0"/>
              </a:spcBef>
              <a:spcAft>
                <a:spcPts val="0"/>
              </a:spcAft>
              <a:buSzPts val="2250"/>
              <a:buChar char="▪"/>
              <a:defRPr/>
            </a:lvl2pPr>
            <a:lvl3pPr lvl="2" algn="l">
              <a:spcBef>
                <a:spcPts val="0"/>
              </a:spcBef>
              <a:spcAft>
                <a:spcPts val="0"/>
              </a:spcAft>
              <a:buSzPts val="2160"/>
              <a:buChar char="–"/>
              <a:defRPr/>
            </a:lvl3pPr>
            <a:lvl4pPr lvl="3" algn="l">
              <a:spcBef>
                <a:spcPts val="0"/>
              </a:spcBef>
              <a:spcAft>
                <a:spcPts val="0"/>
              </a:spcAft>
              <a:buSzPts val="2160"/>
              <a:buChar char="▫"/>
              <a:defRPr/>
            </a:lvl4pPr>
            <a:lvl5pPr lvl="4" algn="l">
              <a:spcBef>
                <a:spcPts val="0"/>
              </a:spcBef>
              <a:spcAft>
                <a:spcPts val="0"/>
              </a:spcAft>
              <a:buSzPts val="1602"/>
              <a:buChar char="-"/>
              <a:defRPr/>
            </a:lvl5pPr>
            <a:lvl6pPr lvl="5" algn="l">
              <a:spcBef>
                <a:spcPts val="0"/>
              </a:spcBef>
              <a:spcAft>
                <a:spcPts val="0"/>
              </a:spcAft>
              <a:buSzPts val="1602"/>
              <a:buChar char="-"/>
              <a:defRPr/>
            </a:lvl6pPr>
            <a:lvl7pPr lvl="6" algn="l">
              <a:spcBef>
                <a:spcPts val="0"/>
              </a:spcBef>
              <a:spcAft>
                <a:spcPts val="0"/>
              </a:spcAft>
              <a:buSzPts val="1602"/>
              <a:buChar char="-"/>
              <a:defRPr/>
            </a:lvl7pPr>
            <a:lvl8pPr lvl="7" algn="l">
              <a:spcBef>
                <a:spcPts val="0"/>
              </a:spcBef>
              <a:spcAft>
                <a:spcPts val="0"/>
              </a:spcAft>
              <a:buSzPts val="1602"/>
              <a:buChar char="-"/>
              <a:defRPr/>
            </a:lvl8pPr>
            <a:lvl9pPr lvl="8" algn="l">
              <a:spcBef>
                <a:spcPts val="0"/>
              </a:spcBef>
              <a:spcAft>
                <a:spcPts val="0"/>
              </a:spcAft>
              <a:buSzPts val="1602"/>
              <a:buChar char="-"/>
              <a:defRPr/>
            </a:lvl9pPr>
          </a:lstStyle>
          <a:p>
            <a:endParaRPr/>
          </a:p>
        </p:txBody>
      </p:sp>
      <p:pic>
        <p:nvPicPr>
          <p:cNvPr id="17" name="Google Shape;17;p62"/>
          <p:cNvPicPr preferRelativeResize="0"/>
          <p:nvPr/>
        </p:nvPicPr>
        <p:blipFill rotWithShape="1">
          <a:blip r:embed="rId2">
            <a:alphaModFix/>
          </a:blip>
          <a:srcRect/>
          <a:stretch/>
        </p:blipFill>
        <p:spPr>
          <a:xfrm>
            <a:off x="10032438" y="2787731"/>
            <a:ext cx="1863983" cy="1235586"/>
          </a:xfrm>
          <a:prstGeom prst="rect">
            <a:avLst/>
          </a:prstGeom>
          <a:noFill/>
          <a:ln>
            <a:noFill/>
          </a:ln>
        </p:spPr>
      </p:pic>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Diapositiva de título">
  <p:cSld name="Diapositiva de título">
    <p:spTree>
      <p:nvGrpSpPr>
        <p:cNvPr id="1" name="Shape 18"/>
        <p:cNvGrpSpPr/>
        <p:nvPr/>
      </p:nvGrpSpPr>
      <p:grpSpPr>
        <a:xfrm>
          <a:off x="0" y="0"/>
          <a:ext cx="0" cy="0"/>
          <a:chOff x="0" y="0"/>
          <a:chExt cx="0" cy="0"/>
        </a:xfrm>
      </p:grpSpPr>
      <p:sp>
        <p:nvSpPr>
          <p:cNvPr id="19" name="Google Shape;19;p87"/>
          <p:cNvSpPr/>
          <p:nvPr/>
        </p:nvSpPr>
        <p:spPr>
          <a:xfrm>
            <a:off x="0" y="4034798"/>
            <a:ext cx="12192000" cy="299652"/>
          </a:xfrm>
          <a:prstGeom prst="rect">
            <a:avLst/>
          </a:prstGeom>
          <a:solidFill>
            <a:srgbClr val="2C73BB"/>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sp>
        <p:nvSpPr>
          <p:cNvPr id="20" name="Google Shape;20;p87"/>
          <p:cNvSpPr/>
          <p:nvPr/>
        </p:nvSpPr>
        <p:spPr>
          <a:xfrm>
            <a:off x="0" y="4316626"/>
            <a:ext cx="12192000" cy="115001"/>
          </a:xfrm>
          <a:prstGeom prst="rect">
            <a:avLst/>
          </a:prstGeom>
          <a:solidFill>
            <a:srgbClr val="47ADCF"/>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sp>
        <p:nvSpPr>
          <p:cNvPr id="21" name="Google Shape;21;p87"/>
          <p:cNvSpPr/>
          <p:nvPr/>
        </p:nvSpPr>
        <p:spPr>
          <a:xfrm>
            <a:off x="0" y="6696026"/>
            <a:ext cx="12192000" cy="161974"/>
          </a:xfrm>
          <a:prstGeom prst="rect">
            <a:avLst/>
          </a:prstGeom>
          <a:solidFill>
            <a:srgbClr val="51A83D"/>
          </a:solidFill>
          <a:ln>
            <a:noFill/>
          </a:ln>
        </p:spPr>
        <p:txBody>
          <a:bodyPr spcFirstLastPara="1" wrap="square" lIns="93125" tIns="46550" rIns="93125" bIns="46550" anchor="t" anchorCtr="0">
            <a:noAutofit/>
          </a:bodyPr>
          <a:lstStyle/>
          <a:p>
            <a:pPr marL="0" marR="0" lvl="0" indent="0" algn="l" rtl="0">
              <a:spcBef>
                <a:spcPts val="0"/>
              </a:spcBef>
              <a:spcAft>
                <a:spcPts val="0"/>
              </a:spcAft>
              <a:buNone/>
            </a:pPr>
            <a:endParaRPr sz="1600">
              <a:solidFill>
                <a:srgbClr val="33448D"/>
              </a:solidFill>
              <a:latin typeface="Arial"/>
              <a:ea typeface="Arial"/>
              <a:cs typeface="Arial"/>
              <a:sym typeface="Arial"/>
            </a:endParaRPr>
          </a:p>
        </p:txBody>
      </p:sp>
      <p:pic>
        <p:nvPicPr>
          <p:cNvPr id="22" name="Google Shape;22;p87"/>
          <p:cNvPicPr preferRelativeResize="0"/>
          <p:nvPr/>
        </p:nvPicPr>
        <p:blipFill rotWithShape="1">
          <a:blip r:embed="rId2">
            <a:alphaModFix/>
          </a:blip>
          <a:srcRect/>
          <a:stretch/>
        </p:blipFill>
        <p:spPr>
          <a:xfrm>
            <a:off x="2376597" y="5048676"/>
            <a:ext cx="2223747" cy="766810"/>
          </a:xfrm>
          <a:prstGeom prst="rect">
            <a:avLst/>
          </a:prstGeom>
          <a:noFill/>
          <a:ln>
            <a:noFill/>
          </a:ln>
        </p:spPr>
      </p:pic>
      <p:pic>
        <p:nvPicPr>
          <p:cNvPr id="23" name="Google Shape;23;p87"/>
          <p:cNvPicPr preferRelativeResize="0"/>
          <p:nvPr/>
        </p:nvPicPr>
        <p:blipFill rotWithShape="1">
          <a:blip r:embed="rId3">
            <a:alphaModFix/>
          </a:blip>
          <a:srcRect/>
          <a:stretch/>
        </p:blipFill>
        <p:spPr>
          <a:xfrm>
            <a:off x="7752184" y="5188802"/>
            <a:ext cx="1744452" cy="486559"/>
          </a:xfrm>
          <a:prstGeom prst="rect">
            <a:avLst/>
          </a:prstGeom>
          <a:noFill/>
          <a:ln>
            <a:noFill/>
          </a:ln>
        </p:spPr>
      </p:pic>
      <p:pic>
        <p:nvPicPr>
          <p:cNvPr id="24" name="Google Shape;24;p87"/>
          <p:cNvPicPr preferRelativeResize="0"/>
          <p:nvPr/>
        </p:nvPicPr>
        <p:blipFill rotWithShape="1">
          <a:blip r:embed="rId4">
            <a:alphaModFix/>
          </a:blip>
          <a:srcRect/>
          <a:stretch/>
        </p:blipFill>
        <p:spPr>
          <a:xfrm>
            <a:off x="5441133" y="4906988"/>
            <a:ext cx="1470262" cy="1050187"/>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5"/>
        <p:cNvGrpSpPr/>
        <p:nvPr/>
      </p:nvGrpSpPr>
      <p:grpSpPr>
        <a:xfrm>
          <a:off x="0" y="0"/>
          <a:ext cx="0" cy="0"/>
          <a:chOff x="0" y="0"/>
          <a:chExt cx="0" cy="0"/>
        </a:xfrm>
      </p:grpSpPr>
      <p:sp>
        <p:nvSpPr>
          <p:cNvPr id="26" name="Google Shape;26;p88"/>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88"/>
          <p:cNvSpPr txBox="1"/>
          <p:nvPr/>
        </p:nvSpPr>
        <p:spPr>
          <a:xfrm>
            <a:off x="11443317" y="506027"/>
            <a:ext cx="0" cy="0"/>
          </a:xfrm>
          <a:prstGeom prst="rect">
            <a:avLst/>
          </a:prstGeom>
          <a:solidFill>
            <a:schemeClr val="lt1"/>
          </a:solidFill>
          <a:ln w="9525" cap="flat" cmpd="sng">
            <a:solidFill>
              <a:schemeClr val="accent1"/>
            </a:solidFill>
            <a:prstDash val="solid"/>
            <a:miter lim="8000"/>
            <a:headEnd type="none" w="sm" len="sm"/>
            <a:tailEnd type="none" w="sm" len="sm"/>
          </a:ln>
        </p:spPr>
        <p:txBody>
          <a:bodyPr spcFirstLastPara="1" wrap="square" lIns="72000" tIns="72000" rIns="72000" bIns="72000" anchor="t" anchorCtr="0">
            <a:noAutofit/>
          </a:bodyPr>
          <a:lstStyle/>
          <a:p>
            <a:pPr marL="1587"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ólo el título">
  <p:cSld name="Sólo el título">
    <p:spTree>
      <p:nvGrpSpPr>
        <p:cNvPr id="1" name="Shape 28"/>
        <p:cNvGrpSpPr/>
        <p:nvPr/>
      </p:nvGrpSpPr>
      <p:grpSpPr>
        <a:xfrm>
          <a:off x="0" y="0"/>
          <a:ext cx="0" cy="0"/>
          <a:chOff x="0" y="0"/>
          <a:chExt cx="0" cy="0"/>
        </a:xfrm>
      </p:grpSpPr>
      <p:sp>
        <p:nvSpPr>
          <p:cNvPr id="29" name="Google Shape;29;p89"/>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0"/>
        <p:cNvGrpSpPr/>
        <p:nvPr/>
      </p:nvGrpSpPr>
      <p:grpSpPr>
        <a:xfrm>
          <a:off x="0" y="0"/>
          <a:ext cx="0" cy="0"/>
          <a:chOff x="0" y="0"/>
          <a:chExt cx="0" cy="0"/>
        </a:xfrm>
      </p:grpSpPr>
      <p:sp>
        <p:nvSpPr>
          <p:cNvPr id="31" name="Google Shape;31;p90"/>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0"/>
          <p:cNvSpPr txBox="1">
            <a:spLocks noGrp="1"/>
          </p:cNvSpPr>
          <p:nvPr>
            <p:ph type="body" idx="1"/>
          </p:nvPr>
        </p:nvSpPr>
        <p:spPr>
          <a:xfrm>
            <a:off x="719403" y="1694212"/>
            <a:ext cx="5853024" cy="1354217"/>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371475" algn="l">
              <a:spcBef>
                <a:spcPts val="0"/>
              </a:spcBef>
              <a:spcAft>
                <a:spcPts val="0"/>
              </a:spcAft>
              <a:buSzPts val="2250"/>
              <a:buChar char="▪"/>
              <a:defRPr/>
            </a:lvl2pPr>
            <a:lvl3pPr marL="1371600" lvl="2" indent="-365760" algn="l">
              <a:spcBef>
                <a:spcPts val="0"/>
              </a:spcBef>
              <a:spcAft>
                <a:spcPts val="0"/>
              </a:spcAft>
              <a:buSzPts val="2160"/>
              <a:buChar char="–"/>
              <a:defRPr/>
            </a:lvl3pPr>
            <a:lvl4pPr marL="1828800" lvl="3" indent="-365760" algn="l">
              <a:spcBef>
                <a:spcPts val="0"/>
              </a:spcBef>
              <a:spcAft>
                <a:spcPts val="0"/>
              </a:spcAft>
              <a:buSzPts val="2160"/>
              <a:buChar char="▫"/>
              <a:defRPr/>
            </a:lvl4pPr>
            <a:lvl5pPr marL="2286000" lvl="4" indent="-330327" algn="l">
              <a:spcBef>
                <a:spcPts val="0"/>
              </a:spcBef>
              <a:spcAft>
                <a:spcPts val="0"/>
              </a:spcAft>
              <a:buSzPts val="1602"/>
              <a:buChar char="-"/>
              <a:defRPr/>
            </a:lvl5pPr>
            <a:lvl6pPr marL="2743200" lvl="5" indent="-330327" algn="l">
              <a:spcBef>
                <a:spcPts val="0"/>
              </a:spcBef>
              <a:spcAft>
                <a:spcPts val="0"/>
              </a:spcAft>
              <a:buSzPts val="1602"/>
              <a:buChar char="-"/>
              <a:defRPr/>
            </a:lvl6pPr>
            <a:lvl7pPr marL="3200400" lvl="6" indent="-330327" algn="l">
              <a:spcBef>
                <a:spcPts val="0"/>
              </a:spcBef>
              <a:spcAft>
                <a:spcPts val="0"/>
              </a:spcAft>
              <a:buSzPts val="1602"/>
              <a:buChar char="-"/>
              <a:defRPr/>
            </a:lvl7pPr>
            <a:lvl8pPr marL="3657600" lvl="7" indent="-330327" algn="l">
              <a:spcBef>
                <a:spcPts val="0"/>
              </a:spcBef>
              <a:spcAft>
                <a:spcPts val="0"/>
              </a:spcAft>
              <a:buSzPts val="1602"/>
              <a:buChar char="-"/>
              <a:defRPr/>
            </a:lvl8pPr>
            <a:lvl9pPr marL="4114800" lvl="8" indent="-330327" algn="l">
              <a:spcBef>
                <a:spcPts val="0"/>
              </a:spcBef>
              <a:spcAft>
                <a:spcPts val="0"/>
              </a:spcAft>
              <a:buSzPts val="1602"/>
              <a:buChar char="-"/>
              <a:defRPr/>
            </a:lvl9pPr>
          </a:lstStyle>
          <a:p>
            <a:endParaRPr/>
          </a:p>
        </p:txBody>
      </p:sp>
      <p:sp>
        <p:nvSpPr>
          <p:cNvPr id="33" name="Google Shape;33;p9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4" name="Google Shape;34;p9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35" name="Google Shape;35;p9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1800">
                <a:solidFill>
                  <a:srgbClr val="33448D"/>
                </a:solidFill>
                <a:latin typeface="Arial"/>
                <a:ea typeface="Arial"/>
                <a:cs typeface="Arial"/>
                <a:sym typeface="Arial"/>
              </a:defRPr>
            </a:lvl1pPr>
            <a:lvl2pPr marL="0" marR="0" lvl="1" indent="0" algn="l" rtl="0">
              <a:spcBef>
                <a:spcPts val="0"/>
              </a:spcBef>
              <a:buNone/>
              <a:defRPr sz="1800">
                <a:solidFill>
                  <a:srgbClr val="33448D"/>
                </a:solidFill>
                <a:latin typeface="Arial"/>
                <a:ea typeface="Arial"/>
                <a:cs typeface="Arial"/>
                <a:sym typeface="Arial"/>
              </a:defRPr>
            </a:lvl2pPr>
            <a:lvl3pPr marL="0" marR="0" lvl="2" indent="0" algn="l" rtl="0">
              <a:spcBef>
                <a:spcPts val="0"/>
              </a:spcBef>
              <a:buNone/>
              <a:defRPr sz="1800">
                <a:solidFill>
                  <a:srgbClr val="33448D"/>
                </a:solidFill>
                <a:latin typeface="Arial"/>
                <a:ea typeface="Arial"/>
                <a:cs typeface="Arial"/>
                <a:sym typeface="Arial"/>
              </a:defRPr>
            </a:lvl3pPr>
            <a:lvl4pPr marL="0" marR="0" lvl="3" indent="0" algn="l" rtl="0">
              <a:spcBef>
                <a:spcPts val="0"/>
              </a:spcBef>
              <a:buNone/>
              <a:defRPr sz="1800">
                <a:solidFill>
                  <a:srgbClr val="33448D"/>
                </a:solidFill>
                <a:latin typeface="Arial"/>
                <a:ea typeface="Arial"/>
                <a:cs typeface="Arial"/>
                <a:sym typeface="Arial"/>
              </a:defRPr>
            </a:lvl4pPr>
            <a:lvl5pPr marL="0" marR="0" lvl="4" indent="0" algn="l" rtl="0">
              <a:spcBef>
                <a:spcPts val="0"/>
              </a:spcBef>
              <a:buNone/>
              <a:defRPr sz="1800">
                <a:solidFill>
                  <a:srgbClr val="33448D"/>
                </a:solidFill>
                <a:latin typeface="Arial"/>
                <a:ea typeface="Arial"/>
                <a:cs typeface="Arial"/>
                <a:sym typeface="Arial"/>
              </a:defRPr>
            </a:lvl5pPr>
            <a:lvl6pPr marL="0" marR="0" lvl="5" indent="0" algn="l" rtl="0">
              <a:spcBef>
                <a:spcPts val="0"/>
              </a:spcBef>
              <a:buNone/>
              <a:defRPr sz="1800">
                <a:solidFill>
                  <a:srgbClr val="33448D"/>
                </a:solidFill>
                <a:latin typeface="Arial"/>
                <a:ea typeface="Arial"/>
                <a:cs typeface="Arial"/>
                <a:sym typeface="Arial"/>
              </a:defRPr>
            </a:lvl6pPr>
            <a:lvl7pPr marL="0" marR="0" lvl="6" indent="0" algn="l" rtl="0">
              <a:spcBef>
                <a:spcPts val="0"/>
              </a:spcBef>
              <a:buNone/>
              <a:defRPr sz="1800">
                <a:solidFill>
                  <a:srgbClr val="33448D"/>
                </a:solidFill>
                <a:latin typeface="Arial"/>
                <a:ea typeface="Arial"/>
                <a:cs typeface="Arial"/>
                <a:sym typeface="Arial"/>
              </a:defRPr>
            </a:lvl7pPr>
            <a:lvl8pPr marL="0" marR="0" lvl="7" indent="0" algn="l" rtl="0">
              <a:spcBef>
                <a:spcPts val="0"/>
              </a:spcBef>
              <a:buNone/>
              <a:defRPr sz="1800">
                <a:solidFill>
                  <a:srgbClr val="33448D"/>
                </a:solidFill>
                <a:latin typeface="Arial"/>
                <a:ea typeface="Arial"/>
                <a:cs typeface="Arial"/>
                <a:sym typeface="Arial"/>
              </a:defRPr>
            </a:lvl8pPr>
            <a:lvl9pPr marL="0" marR="0" lvl="8" indent="0" algn="l" rtl="0">
              <a:spcBef>
                <a:spcPts val="0"/>
              </a:spcBef>
              <a:buNone/>
              <a:defRPr sz="1800">
                <a:solidFill>
                  <a:srgbClr val="33448D"/>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s-CL"/>
              <a:t>‹Nº›</a:t>
            </a:fld>
            <a:endParaRPr/>
          </a:p>
        </p:txBody>
      </p:sp>
    </p:spTree>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ítulo y objetos" type="obj">
  <p:cSld name="OBJECT">
    <p:bg>
      <p:bgPr>
        <a:solidFill>
          <a:schemeClr val="dk1"/>
        </a:solidFill>
        <a:effectLst/>
      </p:bgPr>
    </p:bg>
    <p:spTree>
      <p:nvGrpSpPr>
        <p:cNvPr id="1" name="Shape 42"/>
        <p:cNvGrpSpPr/>
        <p:nvPr/>
      </p:nvGrpSpPr>
      <p:grpSpPr>
        <a:xfrm>
          <a:off x="0" y="0"/>
          <a:ext cx="0" cy="0"/>
          <a:chOff x="0" y="0"/>
          <a:chExt cx="0" cy="0"/>
        </a:xfrm>
      </p:grpSpPr>
      <p:sp>
        <p:nvSpPr>
          <p:cNvPr id="43" name="Google Shape;43;p64"/>
          <p:cNvSpPr txBox="1">
            <a:spLocks noGrp="1"/>
          </p:cNvSpPr>
          <p:nvPr>
            <p:ph type="title"/>
          </p:nvPr>
        </p:nvSpPr>
        <p:spPr>
          <a:xfrm>
            <a:off x="330200" y="227185"/>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1"/>
              </a:buClr>
              <a:buSzPts val="1600"/>
              <a:buFont typeface="Play"/>
              <a:buNone/>
              <a:defRPr sz="1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4"/>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lt2"/>
              </a:buClr>
              <a:buSzPts val="1600"/>
              <a:buChar char="•"/>
              <a:defRPr>
                <a:solidFill>
                  <a:schemeClr val="lt2"/>
                </a:solidFill>
              </a:defRPr>
            </a:lvl1pPr>
            <a:lvl2pPr marL="914400" lvl="1" indent="-317500" algn="l">
              <a:lnSpc>
                <a:spcPct val="90000"/>
              </a:lnSpc>
              <a:spcBef>
                <a:spcPts val="500"/>
              </a:spcBef>
              <a:spcAft>
                <a:spcPts val="0"/>
              </a:spcAft>
              <a:buClr>
                <a:schemeClr val="lt2"/>
              </a:buClr>
              <a:buSzPts val="1400"/>
              <a:buChar char="•"/>
              <a:defRPr>
                <a:solidFill>
                  <a:schemeClr val="lt2"/>
                </a:solidFill>
              </a:defRPr>
            </a:lvl2pPr>
            <a:lvl3pPr marL="1371600" lvl="2" indent="-317500" algn="l">
              <a:lnSpc>
                <a:spcPct val="90000"/>
              </a:lnSpc>
              <a:spcBef>
                <a:spcPts val="500"/>
              </a:spcBef>
              <a:spcAft>
                <a:spcPts val="0"/>
              </a:spcAft>
              <a:buClr>
                <a:schemeClr val="lt2"/>
              </a:buClr>
              <a:buSzPts val="1400"/>
              <a:buChar char="•"/>
              <a:defRPr>
                <a:solidFill>
                  <a:schemeClr val="lt2"/>
                </a:solidFill>
              </a:defRPr>
            </a:lvl3pPr>
            <a:lvl4pPr marL="1828800" lvl="3" indent="-317500" algn="l">
              <a:lnSpc>
                <a:spcPct val="90000"/>
              </a:lnSpc>
              <a:spcBef>
                <a:spcPts val="500"/>
              </a:spcBef>
              <a:spcAft>
                <a:spcPts val="0"/>
              </a:spcAft>
              <a:buClr>
                <a:schemeClr val="lt2"/>
              </a:buClr>
              <a:buSzPts val="1400"/>
              <a:buChar char="•"/>
              <a:defRPr>
                <a:solidFill>
                  <a:schemeClr val="lt2"/>
                </a:solidFill>
              </a:defRPr>
            </a:lvl4pPr>
            <a:lvl5pPr marL="2286000" lvl="4" indent="-317500" algn="l">
              <a:lnSpc>
                <a:spcPct val="90000"/>
              </a:lnSpc>
              <a:spcBef>
                <a:spcPts val="500"/>
              </a:spcBef>
              <a:spcAft>
                <a:spcPts val="0"/>
              </a:spcAft>
              <a:buClr>
                <a:schemeClr val="lt2"/>
              </a:buClr>
              <a:buSzPts val="1400"/>
              <a:buChar char="•"/>
              <a:defRPr>
                <a:solidFill>
                  <a:schemeClr val="l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chemeClr val="lt1"/>
                </a:solidFill>
                <a:latin typeface="Arial"/>
                <a:ea typeface="Arial"/>
                <a:cs typeface="Arial"/>
                <a:sym typeface="Arial"/>
              </a:defRPr>
            </a:lvl1pPr>
            <a:lvl2pPr marL="0" lvl="1" indent="0" algn="r">
              <a:spcBef>
                <a:spcPts val="0"/>
              </a:spcBef>
              <a:buNone/>
              <a:defRPr sz="1200" b="0" i="0" u="none" strike="noStrike" cap="none">
                <a:solidFill>
                  <a:schemeClr val="lt1"/>
                </a:solidFill>
                <a:latin typeface="Arial"/>
                <a:ea typeface="Arial"/>
                <a:cs typeface="Arial"/>
                <a:sym typeface="Arial"/>
              </a:defRPr>
            </a:lvl2pPr>
            <a:lvl3pPr marL="0" lvl="2" indent="0" algn="r">
              <a:spcBef>
                <a:spcPts val="0"/>
              </a:spcBef>
              <a:buNone/>
              <a:defRPr sz="1200" b="0" i="0" u="none" strike="noStrike" cap="none">
                <a:solidFill>
                  <a:schemeClr val="lt1"/>
                </a:solidFill>
                <a:latin typeface="Arial"/>
                <a:ea typeface="Arial"/>
                <a:cs typeface="Arial"/>
                <a:sym typeface="Arial"/>
              </a:defRPr>
            </a:lvl3pPr>
            <a:lvl4pPr marL="0" lvl="3" indent="0" algn="r">
              <a:spcBef>
                <a:spcPts val="0"/>
              </a:spcBef>
              <a:buNone/>
              <a:defRPr sz="1200" b="0" i="0" u="none" strike="noStrike" cap="none">
                <a:solidFill>
                  <a:schemeClr val="lt1"/>
                </a:solidFill>
                <a:latin typeface="Arial"/>
                <a:ea typeface="Arial"/>
                <a:cs typeface="Arial"/>
                <a:sym typeface="Arial"/>
              </a:defRPr>
            </a:lvl4pPr>
            <a:lvl5pPr marL="0" lvl="4" indent="0" algn="r">
              <a:spcBef>
                <a:spcPts val="0"/>
              </a:spcBef>
              <a:buNone/>
              <a:defRPr sz="1200" b="0" i="0" u="none" strike="noStrike" cap="none">
                <a:solidFill>
                  <a:schemeClr val="lt1"/>
                </a:solidFill>
                <a:latin typeface="Arial"/>
                <a:ea typeface="Arial"/>
                <a:cs typeface="Arial"/>
                <a:sym typeface="Arial"/>
              </a:defRPr>
            </a:lvl5pPr>
            <a:lvl6pPr marL="0" lvl="5" indent="0" algn="r">
              <a:spcBef>
                <a:spcPts val="0"/>
              </a:spcBef>
              <a:buNone/>
              <a:defRPr sz="1200" b="0" i="0" u="none" strike="noStrike" cap="none">
                <a:solidFill>
                  <a:schemeClr val="lt1"/>
                </a:solidFill>
                <a:latin typeface="Arial"/>
                <a:ea typeface="Arial"/>
                <a:cs typeface="Arial"/>
                <a:sym typeface="Arial"/>
              </a:defRPr>
            </a:lvl6pPr>
            <a:lvl7pPr marL="0" lvl="6" indent="0" algn="r">
              <a:spcBef>
                <a:spcPts val="0"/>
              </a:spcBef>
              <a:buNone/>
              <a:defRPr sz="1200" b="0" i="0" u="none" strike="noStrike" cap="none">
                <a:solidFill>
                  <a:schemeClr val="lt1"/>
                </a:solidFill>
                <a:latin typeface="Arial"/>
                <a:ea typeface="Arial"/>
                <a:cs typeface="Arial"/>
                <a:sym typeface="Arial"/>
              </a:defRPr>
            </a:lvl7pPr>
            <a:lvl8pPr marL="0" lvl="7" indent="0" algn="r">
              <a:spcBef>
                <a:spcPts val="0"/>
              </a:spcBef>
              <a:buNone/>
              <a:defRPr sz="1200" b="0" i="0" u="none" strike="noStrike" cap="none">
                <a:solidFill>
                  <a:schemeClr val="lt1"/>
                </a:solidFill>
                <a:latin typeface="Arial"/>
                <a:ea typeface="Arial"/>
                <a:cs typeface="Arial"/>
                <a:sym typeface="Arial"/>
              </a:defRPr>
            </a:lvl8pPr>
            <a:lvl9pPr marL="0" lvl="8" indent="0" algn="r">
              <a:spcBef>
                <a:spcPts val="0"/>
              </a:spcBef>
              <a:buNone/>
              <a:defRPr sz="12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46" name="Google Shape;46;p64"/>
          <p:cNvSpPr/>
          <p:nvPr/>
        </p:nvSpPr>
        <p:spPr>
          <a:xfrm>
            <a:off x="0" y="716439"/>
            <a:ext cx="12192000" cy="54000"/>
          </a:xfrm>
          <a:prstGeom prst="rect">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2"/>
              </a:solidFill>
              <a:latin typeface="Arial"/>
              <a:ea typeface="Arial"/>
              <a:cs typeface="Arial"/>
              <a:sym typeface="Arial"/>
            </a:endParaRPr>
          </a:p>
        </p:txBody>
      </p:sp>
      <p:pic>
        <p:nvPicPr>
          <p:cNvPr id="47" name="Google Shape;47;p64" descr="Logotipo&#10;&#10;Descripción generada automáticamente con confianza media"/>
          <p:cNvPicPr preferRelativeResize="0"/>
          <p:nvPr/>
        </p:nvPicPr>
        <p:blipFill rotWithShape="1">
          <a:blip r:embed="rId2">
            <a:alphaModFix/>
          </a:blip>
          <a:srcRect/>
          <a:stretch/>
        </p:blipFill>
        <p:spPr>
          <a:xfrm>
            <a:off x="330200" y="6399764"/>
            <a:ext cx="1223729" cy="278296"/>
          </a:xfrm>
          <a:prstGeom prst="rect">
            <a:avLst/>
          </a:prstGeom>
          <a:noFill/>
          <a:ln>
            <a:noFill/>
          </a:ln>
        </p:spPr>
      </p:pic>
      <p:pic>
        <p:nvPicPr>
          <p:cNvPr id="48" name="Google Shape;48;p64" descr="Logotipo&#10;&#10;Descripción generada automáticamente con confianza media"/>
          <p:cNvPicPr preferRelativeResize="0"/>
          <p:nvPr/>
        </p:nvPicPr>
        <p:blipFill rotWithShape="1">
          <a:blip r:embed="rId3">
            <a:alphaModFix/>
          </a:blip>
          <a:srcRect/>
          <a:stretch/>
        </p:blipFill>
        <p:spPr>
          <a:xfrm>
            <a:off x="11415224" y="126683"/>
            <a:ext cx="471976" cy="472749"/>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Diapositiva de título" type="title">
  <p:cSld name="TITLE">
    <p:bg>
      <p:bgPr>
        <a:solidFill>
          <a:schemeClr val="dk1"/>
        </a:solidFill>
        <a:effectLst/>
      </p:bgPr>
    </p:bg>
    <p:spTree>
      <p:nvGrpSpPr>
        <p:cNvPr id="1" name="Shape 49"/>
        <p:cNvGrpSpPr/>
        <p:nvPr/>
      </p:nvGrpSpPr>
      <p:grpSpPr>
        <a:xfrm>
          <a:off x="0" y="0"/>
          <a:ext cx="0" cy="0"/>
          <a:chOff x="0" y="0"/>
          <a:chExt cx="0" cy="0"/>
        </a:xfrm>
      </p:grpSpPr>
      <p:sp>
        <p:nvSpPr>
          <p:cNvPr id="50" name="Google Shape;50;p65"/>
          <p:cNvSpPr txBox="1">
            <a:spLocks noGrp="1"/>
          </p:cNvSpPr>
          <p:nvPr>
            <p:ph type="ctrTitle"/>
          </p:nvPr>
        </p:nvSpPr>
        <p:spPr>
          <a:xfrm>
            <a:off x="838200" y="1887763"/>
            <a:ext cx="4091609" cy="129208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4400"/>
              <a:buFont typeface="Play"/>
              <a:buNone/>
              <a:defRPr sz="44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65"/>
          <p:cNvSpPr txBox="1">
            <a:spLocks noGrp="1"/>
          </p:cNvSpPr>
          <p:nvPr>
            <p:ph type="subTitle" idx="1"/>
          </p:nvPr>
        </p:nvSpPr>
        <p:spPr>
          <a:xfrm>
            <a:off x="838200" y="3300756"/>
            <a:ext cx="9144000" cy="30404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2"/>
              </a:buClr>
              <a:buSzPts val="1600"/>
              <a:buNone/>
              <a:defRPr sz="1600" i="1">
                <a:solidFill>
                  <a:schemeClr val="lt2"/>
                </a:solidFil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52" name="Google Shape;52;p65"/>
          <p:cNvSpPr txBox="1">
            <a:spLocks noGrp="1"/>
          </p:cNvSpPr>
          <p:nvPr>
            <p:ph type="dt" idx="10"/>
          </p:nvPr>
        </p:nvSpPr>
        <p:spPr>
          <a:xfrm>
            <a:off x="9585434" y="5080092"/>
            <a:ext cx="1263869" cy="44288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lt2"/>
                </a:solidFill>
                <a:latin typeface="Arial"/>
                <a:ea typeface="Arial"/>
                <a:cs typeface="Arial"/>
                <a:sym typeface="Arial"/>
              </a:defRPr>
            </a:lvl1pPr>
            <a:lvl2pPr marL="0" lvl="1" indent="0" algn="r">
              <a:spcBef>
                <a:spcPts val="0"/>
              </a:spcBef>
              <a:buNone/>
              <a:defRPr sz="1200">
                <a:solidFill>
                  <a:schemeClr val="lt2"/>
                </a:solidFill>
                <a:latin typeface="Arial"/>
                <a:ea typeface="Arial"/>
                <a:cs typeface="Arial"/>
                <a:sym typeface="Arial"/>
              </a:defRPr>
            </a:lvl2pPr>
            <a:lvl3pPr marL="0" lvl="2" indent="0" algn="r">
              <a:spcBef>
                <a:spcPts val="0"/>
              </a:spcBef>
              <a:buNone/>
              <a:defRPr sz="1200">
                <a:solidFill>
                  <a:schemeClr val="lt2"/>
                </a:solidFill>
                <a:latin typeface="Arial"/>
                <a:ea typeface="Arial"/>
                <a:cs typeface="Arial"/>
                <a:sym typeface="Arial"/>
              </a:defRPr>
            </a:lvl3pPr>
            <a:lvl4pPr marL="0" lvl="3" indent="0" algn="r">
              <a:spcBef>
                <a:spcPts val="0"/>
              </a:spcBef>
              <a:buNone/>
              <a:defRPr sz="1200">
                <a:solidFill>
                  <a:schemeClr val="lt2"/>
                </a:solidFill>
                <a:latin typeface="Arial"/>
                <a:ea typeface="Arial"/>
                <a:cs typeface="Arial"/>
                <a:sym typeface="Arial"/>
              </a:defRPr>
            </a:lvl4pPr>
            <a:lvl5pPr marL="0" lvl="4" indent="0" algn="r">
              <a:spcBef>
                <a:spcPts val="0"/>
              </a:spcBef>
              <a:buNone/>
              <a:defRPr sz="1200">
                <a:solidFill>
                  <a:schemeClr val="lt2"/>
                </a:solidFill>
                <a:latin typeface="Arial"/>
                <a:ea typeface="Arial"/>
                <a:cs typeface="Arial"/>
                <a:sym typeface="Arial"/>
              </a:defRPr>
            </a:lvl5pPr>
            <a:lvl6pPr marL="0" lvl="5" indent="0" algn="r">
              <a:spcBef>
                <a:spcPts val="0"/>
              </a:spcBef>
              <a:buNone/>
              <a:defRPr sz="1200">
                <a:solidFill>
                  <a:schemeClr val="lt2"/>
                </a:solidFill>
                <a:latin typeface="Arial"/>
                <a:ea typeface="Arial"/>
                <a:cs typeface="Arial"/>
                <a:sym typeface="Arial"/>
              </a:defRPr>
            </a:lvl6pPr>
            <a:lvl7pPr marL="0" lvl="6" indent="0" algn="r">
              <a:spcBef>
                <a:spcPts val="0"/>
              </a:spcBef>
              <a:buNone/>
              <a:defRPr sz="1200">
                <a:solidFill>
                  <a:schemeClr val="lt2"/>
                </a:solidFill>
                <a:latin typeface="Arial"/>
                <a:ea typeface="Arial"/>
                <a:cs typeface="Arial"/>
                <a:sym typeface="Arial"/>
              </a:defRPr>
            </a:lvl7pPr>
            <a:lvl8pPr marL="0" lvl="7" indent="0" algn="r">
              <a:spcBef>
                <a:spcPts val="0"/>
              </a:spcBef>
              <a:buNone/>
              <a:defRPr sz="1200">
                <a:solidFill>
                  <a:schemeClr val="lt2"/>
                </a:solidFill>
                <a:latin typeface="Arial"/>
                <a:ea typeface="Arial"/>
                <a:cs typeface="Arial"/>
                <a:sym typeface="Arial"/>
              </a:defRPr>
            </a:lvl8pPr>
            <a:lvl9pPr marL="0" lvl="8" indent="0" algn="r">
              <a:spcBef>
                <a:spcPts val="0"/>
              </a:spcBef>
              <a:buNone/>
              <a:defRPr sz="1200">
                <a:solidFill>
                  <a:schemeClr val="l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54" name="Google Shape;54;p65"/>
          <p:cNvSpPr/>
          <p:nvPr/>
        </p:nvSpPr>
        <p:spPr>
          <a:xfrm>
            <a:off x="0" y="3875730"/>
            <a:ext cx="12192000" cy="933428"/>
          </a:xfrm>
          <a:prstGeom prst="rect">
            <a:avLst/>
          </a:prstGeom>
          <a:solidFill>
            <a:schemeClr val="lt1"/>
          </a:solidFill>
          <a:ln w="19050" cap="flat" cmpd="sng">
            <a:solidFill>
              <a:schemeClr val="accent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5" name="Google Shape;55;p65" descr="Logotipo&#10;&#10;Descripción generada automáticamente"/>
          <p:cNvPicPr preferRelativeResize="0"/>
          <p:nvPr/>
        </p:nvPicPr>
        <p:blipFill rotWithShape="1">
          <a:blip r:embed="rId2">
            <a:alphaModFix/>
          </a:blip>
          <a:srcRect/>
          <a:stretch/>
        </p:blipFill>
        <p:spPr>
          <a:xfrm>
            <a:off x="7346822" y="4068265"/>
            <a:ext cx="1890650" cy="607897"/>
          </a:xfrm>
          <a:prstGeom prst="rect">
            <a:avLst/>
          </a:prstGeom>
          <a:noFill/>
          <a:ln>
            <a:noFill/>
          </a:ln>
        </p:spPr>
      </p:pic>
      <p:pic>
        <p:nvPicPr>
          <p:cNvPr id="56" name="Google Shape;56;p65" descr="Logotipo&#10;&#10;Descripción generada automáticamente"/>
          <p:cNvPicPr preferRelativeResize="0"/>
          <p:nvPr/>
        </p:nvPicPr>
        <p:blipFill rotWithShape="1">
          <a:blip r:embed="rId3">
            <a:alphaModFix/>
          </a:blip>
          <a:srcRect/>
          <a:stretch/>
        </p:blipFill>
        <p:spPr>
          <a:xfrm>
            <a:off x="5304548" y="4127570"/>
            <a:ext cx="1295949" cy="489287"/>
          </a:xfrm>
          <a:prstGeom prst="rect">
            <a:avLst/>
          </a:prstGeom>
          <a:noFill/>
          <a:ln>
            <a:noFill/>
          </a:ln>
        </p:spPr>
      </p:pic>
      <p:pic>
        <p:nvPicPr>
          <p:cNvPr id="57" name="Google Shape;57;p65" descr="Logotipo&#10;&#10;Descripción generada automáticamente con confianza media"/>
          <p:cNvPicPr preferRelativeResize="0"/>
          <p:nvPr/>
        </p:nvPicPr>
        <p:blipFill rotWithShape="1">
          <a:blip r:embed="rId4">
            <a:alphaModFix/>
          </a:blip>
          <a:srcRect/>
          <a:stretch/>
        </p:blipFill>
        <p:spPr>
          <a:xfrm>
            <a:off x="2672984" y="4068265"/>
            <a:ext cx="1736849" cy="607897"/>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8"/>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59"/>
        <p:cNvGrpSpPr/>
        <p:nvPr/>
      </p:nvGrpSpPr>
      <p:grpSpPr>
        <a:xfrm>
          <a:off x="0" y="0"/>
          <a:ext cx="0" cy="0"/>
          <a:chOff x="0" y="0"/>
          <a:chExt cx="0" cy="0"/>
        </a:xfrm>
      </p:grpSpPr>
      <p:sp>
        <p:nvSpPr>
          <p:cNvPr id="60" name="Google Shape;60;p69"/>
          <p:cNvSpPr txBox="1">
            <a:spLocks noGrp="1"/>
          </p:cNvSpPr>
          <p:nvPr>
            <p:ph type="ctrTitle"/>
          </p:nvPr>
        </p:nvSpPr>
        <p:spPr>
          <a:xfrm>
            <a:off x="838200" y="1887763"/>
            <a:ext cx="4091609" cy="129208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400"/>
              <a:buFont typeface="Play"/>
              <a:buNone/>
              <a:defRPr sz="4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69"/>
          <p:cNvSpPr txBox="1">
            <a:spLocks noGrp="1"/>
          </p:cNvSpPr>
          <p:nvPr>
            <p:ph type="subTitle" idx="1"/>
          </p:nvPr>
        </p:nvSpPr>
        <p:spPr>
          <a:xfrm>
            <a:off x="838200" y="3381857"/>
            <a:ext cx="9144000" cy="30404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i="1"/>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62" name="Google Shape;62;p69"/>
          <p:cNvSpPr txBox="1">
            <a:spLocks noGrp="1"/>
          </p:cNvSpPr>
          <p:nvPr>
            <p:ph type="dt" idx="10"/>
          </p:nvPr>
        </p:nvSpPr>
        <p:spPr>
          <a:xfrm>
            <a:off x="838200" y="44409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6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64" name="Google Shape;64;p69"/>
          <p:cNvSpPr/>
          <p:nvPr/>
        </p:nvSpPr>
        <p:spPr>
          <a:xfrm>
            <a:off x="0" y="3875730"/>
            <a:ext cx="12192000" cy="365125"/>
          </a:xfrm>
          <a:prstGeom prst="rect">
            <a:avLst/>
          </a:prstGeom>
          <a:solidFill>
            <a:schemeClr val="dk2"/>
          </a:solidFill>
          <a:ln w="19050" cap="flat" cmpd="sng">
            <a:solidFill>
              <a:schemeClr val="dk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65" name="Google Shape;65;p69" descr="Logotipo&#10;&#10;Descripción generada automáticamente"/>
          <p:cNvPicPr preferRelativeResize="0"/>
          <p:nvPr/>
        </p:nvPicPr>
        <p:blipFill rotWithShape="1">
          <a:blip r:embed="rId2">
            <a:alphaModFix/>
          </a:blip>
          <a:srcRect/>
          <a:stretch/>
        </p:blipFill>
        <p:spPr>
          <a:xfrm>
            <a:off x="7315291" y="5315205"/>
            <a:ext cx="1890650" cy="607897"/>
          </a:xfrm>
          <a:prstGeom prst="rect">
            <a:avLst/>
          </a:prstGeom>
          <a:noFill/>
          <a:ln>
            <a:noFill/>
          </a:ln>
        </p:spPr>
      </p:pic>
      <p:pic>
        <p:nvPicPr>
          <p:cNvPr id="66" name="Google Shape;66;p69" descr="Logotipo&#10;&#10;Descripción generada automáticamente"/>
          <p:cNvPicPr preferRelativeResize="0"/>
          <p:nvPr/>
        </p:nvPicPr>
        <p:blipFill rotWithShape="1">
          <a:blip r:embed="rId3">
            <a:alphaModFix/>
          </a:blip>
          <a:srcRect/>
          <a:stretch/>
        </p:blipFill>
        <p:spPr>
          <a:xfrm>
            <a:off x="5136382" y="5350936"/>
            <a:ext cx="1420828" cy="536435"/>
          </a:xfrm>
          <a:prstGeom prst="rect">
            <a:avLst/>
          </a:prstGeom>
          <a:noFill/>
          <a:ln>
            <a:noFill/>
          </a:ln>
        </p:spPr>
      </p:pic>
      <p:pic>
        <p:nvPicPr>
          <p:cNvPr id="67" name="Google Shape;67;p69" descr="Logotipo&#10;&#10;Descripción generada automáticamente con confianza media"/>
          <p:cNvPicPr preferRelativeResize="0"/>
          <p:nvPr/>
        </p:nvPicPr>
        <p:blipFill rotWithShape="1">
          <a:blip r:embed="rId4">
            <a:alphaModFix/>
          </a:blip>
          <a:srcRect/>
          <a:stretch/>
        </p:blipFill>
        <p:spPr>
          <a:xfrm>
            <a:off x="2641453" y="5315205"/>
            <a:ext cx="1736849" cy="607897"/>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_Título y objetos">
  <p:cSld name="1_Título y objetos">
    <p:bg>
      <p:bgPr>
        <a:solidFill>
          <a:schemeClr val="dk1"/>
        </a:solidFill>
        <a:effectLst/>
      </p:bgPr>
    </p:bg>
    <p:spTree>
      <p:nvGrpSpPr>
        <p:cNvPr id="1" name="Shape 68"/>
        <p:cNvGrpSpPr/>
        <p:nvPr/>
      </p:nvGrpSpPr>
      <p:grpSpPr>
        <a:xfrm>
          <a:off x="0" y="0"/>
          <a:ext cx="0" cy="0"/>
          <a:chOff x="0" y="0"/>
          <a:chExt cx="0" cy="0"/>
        </a:xfrm>
      </p:grpSpPr>
      <p:pic>
        <p:nvPicPr>
          <p:cNvPr id="69" name="Google Shape;69;p70" descr="Logotipo&#10;&#10;Descripción generada automáticamente"/>
          <p:cNvPicPr preferRelativeResize="0"/>
          <p:nvPr/>
        </p:nvPicPr>
        <p:blipFill rotWithShape="1">
          <a:blip r:embed="rId2">
            <a:alphaModFix/>
          </a:blip>
          <a:srcRect/>
          <a:stretch/>
        </p:blipFill>
        <p:spPr>
          <a:xfrm>
            <a:off x="11415224" y="148488"/>
            <a:ext cx="444782" cy="429137"/>
          </a:xfrm>
          <a:prstGeom prst="rect">
            <a:avLst/>
          </a:prstGeom>
          <a:noFill/>
          <a:ln>
            <a:noFill/>
          </a:ln>
        </p:spPr>
      </p:pic>
      <p:pic>
        <p:nvPicPr>
          <p:cNvPr id="70" name="Google Shape;70;p70" descr="Logotipo&#10;&#10;Descripción generada automáticamente"/>
          <p:cNvPicPr preferRelativeResize="0"/>
          <p:nvPr/>
        </p:nvPicPr>
        <p:blipFill rotWithShape="1">
          <a:blip r:embed="rId3">
            <a:alphaModFix/>
          </a:blip>
          <a:srcRect/>
          <a:stretch/>
        </p:blipFill>
        <p:spPr>
          <a:xfrm>
            <a:off x="330200" y="6399764"/>
            <a:ext cx="1473330" cy="278296"/>
          </a:xfrm>
          <a:prstGeom prst="rect">
            <a:avLst/>
          </a:prstGeom>
          <a:noFill/>
          <a:ln>
            <a:noFill/>
          </a:ln>
        </p:spPr>
      </p:pic>
      <p:sp>
        <p:nvSpPr>
          <p:cNvPr id="71" name="Google Shape;71;p70"/>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2"/>
              </a:buClr>
              <a:buSzPts val="1600"/>
              <a:buFont typeface="Play"/>
              <a:buNone/>
              <a:defRPr sz="1600" b="1">
                <a:solidFill>
                  <a:schemeClr val="accen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70"/>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7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74" name="Google Shape;74;p70"/>
          <p:cNvSpPr/>
          <p:nvPr/>
        </p:nvSpPr>
        <p:spPr>
          <a:xfrm>
            <a:off x="0" y="716439"/>
            <a:ext cx="12192000" cy="54000"/>
          </a:xfrm>
          <a:prstGeom prst="rect">
            <a:avLst/>
          </a:prstGeom>
          <a:solidFill>
            <a:schemeClr val="accent4"/>
          </a:solidFill>
          <a:ln w="1905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2_Título y objetos">
  <p:cSld name="2_Título y objetos">
    <p:bg>
      <p:bgPr>
        <a:solidFill>
          <a:schemeClr val="dk1"/>
        </a:solidFill>
        <a:effectLst/>
      </p:bgPr>
    </p:bg>
    <p:spTree>
      <p:nvGrpSpPr>
        <p:cNvPr id="1" name="Shape 75"/>
        <p:cNvGrpSpPr/>
        <p:nvPr/>
      </p:nvGrpSpPr>
      <p:grpSpPr>
        <a:xfrm>
          <a:off x="0" y="0"/>
          <a:ext cx="0" cy="0"/>
          <a:chOff x="0" y="0"/>
          <a:chExt cx="0" cy="0"/>
        </a:xfrm>
      </p:grpSpPr>
      <p:pic>
        <p:nvPicPr>
          <p:cNvPr id="76" name="Google Shape;76;p71" descr="Interfaz de usuario gráfica, Logotipo&#10;&#10;Descripción generada automáticamente"/>
          <p:cNvPicPr preferRelativeResize="0"/>
          <p:nvPr/>
        </p:nvPicPr>
        <p:blipFill rotWithShape="1">
          <a:blip r:embed="rId2">
            <a:alphaModFix/>
          </a:blip>
          <a:srcRect/>
          <a:stretch/>
        </p:blipFill>
        <p:spPr>
          <a:xfrm>
            <a:off x="11415225" y="102371"/>
            <a:ext cx="471976" cy="503746"/>
          </a:xfrm>
          <a:prstGeom prst="rect">
            <a:avLst/>
          </a:prstGeom>
          <a:noFill/>
          <a:ln>
            <a:noFill/>
          </a:ln>
        </p:spPr>
      </p:pic>
      <p:sp>
        <p:nvSpPr>
          <p:cNvPr id="77" name="Google Shape;77;p71"/>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accent6"/>
              </a:buClr>
              <a:buSzPts val="1600"/>
              <a:buFont typeface="Play"/>
              <a:buNone/>
              <a:defRPr sz="1600" b="1">
                <a:solidFill>
                  <a:schemeClr val="accent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71"/>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7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80" name="Google Shape;80;p71"/>
          <p:cNvSpPr/>
          <p:nvPr/>
        </p:nvSpPr>
        <p:spPr>
          <a:xfrm>
            <a:off x="0" y="716439"/>
            <a:ext cx="12192000" cy="54000"/>
          </a:xfrm>
          <a:prstGeom prst="rect">
            <a:avLst/>
          </a:prstGeom>
          <a:solidFill>
            <a:schemeClr val="accent5"/>
          </a:solidFill>
          <a:ln w="19050" cap="flat" cmpd="sng">
            <a:solidFill>
              <a:schemeClr val="accent5"/>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81" name="Google Shape;81;p71" descr="Interfaz de usuario gráfica, Logotipo&#10;&#10;Descripción generada automáticamente"/>
          <p:cNvPicPr preferRelativeResize="0"/>
          <p:nvPr/>
        </p:nvPicPr>
        <p:blipFill rotWithShape="1">
          <a:blip r:embed="rId3">
            <a:alphaModFix/>
          </a:blip>
          <a:srcRect/>
          <a:stretch/>
        </p:blipFill>
        <p:spPr>
          <a:xfrm>
            <a:off x="351220" y="6369269"/>
            <a:ext cx="1057873" cy="30879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_Título y objetos">
  <p:cSld name="3_Título y objetos">
    <p:bg>
      <p:bgPr>
        <a:solidFill>
          <a:schemeClr val="dk1"/>
        </a:solidFill>
        <a:effectLst/>
      </p:bgPr>
    </p:bg>
    <p:spTree>
      <p:nvGrpSpPr>
        <p:cNvPr id="1" name="Shape 82"/>
        <p:cNvGrpSpPr/>
        <p:nvPr/>
      </p:nvGrpSpPr>
      <p:grpSpPr>
        <a:xfrm>
          <a:off x="0" y="0"/>
          <a:ext cx="0" cy="0"/>
          <a:chOff x="0" y="0"/>
          <a:chExt cx="0" cy="0"/>
        </a:xfrm>
      </p:grpSpPr>
      <p:pic>
        <p:nvPicPr>
          <p:cNvPr id="83" name="Google Shape;83;p72" descr="Interfaz de usuario gráfica, Logotipo&#10;&#10;Descripción generada automáticamente"/>
          <p:cNvPicPr preferRelativeResize="0"/>
          <p:nvPr/>
        </p:nvPicPr>
        <p:blipFill rotWithShape="1">
          <a:blip r:embed="rId2">
            <a:alphaModFix/>
          </a:blip>
          <a:srcRect/>
          <a:stretch/>
        </p:blipFill>
        <p:spPr>
          <a:xfrm>
            <a:off x="11442419" y="75771"/>
            <a:ext cx="471976" cy="503746"/>
          </a:xfrm>
          <a:prstGeom prst="rect">
            <a:avLst/>
          </a:prstGeom>
          <a:noFill/>
          <a:ln>
            <a:noFill/>
          </a:ln>
        </p:spPr>
      </p:pic>
      <p:sp>
        <p:nvSpPr>
          <p:cNvPr id="84" name="Google Shape;84;p72"/>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2"/>
              </a:buClr>
              <a:buSzPts val="1600"/>
              <a:buFont typeface="Play"/>
              <a:buNone/>
              <a:defRPr sz="16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72"/>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7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87" name="Google Shape;87;p72"/>
          <p:cNvSpPr/>
          <p:nvPr/>
        </p:nvSpPr>
        <p:spPr>
          <a:xfrm>
            <a:off x="0" y="716439"/>
            <a:ext cx="12192000" cy="54000"/>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pic>
        <p:nvPicPr>
          <p:cNvPr id="88" name="Google Shape;88;p72" descr="Logotipo&#10;&#10;Descripción generada automáticamente"/>
          <p:cNvPicPr preferRelativeResize="0"/>
          <p:nvPr/>
        </p:nvPicPr>
        <p:blipFill rotWithShape="1">
          <a:blip r:embed="rId3">
            <a:alphaModFix/>
          </a:blip>
          <a:srcRect/>
          <a:stretch/>
        </p:blipFill>
        <p:spPr>
          <a:xfrm>
            <a:off x="10970443" y="133379"/>
            <a:ext cx="444782" cy="429137"/>
          </a:xfrm>
          <a:prstGeom prst="rect">
            <a:avLst/>
          </a:prstGeom>
          <a:noFill/>
          <a:ln>
            <a:noFill/>
          </a:ln>
        </p:spPr>
      </p:pic>
      <p:pic>
        <p:nvPicPr>
          <p:cNvPr id="89" name="Google Shape;89;p72" descr="Logotipo&#10;&#10;Descripción generada automáticamente con confianza media"/>
          <p:cNvPicPr preferRelativeResize="0"/>
          <p:nvPr/>
        </p:nvPicPr>
        <p:blipFill rotWithShape="1">
          <a:blip r:embed="rId4">
            <a:alphaModFix/>
          </a:blip>
          <a:srcRect/>
          <a:stretch/>
        </p:blipFill>
        <p:spPr>
          <a:xfrm>
            <a:off x="10510092" y="102371"/>
            <a:ext cx="471976" cy="472749"/>
          </a:xfrm>
          <a:prstGeom prst="rect">
            <a:avLst/>
          </a:prstGeom>
          <a:noFill/>
          <a:ln>
            <a:noFill/>
          </a:ln>
        </p:spPr>
      </p:pic>
      <p:grpSp>
        <p:nvGrpSpPr>
          <p:cNvPr id="90" name="Google Shape;90;p72"/>
          <p:cNvGrpSpPr/>
          <p:nvPr/>
        </p:nvGrpSpPr>
        <p:grpSpPr>
          <a:xfrm>
            <a:off x="330200" y="6416593"/>
            <a:ext cx="3814681" cy="304882"/>
            <a:chOff x="717990" y="3332097"/>
            <a:chExt cx="10730146" cy="876191"/>
          </a:xfrm>
        </p:grpSpPr>
        <p:pic>
          <p:nvPicPr>
            <p:cNvPr id="91" name="Google Shape;91;p72" descr="Interfaz de usuario gráfica, Logotipo&#10;&#10;Descripción generada automáticamente"/>
            <p:cNvPicPr preferRelativeResize="0"/>
            <p:nvPr/>
          </p:nvPicPr>
          <p:blipFill rotWithShape="1">
            <a:blip r:embed="rId5">
              <a:alphaModFix/>
            </a:blip>
            <a:srcRect/>
            <a:stretch/>
          </p:blipFill>
          <p:spPr>
            <a:xfrm>
              <a:off x="8654758" y="3386689"/>
              <a:ext cx="2793378" cy="772817"/>
            </a:xfrm>
            <a:prstGeom prst="rect">
              <a:avLst/>
            </a:prstGeom>
            <a:noFill/>
            <a:ln>
              <a:noFill/>
            </a:ln>
          </p:spPr>
        </p:pic>
        <p:pic>
          <p:nvPicPr>
            <p:cNvPr id="92" name="Google Shape;92;p72" descr="Logotipo&#10;&#10;Descripción generada automáticamente"/>
            <p:cNvPicPr preferRelativeResize="0"/>
            <p:nvPr/>
          </p:nvPicPr>
          <p:blipFill rotWithShape="1">
            <a:blip r:embed="rId6">
              <a:alphaModFix/>
            </a:blip>
            <a:srcRect l="24752" t="40142" r="19087" b="39788"/>
            <a:stretch/>
          </p:blipFill>
          <p:spPr>
            <a:xfrm>
              <a:off x="4295868" y="3332097"/>
              <a:ext cx="4358890" cy="876191"/>
            </a:xfrm>
            <a:prstGeom prst="rect">
              <a:avLst/>
            </a:prstGeom>
            <a:noFill/>
            <a:ln>
              <a:noFill/>
            </a:ln>
          </p:spPr>
        </p:pic>
        <p:pic>
          <p:nvPicPr>
            <p:cNvPr id="93" name="Google Shape;93;p72" descr="Logotipo&#10;&#10;Descripción generada automáticamente con confianza media"/>
            <p:cNvPicPr preferRelativeResize="0"/>
            <p:nvPr/>
          </p:nvPicPr>
          <p:blipFill rotWithShape="1">
            <a:blip r:embed="rId7">
              <a:alphaModFix/>
            </a:blip>
            <a:srcRect/>
            <a:stretch/>
          </p:blipFill>
          <p:spPr>
            <a:xfrm>
              <a:off x="717990" y="3383785"/>
              <a:ext cx="3321748" cy="772817"/>
            </a:xfrm>
            <a:prstGeom prst="rect">
              <a:avLst/>
            </a:prstGeom>
            <a:noFill/>
            <a:ln>
              <a:noFill/>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4_Título y objetos">
  <p:cSld name="4_Título y objetos">
    <p:bg>
      <p:bgPr>
        <a:solidFill>
          <a:schemeClr val="dk1"/>
        </a:solidFill>
        <a:effectLst/>
      </p:bgPr>
    </p:bg>
    <p:spTree>
      <p:nvGrpSpPr>
        <p:cNvPr id="1" name="Shape 94"/>
        <p:cNvGrpSpPr/>
        <p:nvPr/>
      </p:nvGrpSpPr>
      <p:grpSpPr>
        <a:xfrm>
          <a:off x="0" y="0"/>
          <a:ext cx="0" cy="0"/>
          <a:chOff x="0" y="0"/>
          <a:chExt cx="0" cy="0"/>
        </a:xfrm>
      </p:grpSpPr>
      <p:pic>
        <p:nvPicPr>
          <p:cNvPr id="95" name="Google Shape;95;p73" descr="Interfaz de usuario gráfica, Logotipo&#10;&#10;Descripción generada automáticamente"/>
          <p:cNvPicPr preferRelativeResize="0"/>
          <p:nvPr/>
        </p:nvPicPr>
        <p:blipFill rotWithShape="1">
          <a:blip r:embed="rId2">
            <a:alphaModFix/>
          </a:blip>
          <a:srcRect/>
          <a:stretch/>
        </p:blipFill>
        <p:spPr>
          <a:xfrm>
            <a:off x="11442419" y="75771"/>
            <a:ext cx="471976" cy="503746"/>
          </a:xfrm>
          <a:prstGeom prst="rect">
            <a:avLst/>
          </a:prstGeom>
          <a:noFill/>
          <a:ln>
            <a:noFill/>
          </a:ln>
        </p:spPr>
      </p:pic>
      <p:sp>
        <p:nvSpPr>
          <p:cNvPr id="96" name="Google Shape;96;p73"/>
          <p:cNvSpPr txBox="1">
            <a:spLocks noGrp="1"/>
          </p:cNvSpPr>
          <p:nvPr>
            <p:ph type="title"/>
          </p:nvPr>
        </p:nvSpPr>
        <p:spPr>
          <a:xfrm>
            <a:off x="330200" y="126683"/>
            <a:ext cx="3042920" cy="315912"/>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lt2"/>
              </a:buClr>
              <a:buSzPts val="1600"/>
              <a:buFont typeface="Play"/>
              <a:buNone/>
              <a:defRPr sz="16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73"/>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lvl1pPr marL="457200" lvl="0" indent="-330200" algn="l">
              <a:lnSpc>
                <a:spcPct val="90000"/>
              </a:lnSpc>
              <a:spcBef>
                <a:spcPts val="1000"/>
              </a:spcBef>
              <a:spcAft>
                <a:spcPts val="0"/>
              </a:spcAft>
              <a:buClr>
                <a:schemeClr val="accent2"/>
              </a:buClr>
              <a:buSzPts val="1600"/>
              <a:buChar char="•"/>
              <a:defRPr>
                <a:solidFill>
                  <a:schemeClr val="accent2"/>
                </a:solidFill>
              </a:defRPr>
            </a:lvl1pPr>
            <a:lvl2pPr marL="914400" lvl="1" indent="-317500" algn="l">
              <a:lnSpc>
                <a:spcPct val="90000"/>
              </a:lnSpc>
              <a:spcBef>
                <a:spcPts val="500"/>
              </a:spcBef>
              <a:spcAft>
                <a:spcPts val="0"/>
              </a:spcAft>
              <a:buClr>
                <a:schemeClr val="accent2"/>
              </a:buClr>
              <a:buSzPts val="1400"/>
              <a:buChar char="•"/>
              <a:defRPr>
                <a:solidFill>
                  <a:schemeClr val="accent2"/>
                </a:solidFill>
              </a:defRPr>
            </a:lvl2pPr>
            <a:lvl3pPr marL="1371600" lvl="2" indent="-317500" algn="l">
              <a:lnSpc>
                <a:spcPct val="90000"/>
              </a:lnSpc>
              <a:spcBef>
                <a:spcPts val="500"/>
              </a:spcBef>
              <a:spcAft>
                <a:spcPts val="0"/>
              </a:spcAft>
              <a:buClr>
                <a:schemeClr val="accent2"/>
              </a:buClr>
              <a:buSzPts val="1400"/>
              <a:buChar char="•"/>
              <a:defRPr>
                <a:solidFill>
                  <a:schemeClr val="accent2"/>
                </a:solidFill>
              </a:defRPr>
            </a:lvl3pPr>
            <a:lvl4pPr marL="1828800" lvl="3" indent="-317500" algn="l">
              <a:lnSpc>
                <a:spcPct val="90000"/>
              </a:lnSpc>
              <a:spcBef>
                <a:spcPts val="500"/>
              </a:spcBef>
              <a:spcAft>
                <a:spcPts val="0"/>
              </a:spcAft>
              <a:buClr>
                <a:schemeClr val="accent2"/>
              </a:buClr>
              <a:buSzPts val="1400"/>
              <a:buChar char="•"/>
              <a:defRPr>
                <a:solidFill>
                  <a:schemeClr val="accent2"/>
                </a:solidFill>
              </a:defRPr>
            </a:lvl4pPr>
            <a:lvl5pPr marL="2286000" lvl="4" indent="-317500" algn="l">
              <a:lnSpc>
                <a:spcPct val="90000"/>
              </a:lnSpc>
              <a:spcBef>
                <a:spcPts val="500"/>
              </a:spcBef>
              <a:spcAft>
                <a:spcPts val="0"/>
              </a:spcAft>
              <a:buClr>
                <a:schemeClr val="accent2"/>
              </a:buClr>
              <a:buSzPts val="1400"/>
              <a:buChar char="•"/>
              <a:defRPr>
                <a:solidFill>
                  <a:schemeClr val="accent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7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accent2"/>
                </a:solidFill>
                <a:latin typeface="Arial"/>
                <a:ea typeface="Arial"/>
                <a:cs typeface="Arial"/>
                <a:sym typeface="Arial"/>
              </a:defRPr>
            </a:lvl1pPr>
            <a:lvl2pPr marL="0" lvl="1" indent="0" algn="r">
              <a:spcBef>
                <a:spcPts val="0"/>
              </a:spcBef>
              <a:buNone/>
              <a:defRPr sz="1200">
                <a:solidFill>
                  <a:schemeClr val="accent2"/>
                </a:solidFill>
                <a:latin typeface="Arial"/>
                <a:ea typeface="Arial"/>
                <a:cs typeface="Arial"/>
                <a:sym typeface="Arial"/>
              </a:defRPr>
            </a:lvl2pPr>
            <a:lvl3pPr marL="0" lvl="2" indent="0" algn="r">
              <a:spcBef>
                <a:spcPts val="0"/>
              </a:spcBef>
              <a:buNone/>
              <a:defRPr sz="1200">
                <a:solidFill>
                  <a:schemeClr val="accent2"/>
                </a:solidFill>
                <a:latin typeface="Arial"/>
                <a:ea typeface="Arial"/>
                <a:cs typeface="Arial"/>
                <a:sym typeface="Arial"/>
              </a:defRPr>
            </a:lvl3pPr>
            <a:lvl4pPr marL="0" lvl="3" indent="0" algn="r">
              <a:spcBef>
                <a:spcPts val="0"/>
              </a:spcBef>
              <a:buNone/>
              <a:defRPr sz="1200">
                <a:solidFill>
                  <a:schemeClr val="accent2"/>
                </a:solidFill>
                <a:latin typeface="Arial"/>
                <a:ea typeface="Arial"/>
                <a:cs typeface="Arial"/>
                <a:sym typeface="Arial"/>
              </a:defRPr>
            </a:lvl4pPr>
            <a:lvl5pPr marL="0" lvl="4" indent="0" algn="r">
              <a:spcBef>
                <a:spcPts val="0"/>
              </a:spcBef>
              <a:buNone/>
              <a:defRPr sz="1200">
                <a:solidFill>
                  <a:schemeClr val="accent2"/>
                </a:solidFill>
                <a:latin typeface="Arial"/>
                <a:ea typeface="Arial"/>
                <a:cs typeface="Arial"/>
                <a:sym typeface="Arial"/>
              </a:defRPr>
            </a:lvl5pPr>
            <a:lvl6pPr marL="0" lvl="5" indent="0" algn="r">
              <a:spcBef>
                <a:spcPts val="0"/>
              </a:spcBef>
              <a:buNone/>
              <a:defRPr sz="1200">
                <a:solidFill>
                  <a:schemeClr val="accent2"/>
                </a:solidFill>
                <a:latin typeface="Arial"/>
                <a:ea typeface="Arial"/>
                <a:cs typeface="Arial"/>
                <a:sym typeface="Arial"/>
              </a:defRPr>
            </a:lvl6pPr>
            <a:lvl7pPr marL="0" lvl="6" indent="0" algn="r">
              <a:spcBef>
                <a:spcPts val="0"/>
              </a:spcBef>
              <a:buNone/>
              <a:defRPr sz="1200">
                <a:solidFill>
                  <a:schemeClr val="accent2"/>
                </a:solidFill>
                <a:latin typeface="Arial"/>
                <a:ea typeface="Arial"/>
                <a:cs typeface="Arial"/>
                <a:sym typeface="Arial"/>
              </a:defRPr>
            </a:lvl7pPr>
            <a:lvl8pPr marL="0" lvl="7" indent="0" algn="r">
              <a:spcBef>
                <a:spcPts val="0"/>
              </a:spcBef>
              <a:buNone/>
              <a:defRPr sz="1200">
                <a:solidFill>
                  <a:schemeClr val="accent2"/>
                </a:solidFill>
                <a:latin typeface="Arial"/>
                <a:ea typeface="Arial"/>
                <a:cs typeface="Arial"/>
                <a:sym typeface="Arial"/>
              </a:defRPr>
            </a:lvl8pPr>
            <a:lvl9pPr marL="0" lvl="8" indent="0" algn="r">
              <a:spcBef>
                <a:spcPts val="0"/>
              </a:spcBef>
              <a:buNone/>
              <a:defRPr sz="1200">
                <a:solidFill>
                  <a:schemeClr val="accent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
        <p:nvSpPr>
          <p:cNvPr id="99" name="Google Shape;99;p73"/>
          <p:cNvSpPr/>
          <p:nvPr/>
        </p:nvSpPr>
        <p:spPr>
          <a:xfrm>
            <a:off x="0" y="716439"/>
            <a:ext cx="12192000" cy="54000"/>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accent1"/>
              </a:solidFill>
              <a:latin typeface="Arial"/>
              <a:ea typeface="Arial"/>
              <a:cs typeface="Arial"/>
              <a:sym typeface="Arial"/>
            </a:endParaRPr>
          </a:p>
        </p:txBody>
      </p:sp>
      <p:pic>
        <p:nvPicPr>
          <p:cNvPr id="100" name="Google Shape;100;p73" descr="Logotipo&#10;&#10;Descripción generada automáticamente"/>
          <p:cNvPicPr preferRelativeResize="0"/>
          <p:nvPr/>
        </p:nvPicPr>
        <p:blipFill rotWithShape="1">
          <a:blip r:embed="rId3">
            <a:alphaModFix/>
          </a:blip>
          <a:srcRect/>
          <a:stretch/>
        </p:blipFill>
        <p:spPr>
          <a:xfrm>
            <a:off x="10970443" y="133379"/>
            <a:ext cx="444782" cy="429137"/>
          </a:xfrm>
          <a:prstGeom prst="rect">
            <a:avLst/>
          </a:prstGeom>
          <a:noFill/>
          <a:ln>
            <a:noFill/>
          </a:ln>
        </p:spPr>
      </p:pic>
      <p:pic>
        <p:nvPicPr>
          <p:cNvPr id="101" name="Google Shape;101;p73" descr="Logotipo&#10;&#10;Descripción generada automáticamente con confianza media"/>
          <p:cNvPicPr preferRelativeResize="0"/>
          <p:nvPr/>
        </p:nvPicPr>
        <p:blipFill rotWithShape="1">
          <a:blip r:embed="rId4">
            <a:alphaModFix/>
          </a:blip>
          <a:srcRect/>
          <a:stretch/>
        </p:blipFill>
        <p:spPr>
          <a:xfrm>
            <a:off x="10510092" y="102371"/>
            <a:ext cx="471976" cy="472749"/>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ación">
  <p:cSld name="Comparación">
    <p:bg>
      <p:bgPr>
        <a:solidFill>
          <a:schemeClr val="dk1"/>
        </a:solidFill>
        <a:effectLst/>
      </p:bgPr>
    </p:bg>
    <p:spTree>
      <p:nvGrpSpPr>
        <p:cNvPr id="1" name="Shape 102"/>
        <p:cNvGrpSpPr/>
        <p:nvPr/>
      </p:nvGrpSpPr>
      <p:grpSpPr>
        <a:xfrm>
          <a:off x="0" y="0"/>
          <a:ext cx="0" cy="0"/>
          <a:chOff x="0" y="0"/>
          <a:chExt cx="0" cy="0"/>
        </a:xfrm>
      </p:grpSpPr>
      <p:sp>
        <p:nvSpPr>
          <p:cNvPr id="103" name="Google Shape;103;p74"/>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p74"/>
          <p:cNvSpPr txBox="1"/>
          <p:nvPr/>
        </p:nvSpPr>
        <p:spPr>
          <a:xfrm>
            <a:off x="964587" y="1390362"/>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Gemco:</a:t>
            </a:r>
            <a:endParaRPr sz="1800">
              <a:solidFill>
                <a:schemeClr val="lt2"/>
              </a:solidFill>
              <a:latin typeface="Arial"/>
              <a:ea typeface="Arial"/>
              <a:cs typeface="Arial"/>
              <a:sym typeface="Arial"/>
            </a:endParaRPr>
          </a:p>
        </p:txBody>
      </p:sp>
      <p:sp>
        <p:nvSpPr>
          <p:cNvPr id="105" name="Google Shape;105;p74"/>
          <p:cNvSpPr/>
          <p:nvPr/>
        </p:nvSpPr>
        <p:spPr>
          <a:xfrm>
            <a:off x="1051673" y="1909103"/>
            <a:ext cx="1382486" cy="1175657"/>
          </a:xfrm>
          <a:prstGeom prst="roundRect">
            <a:avLst>
              <a:gd name="adj" fmla="val 16667"/>
            </a:avLst>
          </a:prstGeom>
          <a:solidFill>
            <a:srgbClr val="282DF0"/>
          </a:solidFill>
          <a:ln w="19050" cap="flat" cmpd="sng">
            <a:solidFill>
              <a:srgbClr val="282D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6" name="Google Shape;106;p74"/>
          <p:cNvSpPr/>
          <p:nvPr/>
        </p:nvSpPr>
        <p:spPr>
          <a:xfrm>
            <a:off x="2655987" y="1909102"/>
            <a:ext cx="1382486" cy="1175657"/>
          </a:xfrm>
          <a:prstGeom prst="roundRect">
            <a:avLst>
              <a:gd name="adj" fmla="val 16667"/>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7" name="Google Shape;107;p74"/>
          <p:cNvSpPr/>
          <p:nvPr/>
        </p:nvSpPr>
        <p:spPr>
          <a:xfrm>
            <a:off x="4260301" y="1909102"/>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08" name="Google Shape;108;p74"/>
          <p:cNvSpPr txBox="1"/>
          <p:nvPr/>
        </p:nvSpPr>
        <p:spPr>
          <a:xfrm>
            <a:off x="1051673" y="3212898"/>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45 240 </a:t>
            </a:r>
            <a:endParaRPr sz="1800">
              <a:solidFill>
                <a:schemeClr val="lt2"/>
              </a:solidFill>
              <a:latin typeface="Arial"/>
              <a:ea typeface="Arial"/>
              <a:cs typeface="Arial"/>
              <a:sym typeface="Arial"/>
            </a:endParaRPr>
          </a:p>
        </p:txBody>
      </p:sp>
      <p:sp>
        <p:nvSpPr>
          <p:cNvPr id="109" name="Google Shape;109;p74"/>
          <p:cNvSpPr txBox="1"/>
          <p:nvPr/>
        </p:nvSpPr>
        <p:spPr>
          <a:xfrm>
            <a:off x="2655987" y="3212898"/>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40 210  195 </a:t>
            </a:r>
            <a:endParaRPr sz="1800">
              <a:solidFill>
                <a:schemeClr val="lt2"/>
              </a:solidFill>
              <a:latin typeface="Arial"/>
              <a:ea typeface="Arial"/>
              <a:cs typeface="Arial"/>
              <a:sym typeface="Arial"/>
            </a:endParaRPr>
          </a:p>
        </p:txBody>
      </p:sp>
      <p:sp>
        <p:nvSpPr>
          <p:cNvPr id="110" name="Google Shape;110;p74"/>
          <p:cNvSpPr txBox="1"/>
          <p:nvPr/>
        </p:nvSpPr>
        <p:spPr>
          <a:xfrm>
            <a:off x="4260301" y="3212898"/>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sp>
        <p:nvSpPr>
          <p:cNvPr id="111" name="Google Shape;111;p74"/>
          <p:cNvSpPr txBox="1"/>
          <p:nvPr/>
        </p:nvSpPr>
        <p:spPr>
          <a:xfrm>
            <a:off x="964587" y="3719039"/>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MMQ:</a:t>
            </a:r>
            <a:endParaRPr sz="1800">
              <a:solidFill>
                <a:schemeClr val="lt2"/>
              </a:solidFill>
              <a:latin typeface="Arial"/>
              <a:ea typeface="Arial"/>
              <a:cs typeface="Arial"/>
              <a:sym typeface="Arial"/>
            </a:endParaRPr>
          </a:p>
        </p:txBody>
      </p:sp>
      <p:sp>
        <p:nvSpPr>
          <p:cNvPr id="112" name="Google Shape;112;p74"/>
          <p:cNvSpPr/>
          <p:nvPr/>
        </p:nvSpPr>
        <p:spPr>
          <a:xfrm>
            <a:off x="1051673" y="4237780"/>
            <a:ext cx="1382486" cy="1175657"/>
          </a:xfrm>
          <a:prstGeom prst="roundRect">
            <a:avLst>
              <a:gd name="adj" fmla="val 16667"/>
            </a:avLst>
          </a:prstGeom>
          <a:solidFill>
            <a:srgbClr val="0074BF"/>
          </a:solidFill>
          <a:ln w="19050" cap="flat" cmpd="sng">
            <a:solidFill>
              <a:srgbClr val="0074BF"/>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3" name="Google Shape;113;p74"/>
          <p:cNvSpPr/>
          <p:nvPr/>
        </p:nvSpPr>
        <p:spPr>
          <a:xfrm>
            <a:off x="2655987" y="4237779"/>
            <a:ext cx="1382486" cy="1175657"/>
          </a:xfrm>
          <a:prstGeom prst="roundRect">
            <a:avLst>
              <a:gd name="adj" fmla="val 16667"/>
            </a:avLst>
          </a:prstGeom>
          <a:solidFill>
            <a:srgbClr val="FF7016"/>
          </a:solidFill>
          <a:ln w="19050" cap="flat" cmpd="sng">
            <a:solidFill>
              <a:srgbClr val="FF7016"/>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4" name="Google Shape;114;p74"/>
          <p:cNvSpPr/>
          <p:nvPr/>
        </p:nvSpPr>
        <p:spPr>
          <a:xfrm>
            <a:off x="4260301" y="4237779"/>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15" name="Google Shape;115;p74"/>
          <p:cNvSpPr txBox="1"/>
          <p:nvPr/>
        </p:nvSpPr>
        <p:spPr>
          <a:xfrm>
            <a:off x="1051673" y="5541576"/>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0  116 191</a:t>
            </a:r>
            <a:endParaRPr sz="1800">
              <a:solidFill>
                <a:schemeClr val="lt2"/>
              </a:solidFill>
              <a:latin typeface="Arial"/>
              <a:ea typeface="Arial"/>
              <a:cs typeface="Arial"/>
              <a:sym typeface="Arial"/>
            </a:endParaRPr>
          </a:p>
        </p:txBody>
      </p:sp>
      <p:sp>
        <p:nvSpPr>
          <p:cNvPr id="116" name="Google Shape;116;p74"/>
          <p:cNvSpPr txBox="1"/>
          <p:nvPr/>
        </p:nvSpPr>
        <p:spPr>
          <a:xfrm>
            <a:off x="2655987" y="5541575"/>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255 132 37 </a:t>
            </a:r>
            <a:endParaRPr sz="1800">
              <a:solidFill>
                <a:schemeClr val="lt2"/>
              </a:solidFill>
              <a:latin typeface="Arial"/>
              <a:ea typeface="Arial"/>
              <a:cs typeface="Arial"/>
              <a:sym typeface="Arial"/>
            </a:endParaRPr>
          </a:p>
        </p:txBody>
      </p:sp>
      <p:sp>
        <p:nvSpPr>
          <p:cNvPr id="117" name="Google Shape;117;p74"/>
          <p:cNvSpPr txBox="1"/>
          <p:nvPr/>
        </p:nvSpPr>
        <p:spPr>
          <a:xfrm>
            <a:off x="4260301" y="5541575"/>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sp>
        <p:nvSpPr>
          <p:cNvPr id="118" name="Google Shape;118;p74"/>
          <p:cNvSpPr txBox="1"/>
          <p:nvPr/>
        </p:nvSpPr>
        <p:spPr>
          <a:xfrm>
            <a:off x="6638829" y="2738541"/>
            <a:ext cx="3634500"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Colores Gráficos Incardia:</a:t>
            </a:r>
            <a:endParaRPr sz="1800">
              <a:solidFill>
                <a:schemeClr val="lt2"/>
              </a:solidFill>
              <a:latin typeface="Arial"/>
              <a:ea typeface="Arial"/>
              <a:cs typeface="Arial"/>
              <a:sym typeface="Arial"/>
            </a:endParaRPr>
          </a:p>
        </p:txBody>
      </p:sp>
      <p:sp>
        <p:nvSpPr>
          <p:cNvPr id="119" name="Google Shape;119;p74"/>
          <p:cNvSpPr/>
          <p:nvPr/>
        </p:nvSpPr>
        <p:spPr>
          <a:xfrm>
            <a:off x="6725915" y="3257282"/>
            <a:ext cx="1382486" cy="1175657"/>
          </a:xfrm>
          <a:prstGeom prst="roundRect">
            <a:avLst>
              <a:gd name="adj" fmla="val 16667"/>
            </a:avLst>
          </a:prstGeom>
          <a:solidFill>
            <a:srgbClr val="D30101"/>
          </a:solidFill>
          <a:ln w="19050" cap="flat" cmpd="sng">
            <a:solidFill>
              <a:srgbClr val="D3010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0" name="Google Shape;120;p74"/>
          <p:cNvSpPr/>
          <p:nvPr/>
        </p:nvSpPr>
        <p:spPr>
          <a:xfrm>
            <a:off x="8330229" y="3257281"/>
            <a:ext cx="1382486" cy="1175657"/>
          </a:xfrm>
          <a:prstGeom prst="roundRect">
            <a:avLst>
              <a:gd name="adj" fmla="val 16667"/>
            </a:avLst>
          </a:prstGeom>
          <a:solidFill>
            <a:srgbClr val="28D2C3"/>
          </a:solidFill>
          <a:ln w="19050" cap="flat" cmpd="sng">
            <a:solidFill>
              <a:srgbClr val="28D2C3"/>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1" name="Google Shape;121;p74"/>
          <p:cNvSpPr/>
          <p:nvPr/>
        </p:nvSpPr>
        <p:spPr>
          <a:xfrm>
            <a:off x="9972902" y="3257281"/>
            <a:ext cx="1382486" cy="1175657"/>
          </a:xfrm>
          <a:prstGeom prst="roundRect">
            <a:avLst>
              <a:gd name="adj" fmla="val 16667"/>
            </a:avLst>
          </a:prstGeom>
          <a:solidFill>
            <a:srgbClr val="373C46"/>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2"/>
              </a:solidFill>
              <a:latin typeface="Arial"/>
              <a:ea typeface="Arial"/>
              <a:cs typeface="Arial"/>
              <a:sym typeface="Arial"/>
            </a:endParaRPr>
          </a:p>
        </p:txBody>
      </p:sp>
      <p:sp>
        <p:nvSpPr>
          <p:cNvPr id="122" name="Google Shape;122;p74"/>
          <p:cNvSpPr txBox="1"/>
          <p:nvPr/>
        </p:nvSpPr>
        <p:spPr>
          <a:xfrm>
            <a:off x="6725915" y="4561077"/>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None/>
            </a:pPr>
            <a:r>
              <a:rPr lang="es-CL" sz="1050">
                <a:solidFill>
                  <a:schemeClr val="lt2"/>
                </a:solidFill>
                <a:highlight>
                  <a:srgbClr val="FFFFFF"/>
                </a:highlight>
                <a:latin typeface="Arial"/>
                <a:ea typeface="Arial"/>
                <a:cs typeface="Arial"/>
                <a:sym typeface="Arial"/>
              </a:rPr>
              <a:t>RGB : 210 01 01</a:t>
            </a:r>
            <a:endParaRPr sz="1800">
              <a:solidFill>
                <a:schemeClr val="lt2"/>
              </a:solidFill>
              <a:latin typeface="Arial"/>
              <a:ea typeface="Arial"/>
              <a:cs typeface="Arial"/>
              <a:sym typeface="Arial"/>
            </a:endParaRPr>
          </a:p>
        </p:txBody>
      </p:sp>
      <p:sp>
        <p:nvSpPr>
          <p:cNvPr id="123" name="Google Shape;123;p74"/>
          <p:cNvSpPr txBox="1"/>
          <p:nvPr/>
        </p:nvSpPr>
        <p:spPr>
          <a:xfrm>
            <a:off x="8330229" y="4561077"/>
            <a:ext cx="1269514"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40 210  195 </a:t>
            </a:r>
            <a:endParaRPr sz="1800">
              <a:solidFill>
                <a:schemeClr val="lt2"/>
              </a:solidFill>
              <a:latin typeface="Arial"/>
              <a:ea typeface="Arial"/>
              <a:cs typeface="Arial"/>
              <a:sym typeface="Arial"/>
            </a:endParaRPr>
          </a:p>
        </p:txBody>
      </p:sp>
      <p:sp>
        <p:nvSpPr>
          <p:cNvPr id="124" name="Google Shape;124;p74"/>
          <p:cNvSpPr txBox="1"/>
          <p:nvPr/>
        </p:nvSpPr>
        <p:spPr>
          <a:xfrm>
            <a:off x="9934543" y="4561077"/>
            <a:ext cx="1088572" cy="346218"/>
          </a:xfrm>
          <a:prstGeom prst="rect">
            <a:avLst/>
          </a:prstGeom>
          <a:noFill/>
          <a:ln>
            <a:noFill/>
          </a:ln>
        </p:spPr>
        <p:txBody>
          <a:bodyPr spcFirstLastPara="1" wrap="square" lIns="91425" tIns="91425" rIns="91425" bIns="91425" anchor="t" anchorCtr="0">
            <a:spAutoFit/>
          </a:bodyPr>
          <a:lstStyle/>
          <a:p>
            <a:pPr marL="0" marR="0" lvl="0" indent="0" algn="l" rtl="0">
              <a:spcBef>
                <a:spcPts val="0"/>
              </a:spcBef>
              <a:spcAft>
                <a:spcPts val="0"/>
              </a:spcAft>
              <a:buClr>
                <a:schemeClr val="lt2"/>
              </a:buClr>
              <a:buSzPts val="1050"/>
              <a:buFont typeface="Arial"/>
              <a:buNone/>
            </a:pPr>
            <a:r>
              <a:rPr lang="es-CL" sz="1050">
                <a:solidFill>
                  <a:schemeClr val="lt2"/>
                </a:solidFill>
                <a:highlight>
                  <a:srgbClr val="FFFFFF"/>
                </a:highlight>
                <a:latin typeface="Arial"/>
                <a:ea typeface="Arial"/>
                <a:cs typeface="Arial"/>
                <a:sym typeface="Arial"/>
              </a:rPr>
              <a:t>RGB : 55 60 70 </a:t>
            </a:r>
            <a:endParaRPr sz="1800">
              <a:solidFill>
                <a:schemeClr val="lt2"/>
              </a:solidFill>
              <a:latin typeface="Arial"/>
              <a:ea typeface="Arial"/>
              <a:cs typeface="Arial"/>
              <a:sym typeface="Arial"/>
            </a:endParaRPr>
          </a:p>
        </p:txBody>
      </p:sp>
      <p:pic>
        <p:nvPicPr>
          <p:cNvPr id="125" name="Google Shape;125;p74" descr="Interfaz de usuario gráfica, Logotipo&#10;&#10;Descripción generada automáticamente"/>
          <p:cNvPicPr preferRelativeResize="0"/>
          <p:nvPr/>
        </p:nvPicPr>
        <p:blipFill rotWithShape="1">
          <a:blip r:embed="rId2">
            <a:alphaModFix/>
          </a:blip>
          <a:srcRect/>
          <a:stretch/>
        </p:blipFill>
        <p:spPr>
          <a:xfrm>
            <a:off x="8373335" y="6159751"/>
            <a:ext cx="1105337" cy="305803"/>
          </a:xfrm>
          <a:prstGeom prst="rect">
            <a:avLst/>
          </a:prstGeom>
          <a:noFill/>
          <a:ln>
            <a:noFill/>
          </a:ln>
        </p:spPr>
      </p:pic>
      <p:pic>
        <p:nvPicPr>
          <p:cNvPr id="126" name="Google Shape;126;p74" descr="Logotipo&#10;&#10;Descripción generada automáticamente"/>
          <p:cNvPicPr preferRelativeResize="0"/>
          <p:nvPr/>
        </p:nvPicPr>
        <p:blipFill rotWithShape="1">
          <a:blip r:embed="rId3">
            <a:alphaModFix/>
          </a:blip>
          <a:srcRect/>
          <a:stretch/>
        </p:blipFill>
        <p:spPr>
          <a:xfrm>
            <a:off x="9478672" y="6132431"/>
            <a:ext cx="1793138" cy="360443"/>
          </a:xfrm>
          <a:prstGeom prst="rect">
            <a:avLst/>
          </a:prstGeom>
          <a:noFill/>
          <a:ln>
            <a:noFill/>
          </a:ln>
        </p:spPr>
      </p:pic>
      <p:pic>
        <p:nvPicPr>
          <p:cNvPr id="127" name="Google Shape;127;p74" descr="Logotipo&#10;&#10;Descripción generada automáticamente con confianza media"/>
          <p:cNvPicPr preferRelativeResize="0"/>
          <p:nvPr/>
        </p:nvPicPr>
        <p:blipFill rotWithShape="1">
          <a:blip r:embed="rId4">
            <a:alphaModFix/>
          </a:blip>
          <a:srcRect/>
          <a:stretch/>
        </p:blipFill>
        <p:spPr>
          <a:xfrm>
            <a:off x="6955017" y="6158486"/>
            <a:ext cx="1325283" cy="308332"/>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Comparación">
  <p:cSld name="1_Comparación">
    <p:bg>
      <p:bgPr>
        <a:solidFill>
          <a:schemeClr val="dk1"/>
        </a:solidFill>
        <a:effectLst/>
      </p:bgPr>
    </p:bg>
    <p:spTree>
      <p:nvGrpSpPr>
        <p:cNvPr id="1" name="Shape 128"/>
        <p:cNvGrpSpPr/>
        <p:nvPr/>
      </p:nvGrpSpPr>
      <p:grpSpPr>
        <a:xfrm>
          <a:off x="0" y="0"/>
          <a:ext cx="0" cy="0"/>
          <a:chOff x="0" y="0"/>
          <a:chExt cx="0" cy="0"/>
        </a:xfrm>
      </p:grpSpPr>
      <p:sp>
        <p:nvSpPr>
          <p:cNvPr id="129" name="Google Shape;129;p75"/>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130" name="Google Shape;130;p75"/>
          <p:cNvGraphicFramePr/>
          <p:nvPr/>
        </p:nvGraphicFramePr>
        <p:xfrm>
          <a:off x="1469306" y="1726333"/>
          <a:ext cx="4064000" cy="208300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1" name="Google Shape;131;p75"/>
          <p:cNvGraphicFramePr/>
          <p:nvPr/>
        </p:nvGraphicFramePr>
        <p:xfrm>
          <a:off x="6976714" y="1536195"/>
          <a:ext cx="4064000" cy="227314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2" name="Google Shape;132;p75"/>
          <p:cNvGraphicFramePr/>
          <p:nvPr/>
        </p:nvGraphicFramePr>
        <p:xfrm>
          <a:off x="3922751" y="4210952"/>
          <a:ext cx="4569522" cy="2339673"/>
        </p:xfrm>
        <a:graphic>
          <a:graphicData uri="http://schemas.openxmlformats.org/drawingml/2006/chart">
            <c:chart xmlns:c="http://schemas.openxmlformats.org/drawingml/2006/chart" xmlns:r="http://schemas.openxmlformats.org/officeDocument/2006/relationships" r:id="rId4"/>
          </a:graphicData>
        </a:graphic>
      </p:graphicFrame>
      <p:pic>
        <p:nvPicPr>
          <p:cNvPr id="133" name="Google Shape;133;p75" descr="Logotipo&#10;&#10;Descripción generada automáticamente con confianza media"/>
          <p:cNvPicPr preferRelativeResize="0"/>
          <p:nvPr/>
        </p:nvPicPr>
        <p:blipFill rotWithShape="1">
          <a:blip r:embed="rId5">
            <a:alphaModFix/>
          </a:blip>
          <a:srcRect/>
          <a:stretch/>
        </p:blipFill>
        <p:spPr>
          <a:xfrm>
            <a:off x="330200" y="6399764"/>
            <a:ext cx="1223729" cy="278296"/>
          </a:xfrm>
          <a:prstGeom prst="rect">
            <a:avLst/>
          </a:prstGeom>
          <a:noFill/>
          <a:ln>
            <a:noFill/>
          </a:ln>
        </p:spPr>
      </p:pic>
      <p:pic>
        <p:nvPicPr>
          <p:cNvPr id="134" name="Google Shape;134;p75" descr="Logotipo&#10;&#10;Descripción generada automáticamente con confianza media"/>
          <p:cNvPicPr preferRelativeResize="0"/>
          <p:nvPr/>
        </p:nvPicPr>
        <p:blipFill rotWithShape="1">
          <a:blip r:embed="rId6">
            <a:alphaModFix/>
          </a:blip>
          <a:srcRect/>
          <a:stretch/>
        </p:blipFill>
        <p:spPr>
          <a:xfrm>
            <a:off x="11415224" y="126683"/>
            <a:ext cx="471976" cy="47274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2_Comparación">
  <p:cSld name="2_Comparación">
    <p:bg>
      <p:bgPr>
        <a:solidFill>
          <a:schemeClr val="dk1"/>
        </a:solidFill>
        <a:effectLst/>
      </p:bgPr>
    </p:bg>
    <p:spTree>
      <p:nvGrpSpPr>
        <p:cNvPr id="1" name="Shape 135"/>
        <p:cNvGrpSpPr/>
        <p:nvPr/>
      </p:nvGrpSpPr>
      <p:grpSpPr>
        <a:xfrm>
          <a:off x="0" y="0"/>
          <a:ext cx="0" cy="0"/>
          <a:chOff x="0" y="0"/>
          <a:chExt cx="0" cy="0"/>
        </a:xfrm>
      </p:grpSpPr>
      <p:sp>
        <p:nvSpPr>
          <p:cNvPr id="136" name="Google Shape;136;p76"/>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37" name="Google Shape;137;p76" descr="Logotipo&#10;&#10;Descripción generada automáticamente"/>
          <p:cNvPicPr preferRelativeResize="0"/>
          <p:nvPr/>
        </p:nvPicPr>
        <p:blipFill rotWithShape="1">
          <a:blip r:embed="rId2">
            <a:alphaModFix/>
          </a:blip>
          <a:srcRect/>
          <a:stretch/>
        </p:blipFill>
        <p:spPr>
          <a:xfrm>
            <a:off x="330200" y="6399764"/>
            <a:ext cx="1473330" cy="278296"/>
          </a:xfrm>
          <a:prstGeom prst="rect">
            <a:avLst/>
          </a:prstGeom>
          <a:noFill/>
          <a:ln>
            <a:noFill/>
          </a:ln>
        </p:spPr>
      </p:pic>
      <p:graphicFrame>
        <p:nvGraphicFramePr>
          <p:cNvPr id="138" name="Google Shape;138;p76"/>
          <p:cNvGraphicFramePr/>
          <p:nvPr/>
        </p:nvGraphicFramePr>
        <p:xfrm>
          <a:off x="1580198" y="1750491"/>
          <a:ext cx="4243659" cy="227657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9" name="Google Shape;139;p76"/>
          <p:cNvGraphicFramePr/>
          <p:nvPr/>
        </p:nvGraphicFramePr>
        <p:xfrm>
          <a:off x="7457688" y="1750491"/>
          <a:ext cx="3108712" cy="205698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0" name="Google Shape;140;p76"/>
          <p:cNvGraphicFramePr/>
          <p:nvPr/>
        </p:nvGraphicFramePr>
        <p:xfrm>
          <a:off x="4304988" y="4082519"/>
          <a:ext cx="4539788" cy="2480733"/>
        </p:xfrm>
        <a:graphic>
          <a:graphicData uri="http://schemas.openxmlformats.org/drawingml/2006/chart">
            <c:chart xmlns:c="http://schemas.openxmlformats.org/drawingml/2006/chart" xmlns:r="http://schemas.openxmlformats.org/officeDocument/2006/relationships" r:id="rId5"/>
          </a:graphicData>
        </a:graphic>
      </p:graphicFrame>
      <p:pic>
        <p:nvPicPr>
          <p:cNvPr id="141" name="Google Shape;141;p76" descr="Logotipo&#10;&#10;Descripción generada automáticamente"/>
          <p:cNvPicPr preferRelativeResize="0"/>
          <p:nvPr/>
        </p:nvPicPr>
        <p:blipFill rotWithShape="1">
          <a:blip r:embed="rId6">
            <a:alphaModFix/>
          </a:blip>
          <a:srcRect/>
          <a:stretch/>
        </p:blipFill>
        <p:spPr>
          <a:xfrm>
            <a:off x="11415224" y="148488"/>
            <a:ext cx="444782" cy="429137"/>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3_Comparación">
  <p:cSld name="3_Comparación">
    <p:bg>
      <p:bgPr>
        <a:solidFill>
          <a:schemeClr val="dk1"/>
        </a:solidFill>
        <a:effectLst/>
      </p:bgPr>
    </p:bg>
    <p:spTree>
      <p:nvGrpSpPr>
        <p:cNvPr id="1" name="Shape 142"/>
        <p:cNvGrpSpPr/>
        <p:nvPr/>
      </p:nvGrpSpPr>
      <p:grpSpPr>
        <a:xfrm>
          <a:off x="0" y="0"/>
          <a:ext cx="0" cy="0"/>
          <a:chOff x="0" y="0"/>
          <a:chExt cx="0" cy="0"/>
        </a:xfrm>
      </p:grpSpPr>
      <p:sp>
        <p:nvSpPr>
          <p:cNvPr id="143" name="Google Shape;143;p77"/>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aphicFrame>
        <p:nvGraphicFramePr>
          <p:cNvPr id="144" name="Google Shape;144;p77"/>
          <p:cNvGraphicFramePr/>
          <p:nvPr/>
        </p:nvGraphicFramePr>
        <p:xfrm>
          <a:off x="1867032" y="1684103"/>
          <a:ext cx="4228968" cy="229292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5" name="Google Shape;145;p77"/>
          <p:cNvGraphicFramePr/>
          <p:nvPr/>
        </p:nvGraphicFramePr>
        <p:xfrm>
          <a:off x="7772399" y="1760303"/>
          <a:ext cx="2301487" cy="221672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6" name="Google Shape;146;p77"/>
          <p:cNvGraphicFramePr/>
          <p:nvPr/>
        </p:nvGraphicFramePr>
        <p:xfrm>
          <a:off x="3816195" y="4103271"/>
          <a:ext cx="4993268" cy="2415759"/>
        </p:xfrm>
        <a:graphic>
          <a:graphicData uri="http://schemas.openxmlformats.org/drawingml/2006/chart">
            <c:chart xmlns:c="http://schemas.openxmlformats.org/drawingml/2006/chart" xmlns:r="http://schemas.openxmlformats.org/officeDocument/2006/relationships" r:id="rId4"/>
          </a:graphicData>
        </a:graphic>
      </p:graphicFrame>
      <p:pic>
        <p:nvPicPr>
          <p:cNvPr id="147" name="Google Shape;147;p77" descr="Interfaz de usuario gráfica, Logotipo&#10;&#10;Descripción generada automáticamente"/>
          <p:cNvPicPr preferRelativeResize="0"/>
          <p:nvPr/>
        </p:nvPicPr>
        <p:blipFill rotWithShape="1">
          <a:blip r:embed="rId5">
            <a:alphaModFix/>
          </a:blip>
          <a:srcRect/>
          <a:stretch/>
        </p:blipFill>
        <p:spPr>
          <a:xfrm>
            <a:off x="351220" y="6369269"/>
            <a:ext cx="1057873" cy="308790"/>
          </a:xfrm>
          <a:prstGeom prst="rect">
            <a:avLst/>
          </a:prstGeom>
          <a:noFill/>
          <a:ln>
            <a:noFill/>
          </a:ln>
        </p:spPr>
      </p:pic>
      <p:pic>
        <p:nvPicPr>
          <p:cNvPr id="148" name="Google Shape;148;p77" descr="Interfaz de usuario gráfica, Logotipo&#10;&#10;Descripción generada automáticamente"/>
          <p:cNvPicPr preferRelativeResize="0"/>
          <p:nvPr/>
        </p:nvPicPr>
        <p:blipFill rotWithShape="1">
          <a:blip r:embed="rId6">
            <a:alphaModFix/>
          </a:blip>
          <a:srcRect/>
          <a:stretch/>
        </p:blipFill>
        <p:spPr>
          <a:xfrm>
            <a:off x="11415225" y="102371"/>
            <a:ext cx="471976" cy="503746"/>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_Comparación">
  <p:cSld name="4_Comparación">
    <p:bg>
      <p:bgPr>
        <a:solidFill>
          <a:schemeClr val="dk1"/>
        </a:solidFill>
        <a:effectLst/>
      </p:bgPr>
    </p:bg>
    <p:spTree>
      <p:nvGrpSpPr>
        <p:cNvPr id="1" name="Shape 149"/>
        <p:cNvGrpSpPr/>
        <p:nvPr/>
      </p:nvGrpSpPr>
      <p:grpSpPr>
        <a:xfrm>
          <a:off x="0" y="0"/>
          <a:ext cx="0" cy="0"/>
          <a:chOff x="0" y="0"/>
          <a:chExt cx="0" cy="0"/>
        </a:xfrm>
      </p:grpSpPr>
      <p:sp>
        <p:nvSpPr>
          <p:cNvPr id="150" name="Google Shape;150;p78"/>
          <p:cNvSpPr/>
          <p:nvPr/>
        </p:nvSpPr>
        <p:spPr>
          <a:xfrm>
            <a:off x="-10510" y="1179213"/>
            <a:ext cx="12192000" cy="1574816"/>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51" name="Google Shape;151;p78"/>
          <p:cNvSpPr txBox="1">
            <a:spLocks noGrp="1"/>
          </p:cNvSpPr>
          <p:nvPr>
            <p:ph type="title"/>
          </p:nvPr>
        </p:nvSpPr>
        <p:spPr>
          <a:xfrm>
            <a:off x="839788" y="365126"/>
            <a:ext cx="10515600" cy="60508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2"/>
              </a:buClr>
              <a:buSzPts val="3000"/>
              <a:buFont typeface="Play"/>
              <a:buNone/>
              <a:defRPr sz="3000" b="0">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52" name="Google Shape;152;p78" descr="Logotipo&#10;&#10;Descripción generada automáticamente"/>
          <p:cNvPicPr preferRelativeResize="0"/>
          <p:nvPr/>
        </p:nvPicPr>
        <p:blipFill rotWithShape="1">
          <a:blip r:embed="rId2">
            <a:alphaModFix/>
          </a:blip>
          <a:srcRect/>
          <a:stretch/>
        </p:blipFill>
        <p:spPr>
          <a:xfrm>
            <a:off x="4471612" y="1311120"/>
            <a:ext cx="4142322" cy="1331873"/>
          </a:xfrm>
          <a:prstGeom prst="rect">
            <a:avLst/>
          </a:prstGeom>
          <a:noFill/>
          <a:ln>
            <a:noFill/>
          </a:ln>
        </p:spPr>
      </p:pic>
      <p:pic>
        <p:nvPicPr>
          <p:cNvPr id="153" name="Google Shape;153;p78" descr="Logotipo&#10;&#10;Descripción generada automáticamente"/>
          <p:cNvPicPr preferRelativeResize="0"/>
          <p:nvPr/>
        </p:nvPicPr>
        <p:blipFill rotWithShape="1">
          <a:blip r:embed="rId3">
            <a:alphaModFix/>
          </a:blip>
          <a:srcRect/>
          <a:stretch/>
        </p:blipFill>
        <p:spPr>
          <a:xfrm>
            <a:off x="8915958" y="1480479"/>
            <a:ext cx="2630517" cy="993154"/>
          </a:xfrm>
          <a:prstGeom prst="rect">
            <a:avLst/>
          </a:prstGeom>
          <a:noFill/>
          <a:ln>
            <a:noFill/>
          </a:ln>
        </p:spPr>
      </p:pic>
      <p:pic>
        <p:nvPicPr>
          <p:cNvPr id="154" name="Google Shape;154;p78" descr="Logotipo&#10;&#10;Descripción generada automáticamente con confianza media"/>
          <p:cNvPicPr preferRelativeResize="0"/>
          <p:nvPr/>
        </p:nvPicPr>
        <p:blipFill rotWithShape="1">
          <a:blip r:embed="rId4">
            <a:alphaModFix/>
          </a:blip>
          <a:srcRect/>
          <a:stretch/>
        </p:blipFill>
        <p:spPr>
          <a:xfrm>
            <a:off x="909799" y="1410689"/>
            <a:ext cx="3314381" cy="1160033"/>
          </a:xfrm>
          <a:prstGeom prst="rect">
            <a:avLst/>
          </a:prstGeom>
          <a:noFill/>
          <a:ln>
            <a:noFill/>
          </a:ln>
        </p:spPr>
      </p:pic>
      <p:pic>
        <p:nvPicPr>
          <p:cNvPr id="155" name="Google Shape;155;p78" descr="Interfaz de usuario gráfica, Logotipo&#10;&#10;Descripción generada automáticamente"/>
          <p:cNvPicPr preferRelativeResize="0"/>
          <p:nvPr/>
        </p:nvPicPr>
        <p:blipFill rotWithShape="1">
          <a:blip r:embed="rId5">
            <a:alphaModFix/>
          </a:blip>
          <a:srcRect/>
          <a:stretch/>
        </p:blipFill>
        <p:spPr>
          <a:xfrm>
            <a:off x="8907005" y="3092179"/>
            <a:ext cx="2528249" cy="699466"/>
          </a:xfrm>
          <a:prstGeom prst="rect">
            <a:avLst/>
          </a:prstGeom>
          <a:noFill/>
          <a:ln>
            <a:noFill/>
          </a:ln>
        </p:spPr>
      </p:pic>
      <p:pic>
        <p:nvPicPr>
          <p:cNvPr id="156" name="Google Shape;156;p78" descr="Logotipo&#10;&#10;Descripción generada automáticamente"/>
          <p:cNvPicPr preferRelativeResize="0"/>
          <p:nvPr/>
        </p:nvPicPr>
        <p:blipFill rotWithShape="1">
          <a:blip r:embed="rId6">
            <a:alphaModFix/>
          </a:blip>
          <a:srcRect/>
          <a:stretch/>
        </p:blipFill>
        <p:spPr>
          <a:xfrm>
            <a:off x="4548115" y="3047398"/>
            <a:ext cx="3945173" cy="793029"/>
          </a:xfrm>
          <a:prstGeom prst="rect">
            <a:avLst/>
          </a:prstGeom>
          <a:noFill/>
          <a:ln>
            <a:noFill/>
          </a:ln>
        </p:spPr>
      </p:pic>
      <p:pic>
        <p:nvPicPr>
          <p:cNvPr id="157" name="Google Shape;157;p78" descr="Logotipo&#10;&#10;Descripción generada automáticamente con confianza media"/>
          <p:cNvPicPr preferRelativeResize="0"/>
          <p:nvPr/>
        </p:nvPicPr>
        <p:blipFill rotWithShape="1">
          <a:blip r:embed="rId7">
            <a:alphaModFix/>
          </a:blip>
          <a:srcRect/>
          <a:stretch/>
        </p:blipFill>
        <p:spPr>
          <a:xfrm>
            <a:off x="970237" y="3089275"/>
            <a:ext cx="3006470" cy="699466"/>
          </a:xfrm>
          <a:prstGeom prst="rect">
            <a:avLst/>
          </a:prstGeom>
          <a:noFill/>
          <a:ln>
            <a:noFill/>
          </a:ln>
        </p:spPr>
      </p:pic>
      <p:sp>
        <p:nvSpPr>
          <p:cNvPr id="158" name="Google Shape;158;p78"/>
          <p:cNvSpPr/>
          <p:nvPr/>
        </p:nvSpPr>
        <p:spPr>
          <a:xfrm>
            <a:off x="-10510" y="4175673"/>
            <a:ext cx="12192000" cy="1371207"/>
          </a:xfrm>
          <a:prstGeom prst="rect">
            <a:avLst/>
          </a:prstGeom>
          <a:solidFill>
            <a:schemeClr val="accent1"/>
          </a:solid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159" name="Google Shape;159;p78" descr="Logotipo&#10;&#10;Descripción generada automáticamente con confianza media"/>
          <p:cNvPicPr preferRelativeResize="0"/>
          <p:nvPr/>
        </p:nvPicPr>
        <p:blipFill rotWithShape="1">
          <a:blip r:embed="rId8">
            <a:alphaModFix/>
          </a:blip>
          <a:srcRect/>
          <a:stretch/>
        </p:blipFill>
        <p:spPr>
          <a:xfrm>
            <a:off x="1731618" y="4293580"/>
            <a:ext cx="1670742" cy="1195598"/>
          </a:xfrm>
          <a:prstGeom prst="rect">
            <a:avLst/>
          </a:prstGeom>
          <a:noFill/>
          <a:ln>
            <a:noFill/>
          </a:ln>
        </p:spPr>
      </p:pic>
      <p:pic>
        <p:nvPicPr>
          <p:cNvPr id="160" name="Google Shape;160;p78" descr="Logotipo&#10;&#10;Descripción generada automáticamente con confianza media"/>
          <p:cNvPicPr preferRelativeResize="0"/>
          <p:nvPr/>
        </p:nvPicPr>
        <p:blipFill rotWithShape="1">
          <a:blip r:embed="rId8">
            <a:alphaModFix/>
          </a:blip>
          <a:srcRect/>
          <a:stretch/>
        </p:blipFill>
        <p:spPr>
          <a:xfrm>
            <a:off x="5563731" y="4293580"/>
            <a:ext cx="1670742" cy="1195598"/>
          </a:xfrm>
          <a:prstGeom prst="rect">
            <a:avLst/>
          </a:prstGeom>
          <a:noFill/>
          <a:ln>
            <a:noFill/>
          </a:ln>
        </p:spPr>
      </p:pic>
      <p:pic>
        <p:nvPicPr>
          <p:cNvPr id="161" name="Google Shape;161;p78" descr="Logotipo&#10;&#10;Descripción generada automáticamente con confianza media"/>
          <p:cNvPicPr preferRelativeResize="0"/>
          <p:nvPr/>
        </p:nvPicPr>
        <p:blipFill rotWithShape="1">
          <a:blip r:embed="rId8">
            <a:alphaModFix/>
          </a:blip>
          <a:srcRect/>
          <a:stretch/>
        </p:blipFill>
        <p:spPr>
          <a:xfrm>
            <a:off x="9395845" y="4276628"/>
            <a:ext cx="1670742" cy="1195598"/>
          </a:xfrm>
          <a:prstGeom prst="rect">
            <a:avLst/>
          </a:prstGeom>
          <a:noFill/>
          <a:ln>
            <a:noFill/>
          </a:ln>
        </p:spPr>
      </p:pic>
      <p:pic>
        <p:nvPicPr>
          <p:cNvPr id="162" name="Google Shape;162;p78" descr="Logotipo&#10;&#10;Descripción generada automáticamente con confianza media"/>
          <p:cNvPicPr preferRelativeResize="0"/>
          <p:nvPr/>
        </p:nvPicPr>
        <p:blipFill rotWithShape="1">
          <a:blip r:embed="rId9">
            <a:alphaModFix/>
          </a:blip>
          <a:srcRect/>
          <a:stretch/>
        </p:blipFill>
        <p:spPr>
          <a:xfrm>
            <a:off x="1731618" y="5562353"/>
            <a:ext cx="1346858" cy="1406171"/>
          </a:xfrm>
          <a:prstGeom prst="rect">
            <a:avLst/>
          </a:prstGeom>
          <a:noFill/>
          <a:ln>
            <a:noFill/>
          </a:ln>
        </p:spPr>
      </p:pic>
      <p:pic>
        <p:nvPicPr>
          <p:cNvPr id="163" name="Google Shape;163;p78" descr="Logotipo&#10;&#10;Descripción generada automáticamente"/>
          <p:cNvPicPr preferRelativeResize="0"/>
          <p:nvPr/>
        </p:nvPicPr>
        <p:blipFill rotWithShape="1">
          <a:blip r:embed="rId10">
            <a:alphaModFix/>
          </a:blip>
          <a:srcRect/>
          <a:stretch/>
        </p:blipFill>
        <p:spPr>
          <a:xfrm>
            <a:off x="5353837" y="5472226"/>
            <a:ext cx="2090530" cy="1549901"/>
          </a:xfrm>
          <a:prstGeom prst="rect">
            <a:avLst/>
          </a:prstGeom>
          <a:noFill/>
          <a:ln>
            <a:noFill/>
          </a:ln>
        </p:spPr>
      </p:pic>
      <p:pic>
        <p:nvPicPr>
          <p:cNvPr id="164" name="Google Shape;164;p78" descr="Interfaz de usuario gráfica, Logotipo&#10;&#10;Descripción generada automáticamente"/>
          <p:cNvPicPr preferRelativeResize="0"/>
          <p:nvPr/>
        </p:nvPicPr>
        <p:blipFill rotWithShape="1">
          <a:blip r:embed="rId11">
            <a:alphaModFix/>
          </a:blip>
          <a:srcRect/>
          <a:stretch/>
        </p:blipFill>
        <p:spPr>
          <a:xfrm>
            <a:off x="9395845" y="5393708"/>
            <a:ext cx="1670742" cy="1574816"/>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_Diapositiva de título">
  <p:cSld name="2_Diapositiva de título">
    <p:spTree>
      <p:nvGrpSpPr>
        <p:cNvPr id="1" name="Shape 165"/>
        <p:cNvGrpSpPr/>
        <p:nvPr/>
      </p:nvGrpSpPr>
      <p:grpSpPr>
        <a:xfrm>
          <a:off x="0" y="0"/>
          <a:ext cx="0" cy="0"/>
          <a:chOff x="0" y="0"/>
          <a:chExt cx="0" cy="0"/>
        </a:xfrm>
      </p:grpSpPr>
      <p:pic>
        <p:nvPicPr>
          <p:cNvPr id="166" name="Google Shape;166;p79" descr="Logotipo&#10;&#10;Descripción generada automáticamente"/>
          <p:cNvPicPr preferRelativeResize="0"/>
          <p:nvPr/>
        </p:nvPicPr>
        <p:blipFill rotWithShape="1">
          <a:blip r:embed="rId2">
            <a:alphaModFix/>
          </a:blip>
          <a:srcRect/>
          <a:stretch/>
        </p:blipFill>
        <p:spPr>
          <a:xfrm>
            <a:off x="4387529" y="2919202"/>
            <a:ext cx="4142322" cy="1331873"/>
          </a:xfrm>
          <a:prstGeom prst="rect">
            <a:avLst/>
          </a:prstGeom>
          <a:noFill/>
          <a:ln>
            <a:noFill/>
          </a:ln>
        </p:spPr>
      </p:pic>
      <p:pic>
        <p:nvPicPr>
          <p:cNvPr id="167" name="Google Shape;167;p79" descr="Logotipo&#10;&#10;Descripción generada automáticamente"/>
          <p:cNvPicPr preferRelativeResize="0"/>
          <p:nvPr/>
        </p:nvPicPr>
        <p:blipFill rotWithShape="1">
          <a:blip r:embed="rId3">
            <a:alphaModFix/>
          </a:blip>
          <a:srcRect/>
          <a:stretch/>
        </p:blipFill>
        <p:spPr>
          <a:xfrm>
            <a:off x="8831875" y="3088561"/>
            <a:ext cx="2630517" cy="993154"/>
          </a:xfrm>
          <a:prstGeom prst="rect">
            <a:avLst/>
          </a:prstGeom>
          <a:noFill/>
          <a:ln>
            <a:noFill/>
          </a:ln>
        </p:spPr>
      </p:pic>
      <p:pic>
        <p:nvPicPr>
          <p:cNvPr id="168" name="Google Shape;168;p79" descr="Logotipo&#10;&#10;Descripción generada automáticamente con confianza media"/>
          <p:cNvPicPr preferRelativeResize="0"/>
          <p:nvPr/>
        </p:nvPicPr>
        <p:blipFill rotWithShape="1">
          <a:blip r:embed="rId4">
            <a:alphaModFix/>
          </a:blip>
          <a:srcRect/>
          <a:stretch/>
        </p:blipFill>
        <p:spPr>
          <a:xfrm>
            <a:off x="825716" y="3018771"/>
            <a:ext cx="3314381" cy="116003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3_Diapositiva de título">
  <p:cSld name="3_Diapositiva de título">
    <p:bg>
      <p:bgPr>
        <a:solidFill>
          <a:schemeClr val="dk1"/>
        </a:solidFill>
        <a:effectLst/>
      </p:bgPr>
    </p:bg>
    <p:spTree>
      <p:nvGrpSpPr>
        <p:cNvPr id="1" name="Shape 169"/>
        <p:cNvGrpSpPr/>
        <p:nvPr/>
      </p:nvGrpSpPr>
      <p:grpSpPr>
        <a:xfrm>
          <a:off x="0" y="0"/>
          <a:ext cx="0" cy="0"/>
          <a:chOff x="0" y="0"/>
          <a:chExt cx="0" cy="0"/>
        </a:xfrm>
      </p:grpSpPr>
      <p:pic>
        <p:nvPicPr>
          <p:cNvPr id="170" name="Google Shape;170;p80" descr="Interfaz de usuario gráfica, Logotipo&#10;&#10;Descripción generada automáticamente"/>
          <p:cNvPicPr preferRelativeResize="0"/>
          <p:nvPr/>
        </p:nvPicPr>
        <p:blipFill rotWithShape="1">
          <a:blip r:embed="rId2">
            <a:alphaModFix/>
          </a:blip>
          <a:srcRect/>
          <a:stretch/>
        </p:blipFill>
        <p:spPr>
          <a:xfrm>
            <a:off x="8654758" y="3386689"/>
            <a:ext cx="2793378" cy="772817"/>
          </a:xfrm>
          <a:prstGeom prst="rect">
            <a:avLst/>
          </a:prstGeom>
          <a:noFill/>
          <a:ln>
            <a:noFill/>
          </a:ln>
        </p:spPr>
      </p:pic>
      <p:pic>
        <p:nvPicPr>
          <p:cNvPr id="171" name="Google Shape;171;p80" descr="Logotipo&#10;&#10;Descripción generada automáticamente"/>
          <p:cNvPicPr preferRelativeResize="0"/>
          <p:nvPr/>
        </p:nvPicPr>
        <p:blipFill rotWithShape="1">
          <a:blip r:embed="rId3">
            <a:alphaModFix/>
          </a:blip>
          <a:srcRect/>
          <a:stretch/>
        </p:blipFill>
        <p:spPr>
          <a:xfrm>
            <a:off x="4295868" y="3332097"/>
            <a:ext cx="4358890" cy="876191"/>
          </a:xfrm>
          <a:prstGeom prst="rect">
            <a:avLst/>
          </a:prstGeom>
          <a:noFill/>
          <a:ln>
            <a:noFill/>
          </a:ln>
        </p:spPr>
      </p:pic>
      <p:pic>
        <p:nvPicPr>
          <p:cNvPr id="172" name="Google Shape;172;p80" descr="Logotipo&#10;&#10;Descripción generada automáticamente con confianza media"/>
          <p:cNvPicPr preferRelativeResize="0"/>
          <p:nvPr/>
        </p:nvPicPr>
        <p:blipFill rotWithShape="1">
          <a:blip r:embed="rId4">
            <a:alphaModFix/>
          </a:blip>
          <a:srcRect/>
          <a:stretch/>
        </p:blipFill>
        <p:spPr>
          <a:xfrm>
            <a:off x="717990" y="3383785"/>
            <a:ext cx="3321748" cy="772817"/>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173"/>
        <p:cNvGrpSpPr/>
        <p:nvPr/>
      </p:nvGrpSpPr>
      <p:grpSpPr>
        <a:xfrm>
          <a:off x="0" y="0"/>
          <a:ext cx="0" cy="0"/>
          <a:chOff x="0" y="0"/>
          <a:chExt cx="0" cy="0"/>
        </a:xfrm>
      </p:grpSpPr>
      <p:sp>
        <p:nvSpPr>
          <p:cNvPr id="174" name="Google Shape;174;p8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81"/>
          <p:cNvSpPr>
            <a:spLocks noGrp="1"/>
          </p:cNvSpPr>
          <p:nvPr>
            <p:ph type="pic" idx="2"/>
          </p:nvPr>
        </p:nvSpPr>
        <p:spPr>
          <a:xfrm>
            <a:off x="5183188" y="987425"/>
            <a:ext cx="6172200" cy="4873625"/>
          </a:xfrm>
          <a:prstGeom prst="rect">
            <a:avLst/>
          </a:prstGeom>
          <a:noFill/>
          <a:ln>
            <a:noFill/>
          </a:ln>
        </p:spPr>
      </p:sp>
      <p:sp>
        <p:nvSpPr>
          <p:cNvPr id="176" name="Google Shape;176;p8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7" name="Google Shape;177;p8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CL"/>
              <a:t>‹Nº›</a:t>
            </a:fld>
            <a:endParaRPr/>
          </a:p>
        </p:txBody>
      </p:sp>
      <p:pic>
        <p:nvPicPr>
          <p:cNvPr id="178" name="Google Shape;178;p81" descr="Logotipo&#10;&#10;Descripción generada automáticamente con confianza media"/>
          <p:cNvPicPr preferRelativeResize="0"/>
          <p:nvPr/>
        </p:nvPicPr>
        <p:blipFill rotWithShape="1">
          <a:blip r:embed="rId2">
            <a:alphaModFix/>
          </a:blip>
          <a:srcRect/>
          <a:stretch/>
        </p:blipFill>
        <p:spPr>
          <a:xfrm>
            <a:off x="11399520" y="126683"/>
            <a:ext cx="576281" cy="500244"/>
          </a:xfrm>
          <a:prstGeom prst="rect">
            <a:avLst/>
          </a:prstGeom>
          <a:noFill/>
          <a:ln>
            <a:noFill/>
          </a:ln>
        </p:spPr>
      </p:pic>
      <p:pic>
        <p:nvPicPr>
          <p:cNvPr id="179" name="Google Shape;179;p81" descr="Logotipo&#10;&#10;Descripción generada automáticamente con confianza media"/>
          <p:cNvPicPr preferRelativeResize="0"/>
          <p:nvPr/>
        </p:nvPicPr>
        <p:blipFill rotWithShape="1">
          <a:blip r:embed="rId3">
            <a:alphaModFix/>
          </a:blip>
          <a:srcRect l="17151" t="29551" r="17156" b="29573"/>
          <a:stretch/>
        </p:blipFill>
        <p:spPr>
          <a:xfrm>
            <a:off x="717120" y="6156100"/>
            <a:ext cx="1398284" cy="48939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Imagen con título">
  <p:cSld name="1_Imagen con título">
    <p:bg>
      <p:bgPr>
        <a:solidFill>
          <a:schemeClr val="accent1"/>
        </a:solidFill>
        <a:effectLst/>
      </p:bgPr>
    </p:bg>
    <p:spTree>
      <p:nvGrpSpPr>
        <p:cNvPr id="1" name="Shape 180"/>
        <p:cNvGrpSpPr/>
        <p:nvPr/>
      </p:nvGrpSpPr>
      <p:grpSpPr>
        <a:xfrm>
          <a:off x="0" y="0"/>
          <a:ext cx="0" cy="0"/>
          <a:chOff x="0" y="0"/>
          <a:chExt cx="0" cy="0"/>
        </a:xfrm>
      </p:grpSpPr>
      <p:pic>
        <p:nvPicPr>
          <p:cNvPr id="181" name="Google Shape;181;p82" descr="Logotipo&#10;&#10;Descripción generada automáticamente con confianza media"/>
          <p:cNvPicPr preferRelativeResize="0"/>
          <p:nvPr/>
        </p:nvPicPr>
        <p:blipFill rotWithShape="1">
          <a:blip r:embed="rId2">
            <a:alphaModFix/>
          </a:blip>
          <a:srcRect/>
          <a:stretch/>
        </p:blipFill>
        <p:spPr>
          <a:xfrm>
            <a:off x="11399520" y="126683"/>
            <a:ext cx="576281" cy="500244"/>
          </a:xfrm>
          <a:prstGeom prst="rect">
            <a:avLst/>
          </a:prstGeom>
          <a:noFill/>
          <a:ln>
            <a:noFill/>
          </a:ln>
        </p:spPr>
      </p:pic>
      <p:sp>
        <p:nvSpPr>
          <p:cNvPr id="182" name="Google Shape;182;p8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2"/>
              </a:buClr>
              <a:buSzPts val="3200"/>
              <a:buFont typeface="Play"/>
              <a:buNone/>
              <a:defRPr sz="3200" b="1">
                <a:solidFill>
                  <a:schemeClr val="lt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3" name="Google Shape;183;p82"/>
          <p:cNvSpPr>
            <a:spLocks noGrp="1"/>
          </p:cNvSpPr>
          <p:nvPr>
            <p:ph type="pic" idx="2"/>
          </p:nvPr>
        </p:nvSpPr>
        <p:spPr>
          <a:xfrm>
            <a:off x="5183188" y="987425"/>
            <a:ext cx="6172200" cy="4873625"/>
          </a:xfrm>
          <a:prstGeom prst="rect">
            <a:avLst/>
          </a:prstGeom>
          <a:noFill/>
          <a:ln>
            <a:noFill/>
          </a:ln>
        </p:spPr>
      </p:sp>
      <p:sp>
        <p:nvSpPr>
          <p:cNvPr id="184" name="Google Shape;184;p8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2"/>
              </a:buClr>
              <a:buSzPts val="1600"/>
              <a:buNone/>
              <a:defRPr sz="1600">
                <a:solidFill>
                  <a:schemeClr val="lt2"/>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85" name="Google Shape;185;p8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pic>
        <p:nvPicPr>
          <p:cNvPr id="186" name="Google Shape;186;p82" descr="Logotipo&#10;&#10;Descripción generada automáticamente con confianza media"/>
          <p:cNvPicPr preferRelativeResize="0"/>
          <p:nvPr/>
        </p:nvPicPr>
        <p:blipFill rotWithShape="1">
          <a:blip r:embed="rId3">
            <a:alphaModFix/>
          </a:blip>
          <a:srcRect l="17151" t="29551" r="17156" b="29573"/>
          <a:stretch/>
        </p:blipFill>
        <p:spPr>
          <a:xfrm>
            <a:off x="717120" y="6156100"/>
            <a:ext cx="1398284" cy="48939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_Imagen con título">
  <p:cSld name="2_Imagen con título">
    <p:bg>
      <p:bgPr>
        <a:solidFill>
          <a:schemeClr val="accent4"/>
        </a:solidFill>
        <a:effectLst/>
      </p:bgPr>
    </p:bg>
    <p:spTree>
      <p:nvGrpSpPr>
        <p:cNvPr id="1" name="Shape 187"/>
        <p:cNvGrpSpPr/>
        <p:nvPr/>
      </p:nvGrpSpPr>
      <p:grpSpPr>
        <a:xfrm>
          <a:off x="0" y="0"/>
          <a:ext cx="0" cy="0"/>
          <a:chOff x="0" y="0"/>
          <a:chExt cx="0" cy="0"/>
        </a:xfrm>
      </p:grpSpPr>
      <p:pic>
        <p:nvPicPr>
          <p:cNvPr id="188" name="Google Shape;188;p83" descr="Logotipo&#10;&#10;Descripción generada automáticamente"/>
          <p:cNvPicPr preferRelativeResize="0"/>
          <p:nvPr/>
        </p:nvPicPr>
        <p:blipFill rotWithShape="1">
          <a:blip r:embed="rId2">
            <a:alphaModFix/>
          </a:blip>
          <a:srcRect/>
          <a:stretch/>
        </p:blipFill>
        <p:spPr>
          <a:xfrm>
            <a:off x="674921" y="6113578"/>
            <a:ext cx="1890650" cy="607897"/>
          </a:xfrm>
          <a:prstGeom prst="rect">
            <a:avLst/>
          </a:prstGeom>
          <a:noFill/>
          <a:ln>
            <a:noFill/>
          </a:ln>
        </p:spPr>
      </p:pic>
      <p:pic>
        <p:nvPicPr>
          <p:cNvPr id="189" name="Google Shape;189;p83" descr="Logotipo&#10;&#10;Descripción generada automáticamente con confianza media"/>
          <p:cNvPicPr preferRelativeResize="0"/>
          <p:nvPr/>
        </p:nvPicPr>
        <p:blipFill rotWithShape="1">
          <a:blip r:embed="rId3">
            <a:alphaModFix/>
          </a:blip>
          <a:srcRect/>
          <a:stretch/>
        </p:blipFill>
        <p:spPr>
          <a:xfrm>
            <a:off x="11399520" y="126683"/>
            <a:ext cx="576281" cy="500244"/>
          </a:xfrm>
          <a:prstGeom prst="rect">
            <a:avLst/>
          </a:prstGeom>
          <a:noFill/>
          <a:ln>
            <a:noFill/>
          </a:ln>
        </p:spPr>
      </p:pic>
      <p:sp>
        <p:nvSpPr>
          <p:cNvPr id="190" name="Google Shape;190;p8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1" name="Google Shape;191;p83"/>
          <p:cNvSpPr>
            <a:spLocks noGrp="1"/>
          </p:cNvSpPr>
          <p:nvPr>
            <p:ph type="pic" idx="2"/>
          </p:nvPr>
        </p:nvSpPr>
        <p:spPr>
          <a:xfrm>
            <a:off x="5183188" y="987425"/>
            <a:ext cx="6172200" cy="4873625"/>
          </a:xfrm>
          <a:prstGeom prst="rect">
            <a:avLst/>
          </a:prstGeom>
          <a:noFill/>
          <a:ln>
            <a:noFill/>
          </a:ln>
        </p:spPr>
      </p:sp>
      <p:sp>
        <p:nvSpPr>
          <p:cNvPr id="192" name="Google Shape;192;p8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3" name="Google Shape;193;p8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3_Imagen con título">
  <p:cSld name="3_Imagen con título">
    <p:bg>
      <p:bgPr>
        <a:solidFill>
          <a:schemeClr val="accent5"/>
        </a:solidFill>
        <a:effectLst/>
      </p:bgPr>
    </p:bg>
    <p:spTree>
      <p:nvGrpSpPr>
        <p:cNvPr id="1" name="Shape 194"/>
        <p:cNvGrpSpPr/>
        <p:nvPr/>
      </p:nvGrpSpPr>
      <p:grpSpPr>
        <a:xfrm>
          <a:off x="0" y="0"/>
          <a:ext cx="0" cy="0"/>
          <a:chOff x="0" y="0"/>
          <a:chExt cx="0" cy="0"/>
        </a:xfrm>
      </p:grpSpPr>
      <p:pic>
        <p:nvPicPr>
          <p:cNvPr id="195" name="Google Shape;195;p84" descr="Logotipo&#10;&#10;Descripción generada automáticamente"/>
          <p:cNvPicPr preferRelativeResize="0"/>
          <p:nvPr/>
        </p:nvPicPr>
        <p:blipFill rotWithShape="1">
          <a:blip r:embed="rId2">
            <a:alphaModFix/>
          </a:blip>
          <a:srcRect/>
          <a:stretch/>
        </p:blipFill>
        <p:spPr>
          <a:xfrm>
            <a:off x="717120" y="6119502"/>
            <a:ext cx="1275453" cy="481548"/>
          </a:xfrm>
          <a:prstGeom prst="rect">
            <a:avLst/>
          </a:prstGeom>
          <a:noFill/>
          <a:ln>
            <a:noFill/>
          </a:ln>
        </p:spPr>
      </p:pic>
      <p:pic>
        <p:nvPicPr>
          <p:cNvPr id="196" name="Google Shape;196;p84" descr="Logotipo&#10;&#10;Descripción generada automáticamente con confianza media"/>
          <p:cNvPicPr preferRelativeResize="0"/>
          <p:nvPr/>
        </p:nvPicPr>
        <p:blipFill rotWithShape="1">
          <a:blip r:embed="rId3">
            <a:alphaModFix/>
          </a:blip>
          <a:srcRect/>
          <a:stretch/>
        </p:blipFill>
        <p:spPr>
          <a:xfrm>
            <a:off x="11399520" y="126683"/>
            <a:ext cx="576281" cy="500244"/>
          </a:xfrm>
          <a:prstGeom prst="rect">
            <a:avLst/>
          </a:prstGeom>
          <a:noFill/>
          <a:ln>
            <a:noFill/>
          </a:ln>
        </p:spPr>
      </p:pic>
      <p:sp>
        <p:nvSpPr>
          <p:cNvPr id="197" name="Google Shape;197;p8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8" name="Google Shape;198;p84"/>
          <p:cNvSpPr>
            <a:spLocks noGrp="1"/>
          </p:cNvSpPr>
          <p:nvPr>
            <p:ph type="pic" idx="2"/>
          </p:nvPr>
        </p:nvSpPr>
        <p:spPr>
          <a:xfrm>
            <a:off x="5183188" y="987425"/>
            <a:ext cx="6172200" cy="4873625"/>
          </a:xfrm>
          <a:prstGeom prst="rect">
            <a:avLst/>
          </a:prstGeom>
          <a:noFill/>
          <a:ln>
            <a:noFill/>
          </a:ln>
        </p:spPr>
      </p:sp>
      <p:sp>
        <p:nvSpPr>
          <p:cNvPr id="199" name="Google Shape;199;p84"/>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solidFill>
                  <a:schemeClr val="dk1"/>
                </a:solidFill>
              </a:defRPr>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0" name="Google Shape;200;p8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a:solidFill>
                  <a:schemeClr val="dk1"/>
                </a:solidFill>
                <a:latin typeface="Arial"/>
                <a:ea typeface="Arial"/>
                <a:cs typeface="Arial"/>
                <a:sym typeface="Arial"/>
              </a:defRPr>
            </a:lvl1pPr>
            <a:lvl2pPr marL="0" lvl="1" indent="0" algn="r">
              <a:spcBef>
                <a:spcPts val="0"/>
              </a:spcBef>
              <a:buNone/>
              <a:defRPr sz="1200">
                <a:solidFill>
                  <a:schemeClr val="dk1"/>
                </a:solidFill>
                <a:latin typeface="Arial"/>
                <a:ea typeface="Arial"/>
                <a:cs typeface="Arial"/>
                <a:sym typeface="Arial"/>
              </a:defRPr>
            </a:lvl2pPr>
            <a:lvl3pPr marL="0" lvl="2" indent="0" algn="r">
              <a:spcBef>
                <a:spcPts val="0"/>
              </a:spcBef>
              <a:buNone/>
              <a:defRPr sz="1200">
                <a:solidFill>
                  <a:schemeClr val="dk1"/>
                </a:solidFill>
                <a:latin typeface="Arial"/>
                <a:ea typeface="Arial"/>
                <a:cs typeface="Arial"/>
                <a:sym typeface="Arial"/>
              </a:defRPr>
            </a:lvl3pPr>
            <a:lvl4pPr marL="0" lvl="3" indent="0" algn="r">
              <a:spcBef>
                <a:spcPts val="0"/>
              </a:spcBef>
              <a:buNone/>
              <a:defRPr sz="1200">
                <a:solidFill>
                  <a:schemeClr val="dk1"/>
                </a:solidFill>
                <a:latin typeface="Arial"/>
                <a:ea typeface="Arial"/>
                <a:cs typeface="Arial"/>
                <a:sym typeface="Arial"/>
              </a:defRPr>
            </a:lvl4pPr>
            <a:lvl5pPr marL="0" lvl="4" indent="0" algn="r">
              <a:spcBef>
                <a:spcPts val="0"/>
              </a:spcBef>
              <a:buNone/>
              <a:defRPr sz="1200">
                <a:solidFill>
                  <a:schemeClr val="dk1"/>
                </a:solidFill>
                <a:latin typeface="Arial"/>
                <a:ea typeface="Arial"/>
                <a:cs typeface="Arial"/>
                <a:sym typeface="Arial"/>
              </a:defRPr>
            </a:lvl5pPr>
            <a:lvl6pPr marL="0" lvl="5" indent="0" algn="r">
              <a:spcBef>
                <a:spcPts val="0"/>
              </a:spcBef>
              <a:buNone/>
              <a:defRPr sz="1200">
                <a:solidFill>
                  <a:schemeClr val="dk1"/>
                </a:solidFill>
                <a:latin typeface="Arial"/>
                <a:ea typeface="Arial"/>
                <a:cs typeface="Arial"/>
                <a:sym typeface="Arial"/>
              </a:defRPr>
            </a:lvl6pPr>
            <a:lvl7pPr marL="0" lvl="6" indent="0" algn="r">
              <a:spcBef>
                <a:spcPts val="0"/>
              </a:spcBef>
              <a:buNone/>
              <a:defRPr sz="1200">
                <a:solidFill>
                  <a:schemeClr val="dk1"/>
                </a:solidFill>
                <a:latin typeface="Arial"/>
                <a:ea typeface="Arial"/>
                <a:cs typeface="Arial"/>
                <a:sym typeface="Arial"/>
              </a:defRPr>
            </a:lvl7pPr>
            <a:lvl8pPr marL="0" lvl="7" indent="0" algn="r">
              <a:spcBef>
                <a:spcPts val="0"/>
              </a:spcBef>
              <a:buNone/>
              <a:defRPr sz="1200">
                <a:solidFill>
                  <a:schemeClr val="dk1"/>
                </a:solidFill>
                <a:latin typeface="Arial"/>
                <a:ea typeface="Arial"/>
                <a:cs typeface="Arial"/>
                <a:sym typeface="Arial"/>
              </a:defRPr>
            </a:lvl8pPr>
            <a:lvl9pPr marL="0" lvl="8" indent="0" algn="r">
              <a:spcBef>
                <a:spcPts val="0"/>
              </a:spcBef>
              <a:buNone/>
              <a:defRPr sz="1200">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Sólo el título">
  <p:cSld name="Sólo el título">
    <p:spTree>
      <p:nvGrpSpPr>
        <p:cNvPr id="1" name="Shape 201"/>
        <p:cNvGrpSpPr/>
        <p:nvPr/>
      </p:nvGrpSpPr>
      <p:grpSpPr>
        <a:xfrm>
          <a:off x="0" y="0"/>
          <a:ext cx="0" cy="0"/>
          <a:chOff x="0" y="0"/>
          <a:chExt cx="0" cy="0"/>
        </a:xfrm>
      </p:grpSpPr>
      <p:sp>
        <p:nvSpPr>
          <p:cNvPr id="202" name="Google Shape;202;p85"/>
          <p:cNvSpPr txBox="1">
            <a:spLocks noGrp="1"/>
          </p:cNvSpPr>
          <p:nvPr>
            <p:ph type="title"/>
          </p:nvPr>
        </p:nvSpPr>
        <p:spPr>
          <a:xfrm>
            <a:off x="551384" y="302459"/>
            <a:ext cx="10081120" cy="24622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eño personalizado">
  <p:cSld name="Diseño personalizado">
    <p:spTree>
      <p:nvGrpSpPr>
        <p:cNvPr id="1" name="Shape 203"/>
        <p:cNvGrpSpPr/>
        <p:nvPr/>
      </p:nvGrpSpPr>
      <p:grpSpPr>
        <a:xfrm>
          <a:off x="0" y="0"/>
          <a:ext cx="0" cy="0"/>
          <a:chOff x="0" y="0"/>
          <a:chExt cx="0" cy="0"/>
        </a:xfrm>
      </p:grpSpPr>
      <p:sp>
        <p:nvSpPr>
          <p:cNvPr id="204" name="Google Shape;204;p8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5" name="Google Shape;205;p86"/>
          <p:cNvSpPr txBox="1"/>
          <p:nvPr/>
        </p:nvSpPr>
        <p:spPr>
          <a:xfrm>
            <a:off x="11443317" y="506027"/>
            <a:ext cx="0" cy="0"/>
          </a:xfrm>
          <a:prstGeom prst="rect">
            <a:avLst/>
          </a:prstGeom>
          <a:solidFill>
            <a:schemeClr val="lt1"/>
          </a:solidFill>
          <a:ln w="9525" cap="flat" cmpd="sng">
            <a:solidFill>
              <a:schemeClr val="accent1"/>
            </a:solidFill>
            <a:prstDash val="solid"/>
            <a:miter lim="8000"/>
            <a:headEnd type="none" w="sm" len="sm"/>
            <a:tailEnd type="none" w="sm" len="sm"/>
          </a:ln>
        </p:spPr>
        <p:txBody>
          <a:bodyPr spcFirstLastPara="1" wrap="square" lIns="72000" tIns="72000" rIns="72000" bIns="72000" anchor="t" anchorCtr="0">
            <a:noAutofit/>
          </a:bodyPr>
          <a:lstStyle/>
          <a:p>
            <a:pPr marL="1587" marR="0" lvl="0" indent="0" algn="l" rtl="0">
              <a:spcBef>
                <a:spcPts val="0"/>
              </a:spcBef>
              <a:spcAft>
                <a:spcPts val="0"/>
              </a:spcAft>
              <a:buClr>
                <a:schemeClr val="dk1"/>
              </a:buClr>
              <a:buSzPts val="1200"/>
              <a:buFont typeface="Arial"/>
              <a:buNone/>
            </a:pPr>
            <a:endParaRPr sz="1200">
              <a:solidFill>
                <a:schemeClr val="dk1"/>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07"/>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190263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21" Type="http://schemas.openxmlformats.org/officeDocument/2006/relationships/slideLayout" Target="../slideLayouts/slideLayout26.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1"/>
          <p:cNvSpPr txBox="1">
            <a:spLocks noGrp="1"/>
          </p:cNvSpPr>
          <p:nvPr>
            <p:ph type="body" idx="1"/>
          </p:nvPr>
        </p:nvSpPr>
        <p:spPr>
          <a:xfrm>
            <a:off x="719403" y="1694212"/>
            <a:ext cx="5853024" cy="98488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1600" b="0" i="0" u="none" strike="noStrike" cap="none">
                <a:solidFill>
                  <a:schemeClr val="dk1"/>
                </a:solidFill>
                <a:latin typeface="Arial"/>
                <a:ea typeface="Arial"/>
                <a:cs typeface="Arial"/>
                <a:sym typeface="Arial"/>
              </a:defRPr>
            </a:lvl1pPr>
            <a:lvl2pPr marL="914400" marR="0" lvl="1" indent="-355600" algn="l" rtl="0">
              <a:spcBef>
                <a:spcPts val="0"/>
              </a:spcBef>
              <a:spcAft>
                <a:spcPts val="0"/>
              </a:spcAft>
              <a:buClr>
                <a:schemeClr val="dk2"/>
              </a:buClr>
              <a:buSzPts val="2000"/>
              <a:buFont typeface="Arial"/>
              <a:buChar char="▪"/>
              <a:defRPr sz="1600" b="0" i="0" u="none" strike="noStrike" cap="none">
                <a:solidFill>
                  <a:schemeClr val="dk1"/>
                </a:solidFill>
                <a:latin typeface="Calibri"/>
                <a:ea typeface="Calibri"/>
                <a:cs typeface="Calibri"/>
                <a:sym typeface="Calibri"/>
              </a:defRPr>
            </a:lvl2pPr>
            <a:lvl3pPr marL="1371600" marR="0" lvl="2" indent="-350520" algn="l" rtl="0">
              <a:spcBef>
                <a:spcPts val="0"/>
              </a:spcBef>
              <a:spcAft>
                <a:spcPts val="0"/>
              </a:spcAft>
              <a:buClr>
                <a:schemeClr val="dk2"/>
              </a:buClr>
              <a:buSzPts val="1920"/>
              <a:buFont typeface="Arial"/>
              <a:buChar char="–"/>
              <a:defRPr sz="1600" b="0" i="0" u="none" strike="noStrike" cap="none">
                <a:solidFill>
                  <a:schemeClr val="dk1"/>
                </a:solidFill>
                <a:latin typeface="Calibri"/>
                <a:ea typeface="Calibri"/>
                <a:cs typeface="Calibri"/>
                <a:sym typeface="Calibri"/>
              </a:defRPr>
            </a:lvl3pPr>
            <a:lvl4pPr marL="1828800" marR="0" lvl="3" indent="-350520" algn="l" rtl="0">
              <a:spcBef>
                <a:spcPts val="0"/>
              </a:spcBef>
              <a:spcAft>
                <a:spcPts val="0"/>
              </a:spcAft>
              <a:buClr>
                <a:schemeClr val="dk2"/>
              </a:buClr>
              <a:buSzPts val="1920"/>
              <a:buFont typeface="Arial"/>
              <a:buChar char="▫"/>
              <a:defRPr sz="1600" b="0" i="0" u="none" strike="noStrike" cap="none">
                <a:solidFill>
                  <a:schemeClr val="dk1"/>
                </a:solidFill>
                <a:latin typeface="Calibri"/>
                <a:ea typeface="Calibri"/>
                <a:cs typeface="Calibri"/>
                <a:sym typeface="Calibri"/>
              </a:defRPr>
            </a:lvl4pPr>
            <a:lvl5pPr marL="2286000" marR="0" lvl="4" indent="-319024" algn="l" rtl="0">
              <a:spcBef>
                <a:spcPts val="0"/>
              </a:spcBef>
              <a:spcAft>
                <a:spcPts val="0"/>
              </a:spcAft>
              <a:buClr>
                <a:schemeClr val="dk2"/>
              </a:buClr>
              <a:buSzPts val="1424"/>
              <a:buFont typeface="Arial"/>
              <a:buChar char="-"/>
              <a:defRPr sz="1600" b="0" i="0" u="none" strike="noStrike" cap="none">
                <a:solidFill>
                  <a:schemeClr val="dk1"/>
                </a:solidFill>
                <a:latin typeface="Calibri"/>
                <a:ea typeface="Calibri"/>
                <a:cs typeface="Calibri"/>
                <a:sym typeface="Calibri"/>
              </a:defRPr>
            </a:lvl5pPr>
            <a:lvl6pPr marL="2743200" marR="0" lvl="5"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6pPr>
            <a:lvl7pPr marL="3200400" marR="0" lvl="6"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7pPr>
            <a:lvl8pPr marL="3657600" marR="0" lvl="7"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8pPr>
            <a:lvl9pPr marL="4114800" marR="0" lvl="8" indent="-319024" algn="l" rtl="0">
              <a:spcBef>
                <a:spcPts val="0"/>
              </a:spcBef>
              <a:spcAft>
                <a:spcPts val="0"/>
              </a:spcAft>
              <a:buClr>
                <a:schemeClr val="dk2"/>
              </a:buClr>
              <a:buSzPts val="1424"/>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7" name="Google Shape;7;p61"/>
          <p:cNvSpPr txBox="1">
            <a:spLocks noGrp="1"/>
          </p:cNvSpPr>
          <p:nvPr>
            <p:ph type="title"/>
          </p:nvPr>
        </p:nvSpPr>
        <p:spPr>
          <a:xfrm>
            <a:off x="551384" y="302459"/>
            <a:ext cx="10081120" cy="246221"/>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1600" b="1" i="0" u="none" strike="noStrike" cap="none">
                <a:solidFill>
                  <a:schemeClr val="dk2"/>
                </a:solidFill>
                <a:latin typeface="Calibri"/>
                <a:ea typeface="Calibri"/>
                <a:cs typeface="Calibri"/>
                <a:sym typeface="Calibri"/>
              </a:defRPr>
            </a:lvl1pPr>
            <a:lvl2pPr marR="0" lvl="1" algn="l" rtl="0">
              <a:spcBef>
                <a:spcPts val="0"/>
              </a:spcBef>
              <a:spcAft>
                <a:spcPts val="0"/>
              </a:spcAft>
              <a:buSzPts val="1400"/>
              <a:buNone/>
              <a:defRPr sz="1900" b="1" i="0" u="none" strike="noStrike" cap="none">
                <a:solidFill>
                  <a:schemeClr val="dk2"/>
                </a:solidFill>
                <a:latin typeface="Arial"/>
                <a:ea typeface="Arial"/>
                <a:cs typeface="Arial"/>
                <a:sym typeface="Arial"/>
              </a:defRPr>
            </a:lvl2pPr>
            <a:lvl3pPr marR="0" lvl="2" algn="l" rtl="0">
              <a:spcBef>
                <a:spcPts val="0"/>
              </a:spcBef>
              <a:spcAft>
                <a:spcPts val="0"/>
              </a:spcAft>
              <a:buSzPts val="1400"/>
              <a:buNone/>
              <a:defRPr sz="1900" b="1" i="0" u="none" strike="noStrike" cap="none">
                <a:solidFill>
                  <a:schemeClr val="dk2"/>
                </a:solidFill>
                <a:latin typeface="Arial"/>
                <a:ea typeface="Arial"/>
                <a:cs typeface="Arial"/>
                <a:sym typeface="Arial"/>
              </a:defRPr>
            </a:lvl3pPr>
            <a:lvl4pPr marR="0" lvl="3" algn="l" rtl="0">
              <a:spcBef>
                <a:spcPts val="0"/>
              </a:spcBef>
              <a:spcAft>
                <a:spcPts val="0"/>
              </a:spcAft>
              <a:buSzPts val="1400"/>
              <a:buNone/>
              <a:defRPr sz="1900" b="1" i="0" u="none" strike="noStrike" cap="none">
                <a:solidFill>
                  <a:schemeClr val="dk2"/>
                </a:solidFill>
                <a:latin typeface="Arial"/>
                <a:ea typeface="Arial"/>
                <a:cs typeface="Arial"/>
                <a:sym typeface="Arial"/>
              </a:defRPr>
            </a:lvl4pPr>
            <a:lvl5pPr marR="0" lvl="4" algn="l" rtl="0">
              <a:spcBef>
                <a:spcPts val="0"/>
              </a:spcBef>
              <a:spcAft>
                <a:spcPts val="0"/>
              </a:spcAft>
              <a:buSzPts val="1400"/>
              <a:buNone/>
              <a:defRPr sz="1900" b="1" i="0" u="none" strike="noStrike" cap="none">
                <a:solidFill>
                  <a:schemeClr val="dk2"/>
                </a:solidFill>
                <a:latin typeface="Arial"/>
                <a:ea typeface="Arial"/>
                <a:cs typeface="Arial"/>
                <a:sym typeface="Arial"/>
              </a:defRPr>
            </a:lvl5pPr>
            <a:lvl6pPr marR="0" lvl="5" algn="l" rtl="0">
              <a:spcBef>
                <a:spcPts val="0"/>
              </a:spcBef>
              <a:spcAft>
                <a:spcPts val="0"/>
              </a:spcAft>
              <a:buSzPts val="1400"/>
              <a:buNone/>
              <a:defRPr sz="1900" b="1" i="0" u="none" strike="noStrike" cap="none">
                <a:solidFill>
                  <a:schemeClr val="dk2"/>
                </a:solidFill>
                <a:latin typeface="Arial"/>
                <a:ea typeface="Arial"/>
                <a:cs typeface="Arial"/>
                <a:sym typeface="Arial"/>
              </a:defRPr>
            </a:lvl6pPr>
            <a:lvl7pPr marR="0" lvl="6" algn="l" rtl="0">
              <a:spcBef>
                <a:spcPts val="0"/>
              </a:spcBef>
              <a:spcAft>
                <a:spcPts val="0"/>
              </a:spcAft>
              <a:buSzPts val="1400"/>
              <a:buNone/>
              <a:defRPr sz="1900" b="1" i="0" u="none" strike="noStrike" cap="none">
                <a:solidFill>
                  <a:schemeClr val="dk2"/>
                </a:solidFill>
                <a:latin typeface="Arial"/>
                <a:ea typeface="Arial"/>
                <a:cs typeface="Arial"/>
                <a:sym typeface="Arial"/>
              </a:defRPr>
            </a:lvl7pPr>
            <a:lvl8pPr marR="0" lvl="7" algn="l" rtl="0">
              <a:spcBef>
                <a:spcPts val="0"/>
              </a:spcBef>
              <a:spcAft>
                <a:spcPts val="0"/>
              </a:spcAft>
              <a:buSzPts val="1400"/>
              <a:buNone/>
              <a:defRPr sz="1900" b="1" i="0" u="none" strike="noStrike" cap="none">
                <a:solidFill>
                  <a:schemeClr val="dk2"/>
                </a:solidFill>
                <a:latin typeface="Arial"/>
                <a:ea typeface="Arial"/>
                <a:cs typeface="Arial"/>
                <a:sym typeface="Arial"/>
              </a:defRPr>
            </a:lvl8pPr>
            <a:lvl9pPr marR="0" lvl="8" algn="l" rtl="0">
              <a:spcBef>
                <a:spcPts val="0"/>
              </a:spcBef>
              <a:spcAft>
                <a:spcPts val="0"/>
              </a:spcAft>
              <a:buSzPts val="1400"/>
              <a:buNone/>
              <a:defRPr sz="1900" b="1" i="0" u="none" strike="noStrike" cap="none">
                <a:solidFill>
                  <a:schemeClr val="dk2"/>
                </a:solidFill>
                <a:latin typeface="Arial"/>
                <a:ea typeface="Arial"/>
                <a:cs typeface="Arial"/>
                <a:sym typeface="Arial"/>
              </a:defRPr>
            </a:lvl9pPr>
          </a:lstStyle>
          <a:p>
            <a:endParaRPr/>
          </a:p>
        </p:txBody>
      </p:sp>
      <p:sp>
        <p:nvSpPr>
          <p:cNvPr id="8" name="Google Shape;8;p61"/>
          <p:cNvSpPr txBox="1"/>
          <p:nvPr/>
        </p:nvSpPr>
        <p:spPr>
          <a:xfrm>
            <a:off x="11716644" y="6566446"/>
            <a:ext cx="284012" cy="1554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es-CL" sz="1000" b="0" i="0" u="none" strike="noStrike" cap="none">
                <a:solidFill>
                  <a:srgbClr val="33448D"/>
                </a:solidFill>
                <a:latin typeface="Arial"/>
                <a:ea typeface="Arial"/>
                <a:cs typeface="Arial"/>
                <a:sym typeface="Arial"/>
              </a:rPr>
              <a:t>‹Nº›</a:t>
            </a:fld>
            <a:endParaRPr sz="1000" b="0" i="0" u="none" strike="noStrike" cap="none">
              <a:solidFill>
                <a:srgbClr val="33448D"/>
              </a:solidFill>
              <a:latin typeface="Arial"/>
              <a:ea typeface="Arial"/>
              <a:cs typeface="Arial"/>
              <a:sym typeface="Arial"/>
            </a:endParaRPr>
          </a:p>
        </p:txBody>
      </p:sp>
      <p:sp>
        <p:nvSpPr>
          <p:cNvPr id="9" name="Google Shape;9;p61"/>
          <p:cNvSpPr/>
          <p:nvPr/>
        </p:nvSpPr>
        <p:spPr>
          <a:xfrm>
            <a:off x="0" y="831533"/>
            <a:ext cx="12192000" cy="46648"/>
          </a:xfrm>
          <a:prstGeom prst="roundRect">
            <a:avLst>
              <a:gd name="adj" fmla="val 11644"/>
            </a:avLst>
          </a:prstGeom>
          <a:solidFill>
            <a:srgbClr val="2C73BB"/>
          </a:solidFill>
          <a:ln>
            <a:noFill/>
          </a:ln>
        </p:spPr>
        <p:txBody>
          <a:bodyPr spcFirstLastPara="1" wrap="square" lIns="93125" tIns="46550" rIns="93125" bIns="46550" anchor="ctr" anchorCtr="0">
            <a:noAutofit/>
          </a:bodyPr>
          <a:lstStyle/>
          <a:p>
            <a:pPr marL="0" marR="0" lvl="0" indent="0" algn="ctr" rtl="0">
              <a:spcBef>
                <a:spcPts val="0"/>
              </a:spcBef>
              <a:spcAft>
                <a:spcPts val="0"/>
              </a:spcAft>
              <a:buNone/>
            </a:pPr>
            <a:endParaRPr sz="1800" b="0" i="0" u="none" strike="noStrike" cap="none">
              <a:solidFill>
                <a:srgbClr val="000000"/>
              </a:solidFill>
              <a:latin typeface="Arial"/>
              <a:ea typeface="Arial"/>
              <a:cs typeface="Arial"/>
              <a:sym typeface="Arial"/>
            </a:endParaRPr>
          </a:p>
        </p:txBody>
      </p:sp>
      <p:pic>
        <p:nvPicPr>
          <p:cNvPr id="10" name="Google Shape;10;p61"/>
          <p:cNvPicPr preferRelativeResize="0"/>
          <p:nvPr/>
        </p:nvPicPr>
        <p:blipFill rotWithShape="1">
          <a:blip r:embed="rId7">
            <a:alphaModFix/>
          </a:blip>
          <a:srcRect/>
          <a:stretch/>
        </p:blipFill>
        <p:spPr>
          <a:xfrm>
            <a:off x="11208568" y="111753"/>
            <a:ext cx="876400" cy="58094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
        <p:cNvGrpSpPr/>
        <p:nvPr/>
      </p:nvGrpSpPr>
      <p:grpSpPr>
        <a:xfrm>
          <a:off x="0" y="0"/>
          <a:ext cx="0" cy="0"/>
          <a:chOff x="0" y="0"/>
          <a:chExt cx="0" cy="0"/>
        </a:xfrm>
      </p:grpSpPr>
      <p:sp>
        <p:nvSpPr>
          <p:cNvPr id="37" name="Google Shape;37;p6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000"/>
              <a:buFont typeface="Play"/>
              <a:buNone/>
              <a:defRPr sz="40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8" name="Google Shape;38;p6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3pPr>
            <a:lvl4pPr marL="1828800" marR="0" lvl="3"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39" name="Google Shape;39;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0" name="Google Shape;40;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1" name="Google Shape;41;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0" marR="0" lvl="1" indent="0" algn="r" rtl="0">
              <a:spcBef>
                <a:spcPts val="0"/>
              </a:spcBef>
              <a:buNone/>
              <a:defRPr sz="1200" b="0" i="0" u="none" strike="noStrike" cap="none">
                <a:solidFill>
                  <a:schemeClr val="dk1"/>
                </a:solidFill>
                <a:latin typeface="Arial"/>
                <a:ea typeface="Arial"/>
                <a:cs typeface="Arial"/>
                <a:sym typeface="Arial"/>
              </a:defRPr>
            </a:lvl2pPr>
            <a:lvl3pPr marL="0" marR="0" lvl="2" indent="0" algn="r" rtl="0">
              <a:spcBef>
                <a:spcPts val="0"/>
              </a:spcBef>
              <a:buNone/>
              <a:defRPr sz="1200" b="0" i="0" u="none" strike="noStrike" cap="none">
                <a:solidFill>
                  <a:schemeClr val="dk1"/>
                </a:solidFill>
                <a:latin typeface="Arial"/>
                <a:ea typeface="Arial"/>
                <a:cs typeface="Arial"/>
                <a:sym typeface="Arial"/>
              </a:defRPr>
            </a:lvl3pPr>
            <a:lvl4pPr marL="0" marR="0" lvl="3" indent="0" algn="r" rtl="0">
              <a:spcBef>
                <a:spcPts val="0"/>
              </a:spcBef>
              <a:buNone/>
              <a:defRPr sz="1200" b="0" i="0" u="none" strike="noStrike" cap="none">
                <a:solidFill>
                  <a:schemeClr val="dk1"/>
                </a:solidFill>
                <a:latin typeface="Arial"/>
                <a:ea typeface="Arial"/>
                <a:cs typeface="Arial"/>
                <a:sym typeface="Arial"/>
              </a:defRPr>
            </a:lvl4pPr>
            <a:lvl5pPr marL="0" marR="0" lvl="4" indent="0" algn="r" rtl="0">
              <a:spcBef>
                <a:spcPts val="0"/>
              </a:spcBef>
              <a:buNone/>
              <a:defRPr sz="1200" b="0" i="0" u="none" strike="noStrike" cap="none">
                <a:solidFill>
                  <a:schemeClr val="dk1"/>
                </a:solidFill>
                <a:latin typeface="Arial"/>
                <a:ea typeface="Arial"/>
                <a:cs typeface="Arial"/>
                <a:sym typeface="Arial"/>
              </a:defRPr>
            </a:lvl5pPr>
            <a:lvl6pPr marL="0" marR="0" lvl="5" indent="0" algn="r" rtl="0">
              <a:spcBef>
                <a:spcPts val="0"/>
              </a:spcBef>
              <a:buNone/>
              <a:defRPr sz="1200" b="0" i="0" u="none" strike="noStrike" cap="none">
                <a:solidFill>
                  <a:schemeClr val="dk1"/>
                </a:solidFill>
                <a:latin typeface="Arial"/>
                <a:ea typeface="Arial"/>
                <a:cs typeface="Arial"/>
                <a:sym typeface="Arial"/>
              </a:defRPr>
            </a:lvl6pPr>
            <a:lvl7pPr marL="0" marR="0" lvl="6" indent="0" algn="r" rtl="0">
              <a:spcBef>
                <a:spcPts val="0"/>
              </a:spcBef>
              <a:buNone/>
              <a:defRPr sz="1200" b="0" i="0" u="none" strike="noStrike" cap="none">
                <a:solidFill>
                  <a:schemeClr val="dk1"/>
                </a:solidFill>
                <a:latin typeface="Arial"/>
                <a:ea typeface="Arial"/>
                <a:cs typeface="Arial"/>
                <a:sym typeface="Arial"/>
              </a:defRPr>
            </a:lvl7pPr>
            <a:lvl8pPr marL="0" marR="0" lvl="7" indent="0" algn="r" rtl="0">
              <a:spcBef>
                <a:spcPts val="0"/>
              </a:spcBef>
              <a:buNone/>
              <a:defRPr sz="1200" b="0" i="0" u="none" strike="noStrike" cap="none">
                <a:solidFill>
                  <a:schemeClr val="dk1"/>
                </a:solidFill>
                <a:latin typeface="Arial"/>
                <a:ea typeface="Arial"/>
                <a:cs typeface="Arial"/>
                <a:sym typeface="Arial"/>
              </a:defRPr>
            </a:lvl8pPr>
            <a:lvl9pPr marL="0" marR="0" lvl="8" indent="0" algn="r" rtl="0">
              <a:spcBef>
                <a:spcPts val="0"/>
              </a:spcBef>
              <a:buNone/>
              <a:defRPr sz="1200" b="0" i="0" u="none" strike="noStrike" cap="none">
                <a:solidFill>
                  <a:schemeClr val="dk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CL"/>
              <a:t>‹Nº›</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6"/>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34918260"/>
      </p:ext>
    </p:extLst>
  </p:cSld>
  <p:clrMap bg1="lt1" tx1="dk1" bg2="lt2" tx2="dk2" accent1="accent1" accent2="accent2" accent3="accent3" accent4="accent4" accent5="accent5" accent6="accent6" hlink="hlink" folHlink="folHlink"/>
  <p:sldLayoutIdLst>
    <p:sldLayoutId id="2147483679" r:id="rId1"/>
  </p:sldLayoutIdLst>
  <p:hf sldNum="0" hdr="0" ftr="0" dt="0"/>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5.xml"/><Relationship Id="rId1" Type="http://schemas.openxmlformats.org/officeDocument/2006/relationships/slideLayout" Target="../slideLayouts/slideLayout6.xml"/><Relationship Id="rId5" Type="http://schemas.openxmlformats.org/officeDocument/2006/relationships/image" Target="../media/image59.png"/><Relationship Id="rId4" Type="http://schemas.openxmlformats.org/officeDocument/2006/relationships/image" Target="../media/image58.png"/></Relationships>
</file>

<file path=ppt/slides/_rels/slide3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6.xml"/><Relationship Id="rId1" Type="http://schemas.openxmlformats.org/officeDocument/2006/relationships/slideLayout" Target="../slideLayouts/slideLayout6.xml"/><Relationship Id="rId4" Type="http://schemas.openxmlformats.org/officeDocument/2006/relationships/image" Target="../media/image61.png"/></Relationships>
</file>

<file path=ppt/slides/_rels/slide3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8.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9.xml"/><Relationship Id="rId1" Type="http://schemas.openxmlformats.org/officeDocument/2006/relationships/slideLayout" Target="../slideLayouts/slideLayout6.xml"/><Relationship Id="rId4" Type="http://schemas.openxmlformats.org/officeDocument/2006/relationships/image" Target="../media/image66.png"/></Relationships>
</file>

<file path=ppt/slides/_rels/slide5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3.xml"/><Relationship Id="rId1" Type="http://schemas.openxmlformats.org/officeDocument/2006/relationships/slideLayout" Target="../slideLayouts/slideLayout6.xml"/><Relationship Id="rId4" Type="http://schemas.openxmlformats.org/officeDocument/2006/relationships/image" Target="../media/image69.png"/></Relationships>
</file>

<file path=ppt/slides/_rels/slide5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4.xml"/><Relationship Id="rId1" Type="http://schemas.openxmlformats.org/officeDocument/2006/relationships/slideLayout" Target="../slideLayouts/slideLayout6.xml"/><Relationship Id="rId4" Type="http://schemas.openxmlformats.org/officeDocument/2006/relationships/image" Target="../media/image71.png"/></Relationships>
</file>

<file path=ppt/slides/_rels/slide5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55.xml"/><Relationship Id="rId1" Type="http://schemas.openxmlformats.org/officeDocument/2006/relationships/slideLayout" Target="../slideLayouts/slideLayout6.xml"/><Relationship Id="rId4" Type="http://schemas.openxmlformats.org/officeDocument/2006/relationships/image" Target="../media/image73.png"/></Relationships>
</file>

<file path=ppt/slides/_rels/slide5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6.xml"/><Relationship Id="rId1" Type="http://schemas.openxmlformats.org/officeDocument/2006/relationships/slideLayout" Target="../slideLayouts/slideLayout6.xml"/><Relationship Id="rId4" Type="http://schemas.openxmlformats.org/officeDocument/2006/relationships/image" Target="../media/image75.png"/></Relationships>
</file>

<file path=ppt/slides/_rels/slide5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7.xml"/><Relationship Id="rId1" Type="http://schemas.openxmlformats.org/officeDocument/2006/relationships/slideLayout" Target="../slideLayouts/slideLayout6.xml"/><Relationship Id="rId4" Type="http://schemas.openxmlformats.org/officeDocument/2006/relationships/image" Target="../media/image77.png"/></Relationships>
</file>

<file path=ppt/slides/_rels/slide5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9.xml"/><Relationship Id="rId1" Type="http://schemas.openxmlformats.org/officeDocument/2006/relationships/slideLayout" Target="../slideLayouts/slideLayout28.xml"/><Relationship Id="rId4" Type="http://schemas.openxmlformats.org/officeDocument/2006/relationships/image" Target="../media/image80.png"/></Relationships>
</file>

<file path=ppt/slides/_rels/slide6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60.xml"/><Relationship Id="rId1" Type="http://schemas.openxmlformats.org/officeDocument/2006/relationships/slideLayout" Target="../slideLayouts/slideLayout28.xml"/><Relationship Id="rId5" Type="http://schemas.openxmlformats.org/officeDocument/2006/relationships/image" Target="../media/image80.png"/><Relationship Id="rId4" Type="http://schemas.openxmlformats.org/officeDocument/2006/relationships/image" Target="../media/image81.svg"/></Relationships>
</file>

<file path=ppt/slides/_rels/slide6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2.xml"/><Relationship Id="rId1" Type="http://schemas.openxmlformats.org/officeDocument/2006/relationships/slideLayout" Target="../slideLayouts/slideLayout7.xml"/><Relationship Id="rId4" Type="http://schemas.openxmlformats.org/officeDocument/2006/relationships/image" Target="../media/image37.pn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82.xml"/><Relationship Id="rId1" Type="http://schemas.openxmlformats.org/officeDocument/2006/relationships/slideLayout" Target="../slideLayouts/slideLayout28.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83.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83.xml"/><Relationship Id="rId1" Type="http://schemas.openxmlformats.org/officeDocument/2006/relationships/slideLayout" Target="../slideLayouts/slideLayout28.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84.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84.xml"/><Relationship Id="rId1" Type="http://schemas.openxmlformats.org/officeDocument/2006/relationships/slideLayout" Target="../slideLayouts/slideLayout28.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8.xml"/></Relationships>
</file>

<file path=ppt/slides/_rels/slide8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6.xml"/><Relationship Id="rId1" Type="http://schemas.openxmlformats.org/officeDocument/2006/relationships/slideLayout" Target="../slideLayouts/slideLayout6.xml"/><Relationship Id="rId5" Type="http://schemas.openxmlformats.org/officeDocument/2006/relationships/image" Target="../media/image90.png"/><Relationship Id="rId4" Type="http://schemas.openxmlformats.org/officeDocument/2006/relationships/image" Target="../media/image89.png"/></Relationships>
</file>

<file path=ppt/slides/_rels/slide8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8" Type="http://schemas.openxmlformats.org/officeDocument/2006/relationships/image" Target="../media/image97.png"/><Relationship Id="rId3" Type="http://schemas.openxmlformats.org/officeDocument/2006/relationships/image" Target="../media/image92.png"/><Relationship Id="rId7" Type="http://schemas.openxmlformats.org/officeDocument/2006/relationships/image" Target="../media/image96.jpg"/><Relationship Id="rId2" Type="http://schemas.openxmlformats.org/officeDocument/2006/relationships/notesSlide" Target="../notesSlides/notesSlide88.xml"/><Relationship Id="rId1" Type="http://schemas.openxmlformats.org/officeDocument/2006/relationships/slideLayout" Target="../slideLayouts/slideLayout27.xml"/><Relationship Id="rId6" Type="http://schemas.openxmlformats.org/officeDocument/2006/relationships/image" Target="../media/image95.png"/><Relationship Id="rId11" Type="http://schemas.openxmlformats.org/officeDocument/2006/relationships/image" Target="../media/image100.png"/><Relationship Id="rId5" Type="http://schemas.openxmlformats.org/officeDocument/2006/relationships/image" Target="../media/image94.png"/><Relationship Id="rId10" Type="http://schemas.openxmlformats.org/officeDocument/2006/relationships/image" Target="../media/image99.png"/><Relationship Id="rId4" Type="http://schemas.openxmlformats.org/officeDocument/2006/relationships/image" Target="../media/image93.png"/><Relationship Id="rId9" Type="http://schemas.openxmlformats.org/officeDocument/2006/relationships/image" Target="../media/image9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1"/>
          <p:cNvSpPr txBox="1">
            <a:spLocks noGrp="1"/>
          </p:cNvSpPr>
          <p:nvPr>
            <p:ph type="subTitle" idx="1"/>
          </p:nvPr>
        </p:nvSpPr>
        <p:spPr>
          <a:xfrm>
            <a:off x="928356" y="5044946"/>
            <a:ext cx="5036084" cy="553998"/>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s-CL" sz="2000" b="1" dirty="0">
                <a:solidFill>
                  <a:srgbClr val="192146"/>
                </a:solidFill>
              </a:rPr>
              <a:t>Comité TECSERVICE</a:t>
            </a:r>
            <a:endParaRPr dirty="0"/>
          </a:p>
          <a:p>
            <a:pPr marL="0" lvl="0" indent="0" algn="l" rtl="0">
              <a:spcBef>
                <a:spcPts val="0"/>
              </a:spcBef>
              <a:spcAft>
                <a:spcPts val="0"/>
              </a:spcAft>
              <a:buNone/>
            </a:pPr>
            <a:r>
              <a:rPr lang="es-CL" dirty="0">
                <a:solidFill>
                  <a:srgbClr val="192146"/>
                </a:solidFill>
              </a:rPr>
              <a:t>26 octubre 2026</a:t>
            </a:r>
            <a:endParaRPr dirty="0"/>
          </a:p>
        </p:txBody>
      </p:sp>
      <p:sp>
        <p:nvSpPr>
          <p:cNvPr id="214" name="Google Shape;214;p1"/>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215" name="Google Shape;215;p1"/>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216" name="Google Shape;216;p1"/>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217" name="Google Shape;217;p1"/>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335FC8E7-B8F5-F89D-81A6-1730A638EE00}"/>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18C43288-93FE-68BA-CA33-339ACE5BDBA4}"/>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5CB74DE0-8D84-3C66-BBB2-DD1F99EF1955}"/>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E3E1B001-4175-540F-A765-DFD02DFCCA49}"/>
              </a:ext>
            </a:extLst>
          </p:cNvPr>
          <p:cNvSpPr/>
          <p:nvPr/>
        </p:nvSpPr>
        <p:spPr>
          <a:xfrm>
            <a:off x="393700" y="845389"/>
            <a:ext cx="11312345" cy="25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93953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8E28980-C901-8F6C-EE21-DBA67BE16729}"/>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4CA09FC5-B87D-CDF9-61FA-03E6F5DBA9C5}"/>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Decisiones Hoy</a:t>
            </a:r>
            <a:endParaRPr sz="2700" b="0" i="0" u="none" strike="noStrike" cap="none" dirty="0">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26E03DF6-C86C-32A7-5DFC-EFE1C95370D6}"/>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MX" sz="1100" b="0" i="0" u="none" strike="noStrike" cap="none" dirty="0">
                <a:solidFill>
                  <a:srgbClr val="373C46"/>
                </a:solidFill>
                <a:latin typeface="Arial"/>
                <a:ea typeface="Arial"/>
                <a:cs typeface="Arial"/>
                <a:sym typeface="Arial"/>
              </a:rPr>
              <a:t>Informe final SCMS Hp Felix Bulnes </a:t>
            </a:r>
          </a:p>
          <a:p>
            <a:pPr marL="171450" marR="0" lvl="0" indent="-171450" algn="l" rtl="0">
              <a:spcBef>
                <a:spcPts val="0"/>
              </a:spcBef>
              <a:spcAft>
                <a:spcPts val="0"/>
              </a:spcAft>
              <a:buClr>
                <a:srgbClr val="373C46"/>
              </a:buClr>
              <a:buSzPts val="1100"/>
              <a:buFont typeface="Arial"/>
              <a:buChar char="•"/>
            </a:pPr>
            <a:endParaRPr lang="es-MX" sz="1100" b="0" i="0" u="none" strike="noStrike" cap="none" dirty="0">
              <a:solidFill>
                <a:srgbClr val="373C46"/>
              </a:solidFill>
              <a:latin typeface="Arial"/>
              <a:ea typeface="Arial"/>
              <a:cs typeface="Arial"/>
              <a:sym typeface="Arial"/>
            </a:endParaRPr>
          </a:p>
          <a:p>
            <a:pPr fontAlgn="t"/>
            <a:r>
              <a:rPr lang="es-CL" sz="1100" dirty="0">
                <a:solidFill>
                  <a:srgbClr val="373C46"/>
                </a:solidFill>
              </a:rPr>
              <a:t>1. Objetivo de la investigación</a:t>
            </a:r>
          </a:p>
          <a:p>
            <a:pPr marL="342900" lvl="0" indent="-342900" fontAlgn="t">
              <a:buFont typeface="Arial" panose="020B0604020202020204" pitchFamily="34" charset="0"/>
              <a:buChar char="•"/>
            </a:pPr>
            <a:r>
              <a:rPr lang="es-CL" sz="1100" dirty="0">
                <a:solidFill>
                  <a:srgbClr val="373C46"/>
                </a:solidFill>
              </a:rPr>
              <a:t>Determinar, en la medida de la evidencia disponible, las posibles causas del siniestro ocurrido el 30 de junio de 2026 en la lavadora </a:t>
            </a:r>
            <a:r>
              <a:rPr lang="es-CL" sz="1100" dirty="0" err="1">
                <a:solidFill>
                  <a:srgbClr val="373C46"/>
                </a:solidFill>
              </a:rPr>
              <a:t>termodesinfectadora</a:t>
            </a:r>
            <a:r>
              <a:rPr lang="es-CL" sz="1100" dirty="0">
                <a:solidFill>
                  <a:srgbClr val="373C46"/>
                </a:solidFill>
              </a:rPr>
              <a:t> </a:t>
            </a:r>
            <a:r>
              <a:rPr lang="es-CL" sz="1100" dirty="0" err="1">
                <a:solidFill>
                  <a:srgbClr val="373C46"/>
                </a:solidFill>
              </a:rPr>
              <a:t>Steelco</a:t>
            </a:r>
            <a:r>
              <a:rPr lang="es-CL" sz="1100" dirty="0">
                <a:solidFill>
                  <a:srgbClr val="373C46"/>
                </a:solidFill>
              </a:rPr>
              <a:t> DS610-2SL-2S ubicada en la Unidad SEDILE del Hospital Félix Bulnes.</a:t>
            </a:r>
          </a:p>
          <a:p>
            <a:pPr marL="342900" lvl="0" indent="-342900" fontAlgn="t">
              <a:buFont typeface="Arial" panose="020B0604020202020204" pitchFamily="34" charset="0"/>
              <a:buChar char="•"/>
            </a:pPr>
            <a:r>
              <a:rPr lang="es-CL" sz="1100" dirty="0">
                <a:solidFill>
                  <a:srgbClr val="373C46"/>
                </a:solidFill>
              </a:rPr>
              <a:t>La investigación incluyó inspección visual, preservación de evidencia, desmontaje de componentes, evaluaciones eléctricas y mecánicas, recuperación de registros operacionales y revisión documental.</a:t>
            </a:r>
          </a:p>
          <a:p>
            <a:pPr marL="171450" marR="0" lvl="0" indent="-171450" algn="l" rtl="0">
              <a:spcBef>
                <a:spcPts val="0"/>
              </a:spcBef>
              <a:spcAft>
                <a:spcPts val="0"/>
              </a:spcAft>
              <a:buClr>
                <a:srgbClr val="373C46"/>
              </a:buClr>
              <a:buSzPts val="1100"/>
              <a:buFont typeface="Arial"/>
              <a:buChar char="•"/>
            </a:pPr>
            <a:endParaRPr lang="es-MX" sz="1100" b="0" i="0" u="none" strike="noStrike" cap="none" dirty="0">
              <a:solidFill>
                <a:srgbClr val="373C46"/>
              </a:solidFill>
              <a:latin typeface="Arial"/>
              <a:ea typeface="Arial"/>
              <a:cs typeface="Arial"/>
              <a:sym typeface="Arial"/>
            </a:endParaRPr>
          </a:p>
          <a:p>
            <a:pPr marR="0" lvl="0" algn="l" rtl="0">
              <a:spcBef>
                <a:spcPts val="0"/>
              </a:spcBef>
              <a:spcAft>
                <a:spcPts val="0"/>
              </a:spcAft>
              <a:buClr>
                <a:srgbClr val="373C46"/>
              </a:buClr>
              <a:buSzPts val="1100"/>
            </a:pPr>
            <a:endParaRPr lang="es-MX" sz="1100" dirty="0">
              <a:solidFill>
                <a:srgbClr val="373C46"/>
              </a:solidFill>
            </a:endParaRPr>
          </a:p>
          <a:p>
            <a:pPr marL="171450" marR="0" lvl="0" indent="-171450" algn="l" rtl="0">
              <a:spcBef>
                <a:spcPts val="0"/>
              </a:spcBef>
              <a:spcAft>
                <a:spcPts val="0"/>
              </a:spcAft>
              <a:buClr>
                <a:srgbClr val="373C46"/>
              </a:buClr>
              <a:buSzPts val="1100"/>
              <a:buFont typeface="Arial"/>
              <a:buChar char="•"/>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Tree>
    <p:extLst>
      <p:ext uri="{BB962C8B-B14F-4D97-AF65-F5344CB8AC3E}">
        <p14:creationId xmlns:p14="http://schemas.microsoft.com/office/powerpoint/2010/main" val="899077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Información Importante Último Comite</a:t>
            </a:r>
            <a:endParaRPr sz="2700" b="0" i="0" u="none" strike="noStrike" cap="none">
              <a:solidFill>
                <a:srgbClr val="FFFFFF"/>
              </a:solidFill>
              <a:latin typeface="Roboto"/>
              <a:ea typeface="Roboto"/>
              <a:cs typeface="Roboto"/>
              <a:sym typeface="Roboto"/>
            </a:endParaRPr>
          </a:p>
        </p:txBody>
      </p:sp>
      <p:sp>
        <p:nvSpPr>
          <p:cNvPr id="236" name="Google Shape;236;p4"/>
          <p:cNvSpPr/>
          <p:nvPr/>
        </p:nvSpPr>
        <p:spPr>
          <a:xfrm>
            <a:off x="393700" y="854015"/>
            <a:ext cx="11070806" cy="5584885"/>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br>
              <a:rPr lang="es-CL" sz="1200" b="1" i="0" u="none" strike="noStrike" cap="none" dirty="0">
                <a:solidFill>
                  <a:schemeClr val="lt1"/>
                </a:solidFill>
                <a:latin typeface="Arial"/>
                <a:ea typeface="Arial"/>
                <a:cs typeface="Arial"/>
                <a:sym typeface="Arial"/>
              </a:rPr>
            </a:br>
            <a:r>
              <a:rPr lang="es-CL" sz="1200" b="1" i="0" u="none" strike="noStrike" cap="none" dirty="0">
                <a:solidFill>
                  <a:schemeClr val="lt1"/>
                </a:solidFill>
                <a:latin typeface="Arial"/>
                <a:ea typeface="Arial"/>
                <a:cs typeface="Arial"/>
                <a:sym typeface="Arial"/>
              </a:rPr>
              <a:t>1. </a:t>
            </a:r>
            <a:r>
              <a:rPr lang="es-MX" sz="1200" b="1" dirty="0">
                <a:solidFill>
                  <a:schemeClr val="lt1"/>
                </a:solidFill>
              </a:rPr>
              <a:t>Foco en plan de negocios – Plan RM y </a:t>
            </a:r>
            <a:r>
              <a:rPr lang="es-MX" sz="1200" b="1" dirty="0" err="1">
                <a:solidFill>
                  <a:schemeClr val="lt1"/>
                </a:solidFill>
              </a:rPr>
              <a:t>Valparaiso</a:t>
            </a:r>
            <a:endParaRPr lang="es-MX" sz="1200" b="1" dirty="0">
              <a:solidFill>
                <a:schemeClr val="lt1"/>
              </a:solidFill>
            </a:endParaRPr>
          </a:p>
          <a:p>
            <a:pPr marL="0" marR="0" lvl="0" indent="0" algn="l" rtl="0">
              <a:spcBef>
                <a:spcPts val="0"/>
              </a:spcBef>
              <a:spcAft>
                <a:spcPts val="0"/>
              </a:spcAft>
              <a:buNone/>
            </a:pPr>
            <a:r>
              <a:rPr lang="es-MX" sz="1200" b="1" dirty="0">
                <a:solidFill>
                  <a:schemeClr val="lt1"/>
                </a:solidFill>
                <a:latin typeface="Arial"/>
                <a:ea typeface="Arial"/>
                <a:cs typeface="Arial"/>
                <a:sym typeface="Arial"/>
              </a:rPr>
              <a:t>2. Plan de Acción Bio – Bio ; Status Plan Sur</a:t>
            </a:r>
            <a:br>
              <a:rPr lang="es-CL" sz="1200" dirty="0">
                <a:solidFill>
                  <a:srgbClr val="7F7F7F"/>
                </a:solidFill>
                <a:latin typeface="Arial"/>
                <a:ea typeface="Arial"/>
                <a:cs typeface="Arial"/>
                <a:sym typeface="Arial"/>
              </a:rPr>
            </a:br>
            <a:endParaRPr sz="1200" dirty="0">
              <a:solidFill>
                <a:srgbClr val="7F7F7F"/>
              </a:solidFill>
              <a:latin typeface="Arial"/>
              <a:ea typeface="Arial"/>
              <a:cs typeface="Arial"/>
              <a:sym typeface="Arial"/>
            </a:endParaRPr>
          </a:p>
          <a:p>
            <a:pPr marL="0" marR="0" lvl="0" indent="0" algn="l" rtl="0">
              <a:spcBef>
                <a:spcPts val="0"/>
              </a:spcBef>
              <a:spcAft>
                <a:spcPts val="0"/>
              </a:spcAft>
              <a:buNone/>
            </a:pPr>
            <a:endParaRPr sz="1200" dirty="0">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0560562-841D-0614-4996-0C126C5E6DA8}"/>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0E5A4D55-4770-E145-5D42-B0DB6406279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97AF97A3-160F-401A-F05A-9C230288BFCF}"/>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354A2BD3-B50F-11A5-358B-61911454A6C6}"/>
              </a:ext>
            </a:extLst>
          </p:cNvPr>
          <p:cNvSpPr/>
          <p:nvPr/>
        </p:nvSpPr>
        <p:spPr>
          <a:xfrm>
            <a:off x="393700" y="1134000"/>
            <a:ext cx="11312345" cy="990000"/>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501269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Facturación 4</a:t>
            </a:r>
            <a:r>
              <a:rPr lang="es-CL" sz="2700" b="1" dirty="0">
                <a:solidFill>
                  <a:srgbClr val="33448D"/>
                </a:solidFill>
                <a:latin typeface="Roboto"/>
                <a:ea typeface="Roboto"/>
                <a:cs typeface="Roboto"/>
                <a:sym typeface="Roboto"/>
              </a:rPr>
              <a:t>° </a:t>
            </a:r>
            <a:r>
              <a:rPr lang="es-CL" sz="2700" b="1" i="0" u="none" strike="noStrike" cap="none" dirty="0">
                <a:solidFill>
                  <a:srgbClr val="33448D"/>
                </a:solidFill>
                <a:latin typeface="Roboto"/>
                <a:ea typeface="Roboto"/>
                <a:cs typeface="Roboto"/>
                <a:sym typeface="Roboto"/>
              </a:rPr>
              <a:t>Semana de Octubre</a:t>
            </a:r>
          </a:p>
        </p:txBody>
      </p:sp>
      <p:sp>
        <p:nvSpPr>
          <p:cNvPr id="249" name="Google Shape;249;p6"/>
          <p:cNvSpPr/>
          <p:nvPr/>
        </p:nvSpPr>
        <p:spPr>
          <a:xfrm>
            <a:off x="198408" y="4979743"/>
            <a:ext cx="11625292" cy="1300288"/>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R="0" lvl="0" algn="l" rtl="0">
              <a:spcBef>
                <a:spcPts val="0"/>
              </a:spcBef>
              <a:spcAft>
                <a:spcPts val="0"/>
              </a:spcAft>
              <a:buClr>
                <a:schemeClr val="lt1"/>
              </a:buClr>
              <a:buSzPts val="1200"/>
            </a:pPr>
            <a:r>
              <a:rPr lang="es-MX" sz="1200" dirty="0">
                <a:solidFill>
                  <a:schemeClr val="lt1"/>
                </a:solidFill>
                <a:latin typeface="Arial"/>
                <a:ea typeface="Arial"/>
                <a:cs typeface="Arial"/>
                <a:sym typeface="Arial"/>
              </a:rPr>
              <a:t>• A octubre se acumulan MM$2.180,7 de facturación, concentrada principalmente en Servicio Técnico (MM$1.923,4)</a:t>
            </a:r>
          </a:p>
          <a:p>
            <a:pPr marR="0" lvl="0" algn="l" rtl="0">
              <a:spcBef>
                <a:spcPts val="0"/>
              </a:spcBef>
              <a:spcAft>
                <a:spcPts val="0"/>
              </a:spcAft>
              <a:buClr>
                <a:schemeClr val="lt1"/>
              </a:buClr>
              <a:buSzPts val="1200"/>
            </a:pPr>
            <a:r>
              <a:rPr lang="es-MX" sz="1200" dirty="0">
                <a:solidFill>
                  <a:schemeClr val="lt1"/>
                </a:solidFill>
                <a:latin typeface="Arial"/>
                <a:ea typeface="Arial"/>
                <a:cs typeface="Arial"/>
                <a:sym typeface="Arial"/>
              </a:rPr>
              <a:t>• Servicio Técnico acumula MM$1.923,4 de facturación, representando 88,2% de la facturación acumulada</a:t>
            </a:r>
          </a:p>
          <a:p>
            <a:pPr marR="0" lvl="0" algn="l" rtl="0">
              <a:spcBef>
                <a:spcPts val="0"/>
              </a:spcBef>
              <a:spcAft>
                <a:spcPts val="0"/>
              </a:spcAft>
              <a:buClr>
                <a:schemeClr val="lt1"/>
              </a:buClr>
              <a:buSzPts val="1200"/>
            </a:pPr>
            <a:r>
              <a:rPr lang="es-MX" sz="1200" dirty="0">
                <a:solidFill>
                  <a:schemeClr val="lt1"/>
                </a:solidFill>
                <a:latin typeface="Arial"/>
                <a:ea typeface="Arial"/>
                <a:cs typeface="Arial"/>
                <a:sym typeface="Arial"/>
              </a:rPr>
              <a:t>• La facturación acumulada alcanza MM$2.180,7, un 42,6% por sobre el mismo periodo del año anterior, equivalente a MM$651,7 adicionales</a:t>
            </a:r>
          </a:p>
          <a:p>
            <a:pPr marR="0" lvl="0" algn="l" rtl="0">
              <a:spcBef>
                <a:spcPts val="0"/>
              </a:spcBef>
              <a:spcAft>
                <a:spcPts val="0"/>
              </a:spcAft>
              <a:buClr>
                <a:schemeClr val="lt1"/>
              </a:buClr>
              <a:buSzPts val="1200"/>
            </a:pPr>
            <a:r>
              <a:rPr lang="es-MX" sz="1200" dirty="0">
                <a:solidFill>
                  <a:schemeClr val="lt1"/>
                </a:solidFill>
                <a:latin typeface="Arial"/>
                <a:ea typeface="Arial"/>
                <a:cs typeface="Arial"/>
                <a:sym typeface="Arial"/>
              </a:rPr>
              <a:t>• Trazabilidad acumula MM$74,9 y presenta un avance mensual de 0% sobre el presupuesto, mientras que Servicio Técnico se encuentra 71,3% bajo presupuesto mensual.</a:t>
            </a:r>
          </a:p>
        </p:txBody>
      </p:sp>
      <p:pic>
        <p:nvPicPr>
          <p:cNvPr id="4" name="Imagen 3">
            <a:extLst>
              <a:ext uri="{FF2B5EF4-FFF2-40B4-BE49-F238E27FC236}">
                <a16:creationId xmlns:a16="http://schemas.microsoft.com/office/drawing/2014/main" id="{6908FD5B-1C88-5847-C1DA-DBB516CB04C2}"/>
              </a:ext>
            </a:extLst>
          </p:cNvPr>
          <p:cNvPicPr>
            <a:picLocks noChangeAspect="1"/>
          </p:cNvPicPr>
          <p:nvPr/>
        </p:nvPicPr>
        <p:blipFill>
          <a:blip r:embed="rId3"/>
          <a:srcRect t="8880" b="5305"/>
          <a:stretch>
            <a:fillRect/>
          </a:stretch>
        </p:blipFill>
        <p:spPr>
          <a:xfrm>
            <a:off x="211108" y="800347"/>
            <a:ext cx="11795184" cy="417939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Desglose Garantía</a:t>
            </a:r>
            <a:r>
              <a:rPr lang="es-CL" sz="2700" b="1">
                <a:solidFill>
                  <a:srgbClr val="33448D"/>
                </a:solidFill>
                <a:latin typeface="Roboto"/>
                <a:ea typeface="Roboto"/>
                <a:cs typeface="Roboto"/>
                <a:sym typeface="Roboto"/>
              </a:rPr>
              <a:t>s Vigentes</a:t>
            </a:r>
            <a:endParaRPr sz="2700" b="0" i="0" u="none" strike="noStrike" cap="none">
              <a:solidFill>
                <a:srgbClr val="FFFFFF"/>
              </a:solidFill>
              <a:latin typeface="Roboto"/>
              <a:ea typeface="Roboto"/>
              <a:cs typeface="Roboto"/>
              <a:sym typeface="Roboto"/>
            </a:endParaRPr>
          </a:p>
        </p:txBody>
      </p:sp>
      <p:sp>
        <p:nvSpPr>
          <p:cNvPr id="256" name="Google Shape;256;p7"/>
          <p:cNvSpPr/>
          <p:nvPr/>
        </p:nvSpPr>
        <p:spPr>
          <a:xfrm>
            <a:off x="7496175" y="988142"/>
            <a:ext cx="4530557" cy="568714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de garantías vigentes alcanza MM$293,1 de ingresos estimados, asociados a 46 contratos, con MM$136,8 de costo estimado y MM$69,7 aún por consumir.</a:t>
            </a:r>
          </a:p>
          <a:p>
            <a:pPr marL="171450" marR="0" lvl="0" indent="-171450" algn="l" rtl="0">
              <a:spcBef>
                <a:spcPts val="0"/>
              </a:spcBef>
              <a:spcAft>
                <a:spcPts val="0"/>
              </a:spcAft>
              <a:buClr>
                <a:schemeClr val="lt1"/>
              </a:buClr>
              <a:buSzPts val="1200"/>
              <a:buFont typeface="Arial" panose="020B0604020202020204" pitchFamily="34" charset="0"/>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El costo estimado representa aproximadamente 47% de los ingresos, dejando un margen estimado cercano al 53%.</a:t>
            </a:r>
          </a:p>
          <a:p>
            <a:pPr marL="171450" marR="0" lvl="0" indent="-171450" algn="l" rtl="0">
              <a:spcBef>
                <a:spcPts val="0"/>
              </a:spcBef>
              <a:spcAft>
                <a:spcPts val="0"/>
              </a:spcAft>
              <a:buClr>
                <a:schemeClr val="lt1"/>
              </a:buClr>
              <a:buSzPts val="1200"/>
              <a:buFont typeface="Arial" panose="020B0604020202020204" pitchFamily="34" charset="0"/>
              <a:buChar char="•"/>
            </a:pPr>
            <a:endParaRPr lang="es-MX" sz="1200" dirty="0">
              <a:solidFill>
                <a:schemeClr val="lt1"/>
              </a:solidFill>
            </a:endParaRP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presenta una alta concentración en los contratos de mayor monto: los 10 principales reúnen aproximadamente MM$166,2 millones, equivalentes al 57% del monto total. </a:t>
            </a:r>
          </a:p>
          <a:p>
            <a:pPr marL="171450" marR="0" lvl="0" indent="-171450" algn="l" rtl="0">
              <a:spcBef>
                <a:spcPts val="0"/>
              </a:spcBef>
              <a:spcAft>
                <a:spcPts val="0"/>
              </a:spcAft>
              <a:buClr>
                <a:schemeClr val="lt1"/>
              </a:buClr>
              <a:buSzPts val="1200"/>
              <a:buFont typeface="Arial" panose="020B0604020202020204" pitchFamily="34" charset="0"/>
              <a:buChar char="•"/>
            </a:pPr>
            <a:endParaRPr lang="es-MX" sz="1200" dirty="0">
              <a:solidFill>
                <a:schemeClr val="lt1"/>
              </a:solidFill>
            </a:endParaRP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Los contratos presentan distintos niveles de consumo y vigencia, con vencimientos que se extienden hasta 2030; una parte relevante aún mantiene un bajo porcentaje de consumo.</a:t>
            </a:r>
          </a:p>
          <a:p>
            <a:pPr marL="171450" marR="0" lvl="0" indent="-171450" algn="l" rtl="0">
              <a:spcBef>
                <a:spcPts val="0"/>
              </a:spcBef>
              <a:spcAft>
                <a:spcPts val="0"/>
              </a:spcAft>
              <a:buClr>
                <a:schemeClr val="lt1"/>
              </a:buClr>
              <a:buSzPts val="1200"/>
              <a:buFont typeface="Arial" panose="020B0604020202020204" pitchFamily="34" charset="0"/>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Esterilización concentra la mayor parte de la cartera, tanto en número de contratos como en monto, mientras que Dental presenta una participación menor.</a:t>
            </a:r>
          </a:p>
          <a:p>
            <a:pPr marL="171450" marR="0" lvl="0" indent="-171450" algn="l" rtl="0">
              <a:spcBef>
                <a:spcPts val="0"/>
              </a:spcBef>
              <a:spcAft>
                <a:spcPts val="0"/>
              </a:spcAft>
              <a:buClr>
                <a:schemeClr val="lt1"/>
              </a:buClr>
              <a:buSzPts val="1200"/>
              <a:buFont typeface="Arial" panose="020B0604020202020204" pitchFamily="34" charset="0"/>
              <a:buChar char="•"/>
            </a:pPr>
            <a:endParaRPr lang="es-MX" sz="1200" dirty="0">
              <a:solidFill>
                <a:schemeClr val="lt1"/>
              </a:solidFill>
            </a:endParaRPr>
          </a:p>
          <a:p>
            <a:pPr marL="171450" marR="0" lvl="0" indent="-171450" algn="l" rtl="0">
              <a:spcBef>
                <a:spcPts val="0"/>
              </a:spcBef>
              <a:spcAft>
                <a:spcPts val="0"/>
              </a:spcAft>
              <a:buClr>
                <a:schemeClr val="lt1"/>
              </a:buClr>
              <a:buSzPts val="1200"/>
              <a:buFont typeface="Arial" panose="020B0604020202020204" pitchFamily="34" charset="0"/>
              <a:buChar char="•"/>
            </a:pPr>
            <a:r>
              <a:rPr lang="es-MX" sz="1200" dirty="0">
                <a:solidFill>
                  <a:schemeClr val="lt1"/>
                </a:solidFill>
                <a:latin typeface="Arial"/>
                <a:ea typeface="Arial"/>
                <a:cs typeface="Arial"/>
                <a:sym typeface="Arial"/>
              </a:rPr>
              <a:t>La cartera mantiene MM$69,7 de costo estimado remanente, lo que representa una base relevante de actividad futura, especialmente en contratos con bajo porcentaje de consumo y mayor plazo restante.</a:t>
            </a:r>
          </a:p>
        </p:txBody>
      </p:sp>
      <p:pic>
        <p:nvPicPr>
          <p:cNvPr id="4" name="Imagen 3">
            <a:extLst>
              <a:ext uri="{FF2B5EF4-FFF2-40B4-BE49-F238E27FC236}">
                <a16:creationId xmlns:a16="http://schemas.microsoft.com/office/drawing/2014/main" id="{36DE45EB-96A3-15A4-E89D-BD3F80216756}"/>
              </a:ext>
            </a:extLst>
          </p:cNvPr>
          <p:cNvPicPr>
            <a:picLocks noChangeAspect="1"/>
          </p:cNvPicPr>
          <p:nvPr/>
        </p:nvPicPr>
        <p:blipFill>
          <a:blip r:embed="rId3"/>
          <a:srcRect b="6607"/>
          <a:stretch>
            <a:fillRect/>
          </a:stretch>
        </p:blipFill>
        <p:spPr>
          <a:xfrm>
            <a:off x="0" y="841559"/>
            <a:ext cx="7215976" cy="601644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Agrupación por Línea de Negocio </a:t>
            </a:r>
            <a:endParaRPr sz="2700" b="0" i="0" u="none" strike="noStrike" cap="none">
              <a:solidFill>
                <a:srgbClr val="FFFFFF"/>
              </a:solidFill>
              <a:latin typeface="Roboto"/>
              <a:ea typeface="Roboto"/>
              <a:cs typeface="Roboto"/>
              <a:sym typeface="Roboto"/>
            </a:endParaRPr>
          </a:p>
        </p:txBody>
      </p:sp>
      <p:sp>
        <p:nvSpPr>
          <p:cNvPr id="263" name="Google Shape;263;p8"/>
          <p:cNvSpPr/>
          <p:nvPr/>
        </p:nvSpPr>
        <p:spPr>
          <a:xfrm>
            <a:off x="246000" y="2510210"/>
            <a:ext cx="11700000" cy="3695705"/>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La esterilización concentra el 80,4% de los contratos vigentes, con 37 de los 46 contratos de la cartera, versus 9 de Dental.</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Esterilización representa cerca del 90% del costo total estimado, alcanzando MM$123,2, versus MM$13,6 de Dental.</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El costo remanente asciende a MM$69,7, equivalente al 50,9% del costo total estimado, quedando MM$67,1 consumidos.</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A nivel consolidado, se ha consumido 49,1% del costo estimado, manteniéndose 50,9% pendiente de consumir.</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Los contratos de Dental presentan un mayor nivel de avance, con 58,1% consumido, versus 48,1% en Esterilización.</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Esterilización concentra el 91,8% del costo remanente, con MM$64,0, constituyendo la principal exposición futura de la cartera.</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El promedio de días restantes es de 326 días, con una diferencia relevante entre Esterilización (378 días) y Dental (111 días).</a:t>
            </a:r>
          </a:p>
          <a:p>
            <a:pPr marL="171450" marR="0" lvl="0" indent="-171450" algn="l" rtl="0">
              <a:spcBef>
                <a:spcPts val="0"/>
              </a:spcBef>
              <a:spcAft>
                <a:spcPts val="0"/>
              </a:spcAft>
              <a:buClr>
                <a:schemeClr val="lt1"/>
              </a:buClr>
              <a:buSzPts val="1400"/>
              <a:buFont typeface="Arial"/>
              <a:buChar char="•"/>
            </a:pPr>
            <a:endParaRPr lang="es-MX" sz="14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400"/>
              <a:buFont typeface="Arial"/>
              <a:buChar char="•"/>
            </a:pPr>
            <a:r>
              <a:rPr lang="es-MX" sz="1400" dirty="0">
                <a:solidFill>
                  <a:schemeClr val="lt1"/>
                </a:solidFill>
                <a:latin typeface="Arial"/>
                <a:ea typeface="Arial"/>
                <a:cs typeface="Arial"/>
                <a:sym typeface="Arial"/>
              </a:rPr>
              <a:t>La cartera presenta una alta concentración en proyectos de Esterilización, que además concentran la mayor parte del costo remanente y del plazo pendiente.</a:t>
            </a:r>
          </a:p>
        </p:txBody>
      </p:sp>
      <p:pic>
        <p:nvPicPr>
          <p:cNvPr id="4" name="Imagen 3">
            <a:extLst>
              <a:ext uri="{FF2B5EF4-FFF2-40B4-BE49-F238E27FC236}">
                <a16:creationId xmlns:a16="http://schemas.microsoft.com/office/drawing/2014/main" id="{FEA7257C-2074-B732-4566-80859CE5925A}"/>
              </a:ext>
            </a:extLst>
          </p:cNvPr>
          <p:cNvPicPr>
            <a:picLocks noChangeAspect="1"/>
          </p:cNvPicPr>
          <p:nvPr/>
        </p:nvPicPr>
        <p:blipFill>
          <a:blip r:embed="rId3"/>
          <a:srcRect t="23272" r="927" b="30185"/>
          <a:stretch>
            <a:fillRect/>
          </a:stretch>
        </p:blipFill>
        <p:spPr>
          <a:xfrm>
            <a:off x="0" y="1134000"/>
            <a:ext cx="12192000" cy="109009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8"/>
        <p:cNvGrpSpPr/>
        <p:nvPr/>
      </p:nvGrpSpPr>
      <p:grpSpPr>
        <a:xfrm>
          <a:off x="0" y="0"/>
          <a:ext cx="0" cy="0"/>
          <a:chOff x="0" y="0"/>
          <a:chExt cx="0" cy="0"/>
        </a:xfrm>
      </p:grpSpPr>
      <p:sp>
        <p:nvSpPr>
          <p:cNvPr id="269" name="Google Shape;269;p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Brechas de Facturación</a:t>
            </a:r>
            <a:endParaRPr sz="2700" b="0" i="0" u="none" strike="noStrike" cap="none">
              <a:solidFill>
                <a:srgbClr val="FFFFFF"/>
              </a:solidFill>
              <a:latin typeface="Roboto"/>
              <a:ea typeface="Roboto"/>
              <a:cs typeface="Roboto"/>
              <a:sym typeface="Roboto"/>
            </a:endParaRPr>
          </a:p>
        </p:txBody>
      </p:sp>
      <p:sp>
        <p:nvSpPr>
          <p:cNvPr id="270" name="Google Shape;270;p9"/>
          <p:cNvSpPr/>
          <p:nvPr/>
        </p:nvSpPr>
        <p:spPr>
          <a:xfrm>
            <a:off x="94891" y="3540773"/>
            <a:ext cx="1319839" cy="3134516"/>
          </a:xfrm>
          <a:prstGeom prst="rect">
            <a:avLst/>
          </a:prstGeom>
          <a:solidFill>
            <a:schemeClr val="dk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050" dirty="0">
                <a:solidFill>
                  <a:schemeClr val="lt1"/>
                </a:solidFill>
                <a:latin typeface="Arial"/>
                <a:ea typeface="Arial"/>
                <a:cs typeface="Arial"/>
                <a:sym typeface="Arial"/>
              </a:rPr>
              <a:t>En total MM$9</a:t>
            </a:r>
            <a:r>
              <a:rPr lang="es-MX" sz="1050" dirty="0">
                <a:solidFill>
                  <a:schemeClr val="lt1"/>
                </a:solidFill>
              </a:rPr>
              <a:t>,8</a:t>
            </a:r>
            <a:r>
              <a:rPr lang="es-MX" sz="1050" dirty="0">
                <a:solidFill>
                  <a:schemeClr val="lt1"/>
                </a:solidFill>
                <a:latin typeface="Arial"/>
                <a:ea typeface="Arial"/>
                <a:cs typeface="Arial"/>
                <a:sym typeface="Arial"/>
              </a:rPr>
              <a:t> por facturar, sin embargo, no se ha recibido la documentación pendiente por parte de ciertos hospitales.</a:t>
            </a:r>
          </a:p>
          <a:p>
            <a:pPr marL="0" marR="0" lvl="0" indent="0" algn="l" rtl="0">
              <a:spcBef>
                <a:spcPts val="0"/>
              </a:spcBef>
              <a:spcAft>
                <a:spcPts val="0"/>
              </a:spcAft>
              <a:buNone/>
            </a:pPr>
            <a:endParaRPr lang="es-MX" sz="1050" dirty="0">
              <a:solidFill>
                <a:schemeClr val="lt1"/>
              </a:solidFill>
              <a:latin typeface="Arial"/>
              <a:ea typeface="Arial"/>
              <a:cs typeface="Arial"/>
              <a:sym typeface="Arial"/>
            </a:endParaRPr>
          </a:p>
          <a:p>
            <a:pPr marL="0" marR="0" lvl="0" indent="0" algn="l" rtl="0">
              <a:spcBef>
                <a:spcPts val="0"/>
              </a:spcBef>
              <a:spcAft>
                <a:spcPts val="0"/>
              </a:spcAft>
              <a:buNone/>
            </a:pPr>
            <a:r>
              <a:rPr lang="es-MX" sz="1050" dirty="0">
                <a:solidFill>
                  <a:schemeClr val="lt1"/>
                </a:solidFill>
                <a:latin typeface="Arial"/>
                <a:ea typeface="Arial"/>
                <a:cs typeface="Arial"/>
                <a:sym typeface="Arial"/>
              </a:rPr>
              <a:t>Se concentra fuerte: dos clientes explican el 56%</a:t>
            </a:r>
            <a:endParaRPr lang="es-MX" dirty="0"/>
          </a:p>
          <a:p>
            <a:pPr marL="171450" marR="0" lvl="0" indent="-171450" algn="l" rtl="0">
              <a:spcBef>
                <a:spcPts val="0"/>
              </a:spcBef>
              <a:spcAft>
                <a:spcPts val="0"/>
              </a:spcAft>
              <a:buClr>
                <a:schemeClr val="lt1"/>
              </a:buClr>
              <a:buSzPts val="1050"/>
              <a:buFont typeface="Arial"/>
              <a:buChar char="•"/>
            </a:pPr>
            <a:r>
              <a:rPr lang="en-US" sz="1050" dirty="0">
                <a:solidFill>
                  <a:schemeClr val="lt1"/>
                </a:solidFill>
                <a:latin typeface="Arial"/>
                <a:ea typeface="Arial"/>
                <a:cs typeface="Arial"/>
                <a:sym typeface="Arial"/>
              </a:rPr>
              <a:t>Hospital San José: MM$4,1 (</a:t>
            </a:r>
            <a:r>
              <a:rPr lang="en-US" sz="1050" dirty="0">
                <a:solidFill>
                  <a:schemeClr val="lt1"/>
                </a:solidFill>
              </a:rPr>
              <a:t>41</a:t>
            </a:r>
            <a:r>
              <a:rPr lang="en-US" sz="1050" dirty="0">
                <a:solidFill>
                  <a:schemeClr val="lt1"/>
                </a:solidFill>
                <a:latin typeface="Arial"/>
                <a:ea typeface="Arial"/>
                <a:cs typeface="Arial"/>
                <a:sym typeface="Arial"/>
              </a:rPr>
              <a:t>,5%)</a:t>
            </a:r>
          </a:p>
          <a:p>
            <a:pPr marL="171450" marR="0" lvl="0" indent="-171450" algn="l" rtl="0">
              <a:spcBef>
                <a:spcPts val="0"/>
              </a:spcBef>
              <a:spcAft>
                <a:spcPts val="0"/>
              </a:spcAft>
              <a:buClr>
                <a:schemeClr val="lt1"/>
              </a:buClr>
              <a:buSzPts val="1050"/>
              <a:buFont typeface="Arial"/>
              <a:buChar char="•"/>
            </a:pPr>
            <a:r>
              <a:rPr lang="es-CL" sz="1050" dirty="0" err="1">
                <a:solidFill>
                  <a:schemeClr val="lt1"/>
                </a:solidFill>
                <a:latin typeface="Arial"/>
                <a:ea typeface="Arial"/>
                <a:cs typeface="Arial"/>
                <a:sym typeface="Arial"/>
              </a:rPr>
              <a:t>Integramedica</a:t>
            </a:r>
            <a:r>
              <a:rPr lang="es-CL" sz="1050" dirty="0">
                <a:solidFill>
                  <a:schemeClr val="lt1"/>
                </a:solidFill>
                <a:latin typeface="Arial"/>
                <a:ea typeface="Arial"/>
                <a:cs typeface="Arial"/>
                <a:sym typeface="Arial"/>
              </a:rPr>
              <a:t> S.A: MM$1,4 (14,2%)</a:t>
            </a:r>
          </a:p>
        </p:txBody>
      </p:sp>
      <p:sp>
        <p:nvSpPr>
          <p:cNvPr id="271" name="Google Shape;271;p9"/>
          <p:cNvSpPr/>
          <p:nvPr/>
        </p:nvSpPr>
        <p:spPr>
          <a:xfrm>
            <a:off x="1414733" y="3524301"/>
            <a:ext cx="2794410" cy="3134514"/>
          </a:xfrm>
          <a:prstGeom prst="rect">
            <a:avLst/>
          </a:prstGeom>
          <a:solidFill>
            <a:schemeClr val="dk1"/>
          </a:solidFill>
          <a:ln w="19050" cap="flat" cmpd="sng">
            <a:solidFill>
              <a:srgbClr val="FFC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100" dirty="0">
                <a:solidFill>
                  <a:schemeClr val="lt1"/>
                </a:solidFill>
                <a:latin typeface="Arial"/>
                <a:ea typeface="Arial"/>
                <a:cs typeface="Arial"/>
                <a:sym typeface="Arial"/>
              </a:rPr>
              <a:t>De 18 clientes, se esperaba una facturación de MM$185,1, sin embargo, a la fecha se ha facturado solo MM$124,9 (brecha MM$</a:t>
            </a:r>
            <a:r>
              <a:rPr lang="es-MX" sz="1100" dirty="0">
                <a:solidFill>
                  <a:schemeClr val="lt1"/>
                </a:solidFill>
              </a:rPr>
              <a:t>60</a:t>
            </a:r>
            <a:r>
              <a:rPr lang="es-MX" sz="1100" dirty="0">
                <a:solidFill>
                  <a:schemeClr val="lt1"/>
                </a:solidFill>
                <a:latin typeface="Arial"/>
                <a:ea typeface="Arial"/>
                <a:cs typeface="Arial"/>
                <a:sym typeface="Arial"/>
              </a:rPr>
              <a:t>,2).</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CL" sz="1100" dirty="0">
                <a:solidFill>
                  <a:schemeClr val="lt1"/>
                </a:solidFill>
                <a:latin typeface="Arial"/>
                <a:ea typeface="Arial"/>
                <a:cs typeface="Arial"/>
                <a:sym typeface="Arial"/>
              </a:rPr>
              <a:t>Principales clientes:</a:t>
            </a:r>
            <a:endParaRPr sz="1100" dirty="0">
              <a:solidFill>
                <a:schemeClr val="lt1"/>
              </a:solidFill>
              <a:highlight>
                <a:srgbClr val="FFFF00"/>
              </a:highlight>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Fundación </a:t>
            </a:r>
            <a:r>
              <a:rPr lang="es-MX" sz="1100" dirty="0" err="1">
                <a:solidFill>
                  <a:schemeClr val="lt1"/>
                </a:solidFill>
                <a:latin typeface="Arial"/>
                <a:ea typeface="Arial"/>
                <a:cs typeface="Arial"/>
                <a:sym typeface="Arial"/>
              </a:rPr>
              <a:t>Anchora</a:t>
            </a:r>
            <a:r>
              <a:rPr lang="es-MX" sz="1100" dirty="0">
                <a:solidFill>
                  <a:schemeClr val="lt1"/>
                </a:solidFill>
                <a:latin typeface="Arial"/>
                <a:ea typeface="Arial"/>
                <a:cs typeface="Arial"/>
                <a:sym typeface="Arial"/>
              </a:rPr>
              <a:t> UC (MM$12,9 vs. MM$2,4 real)</a:t>
            </a:r>
          </a:p>
          <a:p>
            <a:pPr marL="171450" marR="0" lvl="0" indent="-171450" algn="l" rtl="0">
              <a:spcBef>
                <a:spcPts val="0"/>
              </a:spcBef>
              <a:spcAft>
                <a:spcPts val="0"/>
              </a:spcAft>
              <a:buClr>
                <a:schemeClr val="lt1"/>
              </a:buClr>
              <a:buSzPts val="1100"/>
              <a:buFont typeface="Arial"/>
              <a:buChar char="•"/>
            </a:pPr>
            <a:r>
              <a:rPr lang="pt-BR" sz="1100" dirty="0">
                <a:solidFill>
                  <a:schemeClr val="lt1"/>
                </a:solidFill>
                <a:latin typeface="Arial"/>
                <a:ea typeface="Arial"/>
                <a:cs typeface="Arial"/>
                <a:sym typeface="Arial"/>
              </a:rPr>
              <a:t>Clínica </a:t>
            </a:r>
            <a:r>
              <a:rPr lang="pt-BR" sz="1100" dirty="0" err="1">
                <a:solidFill>
                  <a:schemeClr val="lt1"/>
                </a:solidFill>
                <a:latin typeface="Arial"/>
                <a:ea typeface="Arial"/>
                <a:cs typeface="Arial"/>
                <a:sym typeface="Arial"/>
              </a:rPr>
              <a:t>Indisa</a:t>
            </a:r>
            <a:r>
              <a:rPr lang="pt-BR" sz="1100" dirty="0">
                <a:solidFill>
                  <a:schemeClr val="lt1"/>
                </a:solidFill>
                <a:latin typeface="Arial"/>
                <a:ea typeface="Arial"/>
                <a:cs typeface="Arial"/>
                <a:sym typeface="Arial"/>
              </a:rPr>
              <a:t> (MM$28,8 vs. MM$20,5 real)</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Hospital San José (MM$26,6 vs. MM$20,5 real)</a:t>
            </a:r>
            <a:endParaRPr lang="pt-BR" sz="11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Johnson y Johnson (MM$30,4 vs. MM$25,7 real)</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UC </a:t>
            </a:r>
            <a:r>
              <a:rPr lang="es-MX" sz="1100" dirty="0" err="1">
                <a:solidFill>
                  <a:schemeClr val="lt1"/>
                </a:solidFill>
                <a:latin typeface="Arial"/>
                <a:ea typeface="Arial"/>
                <a:cs typeface="Arial"/>
                <a:sym typeface="Arial"/>
              </a:rPr>
              <a:t>Christus</a:t>
            </a:r>
            <a:r>
              <a:rPr lang="es-MX" sz="1100" dirty="0">
                <a:solidFill>
                  <a:schemeClr val="lt1"/>
                </a:solidFill>
                <a:latin typeface="Arial"/>
                <a:ea typeface="Arial"/>
                <a:cs typeface="Arial"/>
                <a:sym typeface="Arial"/>
              </a:rPr>
              <a:t> Servicios Ambulatorios (MM$9,7 vs. MM$5,3 real)</a:t>
            </a:r>
          </a:p>
        </p:txBody>
      </p:sp>
      <p:sp>
        <p:nvSpPr>
          <p:cNvPr id="272" name="Google Shape;272;p9"/>
          <p:cNvSpPr/>
          <p:nvPr/>
        </p:nvSpPr>
        <p:spPr>
          <a:xfrm>
            <a:off x="4209142" y="3524300"/>
            <a:ext cx="7887967" cy="3134515"/>
          </a:xfrm>
          <a:prstGeom prst="rect">
            <a:avLst/>
          </a:prstGeom>
          <a:noFill/>
          <a:ln w="19050" cap="flat" cmpd="sng">
            <a:solidFill>
              <a:schemeClr val="accent4"/>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MX" sz="1100" dirty="0">
                <a:solidFill>
                  <a:schemeClr val="lt1"/>
                </a:solidFill>
                <a:latin typeface="Arial"/>
                <a:ea typeface="Arial"/>
                <a:cs typeface="Arial"/>
                <a:sym typeface="Arial"/>
              </a:rPr>
              <a:t>Hay un total de MM$59</a:t>
            </a:r>
            <a:r>
              <a:rPr lang="es-MX" sz="1100" dirty="0">
                <a:solidFill>
                  <a:schemeClr val="lt1"/>
                </a:solidFill>
              </a:rPr>
              <a:t>,5</a:t>
            </a:r>
            <a:r>
              <a:rPr lang="es-MX" sz="1100" dirty="0">
                <a:solidFill>
                  <a:schemeClr val="lt1"/>
                </a:solidFill>
                <a:latin typeface="Arial"/>
                <a:ea typeface="Arial"/>
                <a:cs typeface="Arial"/>
                <a:sym typeface="Arial"/>
              </a:rPr>
              <a:t> de repuestos que no tienen stock. Son 155 SKU distintos (164 pares cliente-SKU) en 33 clientes. Los principales clientes en espera son:</a:t>
            </a:r>
          </a:p>
          <a:p>
            <a:pPr marL="0" marR="0" lvl="0" indent="0" algn="l" rtl="0">
              <a:spcBef>
                <a:spcPts val="0"/>
              </a:spcBef>
              <a:spcAft>
                <a:spcPts val="0"/>
              </a:spcAft>
              <a:buNone/>
            </a:pPr>
            <a:endParaRPr lang="es-MX" sz="11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Hospital Pitrufquén: 14,2% de la brecha (14 SKU)</a:t>
            </a:r>
          </a:p>
          <a:p>
            <a:pPr marL="171450" marR="0" lvl="0" indent="-171450" algn="l" rtl="0">
              <a:spcBef>
                <a:spcPts val="0"/>
              </a:spcBef>
              <a:spcAft>
                <a:spcPts val="0"/>
              </a:spcAft>
              <a:buClr>
                <a:schemeClr val="lt1"/>
              </a:buClr>
              <a:buSzPts val="1100"/>
              <a:buFont typeface="Arial"/>
              <a:buChar char="•"/>
            </a:pPr>
            <a:r>
              <a:rPr lang="es-MX" sz="1100" dirty="0">
                <a:solidFill>
                  <a:schemeClr val="lt1"/>
                </a:solidFill>
                <a:latin typeface="Arial"/>
                <a:ea typeface="Arial"/>
                <a:cs typeface="Arial"/>
                <a:sym typeface="Arial"/>
              </a:rPr>
              <a:t>Clínica Andes Salud Chillán: 10,1% (12 SKU)</a:t>
            </a:r>
          </a:p>
          <a:p>
            <a:pPr marL="171450" marR="0" lvl="0" indent="-171450" algn="l" rtl="0">
              <a:spcBef>
                <a:spcPts val="0"/>
              </a:spcBef>
              <a:spcAft>
                <a:spcPts val="0"/>
              </a:spcAft>
              <a:buClr>
                <a:schemeClr val="lt1"/>
              </a:buClr>
              <a:buSzPts val="1100"/>
              <a:buFont typeface="Arial"/>
              <a:buChar char="•"/>
            </a:pPr>
            <a:r>
              <a:rPr lang="pt-BR" sz="1100" dirty="0">
                <a:solidFill>
                  <a:schemeClr val="lt1"/>
                </a:solidFill>
                <a:latin typeface="Arial"/>
                <a:ea typeface="Arial"/>
                <a:cs typeface="Arial"/>
                <a:sym typeface="Arial"/>
              </a:rPr>
              <a:t>Hospital Base </a:t>
            </a:r>
            <a:r>
              <a:rPr lang="pt-BR" sz="1100" dirty="0" err="1">
                <a:solidFill>
                  <a:schemeClr val="lt1"/>
                </a:solidFill>
                <a:latin typeface="Arial"/>
                <a:ea typeface="Arial"/>
                <a:cs typeface="Arial"/>
                <a:sym typeface="Arial"/>
              </a:rPr>
              <a:t>Osorno</a:t>
            </a:r>
            <a:r>
              <a:rPr lang="pt-BR" sz="1100" dirty="0">
                <a:solidFill>
                  <a:schemeClr val="lt1"/>
                </a:solidFill>
                <a:latin typeface="Arial"/>
                <a:ea typeface="Arial"/>
                <a:cs typeface="Arial"/>
                <a:sym typeface="Arial"/>
              </a:rPr>
              <a:t>: </a:t>
            </a:r>
            <a:r>
              <a:rPr lang="pt-BR" sz="1100" dirty="0">
                <a:solidFill>
                  <a:schemeClr val="lt1"/>
                </a:solidFill>
              </a:rPr>
              <a:t>9</a:t>
            </a:r>
            <a:r>
              <a:rPr lang="pt-BR" sz="1100" dirty="0">
                <a:solidFill>
                  <a:schemeClr val="lt1"/>
                </a:solidFill>
                <a:latin typeface="Arial"/>
                <a:ea typeface="Arial"/>
                <a:cs typeface="Arial"/>
                <a:sym typeface="Arial"/>
              </a:rPr>
              <a:t>,4% (1 SKU)</a:t>
            </a:r>
          </a:p>
          <a:p>
            <a:pPr marL="171450" indent="-171450">
              <a:buClr>
                <a:schemeClr val="lt1"/>
              </a:buClr>
              <a:buSzPts val="1100"/>
              <a:buFont typeface="Arial"/>
              <a:buChar char="•"/>
            </a:pPr>
            <a:r>
              <a:rPr lang="es-MX" sz="1100" dirty="0">
                <a:solidFill>
                  <a:schemeClr val="lt1"/>
                </a:solidFill>
              </a:rPr>
              <a:t>Clínica Andes Salud Puerto Montt: 8,2% (3 SKU)</a:t>
            </a:r>
            <a:endParaRPr lang="es-MX" sz="11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100"/>
              <a:buFont typeface="Arial"/>
              <a:buChar char="•"/>
            </a:pPr>
            <a:r>
              <a:rPr lang="pt-BR" sz="1100" dirty="0">
                <a:solidFill>
                  <a:schemeClr val="lt1"/>
                </a:solidFill>
                <a:latin typeface="Arial"/>
                <a:ea typeface="Arial"/>
                <a:cs typeface="Arial"/>
                <a:sym typeface="Arial"/>
              </a:rPr>
              <a:t>Hospital de Alto </a:t>
            </a:r>
            <a:r>
              <a:rPr lang="pt-BR" sz="1100" dirty="0" err="1">
                <a:solidFill>
                  <a:schemeClr val="lt1"/>
                </a:solidFill>
                <a:latin typeface="Arial"/>
                <a:ea typeface="Arial"/>
                <a:cs typeface="Arial"/>
                <a:sym typeface="Arial"/>
              </a:rPr>
              <a:t>Hospicio</a:t>
            </a:r>
            <a:r>
              <a:rPr lang="pt-BR" sz="1100" dirty="0">
                <a:solidFill>
                  <a:schemeClr val="lt1"/>
                </a:solidFill>
                <a:latin typeface="Arial"/>
                <a:ea typeface="Arial"/>
                <a:cs typeface="Arial"/>
                <a:sym typeface="Arial"/>
              </a:rPr>
              <a:t>: 7,4% (5 SKU).</a:t>
            </a:r>
          </a:p>
          <a:p>
            <a:pPr marL="0" marR="0" lvl="0" indent="0" algn="l" rtl="0">
              <a:spcBef>
                <a:spcPts val="0"/>
              </a:spcBef>
              <a:spcAft>
                <a:spcPts val="0"/>
              </a:spcAft>
              <a:buNone/>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CL" sz="1100" dirty="0">
                <a:solidFill>
                  <a:schemeClr val="lt1"/>
                </a:solidFill>
                <a:latin typeface="Arial"/>
                <a:ea typeface="Arial"/>
                <a:cs typeface="Arial"/>
                <a:sym typeface="Arial"/>
              </a:rPr>
              <a:t>Cobertura de estos repuestos (valorizada):</a:t>
            </a:r>
            <a:endParaRPr dirty="0"/>
          </a:p>
          <a:p>
            <a:pPr marL="171450" marR="0" lvl="0" indent="-171450" algn="l" rtl="0">
              <a:spcBef>
                <a:spcPts val="0"/>
              </a:spcBef>
              <a:spcAft>
                <a:spcPts val="0"/>
              </a:spcAft>
              <a:buClr>
                <a:schemeClr val="lt1"/>
              </a:buClr>
              <a:buSzPts val="1100"/>
              <a:buFont typeface="Arial"/>
              <a:buChar char="•"/>
            </a:pPr>
            <a:r>
              <a:rPr lang="en-US" sz="1100" dirty="0">
                <a:solidFill>
                  <a:schemeClr val="lt1"/>
                </a:solidFill>
              </a:rPr>
              <a:t>54</a:t>
            </a:r>
            <a:r>
              <a:rPr lang="en-US" sz="1100" dirty="0">
                <a:solidFill>
                  <a:schemeClr val="lt1"/>
                </a:solidFill>
                <a:latin typeface="Arial"/>
                <a:ea typeface="Arial"/>
                <a:cs typeface="Arial"/>
                <a:sym typeface="Arial"/>
              </a:rPr>
              <a:t>% se </a:t>
            </a:r>
            <a:r>
              <a:rPr lang="en-US" sz="1100" dirty="0" err="1">
                <a:solidFill>
                  <a:schemeClr val="lt1"/>
                </a:solidFill>
                <a:latin typeface="Arial"/>
                <a:ea typeface="Arial"/>
                <a:cs typeface="Arial"/>
                <a:sym typeface="Arial"/>
              </a:rPr>
              <a:t>cubre</a:t>
            </a:r>
            <a:r>
              <a:rPr lang="en-US" sz="1100" dirty="0">
                <a:solidFill>
                  <a:schemeClr val="lt1"/>
                </a:solidFill>
                <a:latin typeface="Arial"/>
                <a:ea typeface="Arial"/>
                <a:cs typeface="Arial"/>
                <a:sym typeface="Arial"/>
              </a:rPr>
              <a:t> </a:t>
            </a:r>
            <a:r>
              <a:rPr lang="en-US" sz="1100" dirty="0" err="1">
                <a:solidFill>
                  <a:schemeClr val="lt1"/>
                </a:solidFill>
                <a:latin typeface="Arial"/>
                <a:ea typeface="Arial"/>
                <a:cs typeface="Arial"/>
                <a:sym typeface="Arial"/>
              </a:rPr>
              <a:t>por</a:t>
            </a:r>
            <a:r>
              <a:rPr lang="en-US" sz="1100" dirty="0">
                <a:solidFill>
                  <a:schemeClr val="lt1"/>
                </a:solidFill>
                <a:latin typeface="Arial"/>
                <a:ea typeface="Arial"/>
                <a:cs typeface="Arial"/>
                <a:sym typeface="Arial"/>
              </a:rPr>
              <a:t> stock </a:t>
            </a:r>
            <a:r>
              <a:rPr lang="en-US" sz="1100" dirty="0" err="1">
                <a:solidFill>
                  <a:schemeClr val="lt1"/>
                </a:solidFill>
                <a:latin typeface="Arial"/>
                <a:ea typeface="Arial"/>
                <a:cs typeface="Arial"/>
                <a:sym typeface="Arial"/>
              </a:rPr>
              <a:t>en</a:t>
            </a:r>
            <a:r>
              <a:rPr lang="en-US" sz="1100" dirty="0">
                <a:solidFill>
                  <a:schemeClr val="lt1"/>
                </a:solidFill>
                <a:latin typeface="Arial"/>
                <a:ea typeface="Arial"/>
                <a:cs typeface="Arial"/>
                <a:sym typeface="Arial"/>
              </a:rPr>
              <a:t> bodega</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rPr>
              <a:t>5</a:t>
            </a:r>
            <a:r>
              <a:rPr lang="en-US" sz="1100" dirty="0">
                <a:solidFill>
                  <a:schemeClr val="lt1"/>
                </a:solidFill>
                <a:latin typeface="Arial"/>
                <a:ea typeface="Arial"/>
                <a:cs typeface="Arial"/>
                <a:sym typeface="Arial"/>
              </a:rPr>
              <a:t>% se </a:t>
            </a:r>
            <a:r>
              <a:rPr lang="en-US" sz="1100" dirty="0" err="1">
                <a:solidFill>
                  <a:schemeClr val="lt1"/>
                </a:solidFill>
                <a:latin typeface="Arial"/>
                <a:ea typeface="Arial"/>
                <a:cs typeface="Arial"/>
                <a:sym typeface="Arial"/>
              </a:rPr>
              <a:t>cubre</a:t>
            </a:r>
            <a:r>
              <a:rPr lang="en-US" sz="1100" dirty="0">
                <a:solidFill>
                  <a:schemeClr val="lt1"/>
                </a:solidFill>
                <a:latin typeface="Arial"/>
                <a:ea typeface="Arial"/>
                <a:cs typeface="Arial"/>
                <a:sym typeface="Arial"/>
              </a:rPr>
              <a:t> </a:t>
            </a:r>
            <a:r>
              <a:rPr lang="en-US" sz="1100" dirty="0" err="1">
                <a:solidFill>
                  <a:schemeClr val="lt1"/>
                </a:solidFill>
                <a:latin typeface="Arial"/>
                <a:ea typeface="Arial"/>
                <a:cs typeface="Arial"/>
                <a:sym typeface="Arial"/>
              </a:rPr>
              <a:t>por</a:t>
            </a:r>
            <a:r>
              <a:rPr lang="en-US" sz="1100" dirty="0">
                <a:solidFill>
                  <a:schemeClr val="lt1"/>
                </a:solidFill>
                <a:latin typeface="Arial"/>
                <a:ea typeface="Arial"/>
                <a:cs typeface="Arial"/>
                <a:sym typeface="Arial"/>
              </a:rPr>
              <a:t> back order</a:t>
            </a:r>
          </a:p>
          <a:p>
            <a:pPr marL="171450" marR="0" lvl="0" indent="-171450" algn="l" rtl="0">
              <a:spcBef>
                <a:spcPts val="0"/>
              </a:spcBef>
              <a:spcAft>
                <a:spcPts val="0"/>
              </a:spcAft>
              <a:buClr>
                <a:schemeClr val="lt1"/>
              </a:buClr>
              <a:buSzPts val="1100"/>
              <a:buFont typeface="Arial"/>
              <a:buChar char="•"/>
            </a:pPr>
            <a:r>
              <a:rPr lang="en-US" sz="1100" dirty="0">
                <a:solidFill>
                  <a:schemeClr val="lt1"/>
                </a:solidFill>
                <a:latin typeface="Arial"/>
                <a:ea typeface="Arial"/>
                <a:cs typeface="Arial"/>
                <a:sym typeface="Arial"/>
              </a:rPr>
              <a:t>Stock + back order = 5</a:t>
            </a:r>
            <a:r>
              <a:rPr lang="en-US" sz="1100" dirty="0">
                <a:solidFill>
                  <a:schemeClr val="lt1"/>
                </a:solidFill>
              </a:rPr>
              <a:t>9</a:t>
            </a:r>
            <a:r>
              <a:rPr lang="en-US" sz="1100" dirty="0">
                <a:solidFill>
                  <a:schemeClr val="lt1"/>
                </a:solidFill>
                <a:latin typeface="Arial"/>
                <a:ea typeface="Arial"/>
                <a:cs typeface="Arial"/>
                <a:sym typeface="Arial"/>
              </a:rPr>
              <a:t>%</a:t>
            </a:r>
            <a:endParaRPr lang="en-US" sz="1100" dirty="0">
              <a:solidFill>
                <a:schemeClr val="lt1"/>
              </a:solidFill>
            </a:endParaRPr>
          </a:p>
          <a:p>
            <a:pPr marL="171450" marR="0" lvl="0" indent="-171450" algn="l" rtl="0">
              <a:spcBef>
                <a:spcPts val="0"/>
              </a:spcBef>
              <a:spcAft>
                <a:spcPts val="0"/>
              </a:spcAft>
              <a:buClr>
                <a:schemeClr val="lt1"/>
              </a:buClr>
              <a:buSzPts val="1100"/>
              <a:buFont typeface="Arial"/>
              <a:buChar char="•"/>
            </a:pPr>
            <a:endParaRPr sz="1100" dirty="0">
              <a:solidFill>
                <a:schemeClr val="lt1"/>
              </a:solidFill>
              <a:latin typeface="Arial"/>
              <a:ea typeface="Arial"/>
              <a:cs typeface="Arial"/>
              <a:sym typeface="Arial"/>
            </a:endParaRPr>
          </a:p>
          <a:p>
            <a:pPr marL="0" marR="0" lvl="0" indent="0" algn="l" rtl="0">
              <a:spcBef>
                <a:spcPts val="0"/>
              </a:spcBef>
              <a:spcAft>
                <a:spcPts val="0"/>
              </a:spcAft>
              <a:buNone/>
            </a:pPr>
            <a:r>
              <a:rPr lang="es-MX" sz="1100" dirty="0">
                <a:solidFill>
                  <a:schemeClr val="lt1"/>
                </a:solidFill>
                <a:latin typeface="Arial"/>
                <a:ea typeface="Arial"/>
                <a:cs typeface="Arial"/>
                <a:sym typeface="Arial"/>
              </a:rPr>
              <a:t>El restante 41% son MM$</a:t>
            </a:r>
            <a:r>
              <a:rPr lang="es-MX" sz="1100" dirty="0">
                <a:solidFill>
                  <a:schemeClr val="lt1"/>
                </a:solidFill>
              </a:rPr>
              <a:t>24</a:t>
            </a:r>
            <a:r>
              <a:rPr lang="es-MX" sz="1100" dirty="0">
                <a:solidFill>
                  <a:schemeClr val="lt1"/>
                </a:solidFill>
                <a:latin typeface="Arial"/>
                <a:ea typeface="Arial"/>
                <a:cs typeface="Arial"/>
                <a:sym typeface="Arial"/>
              </a:rPr>
              <a:t>,</a:t>
            </a:r>
            <a:r>
              <a:rPr lang="es-MX" sz="1100" dirty="0">
                <a:solidFill>
                  <a:schemeClr val="lt1"/>
                </a:solidFill>
              </a:rPr>
              <a:t>6</a:t>
            </a:r>
            <a:r>
              <a:rPr lang="es-MX" sz="1100" dirty="0">
                <a:solidFill>
                  <a:schemeClr val="lt1"/>
                </a:solidFill>
                <a:latin typeface="Arial"/>
                <a:ea typeface="Arial"/>
                <a:cs typeface="Arial"/>
                <a:sym typeface="Arial"/>
              </a:rPr>
              <a:t> en 70 pares cliente-SKU. Se explica principalmente porque 63 de los 164 pares (48%) no figuran en el maestro de inventario, es decir, son repuestos que nunca se han </a:t>
            </a:r>
            <a:r>
              <a:rPr lang="es-MX" sz="1100" dirty="0" err="1">
                <a:solidFill>
                  <a:schemeClr val="lt1"/>
                </a:solidFill>
                <a:latin typeface="Arial"/>
                <a:ea typeface="Arial"/>
                <a:cs typeface="Arial"/>
                <a:sym typeface="Arial"/>
              </a:rPr>
              <a:t>stockeado</a:t>
            </a:r>
            <a:r>
              <a:rPr lang="es-MX" sz="1100" dirty="0">
                <a:solidFill>
                  <a:schemeClr val="lt1"/>
                </a:solidFill>
                <a:latin typeface="Arial"/>
                <a:ea typeface="Arial"/>
                <a:cs typeface="Arial"/>
                <a:sym typeface="Arial"/>
              </a:rPr>
              <a:t>.</a:t>
            </a:r>
          </a:p>
        </p:txBody>
      </p:sp>
      <p:sp>
        <p:nvSpPr>
          <p:cNvPr id="273" name="Google Shape;273;p9"/>
          <p:cNvSpPr/>
          <p:nvPr/>
        </p:nvSpPr>
        <p:spPr>
          <a:xfrm>
            <a:off x="94892" y="3353665"/>
            <a:ext cx="1319838" cy="198409"/>
          </a:xfrm>
          <a:prstGeom prst="rect">
            <a:avLst/>
          </a:prstGeom>
          <a:solidFill>
            <a:schemeClr val="lt1"/>
          </a:solidFill>
          <a:ln w="19050" cap="flat" cmpd="sng">
            <a:solidFill>
              <a:schemeClr val="l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Op. X facturar</a:t>
            </a:r>
            <a:endParaRPr sz="1100" b="1">
              <a:solidFill>
                <a:schemeClr val="dk1"/>
              </a:solidFill>
              <a:latin typeface="Arial"/>
              <a:ea typeface="Arial"/>
              <a:cs typeface="Arial"/>
              <a:sym typeface="Arial"/>
            </a:endParaRPr>
          </a:p>
        </p:txBody>
      </p:sp>
      <p:sp>
        <p:nvSpPr>
          <p:cNvPr id="274" name="Google Shape;274;p9"/>
          <p:cNvSpPr/>
          <p:nvPr/>
        </p:nvSpPr>
        <p:spPr>
          <a:xfrm>
            <a:off x="1414733" y="3351025"/>
            <a:ext cx="2794409" cy="220234"/>
          </a:xfrm>
          <a:prstGeom prst="rect">
            <a:avLst/>
          </a:prstGeom>
          <a:solidFill>
            <a:srgbClr val="FFC000"/>
          </a:solidFill>
          <a:ln w="19050" cap="flat" cmpd="sng">
            <a:solidFill>
              <a:srgbClr val="FFC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Facturaciones bajo contrato</a:t>
            </a:r>
            <a:endParaRPr sz="1100" b="1">
              <a:solidFill>
                <a:schemeClr val="dk1"/>
              </a:solidFill>
              <a:latin typeface="Arial"/>
              <a:ea typeface="Arial"/>
              <a:cs typeface="Arial"/>
              <a:sym typeface="Arial"/>
            </a:endParaRPr>
          </a:p>
        </p:txBody>
      </p:sp>
      <p:sp>
        <p:nvSpPr>
          <p:cNvPr id="275" name="Google Shape;275;p9"/>
          <p:cNvSpPr/>
          <p:nvPr/>
        </p:nvSpPr>
        <p:spPr>
          <a:xfrm>
            <a:off x="4209142" y="3351025"/>
            <a:ext cx="7887967" cy="220233"/>
          </a:xfrm>
          <a:prstGeom prst="rect">
            <a:avLst/>
          </a:prstGeom>
          <a:solidFill>
            <a:schemeClr val="accent4"/>
          </a:solidFill>
          <a:ln w="19050" cap="flat" cmpd="sng">
            <a:solidFill>
              <a:srgbClr val="FF000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r>
              <a:rPr lang="es-CL" sz="1100" b="1">
                <a:solidFill>
                  <a:schemeClr val="dk1"/>
                </a:solidFill>
                <a:latin typeface="Arial"/>
                <a:ea typeface="Arial"/>
                <a:cs typeface="Arial"/>
                <a:sym typeface="Arial"/>
              </a:rPr>
              <a:t>Sin Stock de Repuestos</a:t>
            </a:r>
            <a:endParaRPr sz="1100" b="1">
              <a:solidFill>
                <a:schemeClr val="dk1"/>
              </a:solidFill>
              <a:latin typeface="Arial"/>
              <a:ea typeface="Arial"/>
              <a:cs typeface="Arial"/>
              <a:sym typeface="Arial"/>
            </a:endParaRPr>
          </a:p>
        </p:txBody>
      </p:sp>
      <p:pic>
        <p:nvPicPr>
          <p:cNvPr id="4" name="Imagen 3">
            <a:extLst>
              <a:ext uri="{FF2B5EF4-FFF2-40B4-BE49-F238E27FC236}">
                <a16:creationId xmlns:a16="http://schemas.microsoft.com/office/drawing/2014/main" id="{1423BAB9-1A5D-FABC-6022-B029183001E4}"/>
              </a:ext>
            </a:extLst>
          </p:cNvPr>
          <p:cNvPicPr>
            <a:picLocks noChangeAspect="1"/>
          </p:cNvPicPr>
          <p:nvPr/>
        </p:nvPicPr>
        <p:blipFill>
          <a:blip r:embed="rId3"/>
          <a:srcRect t="13331" b="11973"/>
          <a:stretch>
            <a:fillRect/>
          </a:stretch>
        </p:blipFill>
        <p:spPr>
          <a:xfrm>
            <a:off x="4143" y="801786"/>
            <a:ext cx="12192000" cy="247500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Rotación según brecha sin Stock – Pendientes Bruto</a:t>
            </a:r>
            <a:endParaRPr sz="2700" b="0" i="0" u="none" strike="noStrike" cap="none">
              <a:solidFill>
                <a:srgbClr val="FFFFFF"/>
              </a:solidFill>
              <a:latin typeface="Roboto"/>
              <a:ea typeface="Roboto"/>
              <a:cs typeface="Roboto"/>
              <a:sym typeface="Roboto"/>
            </a:endParaRPr>
          </a:p>
        </p:txBody>
      </p:sp>
      <p:sp>
        <p:nvSpPr>
          <p:cNvPr id="282" name="Google Shape;282;p10"/>
          <p:cNvSpPr/>
          <p:nvPr/>
        </p:nvSpPr>
        <p:spPr>
          <a:xfrm>
            <a:off x="8481000" y="999000"/>
            <a:ext cx="3342700" cy="56762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stock pendiente alcanza MM$59,5, distribuido en 204 SKU y 33 clientes, manteniéndose una alta concentración en productos de baja rotación. </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66,4% del stock presenta baja rotación, mientras que un 7,5% corresponde a rotación media, un 24,5% a alta rotación y un 1,7% a productos sin rotación.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3 principales clientes concentran MM$20,0, equivalentes aproximadamente al 34% del stock pendiente, evidenciando una concentración relevante.</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Solo el 32,0% del stock presenta rotación media o alta, manteniéndose un volumen importante de inventario con potencial de gestión para acelerar su salida.</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Hospital Pitrufquén concentra el mayor stock pendiente, con MM$8,4, seguido por Clínica Andes Salud Chillán S.A. (MM$6,0) y Hospital Base Osorno (MM$5,6).</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10 principales clientes concentran aproximadamente MM$47,0, equivalentes al 79% del stock pendiente, por lo que las acciones de gestión pueden focalizarse principalmente en este grupo.</a:t>
            </a:r>
            <a:endParaRPr lang="es-MX" sz="1200" dirty="0">
              <a:solidFill>
                <a:schemeClr val="lt1"/>
              </a:solidFill>
              <a:latin typeface="Arial"/>
              <a:ea typeface="Arial"/>
              <a:cs typeface="Arial"/>
            </a:endParaRPr>
          </a:p>
        </p:txBody>
      </p:sp>
      <p:pic>
        <p:nvPicPr>
          <p:cNvPr id="6" name="Imagen 5">
            <a:extLst>
              <a:ext uri="{FF2B5EF4-FFF2-40B4-BE49-F238E27FC236}">
                <a16:creationId xmlns:a16="http://schemas.microsoft.com/office/drawing/2014/main" id="{F0EC9246-4D38-9488-AF51-9B430DF3BD7F}"/>
              </a:ext>
            </a:extLst>
          </p:cNvPr>
          <p:cNvPicPr>
            <a:picLocks noChangeAspect="1"/>
          </p:cNvPicPr>
          <p:nvPr/>
        </p:nvPicPr>
        <p:blipFill>
          <a:blip r:embed="rId3"/>
          <a:srcRect t="7874" b="2664"/>
          <a:stretch>
            <a:fillRect/>
          </a:stretch>
        </p:blipFill>
        <p:spPr>
          <a:xfrm>
            <a:off x="368300" y="905181"/>
            <a:ext cx="7727300" cy="57701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Rotación según brecha sin Stock – Pendientes Neto</a:t>
            </a:r>
            <a:endParaRPr sz="2700" b="0" i="0" u="none" strike="noStrike" cap="none">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3419DB6D-078E-FB36-1272-E7A8E1FC3931}"/>
              </a:ext>
            </a:extLst>
          </p:cNvPr>
          <p:cNvPicPr>
            <a:picLocks noChangeAspect="1"/>
          </p:cNvPicPr>
          <p:nvPr/>
        </p:nvPicPr>
        <p:blipFill>
          <a:blip r:embed="rId3"/>
          <a:srcRect t="8005" b="9318"/>
          <a:stretch>
            <a:fillRect/>
          </a:stretch>
        </p:blipFill>
        <p:spPr>
          <a:xfrm>
            <a:off x="1113700" y="878181"/>
            <a:ext cx="9990000" cy="597981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DED96D71-249C-1393-8177-BE2796AC10E6}"/>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6255AEBD-354F-668D-E6B2-5B387B59611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39EC3EFD-5CFD-A0BE-8A58-C9748B1950B6}"/>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26FA9176-4C68-21DE-8E6B-B550A4C697B0}"/>
              </a:ext>
            </a:extLst>
          </p:cNvPr>
          <p:cNvSpPr/>
          <p:nvPr/>
        </p:nvSpPr>
        <p:spPr>
          <a:xfrm>
            <a:off x="393700" y="214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762901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1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EERR TECSERVICE Cierre </a:t>
            </a:r>
            <a:r>
              <a:rPr lang="es-CL" sz="2700" b="1" dirty="0">
                <a:solidFill>
                  <a:srgbClr val="33448D"/>
                </a:solidFill>
                <a:latin typeface="Roboto"/>
                <a:ea typeface="Roboto"/>
                <a:cs typeface="Roboto"/>
                <a:sym typeface="Roboto"/>
              </a:rPr>
              <a:t>Ago-26</a:t>
            </a:r>
            <a:endParaRPr sz="2700" b="0" i="0" u="none" strike="noStrike" cap="none" dirty="0">
              <a:solidFill>
                <a:srgbClr val="FFFFFF"/>
              </a:solidFill>
              <a:latin typeface="Roboto"/>
              <a:ea typeface="Roboto"/>
              <a:cs typeface="Roboto"/>
              <a:sym typeface="Roboto"/>
            </a:endParaRPr>
          </a:p>
        </p:txBody>
      </p:sp>
      <p:sp>
        <p:nvSpPr>
          <p:cNvPr id="302" name="Google Shape;302;p13"/>
          <p:cNvSpPr/>
          <p:nvPr/>
        </p:nvSpPr>
        <p:spPr>
          <a:xfrm>
            <a:off x="7518900" y="923464"/>
            <a:ext cx="4416348" cy="568234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ingresos acumulados alcanzan MM$1.845,7, superando el presupuesto en MM$56,5 (+3,2%).</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EBITDA Directo alcanza MM$542,5, con un margen de 29,4%, superior al 21,1% presupuestado, reflejando una mayor rentabilidad sobre los ingresos.</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Al incorporar GAV Indirecto, el EBITDA Empresa alcanza MM$317,1, MM$88,5 sobre presupuesto (+38,7%), con un margen de 17,2%, superior al 12,8% presupuestado.</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resultado del ejercicio alcanza MM$37,7, versus MM$100,4 presupuestados, evidenciando que, pese a los mayores ingresos y EBITDA, el resultado final se encuentra bajo presupuesto.</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principal desafío está en mantener la conversión del EBITDA en resultado final, dado que, pese a que ingresos, márgenes operacionales y EBITDA se encuentran sobre presupuesto, el resultado no operacional acumula -MM$136,1 y limita la rentabilidad final.</a:t>
            </a:r>
          </a:p>
        </p:txBody>
      </p:sp>
      <p:pic>
        <p:nvPicPr>
          <p:cNvPr id="4" name="Imagen 3">
            <a:extLst>
              <a:ext uri="{FF2B5EF4-FFF2-40B4-BE49-F238E27FC236}">
                <a16:creationId xmlns:a16="http://schemas.microsoft.com/office/drawing/2014/main" id="{B4AAB5A3-287A-0F26-35E9-727D657137D7}"/>
              </a:ext>
            </a:extLst>
          </p:cNvPr>
          <p:cNvPicPr>
            <a:picLocks noChangeAspect="1"/>
          </p:cNvPicPr>
          <p:nvPr/>
        </p:nvPicPr>
        <p:blipFill>
          <a:blip r:embed="rId3"/>
          <a:srcRect t="6037" r="2168" b="6693"/>
          <a:stretch>
            <a:fillRect/>
          </a:stretch>
        </p:blipFill>
        <p:spPr>
          <a:xfrm>
            <a:off x="-13000" y="919363"/>
            <a:ext cx="7531900" cy="568234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EERR Mensualizado</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E944C52D-585D-32A9-3E62-4AAC48D7CB4E}"/>
              </a:ext>
            </a:extLst>
          </p:cNvPr>
          <p:cNvPicPr>
            <a:picLocks noChangeAspect="1"/>
          </p:cNvPicPr>
          <p:nvPr/>
        </p:nvPicPr>
        <p:blipFill>
          <a:blip r:embed="rId3"/>
          <a:srcRect b="15934"/>
          <a:stretch>
            <a:fillRect/>
          </a:stretch>
        </p:blipFill>
        <p:spPr>
          <a:xfrm>
            <a:off x="12700" y="882488"/>
            <a:ext cx="12192000" cy="52739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0">
          <a:extLst>
            <a:ext uri="{FF2B5EF4-FFF2-40B4-BE49-F238E27FC236}">
              <a16:creationId xmlns:a16="http://schemas.microsoft.com/office/drawing/2014/main" id="{970111E4-3455-927A-6D00-CF0C3482BC6B}"/>
            </a:ext>
          </a:extLst>
        </p:cNvPr>
        <p:cNvGrpSpPr/>
        <p:nvPr/>
      </p:nvGrpSpPr>
      <p:grpSpPr>
        <a:xfrm>
          <a:off x="0" y="0"/>
          <a:ext cx="0" cy="0"/>
          <a:chOff x="0" y="0"/>
          <a:chExt cx="0" cy="0"/>
        </a:xfrm>
      </p:grpSpPr>
      <p:sp>
        <p:nvSpPr>
          <p:cNvPr id="301" name="Google Shape;301;p13">
            <a:extLst>
              <a:ext uri="{FF2B5EF4-FFF2-40B4-BE49-F238E27FC236}">
                <a16:creationId xmlns:a16="http://schemas.microsoft.com/office/drawing/2014/main" id="{8FF0802D-B117-C401-1FEE-7D052A07ECD6}"/>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EERR Limpio TECSERVICE Cierre </a:t>
            </a:r>
            <a:r>
              <a:rPr lang="es-CL" sz="2700" b="1" dirty="0">
                <a:solidFill>
                  <a:srgbClr val="33448D"/>
                </a:solidFill>
                <a:latin typeface="Roboto"/>
                <a:ea typeface="Roboto"/>
                <a:cs typeface="Roboto"/>
                <a:sym typeface="Roboto"/>
              </a:rPr>
              <a:t>Ago-26</a:t>
            </a:r>
            <a:endParaRPr sz="2700" b="0" i="0" u="none" strike="noStrike" cap="none" dirty="0">
              <a:solidFill>
                <a:srgbClr val="FFFFFF"/>
              </a:solidFill>
              <a:latin typeface="Roboto"/>
              <a:ea typeface="Roboto"/>
              <a:cs typeface="Roboto"/>
              <a:sym typeface="Roboto"/>
            </a:endParaRPr>
          </a:p>
        </p:txBody>
      </p:sp>
      <p:sp>
        <p:nvSpPr>
          <p:cNvPr id="302" name="Google Shape;302;p13">
            <a:extLst>
              <a:ext uri="{FF2B5EF4-FFF2-40B4-BE49-F238E27FC236}">
                <a16:creationId xmlns:a16="http://schemas.microsoft.com/office/drawing/2014/main" id="{7D4FB2DE-C428-94EB-2184-F640100D96AE}"/>
              </a:ext>
            </a:extLst>
          </p:cNvPr>
          <p:cNvSpPr/>
          <p:nvPr/>
        </p:nvSpPr>
        <p:spPr>
          <a:xfrm>
            <a:off x="7394868" y="774000"/>
            <a:ext cx="4540380" cy="603000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285750" lvl="0" indent="-171450">
              <a:buClrTx/>
              <a:buSzPct val="100000"/>
              <a:buFont typeface="Arial"/>
              <a:buChar char="•"/>
            </a:pPr>
            <a:r>
              <a:rPr lang="es-MX" sz="850" dirty="0">
                <a:solidFill>
                  <a:schemeClr val="lt1"/>
                </a:solidFill>
              </a:rPr>
              <a:t>Los ingresos acumulados alcanzan MM$1.845,7, superando el presupuesto en MM$56,5 (+3,2%).</a:t>
            </a:r>
          </a:p>
          <a:p>
            <a:pPr marL="285750" lvl="0" indent="-171450">
              <a:buClrTx/>
              <a:buSzPct val="100000"/>
              <a:buFont typeface="Arial"/>
              <a:buChar char="•"/>
            </a:pPr>
            <a:r>
              <a:rPr lang="es-MX" sz="850" dirty="0">
                <a:solidFill>
                  <a:schemeClr val="lt1"/>
                </a:solidFill>
              </a:rPr>
              <a:t>El EBITDA Directo alcanza MM$609,6, con un margen de 33,0%, superior al 21,1% presupuestado, reflejando una mayor rentabilidad sobre los ingresos.</a:t>
            </a:r>
          </a:p>
          <a:p>
            <a:pPr marL="285750" lvl="0" indent="-171450">
              <a:buClrTx/>
              <a:buSzPct val="100000"/>
              <a:buFont typeface="Arial"/>
              <a:buChar char="•"/>
            </a:pPr>
            <a:r>
              <a:rPr lang="es-MX" sz="850" dirty="0">
                <a:solidFill>
                  <a:schemeClr val="lt1"/>
                </a:solidFill>
              </a:rPr>
              <a:t>Al incorporar GAV Indirecto, el EBITDA Empresa alcanza MM$419,1, MM$165,8 sobre presupuesto (+65,5%), con un margen de 22,7%, superior al 12,8% presupuestado.</a:t>
            </a:r>
          </a:p>
          <a:p>
            <a:pPr marL="285750" lvl="0" indent="-171450">
              <a:buClrTx/>
              <a:buSzPct val="100000"/>
              <a:buFont typeface="Arial"/>
              <a:buChar char="•"/>
            </a:pPr>
            <a:r>
              <a:rPr lang="es-MX" sz="850" dirty="0">
                <a:solidFill>
                  <a:schemeClr val="lt1"/>
                </a:solidFill>
              </a:rPr>
              <a:t>El resultado del ejercicio alcanza MM$116,5, versus MM$100,4 presupuestados, evidenciando que, junto a los mayores ingresos y EBITDA, el resultado final se encuentra sobre presupuesto.</a:t>
            </a:r>
          </a:p>
          <a:p>
            <a:pPr marL="285750" lvl="0" indent="-171450">
              <a:buClrTx/>
              <a:buSzPct val="100000"/>
              <a:buFont typeface="Arial"/>
              <a:buChar char="•"/>
            </a:pPr>
            <a:r>
              <a:rPr lang="es-MX" sz="850" dirty="0">
                <a:solidFill>
                  <a:schemeClr val="lt1"/>
                </a:solidFill>
              </a:rPr>
              <a:t>El principal desafío está en mantener la conversión del EBITDA en resultado final, dado que, pese a que ingresos, márgenes operacionales y EBITDA se encuentran sobre presupuesto, el resultado no operacional acumula -MM$136,1 y limita la rentabilidad final..</a:t>
            </a:r>
          </a:p>
          <a:p>
            <a:pPr marL="285750" marR="0" lvl="0" indent="-171450" algn="l" rtl="0">
              <a:spcBef>
                <a:spcPts val="0"/>
              </a:spcBef>
              <a:spcAft>
                <a:spcPts val="0"/>
              </a:spcAft>
              <a:buClrTx/>
              <a:buSzPct val="100000"/>
              <a:buFont typeface="Arial"/>
              <a:buChar char="•"/>
            </a:pPr>
            <a:endParaRPr lang="es-MX" sz="850" dirty="0">
              <a:solidFill>
                <a:schemeClr val="lt1"/>
              </a:solidFill>
              <a:latin typeface="Arial"/>
              <a:ea typeface="Arial"/>
              <a:cs typeface="Arial"/>
              <a:sym typeface="Arial"/>
            </a:endParaRPr>
          </a:p>
          <a:p>
            <a:pPr marL="285750" marR="0" lvl="0" indent="-171450" algn="l" rtl="0">
              <a:spcBef>
                <a:spcPts val="0"/>
              </a:spcBef>
              <a:spcAft>
                <a:spcPts val="0"/>
              </a:spcAft>
              <a:buClrTx/>
              <a:buSzPct val="100000"/>
              <a:buFont typeface="Arial"/>
              <a:buChar char="•"/>
            </a:pPr>
            <a:r>
              <a:rPr lang="es-MX" sz="850" dirty="0">
                <a:solidFill>
                  <a:schemeClr val="lt1"/>
                </a:solidFill>
                <a:latin typeface="Arial"/>
                <a:ea typeface="Arial"/>
                <a:cs typeface="Arial"/>
                <a:sym typeface="Arial"/>
              </a:rPr>
              <a:t>Este estado de resultado es el mismo de arriba con tres ajustes, pensados para ver el resultado del negocio sin partidas que no son del giro del período:</a:t>
            </a:r>
          </a:p>
          <a:p>
            <a:pPr marL="457200" marR="0" lvl="1" indent="-171450" algn="l" rtl="0">
              <a:spcBef>
                <a:spcPts val="0"/>
              </a:spcBef>
              <a:spcAft>
                <a:spcPts val="0"/>
              </a:spcAft>
              <a:buClrTx/>
              <a:buSzPct val="100000"/>
              <a:buFont typeface="Arial" panose="020B0604020202020204" pitchFamily="34" charset="0"/>
              <a:buChar char="–"/>
            </a:pPr>
            <a:r>
              <a:rPr lang="es-MX" sz="850" dirty="0">
                <a:solidFill>
                  <a:schemeClr val="lt1"/>
                </a:solidFill>
                <a:latin typeface="Arial"/>
                <a:ea typeface="Arial"/>
                <a:cs typeface="Arial"/>
                <a:sym typeface="Arial"/>
              </a:rPr>
              <a:t>Costo de ventas en una sola línea. No se abre en Técnicos y Repuestos, porque esa apertura existe sólo en Real y no tiene presupuesto contra el cual compararse.</a:t>
            </a:r>
          </a:p>
          <a:p>
            <a:pPr marL="457200" marR="0" lvl="1" indent="-171450" algn="l" rtl="0">
              <a:spcBef>
                <a:spcPts val="0"/>
              </a:spcBef>
              <a:spcAft>
                <a:spcPts val="0"/>
              </a:spcAft>
              <a:buClrTx/>
              <a:buSzPct val="100000"/>
              <a:buFont typeface="Arial" panose="020B0604020202020204" pitchFamily="34" charset="0"/>
              <a:buChar char="–"/>
            </a:pPr>
            <a:r>
              <a:rPr lang="es-MX" sz="850" dirty="0">
                <a:solidFill>
                  <a:schemeClr val="lt1"/>
                </a:solidFill>
                <a:latin typeface="Arial"/>
                <a:ea typeface="Arial"/>
                <a:cs typeface="Arial"/>
                <a:sym typeface="Arial"/>
              </a:rPr>
              <a:t>Costo de ventas neto de garantías. A ese costo se le descuenta lo que ya se gastó en atender las garantías vigentes: MM$67,1, repartidos en partes iguales entre los 8 meses cargados (MM$8,4 por mes). El monto sale de la tabla «Contratos de Garantía · Costo Estimado» de Visión General: de los 46 contratos que estuvieron vigentes en algún momento del año —incluidos los que ya terminaron, porque su costo igual se incurrió—, su costo estimado total del año (MM$136,</a:t>
            </a:r>
            <a:r>
              <a:rPr lang="es-MX" sz="850" dirty="0">
                <a:solidFill>
                  <a:schemeClr val="lt1"/>
                </a:solidFill>
              </a:rPr>
              <a:t>8</a:t>
            </a:r>
            <a:r>
              <a:rPr lang="es-MX" sz="850" dirty="0">
                <a:solidFill>
                  <a:schemeClr val="lt1"/>
                </a:solidFill>
                <a:latin typeface="Arial"/>
                <a:ea typeface="Arial"/>
                <a:cs typeface="Arial"/>
                <a:sym typeface="Arial"/>
              </a:rPr>
              <a:t>) menos el costo que queda por delante (MM$69,7).</a:t>
            </a:r>
          </a:p>
          <a:p>
            <a:pPr marL="457200" marR="0" lvl="1" indent="-171450" algn="l" rtl="0">
              <a:spcBef>
                <a:spcPts val="0"/>
              </a:spcBef>
              <a:spcAft>
                <a:spcPts val="0"/>
              </a:spcAft>
              <a:buClrTx/>
              <a:buSzPct val="100000"/>
              <a:buFont typeface="Arial" panose="020B0604020202020204" pitchFamily="34" charset="0"/>
              <a:buChar char="–"/>
            </a:pPr>
            <a:r>
              <a:rPr lang="es-MX" sz="850" dirty="0">
                <a:solidFill>
                  <a:schemeClr val="lt1"/>
                </a:solidFill>
                <a:latin typeface="Arial"/>
                <a:ea typeface="Arial"/>
                <a:cs typeface="Arial"/>
                <a:sym typeface="Arial"/>
              </a:rPr>
              <a:t>Depreciación sin el Arriendo Piso 1. Ese arriendo es de la oficina, no del giro, y sale del estado de resultado.</a:t>
            </a:r>
          </a:p>
          <a:p>
            <a:pPr marL="457200" marR="0" lvl="1" indent="-171450" algn="l" rtl="0">
              <a:spcBef>
                <a:spcPts val="0"/>
              </a:spcBef>
              <a:spcAft>
                <a:spcPts val="0"/>
              </a:spcAft>
              <a:buClrTx/>
              <a:buSzPct val="100000"/>
              <a:buFont typeface="Arial" panose="020B0604020202020204" pitchFamily="34" charset="0"/>
              <a:buChar char="–"/>
            </a:pPr>
            <a:r>
              <a:rPr lang="es-MX" sz="850" dirty="0">
                <a:solidFill>
                  <a:schemeClr val="lt1"/>
                </a:solidFill>
                <a:latin typeface="Arial"/>
                <a:ea typeface="Arial"/>
                <a:cs typeface="Arial"/>
                <a:sym typeface="Arial"/>
              </a:rPr>
              <a:t>EBITDAR y arriendo de bodega separados. En la hoja el arriendo no está dentro del EBITDA —viene más abajo, junto a la depreciación—, así que ese EBITDA es en realidad un EBITDAR: resultado antes de intereses, impuestos, depreciación, amortización y arriendo. Por eso la línea se rotula así y debajo va el arriendo de bodega y el EBITDA Empresa con arriendo. La depreciación queda sólo con S&amp;S, de modo que el resultado operacional no cambia.</a:t>
            </a:r>
          </a:p>
          <a:p>
            <a:pPr marL="285750" marR="0" lvl="0" indent="-171450" algn="l" rtl="0">
              <a:spcBef>
                <a:spcPts val="0"/>
              </a:spcBef>
              <a:spcAft>
                <a:spcPts val="0"/>
              </a:spcAft>
              <a:buClrTx/>
              <a:buSzPct val="100000"/>
              <a:buFont typeface="Arial"/>
              <a:buChar char="•"/>
            </a:pPr>
            <a:r>
              <a:rPr lang="es-MX" sz="850" dirty="0">
                <a:solidFill>
                  <a:schemeClr val="lt1"/>
                </a:solidFill>
                <a:latin typeface="Arial"/>
                <a:ea typeface="Arial"/>
                <a:cs typeface="Arial"/>
                <a:sym typeface="Arial"/>
              </a:rPr>
              <a:t>Los dos primeros ajustes bajan el costo y el tercero baja la depreciación, así que suben el margen, los tres EBITDA y los resultados. El impuesto a la renta se recalcula al 27% del nuevo resultado antes de impuestos —en un mes con pérdida queda como crédito, igual que en la hoja—, de modo que no es el impuesto contabilizado. Los ingresos, los gastos de personal, el GAV, los gastos adicionales y el resultado no operacional no se tocan, y las columnas de presupuesto se muestran tal como vienen en la hoja Ratio Costos 2.</a:t>
            </a:r>
          </a:p>
          <a:p>
            <a:pPr marL="171450" marR="0" lvl="0" indent="-171450" algn="l" rtl="0">
              <a:spcBef>
                <a:spcPts val="0"/>
              </a:spcBef>
              <a:spcAft>
                <a:spcPts val="0"/>
              </a:spcAft>
              <a:buClrTx/>
              <a:buSzPct val="100000"/>
              <a:buNone/>
            </a:pPr>
            <a:endParaRPr lang="es-MX" sz="1200" dirty="0">
              <a:solidFill>
                <a:schemeClr val="lt1"/>
              </a:solidFill>
              <a:highlight>
                <a:srgbClr val="FFFF00"/>
              </a:highlight>
              <a:latin typeface="Arial"/>
              <a:ea typeface="Arial"/>
              <a:cs typeface="Arial"/>
              <a:sym typeface="Arial"/>
            </a:endParaRPr>
          </a:p>
        </p:txBody>
      </p:sp>
      <p:pic>
        <p:nvPicPr>
          <p:cNvPr id="4" name="Imagen 3">
            <a:extLst>
              <a:ext uri="{FF2B5EF4-FFF2-40B4-BE49-F238E27FC236}">
                <a16:creationId xmlns:a16="http://schemas.microsoft.com/office/drawing/2014/main" id="{F908CC75-AF46-ADF1-B731-548A931665A3}"/>
              </a:ext>
            </a:extLst>
          </p:cNvPr>
          <p:cNvPicPr>
            <a:picLocks noChangeAspect="1"/>
          </p:cNvPicPr>
          <p:nvPr/>
        </p:nvPicPr>
        <p:blipFill>
          <a:blip r:embed="rId3"/>
          <a:srcRect t="5935" b="21353"/>
          <a:stretch>
            <a:fillRect/>
          </a:stretch>
        </p:blipFill>
        <p:spPr>
          <a:xfrm>
            <a:off x="56754" y="999000"/>
            <a:ext cx="7338114" cy="5250535"/>
          </a:xfrm>
          <a:prstGeom prst="rect">
            <a:avLst/>
          </a:prstGeom>
        </p:spPr>
      </p:pic>
    </p:spTree>
    <p:extLst>
      <p:ext uri="{BB962C8B-B14F-4D97-AF65-F5344CB8AC3E}">
        <p14:creationId xmlns:p14="http://schemas.microsoft.com/office/powerpoint/2010/main" val="18627818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7">
          <a:extLst>
            <a:ext uri="{FF2B5EF4-FFF2-40B4-BE49-F238E27FC236}">
              <a16:creationId xmlns:a16="http://schemas.microsoft.com/office/drawing/2014/main" id="{D1A566F0-A7C5-6B73-64FA-AB2E584A80D3}"/>
            </a:ext>
          </a:extLst>
        </p:cNvPr>
        <p:cNvGrpSpPr/>
        <p:nvPr/>
      </p:nvGrpSpPr>
      <p:grpSpPr>
        <a:xfrm>
          <a:off x="0" y="0"/>
          <a:ext cx="0" cy="0"/>
          <a:chOff x="0" y="0"/>
          <a:chExt cx="0" cy="0"/>
        </a:xfrm>
      </p:grpSpPr>
      <p:sp>
        <p:nvSpPr>
          <p:cNvPr id="308" name="Google Shape;308;p14">
            <a:extLst>
              <a:ext uri="{FF2B5EF4-FFF2-40B4-BE49-F238E27FC236}">
                <a16:creationId xmlns:a16="http://schemas.microsoft.com/office/drawing/2014/main" id="{07B6352B-B8B7-B9ED-2D7A-38B6CC235B7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EERR Limpio Mensualizado</a:t>
            </a:r>
            <a:endParaRPr sz="2700" b="0" i="0" u="none" strike="noStrike" cap="none" dirty="0">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A365DA80-1E68-D5AE-F18F-E84D017595E7}"/>
              </a:ext>
            </a:extLst>
          </p:cNvPr>
          <p:cNvPicPr>
            <a:picLocks noChangeAspect="1"/>
          </p:cNvPicPr>
          <p:nvPr/>
        </p:nvPicPr>
        <p:blipFill>
          <a:blip r:embed="rId3"/>
          <a:srcRect t="4083" b="6905"/>
          <a:stretch>
            <a:fillRect/>
          </a:stretch>
        </p:blipFill>
        <p:spPr>
          <a:xfrm>
            <a:off x="0" y="1134000"/>
            <a:ext cx="12192000" cy="4905000"/>
          </a:xfrm>
          <a:prstGeom prst="rect">
            <a:avLst/>
          </a:prstGeom>
        </p:spPr>
      </p:pic>
    </p:spTree>
    <p:extLst>
      <p:ext uri="{BB962C8B-B14F-4D97-AF65-F5344CB8AC3E}">
        <p14:creationId xmlns:p14="http://schemas.microsoft.com/office/powerpoint/2010/main" val="35708995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238F64D8-F821-E76F-053F-04A9B119C3DF}"/>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F2599118-DF22-C4F0-1851-B52B1A4C9576}"/>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6235CEA0-DC86-C3E5-B2CC-3E542D415879}"/>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Garantías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F8644B18-6BA9-8C73-6545-7364223F393D}"/>
              </a:ext>
            </a:extLst>
          </p:cNvPr>
          <p:cNvSpPr/>
          <p:nvPr/>
        </p:nvSpPr>
        <p:spPr>
          <a:xfrm>
            <a:off x="393700" y="268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007811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a:t>
            </a:r>
            <a:endParaRPr sz="2700" b="0" i="0" u="none" strike="noStrike" cap="none">
              <a:solidFill>
                <a:srgbClr val="FFFFFF"/>
              </a:solidFill>
              <a:latin typeface="Roboto"/>
              <a:ea typeface="Roboto"/>
              <a:cs typeface="Roboto"/>
              <a:sym typeface="Roboto"/>
            </a:endParaRPr>
          </a:p>
        </p:txBody>
      </p:sp>
      <p:sp>
        <p:nvSpPr>
          <p:cNvPr id="322" name="Google Shape;322;p16"/>
          <p:cNvSpPr/>
          <p:nvPr/>
        </p:nvSpPr>
        <p:spPr>
          <a:xfrm>
            <a:off x="243307" y="4773168"/>
            <a:ext cx="11948693" cy="190212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 total hay 43 equipos detenidos, correspondientes a 14 clientes y 8 marcas, con una valorización total de MM$1.046,7.</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63% de los equipos se encuentra en espera de OC, equivalente a </a:t>
            </a:r>
            <a:r>
              <a:rPr lang="es-MX" sz="1200" dirty="0">
                <a:solidFill>
                  <a:schemeClr val="lt1"/>
                </a:solidFill>
              </a:rPr>
              <a:t>27</a:t>
            </a:r>
            <a:r>
              <a:rPr lang="es-MX" sz="1200" dirty="0">
                <a:solidFill>
                  <a:schemeClr val="lt1"/>
                </a:solidFill>
                <a:latin typeface="Arial"/>
                <a:ea typeface="Arial"/>
                <a:cs typeface="Arial"/>
                <a:sym typeface="Arial"/>
              </a:rPr>
              <a:t> equipos y MM$646,6, siendo la principal concentración dentro del flujo de equipos detenidos.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STEELCO concentra aproximadamente MM$</a:t>
            </a:r>
            <a:r>
              <a:rPr lang="es-MX" sz="1200" dirty="0">
                <a:solidFill>
                  <a:schemeClr val="lt1"/>
                </a:solidFill>
              </a:rPr>
              <a:t>513</a:t>
            </a:r>
            <a:r>
              <a:rPr lang="es-MX" sz="1200" dirty="0">
                <a:solidFill>
                  <a:schemeClr val="lt1"/>
                </a:solidFill>
                <a:latin typeface="Arial"/>
                <a:ea typeface="Arial"/>
                <a:cs typeface="Arial"/>
                <a:sym typeface="Arial"/>
              </a:rPr>
              <a:t>,0 del valor de los equipos detenidos, equivalente a cerca del 49% del total, con 21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Sociedad Concesionaria Metropolitana de Salud (4 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Hospital Complejo Asistencial Padre Las Casas (3</a:t>
            </a:r>
            <a:r>
              <a:rPr lang="es-MX" sz="1200" dirty="0">
                <a:solidFill>
                  <a:schemeClr val="lt1"/>
                </a:solidFill>
              </a:rPr>
              <a:t> </a:t>
            </a:r>
            <a:r>
              <a:rPr lang="es-MX" sz="1200" b="0" i="0" u="none" strike="noStrike" cap="none" dirty="0">
                <a:solidFill>
                  <a:schemeClr val="lt1"/>
                </a:solidFill>
                <a:latin typeface="Arial"/>
                <a:ea typeface="Arial"/>
                <a:cs typeface="Arial"/>
                <a:sym typeface="Arial"/>
              </a:rPr>
              <a:t>equipos)</a:t>
            </a:r>
          </a:p>
          <a:p>
            <a:pPr marL="628650" marR="0" lvl="1" indent="-171450" algn="l" rtl="0">
              <a:spcBef>
                <a:spcPts val="0"/>
              </a:spcBef>
              <a:spcAft>
                <a:spcPts val="0"/>
              </a:spcAft>
              <a:buClr>
                <a:schemeClr val="lt1"/>
              </a:buClr>
              <a:buSzPts val="1200"/>
              <a:buFont typeface="Arial"/>
              <a:buChar char="•"/>
            </a:pPr>
            <a:r>
              <a:rPr lang="es-MX" sz="1200" b="0" i="0" u="none" strike="noStrike" cap="none" dirty="0">
                <a:solidFill>
                  <a:schemeClr val="lt1"/>
                </a:solidFill>
                <a:latin typeface="Arial"/>
                <a:ea typeface="Arial"/>
                <a:cs typeface="Arial"/>
                <a:sym typeface="Arial"/>
              </a:rPr>
              <a:t>Complejo Asistencial Dr. Sótero del Río (5 equipos)</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equipos con mayor cantidad de unidades detenidas son:</a:t>
            </a:r>
            <a:endParaRPr lang="es-MX" dirty="0"/>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DDC DOLPHIN PULMATIC – 8 equipos (19%)</a:t>
            </a:r>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MELAG MELASEAL – 2 equipos (5%)</a:t>
            </a:r>
          </a:p>
          <a:p>
            <a:pPr marL="628650" marR="0" lvl="1" indent="-171450" algn="l" rtl="0">
              <a:spcBef>
                <a:spcPts val="0"/>
              </a:spcBef>
              <a:spcAft>
                <a:spcPts val="0"/>
              </a:spcAft>
              <a:buClr>
                <a:schemeClr val="lt1"/>
              </a:buClr>
              <a:buSzPts val="1200"/>
              <a:buFont typeface="Arial"/>
              <a:buChar char="•"/>
            </a:pPr>
            <a:r>
              <a:rPr lang="es-CL" sz="1200" b="0" i="0" u="none" strike="noStrike" cap="none" dirty="0">
                <a:solidFill>
                  <a:schemeClr val="lt1"/>
                </a:solidFill>
                <a:latin typeface="Arial"/>
                <a:ea typeface="Arial"/>
                <a:cs typeface="Arial"/>
                <a:sym typeface="Arial"/>
              </a:rPr>
              <a:t>MIELE PG8528 – 2 equipos (5%)</a:t>
            </a:r>
          </a:p>
        </p:txBody>
      </p:sp>
      <p:pic>
        <p:nvPicPr>
          <p:cNvPr id="4" name="Imagen 3">
            <a:extLst>
              <a:ext uri="{FF2B5EF4-FFF2-40B4-BE49-F238E27FC236}">
                <a16:creationId xmlns:a16="http://schemas.microsoft.com/office/drawing/2014/main" id="{C3007831-26A8-4704-443C-CB4E52640ADC}"/>
              </a:ext>
            </a:extLst>
          </p:cNvPr>
          <p:cNvPicPr>
            <a:picLocks noChangeAspect="1"/>
          </p:cNvPicPr>
          <p:nvPr/>
        </p:nvPicPr>
        <p:blipFill>
          <a:blip r:embed="rId3"/>
          <a:srcRect t="7791" b="15282"/>
          <a:stretch>
            <a:fillRect/>
          </a:stretch>
        </p:blipFill>
        <p:spPr>
          <a:xfrm>
            <a:off x="966000" y="857132"/>
            <a:ext cx="10052929" cy="3864168"/>
          </a:xfrm>
          <a:prstGeom prst="rect">
            <a:avLst/>
          </a:prstGeom>
        </p:spPr>
      </p:pic>
    </p:spTree>
    <p:extLst>
      <p:ext uri="{BB962C8B-B14F-4D97-AF65-F5344CB8AC3E}">
        <p14:creationId xmlns:p14="http://schemas.microsoft.com/office/powerpoint/2010/main" val="21623813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1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Equipo</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46A0A7E5-824B-1D89-4C0F-98C40540758F}"/>
              </a:ext>
            </a:extLst>
          </p:cNvPr>
          <p:cNvPicPr>
            <a:picLocks noChangeAspect="1"/>
          </p:cNvPicPr>
          <p:nvPr/>
        </p:nvPicPr>
        <p:blipFill>
          <a:blip r:embed="rId3"/>
          <a:srcRect t="8530" b="6167"/>
          <a:stretch>
            <a:fillRect/>
          </a:stretch>
        </p:blipFill>
        <p:spPr>
          <a:xfrm>
            <a:off x="1731000" y="830289"/>
            <a:ext cx="8345358" cy="5850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1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Marca</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155EB679-8EA3-1A3E-E247-04E0DEAE2FCF}"/>
              </a:ext>
            </a:extLst>
          </p:cNvPr>
          <p:cNvPicPr>
            <a:picLocks noChangeAspect="1"/>
          </p:cNvPicPr>
          <p:nvPr/>
        </p:nvPicPr>
        <p:blipFill>
          <a:blip r:embed="rId3"/>
          <a:stretch>
            <a:fillRect/>
          </a:stretch>
        </p:blipFill>
        <p:spPr>
          <a:xfrm>
            <a:off x="12700" y="1269000"/>
            <a:ext cx="12192000" cy="383458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1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 – Por Cliente</a:t>
            </a:r>
            <a:endParaRPr sz="2700" b="0" i="0" u="none" strike="noStrike" cap="none">
              <a:solidFill>
                <a:srgbClr val="FFFFFF"/>
              </a:solidFill>
              <a:latin typeface="Roboto"/>
              <a:ea typeface="Roboto"/>
              <a:cs typeface="Roboto"/>
              <a:sym typeface="Roboto"/>
            </a:endParaRPr>
          </a:p>
        </p:txBody>
      </p:sp>
      <p:sp>
        <p:nvSpPr>
          <p:cNvPr id="341" name="Google Shape;341;p19"/>
          <p:cNvSpPr txBox="1"/>
          <p:nvPr/>
        </p:nvSpPr>
        <p:spPr>
          <a:xfrm>
            <a:off x="10094614" y="1192319"/>
            <a:ext cx="633742" cy="169277"/>
          </a:xfrm>
          <a:prstGeom prst="rect">
            <a:avLst/>
          </a:prstGeom>
          <a:solidFill>
            <a:schemeClr val="dk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500">
                <a:solidFill>
                  <a:schemeClr val="lt2"/>
                </a:solidFill>
                <a:latin typeface="Arial"/>
                <a:ea typeface="Arial"/>
                <a:cs typeface="Arial"/>
                <a:sym typeface="Arial"/>
              </a:rPr>
              <a:t>401</a:t>
            </a:r>
            <a:endParaRPr sz="500">
              <a:solidFill>
                <a:schemeClr val="lt2"/>
              </a:solidFill>
              <a:latin typeface="Arial"/>
              <a:ea typeface="Arial"/>
              <a:cs typeface="Arial"/>
              <a:sym typeface="Arial"/>
            </a:endParaRPr>
          </a:p>
        </p:txBody>
      </p:sp>
      <p:sp>
        <p:nvSpPr>
          <p:cNvPr id="342" name="Google Shape;342;p19"/>
          <p:cNvSpPr/>
          <p:nvPr/>
        </p:nvSpPr>
        <p:spPr>
          <a:xfrm>
            <a:off x="246000" y="5124142"/>
            <a:ext cx="11700000" cy="1675768"/>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Los 43 equipos detenidos se concentran principalmente en 15 equipos sin cliente asociado, equivalentes al 35% del total.</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Entre los clientes, Complejo Asistencial Dr. Sótero del Río concentra 5 equipos, con MM$83,9 valorizados y MM$39,0 de ingresos facturados a la fecha.</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Hospital Complejo Asistencial Padre Las Casas y Sociedad Concesionaria Metropolitana de Salud S.A. registran 4 equipos detenidos cada uno, con valorizados de MM$79,7 y MM$14,0, respectivamente.</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Hospital Dr. Luis </a:t>
            </a:r>
            <a:r>
              <a:rPr lang="es-MX" sz="1200" dirty="0" err="1">
                <a:solidFill>
                  <a:schemeClr val="lt1"/>
                </a:solidFill>
                <a:latin typeface="Arial"/>
                <a:ea typeface="Arial"/>
                <a:cs typeface="Arial"/>
                <a:sym typeface="Arial"/>
              </a:rPr>
              <a:t>Tisne</a:t>
            </a:r>
            <a:r>
              <a:rPr lang="es-MX" sz="1200" dirty="0">
                <a:solidFill>
                  <a:schemeClr val="lt1"/>
                </a:solidFill>
                <a:latin typeface="Arial"/>
                <a:ea typeface="Arial"/>
                <a:cs typeface="Arial"/>
                <a:sym typeface="Arial"/>
              </a:rPr>
              <a:t> B. y Municipalidad de Vicuña mantienen 2 equipos detenidos cada uno, con valorizados de MM$122,0 y MM$9,7.</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total de equipos detenidos alcanza un valorizado de MM$1.046,7, frente a MM$340,6 de ingresos facturados a la fecha y un contrato anual esperado de MM$375,7.</a:t>
            </a: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concentración de equipos sin cliente asociado representa MM$414,1 valorizados, equivalentes a aproximadamente 40% del valorizado total, constituyendo el principal grupo pendiente de asignación.</a:t>
            </a:r>
          </a:p>
        </p:txBody>
      </p:sp>
      <p:pic>
        <p:nvPicPr>
          <p:cNvPr id="4" name="Imagen 3">
            <a:extLst>
              <a:ext uri="{FF2B5EF4-FFF2-40B4-BE49-F238E27FC236}">
                <a16:creationId xmlns:a16="http://schemas.microsoft.com/office/drawing/2014/main" id="{DFC073E8-25C3-549E-2EEF-01FD5B6297DB}"/>
              </a:ext>
            </a:extLst>
          </p:cNvPr>
          <p:cNvPicPr>
            <a:picLocks noChangeAspect="1"/>
          </p:cNvPicPr>
          <p:nvPr/>
        </p:nvPicPr>
        <p:blipFill>
          <a:blip r:embed="rId3"/>
          <a:srcRect t="9322" b="9681"/>
          <a:stretch>
            <a:fillRect/>
          </a:stretch>
        </p:blipFill>
        <p:spPr>
          <a:xfrm>
            <a:off x="575200" y="902483"/>
            <a:ext cx="11067000" cy="4200059"/>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8" name="Google Shape;348;p2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Casos Críticos</a:t>
            </a:r>
            <a:endParaRPr sz="2700" b="0" i="0" u="none" strike="noStrike" cap="none">
              <a:solidFill>
                <a:srgbClr val="FFFFFF"/>
              </a:solidFill>
              <a:latin typeface="Roboto"/>
              <a:ea typeface="Roboto"/>
              <a:cs typeface="Roboto"/>
              <a:sym typeface="Roboto"/>
            </a:endParaRPr>
          </a:p>
        </p:txBody>
      </p:sp>
      <p:sp>
        <p:nvSpPr>
          <p:cNvPr id="349" name="Google Shape;349;p20"/>
          <p:cNvSpPr/>
          <p:nvPr/>
        </p:nvSpPr>
        <p:spPr>
          <a:xfrm>
            <a:off x="199217" y="5319000"/>
            <a:ext cx="11757980" cy="13406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indent="-171450">
              <a:buClr>
                <a:schemeClr val="lt1"/>
              </a:buClr>
              <a:buSzPts val="1200"/>
              <a:buFont typeface="Arial"/>
              <a:buChar char="•"/>
            </a:pPr>
            <a:r>
              <a:rPr lang="es-MX" sz="1200" dirty="0">
                <a:solidFill>
                  <a:schemeClr val="lt1"/>
                </a:solidFill>
              </a:rPr>
              <a:t>Se registran 13 casos críticos: 6 no operativos, 4 operativos, 1 operativo con observaciones, 1 siniestrado y 1 sin estado informado.</a:t>
            </a:r>
          </a:p>
          <a:p>
            <a:pPr marL="171450" indent="-171450">
              <a:buClr>
                <a:schemeClr val="lt1"/>
              </a:buClr>
              <a:buSzPts val="1200"/>
              <a:buFont typeface="Arial"/>
              <a:buChar char="•"/>
            </a:pPr>
            <a:r>
              <a:rPr lang="es-MX" sz="1200" dirty="0">
                <a:solidFill>
                  <a:schemeClr val="lt1"/>
                </a:solidFill>
              </a:rPr>
              <a:t>2 casos se encuentran a la espera de repuestos y otros continúan en diagnóstico o definición de intervención.</a:t>
            </a:r>
          </a:p>
          <a:p>
            <a:pPr marL="171450" indent="-171450">
              <a:buClr>
                <a:schemeClr val="lt1"/>
              </a:buClr>
              <a:buSzPts val="1200"/>
              <a:buFont typeface="Arial"/>
              <a:buChar char="•"/>
            </a:pPr>
            <a:r>
              <a:rPr lang="es-MX" sz="1200" dirty="0">
                <a:solidFill>
                  <a:schemeClr val="lt1"/>
                </a:solidFill>
              </a:rPr>
              <a:t>No se registran montos de inversiones realizadas asociados a los equipos en la tabla.</a:t>
            </a:r>
          </a:p>
          <a:p>
            <a:pPr marL="171450" indent="-171450">
              <a:buClr>
                <a:schemeClr val="lt1"/>
              </a:buClr>
              <a:buSzPts val="1200"/>
              <a:buFont typeface="Arial"/>
              <a:buChar char="•"/>
            </a:pPr>
            <a:r>
              <a:rPr lang="es-MX" sz="1200" dirty="0">
                <a:solidFill>
                  <a:schemeClr val="lt1"/>
                </a:solidFill>
              </a:rPr>
              <a:t>El ingreso total de clientes asociado a los equipos alcanza MM$580,5, mientras que no se informan montos de valorización de equipos.</a:t>
            </a:r>
          </a:p>
          <a:p>
            <a:pPr marL="171450" indent="-171450">
              <a:buClr>
                <a:schemeClr val="lt1"/>
              </a:buClr>
              <a:buSzPts val="1200"/>
              <a:buFont typeface="Arial"/>
              <a:buChar char="•"/>
            </a:pPr>
            <a:r>
              <a:rPr lang="es-MX" sz="1200" dirty="0">
                <a:solidFill>
                  <a:schemeClr val="lt1"/>
                </a:solidFill>
              </a:rPr>
              <a:t>Durante esta semana se han solucionado 8 casos (ISM, C. Sanz, 2 equipos de H. </a:t>
            </a:r>
            <a:r>
              <a:rPr lang="es-MX" sz="1200" dirty="0" err="1">
                <a:solidFill>
                  <a:schemeClr val="lt1"/>
                </a:solidFill>
              </a:rPr>
              <a:t>Tisné</a:t>
            </a:r>
            <a:r>
              <a:rPr lang="es-MX" sz="1200" dirty="0">
                <a:solidFill>
                  <a:schemeClr val="lt1"/>
                </a:solidFill>
              </a:rPr>
              <a:t> y 2 equipos de H. San Camilo,, HP de Puerto Montt, Puerto Aysen).</a:t>
            </a:r>
            <a:endParaRPr dirty="0"/>
          </a:p>
        </p:txBody>
      </p:sp>
      <p:graphicFrame>
        <p:nvGraphicFramePr>
          <p:cNvPr id="350" name="Google Shape;350;p20"/>
          <p:cNvGraphicFramePr/>
          <p:nvPr>
            <p:extLst>
              <p:ext uri="{D42A27DB-BD31-4B8C-83A1-F6EECF244321}">
                <p14:modId xmlns:p14="http://schemas.microsoft.com/office/powerpoint/2010/main" val="621505867"/>
              </p:ext>
            </p:extLst>
          </p:nvPr>
        </p:nvGraphicFramePr>
        <p:xfrm>
          <a:off x="181217" y="909000"/>
          <a:ext cx="11757979" cy="4302161"/>
        </p:xfrm>
        <a:graphic>
          <a:graphicData uri="http://schemas.openxmlformats.org/drawingml/2006/table">
            <a:tbl>
              <a:tblPr>
                <a:noFill/>
                <a:tableStyleId>{13D43741-7D58-4360-86AC-F6E32FA5FF39}</a:tableStyleId>
              </a:tblPr>
              <a:tblGrid>
                <a:gridCol w="675523">
                  <a:extLst>
                    <a:ext uri="{9D8B030D-6E8A-4147-A177-3AD203B41FA5}">
                      <a16:colId xmlns:a16="http://schemas.microsoft.com/office/drawing/2014/main" val="20000"/>
                    </a:ext>
                  </a:extLst>
                </a:gridCol>
                <a:gridCol w="1169589">
                  <a:extLst>
                    <a:ext uri="{9D8B030D-6E8A-4147-A177-3AD203B41FA5}">
                      <a16:colId xmlns:a16="http://schemas.microsoft.com/office/drawing/2014/main" val="20001"/>
                    </a:ext>
                  </a:extLst>
                </a:gridCol>
                <a:gridCol w="681961">
                  <a:extLst>
                    <a:ext uri="{9D8B030D-6E8A-4147-A177-3AD203B41FA5}">
                      <a16:colId xmlns:a16="http://schemas.microsoft.com/office/drawing/2014/main" val="20002"/>
                    </a:ext>
                  </a:extLst>
                </a:gridCol>
                <a:gridCol w="494826">
                  <a:extLst>
                    <a:ext uri="{9D8B030D-6E8A-4147-A177-3AD203B41FA5}">
                      <a16:colId xmlns:a16="http://schemas.microsoft.com/office/drawing/2014/main" val="20003"/>
                    </a:ext>
                  </a:extLst>
                </a:gridCol>
                <a:gridCol w="539810">
                  <a:extLst>
                    <a:ext uri="{9D8B030D-6E8A-4147-A177-3AD203B41FA5}">
                      <a16:colId xmlns:a16="http://schemas.microsoft.com/office/drawing/2014/main" val="20004"/>
                    </a:ext>
                  </a:extLst>
                </a:gridCol>
                <a:gridCol w="3463787">
                  <a:extLst>
                    <a:ext uri="{9D8B030D-6E8A-4147-A177-3AD203B41FA5}">
                      <a16:colId xmlns:a16="http://schemas.microsoft.com/office/drawing/2014/main" val="20005"/>
                    </a:ext>
                  </a:extLst>
                </a:gridCol>
                <a:gridCol w="2597540">
                  <a:extLst>
                    <a:ext uri="{9D8B030D-6E8A-4147-A177-3AD203B41FA5}">
                      <a16:colId xmlns:a16="http://schemas.microsoft.com/office/drawing/2014/main" val="20006"/>
                    </a:ext>
                  </a:extLst>
                </a:gridCol>
                <a:gridCol w="764733">
                  <a:extLst>
                    <a:ext uri="{9D8B030D-6E8A-4147-A177-3AD203B41FA5}">
                      <a16:colId xmlns:a16="http://schemas.microsoft.com/office/drawing/2014/main" val="20007"/>
                    </a:ext>
                  </a:extLst>
                </a:gridCol>
                <a:gridCol w="719748">
                  <a:extLst>
                    <a:ext uri="{9D8B030D-6E8A-4147-A177-3AD203B41FA5}">
                      <a16:colId xmlns:a16="http://schemas.microsoft.com/office/drawing/2014/main" val="20008"/>
                    </a:ext>
                  </a:extLst>
                </a:gridCol>
                <a:gridCol w="650462">
                  <a:extLst>
                    <a:ext uri="{9D8B030D-6E8A-4147-A177-3AD203B41FA5}">
                      <a16:colId xmlns:a16="http://schemas.microsoft.com/office/drawing/2014/main" val="20009"/>
                    </a:ext>
                  </a:extLst>
                </a:gridCol>
              </a:tblGrid>
              <a:tr h="188062">
                <a:tc>
                  <a:txBody>
                    <a:bodyPr/>
                    <a:lstStyle/>
                    <a:p>
                      <a:pPr marL="0" marR="0" lvl="0" indent="0" algn="l" rtl="0">
                        <a:spcBef>
                          <a:spcPts val="0"/>
                        </a:spcBef>
                        <a:spcAft>
                          <a:spcPts val="0"/>
                        </a:spcAft>
                        <a:buClr>
                          <a:srgbClr val="000000"/>
                        </a:buClr>
                        <a:buSzPts val="700"/>
                        <a:buFont typeface="Arial"/>
                        <a:buNone/>
                      </a:pPr>
                      <a:r>
                        <a:rPr lang="es-CL" sz="600" b="1" i="0" u="none" strike="noStrike" cap="none" dirty="0">
                          <a:solidFill>
                            <a:schemeClr val="tx1"/>
                          </a:solidFill>
                          <a:latin typeface="Arial"/>
                          <a:ea typeface="Arial"/>
                          <a:cs typeface="Arial"/>
                          <a:sym typeface="Arial"/>
                        </a:rPr>
                        <a:t>Cliente</a:t>
                      </a:r>
                      <a:endParaRPr sz="600" dirty="0">
                        <a:solidFill>
                          <a:schemeClr val="tx1"/>
                        </a:solidFill>
                      </a:endParaRP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dirty="0">
                          <a:solidFill>
                            <a:schemeClr val="tx1"/>
                          </a:solidFill>
                          <a:latin typeface="Arial"/>
                          <a:ea typeface="Arial"/>
                          <a:cs typeface="Arial"/>
                          <a:sym typeface="Arial"/>
                        </a:rPr>
                        <a:t>Problema</a:t>
                      </a:r>
                      <a:endParaRPr sz="600" dirty="0">
                        <a:solidFill>
                          <a:schemeClr val="tx1"/>
                        </a:solidFill>
                      </a:endParaRP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ESTADO</a:t>
                      </a:r>
                      <a:endParaRPr sz="600">
                        <a:solidFill>
                          <a:schemeClr val="tx1"/>
                        </a:solidFill>
                      </a:endParaRP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Fecha de caso</a:t>
                      </a:r>
                      <a:endParaRPr sz="600">
                        <a:solidFill>
                          <a:schemeClr val="tx1"/>
                        </a:solidFill>
                      </a:endParaRP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Responsable</a:t>
                      </a:r>
                      <a:endParaRPr sz="600">
                        <a:solidFill>
                          <a:schemeClr val="tx1"/>
                        </a:solidFill>
                      </a:endParaRP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dirty="0">
                          <a:solidFill>
                            <a:schemeClr val="tx1"/>
                          </a:solidFill>
                          <a:latin typeface="Arial"/>
                          <a:ea typeface="Arial"/>
                          <a:cs typeface="Arial"/>
                          <a:sym typeface="Arial"/>
                        </a:rPr>
                        <a:t>Comentario</a:t>
                      </a:r>
                      <a:endParaRPr sz="600" dirty="0">
                        <a:solidFill>
                          <a:schemeClr val="tx1"/>
                        </a:solidFill>
                      </a:endParaRP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Acciones</a:t>
                      </a:r>
                      <a:endParaRPr sz="600">
                        <a:solidFill>
                          <a:schemeClr val="tx1"/>
                        </a:solidFill>
                      </a:endParaRP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Inversión requerida (MM$ )</a:t>
                      </a:r>
                      <a:endParaRPr sz="600">
                        <a:solidFill>
                          <a:schemeClr val="tx1"/>
                        </a:solidFill>
                      </a:endParaRP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a:solidFill>
                            <a:schemeClr val="tx1"/>
                          </a:solidFill>
                          <a:latin typeface="Arial"/>
                          <a:ea typeface="Arial"/>
                          <a:cs typeface="Arial"/>
                          <a:sym typeface="Arial"/>
                        </a:rPr>
                        <a:t>Valorizado Equipo (MM$)</a:t>
                      </a:r>
                      <a:endParaRPr sz="600">
                        <a:solidFill>
                          <a:schemeClr val="tx1"/>
                        </a:solidFill>
                      </a:endParaRP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tc>
                  <a:txBody>
                    <a:bodyPr/>
                    <a:lstStyle/>
                    <a:p>
                      <a:pPr marL="0" marR="0" lvl="0" indent="0" algn="l" rtl="0">
                        <a:spcBef>
                          <a:spcPts val="0"/>
                        </a:spcBef>
                        <a:spcAft>
                          <a:spcPts val="0"/>
                        </a:spcAft>
                        <a:buClr>
                          <a:srgbClr val="000000"/>
                        </a:buClr>
                        <a:buSzPts val="700"/>
                        <a:buFont typeface="Arial"/>
                        <a:buNone/>
                      </a:pPr>
                      <a:r>
                        <a:rPr lang="es-CL" sz="600" b="1" i="0" u="none" strike="noStrike" cap="none" dirty="0">
                          <a:solidFill>
                            <a:schemeClr val="tx1"/>
                          </a:solidFill>
                          <a:latin typeface="Arial"/>
                          <a:ea typeface="Arial"/>
                          <a:cs typeface="Arial"/>
                          <a:sym typeface="Arial"/>
                        </a:rPr>
                        <a:t>Ingreso Cliente (MM$)</a:t>
                      </a:r>
                      <a:endParaRPr sz="600" dirty="0">
                        <a:solidFill>
                          <a:schemeClr val="tx1"/>
                        </a:solidFill>
                      </a:endParaRP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bg1"/>
                    </a:solidFill>
                  </a:tcPr>
                </a:tc>
                <a:extLst>
                  <a:ext uri="{0D108BD9-81ED-4DB2-BD59-A6C34878D82A}">
                    <a16:rowId xmlns:a16="http://schemas.microsoft.com/office/drawing/2014/main" val="10000"/>
                  </a:ext>
                </a:extLst>
              </a:tr>
              <a:tr h="268926">
                <a:tc>
                  <a:txBody>
                    <a:bodyPr/>
                    <a:lstStyle/>
                    <a:p>
                      <a:pPr algn="l" fontAlgn="ctr">
                        <a:buNone/>
                      </a:pPr>
                      <a:r>
                        <a:rPr lang="es-CL" sz="600" b="0" i="0" u="none" strike="noStrike" dirty="0">
                          <a:solidFill>
                            <a:srgbClr val="000000"/>
                          </a:solidFill>
                          <a:effectLst/>
                          <a:latin typeface="Aptos Narrow" panose="020B0004020202020204" pitchFamily="34" charset="0"/>
                        </a:rPr>
                        <a:t>HUAP</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COMPRESOR US200</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OPERATIVO CON OBSERVACIONES</a:t>
                      </a:r>
                    </a:p>
                  </a:txBody>
                  <a:tcPr marL="14889" marR="14889" marT="14889" marB="1488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CRISTIAN ROHR</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DS610/2 SL 2506510I0036 LOS COMPRESORES LLEGARON MAL, EL 30 DE SEPTIEMBRE SE DEBIÓ SOLICITAR LOS CORRECTOS (COMPRAS)</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fontAlgn="ctr">
                        <a:lnSpc>
                          <a:spcPct val="100000"/>
                        </a:lnSpc>
                        <a:spcBef>
                          <a:spcPts val="0"/>
                        </a:spcBef>
                        <a:spcAft>
                          <a:spcPts val="0"/>
                        </a:spcAft>
                        <a:buClr>
                          <a:srgbClr val="000000"/>
                        </a:buClr>
                        <a:buSzPts val="1000"/>
                        <a:buFont typeface="Arial"/>
                        <a:buNone/>
                      </a:pPr>
                      <a:r>
                        <a:rPr lang="es-MX" sz="600" b="0" i="0" u="none" strike="noStrike" cap="none" spc="0" dirty="0">
                          <a:solidFill>
                            <a:srgbClr val="000000"/>
                          </a:solidFill>
                          <a:effectLst/>
                          <a:latin typeface="Aptos Narrow" panose="020B0004020202020204" pitchFamily="34" charset="0"/>
                          <a:cs typeface="Arial"/>
                          <a:sym typeface="Arial"/>
                        </a:rPr>
                        <a:t>EN ESPERA DE FECHA DE DESPACHO DEL PROVEEDOR//SEGÚN ÚLTIMO STATUS DEL 07/10</a:t>
                      </a:r>
                      <a:br>
                        <a:rPr lang="es-CL" sz="600" b="0" i="0" u="none" strike="noStrike" cap="none" spc="0" dirty="0">
                          <a:solidFill>
                            <a:srgbClr val="000000"/>
                          </a:solidFill>
                          <a:effectLst/>
                          <a:latin typeface="Aptos Narrow" panose="020B0004020202020204" pitchFamily="34" charset="0"/>
                          <a:cs typeface="Arial"/>
                          <a:sym typeface="Arial"/>
                        </a:rPr>
                      </a:b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23,9</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1"/>
                  </a:ext>
                </a:extLst>
              </a:tr>
              <a:tr h="188062">
                <a:tc>
                  <a:txBody>
                    <a:bodyPr/>
                    <a:lstStyle/>
                    <a:p>
                      <a:pPr algn="l" fontAlgn="ctr">
                        <a:buNone/>
                      </a:pPr>
                      <a:r>
                        <a:rPr lang="es-CL" sz="600" b="0" i="0" u="none" strike="noStrike" dirty="0">
                          <a:solidFill>
                            <a:srgbClr val="000000"/>
                          </a:solidFill>
                          <a:effectLst/>
                          <a:latin typeface="Aptos Narrow" panose="020B0004020202020204" pitchFamily="34" charset="0"/>
                        </a:rPr>
                        <a:t>ANDES SALUD CHILLÁN</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EQUIPO CON PUERTA QUEBRADA</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NO OPERATIVO</a:t>
                      </a:r>
                    </a:p>
                  </a:txBody>
                  <a:tcPr marL="14889" marR="14889" marT="14889" marB="1488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ALEXIS/MATILDE</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PUERTAS DISPONIBLES EN FÁBRICA, YA SE SOLICITÓ LA COMPRA Y SE ENVIÓ COTIZACIÓN</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PUERTA LLEGÓ, SE DEBE INGRESAR A STOCK Y DESPACHAR, SE PROGRAMARÁ LA INSTALACIÓN DURANTE LA PRÓXIMA SEMANA </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0</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2"/>
                  </a:ext>
                </a:extLst>
              </a:tr>
              <a:tr h="349791">
                <a:tc>
                  <a:txBody>
                    <a:bodyPr/>
                    <a:lstStyle/>
                    <a:p>
                      <a:pPr algn="l" fontAlgn="ctr">
                        <a:buNone/>
                      </a:pPr>
                      <a:r>
                        <a:rPr lang="es-CL" sz="600" b="0" i="0" u="none" strike="noStrike" dirty="0">
                          <a:solidFill>
                            <a:srgbClr val="000000"/>
                          </a:solidFill>
                          <a:effectLst/>
                          <a:latin typeface="Aptos Narrow" panose="020B0004020202020204" pitchFamily="34" charset="0"/>
                        </a:rPr>
                        <a:t>HP BUIN</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EQUIPO CON CAMBIO DE PUERTA LAVADORA DESCONTAMINADORA DS500 SN1802012EP166</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OPERATIVO</a:t>
                      </a:r>
                    </a:p>
                  </a:txBody>
                  <a:tcPr marL="14889" marR="14889" marT="14889" marB="1488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08-06-2026</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CRISTIAN/ JONATHAN</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EQUIPO EN ESPERA DE CAMBIO DE PUERTA DESDE HACE MÁS DE UN AÑO ESTIMO, SE LOGRÓ INSTALAR LA PUERTA, PERO CLIENTE REPORTA QUE NO CIERRA COMPLETAMENTE, ASISTIÓ IGNACIO MUÑOS A REVISAR EL DOMINGO 31 DE MAYO Y SOLICITÓ REPUESTOS QUE SERÁN INSTALADOS POR GARANTÍA, FALTA UN REPUESTO, ASISTIÓ JUAN POSTERIORMENTE Y EL EQUIPO ESTÁ OPERATIVO.</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MX" sz="600" b="0" i="0" u="none" strike="noStrike" cap="none" spc="0" dirty="0">
                          <a:solidFill>
                            <a:srgbClr val="000000"/>
                          </a:solidFill>
                          <a:effectLst/>
                          <a:latin typeface="Aptos Narrow" panose="020B0004020202020204" pitchFamily="34" charset="0"/>
                          <a:cs typeface="Arial"/>
                          <a:sym typeface="Arial"/>
                        </a:rPr>
                        <a:t>REPUESTO DISPONIBLE, SE DESPACHA AL CLIENTE. CLIENTE INFORMA PROBLEMAS CON LA PLANTA DE AGUA ASOCIADA AL EQUIPO (FUERA DE CONTRATO) E INDICA QUE AVISARÁ CUANDO ESTÉ OPERATIVA// SE CONSULTÓ SEMANA DEL 19/09, AÚN NO ESTÁ OPERATIVA LA PLANTA</a:t>
                      </a:r>
                      <a:endParaRPr lang="es-CL" sz="600" b="0" i="0" u="none" strike="noStrike" cap="none" spc="0" dirty="0">
                        <a:solidFill>
                          <a:srgbClr val="000000"/>
                        </a:solidFill>
                        <a:effectLst/>
                        <a:latin typeface="Aptos Narrow" panose="020B0004020202020204" pitchFamily="34" charset="0"/>
                        <a:cs typeface="Arial"/>
                        <a:sym typeface="Arial"/>
                      </a:endParaRPr>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b="0" i="0" u="none" strike="noStrike" cap="none" dirty="0">
                          <a:solidFill>
                            <a:srgbClr val="000000"/>
                          </a:solidFill>
                          <a:latin typeface="Arial"/>
                          <a:ea typeface="Arial"/>
                          <a:cs typeface="Arial"/>
                          <a:sym typeface="Arial"/>
                        </a:rPr>
                        <a:t>$MM 29,1</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noFill/>
                  </a:tcPr>
                </a:tc>
                <a:extLst>
                  <a:ext uri="{0D108BD9-81ED-4DB2-BD59-A6C34878D82A}">
                    <a16:rowId xmlns:a16="http://schemas.microsoft.com/office/drawing/2014/main" val="10003"/>
                  </a:ext>
                </a:extLst>
              </a:tr>
              <a:tr h="349791">
                <a:tc rowSpan="3">
                  <a:txBody>
                    <a:bodyPr/>
                    <a:lstStyle/>
                    <a:p>
                      <a:pPr algn="l" fontAlgn="ctr">
                        <a:buNone/>
                      </a:pPr>
                      <a:r>
                        <a:rPr lang="es-CL" sz="600" b="0" i="0" u="none" strike="noStrike" dirty="0">
                          <a:solidFill>
                            <a:srgbClr val="000000"/>
                          </a:solidFill>
                          <a:effectLst/>
                          <a:latin typeface="Aptos Narrow" panose="020B0004020202020204" pitchFamily="34" charset="0"/>
                        </a:rPr>
                        <a:t>HP VAN BUREN</a:t>
                      </a:r>
                    </a:p>
                    <a:p>
                      <a:pPr algn="l" fontAlgn="b">
                        <a:buNone/>
                      </a:pPr>
                      <a:r>
                        <a:rPr lang="es-CL" sz="600" b="0" i="0" u="none" strike="noStrike" dirty="0">
                          <a:solidFill>
                            <a:srgbClr val="000000"/>
                          </a:solidFill>
                          <a:effectLst/>
                          <a:latin typeface="Aptos Narrow" panose="020B0004020202020204" pitchFamily="34" charset="0"/>
                        </a:rPr>
                        <a:t> </a:t>
                      </a:r>
                    </a:p>
                  </a:txBody>
                  <a:tcPr marL="14889" marR="14889" marT="14889" marB="1488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EQUIPO CON FALLA RECURRENTE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NO OPERATIVO</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26-03-2026</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JONATHAN SUMOZA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EQUIPO NO OPERATIVO CON FALLA RECURRENTE LAVADORA DS610 SN1806510LN088 . SE GESTIONO CON JONATHAN PARA RETIRAR EL EQUIPO EL MARTES 18/08 Y TRAERLO A LABORATORIO/09/09 ESTÁ EN DIAGNÓSTICO</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MX" sz="600" b="0" i="0" u="none" strike="noStrike" cap="none" spc="0" dirty="0">
                          <a:solidFill>
                            <a:srgbClr val="000000"/>
                          </a:solidFill>
                          <a:effectLst/>
                          <a:latin typeface="Aptos Narrow" panose="020B0004020202020204" pitchFamily="34" charset="0"/>
                          <a:cs typeface="Arial"/>
                          <a:sym typeface="Arial"/>
                        </a:rPr>
                        <a:t>EQUIPO EN DIAGNÓSTICO. YA FUE ENCENDIDO, PERO AÚN NO SE HAN PODIDO REALIZAR PRUEBAS DEBIDO AL DESAGÜE. CAMILO DEBE DISPONER DE LAS MANGUERAS NECESARIAS. FECHA INFORMADA POR JONATHAN; SE DIAGNÓSTICARÁ LA SEMANA DEL 26 DE OCTUBRE</a:t>
                      </a:r>
                      <a:endParaRPr lang="es-CL" sz="600" b="0" i="0" u="none" strike="noStrike" cap="none" spc="0" dirty="0">
                        <a:solidFill>
                          <a:srgbClr val="000000"/>
                        </a:solidFill>
                        <a:effectLst/>
                        <a:latin typeface="Aptos Narrow" panose="020B0004020202020204" pitchFamily="34" charset="0"/>
                        <a:cs typeface="Arial"/>
                        <a:sym typeface="Arial"/>
                      </a:endParaRP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rowSpan="3">
                  <a:txBody>
                    <a:bodyPr/>
                    <a:lstStyle/>
                    <a:p>
                      <a:pPr marL="0" marR="0" lvl="0" indent="0" algn="l" rtl="0">
                        <a:spcBef>
                          <a:spcPts val="0"/>
                        </a:spcBef>
                        <a:spcAft>
                          <a:spcPts val="0"/>
                        </a:spcAft>
                        <a:buClr>
                          <a:srgbClr val="242424"/>
                        </a:buClr>
                        <a:buSzPts val="700"/>
                        <a:buFont typeface="Arial"/>
                        <a:buNone/>
                      </a:pPr>
                      <a:r>
                        <a:rPr lang="es-MX" sz="600" dirty="0"/>
                        <a:t>$MM 41,2</a:t>
                      </a:r>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5"/>
                  </a:ext>
                </a:extLst>
              </a:tr>
              <a:tr h="242593">
                <a:tc vMerge="1">
                  <a:txBody>
                    <a:bodyPr/>
                    <a:lstStyle/>
                    <a:p>
                      <a:endParaRPr lang="es-CL"/>
                    </a:p>
                  </a:txBody>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AUTOCLAVE MODELO: LVS 2 C/2 EDX 2P SERIE: 9945 </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OPERATIVO</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04-08-2026</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Jonathan Sumoza </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EQUIPO FALLÓ NUEVAMENTE. EL REPUESTO REQUERIDO FUE ENVIADO A FABRICAR DE FORMA LOCAL, SEGÚN INDICACIONES DE JONATHAN. DEBERÍAN ENTREGARLO EL 23/09.  VISITA REALIZADA  29/09 . OT 73596 OPERATIVO </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SE ENVÍA A FABRICAR REPUESTO DE FORMA LOCAL, DEBIESE LLEGAR A ST EL 23/09, ASISTIREMOS A CLIENTES CON EL REPUESTO EL 29/09</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242424"/>
                        </a:buClr>
                        <a:buSzPts val="700"/>
                        <a:buFont typeface="Arial"/>
                        <a:buNone/>
                      </a:pP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vMerge="1">
                  <a:txBody>
                    <a:bodyPr/>
                    <a:lstStyle/>
                    <a:p>
                      <a:endParaRPr lang="es-CL"/>
                    </a:p>
                  </a:txBody>
                  <a:tcPr/>
                </a:tc>
                <a:extLst>
                  <a:ext uri="{0D108BD9-81ED-4DB2-BD59-A6C34878D82A}">
                    <a16:rowId xmlns:a16="http://schemas.microsoft.com/office/drawing/2014/main" val="1337828933"/>
                  </a:ext>
                </a:extLst>
              </a:tr>
              <a:tr h="134123">
                <a:tc vMerge="1">
                  <a:txBody>
                    <a:bodyPr/>
                    <a:lstStyle/>
                    <a:p>
                      <a:endParaRPr dirty="0"/>
                    </a:p>
                  </a:txBody>
                  <a:tcPr marL="18000" marR="18000" marT="18000" marB="180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VS 8/2 EDX AUTOCLAVE 10162</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NO OPERATIVO</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02-10-2026</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REPUESTO SIN STOCK; AÚN NO SE CUENTA CON UNA FECHA ESTIMADA DE LLEGADA CONFIRMADA.</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EL REPUESTO DEBERÍA LLEGAR DURANTE LA SEMANA DEL 23/10.</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vMerge="1">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6"/>
                  </a:ext>
                </a:extLst>
              </a:tr>
              <a:tr h="192970">
                <a:tc rowSpan="2">
                  <a:txBody>
                    <a:bodyPr/>
                    <a:lstStyle/>
                    <a:p>
                      <a:pPr algn="l" fontAlgn="b">
                        <a:buNone/>
                      </a:pPr>
                      <a:br>
                        <a:rPr lang="es-CL" sz="600" b="0" i="0" u="none" strike="noStrike" dirty="0">
                          <a:solidFill>
                            <a:srgbClr val="000000"/>
                          </a:solidFill>
                          <a:effectLst/>
                          <a:latin typeface="Aptos Narrow" panose="020B0004020202020204" pitchFamily="34" charset="0"/>
                        </a:rPr>
                      </a:br>
                      <a:r>
                        <a:rPr lang="es-CL" sz="600" b="0" i="0" u="none" strike="noStrike" dirty="0">
                          <a:solidFill>
                            <a:srgbClr val="000000"/>
                          </a:solidFill>
                          <a:effectLst/>
                          <a:latin typeface="Aptos Narrow" panose="020B0004020202020204" pitchFamily="34" charset="0"/>
                        </a:rPr>
                        <a:t>COMPLEJO ASISTENCIAL DR SOTERO DEL RIO</a:t>
                      </a:r>
                    </a:p>
                    <a:p>
                      <a:pPr algn="l" fontAlgn="b">
                        <a:buNone/>
                      </a:pPr>
                      <a:r>
                        <a:rPr lang="es-CL" sz="600" b="0" i="0" u="none" strike="noStrike" dirty="0">
                          <a:solidFill>
                            <a:srgbClr val="000000"/>
                          </a:solidFill>
                          <a:effectLst/>
                          <a:latin typeface="Aptos Narrow" panose="020B0004020202020204" pitchFamily="34" charset="0"/>
                        </a:rPr>
                        <a:t> </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chemeClr val="tx1">
                        <a:lumMod val="85000"/>
                      </a:schemeClr>
                    </a:solidFill>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AUTOCLAVE STEELCO MODELO: VS 10/2 SERIE: 12221 OT 73716</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NO OPERATIVO</a:t>
                      </a:r>
                    </a:p>
                  </a:txBody>
                  <a:tcPr marL="14889" marR="14889" marT="14889" marB="1488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REPUESTOS SOLICITADOS - HAY REPUESTOS QUE SE DEBEN COMPRAR EN DANUS PARA COMPLETAR EL PEDIDO.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REPUESTOS SOLICITADOS </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rowSpan="2">
                  <a:txBody>
                    <a:bodyPr/>
                    <a:lstStyle/>
                    <a:p>
                      <a:pPr marL="0" marR="0" lvl="0" indent="0" algn="l" rtl="0">
                        <a:spcBef>
                          <a:spcPts val="0"/>
                        </a:spcBef>
                        <a:spcAft>
                          <a:spcPts val="0"/>
                        </a:spcAft>
                        <a:buClr>
                          <a:srgbClr val="000000"/>
                        </a:buClr>
                        <a:buSzPts val="700"/>
                        <a:buFont typeface="Arial"/>
                        <a:buNone/>
                      </a:pPr>
                      <a:r>
                        <a:rPr lang="es-MX" sz="600" dirty="0"/>
                        <a:t>$MM 48,0</a:t>
                      </a:r>
                      <a:endParaRPr sz="600" dirty="0"/>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7"/>
                  </a:ext>
                </a:extLst>
              </a:tr>
              <a:tr h="323457">
                <a:tc vMerge="1">
                  <a:txBody>
                    <a:bodyPr/>
                    <a:lstStyle/>
                    <a:p>
                      <a:endParaRPr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AUTOCLAVE STEELCO MODELO: VS 10/2 SERIE: 12220 OT 73717</a:t>
                      </a:r>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REPUESTOS SOLICITADOS. ALGUNOS DEBEN SER ADQUIRIDOS EN DANUS PARA COMPLETAR EL PEDIDO. ADEMÁS, SE GESTIONÓ UN REPUESTO DE IMPORTACIÓN, CUYA LLEGADA SE ESTIMA EN APROXIMADAMENTE UNA SEMANA, SEGÚN LO INDICADO POR DIEGO.</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REPUESTOS SOLICITADOS. ALGUNOS DEBEN SER ADQUIRIDOS EN DANUS PARA COMPLETAR EL PEDIDO. ADEMÁS, SE GESTIONÓ UN REPUESTO DE IMPORTACIÓN, CUYA LLEGADA SE ESTIMA EN APROXIMADAMENTE UNA SEMANA, SEGÚN LO INDICADO POR DIEGO.</a:t>
                      </a:r>
                    </a:p>
                  </a:txBody>
                  <a:tcPr marL="0" marR="0" marT="0"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vMerge="1">
                  <a:txBody>
                    <a:bodyPr/>
                    <a:lstStyle/>
                    <a:p>
                      <a:pPr marL="0" marR="0" lvl="0" indent="0" algn="l" rtl="0">
                        <a:spcBef>
                          <a:spcPts val="0"/>
                        </a:spcBef>
                        <a:spcAft>
                          <a:spcPts val="0"/>
                        </a:spcAft>
                        <a:buClr>
                          <a:srgbClr val="000000"/>
                        </a:buClr>
                        <a:buSzPts val="700"/>
                        <a:buFont typeface="Arial"/>
                        <a:buNone/>
                      </a:pPr>
                      <a:endParaRPr sz="600" dirty="0"/>
                    </a:p>
                  </a:txBody>
                  <a:tcPr marL="18000" marR="18000" marT="18000" marB="1800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8"/>
                  </a:ext>
                </a:extLst>
              </a:tr>
              <a:tr h="323457">
                <a:tc>
                  <a:txBody>
                    <a:bodyPr/>
                    <a:lstStyle/>
                    <a:p>
                      <a:pPr marR="0" algn="l" rtl="0" fontAlgn="b">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HP VICTOR RIOS RUIZ</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R="0" algn="l" rtl="0" fontAlgn="b">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LAVADORA ULTRASÓNICA MODELO: US 200/2 SERIE: 25A4310JJ033 </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OPERATIVO</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01-07-2026</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s-CL" sz="600" b="0" i="0" u="none" strike="noStrike" cap="none" spc="0" dirty="0">
                          <a:solidFill>
                            <a:srgbClr val="000000"/>
                          </a:solidFill>
                          <a:effectLst/>
                          <a:latin typeface="Aptos Narrow" panose="020B0004020202020204" pitchFamily="34" charset="0"/>
                          <a:cs typeface="Arial"/>
                          <a:sym typeface="Arial"/>
                        </a:rPr>
                        <a:t>Cristian/ Jonathan</a:t>
                      </a:r>
                    </a:p>
                    <a:p>
                      <a:pPr marR="0" algn="l" rtl="0" fontAlgn="ctr">
                        <a:lnSpc>
                          <a:spcPct val="100000"/>
                        </a:lnSpc>
                        <a:spcBef>
                          <a:spcPts val="0"/>
                        </a:spcBef>
                        <a:spcAft>
                          <a:spcPts val="0"/>
                        </a:spcAft>
                        <a:buClr>
                          <a:srgbClr val="000000"/>
                        </a:buClr>
                        <a:buFont typeface="Arial"/>
                        <a:buNone/>
                      </a:pPr>
                      <a:endParaRPr lang="es-CL" sz="600" b="0" i="0" u="none" strike="noStrike" cap="none" spc="0" dirty="0">
                        <a:solidFill>
                          <a:srgbClr val="000000"/>
                        </a:solidFill>
                        <a:effectLst/>
                        <a:latin typeface="Aptos Narrow" panose="020B0004020202020204" pitchFamily="34" charset="0"/>
                        <a:cs typeface="Arial"/>
                        <a:sym typeface="Arial"/>
                      </a:endParaRP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EN ESPERA DE REPUESTO RUSELECTRODO (OPERATIVO  UNA SOLA CUBA)  -VISITA PROGRAMADA PARA EL JUVES 27/08</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DADA LA DEMORA DE IMPORTACIÓN, SE MANDARON A FABRICAR ELECTRODOS EN EL MERCADO NACIONAL, CON MUESTRA QUE SACAMOS DE UN EQUIPO DE VENTAS (PREVIA AUTORIZACIÓN DE COMERCIAL) // LLEGARON REPUESTOS, SE REALIZARÁ VISITA EL 27 DE OCTUBRE</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8,5</a:t>
                      </a: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3117489098"/>
                  </a:ext>
                </a:extLst>
              </a:tr>
              <a:tr h="188062">
                <a:tc>
                  <a:txBody>
                    <a:bodyPr/>
                    <a:lstStyle/>
                    <a:p>
                      <a:pPr marR="0" algn="l" rtl="0" fontAlgn="b">
                        <a:lnSpc>
                          <a:spcPct val="100000"/>
                        </a:lnSpc>
                        <a:spcBef>
                          <a:spcPts val="0"/>
                        </a:spcBef>
                        <a:spcAft>
                          <a:spcPts val="0"/>
                        </a:spcAft>
                        <a:buClr>
                          <a:srgbClr val="000000"/>
                        </a:buClr>
                        <a:buFont typeface="Arial"/>
                        <a:buNone/>
                      </a:pPr>
                      <a:r>
                        <a:rPr lang="es-MX" sz="600" b="0" i="0" u="none" strike="noStrike" cap="none" spc="0">
                          <a:solidFill>
                            <a:srgbClr val="000000"/>
                          </a:solidFill>
                          <a:effectLst/>
                          <a:latin typeface="Aptos Narrow" panose="020B0004020202020204" pitchFamily="34" charset="0"/>
                          <a:cs typeface="Arial"/>
                          <a:sym typeface="Arial"/>
                        </a:rPr>
                        <a:t>HP BASE DE OSORNO</a:t>
                      </a:r>
                      <a:endParaRPr lang="es-CL" sz="600" b="0" i="0" u="none" strike="noStrike" cap="none" spc="0" dirty="0">
                        <a:solidFill>
                          <a:srgbClr val="000000"/>
                        </a:solidFill>
                        <a:effectLst/>
                        <a:latin typeface="Aptos Narrow" panose="020B0004020202020204" pitchFamily="34" charset="0"/>
                        <a:cs typeface="Arial"/>
                        <a:sym typeface="Arial"/>
                      </a:endParaRPr>
                    </a:p>
                  </a:txBody>
                  <a:tcPr marL="14889" marR="14889" marT="14889" marB="1488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R="0" algn="l" rtl="0" fontAlgn="b">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EQUIPO DE SEDILE DETENIDO</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OPERATIVO</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04-08-2026</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Cristian</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EQUIPO DE SEDILES AUTOCLAVE VS/202038-2 SN30014 DE SEDILES DETENIDO POR 2 SEMANAS EN ESPERA DE CÓDIGOSA Y VALORES, YA SE ENVIARON COTIZACIONES Y SOLICITARON LOS REPUESTOS. / EQUIPO OPERATIVO </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REPUESTO LLEGÓ A CHILE, ESTAMOS A ESPERA DE INGRESO A BODEGA, PARA ENVIAR A CLIENTE Y PROGRAMAR VISITA 21 DE OCTUBRE</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74,5</a:t>
                      </a: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2131214310"/>
                  </a:ext>
                </a:extLst>
              </a:tr>
              <a:tr h="349791">
                <a:tc>
                  <a:txBody>
                    <a:bodyPr/>
                    <a:lstStyle/>
                    <a:p>
                      <a:pPr algn="l" fontAlgn="b">
                        <a:buNone/>
                      </a:pPr>
                      <a:r>
                        <a:rPr lang="es-CL" sz="600" b="0" i="0" u="none" strike="noStrike" dirty="0">
                          <a:solidFill>
                            <a:srgbClr val="000000"/>
                          </a:solidFill>
                          <a:effectLst/>
                          <a:latin typeface="Aptos Narrow" panose="020B0004020202020204" pitchFamily="34" charset="0"/>
                        </a:rPr>
                        <a:t>HOSPITAL REGIONAL DE ARICA DR. JUAN NOÉ CREVANI</a:t>
                      </a:r>
                    </a:p>
                  </a:txBody>
                  <a:tcPr marL="14889" marR="14889" marT="14889" marB="1488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AUTOCLAVE STEELCO MODELO: VS 8/1 SERIE: 9900 OT 72699</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NO OPERATIVO</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09-10-2023</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SE REALIZÓ ASISTENCIA REMOTA 14/10, DETERMINANDO QUE SE REQUIEREN LOS REPUESTOS INCLUIDOS EN LA COTIZACIÓN G-00045433, DE FECHA 27/08, LA CUAL SE ENCUENTRA SIN APROBACIÓN Y SIN GESTIÓN DE OC. SE PROCEDE A ENVIAR NUEVAMENTE LA COTIZACIÓN. ASIMISMO, SE INFORMA QUE NO HAY CONTACTORES DISPONIBLES, POR LO QUE SE SOLICITA SU GESTIÓN CON CARÁCTER PRIORITARIO A DIEGO.</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REPUESTO SE COMPRO LOCAL, EN ESPERA DE QUE LLEGUE A BODEGA </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21,8</a:t>
                      </a: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3901004011"/>
                  </a:ext>
                </a:extLst>
              </a:tr>
              <a:tr h="349791">
                <a:tc>
                  <a:txBody>
                    <a:bodyPr/>
                    <a:lstStyle/>
                    <a:p>
                      <a:pPr algn="l" fontAlgn="b">
                        <a:buNone/>
                      </a:pPr>
                      <a:r>
                        <a:rPr lang="es-CL" sz="600" b="0" i="0" u="none" strike="noStrike" dirty="0">
                          <a:solidFill>
                            <a:srgbClr val="000000"/>
                          </a:solidFill>
                          <a:effectLst/>
                          <a:latin typeface="Aptos Narrow" panose="020B0004020202020204" pitchFamily="34" charset="0"/>
                        </a:rPr>
                        <a:t>HP FÉLIX BULNES</a:t>
                      </a:r>
                    </a:p>
                  </a:txBody>
                  <a:tcPr marL="14889" marR="14889" marT="14889" marB="1488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EQUIPO QUEMADO</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SINIESTRADO</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ALEXIS FLORES</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LAVADORA DESCONTAMINADORA DS610 - 2SL-2S SN 1706510KT069 SE QUEMA, DESINSTALACIÓN 01-07-2026 OT 68149 (SA-68186), LA CONCESIONARIA SOLICITÓ INVESTIGACIÓN A TERCERO, ALEXIS INDICÓ QUE OFRECEREMOS EQUIPO EN CUANTO SE ACTIVE EL SEGURO, SE DEBE ESPERAR INFORME// 01 DE OCTUBRE, INFORME LISTO</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SE ENVIARÁ INFORME DEFINITIVO, A LA ESPERA DE RESOLUCIÓN DE COMITÉ</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326,0</a:t>
                      </a: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30112523"/>
                  </a:ext>
                </a:extLst>
              </a:tr>
              <a:tr h="268926">
                <a:tc>
                  <a:txBody>
                    <a:bodyPr/>
                    <a:lstStyle/>
                    <a:p>
                      <a:pPr algn="l" fontAlgn="b">
                        <a:buNone/>
                      </a:pPr>
                      <a:r>
                        <a:rPr lang="es-CL" sz="600" b="0" i="0" u="none" strike="noStrike" dirty="0">
                          <a:solidFill>
                            <a:srgbClr val="000000"/>
                          </a:solidFill>
                          <a:effectLst/>
                          <a:latin typeface="Aptos Narrow" panose="020B0004020202020204" pitchFamily="34" charset="0"/>
                        </a:rPr>
                        <a:t>EJERCITO DE CHILE CENTRAL ODONTOLOGICA</a:t>
                      </a:r>
                    </a:p>
                  </a:txBody>
                  <a:tcPr marL="14889" marR="14889" marT="14889" marB="14889"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tx1">
                        <a:lumMod val="85000"/>
                      </a:schemeClr>
                    </a:solidFill>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PLANTA DE AGUA 2017C451008P</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NO OPERATIVO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05-10-2026</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 </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1 PRESSCONTROL PARA BOMBA PURPRESS</a:t>
                      </a:r>
                      <a:br>
                        <a:rPr lang="es-CL" sz="600" b="0" i="0" u="none" strike="noStrike" cap="none" spc="0" dirty="0">
                          <a:solidFill>
                            <a:srgbClr val="000000"/>
                          </a:solidFill>
                          <a:effectLst/>
                          <a:latin typeface="Aptos Narrow" panose="020B0004020202020204" pitchFamily="34" charset="0"/>
                          <a:cs typeface="Arial"/>
                          <a:sym typeface="Arial"/>
                        </a:rPr>
                      </a:br>
                      <a:r>
                        <a:rPr lang="es-CL" sz="600" b="0" i="0" u="none" strike="noStrike" cap="none" spc="0" dirty="0">
                          <a:solidFill>
                            <a:srgbClr val="000000"/>
                          </a:solidFill>
                          <a:effectLst/>
                          <a:latin typeface="Aptos Narrow" panose="020B0004020202020204" pitchFamily="34" charset="0"/>
                          <a:cs typeface="Arial"/>
                          <a:sym typeface="Arial"/>
                        </a:rPr>
                        <a:t>1 BOMBA CALPEDA 0.9 PURBCALP</a:t>
                      </a:r>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R="0" algn="l" rtl="0" fontAlgn="ctr">
                        <a:lnSpc>
                          <a:spcPct val="100000"/>
                        </a:lnSpc>
                        <a:spcBef>
                          <a:spcPts val="0"/>
                        </a:spcBef>
                        <a:spcAft>
                          <a:spcPts val="0"/>
                        </a:spcAft>
                        <a:buClr>
                          <a:srgbClr val="000000"/>
                        </a:buClr>
                        <a:buFont typeface="Arial"/>
                        <a:buNone/>
                      </a:pPr>
                      <a:r>
                        <a:rPr lang="es-CL" sz="600" b="0" i="0" u="none" strike="noStrike" cap="none" spc="0" dirty="0">
                          <a:solidFill>
                            <a:srgbClr val="000000"/>
                          </a:solidFill>
                          <a:effectLst/>
                          <a:latin typeface="Aptos Narrow" panose="020B0004020202020204" pitchFamily="34" charset="0"/>
                          <a:cs typeface="Arial"/>
                          <a:sym typeface="Arial"/>
                        </a:rPr>
                        <a:t>21/10 MANTENCION CORRECTIVA EN EJECUCION </a:t>
                      </a:r>
                    </a:p>
                  </a:txBody>
                  <a:tcPr marL="0" marR="0" marT="0"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6,9</a:t>
                      </a:r>
                      <a:endParaRPr sz="600" dirty="0"/>
                    </a:p>
                  </a:txBody>
                  <a:tcPr marL="14889" marR="14889" marT="14889" marB="14889"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3862041697"/>
                  </a:ext>
                </a:extLst>
              </a:tr>
              <a:tr h="107198">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solidFill>
                        <a:srgbClr val="000000"/>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ctr">
                        <a:lnSpc>
                          <a:spcPct val="100000"/>
                        </a:lnSpc>
                        <a:spcBef>
                          <a:spcPts val="0"/>
                        </a:spcBef>
                        <a:spcAft>
                          <a:spcPts val="0"/>
                        </a:spcAft>
                        <a:buClr>
                          <a:srgbClr val="000000"/>
                        </a:buClr>
                        <a:buSzPts val="700"/>
                        <a:buFont typeface="Arial"/>
                        <a:buNone/>
                      </a:pPr>
                      <a:endParaRPr lang="es-CL" sz="600" b="0" i="0" u="none" strike="noStrike" cap="none" spc="0" dirty="0">
                        <a:solidFill>
                          <a:srgbClr val="000000"/>
                        </a:solidFill>
                        <a:effectLst/>
                        <a:latin typeface="Aptos Narrow" panose="020B0004020202020204" pitchFamily="34" charset="0"/>
                        <a:cs typeface="Arial"/>
                        <a:sym typeface="Arial"/>
                      </a:endParaRPr>
                    </a:p>
                  </a:txBody>
                  <a:tcPr marL="14889" marR="14889" marT="14889" marB="14889"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ctr">
                        <a:lnSpc>
                          <a:spcPct val="100000"/>
                        </a:lnSpc>
                        <a:spcBef>
                          <a:spcPts val="0"/>
                        </a:spcBef>
                        <a:spcAft>
                          <a:spcPts val="0"/>
                        </a:spcAft>
                        <a:buClr>
                          <a:srgbClr val="000000"/>
                        </a:buClr>
                        <a:buSzPts val="700"/>
                        <a:buFont typeface="Arial"/>
                        <a:buNone/>
                      </a:pPr>
                      <a:endParaRPr lang="es-CL" sz="600" b="0" i="0" u="none" strike="noStrike" cap="none" spc="0" dirty="0">
                        <a:solidFill>
                          <a:srgbClr val="000000"/>
                        </a:solidFill>
                        <a:effectLst/>
                        <a:latin typeface="Aptos Narrow" panose="020B0004020202020204" pitchFamily="34" charset="0"/>
                        <a:cs typeface="Arial"/>
                        <a:sym typeface="Arial"/>
                      </a:endParaRPr>
                    </a:p>
                  </a:txBody>
                  <a:tcPr marL="14889" marR="14889" marT="14889" marB="14889"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ctr">
                        <a:lnSpc>
                          <a:spcPct val="100000"/>
                        </a:lnSpc>
                        <a:spcBef>
                          <a:spcPts val="0"/>
                        </a:spcBef>
                        <a:spcAft>
                          <a:spcPts val="0"/>
                        </a:spcAft>
                        <a:buClr>
                          <a:srgbClr val="000000"/>
                        </a:buClr>
                        <a:buSzPts val="700"/>
                        <a:buFont typeface="Arial"/>
                        <a:buNone/>
                      </a:pPr>
                      <a:endParaRPr lang="es-CL" sz="600" b="0" i="0" u="none" strike="noStrike" cap="none" spc="0" dirty="0">
                        <a:solidFill>
                          <a:srgbClr val="000000"/>
                        </a:solidFill>
                        <a:effectLst/>
                        <a:latin typeface="Aptos Narrow" panose="020B0004020202020204" pitchFamily="34" charset="0"/>
                        <a:cs typeface="Arial"/>
                        <a:sym typeface="Arial"/>
                      </a:endParaRPr>
                    </a:p>
                  </a:txBody>
                  <a:tcPr marL="14889" marR="14889" marT="14889" marB="14889"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ctr">
                        <a:lnSpc>
                          <a:spcPct val="100000"/>
                        </a:lnSpc>
                        <a:spcBef>
                          <a:spcPts val="0"/>
                        </a:spcBef>
                        <a:spcAft>
                          <a:spcPts val="0"/>
                        </a:spcAft>
                        <a:buClr>
                          <a:srgbClr val="000000"/>
                        </a:buClr>
                        <a:buSzPts val="700"/>
                        <a:buFont typeface="Arial"/>
                        <a:buNone/>
                      </a:pPr>
                      <a:endParaRPr lang="es-CL" sz="600" b="0" i="0" u="none" strike="noStrike" cap="none" spc="0" dirty="0">
                        <a:solidFill>
                          <a:srgbClr val="000000"/>
                        </a:solidFill>
                        <a:effectLst/>
                        <a:latin typeface="Aptos Narrow" panose="020B0004020202020204" pitchFamily="34" charset="0"/>
                        <a:cs typeface="Arial"/>
                        <a:sym typeface="Arial"/>
                      </a:endParaRPr>
                    </a:p>
                  </a:txBody>
                  <a:tcPr marL="14889" marR="14889" marT="14889" marB="14889"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ctr">
                        <a:lnSpc>
                          <a:spcPct val="100000"/>
                        </a:lnSpc>
                        <a:spcBef>
                          <a:spcPts val="0"/>
                        </a:spcBef>
                        <a:spcAft>
                          <a:spcPts val="0"/>
                        </a:spcAft>
                        <a:buClr>
                          <a:srgbClr val="000000"/>
                        </a:buClr>
                        <a:buSzPts val="700"/>
                        <a:buFont typeface="Arial"/>
                        <a:buNone/>
                      </a:pPr>
                      <a:endParaRPr lang="es-CL" sz="600" b="0" i="0" u="none" strike="noStrike" cap="none" spc="0" dirty="0">
                        <a:solidFill>
                          <a:srgbClr val="000000"/>
                        </a:solidFill>
                        <a:effectLst/>
                        <a:latin typeface="Aptos Narrow" panose="020B0004020202020204" pitchFamily="34" charset="0"/>
                        <a:cs typeface="Arial"/>
                        <a:sym typeface="Arial"/>
                      </a:endParaRPr>
                    </a:p>
                  </a:txBody>
                  <a:tcPr marL="14889" marR="14889" marT="14889" marB="14889"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fontAlgn="ctr">
                        <a:lnSpc>
                          <a:spcPct val="100000"/>
                        </a:lnSpc>
                        <a:spcBef>
                          <a:spcPts val="0"/>
                        </a:spcBef>
                        <a:spcAft>
                          <a:spcPts val="0"/>
                        </a:spcAft>
                        <a:buClr>
                          <a:srgbClr val="000000"/>
                        </a:buClr>
                        <a:buSzPts val="700"/>
                        <a:buFont typeface="Arial"/>
                        <a:buNone/>
                      </a:pPr>
                      <a:endParaRPr lang="es-CL" sz="600" b="0" i="0" u="none" strike="noStrike" cap="none" spc="0" dirty="0">
                        <a:solidFill>
                          <a:srgbClr val="000000"/>
                        </a:solidFill>
                        <a:effectLst/>
                        <a:latin typeface="Aptos Narrow" panose="020B0004020202020204" pitchFamily="34" charset="0"/>
                        <a:cs typeface="Arial"/>
                        <a:sym typeface="Arial"/>
                      </a:endParaRPr>
                    </a:p>
                  </a:txBody>
                  <a:tcPr marL="14889" marR="14889" marT="14889" marB="14889"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lang="es-CL" sz="600" dirty="0"/>
                    </a:p>
                  </a:txBody>
                  <a:tcPr marL="14889" marR="14889" marT="14889" marB="14889"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endParaRPr sz="600" dirty="0"/>
                    </a:p>
                  </a:txBody>
                  <a:tcPr marL="14889" marR="14889" marT="14889" marB="14889"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tc>
                  <a:txBody>
                    <a:bodyPr/>
                    <a:lstStyle/>
                    <a:p>
                      <a:pPr marL="0" marR="0" lvl="0" indent="0" algn="l" rtl="0">
                        <a:spcBef>
                          <a:spcPts val="0"/>
                        </a:spcBef>
                        <a:spcAft>
                          <a:spcPts val="0"/>
                        </a:spcAft>
                        <a:buClr>
                          <a:srgbClr val="000000"/>
                        </a:buClr>
                        <a:buSzPts val="700"/>
                        <a:buFont typeface="Arial"/>
                        <a:buNone/>
                      </a:pPr>
                      <a:r>
                        <a:rPr lang="es-MX" sz="600" dirty="0"/>
                        <a:t>$MM 580,5</a:t>
                      </a:r>
                    </a:p>
                  </a:txBody>
                  <a:tcPr marL="14889" marR="14889" marT="14889" marB="14889" anchor="ctr">
                    <a:lnL w="9525" cap="flat" cmpd="sng">
                      <a:solidFill>
                        <a:srgbClr val="000000">
                          <a:alpha val="0"/>
                        </a:srgbClr>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2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 Equipos Detenidos</a:t>
            </a:r>
            <a:endParaRPr sz="2700" b="0" i="0" u="none" strike="noStrike" cap="none">
              <a:solidFill>
                <a:srgbClr val="FFFFFF"/>
              </a:solidFill>
              <a:latin typeface="Roboto"/>
              <a:ea typeface="Roboto"/>
              <a:cs typeface="Roboto"/>
              <a:sym typeface="Roboto"/>
            </a:endParaRPr>
          </a:p>
        </p:txBody>
      </p:sp>
      <p:pic>
        <p:nvPicPr>
          <p:cNvPr id="4" name="Imagen 3">
            <a:extLst>
              <a:ext uri="{FF2B5EF4-FFF2-40B4-BE49-F238E27FC236}">
                <a16:creationId xmlns:a16="http://schemas.microsoft.com/office/drawing/2014/main" id="{14D16C6F-9222-9242-A05D-359B4D57EC1C}"/>
              </a:ext>
            </a:extLst>
          </p:cNvPr>
          <p:cNvPicPr>
            <a:picLocks noChangeAspect="1"/>
          </p:cNvPicPr>
          <p:nvPr/>
        </p:nvPicPr>
        <p:blipFill>
          <a:blip r:embed="rId3"/>
          <a:stretch>
            <a:fillRect/>
          </a:stretch>
        </p:blipFill>
        <p:spPr>
          <a:xfrm>
            <a:off x="74521" y="848800"/>
            <a:ext cx="12042957" cy="5788389"/>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2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Fill Rate</a:t>
            </a:r>
            <a:endParaRPr sz="2700" b="0" i="0" u="none" strike="noStrike" cap="none">
              <a:solidFill>
                <a:srgbClr val="FFFFFF"/>
              </a:solidFill>
              <a:latin typeface="Roboto"/>
              <a:ea typeface="Roboto"/>
              <a:cs typeface="Roboto"/>
              <a:sym typeface="Roboto"/>
            </a:endParaRPr>
          </a:p>
        </p:txBody>
      </p:sp>
      <p:sp>
        <p:nvSpPr>
          <p:cNvPr id="362" name="Google Shape;362;p22"/>
          <p:cNvSpPr/>
          <p:nvPr/>
        </p:nvSpPr>
        <p:spPr>
          <a:xfrm>
            <a:off x="204679" y="5724394"/>
            <a:ext cx="11785759" cy="6386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Stock top 10 clientes y compra requerida para distintos niveles de Fill Rate</a:t>
            </a:r>
            <a:endParaRPr/>
          </a:p>
        </p:txBody>
      </p:sp>
      <p:pic>
        <p:nvPicPr>
          <p:cNvPr id="4" name="Imagen 3">
            <a:extLst>
              <a:ext uri="{FF2B5EF4-FFF2-40B4-BE49-F238E27FC236}">
                <a16:creationId xmlns:a16="http://schemas.microsoft.com/office/drawing/2014/main" id="{00242C9C-A6A8-A046-7680-80480FF154F9}"/>
              </a:ext>
            </a:extLst>
          </p:cNvPr>
          <p:cNvPicPr>
            <a:picLocks noChangeAspect="1"/>
          </p:cNvPicPr>
          <p:nvPr/>
        </p:nvPicPr>
        <p:blipFill>
          <a:blip r:embed="rId3"/>
          <a:srcRect b="12085"/>
          <a:stretch>
            <a:fillRect/>
          </a:stretch>
        </p:blipFill>
        <p:spPr>
          <a:xfrm>
            <a:off x="380400" y="844325"/>
            <a:ext cx="11011095" cy="4843557"/>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60E0CC5A-764C-BD98-0A07-B9158C2B776A}"/>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828AD388-EC03-83FC-6384-26411DCFDAF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75B3E588-0B4C-45D3-321B-BA403BF85323}"/>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3CC2E225-2E81-CEC3-3793-46BB7CE81D18}"/>
              </a:ext>
            </a:extLst>
          </p:cNvPr>
          <p:cNvSpPr/>
          <p:nvPr/>
        </p:nvSpPr>
        <p:spPr>
          <a:xfrm>
            <a:off x="393700" y="322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5987824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4">
          <a:extLst>
            <a:ext uri="{FF2B5EF4-FFF2-40B4-BE49-F238E27FC236}">
              <a16:creationId xmlns:a16="http://schemas.microsoft.com/office/drawing/2014/main" id="{6A179850-4BBC-848D-63D3-21523C9D4814}"/>
            </a:ext>
          </a:extLst>
        </p:cNvPr>
        <p:cNvGrpSpPr/>
        <p:nvPr/>
      </p:nvGrpSpPr>
      <p:grpSpPr>
        <a:xfrm>
          <a:off x="0" y="0"/>
          <a:ext cx="0" cy="0"/>
          <a:chOff x="0" y="0"/>
          <a:chExt cx="0" cy="0"/>
        </a:xfrm>
      </p:grpSpPr>
      <p:sp>
        <p:nvSpPr>
          <p:cNvPr id="375" name="Google Shape;375;p24">
            <a:extLst>
              <a:ext uri="{FF2B5EF4-FFF2-40B4-BE49-F238E27FC236}">
                <a16:creationId xmlns:a16="http://schemas.microsoft.com/office/drawing/2014/main" id="{36290C09-890A-774B-0AB3-98696FD364C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MX" sz="2700" b="1" dirty="0">
                <a:solidFill>
                  <a:srgbClr val="33448D"/>
                </a:solidFill>
                <a:latin typeface="Roboto"/>
                <a:ea typeface="Roboto"/>
                <a:cs typeface="Roboto"/>
                <a:sym typeface="Roboto"/>
              </a:rPr>
              <a:t>Composición de Facturación – Contratos vs. Otras Facturaciones</a:t>
            </a:r>
            <a:endParaRPr sz="2700" b="0" i="0" u="none" strike="noStrike" cap="none" dirty="0">
              <a:solidFill>
                <a:srgbClr val="FFFFFF"/>
              </a:solidFill>
              <a:latin typeface="Roboto"/>
              <a:ea typeface="Roboto"/>
              <a:cs typeface="Roboto"/>
              <a:sym typeface="Roboto"/>
            </a:endParaRPr>
          </a:p>
        </p:txBody>
      </p:sp>
      <p:sp>
        <p:nvSpPr>
          <p:cNvPr id="6" name="Google Shape;376;p24">
            <a:extLst>
              <a:ext uri="{FF2B5EF4-FFF2-40B4-BE49-F238E27FC236}">
                <a16:creationId xmlns:a16="http://schemas.microsoft.com/office/drawing/2014/main" id="{CB0CED7D-29EF-B316-EBBF-84EE39FE19FB}"/>
              </a:ext>
            </a:extLst>
          </p:cNvPr>
          <p:cNvSpPr/>
          <p:nvPr/>
        </p:nvSpPr>
        <p:spPr>
          <a:xfrm>
            <a:off x="246000" y="4608000"/>
            <a:ext cx="11745000" cy="206728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La facturación acumulada 2026 (enero–octubre) alcanza MM$2.180,7, distribuida prácticamente en partes iguales entre contratos (MM$1.107,2; 50,8%) y mantenciones correctivas y otras facturaciones (MM$1.073,5; 49,2%).</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clientes con contrato concentran MM$1.778,9 de facturación, equivalentes al 81,6% del total, mientras que los clientes sin contrato representan MM$340,5 (15,6%).</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contratos activos aportan MM$999,6, mientras que la facturación spot de clientes que además mantienen contrato alcanza MM$739,0, mostrando una fuente relevante de ingresos adicionales a los contratos.</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clientes sin contrato generan MM$232,9 mediante facturación spot y MM$107,6 asociados a contratos vencidos, identificando una oportunidad de conversión hacia relaciones contractuales.</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Los clientes nuevos aportan MM$61,2 de facturación durante 2026, equivalentes al 2,8% del total acumulado.</a:t>
            </a:r>
          </a:p>
          <a:p>
            <a:pPr marL="171450" marR="0" lvl="0" indent="-171450" algn="l" rtl="0">
              <a:spcBef>
                <a:spcPts val="0"/>
              </a:spcBef>
              <a:spcAft>
                <a:spcPts val="0"/>
              </a:spcAft>
              <a:buClr>
                <a:schemeClr val="lt1"/>
              </a:buClr>
              <a:buSzPts val="1000"/>
              <a:buFont typeface="Arial"/>
              <a:buChar char="•"/>
            </a:pPr>
            <a:r>
              <a:rPr lang="es-MX" sz="1200" dirty="0">
                <a:solidFill>
                  <a:schemeClr val="lt1"/>
                </a:solidFill>
                <a:latin typeface="Arial"/>
                <a:ea typeface="Arial"/>
                <a:cs typeface="Arial"/>
                <a:sym typeface="Arial"/>
              </a:rPr>
              <a:t>Se identifican 11 clientes perdidos sin facturación actual, que durante 2025 generaron MM$23,7, constituyendo un grupo potencial para acciones de reactivación comercial.</a:t>
            </a:r>
          </a:p>
        </p:txBody>
      </p:sp>
      <p:pic>
        <p:nvPicPr>
          <p:cNvPr id="3" name="Imagen 2">
            <a:extLst>
              <a:ext uri="{FF2B5EF4-FFF2-40B4-BE49-F238E27FC236}">
                <a16:creationId xmlns:a16="http://schemas.microsoft.com/office/drawing/2014/main" id="{745E3708-29F0-2972-8248-5A41EDDCF1DD}"/>
              </a:ext>
            </a:extLst>
          </p:cNvPr>
          <p:cNvPicPr>
            <a:picLocks noChangeAspect="1"/>
          </p:cNvPicPr>
          <p:nvPr/>
        </p:nvPicPr>
        <p:blipFill>
          <a:blip r:embed="rId3"/>
          <a:srcRect t="9137" b="14783"/>
          <a:stretch>
            <a:fillRect/>
          </a:stretch>
        </p:blipFill>
        <p:spPr>
          <a:xfrm>
            <a:off x="1659443" y="871400"/>
            <a:ext cx="8918114" cy="3697700"/>
          </a:xfrm>
          <a:prstGeom prst="rect">
            <a:avLst/>
          </a:prstGeom>
        </p:spPr>
      </p:pic>
    </p:spTree>
    <p:extLst>
      <p:ext uri="{BB962C8B-B14F-4D97-AF65-F5344CB8AC3E}">
        <p14:creationId xmlns:p14="http://schemas.microsoft.com/office/powerpoint/2010/main" val="7549972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2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Update Contratos – Horizonte 90 días</a:t>
            </a:r>
            <a:endParaRPr sz="2700" b="0" i="0" u="none" strike="noStrike" cap="none">
              <a:solidFill>
                <a:srgbClr val="FFFFFF"/>
              </a:solidFill>
              <a:latin typeface="Roboto"/>
              <a:ea typeface="Roboto"/>
              <a:cs typeface="Roboto"/>
              <a:sym typeface="Roboto"/>
            </a:endParaRPr>
          </a:p>
        </p:txBody>
      </p:sp>
      <p:sp>
        <p:nvSpPr>
          <p:cNvPr id="376" name="Google Shape;376;p24"/>
          <p:cNvSpPr/>
          <p:nvPr/>
        </p:nvSpPr>
        <p:spPr>
          <a:xfrm>
            <a:off x="283354" y="5897358"/>
            <a:ext cx="11625292" cy="86203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42 contratos se encuentran vencidos o vencen dentro del horizonte de 90 días, asociados a 37 clientes y por un monto total de MM$307,8.</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19 contratos ya se encuentran vencidos, por MM$110,9, siendo el principal foco de gestión inmediata.</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Octubre concentra 5 contratos (MM$21,3), mientras que 19 contratos ya se encuentran vencidos (MM$110,9).</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Los contratos vencidos concentran el mayor monto del período, con MM$110,9, equivalente aproximadamente al 36% del total del horizonte.</a:t>
            </a: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 27 contratos corresponden a la cartera comercial, por MM$237,9, mientras que 15 son de garantía, por MM$70,0.</a:t>
            </a:r>
          </a:p>
        </p:txBody>
      </p:sp>
      <p:pic>
        <p:nvPicPr>
          <p:cNvPr id="4" name="Imagen 3">
            <a:extLst>
              <a:ext uri="{FF2B5EF4-FFF2-40B4-BE49-F238E27FC236}">
                <a16:creationId xmlns:a16="http://schemas.microsoft.com/office/drawing/2014/main" id="{85508316-53EB-E10E-B4BF-BE67031A8FCF}"/>
              </a:ext>
            </a:extLst>
          </p:cNvPr>
          <p:cNvPicPr>
            <a:picLocks noChangeAspect="1"/>
          </p:cNvPicPr>
          <p:nvPr/>
        </p:nvPicPr>
        <p:blipFill>
          <a:blip r:embed="rId3"/>
          <a:stretch>
            <a:fillRect/>
          </a:stretch>
        </p:blipFill>
        <p:spPr>
          <a:xfrm>
            <a:off x="1191000" y="868911"/>
            <a:ext cx="9321700" cy="501622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2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Update Contratos – Horizonte 90 días</a:t>
            </a:r>
            <a:endParaRPr sz="2700" b="0" i="0" u="none" strike="noStrike" cap="none">
              <a:solidFill>
                <a:srgbClr val="FFFFFF"/>
              </a:solidFill>
              <a:latin typeface="Roboto"/>
              <a:ea typeface="Roboto"/>
              <a:cs typeface="Roboto"/>
              <a:sym typeface="Roboto"/>
            </a:endParaRPr>
          </a:p>
        </p:txBody>
      </p:sp>
      <p:sp>
        <p:nvSpPr>
          <p:cNvPr id="383" name="Google Shape;383;p25"/>
          <p:cNvSpPr/>
          <p:nvPr/>
        </p:nvSpPr>
        <p:spPr>
          <a:xfrm>
            <a:off x="393700" y="1035781"/>
            <a:ext cx="11625292"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De este 14% de la cartera ya el 12% se encuentra en proceso de renovación, puede que haya expirado, sin embargo, todavía el contrato se sigue ejecutando, por ejemplo, </a:t>
            </a:r>
            <a:r>
              <a:rPr lang="es-CL" sz="1000" b="1">
                <a:solidFill>
                  <a:schemeClr val="lt1"/>
                </a:solidFill>
                <a:latin typeface="Arial"/>
                <a:ea typeface="Arial"/>
                <a:cs typeface="Arial"/>
                <a:sym typeface="Arial"/>
              </a:rPr>
              <a:t>Clínica INDISA</a:t>
            </a:r>
            <a:endParaRPr/>
          </a:p>
          <a:p>
            <a:pPr marL="171450" marR="0" lvl="0" indent="-171450" algn="l" rtl="0">
              <a:spcBef>
                <a:spcPts val="0"/>
              </a:spcBef>
              <a:spcAft>
                <a:spcPts val="0"/>
              </a:spcAft>
              <a:buClr>
                <a:schemeClr val="lt1"/>
              </a:buClr>
              <a:buSzPts val="1000"/>
              <a:buFont typeface="Arial"/>
              <a:buChar char="•"/>
            </a:pPr>
            <a:r>
              <a:rPr lang="es-CL" sz="1000" b="1">
                <a:solidFill>
                  <a:schemeClr val="lt1"/>
                </a:solidFill>
                <a:latin typeface="Arial"/>
                <a:ea typeface="Arial"/>
                <a:cs typeface="Arial"/>
                <a:sym typeface="Arial"/>
              </a:rPr>
              <a:t>1 Nuevo contrato durante esta semana H. Luis Calvo Mackenna MM$3,5 anual</a:t>
            </a:r>
            <a:endParaRPr/>
          </a:p>
        </p:txBody>
      </p:sp>
      <p:graphicFrame>
        <p:nvGraphicFramePr>
          <p:cNvPr id="384" name="Google Shape;384;p25"/>
          <p:cNvGraphicFramePr/>
          <p:nvPr>
            <p:extLst>
              <p:ext uri="{D42A27DB-BD31-4B8C-83A1-F6EECF244321}">
                <p14:modId xmlns:p14="http://schemas.microsoft.com/office/powerpoint/2010/main" val="3302718868"/>
              </p:ext>
            </p:extLst>
          </p:nvPr>
        </p:nvGraphicFramePr>
        <p:xfrm>
          <a:off x="393702" y="1641277"/>
          <a:ext cx="11625250" cy="2092930"/>
        </p:xfrm>
        <a:graphic>
          <a:graphicData uri="http://schemas.openxmlformats.org/drawingml/2006/table">
            <a:tbl>
              <a:tblPr>
                <a:noFill/>
                <a:tableStyleId>{13D43741-7D58-4360-86AC-F6E32FA5FF39}</a:tableStyleId>
              </a:tblPr>
              <a:tblGrid>
                <a:gridCol w="2838875">
                  <a:extLst>
                    <a:ext uri="{9D8B030D-6E8A-4147-A177-3AD203B41FA5}">
                      <a16:colId xmlns:a16="http://schemas.microsoft.com/office/drawing/2014/main" val="20000"/>
                    </a:ext>
                  </a:extLst>
                </a:gridCol>
                <a:gridCol w="1618550">
                  <a:extLst>
                    <a:ext uri="{9D8B030D-6E8A-4147-A177-3AD203B41FA5}">
                      <a16:colId xmlns:a16="http://schemas.microsoft.com/office/drawing/2014/main" val="20001"/>
                    </a:ext>
                  </a:extLst>
                </a:gridCol>
                <a:gridCol w="950575">
                  <a:extLst>
                    <a:ext uri="{9D8B030D-6E8A-4147-A177-3AD203B41FA5}">
                      <a16:colId xmlns:a16="http://schemas.microsoft.com/office/drawing/2014/main" val="20002"/>
                    </a:ext>
                  </a:extLst>
                </a:gridCol>
                <a:gridCol w="1079025">
                  <a:extLst>
                    <a:ext uri="{9D8B030D-6E8A-4147-A177-3AD203B41FA5}">
                      <a16:colId xmlns:a16="http://schemas.microsoft.com/office/drawing/2014/main" val="20003"/>
                    </a:ext>
                  </a:extLst>
                </a:gridCol>
                <a:gridCol w="1079025">
                  <a:extLst>
                    <a:ext uri="{9D8B030D-6E8A-4147-A177-3AD203B41FA5}">
                      <a16:colId xmlns:a16="http://schemas.microsoft.com/office/drawing/2014/main" val="20004"/>
                    </a:ext>
                  </a:extLst>
                </a:gridCol>
                <a:gridCol w="950575">
                  <a:extLst>
                    <a:ext uri="{9D8B030D-6E8A-4147-A177-3AD203B41FA5}">
                      <a16:colId xmlns:a16="http://schemas.microsoft.com/office/drawing/2014/main" val="20005"/>
                    </a:ext>
                  </a:extLst>
                </a:gridCol>
                <a:gridCol w="1014800">
                  <a:extLst>
                    <a:ext uri="{9D8B030D-6E8A-4147-A177-3AD203B41FA5}">
                      <a16:colId xmlns:a16="http://schemas.microsoft.com/office/drawing/2014/main" val="20006"/>
                    </a:ext>
                  </a:extLst>
                </a:gridCol>
                <a:gridCol w="1014800">
                  <a:extLst>
                    <a:ext uri="{9D8B030D-6E8A-4147-A177-3AD203B41FA5}">
                      <a16:colId xmlns:a16="http://schemas.microsoft.com/office/drawing/2014/main" val="20007"/>
                    </a:ext>
                  </a:extLst>
                </a:gridCol>
                <a:gridCol w="1079025">
                  <a:extLst>
                    <a:ext uri="{9D8B030D-6E8A-4147-A177-3AD203B41FA5}">
                      <a16:colId xmlns:a16="http://schemas.microsoft.com/office/drawing/2014/main" val="20008"/>
                    </a:ext>
                  </a:extLst>
                </a:gridCol>
              </a:tblGrid>
              <a:tr h="288950">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CLIENTE</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CLASIFICACIÓN (indicada por usuario)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l"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TIPO CONTRATO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VALOR TOTAL CONTRATO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Cartera</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CUOTA MENSUAL</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FECHA VENCIMIENTO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MES DE VENCIMIENTO</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tc>
                  <a:txBody>
                    <a:bodyPr/>
                    <a:lstStyle/>
                    <a:p>
                      <a:pPr marL="0" marR="0" lvl="0" indent="0" algn="r" rtl="0">
                        <a:spcBef>
                          <a:spcPts val="0"/>
                        </a:spcBef>
                        <a:spcAft>
                          <a:spcPts val="0"/>
                        </a:spcAft>
                        <a:buClr>
                          <a:srgbClr val="FFFFFF"/>
                        </a:buClr>
                        <a:buSzPts val="600"/>
                        <a:buFont typeface="Arial"/>
                        <a:buNone/>
                      </a:pPr>
                      <a:r>
                        <a:rPr lang="es-CL" sz="600" b="1" i="0" u="none" strike="noStrike" cap="none">
                          <a:solidFill>
                            <a:srgbClr val="FFFFFF"/>
                          </a:solidFill>
                          <a:latin typeface="Arial"/>
                          <a:ea typeface="Arial"/>
                          <a:cs typeface="Arial"/>
                          <a:sym typeface="Arial"/>
                        </a:rPr>
                        <a:t>ESTADO EN PANEL (dato actual)</a:t>
                      </a:r>
                      <a:endParaRPr/>
                    </a:p>
                  </a:txBody>
                  <a:tcPr marL="8725" marR="8725" marT="87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002D73"/>
                    </a:solidFill>
                  </a:tcPr>
                </a:tc>
                <a:extLst>
                  <a:ext uri="{0D108BD9-81ED-4DB2-BD59-A6C34878D82A}">
                    <a16:rowId xmlns:a16="http://schemas.microsoft.com/office/drawing/2014/main" val="10000"/>
                  </a:ext>
                </a:extLst>
              </a:tr>
              <a:tr h="201150">
                <a:tc>
                  <a:txBody>
                    <a:bodyPr/>
                    <a:lstStyle/>
                    <a:p>
                      <a:pPr marL="0" marR="0" lvl="0" indent="0" algn="l" rtl="0">
                        <a:spcBef>
                          <a:spcPts val="0"/>
                        </a:spcBef>
                        <a:spcAft>
                          <a:spcPts val="0"/>
                        </a:spcAft>
                        <a:buClr>
                          <a:srgbClr val="000000"/>
                        </a:buClr>
                        <a:buSzPts val="800"/>
                        <a:buFont typeface="Arial"/>
                        <a:buNone/>
                      </a:pPr>
                      <a:r>
                        <a:rPr lang="es-CL" sz="800" b="0" i="0" u="none" strike="noStrike" cap="none" dirty="0">
                          <a:solidFill>
                            <a:srgbClr val="000000"/>
                          </a:solidFill>
                          <a:latin typeface="Arial"/>
                          <a:ea typeface="Arial"/>
                          <a:cs typeface="Arial"/>
                          <a:sym typeface="Arial"/>
                        </a:rPr>
                        <a:t>Hospital Exequiel González Cortés</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34.900.000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2,68%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2.908.000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01/09/2026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Sept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1"/>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DEL SALVADOR</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Renovado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23.803.992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1,83%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5.950.998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08/03/2027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Marzo 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2"/>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INSTITUTO DE DIAGNOSTICO S.A. / CLÍNICA INDISA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23.049.612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1,77%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2.881.201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07/08/2026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3"/>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CLÍNICA BUPA ANTOFAGASTA SA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5.585.865</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0,43%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698.233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4"/>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 MUNICIPALIDAD DE CONSTITUCION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Renovación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4.865.287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4.865.287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31/05/2026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Mayo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5"/>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MILITAR DE SANTIAGO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Comercial</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4.695.262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782.544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02/06/2026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Junio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6"/>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DEL SALVADOR</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S</a:t>
                      </a:r>
                      <a:r>
                        <a:rPr lang="es-CL" sz="700" b="0" i="0" u="none" strike="noStrike" cap="none" dirty="0">
                          <a:solidFill>
                            <a:srgbClr val="000000"/>
                          </a:solidFill>
                          <a:latin typeface="Arial"/>
                          <a:cs typeface="Arial"/>
                          <a:sym typeface="Arial"/>
                        </a:rPr>
                        <a:t>e renovara 2027</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4.168.932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0,32%</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1.389.644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7"/>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 MUNICIPALIDAD DE VICUÑA</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Renovación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3.932.726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0,30%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1.966.363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30/08/2026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8"/>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DIPRECA FONDO HOSPITAL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T</a:t>
                      </a:r>
                      <a:r>
                        <a:rPr lang="es-CL" sz="700" b="0" i="0" u="none" strike="noStrike" cap="none" dirty="0" err="1">
                          <a:solidFill>
                            <a:srgbClr val="000000"/>
                          </a:solidFill>
                          <a:latin typeface="Arial"/>
                          <a:cs typeface="Arial"/>
                          <a:sym typeface="Arial"/>
                        </a:rPr>
                        <a:t>rabajando</a:t>
                      </a:r>
                      <a:r>
                        <a:rPr lang="es-CL" sz="700" b="0" i="0" u="none" strike="noStrike" cap="none" dirty="0">
                          <a:solidFill>
                            <a:srgbClr val="000000"/>
                          </a:solidFill>
                          <a:latin typeface="Arial"/>
                          <a:cs typeface="Arial"/>
                          <a:sym typeface="Arial"/>
                        </a:rPr>
                        <a:t> en bases de licitación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3.671.517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1.223.839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05/08/2026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09"/>
                  </a:ext>
                </a:extLst>
              </a:tr>
              <a:tr h="20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HOSPITAL DE ILLAPEL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En Proceso de </a:t>
                      </a:r>
                      <a:r>
                        <a:rPr lang="es-CL" sz="700" b="0" i="0" u="none" strike="noStrike" cap="none" dirty="0" err="1">
                          <a:solidFill>
                            <a:srgbClr val="000000"/>
                          </a:solidFill>
                          <a:latin typeface="Arial"/>
                          <a:ea typeface="Arial"/>
                          <a:cs typeface="Arial"/>
                          <a:sym typeface="Arial"/>
                        </a:rPr>
                        <a:t>Licitacion</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3.429.404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3.429.404</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31/07/2026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Julio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Perdido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0"/>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2.738.309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1.369.155</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23/12/2026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Diciembre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1"/>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2.729.949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0,21%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2.729.949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Renovado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2"/>
                  </a:ext>
                </a:extLst>
              </a:tr>
              <a:tr h="123425">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CLINICA WLK</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ES" sz="700" b="0" i="0" u="none" strike="noStrike" cap="none" dirty="0">
                          <a:solidFill>
                            <a:srgbClr val="000000"/>
                          </a:solidFill>
                          <a:latin typeface="Arial"/>
                          <a:cs typeface="Arial"/>
                          <a:sym typeface="Arial"/>
                        </a:rPr>
                        <a:t>R</a:t>
                      </a:r>
                      <a:r>
                        <a:rPr lang="es-CL" sz="700" b="0" i="0" u="none" strike="noStrike" cap="none" dirty="0" err="1">
                          <a:solidFill>
                            <a:srgbClr val="000000"/>
                          </a:solidFill>
                          <a:latin typeface="Arial"/>
                          <a:cs typeface="Arial"/>
                          <a:sym typeface="Arial"/>
                        </a:rPr>
                        <a:t>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2.404.630</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801.543</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21/08/2026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Agosto 2026</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Nuevo</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3"/>
                  </a:ext>
                </a:extLst>
              </a:tr>
              <a:tr h="111150">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I.MUNICIPALIDAD DE CURICO DPTO. SALUD</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En Proceso de Renovación</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solidFill>
                      <a:srgbClr val="D6E4F5"/>
                    </a:solidFill>
                  </a:tcPr>
                </a:tc>
                <a:tc>
                  <a:txBody>
                    <a:bodyPr/>
                    <a:lstStyle/>
                    <a:p>
                      <a:pPr marL="0" marR="0" lvl="0" indent="0" algn="l"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Comercial</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1.376.598</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0,11%</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688.299</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30/04/2027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a:solidFill>
                            <a:srgbClr val="000000"/>
                          </a:solidFill>
                          <a:latin typeface="Arial"/>
                          <a:ea typeface="Arial"/>
                          <a:cs typeface="Arial"/>
                          <a:sym typeface="Arial"/>
                        </a:rPr>
                        <a:t>Abril 2027</a:t>
                      </a:r>
                      <a:endParaRPr/>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700"/>
                        <a:buFont typeface="Arial"/>
                        <a:buNone/>
                      </a:pPr>
                      <a:r>
                        <a:rPr lang="es-CL" sz="700" b="0" i="0" u="none" strike="noStrike" cap="none" dirty="0">
                          <a:solidFill>
                            <a:srgbClr val="000000"/>
                          </a:solidFill>
                          <a:latin typeface="Arial"/>
                          <a:ea typeface="Arial"/>
                          <a:cs typeface="Arial"/>
                          <a:sym typeface="Arial"/>
                        </a:rPr>
                        <a:t>Renovado</a:t>
                      </a:r>
                      <a:endParaRPr dirty="0"/>
                    </a:p>
                  </a:txBody>
                  <a:tcPr marL="9525" marR="9525" marT="9525" marB="0" anchor="ctr">
                    <a:lnL w="9525" cap="flat" cmpd="sng">
                      <a:solidFill>
                        <a:srgbClr val="D0D5E5"/>
                      </a:solidFill>
                      <a:prstDash val="solid"/>
                      <a:round/>
                      <a:headEnd type="none" w="sm" len="sm"/>
                      <a:tailEnd type="none" w="sm" len="sm"/>
                    </a:lnL>
                    <a:lnR w="9525" cap="flat" cmpd="sng">
                      <a:solidFill>
                        <a:srgbClr val="D0D5E5"/>
                      </a:solidFill>
                      <a:prstDash val="solid"/>
                      <a:round/>
                      <a:headEnd type="none" w="sm" len="sm"/>
                      <a:tailEnd type="none" w="sm" len="sm"/>
                    </a:lnR>
                    <a:lnT w="9525" cap="flat" cmpd="sng">
                      <a:solidFill>
                        <a:srgbClr val="D0D5E5"/>
                      </a:solidFill>
                      <a:prstDash val="solid"/>
                      <a:round/>
                      <a:headEnd type="none" w="sm" len="sm"/>
                      <a:tailEnd type="none" w="sm" len="sm"/>
                    </a:lnT>
                    <a:lnB w="9525" cap="flat" cmpd="sng">
                      <a:solidFill>
                        <a:srgbClr val="D0D5E5"/>
                      </a:solidFill>
                      <a:prstDash val="solid"/>
                      <a:round/>
                      <a:headEnd type="none" w="sm" len="sm"/>
                      <a:tailEnd type="none" w="sm" len="sm"/>
                    </a:lnB>
                  </a:tcPr>
                </a:tc>
                <a:extLst>
                  <a:ext uri="{0D108BD9-81ED-4DB2-BD59-A6C34878D82A}">
                    <a16:rowId xmlns:a16="http://schemas.microsoft.com/office/drawing/2014/main" val="10014"/>
                  </a:ext>
                </a:extLst>
              </a:tr>
            </a:tbl>
          </a:graphicData>
        </a:graphic>
      </p:graphicFrame>
      <p:sp>
        <p:nvSpPr>
          <p:cNvPr id="385" name="Google Shape;385;p25"/>
          <p:cNvSpPr/>
          <p:nvPr/>
        </p:nvSpPr>
        <p:spPr>
          <a:xfrm>
            <a:off x="300787" y="3840007"/>
            <a:ext cx="11718203"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b="1">
                <a:solidFill>
                  <a:schemeClr val="lt1"/>
                </a:solidFill>
                <a:latin typeface="Arial"/>
                <a:ea typeface="Arial"/>
                <a:cs typeface="Arial"/>
                <a:sym typeface="Arial"/>
              </a:rPr>
              <a:t>Pendientes por Iniciar Conversaciones</a:t>
            </a:r>
            <a:endParaRPr/>
          </a:p>
        </p:txBody>
      </p:sp>
      <p:graphicFrame>
        <p:nvGraphicFramePr>
          <p:cNvPr id="386" name="Google Shape;386;p25"/>
          <p:cNvGraphicFramePr/>
          <p:nvPr>
            <p:extLst>
              <p:ext uri="{D42A27DB-BD31-4B8C-83A1-F6EECF244321}">
                <p14:modId xmlns:p14="http://schemas.microsoft.com/office/powerpoint/2010/main" val="692468669"/>
              </p:ext>
            </p:extLst>
          </p:nvPr>
        </p:nvGraphicFramePr>
        <p:xfrm>
          <a:off x="300788" y="4445503"/>
          <a:ext cx="11718200" cy="1049085"/>
        </p:xfrm>
        <a:graphic>
          <a:graphicData uri="http://schemas.openxmlformats.org/drawingml/2006/table">
            <a:tbl>
              <a:tblPr>
                <a:noFill/>
                <a:tableStyleId>{13D43741-7D58-4360-86AC-F6E32FA5FF39}</a:tableStyleId>
              </a:tblPr>
              <a:tblGrid>
                <a:gridCol w="9086900">
                  <a:extLst>
                    <a:ext uri="{9D8B030D-6E8A-4147-A177-3AD203B41FA5}">
                      <a16:colId xmlns:a16="http://schemas.microsoft.com/office/drawing/2014/main" val="20000"/>
                    </a:ext>
                  </a:extLst>
                </a:gridCol>
                <a:gridCol w="877100">
                  <a:extLst>
                    <a:ext uri="{9D8B030D-6E8A-4147-A177-3AD203B41FA5}">
                      <a16:colId xmlns:a16="http://schemas.microsoft.com/office/drawing/2014/main" val="20001"/>
                    </a:ext>
                  </a:extLst>
                </a:gridCol>
                <a:gridCol w="877100">
                  <a:extLst>
                    <a:ext uri="{9D8B030D-6E8A-4147-A177-3AD203B41FA5}">
                      <a16:colId xmlns:a16="http://schemas.microsoft.com/office/drawing/2014/main" val="20002"/>
                    </a:ext>
                  </a:extLst>
                </a:gridCol>
                <a:gridCol w="877100">
                  <a:extLst>
                    <a:ext uri="{9D8B030D-6E8A-4147-A177-3AD203B41FA5}">
                      <a16:colId xmlns:a16="http://schemas.microsoft.com/office/drawing/2014/main" val="20003"/>
                    </a:ext>
                  </a:extLst>
                </a:gridCol>
              </a:tblGrid>
              <a:tr h="175575">
                <a:tc>
                  <a:txBody>
                    <a:bodyPr/>
                    <a:lstStyle/>
                    <a:p>
                      <a:pPr marL="0" marR="0" lvl="0" indent="0" algn="l" rtl="0">
                        <a:spcBef>
                          <a:spcPts val="0"/>
                        </a:spcBef>
                        <a:spcAft>
                          <a:spcPts val="0"/>
                        </a:spcAft>
                        <a:buClr>
                          <a:srgbClr val="000000"/>
                        </a:buClr>
                        <a:buSzPts val="900"/>
                        <a:buFont typeface="Arial"/>
                        <a:buNone/>
                      </a:pPr>
                      <a:r>
                        <a:rPr lang="es-CL" sz="900" b="1" i="0" u="none" strike="noStrike" cap="none" dirty="0">
                          <a:solidFill>
                            <a:srgbClr val="000000"/>
                          </a:solidFill>
                          <a:latin typeface="Arial"/>
                          <a:ea typeface="Arial"/>
                          <a:cs typeface="Arial"/>
                          <a:sym typeface="Arial"/>
                        </a:rPr>
                        <a:t>Cliente</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Vcto</a:t>
                      </a:r>
                      <a:endParaRPr sz="900" b="1" i="0" u="none" strike="noStrike" cap="none">
                        <a:solidFill>
                          <a:srgbClr val="000000"/>
                        </a:solidFill>
                        <a:latin typeface="Arial"/>
                        <a:ea typeface="Arial"/>
                        <a:cs typeface="Arial"/>
                        <a:sym typeface="Arial"/>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MM$</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1" i="0" u="none" strike="noStrike" cap="none">
                          <a:solidFill>
                            <a:srgbClr val="000000"/>
                          </a:solidFill>
                          <a:latin typeface="Arial"/>
                          <a:ea typeface="Arial"/>
                          <a:cs typeface="Arial"/>
                          <a:sym typeface="Arial"/>
                        </a:rPr>
                        <a:t>%</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San Luis Buin  Renovado</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16-10-26</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2,8</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0,22%</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San Luis Buin  Renovado</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16-10-26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5,3</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0,41%</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Servicios Clínicos del Desarrollo S.A.</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4,6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0,35%</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Corporación Municipal de Conchalí Por licitar</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4</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0,31%</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de Urgencia Asistencia Pública Dr. Alejandro del Río  Nva licitación</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31-10-26</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5,5</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0,42%</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r h="113800">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Hospital de Puerto Aysén  Bases para licitar</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12-11-26</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32,7</a:t>
                      </a:r>
                      <a:endParaRPr/>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2,52%</a:t>
                      </a:r>
                      <a:endParaRPr dirty="0"/>
                    </a:p>
                  </a:txBody>
                  <a:tcPr marL="8425" marR="8425" marT="8425"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Contratos Perdidos</a:t>
            </a:r>
            <a:endParaRPr sz="2700" b="0" i="0" u="none" strike="noStrike" cap="none">
              <a:solidFill>
                <a:srgbClr val="FFFFFF"/>
              </a:solidFill>
              <a:latin typeface="Roboto"/>
              <a:ea typeface="Roboto"/>
              <a:cs typeface="Roboto"/>
              <a:sym typeface="Roboto"/>
            </a:endParaRPr>
          </a:p>
        </p:txBody>
      </p:sp>
      <p:sp>
        <p:nvSpPr>
          <p:cNvPr id="392" name="Google Shape;392;p26"/>
          <p:cNvSpPr/>
          <p:nvPr/>
        </p:nvSpPr>
        <p:spPr>
          <a:xfrm>
            <a:off x="393700" y="1035781"/>
            <a:ext cx="11625292" cy="499722"/>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Durante el año 2026 no se han renovado 17 contratos (13% de la cartera de contratos), no obstante, la mayoría de los clientes sigue preservando el servicio con TECSERVICE</a:t>
            </a:r>
            <a:endParaRPr/>
          </a:p>
          <a:p>
            <a:pPr marL="171450" marR="0" lvl="0" indent="-171450" algn="l" rtl="0">
              <a:spcBef>
                <a:spcPts val="0"/>
              </a:spcBef>
              <a:spcAft>
                <a:spcPts val="0"/>
              </a:spcAft>
              <a:buClr>
                <a:schemeClr val="lt1"/>
              </a:buClr>
              <a:buSzPts val="1000"/>
              <a:buFont typeface="Arial"/>
              <a:buChar char="•"/>
            </a:pPr>
            <a:r>
              <a:rPr lang="es-CL" sz="1000">
                <a:solidFill>
                  <a:schemeClr val="lt1"/>
                </a:solidFill>
                <a:latin typeface="Arial"/>
                <a:ea typeface="Arial"/>
                <a:cs typeface="Arial"/>
                <a:sym typeface="Arial"/>
              </a:rPr>
              <a:t>Fundación ANCHORA UC indica termino de contratos asociados a equipos determinados pero no cliente</a:t>
            </a:r>
            <a:endParaRPr/>
          </a:p>
        </p:txBody>
      </p:sp>
      <p:graphicFrame>
        <p:nvGraphicFramePr>
          <p:cNvPr id="393" name="Google Shape;393;p26"/>
          <p:cNvGraphicFramePr/>
          <p:nvPr>
            <p:extLst>
              <p:ext uri="{D42A27DB-BD31-4B8C-83A1-F6EECF244321}">
                <p14:modId xmlns:p14="http://schemas.microsoft.com/office/powerpoint/2010/main" val="1331676158"/>
              </p:ext>
            </p:extLst>
          </p:nvPr>
        </p:nvGraphicFramePr>
        <p:xfrm>
          <a:off x="380999" y="1799770"/>
          <a:ext cx="11429975" cy="3081225"/>
        </p:xfrm>
        <a:graphic>
          <a:graphicData uri="http://schemas.openxmlformats.org/drawingml/2006/table">
            <a:tbl>
              <a:tblPr>
                <a:noFill/>
                <a:tableStyleId>{13D43741-7D58-4360-86AC-F6E32FA5FF39}</a:tableStyleId>
              </a:tblPr>
              <a:tblGrid>
                <a:gridCol w="1109500">
                  <a:extLst>
                    <a:ext uri="{9D8B030D-6E8A-4147-A177-3AD203B41FA5}">
                      <a16:colId xmlns:a16="http://schemas.microsoft.com/office/drawing/2014/main" val="20000"/>
                    </a:ext>
                  </a:extLst>
                </a:gridCol>
                <a:gridCol w="2620900">
                  <a:extLst>
                    <a:ext uri="{9D8B030D-6E8A-4147-A177-3AD203B41FA5}">
                      <a16:colId xmlns:a16="http://schemas.microsoft.com/office/drawing/2014/main" val="20001"/>
                    </a:ext>
                  </a:extLst>
                </a:gridCol>
                <a:gridCol w="698900">
                  <a:extLst>
                    <a:ext uri="{9D8B030D-6E8A-4147-A177-3AD203B41FA5}">
                      <a16:colId xmlns:a16="http://schemas.microsoft.com/office/drawing/2014/main" val="20002"/>
                    </a:ext>
                  </a:extLst>
                </a:gridCol>
                <a:gridCol w="698900">
                  <a:extLst>
                    <a:ext uri="{9D8B030D-6E8A-4147-A177-3AD203B41FA5}">
                      <a16:colId xmlns:a16="http://schemas.microsoft.com/office/drawing/2014/main" val="20003"/>
                    </a:ext>
                  </a:extLst>
                </a:gridCol>
                <a:gridCol w="698900">
                  <a:extLst>
                    <a:ext uri="{9D8B030D-6E8A-4147-A177-3AD203B41FA5}">
                      <a16:colId xmlns:a16="http://schemas.microsoft.com/office/drawing/2014/main" val="20004"/>
                    </a:ext>
                  </a:extLst>
                </a:gridCol>
                <a:gridCol w="698900">
                  <a:extLst>
                    <a:ext uri="{9D8B030D-6E8A-4147-A177-3AD203B41FA5}">
                      <a16:colId xmlns:a16="http://schemas.microsoft.com/office/drawing/2014/main" val="20005"/>
                    </a:ext>
                  </a:extLst>
                </a:gridCol>
                <a:gridCol w="2387925">
                  <a:extLst>
                    <a:ext uri="{9D8B030D-6E8A-4147-A177-3AD203B41FA5}">
                      <a16:colId xmlns:a16="http://schemas.microsoft.com/office/drawing/2014/main" val="20006"/>
                    </a:ext>
                  </a:extLst>
                </a:gridCol>
                <a:gridCol w="2516050">
                  <a:extLst>
                    <a:ext uri="{9D8B030D-6E8A-4147-A177-3AD203B41FA5}">
                      <a16:colId xmlns:a16="http://schemas.microsoft.com/office/drawing/2014/main" val="20007"/>
                    </a:ext>
                  </a:extLst>
                </a:gridCol>
              </a:tblGrid>
              <a:tr h="564225">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Responsable</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95B3D7"/>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Nombre del cliente</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Fecha de inicio del contrato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Fecha final del contrato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Total Contratos</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 Cartera</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Comentario</a:t>
                      </a:r>
                      <a:endParaRPr/>
                    </a:p>
                  </a:txBody>
                  <a:tcPr marL="8050" marR="8050" marT="8050" marB="0" anchor="ctr">
                    <a:lnL w="9525" cap="flat" cmpd="sng">
                      <a:solidFill>
                        <a:srgbClr val="000000">
                          <a:alpha val="0"/>
                        </a:srgbClr>
                      </a:solidFill>
                      <a:prstDash val="solid"/>
                      <a:round/>
                      <a:headEnd type="none" w="sm" len="sm"/>
                      <a:tailEnd type="none" w="sm" len="sm"/>
                    </a:lnL>
                    <a:lnR w="9525" cap="flat" cmpd="sng">
                      <a:solidFill>
                        <a:srgbClr val="95B3D7"/>
                      </a:solidFill>
                      <a:prstDash val="solid"/>
                      <a:round/>
                      <a:headEnd type="none" w="sm" len="sm"/>
                      <a:tailEnd type="none" w="sm" len="sm"/>
                    </a:lnR>
                    <a:lnT w="9525" cap="flat" cmpd="sng">
                      <a:solidFill>
                        <a:srgbClr val="95B3D7"/>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tc>
                  <a:txBody>
                    <a:bodyPr/>
                    <a:lstStyle/>
                    <a:p>
                      <a:pPr marL="0" marR="0" lvl="0" indent="0" algn="l" rtl="0">
                        <a:spcBef>
                          <a:spcPts val="0"/>
                        </a:spcBef>
                        <a:spcAft>
                          <a:spcPts val="0"/>
                        </a:spcAft>
                        <a:buClr>
                          <a:srgbClr val="FFFFFF"/>
                        </a:buClr>
                        <a:buSzPts val="900"/>
                        <a:buFont typeface="Calibri"/>
                        <a:buNone/>
                      </a:pPr>
                      <a:r>
                        <a:rPr lang="es-CL" sz="900" b="1" i="0" u="none" strike="noStrike" cap="none">
                          <a:solidFill>
                            <a:srgbClr val="FFFFFF"/>
                          </a:solidFill>
                          <a:latin typeface="Calibri"/>
                          <a:ea typeface="Calibri"/>
                          <a:cs typeface="Calibri"/>
                          <a:sym typeface="Calibri"/>
                        </a:rPr>
                        <a:t>Razon de Perdida</a:t>
                      </a:r>
                      <a:endParaRPr/>
                    </a:p>
                  </a:txBody>
                  <a:tcPr marL="8050" marR="8050" marT="8050" marB="0" anchor="ctr">
                    <a:lnL w="9525" cap="flat" cmpd="sng">
                      <a:solidFill>
                        <a:srgbClr val="95B3D7"/>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FUNDACIÓN OFTALMOLÓGICA LOS ANDES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12-02-2024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11-02-2026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5.177.375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servicio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Equipos antiguos no invertiran en contrato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CLINICO SAN BORJA-ARRIARAN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26-06-2024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25-06-2026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43.089.900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Licitacion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SAN JOSÉ</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04-05-2023</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03-05-2026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24.065.784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1,90%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E</a:t>
                      </a:r>
                      <a:r>
                        <a:rPr lang="es-CL" sz="900" b="0" i="0" u="none" strike="noStrike" cap="none" dirty="0">
                          <a:solidFill>
                            <a:srgbClr val="000000"/>
                          </a:solidFill>
                          <a:latin typeface="Calibri"/>
                          <a:ea typeface="Calibri"/>
                          <a:cs typeface="Calibri"/>
                          <a:sym typeface="Calibri"/>
                        </a:rPr>
                        <a:t>quipos dados de baja</a:t>
                      </a:r>
                      <a:endParaRPr sz="900" b="0" i="0" u="none" strike="noStrike" cap="none" dirty="0">
                        <a:solidFill>
                          <a:srgbClr val="000000"/>
                        </a:solidFill>
                        <a:latin typeface="Calibri"/>
                        <a:ea typeface="Calibri"/>
                        <a:cs typeface="Calibri"/>
                        <a:sym typeface="Calibri"/>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Equipos dado de baja</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SAN JOSÉ</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09-08-2023</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08-08-2026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6.989.760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E</a:t>
                      </a:r>
                      <a:r>
                        <a:rPr lang="es-CL" sz="900" b="0" i="0" u="none" strike="noStrike" cap="none" dirty="0">
                          <a:solidFill>
                            <a:srgbClr val="000000"/>
                          </a:solidFill>
                          <a:latin typeface="Calibri"/>
                          <a:ea typeface="Calibri"/>
                          <a:cs typeface="Calibri"/>
                          <a:sym typeface="Calibri"/>
                        </a:rPr>
                        <a:t>n proceso nuevo contrato</a:t>
                      </a:r>
                      <a:endParaRPr sz="900" b="0" i="0" u="none" strike="noStrike" cap="none" dirty="0">
                        <a:solidFill>
                          <a:srgbClr val="000000"/>
                        </a:solidFill>
                        <a:latin typeface="Calibri"/>
                        <a:ea typeface="Calibri"/>
                        <a:cs typeface="Calibri"/>
                        <a:sym typeface="Calibri"/>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I.MUNICIPALIDAD DE LA UNION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24-02-2025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23-02-2026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3.308.250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En negociación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Los Alamos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18-02-2025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17-02-2026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8.939.285</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0,70%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Proceso contrato por trato directo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LUIS CALVO MACKENNA</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18-01-2024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7.296.300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0,60%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Adjudicado 24 meses</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COMPLEJO ASISTENCIAL DR SOTERO DEL RIO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23-01-2026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22-07-2026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39.022.480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3,00%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N</a:t>
                      </a:r>
                      <a:r>
                        <a:rPr lang="es-CL" sz="900" b="0" i="0" u="none" strike="noStrike" cap="none" dirty="0" err="1">
                          <a:solidFill>
                            <a:srgbClr val="000000"/>
                          </a:solidFill>
                          <a:latin typeface="Calibri"/>
                          <a:ea typeface="Calibri"/>
                          <a:cs typeface="Calibri"/>
                          <a:sym typeface="Calibri"/>
                        </a:rPr>
                        <a:t>uevo</a:t>
                      </a:r>
                      <a:r>
                        <a:rPr lang="es-CL" sz="900" b="0" i="0" u="none" strike="noStrike" cap="none" dirty="0">
                          <a:solidFill>
                            <a:srgbClr val="000000"/>
                          </a:solidFill>
                          <a:latin typeface="Calibri"/>
                          <a:ea typeface="Calibri"/>
                          <a:cs typeface="Calibri"/>
                          <a:sym typeface="Calibri"/>
                        </a:rPr>
                        <a:t> contrato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Eglys Ramirez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HOSPITAL METROPOLITANO DE SANTIAGO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19-03-2024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18-03-2026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6.646.990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0,50%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dirty="0">
                          <a:solidFill>
                            <a:srgbClr val="000000"/>
                          </a:solidFill>
                          <a:latin typeface="Calibri"/>
                          <a:ea typeface="Calibri"/>
                          <a:cs typeface="Calibri"/>
                          <a:sym typeface="Calibri"/>
                        </a:rPr>
                        <a:t>Equipo ya no comercializado mamógrafo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INSTITUTO NACIONAL DEL CANCER</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07-06-2024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06-06-2026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2.669.508</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0,20%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ES" sz="900" b="0" i="0" u="none" strike="noStrike" cap="none" dirty="0">
                          <a:solidFill>
                            <a:srgbClr val="000000"/>
                          </a:solidFill>
                          <a:latin typeface="Calibri"/>
                          <a:ea typeface="Calibri"/>
                          <a:cs typeface="Calibri"/>
                          <a:sym typeface="Calibri"/>
                        </a:rPr>
                        <a:t>A</a:t>
                      </a:r>
                      <a:r>
                        <a:rPr lang="es-CL" sz="900" b="0" i="0" u="none" strike="noStrike" cap="none" dirty="0" err="1">
                          <a:solidFill>
                            <a:srgbClr val="000000"/>
                          </a:solidFill>
                          <a:latin typeface="Calibri"/>
                          <a:ea typeface="Calibri"/>
                          <a:cs typeface="Calibri"/>
                          <a:sym typeface="Calibri"/>
                        </a:rPr>
                        <a:t>djudicado</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Cristian Perez</a:t>
                      </a:r>
                      <a:endParaRPr sz="900" b="0" i="0" u="none" strike="noStrike" cap="none">
                        <a:solidFill>
                          <a:srgbClr val="000000"/>
                        </a:solidFill>
                        <a:latin typeface="Arial"/>
                        <a:ea typeface="Arial"/>
                        <a:cs typeface="Arial"/>
                        <a:sym typeface="Arial"/>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I. Municipalidad de Parral - Dpto Salud</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17-01-2024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16-01-2026</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5.682.924</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0,40%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sin servicio</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No hay respuesta de cliente, nos deben</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r h="209750">
                <a:tc>
                  <a:txBody>
                    <a:bodyPr/>
                    <a:lstStyle/>
                    <a:p>
                      <a:pPr marL="0" marR="0" lvl="0" indent="0" algn="l" rtl="0">
                        <a:spcBef>
                          <a:spcPts val="0"/>
                        </a:spcBef>
                        <a:spcAft>
                          <a:spcPts val="0"/>
                        </a:spcAft>
                        <a:buClr>
                          <a:srgbClr val="000000"/>
                        </a:buClr>
                        <a:buSzPts val="900"/>
                        <a:buFont typeface="Arial"/>
                        <a:buNone/>
                      </a:pPr>
                      <a:r>
                        <a:rPr lang="es-CL" sz="900" b="0" i="0" u="none" strike="noStrike" cap="none">
                          <a:solidFill>
                            <a:srgbClr val="000000"/>
                          </a:solidFill>
                          <a:latin typeface="Arial"/>
                          <a:ea typeface="Arial"/>
                          <a:cs typeface="Arial"/>
                          <a:sym typeface="Arial"/>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Total</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186.918.320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13,0%</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Calibri"/>
                        <a:buNone/>
                      </a:pPr>
                      <a:r>
                        <a:rPr lang="es-CL" sz="900" b="0" i="0" u="none" strike="noStrike" cap="none">
                          <a:solidFill>
                            <a:srgbClr val="000000"/>
                          </a:solidFill>
                          <a:latin typeface="Calibri"/>
                          <a:ea typeface="Calibri"/>
                          <a:cs typeface="Calibri"/>
                          <a:sym typeface="Calibri"/>
                        </a:rPr>
                        <a:t> </a:t>
                      </a:r>
                      <a:endParaRPr/>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900"/>
                        <a:buFont typeface="Arial"/>
                        <a:buNone/>
                      </a:pPr>
                      <a:r>
                        <a:rPr lang="es-CL" sz="900" b="0" i="0" u="none" strike="noStrike" cap="none" dirty="0">
                          <a:solidFill>
                            <a:srgbClr val="000000"/>
                          </a:solidFill>
                          <a:latin typeface="Arial"/>
                          <a:ea typeface="Arial"/>
                          <a:cs typeface="Arial"/>
                          <a:sym typeface="Arial"/>
                        </a:rPr>
                        <a:t> </a:t>
                      </a:r>
                      <a:endParaRPr dirty="0"/>
                    </a:p>
                  </a:txBody>
                  <a:tcPr marL="8050" marR="8050" marT="80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2"/>
                  </a:ext>
                </a:extLst>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C2B3377A-F1E3-BD86-BD28-3CD3D01C9A4A}"/>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928DD958-9C70-B581-F2BD-9B6F02BB014B}"/>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B1F28129-34B4-631C-9A7B-14C3F146D54E}"/>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71E54197-7BE9-3C24-457D-538306EC50C5}"/>
              </a:ext>
            </a:extLst>
          </p:cNvPr>
          <p:cNvSpPr/>
          <p:nvPr/>
        </p:nvSpPr>
        <p:spPr>
          <a:xfrm>
            <a:off x="393700" y="385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3156365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Encuesta de Satisfacción</a:t>
            </a:r>
            <a:endParaRPr sz="2700" b="0" i="0" u="none" strike="noStrike" cap="none">
              <a:solidFill>
                <a:srgbClr val="FFFFFF"/>
              </a:solidFill>
              <a:latin typeface="Roboto"/>
              <a:ea typeface="Roboto"/>
              <a:cs typeface="Roboto"/>
              <a:sym typeface="Roboto"/>
            </a:endParaRPr>
          </a:p>
        </p:txBody>
      </p:sp>
      <p:pic>
        <p:nvPicPr>
          <p:cNvPr id="3" name="Imagen 2">
            <a:extLst>
              <a:ext uri="{FF2B5EF4-FFF2-40B4-BE49-F238E27FC236}">
                <a16:creationId xmlns:a16="http://schemas.microsoft.com/office/drawing/2014/main" id="{FC7D452D-A713-53B2-F7E1-7098519A59F2}"/>
              </a:ext>
            </a:extLst>
          </p:cNvPr>
          <p:cNvPicPr>
            <a:picLocks noChangeAspect="1"/>
          </p:cNvPicPr>
          <p:nvPr/>
        </p:nvPicPr>
        <p:blipFill>
          <a:blip r:embed="rId3"/>
          <a:srcRect t="4807"/>
          <a:stretch>
            <a:fillRect/>
          </a:stretch>
        </p:blipFill>
        <p:spPr>
          <a:xfrm>
            <a:off x="1011000" y="873817"/>
            <a:ext cx="9117740" cy="5984183"/>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10"/>
        <p:cNvGrpSpPr/>
        <p:nvPr/>
      </p:nvGrpSpPr>
      <p:grpSpPr>
        <a:xfrm>
          <a:off x="0" y="0"/>
          <a:ext cx="0" cy="0"/>
          <a:chOff x="0" y="0"/>
          <a:chExt cx="0" cy="0"/>
        </a:xfrm>
      </p:grpSpPr>
      <p:sp>
        <p:nvSpPr>
          <p:cNvPr id="411" name="Google Shape;411;p2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a:solidFill>
                  <a:srgbClr val="33448D"/>
                </a:solidFill>
                <a:latin typeface="Roboto"/>
                <a:ea typeface="Roboto"/>
                <a:cs typeface="Roboto"/>
                <a:sym typeface="Roboto"/>
              </a:rPr>
              <a:t>Encuesta de Satisfacción - Detractores</a:t>
            </a:r>
            <a:endParaRPr sz="2700" b="0" i="0" u="none" strike="noStrike" cap="none">
              <a:solidFill>
                <a:srgbClr val="FFFFFF"/>
              </a:solidFill>
              <a:latin typeface="Roboto"/>
              <a:ea typeface="Roboto"/>
              <a:cs typeface="Roboto"/>
              <a:sym typeface="Roboto"/>
            </a:endParaRPr>
          </a:p>
        </p:txBody>
      </p:sp>
      <p:graphicFrame>
        <p:nvGraphicFramePr>
          <p:cNvPr id="412" name="Google Shape;412;p29"/>
          <p:cNvGraphicFramePr/>
          <p:nvPr>
            <p:extLst>
              <p:ext uri="{D42A27DB-BD31-4B8C-83A1-F6EECF244321}">
                <p14:modId xmlns:p14="http://schemas.microsoft.com/office/powerpoint/2010/main" val="2346963675"/>
              </p:ext>
            </p:extLst>
          </p:nvPr>
        </p:nvGraphicFramePr>
        <p:xfrm>
          <a:off x="462700" y="864000"/>
          <a:ext cx="11361000" cy="5463841"/>
        </p:xfrm>
        <a:graphic>
          <a:graphicData uri="http://schemas.openxmlformats.org/drawingml/2006/table">
            <a:tbl>
              <a:tblPr>
                <a:noFill/>
                <a:tableStyleId>{13D43741-7D58-4360-86AC-F6E32FA5FF39}</a:tableStyleId>
              </a:tblPr>
              <a:tblGrid>
                <a:gridCol w="1982454">
                  <a:extLst>
                    <a:ext uri="{9D8B030D-6E8A-4147-A177-3AD203B41FA5}">
                      <a16:colId xmlns:a16="http://schemas.microsoft.com/office/drawing/2014/main" val="20000"/>
                    </a:ext>
                  </a:extLst>
                </a:gridCol>
                <a:gridCol w="1811032">
                  <a:extLst>
                    <a:ext uri="{9D8B030D-6E8A-4147-A177-3AD203B41FA5}">
                      <a16:colId xmlns:a16="http://schemas.microsoft.com/office/drawing/2014/main" val="20001"/>
                    </a:ext>
                  </a:extLst>
                </a:gridCol>
                <a:gridCol w="3120788">
                  <a:extLst>
                    <a:ext uri="{9D8B030D-6E8A-4147-A177-3AD203B41FA5}">
                      <a16:colId xmlns:a16="http://schemas.microsoft.com/office/drawing/2014/main" val="20002"/>
                    </a:ext>
                  </a:extLst>
                </a:gridCol>
                <a:gridCol w="1051041">
                  <a:extLst>
                    <a:ext uri="{9D8B030D-6E8A-4147-A177-3AD203B41FA5}">
                      <a16:colId xmlns:a16="http://schemas.microsoft.com/office/drawing/2014/main" val="20003"/>
                    </a:ext>
                  </a:extLst>
                </a:gridCol>
                <a:gridCol w="3395685">
                  <a:extLst>
                    <a:ext uri="{9D8B030D-6E8A-4147-A177-3AD203B41FA5}">
                      <a16:colId xmlns:a16="http://schemas.microsoft.com/office/drawing/2014/main" val="20004"/>
                    </a:ext>
                  </a:extLst>
                </a:gridCol>
              </a:tblGrid>
              <a:tr h="279037">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Cliente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Responsable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Plan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a:solidFill>
                            <a:schemeClr val="dk1"/>
                          </a:solidFill>
                          <a:latin typeface="Arial"/>
                          <a:ea typeface="Arial"/>
                          <a:cs typeface="Arial"/>
                          <a:sym typeface="Arial"/>
                        </a:rPr>
                        <a:t>Fecha de Implementación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Clr>
                          <a:schemeClr val="dk1"/>
                        </a:buClr>
                        <a:buSzPts val="1000"/>
                        <a:buFont typeface="Arial"/>
                        <a:buNone/>
                      </a:pPr>
                      <a:r>
                        <a:rPr lang="es-CL" sz="900" b="1" i="0" u="none" strike="noStrike" cap="none" dirty="0">
                          <a:solidFill>
                            <a:schemeClr val="dk1"/>
                          </a:solidFill>
                          <a:latin typeface="Arial"/>
                          <a:ea typeface="Arial"/>
                          <a:cs typeface="Arial"/>
                          <a:sym typeface="Arial"/>
                        </a:rPr>
                        <a:t>|</a:t>
                      </a:r>
                      <a:endParaRPr sz="1200" dirty="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58879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DE LLANQUIHUE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PROGRAMA VISITA PARA REVISAR SELLADORA Y REALIZAR CAPACITACIÓN, QUEDANDO EL EQUIPO OPERATIVO Y PERSONAL CAPACITADO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19-02-2026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EL EQUIPO ESTÁ SELLANDO DE FORMA INTERMITENTE Y PRESENTA UN SONIDO AGUDO, ADEMÁS SOLICITA CAPACITACIÓN ONLINE CON ALGUNO DE LOS INGENIEROS DE SERVICIO + APOYO EN CONFIGURACIÓN DE SELLADORA MELASEAL 300.</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2302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CLINICA DAVILA VESPUCIO3 resp.</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Patricia Guzmán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CONSEGUIR REPUESTO E INFORMAR AL CLIENTE QUE YA NO SOMOS REPRESENTANTES DE LA MARCA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14-01-2026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SOLICITAN ENVÍO DE REPUESTO DE OC QUE NO ENVIARON A ST, HASTA ESE MOMENTO 2 MESES DESPUÉS, EL REPUESTO ERA DE MARCA DABI ATLANTE Y NOS COSTÓ CONSEGUIERLO YA QUE NO SOMOS REPRESENTANTES ACTUALES, LO CONSEGUIMOS Y LES RESOLVIMOS EL INCONVENIENTE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SAN CAMILO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REVISIÓN EN TALLER DE ST/EVALUAR CON FÁBRICA SOLUCIÓN/CAMBIO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31-08-2026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CON FALLA RECURRENTE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12032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ACHS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BASE SAN JOSE OSORNO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dirty="0" err="1">
                          <a:solidFill>
                            <a:srgbClr val="000000"/>
                          </a:solidFill>
                          <a:latin typeface="Arial"/>
                          <a:ea typeface="Arial"/>
                          <a:cs typeface="Arial"/>
                          <a:sym typeface="Arial"/>
                        </a:rPr>
                        <a:t>Maria</a:t>
                      </a:r>
                      <a:r>
                        <a:rPr lang="es-CL" sz="900" b="0" i="0" u="none" strike="noStrike" cap="none" dirty="0">
                          <a:solidFill>
                            <a:srgbClr val="000000"/>
                          </a:solidFill>
                          <a:latin typeface="Arial"/>
                          <a:ea typeface="Arial"/>
                          <a:cs typeface="Arial"/>
                          <a:sym typeface="Arial"/>
                        </a:rPr>
                        <a:t> de Los </a:t>
                      </a:r>
                      <a:r>
                        <a:rPr lang="es-CL" sz="900" b="0" i="0" u="none" strike="noStrike" cap="none" dirty="0" err="1">
                          <a:solidFill>
                            <a:srgbClr val="000000"/>
                          </a:solidFill>
                          <a:latin typeface="Arial"/>
                          <a:ea typeface="Arial"/>
                          <a:cs typeface="Arial"/>
                          <a:sym typeface="Arial"/>
                        </a:rPr>
                        <a:t>Angeles</a:t>
                      </a:r>
                      <a:r>
                        <a:rPr lang="es-CL" sz="900" b="0" i="0" u="none" strike="noStrike" cap="none" dirty="0">
                          <a:solidFill>
                            <a:srgbClr val="000000"/>
                          </a:solidFill>
                          <a:latin typeface="Arial"/>
                          <a:ea typeface="Arial"/>
                          <a:cs typeface="Arial"/>
                          <a:sym typeface="Arial"/>
                        </a:rPr>
                        <a:t> Colina</a:t>
                      </a:r>
                      <a:endParaRPr sz="1200" dirty="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UNA VEZ LELGUE EL REPUESTO QUE SE SOLICITÓ DE MANERA PRIORITARIA, ASISTIR A REPARAR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15-09-2026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DE SEDILE DETENIDO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47167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SCMS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Elizabeth Gálvez</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ASISTIMOS AL CLIENTE PARA REVISAR ANTECEDENTES, ESPERAMOS LA RESOLUCIÓN DE LA INVESTIGACIÓN, PARA EVALUAR ACCIONES</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SINIESTRADO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ISM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LLAMÓ POR TELÉFONO DÓNDE INDICÓ QUE NO SABÍA A QUÉ CORRESPONDÍA LA ENCUENTA Y SE EQUIVOCÓ AL EVALUAR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16-06-2026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NO SABÍA A QUÉ CORRESPONDÍA, SE EQUIVOCÓ</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COOPORACION MUNICIPAL DE LAMPA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No hay casos asociados a ese cliente en sistema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 </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54558">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CARLOS VAN BUREN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UNA VEZ LELGUE EL REPUESTO QUE SE SOLICITÓ DE MANERA PRIORITARIA, ASISTIR A REPARAR</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15-09-2026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DE SEDILE DETENIDO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37442">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CLINICA DERMATOLOGICA DRA DIANA YANINE</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Matilde Carrillo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SOLICITÓ CELERIDAD EN ENVÍO DE FACTURA A CLIENTE Y YA LA RECIBIÓ</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14-01-2026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MOLESTIA POR LA DEMORA EN ENVÍO DE FACTURA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471675">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HOSPITAL DE PUERTO AYSEN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Maria de Los Angeles Colina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SOLICITARON PROGRAMAS A FÁBRICA PARA VOLVER A CARGARLOS EN EL EQUIPO Y PODER DIAGNÓSTICAR, YA LLEGARON, SE REALIZARÁ LA ACCIÓN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01-09-2026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EQUIPO CON FALLA RECURRENTE, SE ENVIÓ A ST PARA REVISIÓN</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1"/>
                  </a:ext>
                </a:extLst>
              </a:tr>
              <a:tr h="354558">
                <a:tc>
                  <a:txBody>
                    <a:bodyPr/>
                    <a:lstStyle/>
                    <a:p>
                      <a:pPr marL="0" marR="0" lvl="0" indent="0" algn="l" rtl="0">
                        <a:lnSpc>
                          <a:spcPct val="100000"/>
                        </a:lnSpc>
                        <a:spcBef>
                          <a:spcPts val="0"/>
                        </a:spcBef>
                        <a:spcAft>
                          <a:spcPts val="0"/>
                        </a:spcAft>
                        <a:buClr>
                          <a:srgbClr val="000000"/>
                        </a:buClr>
                        <a:buSzPts val="1000"/>
                        <a:buFont typeface="Arial"/>
                        <a:buNone/>
                      </a:pPr>
                      <a:r>
                        <a:rPr lang="es-CL" sz="900" b="0" i="0" u="none" strike="noStrike" cap="none" spc="0" dirty="0">
                          <a:solidFill>
                            <a:srgbClr val="000000"/>
                          </a:solidFill>
                          <a:latin typeface="Arial"/>
                          <a:ea typeface="Arial"/>
                          <a:cs typeface="Arial"/>
                          <a:sym typeface="Arial"/>
                        </a:rPr>
                        <a:t>HOSPITAL CLINICO SANBORJA</a:t>
                      </a:r>
                      <a:endParaRPr sz="900" b="0" i="0" u="none" strike="noStrike" cap="none" spc="0" dirty="0">
                        <a:solidFill>
                          <a:srgbClr val="000000"/>
                        </a:solidFill>
                        <a:latin typeface="Arial"/>
                        <a:cs typeface="Arial"/>
                        <a:sym typeface="Arial"/>
                      </a:endParaRPr>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Cynthia Alvarado</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SE OFRECIÓ AL CLIENTE VISITA DE DIAGNÓSTICO DE NUESTRO ST, ESPERAMOS RESPUESTA</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r>
                        <a:rPr lang="es-CL" sz="900" b="0" i="0" u="none" strike="noStrike" cap="none">
                          <a:solidFill>
                            <a:srgbClr val="000000"/>
                          </a:solidFill>
                          <a:latin typeface="Arial"/>
                          <a:ea typeface="Arial"/>
                          <a:cs typeface="Arial"/>
                          <a:sym typeface="Arial"/>
                        </a:rPr>
                        <a:t>18-08-2026</a:t>
                      </a:r>
                      <a:endParaRPr sz="120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r>
                        <a:rPr lang="es-CL" sz="900" b="0" i="0" u="none" strike="noStrike" cap="none" dirty="0">
                          <a:solidFill>
                            <a:srgbClr val="000000"/>
                          </a:solidFill>
                          <a:latin typeface="Arial"/>
                          <a:ea typeface="Arial"/>
                          <a:cs typeface="Arial"/>
                          <a:sym typeface="Arial"/>
                        </a:rPr>
                        <a:t>EQUIPO CON FALLA DIAGNÓSTICADO POR ST EXTERNO, QUERÍAN COMPRARNOS SOLO EL REPUESTO </a:t>
                      </a:r>
                      <a:endParaRPr sz="1200" dirty="0"/>
                    </a:p>
                  </a:txBody>
                  <a:tcPr marL="4175" marR="4175" marT="41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12"/>
                  </a:ext>
                </a:extLst>
              </a:tr>
              <a:tr h="0">
                <a:tc>
                  <a:txBody>
                    <a:bodyPr/>
                    <a:lstStyle/>
                    <a:p>
                      <a:pPr marL="0" marR="0" lvl="0" indent="0" algn="l" rtl="0" fontAlgn="b">
                        <a:lnSpc>
                          <a:spcPct val="100000"/>
                        </a:lnSpc>
                        <a:spcBef>
                          <a:spcPts val="0"/>
                        </a:spcBef>
                        <a:spcAft>
                          <a:spcPts val="0"/>
                        </a:spcAft>
                        <a:buClr>
                          <a:srgbClr val="000000"/>
                        </a:buClr>
                        <a:buSzPts val="1000"/>
                        <a:buFont typeface="Arial"/>
                        <a:buNone/>
                      </a:pPr>
                      <a:r>
                        <a:rPr lang="es-CL" sz="900" b="0" i="0" u="none" strike="noStrike" cap="none" spc="0" dirty="0">
                          <a:solidFill>
                            <a:srgbClr val="000000"/>
                          </a:solidFill>
                          <a:latin typeface="Arial"/>
                          <a:cs typeface="Arial"/>
                          <a:sym typeface="Arial"/>
                        </a:rPr>
                        <a:t>HUAP</a:t>
                      </a:r>
                    </a:p>
                  </a:txBody>
                  <a:tcPr marL="0" marR="0" marT="0" marB="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endParaRPr sz="1200" dirty="0"/>
                    </a:p>
                  </a:txBody>
                  <a:tcPr marL="4175" marR="4175" marT="4175"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rgbClr val="000000"/>
                        </a:buClr>
                        <a:buSzPts val="1000"/>
                        <a:buFont typeface="Arial"/>
                        <a:buNone/>
                      </a:pPr>
                      <a:endParaRPr sz="1200" dirty="0"/>
                    </a:p>
                  </a:txBody>
                  <a:tcPr marL="4175" marR="4175" marT="4175"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Clr>
                          <a:srgbClr val="000000"/>
                        </a:buClr>
                        <a:buSzPts val="1000"/>
                        <a:buFont typeface="Arial"/>
                        <a:buNone/>
                      </a:pPr>
                      <a:endParaRPr sz="1200" dirty="0"/>
                    </a:p>
                  </a:txBody>
                  <a:tcPr marL="4175" marR="4175" marT="4175" marB="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000"/>
                        <a:buFont typeface="Arial"/>
                        <a:buNone/>
                      </a:pPr>
                      <a:r>
                        <a:rPr lang="es-MX" sz="900" b="0" i="0" u="none" strike="noStrike" cap="none" spc="0" dirty="0">
                          <a:solidFill>
                            <a:srgbClr val="000000"/>
                          </a:solidFill>
                          <a:latin typeface="Arial"/>
                          <a:cs typeface="Arial"/>
                          <a:sym typeface="Arial"/>
                        </a:rPr>
                        <a:t>MALA CALIDAD DE REPUESTOS TUERCA OXIDADA</a:t>
                      </a:r>
                      <a:endParaRPr sz="900" b="0" i="0" u="none" strike="noStrike" cap="none" spc="0" dirty="0">
                        <a:solidFill>
                          <a:srgbClr val="000000"/>
                        </a:solidFill>
                        <a:latin typeface="Arial"/>
                        <a:cs typeface="Arial"/>
                        <a:sym typeface="Arial"/>
                      </a:endParaRPr>
                    </a:p>
                  </a:txBody>
                  <a:tcPr marL="4175" marR="4175" marT="4175" marB="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2580793107"/>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F8A83204-05A4-9AC5-9834-FD93596707AE}"/>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CB981F3E-0BF2-05B0-9010-AB322118C5C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851655F4-2750-DF60-2227-6D8C87BF9AAC}"/>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78087892-0016-BCD8-33E0-B43F4E9723E6}"/>
              </a:ext>
            </a:extLst>
          </p:cNvPr>
          <p:cNvSpPr/>
          <p:nvPr/>
        </p:nvSpPr>
        <p:spPr>
          <a:xfrm>
            <a:off x="393700" y="4393834"/>
            <a:ext cx="11312345" cy="520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16048318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3"/>
        <p:cNvGrpSpPr/>
        <p:nvPr/>
      </p:nvGrpSpPr>
      <p:grpSpPr>
        <a:xfrm>
          <a:off x="0" y="0"/>
          <a:ext cx="0" cy="0"/>
          <a:chOff x="0" y="0"/>
          <a:chExt cx="0" cy="0"/>
        </a:xfrm>
      </p:grpSpPr>
      <p:sp>
        <p:nvSpPr>
          <p:cNvPr id="424" name="Google Shape;424;p3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Prospectos Clientes Según Renovación Base Instalada</a:t>
            </a:r>
            <a:endParaRPr/>
          </a:p>
        </p:txBody>
      </p:sp>
      <p:sp>
        <p:nvSpPr>
          <p:cNvPr id="425" name="Google Shape;425;p31"/>
          <p:cNvSpPr/>
          <p:nvPr/>
        </p:nvSpPr>
        <p:spPr>
          <a:xfrm>
            <a:off x="204679" y="4178333"/>
            <a:ext cx="11785759" cy="2536791"/>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Actualmente, existen 12.557 equipos instalados en 1.512 clientes, con una valorización de MM$35.540,5 para 2.129 equipos valorizados.</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714 equipos ya cumplieron su vida útil, representando un valor a renovar de MM$3.433,0.</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Entre 2026 y 2033, se identifican 3.596 equipos que cumplen su vida útil, con un valor potencial de renovación de MM$16.207,1.</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2026 concentra 162 equipos, equivalentes a MM$840,6 de potencial de renovación.</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El mayor volumen de renovación se concentra entre 2027 y 2029, con 2.803 equipos y MM$5.431,3 de valor potencial.</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Dental concentra el mayor número de equipos con vencimiento, con 1.178 equipos y MM$3.112,2, seguido por Esterilización con 832 equipos y MM$13.406,0.</a:t>
            </a:r>
          </a:p>
          <a:p>
            <a:pPr marL="171450" marR="0" lvl="0" indent="-171450" algn="l" rtl="0">
              <a:spcBef>
                <a:spcPts val="0"/>
              </a:spcBef>
              <a:spcAft>
                <a:spcPts val="0"/>
              </a:spcAft>
              <a:buClr>
                <a:schemeClr val="lt1"/>
              </a:buClr>
              <a:buSzPts val="1200"/>
              <a:buFont typeface="Arial"/>
              <a:buChar char="•"/>
            </a:pPr>
            <a:endParaRPr lang="es-MX"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MX" sz="1200" dirty="0">
                <a:solidFill>
                  <a:schemeClr val="lt1"/>
                </a:solidFill>
                <a:latin typeface="Arial"/>
                <a:ea typeface="Arial"/>
                <a:cs typeface="Arial"/>
                <a:sym typeface="Arial"/>
              </a:rPr>
              <a:t>La distribución de vencimientos permite construir un pipeline de renovación de largo plazo, priorizando inicialmente los 714 equipos que ya cumplieron su vida útil.</a:t>
            </a:r>
          </a:p>
        </p:txBody>
      </p:sp>
      <p:pic>
        <p:nvPicPr>
          <p:cNvPr id="3" name="Imagen 2">
            <a:extLst>
              <a:ext uri="{FF2B5EF4-FFF2-40B4-BE49-F238E27FC236}">
                <a16:creationId xmlns:a16="http://schemas.microsoft.com/office/drawing/2014/main" id="{B39ABC56-07DE-DB27-A206-C1BF5647A5BD}"/>
              </a:ext>
            </a:extLst>
          </p:cNvPr>
          <p:cNvPicPr>
            <a:picLocks noChangeAspect="1"/>
          </p:cNvPicPr>
          <p:nvPr/>
        </p:nvPicPr>
        <p:blipFill>
          <a:blip r:embed="rId3"/>
          <a:srcRect t="11525" b="12209"/>
          <a:stretch>
            <a:fillRect/>
          </a:stretch>
        </p:blipFill>
        <p:spPr>
          <a:xfrm>
            <a:off x="12700" y="2100572"/>
            <a:ext cx="12192000" cy="2077247"/>
          </a:xfrm>
          <a:prstGeom prst="rect">
            <a:avLst/>
          </a:prstGeom>
        </p:spPr>
      </p:pic>
      <p:pic>
        <p:nvPicPr>
          <p:cNvPr id="5" name="Imagen 4">
            <a:extLst>
              <a:ext uri="{FF2B5EF4-FFF2-40B4-BE49-F238E27FC236}">
                <a16:creationId xmlns:a16="http://schemas.microsoft.com/office/drawing/2014/main" id="{904086B7-4B6D-0CC8-351C-C0EAE16E352B}"/>
              </a:ext>
            </a:extLst>
          </p:cNvPr>
          <p:cNvPicPr>
            <a:picLocks noChangeAspect="1"/>
          </p:cNvPicPr>
          <p:nvPr/>
        </p:nvPicPr>
        <p:blipFill>
          <a:blip r:embed="rId4"/>
          <a:srcRect t="15345" b="13611"/>
          <a:stretch>
            <a:fillRect/>
          </a:stretch>
        </p:blipFill>
        <p:spPr>
          <a:xfrm>
            <a:off x="0" y="2242819"/>
            <a:ext cx="12192000" cy="1935000"/>
          </a:xfrm>
          <a:prstGeom prst="rect">
            <a:avLst/>
          </a:prstGeom>
        </p:spPr>
      </p:pic>
      <p:pic>
        <p:nvPicPr>
          <p:cNvPr id="7" name="Imagen 6">
            <a:extLst>
              <a:ext uri="{FF2B5EF4-FFF2-40B4-BE49-F238E27FC236}">
                <a16:creationId xmlns:a16="http://schemas.microsoft.com/office/drawing/2014/main" id="{2AD860C0-7759-A173-05D7-B9540D98FB8A}"/>
              </a:ext>
            </a:extLst>
          </p:cNvPr>
          <p:cNvPicPr>
            <a:picLocks noChangeAspect="1"/>
          </p:cNvPicPr>
          <p:nvPr/>
        </p:nvPicPr>
        <p:blipFill>
          <a:blip r:embed="rId5"/>
          <a:srcRect t="26462" b="10773"/>
          <a:stretch>
            <a:fillRect/>
          </a:stretch>
        </p:blipFill>
        <p:spPr>
          <a:xfrm>
            <a:off x="12700" y="980638"/>
            <a:ext cx="12192000" cy="119105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1"/>
        <p:cNvGrpSpPr/>
        <p:nvPr/>
      </p:nvGrpSpPr>
      <p:grpSpPr>
        <a:xfrm>
          <a:off x="0" y="0"/>
          <a:ext cx="0" cy="0"/>
          <a:chOff x="0" y="0"/>
          <a:chExt cx="0" cy="0"/>
        </a:xfrm>
      </p:grpSpPr>
      <p:sp>
        <p:nvSpPr>
          <p:cNvPr id="432" name="Google Shape;432;p3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Base Instalada a Renovar por Región </a:t>
            </a:r>
            <a:endParaRPr/>
          </a:p>
        </p:txBody>
      </p:sp>
      <p:pic>
        <p:nvPicPr>
          <p:cNvPr id="3" name="Imagen 2">
            <a:extLst>
              <a:ext uri="{FF2B5EF4-FFF2-40B4-BE49-F238E27FC236}">
                <a16:creationId xmlns:a16="http://schemas.microsoft.com/office/drawing/2014/main" id="{04279BDF-B73B-535C-C302-DA6FA57B38D5}"/>
              </a:ext>
            </a:extLst>
          </p:cNvPr>
          <p:cNvPicPr>
            <a:picLocks noChangeAspect="1"/>
          </p:cNvPicPr>
          <p:nvPr/>
        </p:nvPicPr>
        <p:blipFill>
          <a:blip r:embed="rId3"/>
          <a:stretch>
            <a:fillRect/>
          </a:stretch>
        </p:blipFill>
        <p:spPr>
          <a:xfrm>
            <a:off x="12700" y="854592"/>
            <a:ext cx="12192000" cy="5820697"/>
          </a:xfrm>
          <a:prstGeom prst="rect">
            <a:avLst/>
          </a:prstGeom>
        </p:spPr>
      </p:pic>
      <p:pic>
        <p:nvPicPr>
          <p:cNvPr id="4" name="Imagen 3">
            <a:extLst>
              <a:ext uri="{FF2B5EF4-FFF2-40B4-BE49-F238E27FC236}">
                <a16:creationId xmlns:a16="http://schemas.microsoft.com/office/drawing/2014/main" id="{6BE6060C-B9A7-838F-D25F-FB2C56719822}"/>
              </a:ext>
            </a:extLst>
          </p:cNvPr>
          <p:cNvPicPr>
            <a:picLocks noChangeAspect="1"/>
          </p:cNvPicPr>
          <p:nvPr/>
        </p:nvPicPr>
        <p:blipFill>
          <a:blip r:embed="rId4"/>
          <a:stretch>
            <a:fillRect/>
          </a:stretch>
        </p:blipFill>
        <p:spPr>
          <a:xfrm>
            <a:off x="31299" y="854592"/>
            <a:ext cx="12191999" cy="5820697"/>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Base Instalada a Renovar por Región </a:t>
            </a:r>
            <a:endParaRPr/>
          </a:p>
        </p:txBody>
      </p:sp>
      <p:pic>
        <p:nvPicPr>
          <p:cNvPr id="4" name="Imagen 3">
            <a:extLst>
              <a:ext uri="{FF2B5EF4-FFF2-40B4-BE49-F238E27FC236}">
                <a16:creationId xmlns:a16="http://schemas.microsoft.com/office/drawing/2014/main" id="{A4627D4D-2FE0-9697-027A-45599702A7BC}"/>
              </a:ext>
            </a:extLst>
          </p:cNvPr>
          <p:cNvPicPr>
            <a:picLocks noChangeAspect="1"/>
          </p:cNvPicPr>
          <p:nvPr/>
        </p:nvPicPr>
        <p:blipFill>
          <a:blip r:embed="rId3"/>
          <a:stretch>
            <a:fillRect/>
          </a:stretch>
        </p:blipFill>
        <p:spPr>
          <a:xfrm>
            <a:off x="12700" y="954000"/>
            <a:ext cx="12192000" cy="5332656"/>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4"/>
          <p:cNvSpPr txBox="1">
            <a:spLocks noGrp="1"/>
          </p:cNvSpPr>
          <p:nvPr>
            <p:ph type="subTitle" idx="1"/>
          </p:nvPr>
        </p:nvSpPr>
        <p:spPr>
          <a:xfrm>
            <a:off x="928356" y="5044946"/>
            <a:ext cx="5036084" cy="55399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7F7F7F"/>
              </a:buClr>
              <a:buSzPts val="2000"/>
              <a:buNone/>
            </a:pPr>
            <a:r>
              <a:rPr lang="es-CL" sz="2000" b="1">
                <a:solidFill>
                  <a:srgbClr val="7F7F7F"/>
                </a:solidFill>
              </a:rPr>
              <a:t>Plan por Región</a:t>
            </a:r>
            <a:endParaRPr>
              <a:solidFill>
                <a:srgbClr val="7F7F7F"/>
              </a:solidFill>
            </a:endParaRPr>
          </a:p>
        </p:txBody>
      </p:sp>
      <p:sp>
        <p:nvSpPr>
          <p:cNvPr id="446" name="Google Shape;446;p34"/>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447" name="Google Shape;447;p34"/>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448" name="Google Shape;448;p34"/>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449" name="Google Shape;449;p34"/>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C7E648FE-7095-C4DA-375B-F4513EAB9528}"/>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256A51E9-E4F8-F5C7-9687-34D89875792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33E04E6C-F188-0469-7CDC-E3415D01AB75}"/>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455248BD-7FD4-DA7D-2794-8C06693652F1}"/>
              </a:ext>
            </a:extLst>
          </p:cNvPr>
          <p:cNvSpPr/>
          <p:nvPr/>
        </p:nvSpPr>
        <p:spPr>
          <a:xfrm>
            <a:off x="393700" y="4914000"/>
            <a:ext cx="11312345" cy="205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854303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21CFC961-4229-734E-A151-AB5A74C09787}"/>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7B64377C-D635-CA84-5B16-AC8C76153D63}"/>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de Acción Para Clientes Bío Bio</a:t>
            </a:r>
            <a:endParaRPr dirty="0"/>
          </a:p>
        </p:txBody>
      </p:sp>
      <p:sp>
        <p:nvSpPr>
          <p:cNvPr id="457" name="Google Shape;457;p35">
            <a:extLst>
              <a:ext uri="{FF2B5EF4-FFF2-40B4-BE49-F238E27FC236}">
                <a16:creationId xmlns:a16="http://schemas.microsoft.com/office/drawing/2014/main" id="{656C2264-9CE6-438B-398A-FD3A0351A5E6}"/>
              </a:ext>
            </a:extLst>
          </p:cNvPr>
          <p:cNvSpPr/>
          <p:nvPr/>
        </p:nvSpPr>
        <p:spPr>
          <a:xfrm>
            <a:off x="313658" y="3722176"/>
            <a:ext cx="11502870" cy="233135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Se identifican 7 clientes foco en la Región del Bío </a:t>
            </a:r>
            <a:r>
              <a:rPr lang="es-MX" sz="1000" dirty="0" err="1">
                <a:solidFill>
                  <a:schemeClr val="lt1"/>
                </a:solidFill>
                <a:latin typeface="Arial"/>
                <a:ea typeface="Arial"/>
                <a:cs typeface="Arial"/>
                <a:sym typeface="Arial"/>
              </a:rPr>
              <a:t>Bío</a:t>
            </a:r>
            <a:r>
              <a:rPr lang="es-MX" sz="1000" dirty="0">
                <a:solidFill>
                  <a:schemeClr val="lt1"/>
                </a:solidFill>
                <a:latin typeface="Arial"/>
                <a:ea typeface="Arial"/>
                <a:cs typeface="Arial"/>
                <a:sym typeface="Arial"/>
              </a:rPr>
              <a:t>, con una facturación 2026 acumulada de MM$75,9.</a:t>
            </a:r>
          </a:p>
          <a:p>
            <a:pPr marR="0" lvl="0" algn="l" rtl="0">
              <a:spcBef>
                <a:spcPts val="0"/>
              </a:spcBef>
              <a:spcAft>
                <a:spcPts val="0"/>
              </a:spcAft>
              <a:buClr>
                <a:schemeClr val="lt1"/>
              </a:buClr>
              <a:buSzPts val="1000"/>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Estos clientes presentan un potencial de Servicio Técnico de MM$129,3 anuales, destacando Hospital Víctor Ríos Ruiz, Clínica Sanatorio Alemán y Hospital Guillermo Grant Benavente.</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Hospital Víctor Ríos Ruiz concentra el mayor potencial, con MM$37,9 anuales, seguido por Clínica Sanatorio Alemán (MM$26,6) y Hospital Guillermo Grant Benavente (MM$24,9).</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Las principales oportunidades identificadas se relacionan con renovación de contratos, venta de repuestos y conversión de equipos en garantía a contratos de servicio.</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La región presenta una oportunidad de profundizar la cobertura comercial y técnica, utilizando estos clientes como foco para capturar el potencial de Servicio Técnico.</a:t>
            </a:r>
          </a:p>
          <a:p>
            <a:pPr marL="171450" marR="0" lvl="0" indent="-171450" algn="l" rtl="0">
              <a:spcBef>
                <a:spcPts val="0"/>
              </a:spcBef>
              <a:spcAft>
                <a:spcPts val="0"/>
              </a:spcAft>
              <a:buClr>
                <a:schemeClr val="lt1"/>
              </a:buClr>
              <a:buSzPts val="1000"/>
              <a:buFont typeface="Arial"/>
              <a:buChar char="•"/>
            </a:pPr>
            <a:endParaRPr lang="es-MX"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MX" sz="1000" dirty="0">
                <a:solidFill>
                  <a:schemeClr val="lt1"/>
                </a:solidFill>
                <a:latin typeface="Arial"/>
                <a:ea typeface="Arial"/>
                <a:cs typeface="Arial"/>
                <a:sym typeface="Arial"/>
              </a:rPr>
              <a:t>Con respecto al Plan Sur, en la Región de Los Lagos, Araucanía, Bío </a:t>
            </a:r>
            <a:r>
              <a:rPr lang="es-MX" sz="1000" dirty="0" err="1">
                <a:solidFill>
                  <a:schemeClr val="lt1"/>
                </a:solidFill>
                <a:latin typeface="Arial"/>
                <a:ea typeface="Arial"/>
                <a:cs typeface="Arial"/>
                <a:sym typeface="Arial"/>
              </a:rPr>
              <a:t>Bío</a:t>
            </a:r>
            <a:r>
              <a:rPr lang="es-MX" sz="1000" dirty="0">
                <a:solidFill>
                  <a:schemeClr val="lt1"/>
                </a:solidFill>
                <a:latin typeface="Arial"/>
                <a:ea typeface="Arial"/>
                <a:cs typeface="Arial"/>
                <a:sym typeface="Arial"/>
              </a:rPr>
              <a:t>, Maule y Ñuble durante el año 2025 a Septiembre se tenía una facturación acumulada de MM$210,4 y ahora el año 2026 se tiene una facturación acumulada MM$269,9 (+28,2%), en este ejercicio se descuentan </a:t>
            </a:r>
            <a:r>
              <a:rPr lang="es-MX" sz="1000" dirty="0" err="1">
                <a:solidFill>
                  <a:schemeClr val="lt1"/>
                </a:solidFill>
                <a:latin typeface="Arial"/>
                <a:ea typeface="Arial"/>
                <a:cs typeface="Arial"/>
                <a:sym typeface="Arial"/>
              </a:rPr>
              <a:t>REAS.Los</a:t>
            </a:r>
            <a:r>
              <a:rPr lang="es-MX" sz="1000" dirty="0">
                <a:solidFill>
                  <a:schemeClr val="lt1"/>
                </a:solidFill>
                <a:latin typeface="Arial"/>
                <a:ea typeface="Arial"/>
                <a:cs typeface="Arial"/>
                <a:sym typeface="Arial"/>
              </a:rPr>
              <a:t> valores visibles en la tabla coinciden con los </a:t>
            </a:r>
            <a:r>
              <a:rPr lang="es-MX" sz="1000" dirty="0" err="1">
                <a:solidFill>
                  <a:schemeClr val="lt1"/>
                </a:solidFill>
                <a:latin typeface="Arial"/>
                <a:ea typeface="Arial"/>
                <a:cs typeface="Arial"/>
                <a:sym typeface="Arial"/>
              </a:rPr>
              <a:t>bulletpoints</a:t>
            </a:r>
            <a:r>
              <a:rPr lang="es-MX" sz="1000" dirty="0">
                <a:solidFill>
                  <a:schemeClr val="lt1"/>
                </a:solidFill>
                <a:latin typeface="Arial"/>
                <a:ea typeface="Arial"/>
                <a:cs typeface="Arial"/>
                <a:sym typeface="Arial"/>
              </a:rPr>
              <a:t> existentes, por lo que no requieren actualización. Los montos individuales del tercer punto y las cifras del Plan Sur no se pueden verificar con esta tabla, así que los mantuve sin cambios.</a:t>
            </a:r>
            <a:endParaRPr lang="es-MX" sz="1000" b="1" dirty="0">
              <a:solidFill>
                <a:schemeClr val="lt1"/>
              </a:solidFill>
              <a:latin typeface="Arial"/>
              <a:ea typeface="Arial"/>
              <a:cs typeface="Arial"/>
              <a:sym typeface="Arial"/>
            </a:endParaRPr>
          </a:p>
        </p:txBody>
      </p:sp>
      <p:graphicFrame>
        <p:nvGraphicFramePr>
          <p:cNvPr id="2" name="Tabla 1">
            <a:extLst>
              <a:ext uri="{FF2B5EF4-FFF2-40B4-BE49-F238E27FC236}">
                <a16:creationId xmlns:a16="http://schemas.microsoft.com/office/drawing/2014/main" id="{36558937-F729-66CB-527E-7C03F6F676CF}"/>
              </a:ext>
            </a:extLst>
          </p:cNvPr>
          <p:cNvGraphicFramePr>
            <a:graphicFrameLocks noGrp="1"/>
          </p:cNvGraphicFramePr>
          <p:nvPr>
            <p:extLst>
              <p:ext uri="{D42A27DB-BD31-4B8C-83A1-F6EECF244321}">
                <p14:modId xmlns:p14="http://schemas.microsoft.com/office/powerpoint/2010/main" val="3207289800"/>
              </p:ext>
            </p:extLst>
          </p:nvPr>
        </p:nvGraphicFramePr>
        <p:xfrm>
          <a:off x="395572" y="999000"/>
          <a:ext cx="11428127" cy="2136825"/>
        </p:xfrm>
        <a:graphic>
          <a:graphicData uri="http://schemas.openxmlformats.org/drawingml/2006/table">
            <a:tbl>
              <a:tblPr/>
              <a:tblGrid>
                <a:gridCol w="285797">
                  <a:extLst>
                    <a:ext uri="{9D8B030D-6E8A-4147-A177-3AD203B41FA5}">
                      <a16:colId xmlns:a16="http://schemas.microsoft.com/office/drawing/2014/main" val="1540014077"/>
                    </a:ext>
                  </a:extLst>
                </a:gridCol>
                <a:gridCol w="2515767">
                  <a:extLst>
                    <a:ext uri="{9D8B030D-6E8A-4147-A177-3AD203B41FA5}">
                      <a16:colId xmlns:a16="http://schemas.microsoft.com/office/drawing/2014/main" val="1379151209"/>
                    </a:ext>
                  </a:extLst>
                </a:gridCol>
                <a:gridCol w="1297369">
                  <a:extLst>
                    <a:ext uri="{9D8B030D-6E8A-4147-A177-3AD203B41FA5}">
                      <a16:colId xmlns:a16="http://schemas.microsoft.com/office/drawing/2014/main" val="1425047119"/>
                    </a:ext>
                  </a:extLst>
                </a:gridCol>
                <a:gridCol w="1026613">
                  <a:extLst>
                    <a:ext uri="{9D8B030D-6E8A-4147-A177-3AD203B41FA5}">
                      <a16:colId xmlns:a16="http://schemas.microsoft.com/office/drawing/2014/main" val="12025"/>
                    </a:ext>
                  </a:extLst>
                </a:gridCol>
                <a:gridCol w="1022853">
                  <a:extLst>
                    <a:ext uri="{9D8B030D-6E8A-4147-A177-3AD203B41FA5}">
                      <a16:colId xmlns:a16="http://schemas.microsoft.com/office/drawing/2014/main" val="4006094135"/>
                    </a:ext>
                  </a:extLst>
                </a:gridCol>
                <a:gridCol w="1128147">
                  <a:extLst>
                    <a:ext uri="{9D8B030D-6E8A-4147-A177-3AD203B41FA5}">
                      <a16:colId xmlns:a16="http://schemas.microsoft.com/office/drawing/2014/main" val="1433054861"/>
                    </a:ext>
                  </a:extLst>
                </a:gridCol>
                <a:gridCol w="4151581">
                  <a:extLst>
                    <a:ext uri="{9D8B030D-6E8A-4147-A177-3AD203B41FA5}">
                      <a16:colId xmlns:a16="http://schemas.microsoft.com/office/drawing/2014/main" val="440334234"/>
                    </a:ext>
                  </a:extLst>
                </a:gridCol>
              </a:tblGrid>
              <a:tr h="405000">
                <a:tc>
                  <a:txBody>
                    <a:bodyPr/>
                    <a:lstStyle/>
                    <a:p>
                      <a:pPr algn="ctr" fontAlgn="ctr">
                        <a:buNone/>
                      </a:pPr>
                      <a:r>
                        <a:rPr lang="es-CL" sz="1000" b="1" i="0" u="none" strike="noStrike">
                          <a:solidFill>
                            <a:srgbClr val="FFFFFF"/>
                          </a:solidFill>
                          <a:effectLst/>
                          <a:latin typeface="Calibri" panose="020F0502020204030204" pitchFamily="34" charset="0"/>
                        </a:rPr>
                        <a:t>#</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dirty="0">
                          <a:solidFill>
                            <a:srgbClr val="FFFFFF"/>
                          </a:solidFill>
                          <a:effectLst/>
                          <a:latin typeface="Calibri" panose="020F0502020204030204" pitchFamily="34" charset="0"/>
                        </a:rPr>
                        <a:t>Cliente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Región</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Facturación 2026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Facturación 2025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1000" b="1" i="0" u="none" strike="noStrike">
                          <a:solidFill>
                            <a:srgbClr val="FFFFFF"/>
                          </a:solidFill>
                          <a:effectLst/>
                          <a:latin typeface="Calibri" panose="020F0502020204030204" pitchFamily="34" charset="0"/>
                        </a:rPr>
                        <a:t>Pot. ST anual MM$</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l" fontAlgn="ctr">
                        <a:buNone/>
                      </a:pPr>
                      <a:r>
                        <a:rPr lang="es-CL" sz="1000" b="1" i="0" u="none" strike="noStrike">
                          <a:solidFill>
                            <a:srgbClr val="FFFFFF"/>
                          </a:solidFill>
                          <a:effectLst/>
                          <a:latin typeface="Calibri" panose="020F0502020204030204" pitchFamily="34" charset="0"/>
                        </a:rPr>
                        <a:t>Estado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E7D4F"/>
                    </a:solidFill>
                  </a:tcPr>
                </a:tc>
                <a:extLst>
                  <a:ext uri="{0D108BD9-81ED-4DB2-BD59-A6C34878D82A}">
                    <a16:rowId xmlns:a16="http://schemas.microsoft.com/office/drawing/2014/main" val="245514815"/>
                  </a:ext>
                </a:extLst>
              </a:tr>
              <a:tr h="202500">
                <a:tc>
                  <a:txBody>
                    <a:bodyPr/>
                    <a:lstStyle/>
                    <a:p>
                      <a:pPr algn="r" fontAlgn="t">
                        <a:buNone/>
                      </a:pPr>
                      <a:r>
                        <a:rPr lang="es-CL" sz="1000" b="0" i="0" u="none" strike="noStrike" dirty="0">
                          <a:solidFill>
                            <a:schemeClr val="tx2"/>
                          </a:solidFill>
                          <a:effectLst/>
                          <a:latin typeface="Calibri" panose="020F0502020204030204" pitchFamily="34" charset="0"/>
                        </a:rPr>
                        <a:t>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dirty="0">
                          <a:solidFill>
                            <a:schemeClr val="tx2">
                              <a:lumMod val="50000"/>
                            </a:schemeClr>
                          </a:solidFill>
                          <a:effectLst/>
                          <a:latin typeface="Calibri" panose="020F0502020204030204" pitchFamily="34" charset="0"/>
                        </a:rPr>
                        <a:t>Hospital Guillermo Grant Benavente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dirty="0">
                          <a:solidFill>
                            <a:schemeClr val="tx2">
                              <a:lumMod val="50000"/>
                            </a:schemeClr>
                          </a:solidFill>
                          <a:effectLst/>
                          <a:latin typeface="Calibri" panose="020F0502020204030204" pitchFamily="34" charset="0"/>
                        </a:rPr>
                        <a:t>Bío </a:t>
                      </a:r>
                      <a:r>
                        <a:rPr lang="es-CL" sz="900" b="0" i="0" u="none" strike="noStrike" dirty="0" err="1">
                          <a:solidFill>
                            <a:schemeClr val="tx2">
                              <a:lumMod val="50000"/>
                            </a:schemeClr>
                          </a:solidFill>
                          <a:effectLst/>
                          <a:latin typeface="Calibri" panose="020F0502020204030204" pitchFamily="34" charset="0"/>
                        </a:rPr>
                        <a:t>Bío</a:t>
                      </a:r>
                      <a:endParaRPr lang="es-CL" sz="900" b="0" i="0" u="none" strike="noStrike" dirty="0">
                        <a:solidFill>
                          <a:schemeClr val="tx2">
                            <a:lumMod val="50000"/>
                          </a:schemeClr>
                        </a:solidFill>
                        <a:effectLst/>
                        <a:latin typeface="Calibri" panose="020F0502020204030204" pitchFamily="34" charset="0"/>
                      </a:endParaRP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9.767.515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a:solidFill>
                            <a:schemeClr val="tx2">
                              <a:lumMod val="50000"/>
                            </a:schemeClr>
                          </a:solidFill>
                          <a:effectLst/>
                          <a:latin typeface="Calibri" panose="020F0502020204030204" pitchFamily="34" charset="0"/>
                        </a:rPr>
                        <a:t>         14.213.737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26.722.485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VTA REPUESTOS CONVERSACIONES PARA CONTRATO PROXIMO AÑO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3119092765"/>
                  </a:ext>
                </a:extLst>
              </a:tr>
              <a:tr h="202500">
                <a:tc>
                  <a:txBody>
                    <a:bodyPr/>
                    <a:lstStyle/>
                    <a:p>
                      <a:pPr algn="r" fontAlgn="t">
                        <a:buNone/>
                      </a:pPr>
                      <a:r>
                        <a:rPr lang="es-CL" sz="1000" b="0" i="0" u="none" strike="noStrike">
                          <a:solidFill>
                            <a:schemeClr val="tx2"/>
                          </a:solidFill>
                          <a:effectLst/>
                          <a:latin typeface="Calibri" panose="020F0502020204030204" pitchFamily="34" charset="0"/>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dirty="0">
                          <a:solidFill>
                            <a:schemeClr val="tx2">
                              <a:lumMod val="50000"/>
                            </a:schemeClr>
                          </a:solidFill>
                          <a:effectLst/>
                          <a:latin typeface="Calibri" panose="020F0502020204030204" pitchFamily="34" charset="0"/>
                        </a:rPr>
                        <a:t>Hospital Pitrufquén</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a:solidFill>
                            <a:schemeClr val="tx2">
                              <a:lumMod val="50000"/>
                            </a:schemeClr>
                          </a:solidFill>
                          <a:effectLst/>
                          <a:latin typeface="Calibri" panose="020F0502020204030204" pitchFamily="34" charset="0"/>
                        </a:rPr>
                        <a:t>Araucanía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r" fontAlgn="t">
                        <a:buNone/>
                      </a:pPr>
                      <a:r>
                        <a:rPr lang="es-CL" sz="900" b="0" i="0" u="none" strike="noStrike">
                          <a:solidFill>
                            <a:schemeClr val="tx2">
                              <a:lumMod val="50000"/>
                            </a:schemeClr>
                          </a:solidFill>
                          <a:effectLst/>
                          <a:latin typeface="Calibri" panose="020F0502020204030204" pitchFamily="34" charset="0"/>
                        </a:rPr>
                        <a:t>         31.189.544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a:solidFill>
                            <a:schemeClr val="tx2">
                              <a:lumMod val="50000"/>
                            </a:schemeClr>
                          </a:solidFill>
                          <a:effectLst/>
                          <a:latin typeface="Calibri" panose="020F0502020204030204" pitchFamily="34" charset="0"/>
                        </a:rPr>
                        <a:t>                          -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10.216.195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CONTRATO FINALIZA EN NOV</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33591623"/>
                  </a:ext>
                </a:extLst>
              </a:tr>
              <a:tr h="202500">
                <a:tc>
                  <a:txBody>
                    <a:bodyPr/>
                    <a:lstStyle/>
                    <a:p>
                      <a:pPr algn="r" fontAlgn="t">
                        <a:buNone/>
                      </a:pPr>
                      <a:r>
                        <a:rPr lang="es-CL" sz="1000" b="0" i="0" u="none" strike="noStrike">
                          <a:solidFill>
                            <a:schemeClr val="tx2"/>
                          </a:solidFill>
                          <a:effectLst/>
                          <a:latin typeface="Calibri" panose="020F0502020204030204" pitchFamily="34" charset="0"/>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dirty="0">
                          <a:solidFill>
                            <a:schemeClr val="tx2">
                              <a:lumMod val="50000"/>
                            </a:schemeClr>
                          </a:solidFill>
                          <a:effectLst/>
                          <a:latin typeface="Calibri" panose="020F0502020204030204" pitchFamily="34" charset="0"/>
                        </a:rPr>
                        <a:t>Hospital Penco Lirquén</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a:solidFill>
                            <a:schemeClr val="tx2">
                              <a:lumMod val="50000"/>
                            </a:schemeClr>
                          </a:solidFill>
                          <a:effectLst/>
                          <a:latin typeface="Calibri" panose="020F0502020204030204" pitchFamily="34" charset="0"/>
                        </a:rPr>
                        <a:t>Bío Bío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11.835.530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a:solidFill>
                            <a:schemeClr val="tx2">
                              <a:lumMod val="50000"/>
                            </a:schemeClr>
                          </a:solidFill>
                          <a:effectLst/>
                          <a:latin typeface="Calibri" panose="020F0502020204030204" pitchFamily="34" charset="0"/>
                        </a:rPr>
                        <a:t>         10.809.369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16.345.912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CONTRATO 2028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863946442"/>
                  </a:ext>
                </a:extLst>
              </a:tr>
              <a:tr h="202500">
                <a:tc>
                  <a:txBody>
                    <a:bodyPr/>
                    <a:lstStyle/>
                    <a:p>
                      <a:pPr algn="r" fontAlgn="t">
                        <a:buNone/>
                      </a:pPr>
                      <a:r>
                        <a:rPr lang="es-CL" sz="1000" b="0" i="0" u="none" strike="noStrike">
                          <a:solidFill>
                            <a:schemeClr val="tx2"/>
                          </a:solidFill>
                          <a:effectLst/>
                          <a:latin typeface="Calibri" panose="020F0502020204030204" pitchFamily="34" charset="0"/>
                        </a:rPr>
                        <a:t>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dirty="0">
                          <a:solidFill>
                            <a:schemeClr val="tx2">
                              <a:lumMod val="50000"/>
                            </a:schemeClr>
                          </a:solidFill>
                          <a:effectLst/>
                          <a:latin typeface="Calibri" panose="020F0502020204030204" pitchFamily="34" charset="0"/>
                        </a:rPr>
                        <a:t>Hospital Víctor Ríos Ruiz</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dirty="0">
                          <a:solidFill>
                            <a:schemeClr val="tx2">
                              <a:lumMod val="50000"/>
                            </a:schemeClr>
                          </a:solidFill>
                          <a:effectLst/>
                          <a:latin typeface="Calibri" panose="020F0502020204030204" pitchFamily="34" charset="0"/>
                        </a:rPr>
                        <a:t>Bío </a:t>
                      </a:r>
                      <a:r>
                        <a:rPr lang="es-CL" sz="900" b="0" i="0" u="none" strike="noStrike" dirty="0" err="1">
                          <a:solidFill>
                            <a:schemeClr val="tx2">
                              <a:lumMod val="50000"/>
                            </a:schemeClr>
                          </a:solidFill>
                          <a:effectLst/>
                          <a:latin typeface="Calibri" panose="020F0502020204030204" pitchFamily="34" charset="0"/>
                        </a:rPr>
                        <a:t>Bío</a:t>
                      </a:r>
                      <a:endParaRPr lang="es-CL" sz="900" b="0" i="0" u="none" strike="noStrike" dirty="0">
                        <a:solidFill>
                          <a:schemeClr val="tx2">
                            <a:lumMod val="50000"/>
                          </a:schemeClr>
                        </a:solidFill>
                        <a:effectLst/>
                        <a:latin typeface="Calibri" panose="020F0502020204030204" pitchFamily="34" charset="0"/>
                      </a:endParaRP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r" fontAlgn="t">
                        <a:buNone/>
                      </a:pPr>
                      <a:r>
                        <a:rPr lang="es-CL" sz="900" b="0" i="0" u="none" strike="noStrike">
                          <a:solidFill>
                            <a:schemeClr val="tx2">
                              <a:lumMod val="50000"/>
                            </a:schemeClr>
                          </a:solidFill>
                          <a:effectLst/>
                          <a:latin typeface="Calibri" panose="020F0502020204030204" pitchFamily="34" charset="0"/>
                        </a:rPr>
                        <a:t>           8.499.051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a:solidFill>
                            <a:schemeClr val="tx2">
                              <a:lumMod val="50000"/>
                            </a:schemeClr>
                          </a:solidFill>
                          <a:effectLst/>
                          <a:latin typeface="Calibri" panose="020F0502020204030204" pitchFamily="34" charset="0"/>
                        </a:rPr>
                        <a:t>                          -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40.564.842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EQUIPOS LAVADORAS EN GARANTIA, SILLONES CONVERSACION PARA CONTRATO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004416790"/>
                  </a:ext>
                </a:extLst>
              </a:tr>
              <a:tr h="202500">
                <a:tc>
                  <a:txBody>
                    <a:bodyPr/>
                    <a:lstStyle/>
                    <a:p>
                      <a:pPr algn="r" fontAlgn="t">
                        <a:buNone/>
                      </a:pPr>
                      <a:r>
                        <a:rPr lang="es-CL" sz="1000" b="0" i="0" u="none" strike="noStrike">
                          <a:solidFill>
                            <a:schemeClr val="tx2"/>
                          </a:solidFill>
                          <a:effectLst/>
                          <a:latin typeface="Calibri" panose="020F0502020204030204" pitchFamily="34" charset="0"/>
                        </a:rPr>
                        <a:t>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dirty="0">
                          <a:solidFill>
                            <a:schemeClr val="tx2">
                              <a:lumMod val="50000"/>
                            </a:schemeClr>
                          </a:solidFill>
                          <a:effectLst/>
                          <a:latin typeface="Calibri" panose="020F0502020204030204" pitchFamily="34" charset="0"/>
                        </a:rPr>
                        <a:t>Clínica Bío </a:t>
                      </a:r>
                      <a:r>
                        <a:rPr lang="es-CL" sz="900" b="0" i="0" u="none" strike="noStrike" dirty="0" err="1">
                          <a:solidFill>
                            <a:schemeClr val="tx2">
                              <a:lumMod val="50000"/>
                            </a:schemeClr>
                          </a:solidFill>
                          <a:effectLst/>
                          <a:latin typeface="Calibri" panose="020F0502020204030204" pitchFamily="34" charset="0"/>
                        </a:rPr>
                        <a:t>Bío</a:t>
                      </a:r>
                      <a:endParaRPr lang="es-CL" sz="900" b="0" i="0" u="none" strike="noStrike" dirty="0">
                        <a:solidFill>
                          <a:schemeClr val="tx2">
                            <a:lumMod val="50000"/>
                          </a:schemeClr>
                        </a:solidFill>
                        <a:effectLst/>
                        <a:latin typeface="Calibri" panose="020F0502020204030204" pitchFamily="34" charset="0"/>
                      </a:endParaRP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a:solidFill>
                            <a:schemeClr val="tx2">
                              <a:lumMod val="50000"/>
                            </a:schemeClr>
                          </a:solidFill>
                          <a:effectLst/>
                          <a:latin typeface="Calibri" panose="020F0502020204030204" pitchFamily="34" charset="0"/>
                        </a:rPr>
                        <a:t>Bío Bío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r" fontAlgn="t">
                        <a:buNone/>
                      </a:pPr>
                      <a:r>
                        <a:rPr lang="es-CL" sz="900" b="0" i="0" u="none" strike="noStrike">
                          <a:solidFill>
                            <a:schemeClr val="tx2">
                              <a:lumMod val="50000"/>
                            </a:schemeClr>
                          </a:solidFill>
                          <a:effectLst/>
                          <a:latin typeface="Calibri" panose="020F0502020204030204" pitchFamily="34" charset="0"/>
                        </a:rPr>
                        <a:t>           6.450.708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8.579.403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CON SERVICIOS SPOT</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4127228373"/>
                  </a:ext>
                </a:extLst>
              </a:tr>
              <a:tr h="202500">
                <a:tc>
                  <a:txBody>
                    <a:bodyPr/>
                    <a:lstStyle/>
                    <a:p>
                      <a:pPr algn="r" fontAlgn="t">
                        <a:buNone/>
                      </a:pPr>
                      <a:r>
                        <a:rPr lang="es-CL" sz="1000" b="0" i="0" u="none" strike="noStrike">
                          <a:solidFill>
                            <a:schemeClr val="tx2"/>
                          </a:solidFill>
                          <a:effectLst/>
                          <a:latin typeface="Calibri" panose="020F0502020204030204" pitchFamily="34" charset="0"/>
                        </a:rPr>
                        <a:t>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a:solidFill>
                            <a:schemeClr val="tx2">
                              <a:lumMod val="50000"/>
                            </a:schemeClr>
                          </a:solidFill>
                          <a:effectLst/>
                          <a:latin typeface="Calibri" panose="020F0502020204030204" pitchFamily="34" charset="0"/>
                        </a:rPr>
                        <a:t>Clínica Sanatorio Alemán</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l" fontAlgn="t">
                        <a:buNone/>
                      </a:pPr>
                      <a:r>
                        <a:rPr lang="es-CL" sz="900" b="0" i="0" u="none" strike="noStrike" dirty="0">
                          <a:solidFill>
                            <a:schemeClr val="tx2">
                              <a:lumMod val="50000"/>
                            </a:schemeClr>
                          </a:solidFill>
                          <a:effectLst/>
                          <a:latin typeface="Calibri" panose="020F0502020204030204" pitchFamily="34" charset="0"/>
                        </a:rPr>
                        <a:t>Bío </a:t>
                      </a:r>
                      <a:r>
                        <a:rPr lang="es-CL" sz="900" b="0" i="0" u="none" strike="noStrike" dirty="0" err="1">
                          <a:solidFill>
                            <a:schemeClr val="tx2">
                              <a:lumMod val="50000"/>
                            </a:schemeClr>
                          </a:solidFill>
                          <a:effectLst/>
                          <a:latin typeface="Calibri" panose="020F0502020204030204" pitchFamily="34" charset="0"/>
                        </a:rPr>
                        <a:t>Bío</a:t>
                      </a:r>
                      <a:endParaRPr lang="es-CL" sz="900" b="0" i="0" u="none" strike="noStrike" dirty="0">
                        <a:solidFill>
                          <a:schemeClr val="tx2">
                            <a:lumMod val="50000"/>
                          </a:schemeClr>
                        </a:solidFill>
                        <a:effectLst/>
                        <a:latin typeface="Calibri" panose="020F0502020204030204" pitchFamily="34" charset="0"/>
                      </a:endParaRP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CE6F4"/>
                    </a:solid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6.156.061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a:solidFill>
                            <a:schemeClr val="tx2">
                              <a:lumMod val="50000"/>
                            </a:schemeClr>
                          </a:solidFill>
                          <a:effectLst/>
                          <a:latin typeface="Calibri" panose="020F0502020204030204" pitchFamily="34" charset="0"/>
                        </a:rPr>
                        <a:t>                          -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26.642.795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VTA REPUESTOS CONVERSACIONES PARA CONTRATO PROXIMO AÑO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3EC"/>
                    </a:solidFill>
                  </a:tcPr>
                </a:tc>
                <a:extLst>
                  <a:ext uri="{0D108BD9-81ED-4DB2-BD59-A6C34878D82A}">
                    <a16:rowId xmlns:a16="http://schemas.microsoft.com/office/drawing/2014/main" val="3067611126"/>
                  </a:ext>
                </a:extLst>
              </a:tr>
              <a:tr h="202500">
                <a:tc>
                  <a:txBody>
                    <a:bodyPr/>
                    <a:lstStyle/>
                    <a:p>
                      <a:pPr algn="r" fontAlgn="t">
                        <a:buNone/>
                      </a:pPr>
                      <a:r>
                        <a:rPr lang="es-CL" sz="1000" b="0" i="0" u="none" strike="noStrike">
                          <a:solidFill>
                            <a:schemeClr val="tx2"/>
                          </a:solidFill>
                          <a:effectLst/>
                          <a:latin typeface="Calibri" panose="020F0502020204030204" pitchFamily="34" charset="0"/>
                        </a:rPr>
                        <a:t>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900" b="0" i="0" u="none" strike="noStrike">
                          <a:solidFill>
                            <a:schemeClr val="tx2">
                              <a:lumMod val="50000"/>
                            </a:schemeClr>
                          </a:solidFill>
                          <a:effectLst/>
                          <a:latin typeface="Calibri" panose="020F0502020204030204" pitchFamily="34" charset="0"/>
                        </a:rPr>
                        <a:t>Hospital de Talcahuano (Las Higueras)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l" fontAlgn="t">
                        <a:buNone/>
                      </a:pPr>
                      <a:r>
                        <a:rPr lang="es-CL" sz="900" b="0" i="0" u="none" strike="noStrike" dirty="0">
                          <a:solidFill>
                            <a:schemeClr val="tx2">
                              <a:lumMod val="50000"/>
                            </a:schemeClr>
                          </a:solidFill>
                          <a:effectLst/>
                          <a:latin typeface="Calibri" panose="020F0502020204030204" pitchFamily="34" charset="0"/>
                        </a:rPr>
                        <a:t>Bío </a:t>
                      </a:r>
                      <a:r>
                        <a:rPr lang="es-CL" sz="900" b="0" i="0" u="none" strike="noStrike" dirty="0" err="1">
                          <a:solidFill>
                            <a:schemeClr val="tx2">
                              <a:lumMod val="50000"/>
                            </a:schemeClr>
                          </a:solidFill>
                          <a:effectLst/>
                          <a:latin typeface="Calibri" panose="020F0502020204030204" pitchFamily="34" charset="0"/>
                        </a:rPr>
                        <a:t>Bío</a:t>
                      </a:r>
                      <a:endParaRPr lang="es-CL" sz="900" b="0" i="0" u="none" strike="noStrike" dirty="0">
                        <a:solidFill>
                          <a:schemeClr val="tx2">
                            <a:lumMod val="50000"/>
                          </a:schemeClr>
                        </a:solidFill>
                        <a:effectLst/>
                        <a:latin typeface="Calibri" panose="020F0502020204030204" pitchFamily="34" charset="0"/>
                      </a:endParaRP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CE6F4"/>
                    </a:solidFill>
                  </a:tcPr>
                </a:tc>
                <a:tc>
                  <a:txBody>
                    <a:bodyPr/>
                    <a:lstStyle/>
                    <a:p>
                      <a:pPr algn="r" fontAlgn="t">
                        <a:buNone/>
                      </a:pPr>
                      <a:r>
                        <a:rPr lang="es-CL" sz="900" b="0" i="0" u="none" strike="noStrike">
                          <a:solidFill>
                            <a:schemeClr val="tx2">
                              <a:lumMod val="50000"/>
                            </a:schemeClr>
                          </a:solidFill>
                          <a:effectLst/>
                          <a:latin typeface="Calibri" panose="020F0502020204030204" pitchFamily="34" charset="0"/>
                        </a:rPr>
                        <a:t>                          -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r" fontAlgn="t">
                        <a:buNone/>
                      </a:pPr>
                      <a:r>
                        <a:rPr lang="es-CL" sz="900" b="0" i="0" u="none" strike="noStrike" dirty="0">
                          <a:solidFill>
                            <a:schemeClr val="tx2">
                              <a:lumMod val="50000"/>
                            </a:schemeClr>
                          </a:solidFill>
                          <a:effectLst/>
                          <a:latin typeface="Calibri" panose="020F0502020204030204" pitchFamily="34" charset="0"/>
                        </a:rPr>
                        <a:t>              4.699.149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t">
                        <a:buNone/>
                      </a:pPr>
                      <a:r>
                        <a:rPr lang="es-CL" sz="1000" b="0" i="0" u="none" strike="noStrike" dirty="0">
                          <a:solidFill>
                            <a:schemeClr val="tx2"/>
                          </a:solidFill>
                          <a:effectLst/>
                          <a:latin typeface="Calibri" panose="020F0502020204030204" pitchFamily="34" charset="0"/>
                        </a:rPr>
                        <a:t>S/I</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8F3EC"/>
                    </a:solidFill>
                  </a:tcPr>
                </a:tc>
                <a:extLst>
                  <a:ext uri="{0D108BD9-81ED-4DB2-BD59-A6C34878D82A}">
                    <a16:rowId xmlns:a16="http://schemas.microsoft.com/office/drawing/2014/main" val="2094106028"/>
                  </a:ext>
                </a:extLst>
              </a:tr>
              <a:tr h="202500">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l" fontAlgn="b">
                        <a:buNone/>
                      </a:pPr>
                      <a:endParaRPr lang="es-CL" sz="1000" b="1" i="0" u="none" strike="noStrike">
                        <a:solidFill>
                          <a:schemeClr val="tx2"/>
                        </a:solidFill>
                        <a:effectLst/>
                        <a:latin typeface="Calibri" panose="020F0502020204030204" pitchFamily="34" charset="0"/>
                      </a:endParaRP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r" fontAlgn="ctr">
                        <a:buNone/>
                      </a:pPr>
                      <a:r>
                        <a:rPr lang="es-CL" sz="1000" b="1" i="0" u="none" strike="noStrike" dirty="0">
                          <a:solidFill>
                            <a:schemeClr val="tx2"/>
                          </a:solidFill>
                          <a:effectLst/>
                          <a:latin typeface="Calibri" panose="020F0502020204030204" pitchFamily="34" charset="0"/>
                        </a:rPr>
                        <a:t>75.871.643</a:t>
                      </a:r>
                    </a:p>
                  </a:txBody>
                  <a:tcPr marL="9525" marR="9525" marT="9525" marB="0" anchor="ctr">
                    <a:lnL>
                      <a:noFill/>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1000" b="1" i="0" u="none" strike="noStrike" dirty="0">
                          <a:solidFill>
                            <a:schemeClr val="tx2"/>
                          </a:solidFill>
                          <a:effectLst/>
                          <a:latin typeface="Calibri" panose="020F0502020204030204" pitchFamily="34" charset="0"/>
                        </a:rPr>
                        <a:t>36.610.345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1000" b="1" i="0" u="none" strike="noStrike" dirty="0">
                          <a:solidFill>
                            <a:schemeClr val="tx2"/>
                          </a:solidFill>
                          <a:effectLst/>
                          <a:latin typeface="Calibri" panose="020F0502020204030204" pitchFamily="34" charset="0"/>
                        </a:rPr>
                        <a:t>129.277.856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endParaRPr lang="es-CL" sz="1000" b="1" i="0" u="none" strike="noStrike" dirty="0">
                        <a:solidFill>
                          <a:schemeClr val="tx2"/>
                        </a:solidFill>
                        <a:effectLst/>
                        <a:latin typeface="Calibri" panose="020F0502020204030204" pitchFamily="34" charset="0"/>
                      </a:endParaRPr>
                    </a:p>
                  </a:txBody>
                  <a:tcPr marL="9525" marR="9525" marT="9525" marB="0" anchor="ctr">
                    <a:lnL w="6350" cap="flat" cmpd="sng" algn="ctr">
                      <a:solidFill>
                        <a:srgbClr val="D4D5E8"/>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408790933"/>
                  </a:ext>
                </a:extLst>
              </a:tr>
            </a:tbl>
          </a:graphicData>
        </a:graphic>
      </p:graphicFrame>
    </p:spTree>
    <p:extLst>
      <p:ext uri="{BB962C8B-B14F-4D97-AF65-F5344CB8AC3E}">
        <p14:creationId xmlns:p14="http://schemas.microsoft.com/office/powerpoint/2010/main" val="21022195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21">
          <a:extLst>
            <a:ext uri="{FF2B5EF4-FFF2-40B4-BE49-F238E27FC236}">
              <a16:creationId xmlns:a16="http://schemas.microsoft.com/office/drawing/2014/main" id="{0FE01447-5AD3-6657-E68A-381B20D03774}"/>
            </a:ext>
          </a:extLst>
        </p:cNvPr>
        <p:cNvGrpSpPr/>
        <p:nvPr/>
      </p:nvGrpSpPr>
      <p:grpSpPr>
        <a:xfrm>
          <a:off x="0" y="0"/>
          <a:ext cx="0" cy="0"/>
          <a:chOff x="0" y="0"/>
          <a:chExt cx="0" cy="0"/>
        </a:xfrm>
      </p:grpSpPr>
      <p:sp>
        <p:nvSpPr>
          <p:cNvPr id="222" name="Google Shape;222;p2">
            <a:extLst>
              <a:ext uri="{FF2B5EF4-FFF2-40B4-BE49-F238E27FC236}">
                <a16:creationId xmlns:a16="http://schemas.microsoft.com/office/drawing/2014/main" id="{D8584F3D-02B6-4306-5834-43CE842F5F12}"/>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Agenda</a:t>
            </a:r>
            <a:endParaRPr sz="2700" b="0" i="0" u="none" strike="noStrike" cap="none">
              <a:solidFill>
                <a:srgbClr val="FFFFFF"/>
              </a:solidFill>
              <a:latin typeface="Roboto"/>
              <a:ea typeface="Roboto"/>
              <a:cs typeface="Roboto"/>
              <a:sym typeface="Roboto"/>
            </a:endParaRPr>
          </a:p>
        </p:txBody>
      </p:sp>
      <p:sp>
        <p:nvSpPr>
          <p:cNvPr id="223" name="Google Shape;223;p2">
            <a:extLst>
              <a:ext uri="{FF2B5EF4-FFF2-40B4-BE49-F238E27FC236}">
                <a16:creationId xmlns:a16="http://schemas.microsoft.com/office/drawing/2014/main" id="{C6C8D671-BEBB-E275-FD1E-752AAE8FCC1C}"/>
              </a:ext>
            </a:extLst>
          </p:cNvPr>
          <p:cNvSpPr/>
          <p:nvPr/>
        </p:nvSpPr>
        <p:spPr>
          <a:xfrm>
            <a:off x="393700" y="854015"/>
            <a:ext cx="11070806" cy="2967487"/>
          </a:xfrm>
          <a:prstGeom prst="rect">
            <a:avLst/>
          </a:prstGeom>
          <a:noFill/>
          <a:ln>
            <a:noFill/>
          </a:ln>
        </p:spPr>
        <p:txBody>
          <a:bodyPr spcFirstLastPara="1" wrap="square" lIns="91425" tIns="45700" rIns="91425" bIns="45700" anchor="t" anchorCtr="0">
            <a:noAutofit/>
          </a:bodyPr>
          <a:lstStyle/>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Decisiones para Comité de hoy</a:t>
            </a:r>
            <a:endParaRPr dirty="0"/>
          </a:p>
          <a:p>
            <a:pPr marL="0" marR="0" lvl="0" indent="0" algn="l" rtl="0">
              <a:spcBef>
                <a:spcPts val="0"/>
              </a:spcBef>
              <a:spcAft>
                <a:spcPts val="0"/>
              </a:spcAft>
              <a:buNone/>
            </a:pPr>
            <a:endParaRPr sz="1100" b="0" i="0" u="none" strike="noStrike" cap="none" dirty="0">
              <a:solidFill>
                <a:srgbClr val="373C46"/>
              </a:solidFill>
              <a:latin typeface="Arial"/>
              <a:ea typeface="Arial"/>
              <a:cs typeface="Arial"/>
              <a:sym typeface="Arial"/>
            </a:endParaRPr>
          </a:p>
          <a:p>
            <a:pPr marL="171450" marR="0" lvl="0" indent="-171450" algn="l" rtl="0">
              <a:spcBef>
                <a:spcPts val="0"/>
              </a:spcBef>
              <a:spcAft>
                <a:spcPts val="0"/>
              </a:spcAft>
              <a:buClr>
                <a:srgbClr val="373C46"/>
              </a:buClr>
              <a:buSzPts val="1100"/>
              <a:buFont typeface="Arial"/>
              <a:buChar char="•"/>
            </a:pPr>
            <a:r>
              <a:rPr lang="es-CL" sz="1100" b="0" i="0" u="none" strike="noStrike" cap="none" dirty="0">
                <a:solidFill>
                  <a:srgbClr val="373C46"/>
                </a:solidFill>
                <a:latin typeface="Arial"/>
                <a:ea typeface="Arial"/>
                <a:cs typeface="Arial"/>
                <a:sym typeface="Arial"/>
              </a:rPr>
              <a:t>Facturación Semana Actual y su desglose: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Criterio de Provisiones: </a:t>
            </a: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de Garantías provisionadas – Seguimiento de negocios facturados desde el 10/08, ingresos totales e ingresos “reconocidos”)</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Garantías Vigentes sin Ingreso asociado (Valorización de Garantía)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Brechas pendientes de facturación</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 repuestos que más bloquean incorporar el % de brecha</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EERR TECSERVICE último cierre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Asignación de Gastos Generales y Financieros</a:t>
            </a:r>
            <a:endParaRPr dirty="0"/>
          </a:p>
          <a:p>
            <a:pPr marL="285750" marR="0" lvl="0" indent="-215900" algn="l" rtl="0">
              <a:spcBef>
                <a:spcPts val="0"/>
              </a:spcBef>
              <a:spcAft>
                <a:spcPts val="0"/>
              </a:spcAft>
              <a:buClr>
                <a:schemeClr val="lt1"/>
              </a:buClr>
              <a:buSzPts val="1100"/>
              <a:buFont typeface="Arial"/>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Clientes con Problemas/Equipos Detenidos y su causa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Política de crédito para clientes principales – Bolsa de repuestos “necesaria” para cada cliente y qué % tenemos en stock</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Desglose de Contratos Vigentes y próximas en Pipeline</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err="1">
                <a:solidFill>
                  <a:schemeClr val="lt2"/>
                </a:solidFill>
                <a:latin typeface="Arial"/>
                <a:ea typeface="Arial"/>
                <a:cs typeface="Arial"/>
                <a:sym typeface="Arial"/>
              </a:rPr>
              <a:t>Update</a:t>
            </a:r>
            <a:r>
              <a:rPr lang="es-CL" sz="1100" b="0" i="0" u="none" strike="noStrike" cap="none" dirty="0">
                <a:solidFill>
                  <a:schemeClr val="lt2"/>
                </a:solidFill>
                <a:latin typeface="Arial"/>
                <a:ea typeface="Arial"/>
                <a:cs typeface="Arial"/>
                <a:sym typeface="Arial"/>
              </a:rPr>
              <a:t> Clientes (Nuevos/Perdidos y Renovados) </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Decisiones de Inversión para mantener clientes actuales (Rent – roll)</a:t>
            </a:r>
            <a:endParaRPr dirty="0"/>
          </a:p>
          <a:p>
            <a:pPr marL="457200" marR="0" lvl="1" indent="0" algn="l" rtl="0">
              <a:spcBef>
                <a:spcPts val="0"/>
              </a:spcBef>
              <a:spcAft>
                <a:spcPts val="0"/>
              </a:spcAft>
              <a:buNone/>
            </a:pPr>
            <a:endParaRPr sz="1100" b="0" i="0" u="none" strike="noStrike" cap="none" dirty="0">
              <a:solidFill>
                <a:srgbClr val="A5A5A5"/>
              </a:solidFill>
              <a:latin typeface="Arial"/>
              <a:ea typeface="Arial"/>
              <a:cs typeface="Arial"/>
              <a:sym typeface="Arial"/>
            </a:endParaRPr>
          </a:p>
          <a:p>
            <a:pPr marL="285750" marR="0" lvl="0"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Calidad de Servicio</a:t>
            </a:r>
            <a:endParaRPr dirty="0"/>
          </a:p>
          <a:p>
            <a:pPr marL="742950" marR="0" lvl="1" indent="-2857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Encuesta de Satisfacción (Cuadros tipo o reporte tipo de la NPS)</a:t>
            </a:r>
            <a:endParaRPr dirty="0"/>
          </a:p>
          <a:p>
            <a:pPr marL="742950" marR="0" lvl="1" indent="-215900" algn="l" rtl="0">
              <a:spcBef>
                <a:spcPts val="0"/>
              </a:spcBef>
              <a:spcAft>
                <a:spcPts val="0"/>
              </a:spcAft>
              <a:buClr>
                <a:schemeClr val="lt1"/>
              </a:buClr>
              <a:buSzPts val="1100"/>
              <a:buFont typeface="Arial"/>
              <a:buNone/>
            </a:pPr>
            <a:endParaRPr sz="1100" b="0" i="0" u="none" strike="noStrike" cap="none" dirty="0">
              <a:solidFill>
                <a:schemeClr val="lt2"/>
              </a:solidFill>
              <a:latin typeface="Arial"/>
              <a:ea typeface="Arial"/>
              <a:cs typeface="Arial"/>
              <a:sym typeface="Arial"/>
            </a:endParaRPr>
          </a:p>
          <a:p>
            <a:pPr marL="171450" marR="0" lvl="0" indent="-171450" algn="l" rtl="0">
              <a:spcBef>
                <a:spcPts val="0"/>
              </a:spcBef>
              <a:spcAft>
                <a:spcPts val="0"/>
              </a:spcAft>
              <a:buClr>
                <a:schemeClr val="lt2"/>
              </a:buClr>
              <a:buSzPts val="1100"/>
              <a:buFont typeface="Arial"/>
              <a:buChar char="•"/>
            </a:pPr>
            <a:r>
              <a:rPr lang="es-CL" sz="1100" b="0" i="0" u="none" strike="noStrike" cap="none" dirty="0">
                <a:solidFill>
                  <a:schemeClr val="lt2"/>
                </a:solidFill>
                <a:latin typeface="Arial"/>
                <a:ea typeface="Arial"/>
                <a:cs typeface="Arial"/>
                <a:sym typeface="Arial"/>
              </a:rPr>
              <a:t>Prospectos Clientes Base Instalada Vigente y por Renovar por Región</a:t>
            </a:r>
          </a:p>
          <a:p>
            <a:pPr marL="171450" lvl="4" indent="-171450">
              <a:buClr>
                <a:schemeClr val="lt2"/>
              </a:buClr>
              <a:buSzPts val="1100"/>
              <a:buFont typeface="Arial"/>
              <a:buChar char="•"/>
            </a:pPr>
            <a:endParaRPr lang="es-CL" sz="1100" dirty="0">
              <a:solidFill>
                <a:schemeClr val="lt2"/>
              </a:solidFill>
            </a:endParaRPr>
          </a:p>
          <a:p>
            <a:pPr marL="628650" indent="-171450">
              <a:buClr>
                <a:schemeClr val="lt2"/>
              </a:buClr>
              <a:buSzPts val="1100"/>
              <a:buFont typeface="Arial"/>
              <a:buChar char="•"/>
            </a:pPr>
            <a:r>
              <a:rPr lang="es-MX" sz="1100" dirty="0">
                <a:solidFill>
                  <a:schemeClr val="lt2"/>
                </a:solidFill>
              </a:rPr>
              <a:t>Base Instalada Vigente y Renovar por Región</a:t>
            </a:r>
          </a:p>
          <a:p>
            <a:pPr marL="628650" indent="-171450">
              <a:buClr>
                <a:schemeClr val="lt2"/>
              </a:buClr>
              <a:buSzPts val="1100"/>
              <a:buFont typeface="Arial"/>
              <a:buChar char="•"/>
            </a:pPr>
            <a:r>
              <a:rPr lang="es-MX" sz="1100" dirty="0">
                <a:solidFill>
                  <a:schemeClr val="lt2"/>
                </a:solidFill>
              </a:rPr>
              <a:t>Seguimiento Plan Sur</a:t>
            </a:r>
          </a:p>
          <a:p>
            <a:pPr marL="628650" indent="-171450">
              <a:buClr>
                <a:schemeClr val="lt2"/>
              </a:buClr>
              <a:buSzPts val="1100"/>
              <a:buFont typeface="Arial"/>
              <a:buChar char="•"/>
            </a:pPr>
            <a:r>
              <a:rPr lang="es-CL" sz="1100" dirty="0">
                <a:solidFill>
                  <a:schemeClr val="lt2"/>
                </a:solidFill>
              </a:rPr>
              <a:t>Plan Valparaíso y Región Metropolitana</a:t>
            </a:r>
            <a:endParaRPr lang="es-MX" sz="1100" dirty="0"/>
          </a:p>
          <a:p>
            <a:pPr marL="628650" indent="-171450">
              <a:buClr>
                <a:schemeClr val="lt2"/>
              </a:buClr>
              <a:buSzPts val="1100"/>
              <a:buFont typeface="Arial"/>
              <a:buChar char="•"/>
            </a:pPr>
            <a:endParaRPr sz="1100" dirty="0"/>
          </a:p>
          <a:p>
            <a:pPr marL="285750" marR="0" lvl="0" indent="-215900" algn="l" rtl="0">
              <a:lnSpc>
                <a:spcPct val="100000"/>
              </a:lnSpc>
              <a:spcBef>
                <a:spcPts val="0"/>
              </a:spcBef>
              <a:spcAft>
                <a:spcPts val="0"/>
              </a:spcAft>
              <a:buClr>
                <a:schemeClr val="lt1"/>
              </a:buClr>
              <a:buSzPts val="1100"/>
              <a:buFont typeface="Arial"/>
              <a:buNone/>
            </a:pPr>
            <a:endParaRPr sz="1100" b="0" i="0" u="none" strike="noStrike" cap="none" dirty="0">
              <a:solidFill>
                <a:srgbClr val="373C46"/>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a:p>
            <a:pPr marL="285750" marR="0" lvl="0" indent="-196850" algn="l" rtl="0">
              <a:lnSpc>
                <a:spcPct val="100000"/>
              </a:lnSpc>
              <a:spcBef>
                <a:spcPts val="0"/>
              </a:spcBef>
              <a:spcAft>
                <a:spcPts val="0"/>
              </a:spcAft>
              <a:buClr>
                <a:schemeClr val="lt1"/>
              </a:buClr>
              <a:buSzPts val="1400"/>
              <a:buFont typeface="Arial"/>
              <a:buNone/>
            </a:pPr>
            <a:endParaRPr sz="1400" b="0" i="0" u="none" strike="noStrike" cap="none" dirty="0">
              <a:solidFill>
                <a:srgbClr val="373C46"/>
              </a:solidFill>
              <a:latin typeface="Arial"/>
              <a:ea typeface="Arial"/>
              <a:cs typeface="Arial"/>
              <a:sym typeface="Arial"/>
            </a:endParaRPr>
          </a:p>
        </p:txBody>
      </p:sp>
      <p:sp>
        <p:nvSpPr>
          <p:cNvPr id="3" name="Google Shape;230;p3">
            <a:extLst>
              <a:ext uri="{FF2B5EF4-FFF2-40B4-BE49-F238E27FC236}">
                <a16:creationId xmlns:a16="http://schemas.microsoft.com/office/drawing/2014/main" id="{F9C21C81-C4A1-480D-D46C-13C0D95FA6DE}"/>
              </a:ext>
            </a:extLst>
          </p:cNvPr>
          <p:cNvSpPr/>
          <p:nvPr/>
        </p:nvSpPr>
        <p:spPr>
          <a:xfrm>
            <a:off x="393700" y="5113834"/>
            <a:ext cx="11312345" cy="205166"/>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6215950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3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de Acción Para Clientes por Región </a:t>
            </a:r>
            <a:endParaRPr/>
          </a:p>
        </p:txBody>
      </p:sp>
      <p:sp>
        <p:nvSpPr>
          <p:cNvPr id="455" name="Google Shape;455;p35"/>
          <p:cNvSpPr txBox="1"/>
          <p:nvPr/>
        </p:nvSpPr>
        <p:spPr>
          <a:xfrm>
            <a:off x="320832" y="783363"/>
            <a:ext cx="3657600"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L" sz="1400" b="1">
                <a:solidFill>
                  <a:srgbClr val="33448D"/>
                </a:solidFill>
                <a:latin typeface="Roboto"/>
                <a:ea typeface="Roboto"/>
                <a:cs typeface="Roboto"/>
                <a:sym typeface="Roboto"/>
              </a:rPr>
              <a:t>Status y Potencial Base Instalada Actual</a:t>
            </a:r>
            <a:endParaRPr/>
          </a:p>
        </p:txBody>
      </p:sp>
      <p:sp>
        <p:nvSpPr>
          <p:cNvPr id="457" name="Google Shape;457;p35"/>
          <p:cNvSpPr/>
          <p:nvPr/>
        </p:nvSpPr>
        <p:spPr>
          <a:xfrm>
            <a:off x="320832" y="5572665"/>
            <a:ext cx="11502870" cy="114246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Actualmente se tiene la región Metropolitana como Ciudad Hub (Técnicos, Coordinación, Jefatura y Distribución) y la región de Bío </a:t>
            </a:r>
            <a:r>
              <a:rPr lang="es-CL" sz="1000" dirty="0" err="1">
                <a:solidFill>
                  <a:schemeClr val="lt1"/>
                </a:solidFill>
                <a:latin typeface="Arial"/>
                <a:ea typeface="Arial"/>
                <a:cs typeface="Arial"/>
                <a:sym typeface="Arial"/>
              </a:rPr>
              <a:t>Bío</a:t>
            </a:r>
            <a:r>
              <a:rPr lang="es-CL" sz="1000" dirty="0">
                <a:solidFill>
                  <a:schemeClr val="lt1"/>
                </a:solidFill>
                <a:latin typeface="Arial"/>
                <a:ea typeface="Arial"/>
                <a:cs typeface="Arial"/>
                <a:sym typeface="Arial"/>
              </a:rPr>
              <a:t> como Satélite (Técnicos + Camioneta) de las regiones de Ñuble y la región de Los Lagos como Satélite (Técnicos + Camioneta) de la región de La Araucanía</a:t>
            </a:r>
            <a:endParaRPr dirty="0"/>
          </a:p>
          <a:p>
            <a:pPr marL="171450" marR="0" lvl="0" indent="-107950" algn="l" rtl="0">
              <a:spcBef>
                <a:spcPts val="0"/>
              </a:spcBef>
              <a:spcAft>
                <a:spcPts val="0"/>
              </a:spcAft>
              <a:buClr>
                <a:schemeClr val="dk1"/>
              </a:buClr>
              <a:buSzPts val="1000"/>
              <a:buFont typeface="Arial"/>
              <a:buNone/>
            </a:pPr>
            <a:endParaRPr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Considerando que para que una ciudad sea considerada Satélite y llegue a break </a:t>
            </a:r>
            <a:r>
              <a:rPr lang="es-CL" sz="1000" dirty="0" err="1">
                <a:solidFill>
                  <a:schemeClr val="lt1"/>
                </a:solidFill>
                <a:latin typeface="Arial"/>
                <a:ea typeface="Arial"/>
                <a:cs typeface="Arial"/>
                <a:sym typeface="Arial"/>
              </a:rPr>
              <a:t>even</a:t>
            </a:r>
            <a:r>
              <a:rPr lang="es-CL" sz="1000" dirty="0">
                <a:solidFill>
                  <a:schemeClr val="lt1"/>
                </a:solidFill>
                <a:latin typeface="Arial"/>
                <a:ea typeface="Arial"/>
                <a:cs typeface="Arial"/>
                <a:sym typeface="Arial"/>
              </a:rPr>
              <a:t>, debe ser capaz de capturar al menos MM$100 anuales, considerando Gastos de Bodegaje, Camioneta, un técnico alocado en al región y un margen de un 50%</a:t>
            </a:r>
            <a:endParaRPr dirty="0"/>
          </a:p>
          <a:p>
            <a:pPr marL="171450" marR="0" lvl="0" indent="-107950" algn="l" rtl="0">
              <a:spcBef>
                <a:spcPts val="0"/>
              </a:spcBef>
              <a:spcAft>
                <a:spcPts val="0"/>
              </a:spcAft>
              <a:buClr>
                <a:schemeClr val="dk1"/>
              </a:buClr>
              <a:buSzPts val="1000"/>
              <a:buFont typeface="Arial"/>
              <a:buNone/>
            </a:pPr>
            <a:endParaRPr sz="10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000"/>
              <a:buFont typeface="Arial"/>
              <a:buChar char="•"/>
            </a:pPr>
            <a:r>
              <a:rPr lang="es-CL" sz="1000" dirty="0">
                <a:solidFill>
                  <a:schemeClr val="lt1"/>
                </a:solidFill>
                <a:latin typeface="Arial"/>
                <a:ea typeface="Arial"/>
                <a:cs typeface="Arial"/>
                <a:sym typeface="Arial"/>
              </a:rPr>
              <a:t>De esto, y considerando los Hub actuales, hay una región “disponible para set Hub actualmente que es la región de </a:t>
            </a:r>
            <a:r>
              <a:rPr lang="es-CL" sz="1000" dirty="0" err="1">
                <a:solidFill>
                  <a:schemeClr val="lt1"/>
                </a:solidFill>
                <a:latin typeface="Arial"/>
                <a:ea typeface="Arial"/>
                <a:cs typeface="Arial"/>
                <a:sym typeface="Arial"/>
              </a:rPr>
              <a:t>Valparaiso</a:t>
            </a:r>
            <a:r>
              <a:rPr lang="es-CL" sz="1000" dirty="0">
                <a:solidFill>
                  <a:schemeClr val="lt1"/>
                </a:solidFill>
                <a:latin typeface="Arial"/>
                <a:ea typeface="Arial"/>
                <a:cs typeface="Arial"/>
                <a:sym typeface="Arial"/>
              </a:rPr>
              <a:t>, el resto no presentan el potencial suficiente para llegar a Break-</a:t>
            </a:r>
            <a:r>
              <a:rPr lang="es-CL" sz="1000" dirty="0" err="1">
                <a:solidFill>
                  <a:schemeClr val="lt1"/>
                </a:solidFill>
                <a:latin typeface="Arial"/>
                <a:ea typeface="Arial"/>
                <a:cs typeface="Arial"/>
                <a:sym typeface="Arial"/>
              </a:rPr>
              <a:t>even</a:t>
            </a:r>
            <a:endParaRPr sz="1000" dirty="0">
              <a:solidFill>
                <a:schemeClr val="lt1"/>
              </a:solidFill>
              <a:latin typeface="Arial"/>
              <a:ea typeface="Arial"/>
              <a:cs typeface="Arial"/>
              <a:sym typeface="Arial"/>
            </a:endParaRPr>
          </a:p>
        </p:txBody>
      </p:sp>
      <p:graphicFrame>
        <p:nvGraphicFramePr>
          <p:cNvPr id="3" name="Google Shape;456;p35">
            <a:extLst>
              <a:ext uri="{FF2B5EF4-FFF2-40B4-BE49-F238E27FC236}">
                <a16:creationId xmlns:a16="http://schemas.microsoft.com/office/drawing/2014/main" id="{677FF7F2-B4A4-4158-4EA1-0528479EF28E}"/>
              </a:ext>
            </a:extLst>
          </p:cNvPr>
          <p:cNvGraphicFramePr/>
          <p:nvPr>
            <p:extLst>
              <p:ext uri="{D42A27DB-BD31-4B8C-83A1-F6EECF244321}">
                <p14:modId xmlns:p14="http://schemas.microsoft.com/office/powerpoint/2010/main" val="711836614"/>
              </p:ext>
            </p:extLst>
          </p:nvPr>
        </p:nvGraphicFramePr>
        <p:xfrm>
          <a:off x="320832" y="1104900"/>
          <a:ext cx="11430000" cy="4145810"/>
        </p:xfrm>
        <a:graphic>
          <a:graphicData uri="http://schemas.openxmlformats.org/drawingml/2006/table">
            <a:tbl>
              <a:tblPr>
                <a:noFill/>
                <a:tableStyleId>{13D43741-7D58-4360-86AC-F6E32FA5FF39}</a:tableStyleId>
              </a:tblPr>
              <a:tblGrid>
                <a:gridCol w="1270000">
                  <a:extLst>
                    <a:ext uri="{9D8B030D-6E8A-4147-A177-3AD203B41FA5}">
                      <a16:colId xmlns:a16="http://schemas.microsoft.com/office/drawing/2014/main" val="20000"/>
                    </a:ext>
                  </a:extLst>
                </a:gridCol>
                <a:gridCol w="1270000">
                  <a:extLst>
                    <a:ext uri="{9D8B030D-6E8A-4147-A177-3AD203B41FA5}">
                      <a16:colId xmlns:a16="http://schemas.microsoft.com/office/drawing/2014/main" val="20001"/>
                    </a:ext>
                  </a:extLst>
                </a:gridCol>
                <a:gridCol w="1270000">
                  <a:extLst>
                    <a:ext uri="{9D8B030D-6E8A-4147-A177-3AD203B41FA5}">
                      <a16:colId xmlns:a16="http://schemas.microsoft.com/office/drawing/2014/main" val="20002"/>
                    </a:ext>
                  </a:extLst>
                </a:gridCol>
                <a:gridCol w="1270000">
                  <a:extLst>
                    <a:ext uri="{9D8B030D-6E8A-4147-A177-3AD203B41FA5}">
                      <a16:colId xmlns:a16="http://schemas.microsoft.com/office/drawing/2014/main" val="20003"/>
                    </a:ext>
                  </a:extLst>
                </a:gridCol>
                <a:gridCol w="1270000">
                  <a:extLst>
                    <a:ext uri="{9D8B030D-6E8A-4147-A177-3AD203B41FA5}">
                      <a16:colId xmlns:a16="http://schemas.microsoft.com/office/drawing/2014/main" val="20004"/>
                    </a:ext>
                  </a:extLst>
                </a:gridCol>
                <a:gridCol w="1270000">
                  <a:extLst>
                    <a:ext uri="{9D8B030D-6E8A-4147-A177-3AD203B41FA5}">
                      <a16:colId xmlns:a16="http://schemas.microsoft.com/office/drawing/2014/main" val="20005"/>
                    </a:ext>
                  </a:extLst>
                </a:gridCol>
                <a:gridCol w="1270000">
                  <a:extLst>
                    <a:ext uri="{9D8B030D-6E8A-4147-A177-3AD203B41FA5}">
                      <a16:colId xmlns:a16="http://schemas.microsoft.com/office/drawing/2014/main" val="20006"/>
                    </a:ext>
                  </a:extLst>
                </a:gridCol>
                <a:gridCol w="1270000">
                  <a:extLst>
                    <a:ext uri="{9D8B030D-6E8A-4147-A177-3AD203B41FA5}">
                      <a16:colId xmlns:a16="http://schemas.microsoft.com/office/drawing/2014/main" val="20008"/>
                    </a:ext>
                  </a:extLst>
                </a:gridCol>
                <a:gridCol w="1270000">
                  <a:extLst>
                    <a:ext uri="{9D8B030D-6E8A-4147-A177-3AD203B41FA5}">
                      <a16:colId xmlns:a16="http://schemas.microsoft.com/office/drawing/2014/main" val="20009"/>
                    </a:ext>
                  </a:extLst>
                </a:gridCol>
              </a:tblGrid>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REGIÓN</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EQUIPOS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DENTAL</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ESTERILIZAC</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ENDOSCOPÍA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INCARDIA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CLIENTES</a:t>
                      </a:r>
                      <a:endParaRPr/>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POTENCIAL ST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Metropolitana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1.468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40.1%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546</a:t>
                      </a: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491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137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2</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3"/>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MM$1106,6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3"/>
                    </a:solidFill>
                  </a:tcPr>
                </a:tc>
                <a:extLst>
                  <a:ext uri="{0D108BD9-81ED-4DB2-BD59-A6C34878D82A}">
                    <a16:rowId xmlns:a16="http://schemas.microsoft.com/office/drawing/2014/main" val="10001"/>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Bío Bío</a:t>
                      </a:r>
                      <a:endParaRPr sz="900" b="1" i="0" u="none" strike="noStrike" cap="none">
                        <a:solidFill>
                          <a:schemeClr val="dk1"/>
                        </a:solidFill>
                        <a:latin typeface="Roboto"/>
                        <a:ea typeface="Roboto"/>
                        <a:cs typeface="Roboto"/>
                        <a:sym typeface="Roboto"/>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310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10.4%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125</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149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82</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MM$290,8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02"/>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Valparaíso</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275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9.2%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131</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74</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MM$192,5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Los Lagos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165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5.6%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70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64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39</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MM$77,9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extLst>
                  <a:ext uri="{0D108BD9-81ED-4DB2-BD59-A6C34878D82A}">
                    <a16:rowId xmlns:a16="http://schemas.microsoft.com/office/drawing/2014/main" val="10004"/>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Araucanía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137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35</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98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33</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chemeClr val="accent1"/>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MM$162.5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1"/>
                    </a:solidFill>
                  </a:tcPr>
                </a:tc>
                <a:extLst>
                  <a:ext uri="{0D108BD9-81ED-4DB2-BD59-A6C34878D82A}">
                    <a16:rowId xmlns:a16="http://schemas.microsoft.com/office/drawing/2014/main" val="10005"/>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Maule</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130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71</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46</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MM$137,2</a:t>
                      </a: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06"/>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Coquimbo</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MX" sz="900" b="1" i="0" u="none" strike="noStrike" cap="none" dirty="0">
                          <a:solidFill>
                            <a:schemeClr val="lt2"/>
                          </a:solidFill>
                          <a:latin typeface="Roboto"/>
                          <a:ea typeface="Roboto"/>
                          <a:cs typeface="Roboto"/>
                          <a:sym typeface="Roboto"/>
                        </a:rPr>
                        <a:t>1</a:t>
                      </a:r>
                      <a:r>
                        <a:rPr lang="es-CL" sz="900" b="1" i="0" u="none" strike="noStrike" cap="none" dirty="0">
                          <a:solidFill>
                            <a:schemeClr val="lt2"/>
                          </a:solidFill>
                          <a:latin typeface="Roboto"/>
                          <a:ea typeface="Roboto"/>
                          <a:cs typeface="Roboto"/>
                          <a:sym typeface="Roboto"/>
                        </a:rPr>
                        <a:t>01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19</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41</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MM$91,5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O'Higgins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MX" sz="900" b="1" i="0" u="none" strike="noStrike" cap="none" dirty="0">
                          <a:solidFill>
                            <a:schemeClr val="lt2"/>
                          </a:solidFill>
                          <a:latin typeface="Roboto"/>
                          <a:ea typeface="Roboto"/>
                          <a:cs typeface="Roboto"/>
                          <a:sym typeface="Roboto"/>
                        </a:rPr>
                        <a:t>8</a:t>
                      </a:r>
                      <a:r>
                        <a:rPr lang="es-CL" sz="900" b="1" i="0" u="none" strike="noStrike" cap="none" dirty="0">
                          <a:solidFill>
                            <a:schemeClr val="lt2"/>
                          </a:solidFill>
                          <a:latin typeface="Roboto"/>
                          <a:ea typeface="Roboto"/>
                          <a:cs typeface="Roboto"/>
                          <a:sym typeface="Roboto"/>
                        </a:rPr>
                        <a:t>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57</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32</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MM$77,1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Antofagasta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MX" sz="900" b="1" i="0" u="none" strike="noStrike" cap="none" dirty="0">
                          <a:solidFill>
                            <a:schemeClr val="lt2"/>
                          </a:solidFill>
                          <a:latin typeface="Roboto"/>
                          <a:ea typeface="Roboto"/>
                          <a:cs typeface="Roboto"/>
                          <a:sym typeface="Roboto"/>
                        </a:rPr>
                        <a:t>5</a:t>
                      </a:r>
                      <a:r>
                        <a:rPr lang="es-CL" sz="900" b="1" i="0" u="none" strike="noStrike" cap="none" dirty="0">
                          <a:solidFill>
                            <a:schemeClr val="lt2"/>
                          </a:solidFill>
                          <a:latin typeface="Roboto"/>
                          <a:ea typeface="Roboto"/>
                          <a:cs typeface="Roboto"/>
                          <a:sym typeface="Roboto"/>
                        </a:rPr>
                        <a:t>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MM$59,0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r h="214650">
                <a:tc>
                  <a:txBody>
                    <a:bodyPr/>
                    <a:lstStyle/>
                    <a:p>
                      <a:pPr marL="0" marR="0" lvl="0" indent="0" algn="l"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Ñuble</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MX" sz="900" b="1" i="0" u="none" strike="noStrike" cap="none" dirty="0">
                          <a:solidFill>
                            <a:schemeClr val="dk1"/>
                          </a:solidFill>
                          <a:latin typeface="Roboto"/>
                          <a:ea typeface="Roboto"/>
                          <a:cs typeface="Roboto"/>
                          <a:sym typeface="Roboto"/>
                        </a:rPr>
                        <a:t>58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30</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a:solidFill>
                            <a:schemeClr val="dk1"/>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24</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0000"/>
                    </a:solidFill>
                  </a:tcPr>
                </a:tc>
                <a:tc>
                  <a:txBody>
                    <a:bodyPr/>
                    <a:lstStyle/>
                    <a:p>
                      <a:pPr marL="0" marR="0" lvl="0" indent="0" algn="r" rtl="0">
                        <a:spcBef>
                          <a:spcPts val="0"/>
                        </a:spcBef>
                        <a:spcAft>
                          <a:spcPts val="0"/>
                        </a:spcAft>
                        <a:buClr>
                          <a:schemeClr val="dk1"/>
                        </a:buClr>
                        <a:buSzPts val="900"/>
                        <a:buFont typeface="Roboto"/>
                        <a:buNone/>
                      </a:pPr>
                      <a:r>
                        <a:rPr lang="es-CL" sz="900" b="1" i="0" u="none" strike="noStrike" cap="none" dirty="0">
                          <a:solidFill>
                            <a:schemeClr val="dk1"/>
                          </a:solidFill>
                          <a:latin typeface="Roboto"/>
                          <a:ea typeface="Roboto"/>
                          <a:cs typeface="Roboto"/>
                          <a:sym typeface="Roboto"/>
                        </a:rPr>
                        <a:t>MM$61,3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0000"/>
                    </a:solidFill>
                  </a:tcPr>
                </a:tc>
                <a:extLst>
                  <a:ext uri="{0D108BD9-81ED-4DB2-BD59-A6C34878D82A}">
                    <a16:rowId xmlns:a16="http://schemas.microsoft.com/office/drawing/2014/main" val="10010"/>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Tarapacá</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15</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MM$39,8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1"/>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Magallanes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16</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MM$40,,7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Aysén</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MM$16,0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3"/>
                  </a:ext>
                </a:extLst>
              </a:tr>
              <a:tr h="351225">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Arica y Parinacota</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19</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0.6%</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6</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MM$19,4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4"/>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Los Ríos</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17</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0.5%</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13</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MM$29,0</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5"/>
                  </a:ext>
                </a:extLst>
              </a:tr>
              <a:tr h="214650">
                <a:tc>
                  <a:txBody>
                    <a:bodyPr/>
                    <a:lstStyle/>
                    <a:p>
                      <a:pPr marL="0" marR="0" lvl="0" indent="0" algn="l"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Atacama</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0.4%</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3</a:t>
                      </a:r>
                      <a:endParaRPr lang="es-CL"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a:t>
                      </a:r>
                      <a:endParaRPr/>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lgn="ctr">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MM$12,1</a:t>
                      </a:r>
                      <a:endParaRPr dirty="0"/>
                    </a:p>
                  </a:txBody>
                  <a:tcPr marL="78050" marR="78050" marT="39025" marB="390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6"/>
                  </a:ext>
                </a:extLst>
              </a:tr>
              <a:tr h="351225">
                <a:tc>
                  <a:txBody>
                    <a:bodyPr/>
                    <a:lstStyle/>
                    <a:p>
                      <a:pPr marL="0" marR="0" lvl="0" indent="0" algn="l"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TOTAL · 16 regiones</a:t>
                      </a:r>
                      <a:endParaRPr dirty="0"/>
                    </a:p>
                  </a:txBody>
                  <a:tcPr marL="78050" marR="78050" marT="39025" marB="39025" anchor="ctr">
                    <a:lnL w="12700" cap="flat" cmpd="sng">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2.932</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100%</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1.289</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1.224</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415</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a:solidFill>
                            <a:schemeClr val="lt2"/>
                          </a:solidFill>
                          <a:latin typeface="Roboto"/>
                          <a:ea typeface="Roboto"/>
                          <a:cs typeface="Roboto"/>
                          <a:sym typeface="Roboto"/>
                        </a:rPr>
                        <a:t>3</a:t>
                      </a:r>
                      <a:endParaRPr/>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866</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lgn="ctr">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tc>
                  <a:txBody>
                    <a:bodyPr/>
                    <a:lstStyle/>
                    <a:p>
                      <a:pPr marL="0" marR="0" lvl="0" indent="0" algn="r" rtl="0">
                        <a:spcBef>
                          <a:spcPts val="0"/>
                        </a:spcBef>
                        <a:spcAft>
                          <a:spcPts val="0"/>
                        </a:spcAft>
                        <a:buClr>
                          <a:schemeClr val="lt2"/>
                        </a:buClr>
                        <a:buSzPts val="900"/>
                        <a:buFont typeface="Roboto"/>
                        <a:buNone/>
                      </a:pPr>
                      <a:r>
                        <a:rPr lang="es-CL" sz="900" b="1" i="0" u="none" strike="noStrike" cap="none" dirty="0">
                          <a:solidFill>
                            <a:schemeClr val="lt2"/>
                          </a:solidFill>
                          <a:latin typeface="Roboto"/>
                          <a:ea typeface="Roboto"/>
                          <a:cs typeface="Roboto"/>
                          <a:sym typeface="Roboto"/>
                        </a:rPr>
                        <a:t>MM$2.413,5</a:t>
                      </a:r>
                      <a:endParaRPr dirty="0"/>
                    </a:p>
                  </a:txBody>
                  <a:tcPr marL="78050" marR="78050" marT="39025" marB="39025" anchor="ctr">
                    <a:lnL w="12700" cap="flat" cmpd="sng" algn="ctr">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lgn="ctr">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rgbClr val="FFFFFF"/>
                    </a:solidFill>
                  </a:tcPr>
                </a:tc>
                <a:extLst>
                  <a:ext uri="{0D108BD9-81ED-4DB2-BD59-A6C34878D82A}">
                    <a16:rowId xmlns:a16="http://schemas.microsoft.com/office/drawing/2014/main" val="10017"/>
                  </a:ext>
                </a:extLst>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de Acción Para Clientes por Región – Considerando Antigüedad de Equipos </a:t>
            </a:r>
            <a:endParaRPr dirty="0"/>
          </a:p>
        </p:txBody>
      </p:sp>
      <p:sp>
        <p:nvSpPr>
          <p:cNvPr id="470" name="Google Shape;470;p36"/>
          <p:cNvSpPr/>
          <p:nvPr/>
        </p:nvSpPr>
        <p:spPr>
          <a:xfrm>
            <a:off x="320832" y="5572665"/>
            <a:ext cx="11502870" cy="1142460"/>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Sí de lo anterior, se cruza con la antigüedad de los equipos (en donde probablemente haya más potencial de reparación y/o renovación) se obtienen los Top 10 Clientes Foco con mayor base instalada y potencial</a:t>
            </a:r>
            <a:endParaRPr/>
          </a:p>
        </p:txBody>
      </p:sp>
      <p:pic>
        <p:nvPicPr>
          <p:cNvPr id="4" name="Imagen 3">
            <a:extLst>
              <a:ext uri="{FF2B5EF4-FFF2-40B4-BE49-F238E27FC236}">
                <a16:creationId xmlns:a16="http://schemas.microsoft.com/office/drawing/2014/main" id="{2B4B1812-833B-0F9A-A286-B46F5049A108}"/>
              </a:ext>
            </a:extLst>
          </p:cNvPr>
          <p:cNvPicPr>
            <a:picLocks noChangeAspect="1"/>
          </p:cNvPicPr>
          <p:nvPr/>
        </p:nvPicPr>
        <p:blipFill>
          <a:blip r:embed="rId3"/>
          <a:stretch>
            <a:fillRect/>
          </a:stretch>
        </p:blipFill>
        <p:spPr>
          <a:xfrm>
            <a:off x="-23733" y="869593"/>
            <a:ext cx="12192000" cy="4442928"/>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Plan Clientes Foco</a:t>
            </a:r>
            <a:endParaRPr/>
          </a:p>
        </p:txBody>
      </p:sp>
      <p:sp>
        <p:nvSpPr>
          <p:cNvPr id="483" name="Google Shape;483;p37"/>
          <p:cNvSpPr/>
          <p:nvPr/>
        </p:nvSpPr>
        <p:spPr>
          <a:xfrm>
            <a:off x="320832" y="5274000"/>
            <a:ext cx="11502870" cy="1482913"/>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Se toma como clientes foco aquellos que según la matriz presenta gran potencial de (reparación) debido a Rango de Vida útil crítico &gt;6 y &lt;9 y gran cantidad de base instalada en equipos, con esto se cubre un 50% del Potencial actual con la base instalada a lo largo de todo Chile</a:t>
            </a:r>
            <a:endParaRPr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Los Clientes de este plan son los que tienen base instalada de GEMCO y no tienen ningún contrato activo</a:t>
            </a:r>
            <a:endParaRPr sz="1200" dirty="0">
              <a:solidFill>
                <a:schemeClr val="lt1"/>
              </a:solidFill>
              <a:latin typeface="Arial"/>
              <a:ea typeface="Arial"/>
              <a:cs typeface="Arial"/>
              <a:sym typeface="Arial"/>
            </a:endParaRP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Con foco inmediato en la región Metropolitana, Bío </a:t>
            </a:r>
            <a:r>
              <a:rPr lang="es-CL" sz="1200" dirty="0" err="1">
                <a:solidFill>
                  <a:schemeClr val="lt1"/>
                </a:solidFill>
                <a:latin typeface="Arial"/>
                <a:ea typeface="Arial"/>
                <a:cs typeface="Arial"/>
                <a:sym typeface="Arial"/>
              </a:rPr>
              <a:t>Bío</a:t>
            </a:r>
            <a:r>
              <a:rPr lang="es-CL" sz="1200" dirty="0">
                <a:solidFill>
                  <a:schemeClr val="lt1"/>
                </a:solidFill>
                <a:latin typeface="Arial"/>
                <a:ea typeface="Arial"/>
                <a:cs typeface="Arial"/>
                <a:sym typeface="Arial"/>
              </a:rPr>
              <a:t>, Araucanía, Los Lagos y Valparaíso</a:t>
            </a:r>
            <a:endParaRPr sz="1200" dirty="0">
              <a:solidFill>
                <a:schemeClr val="lt1"/>
              </a:solidFill>
              <a:latin typeface="Arial"/>
              <a:ea typeface="Arial"/>
              <a:cs typeface="Arial"/>
              <a:sym typeface="Arial"/>
            </a:endParaRPr>
          </a:p>
          <a:p>
            <a:pPr marL="171450" indent="-171450">
              <a:buClr>
                <a:schemeClr val="lt1"/>
              </a:buClr>
              <a:buSzPts val="1200"/>
              <a:buFont typeface="Arial"/>
              <a:buChar char="•"/>
            </a:pPr>
            <a:r>
              <a:rPr lang="es-CL" sz="1200" dirty="0">
                <a:solidFill>
                  <a:schemeClr val="lt1"/>
                </a:solidFill>
                <a:latin typeface="Arial"/>
                <a:ea typeface="Arial"/>
                <a:cs typeface="Arial"/>
                <a:sym typeface="Arial"/>
              </a:rPr>
              <a:t>No obstante, desde el mes de </a:t>
            </a:r>
            <a:r>
              <a:rPr lang="es-CL" sz="1200" dirty="0" err="1">
                <a:solidFill>
                  <a:schemeClr val="lt1"/>
                </a:solidFill>
                <a:latin typeface="Arial"/>
                <a:ea typeface="Arial"/>
                <a:cs typeface="Arial"/>
                <a:sym typeface="Arial"/>
              </a:rPr>
              <a:t>oc</a:t>
            </a:r>
            <a:r>
              <a:rPr lang="es-CL" sz="1200" dirty="0">
                <a:solidFill>
                  <a:schemeClr val="lt1"/>
                </a:solidFill>
                <a:latin typeface="Arial"/>
                <a:ea typeface="Arial"/>
                <a:cs typeface="Arial"/>
                <a:sym typeface="Arial"/>
              </a:rPr>
              <a:t> </a:t>
            </a:r>
            <a:r>
              <a:rPr lang="es-MX" sz="1200" dirty="0">
                <a:solidFill>
                  <a:schemeClr val="lt1"/>
                </a:solidFill>
              </a:rPr>
              <a:t>Con respecto a la zona norte esta actualmente no presenta potencial de ejecución actual, por lo cual no permite la existencia de región Hub con el contexto actual</a:t>
            </a:r>
          </a:p>
          <a:p>
            <a:pPr marL="171450" marR="0" lvl="0" indent="-171450" algn="l" rtl="0">
              <a:spcBef>
                <a:spcPts val="0"/>
              </a:spcBef>
              <a:spcAft>
                <a:spcPts val="0"/>
              </a:spcAft>
              <a:buClr>
                <a:schemeClr val="lt1"/>
              </a:buClr>
              <a:buSzPts val="1200"/>
              <a:buFont typeface="Arial"/>
              <a:buChar char="•"/>
            </a:pPr>
            <a:r>
              <a:rPr lang="es-CL" sz="1200" dirty="0">
                <a:solidFill>
                  <a:schemeClr val="lt1"/>
                </a:solidFill>
                <a:latin typeface="Arial"/>
                <a:ea typeface="Arial"/>
                <a:cs typeface="Arial"/>
                <a:sym typeface="Arial"/>
              </a:rPr>
              <a:t>t-27 el HS entra en marcha permitiendo tener un Hub ahí.</a:t>
            </a:r>
            <a:endParaRPr dirty="0"/>
          </a:p>
        </p:txBody>
      </p:sp>
      <p:graphicFrame>
        <p:nvGraphicFramePr>
          <p:cNvPr id="8" name="Tabla 7">
            <a:extLst>
              <a:ext uri="{FF2B5EF4-FFF2-40B4-BE49-F238E27FC236}">
                <a16:creationId xmlns:a16="http://schemas.microsoft.com/office/drawing/2014/main" id="{47752FAE-0C0B-2551-B709-251845F41AE1}"/>
              </a:ext>
            </a:extLst>
          </p:cNvPr>
          <p:cNvGraphicFramePr>
            <a:graphicFrameLocks noGrp="1"/>
          </p:cNvGraphicFramePr>
          <p:nvPr>
            <p:extLst>
              <p:ext uri="{D42A27DB-BD31-4B8C-83A1-F6EECF244321}">
                <p14:modId xmlns:p14="http://schemas.microsoft.com/office/powerpoint/2010/main" val="4274631625"/>
              </p:ext>
            </p:extLst>
          </p:nvPr>
        </p:nvGraphicFramePr>
        <p:xfrm>
          <a:off x="486632" y="774000"/>
          <a:ext cx="11337068" cy="4356367"/>
        </p:xfrm>
        <a:graphic>
          <a:graphicData uri="http://schemas.openxmlformats.org/drawingml/2006/table">
            <a:tbl>
              <a:tblPr/>
              <a:tblGrid>
                <a:gridCol w="348540">
                  <a:extLst>
                    <a:ext uri="{9D8B030D-6E8A-4147-A177-3AD203B41FA5}">
                      <a16:colId xmlns:a16="http://schemas.microsoft.com/office/drawing/2014/main" val="1330018647"/>
                    </a:ext>
                  </a:extLst>
                </a:gridCol>
                <a:gridCol w="1013936">
                  <a:extLst>
                    <a:ext uri="{9D8B030D-6E8A-4147-A177-3AD203B41FA5}">
                      <a16:colId xmlns:a16="http://schemas.microsoft.com/office/drawing/2014/main" val="1879532688"/>
                    </a:ext>
                  </a:extLst>
                </a:gridCol>
                <a:gridCol w="525979">
                  <a:extLst>
                    <a:ext uri="{9D8B030D-6E8A-4147-A177-3AD203B41FA5}">
                      <a16:colId xmlns:a16="http://schemas.microsoft.com/office/drawing/2014/main" val="1204628661"/>
                    </a:ext>
                  </a:extLst>
                </a:gridCol>
                <a:gridCol w="481619">
                  <a:extLst>
                    <a:ext uri="{9D8B030D-6E8A-4147-A177-3AD203B41FA5}">
                      <a16:colId xmlns:a16="http://schemas.microsoft.com/office/drawing/2014/main" val="4240498514"/>
                    </a:ext>
                  </a:extLst>
                </a:gridCol>
                <a:gridCol w="574564">
                  <a:extLst>
                    <a:ext uri="{9D8B030D-6E8A-4147-A177-3AD203B41FA5}">
                      <a16:colId xmlns:a16="http://schemas.microsoft.com/office/drawing/2014/main" val="2413510108"/>
                    </a:ext>
                  </a:extLst>
                </a:gridCol>
                <a:gridCol w="574564">
                  <a:extLst>
                    <a:ext uri="{9D8B030D-6E8A-4147-A177-3AD203B41FA5}">
                      <a16:colId xmlns:a16="http://schemas.microsoft.com/office/drawing/2014/main" val="1181512347"/>
                    </a:ext>
                  </a:extLst>
                </a:gridCol>
                <a:gridCol w="659058">
                  <a:extLst>
                    <a:ext uri="{9D8B030D-6E8A-4147-A177-3AD203B41FA5}">
                      <a16:colId xmlns:a16="http://schemas.microsoft.com/office/drawing/2014/main" val="2763852620"/>
                    </a:ext>
                  </a:extLst>
                </a:gridCol>
                <a:gridCol w="525979">
                  <a:extLst>
                    <a:ext uri="{9D8B030D-6E8A-4147-A177-3AD203B41FA5}">
                      <a16:colId xmlns:a16="http://schemas.microsoft.com/office/drawing/2014/main" val="2890441419"/>
                    </a:ext>
                  </a:extLst>
                </a:gridCol>
                <a:gridCol w="659058">
                  <a:extLst>
                    <a:ext uri="{9D8B030D-6E8A-4147-A177-3AD203B41FA5}">
                      <a16:colId xmlns:a16="http://schemas.microsoft.com/office/drawing/2014/main" val="3573793260"/>
                    </a:ext>
                  </a:extLst>
                </a:gridCol>
                <a:gridCol w="1106880">
                  <a:extLst>
                    <a:ext uri="{9D8B030D-6E8A-4147-A177-3AD203B41FA5}">
                      <a16:colId xmlns:a16="http://schemas.microsoft.com/office/drawing/2014/main" val="2259143903"/>
                    </a:ext>
                  </a:extLst>
                </a:gridCol>
                <a:gridCol w="616811">
                  <a:extLst>
                    <a:ext uri="{9D8B030D-6E8A-4147-A177-3AD203B41FA5}">
                      <a16:colId xmlns:a16="http://schemas.microsoft.com/office/drawing/2014/main" val="2872512790"/>
                    </a:ext>
                  </a:extLst>
                </a:gridCol>
                <a:gridCol w="2881267">
                  <a:extLst>
                    <a:ext uri="{9D8B030D-6E8A-4147-A177-3AD203B41FA5}">
                      <a16:colId xmlns:a16="http://schemas.microsoft.com/office/drawing/2014/main" val="1843059913"/>
                    </a:ext>
                  </a:extLst>
                </a:gridCol>
                <a:gridCol w="1368813">
                  <a:extLst>
                    <a:ext uri="{9D8B030D-6E8A-4147-A177-3AD203B41FA5}">
                      <a16:colId xmlns:a16="http://schemas.microsoft.com/office/drawing/2014/main" val="3525641382"/>
                    </a:ext>
                  </a:extLst>
                </a:gridCol>
              </a:tblGrid>
              <a:tr h="154786">
                <a:tc gridSpan="13">
                  <a:txBody>
                    <a:bodyPr/>
                    <a:lstStyle/>
                    <a:p>
                      <a:pPr algn="l" fontAlgn="ctr">
                        <a:buNone/>
                      </a:pPr>
                      <a:r>
                        <a:rPr lang="es-CL" sz="700" b="1" i="0" u="none" strike="noStrike" dirty="0">
                          <a:solidFill>
                            <a:srgbClr val="FFFFFF"/>
                          </a:solidFill>
                          <a:effectLst/>
                          <a:latin typeface="Calibri" panose="020F0502020204030204" pitchFamily="34" charset="0"/>
                        </a:rPr>
                        <a:t>PLAN DE VISITAS TECSERVICE — RESUMEN CONSOLIDADO POR REGIÓN</a:t>
                      </a:r>
                    </a:p>
                  </a:txBody>
                  <a:tcPr marL="5776" marR="5776" marT="5776" marB="0" anchor="ctr">
                    <a:lnL>
                      <a:noFill/>
                    </a:lnL>
                    <a:lnR>
                      <a:noFill/>
                    </a:lnR>
                    <a:lnT>
                      <a:noFill/>
                    </a:lnT>
                    <a:lnB>
                      <a:noFill/>
                    </a:lnB>
                    <a:solidFill>
                      <a:srgbClr val="1F3864"/>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2180296117"/>
                  </a:ext>
                </a:extLst>
              </a:tr>
              <a:tr h="107426">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dirty="0">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tc>
                  <a:txBody>
                    <a:bodyPr/>
                    <a:lstStyle/>
                    <a:p>
                      <a:pPr algn="l" fontAlgn="b">
                        <a:buNone/>
                      </a:pPr>
                      <a:endParaRPr lang="es-CL" sz="700" b="0" i="0" u="none" strike="noStrike">
                        <a:effectLst/>
                        <a:latin typeface="Calibri" panose="020F0502020204030204" pitchFamily="34" charset="0"/>
                      </a:endParaRPr>
                    </a:p>
                  </a:txBody>
                  <a:tcPr marL="5776" marR="5776" marT="5776" marB="0" anchor="b">
                    <a:lnL>
                      <a:noFill/>
                    </a:lnL>
                    <a:lnR>
                      <a:noFill/>
                    </a:lnR>
                    <a:lnT>
                      <a:noFill/>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530508487"/>
                  </a:ext>
                </a:extLst>
              </a:tr>
              <a:tr h="277229">
                <a:tc>
                  <a:txBody>
                    <a:bodyPr/>
                    <a:lstStyle/>
                    <a:p>
                      <a:pPr algn="ctr" fontAlgn="ctr">
                        <a:buNone/>
                      </a:pPr>
                      <a:r>
                        <a:rPr lang="es-CL" sz="500" b="1" i="0" u="none" strike="noStrike">
                          <a:solidFill>
                            <a:srgbClr val="FFFFFF"/>
                          </a:solidFill>
                          <a:effectLst/>
                          <a:latin typeface="Calibri" panose="020F0502020204030204" pitchFamily="34" charset="0"/>
                        </a:rPr>
                        <a:t>Prior.</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a:solidFill>
                            <a:srgbClr val="FFFFFF"/>
                          </a:solidFill>
                          <a:effectLst/>
                          <a:latin typeface="Calibri" panose="020F0502020204030204" pitchFamily="34" charset="0"/>
                        </a:rPr>
                        <a:t>Región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a:solidFill>
                            <a:srgbClr val="FFFFFF"/>
                          </a:solidFill>
                          <a:effectLst/>
                          <a:latin typeface="Calibri" panose="020F0502020204030204" pitchFamily="34" charset="0"/>
                        </a:rPr>
                        <a:t>N° Clientes</a:t>
                      </a:r>
                      <a:br>
                        <a:rPr lang="es-CL" sz="500" b="1" i="0" u="none" strike="noStrike">
                          <a:solidFill>
                            <a:srgbClr val="FFFFFF"/>
                          </a:solidFill>
                          <a:effectLst/>
                          <a:latin typeface="Calibri" panose="020F0502020204030204" pitchFamily="34" charset="0"/>
                        </a:rPr>
                      </a:br>
                      <a:r>
                        <a:rPr lang="es-CL" sz="500" b="1" i="0" u="none" strike="noStrike">
                          <a:solidFill>
                            <a:srgbClr val="FFFFFF"/>
                          </a:solidFill>
                          <a:effectLst/>
                          <a:latin typeface="Calibri" panose="020F0502020204030204" pitchFamily="34" charset="0"/>
                        </a:rPr>
                        <a:t>Foco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a:solidFill>
                            <a:srgbClr val="FFFFFF"/>
                          </a:solidFill>
                          <a:effectLst/>
                          <a:latin typeface="Calibri" panose="020F0502020204030204" pitchFamily="34" charset="0"/>
                        </a:rPr>
                        <a:t>Equipos</a:t>
                      </a:r>
                      <a:br>
                        <a:rPr lang="es-CL" sz="500" b="1" i="0" u="none" strike="noStrike">
                          <a:solidFill>
                            <a:srgbClr val="FFFFFF"/>
                          </a:solidFill>
                          <a:effectLst/>
                          <a:latin typeface="Calibri" panose="020F0502020204030204" pitchFamily="34" charset="0"/>
                        </a:rPr>
                      </a:br>
                      <a:r>
                        <a:rPr lang="es-CL" sz="500" b="1" i="0" u="none" strike="noStrike">
                          <a:solidFill>
                            <a:srgbClr val="FFFFFF"/>
                          </a:solidFill>
                          <a:effectLst/>
                          <a:latin typeface="Calibri" panose="020F0502020204030204" pitchFamily="34" charset="0"/>
                        </a:rPr>
                        <a:t>Foco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a:solidFill>
                            <a:srgbClr val="FFFFFF"/>
                          </a:solidFill>
                          <a:effectLst/>
                          <a:latin typeface="Calibri" panose="020F0502020204030204" pitchFamily="34" charset="0"/>
                        </a:rPr>
                        <a:t>Pot. Foco</a:t>
                      </a:r>
                      <a:br>
                        <a:rPr lang="es-CL" sz="500" b="1" i="0" u="none" strike="noStrike">
                          <a:solidFill>
                            <a:srgbClr val="FFFFFF"/>
                          </a:solidFill>
                          <a:effectLst/>
                          <a:latin typeface="Calibri" panose="020F0502020204030204" pitchFamily="34" charset="0"/>
                        </a:rPr>
                      </a:br>
                      <a:r>
                        <a:rPr lang="es-CL" sz="500" b="1" i="0" u="none" strike="noStrike">
                          <a:solidFill>
                            <a:srgbClr val="FFFFFF"/>
                          </a:solidFill>
                          <a:effectLst/>
                          <a:latin typeface="Calibri" panose="020F0502020204030204" pitchFamily="34" charset="0"/>
                        </a:rPr>
                        <a:t>MM$</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a:solidFill>
                            <a:srgbClr val="FFFFFF"/>
                          </a:solidFill>
                          <a:effectLst/>
                          <a:latin typeface="Calibri" panose="020F0502020204030204" pitchFamily="34" charset="0"/>
                        </a:rPr>
                        <a:t>Margen (MM$)</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a:solidFill>
                            <a:srgbClr val="FFFFFF"/>
                          </a:solidFill>
                          <a:effectLst/>
                          <a:latin typeface="Calibri" panose="020F0502020204030204" pitchFamily="34" charset="0"/>
                        </a:rPr>
                        <a:t>Pot. Total</a:t>
                      </a:r>
                      <a:br>
                        <a:rPr lang="es-CL" sz="500" b="1" i="0" u="none" strike="noStrike">
                          <a:solidFill>
                            <a:srgbClr val="FFFFFF"/>
                          </a:solidFill>
                          <a:effectLst/>
                          <a:latin typeface="Calibri" panose="020F0502020204030204" pitchFamily="34" charset="0"/>
                        </a:rPr>
                      </a:br>
                      <a:r>
                        <a:rPr lang="es-CL" sz="500" b="1" i="0" u="none" strike="noStrike">
                          <a:solidFill>
                            <a:srgbClr val="FFFFFF"/>
                          </a:solidFill>
                          <a:effectLst/>
                          <a:latin typeface="Calibri" panose="020F0502020204030204" pitchFamily="34" charset="0"/>
                        </a:rPr>
                        <a:t>Región MM$</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dirty="0">
                          <a:solidFill>
                            <a:srgbClr val="FFFFFF"/>
                          </a:solidFill>
                          <a:effectLst/>
                          <a:latin typeface="Calibri" panose="020F0502020204030204" pitchFamily="34" charset="0"/>
                        </a:rPr>
                        <a:t>% Plan Atacado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a:solidFill>
                            <a:srgbClr val="FFFFFF"/>
                          </a:solidFill>
                          <a:effectLst/>
                          <a:latin typeface="Calibri" panose="020F0502020204030204" pitchFamily="34" charset="0"/>
                        </a:rPr>
                        <a:t>Ticket Promedio por Cliente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a:solidFill>
                            <a:srgbClr val="FFFFFF"/>
                          </a:solidFill>
                          <a:effectLst/>
                          <a:latin typeface="Calibri" panose="020F0502020204030204" pitchFamily="34" charset="0"/>
                        </a:rPr>
                        <a:t>Período</a:t>
                      </a:r>
                      <a:br>
                        <a:rPr lang="es-CL" sz="500" b="1" i="0" u="none" strike="noStrike">
                          <a:solidFill>
                            <a:srgbClr val="FFFFFF"/>
                          </a:solidFill>
                          <a:effectLst/>
                          <a:latin typeface="Calibri" panose="020F0502020204030204" pitchFamily="34" charset="0"/>
                        </a:rPr>
                      </a:br>
                      <a:r>
                        <a:rPr lang="es-CL" sz="500" b="1" i="0" u="none" strike="noStrike">
                          <a:solidFill>
                            <a:srgbClr val="FFFFFF"/>
                          </a:solidFill>
                          <a:effectLst/>
                          <a:latin typeface="Calibri" panose="020F0502020204030204" pitchFamily="34" charset="0"/>
                        </a:rPr>
                        <a:t>Campaña</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a:solidFill>
                            <a:srgbClr val="FFFFFF"/>
                          </a:solidFill>
                          <a:effectLst/>
                          <a:latin typeface="Calibri" panose="020F0502020204030204" pitchFamily="34" charset="0"/>
                        </a:rPr>
                        <a:t>Estado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a:solidFill>
                            <a:srgbClr val="FFFFFF"/>
                          </a:solidFill>
                          <a:effectLst/>
                          <a:latin typeface="Calibri" panose="020F0502020204030204" pitchFamily="34" charset="0"/>
                        </a:rPr>
                        <a:t>Acciones Clave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ctr" fontAlgn="ctr">
                        <a:buNone/>
                      </a:pPr>
                      <a:r>
                        <a:rPr lang="es-CL" sz="500" b="1" i="0" u="none" strike="noStrike">
                          <a:solidFill>
                            <a:srgbClr val="FFFFFF"/>
                          </a:solidFill>
                          <a:effectLst/>
                          <a:latin typeface="Calibri" panose="020F0502020204030204" pitchFamily="34" charset="0"/>
                        </a:rPr>
                        <a:t>Obs.</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3519080764"/>
                  </a:ext>
                </a:extLst>
              </a:tr>
              <a:tr h="231024">
                <a:tc>
                  <a:txBody>
                    <a:bodyPr/>
                    <a:lstStyle/>
                    <a:p>
                      <a:pPr algn="ctr" fontAlgn="ctr">
                        <a:buNone/>
                      </a:pPr>
                      <a:r>
                        <a:rPr lang="es-CL" sz="500" b="1" i="0" u="none" strike="noStrike">
                          <a:solidFill>
                            <a:srgbClr val="FFFFFF"/>
                          </a:solidFill>
                          <a:effectLst/>
                          <a:latin typeface="Calibri" panose="020F0502020204030204" pitchFamily="34" charset="0"/>
                        </a:rPr>
                        <a:t>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C00000"/>
                    </a:solidFill>
                  </a:tcPr>
                </a:tc>
                <a:tc>
                  <a:txBody>
                    <a:bodyPr/>
                    <a:lstStyle/>
                    <a:p>
                      <a:pPr algn="l" fontAlgn="ctr">
                        <a:buNone/>
                      </a:pPr>
                      <a:r>
                        <a:rPr lang="es-CL" sz="500" b="1" i="0" u="none" strike="noStrike">
                          <a:solidFill>
                            <a:srgbClr val="1F1F1F"/>
                          </a:solidFill>
                          <a:effectLst/>
                          <a:latin typeface="Calibri" panose="020F0502020204030204" pitchFamily="34" charset="0"/>
                        </a:rPr>
                        <a:t>Metropolitana</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921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592,1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325,7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1.400,5</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42,3%</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1,5</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Sep–Oct 2026 (inmediato) + continuo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7F6000"/>
                          </a:solidFill>
                          <a:effectLst/>
                          <a:latin typeface="Calibri" panose="020F0502020204030204" pitchFamily="34" charset="0"/>
                        </a:rPr>
                        <a:t>Planificado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l" fontAlgn="ctr">
                        <a:buNone/>
                      </a:pPr>
                      <a:r>
                        <a:rPr lang="es-CL" sz="500" b="0" i="0" u="none" strike="noStrike">
                          <a:solidFill>
                            <a:srgbClr val="1F1F1F"/>
                          </a:solidFill>
                          <a:effectLst/>
                          <a:latin typeface="Calibri" panose="020F0502020204030204" pitchFamily="34" charset="0"/>
                        </a:rPr>
                        <a:t>Reunión / Visita gerencial · Levantamiento técnico · Auditoría técnica · Contrato preventivo · Oferta comercial · Programa preventivo · Evaluación de renovación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Prioridad máxima. Inicio inmediato.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738917598"/>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Bío Bío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130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170,9</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85,5</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359,1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47,6%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2,8</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Sep 2026 – 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1" i="0" u="none" strike="noStrike">
                          <a:solidFill>
                            <a:srgbClr val="FFFFFF"/>
                          </a:solidFill>
                          <a:effectLst/>
                          <a:latin typeface="Calibri" panose="020F0502020204030204" pitchFamily="34" charset="0"/>
                        </a:rPr>
                        <a:t>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6B3C"/>
                    </a:solidFill>
                  </a:tcPr>
                </a:tc>
                <a:tc>
                  <a:txBody>
                    <a:bodyPr/>
                    <a:lstStyle/>
                    <a:p>
                      <a:pPr algn="l" fontAlgn="ctr">
                        <a:buNone/>
                      </a:pPr>
                      <a:r>
                        <a:rPr lang="es-CL" sz="500" b="0" i="0" u="none" strike="noStrike">
                          <a:solidFill>
                            <a:srgbClr val="1F1F1F"/>
                          </a:solidFill>
                          <a:effectLst/>
                          <a:latin typeface="Calibri" panose="020F0502020204030204" pitchFamily="34" charset="0"/>
                        </a:rPr>
                        <a:t>Levantamiento técnico · Auditoría técnica · Contrato preventivo · Convenio institucional · Oferta comercial · Programa preventivo · Evaluación de renovación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Campaña en curso.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extLst>
                  <a:ext uri="{0D108BD9-81ED-4DB2-BD59-A6C34878D82A}">
                    <a16:rowId xmlns:a16="http://schemas.microsoft.com/office/drawing/2014/main" val="2649276541"/>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3</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Araucanía</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229</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157,2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78,6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203,0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77,4%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0,9</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Sep 2026 – 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1" i="0" u="none" strike="noStrike">
                          <a:solidFill>
                            <a:srgbClr val="FFFFFF"/>
                          </a:solidFill>
                          <a:effectLst/>
                          <a:latin typeface="Calibri" panose="020F0502020204030204" pitchFamily="34" charset="0"/>
                        </a:rPr>
                        <a:t>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6B3C"/>
                    </a:solidFill>
                  </a:tcPr>
                </a:tc>
                <a:tc>
                  <a:txBody>
                    <a:bodyPr/>
                    <a:lstStyle/>
                    <a:p>
                      <a:pPr algn="l" fontAlgn="ctr">
                        <a:buNone/>
                      </a:pPr>
                      <a:r>
                        <a:rPr lang="es-CL" sz="500" b="0" i="0" u="none" strike="noStrike">
                          <a:solidFill>
                            <a:srgbClr val="1F1F1F"/>
                          </a:solidFill>
                          <a:effectLst/>
                          <a:latin typeface="Calibri" panose="020F0502020204030204" pitchFamily="34" charset="0"/>
                        </a:rPr>
                        <a:t>Levantamiento técnico · Contrato preventivo · Convenio institucional · Oferta comercial · Programa preventivo · Evaluación de renovación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Campaña en curso.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3677620746"/>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Valparaíso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158</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130,0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65,0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245,4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53,0%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1,6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Oct–Nov 2026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7F6000"/>
                          </a:solidFill>
                          <a:effectLst/>
                          <a:latin typeface="Calibri" panose="020F0502020204030204" pitchFamily="34" charset="0"/>
                        </a:rPr>
                        <a:t>Planificado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l" fontAlgn="ctr">
                        <a:buNone/>
                      </a:pPr>
                      <a:r>
                        <a:rPr lang="es-CL" sz="500" b="0" i="0" u="none" strike="noStrike">
                          <a:solidFill>
                            <a:srgbClr val="1F1F1F"/>
                          </a:solidFill>
                          <a:effectLst/>
                          <a:latin typeface="Calibri" panose="020F0502020204030204" pitchFamily="34" charset="0"/>
                        </a:rPr>
                        <a:t>Levantamiento técnico · Auditoría técnica · Contrato preventivo · Convenio institucional · Programa preventivo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Inicio oct con foco Zona Naval.</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extLst>
                  <a:ext uri="{0D108BD9-81ED-4DB2-BD59-A6C34878D82A}">
                    <a16:rowId xmlns:a16="http://schemas.microsoft.com/office/drawing/2014/main" val="104883987"/>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5</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Maule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424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127,8</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63,9</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239,2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53,4%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0,6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Sep 2026 – 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1" i="0" u="none" strike="noStrike">
                          <a:solidFill>
                            <a:srgbClr val="FFFFFF"/>
                          </a:solidFill>
                          <a:effectLst/>
                          <a:latin typeface="Calibri" panose="020F0502020204030204" pitchFamily="34" charset="0"/>
                        </a:rPr>
                        <a:t>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6B3C"/>
                    </a:solidFill>
                  </a:tcPr>
                </a:tc>
                <a:tc>
                  <a:txBody>
                    <a:bodyPr/>
                    <a:lstStyle/>
                    <a:p>
                      <a:pPr algn="l" fontAlgn="ctr">
                        <a:buNone/>
                      </a:pPr>
                      <a:r>
                        <a:rPr lang="es-CL" sz="500" b="0" i="0" u="none" strike="noStrike">
                          <a:solidFill>
                            <a:srgbClr val="1F1F1F"/>
                          </a:solidFill>
                          <a:effectLst/>
                          <a:latin typeface="Calibri" panose="020F0502020204030204" pitchFamily="34" charset="0"/>
                        </a:rPr>
                        <a:t>Levantamiento técnico · Auditoría técnica · Contrato preventivo · Convenio institucional · Programa preventivo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Campaña en curso.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17419831"/>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Los Lagos</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69</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91,8</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45,9</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120,6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76,1%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1,7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Sep 2026 – 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1" i="0" u="none" strike="noStrike">
                          <a:solidFill>
                            <a:srgbClr val="FFFFFF"/>
                          </a:solidFill>
                          <a:effectLst/>
                          <a:latin typeface="Calibri" panose="020F0502020204030204" pitchFamily="34" charset="0"/>
                        </a:rPr>
                        <a:t>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6B3C"/>
                    </a:solidFill>
                  </a:tcPr>
                </a:tc>
                <a:tc>
                  <a:txBody>
                    <a:bodyPr/>
                    <a:lstStyle/>
                    <a:p>
                      <a:pPr algn="l" fontAlgn="ctr">
                        <a:buNone/>
                      </a:pPr>
                      <a:r>
                        <a:rPr lang="es-CL" sz="500" b="0" i="0" u="none" strike="noStrike">
                          <a:solidFill>
                            <a:srgbClr val="1F1F1F"/>
                          </a:solidFill>
                          <a:effectLst/>
                          <a:latin typeface="Calibri" panose="020F0502020204030204" pitchFamily="34" charset="0"/>
                        </a:rPr>
                        <a:t>Reunión / Visita gerencial · Contrato preventivo · Programa preventivo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Campaña en curso.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extLst>
                  <a:ext uri="{0D108BD9-81ED-4DB2-BD59-A6C34878D82A}">
                    <a16:rowId xmlns:a16="http://schemas.microsoft.com/office/drawing/2014/main" val="483596310"/>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O'Higgins</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91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73,2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36,6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116,9</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62,6%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1,3</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Nov–Dic 2026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7F6000"/>
                          </a:solidFill>
                          <a:effectLst/>
                          <a:latin typeface="Calibri" panose="020F0502020204030204" pitchFamily="34" charset="0"/>
                        </a:rPr>
                        <a:t>Planificado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l" fontAlgn="ctr">
                        <a:buNone/>
                      </a:pPr>
                      <a:r>
                        <a:rPr lang="es-CL" sz="500" b="0" i="0" u="none" strike="noStrike">
                          <a:solidFill>
                            <a:srgbClr val="1F1F1F"/>
                          </a:solidFill>
                          <a:effectLst/>
                          <a:latin typeface="Calibri" panose="020F0502020204030204" pitchFamily="34" charset="0"/>
                        </a:rPr>
                        <a:t>Levantamiento técnico · Auditoría técnica · Convenio institucional · Programa preventivo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Campaña nov–dic, post RM.</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305940302"/>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8</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Antofagasta</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80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65,0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32,5</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65,6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99,1%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0,8</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Ene 2027 (Zona Norte)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7F6000"/>
                          </a:solidFill>
                          <a:effectLst/>
                          <a:latin typeface="Calibri" panose="020F0502020204030204" pitchFamily="34" charset="0"/>
                        </a:rPr>
                        <a:t>Planificado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l" fontAlgn="ctr">
                        <a:buNone/>
                      </a:pPr>
                      <a:r>
                        <a:rPr lang="es-CL" sz="500" b="0" i="0" u="none" strike="noStrike">
                          <a:solidFill>
                            <a:srgbClr val="1F1F1F"/>
                          </a:solidFill>
                          <a:effectLst/>
                          <a:latin typeface="Calibri" panose="020F0502020204030204" pitchFamily="34" charset="0"/>
                        </a:rPr>
                        <a:t>Levantamiento técnico · Auditoría técnica · Programa preventivo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Coordinar con técnico norte.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extLst>
                  <a:ext uri="{0D108BD9-81ED-4DB2-BD59-A6C34878D82A}">
                    <a16:rowId xmlns:a16="http://schemas.microsoft.com/office/drawing/2014/main" val="2046995979"/>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9</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Coquimbo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73</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78,1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39,1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130,8</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59,7%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1,8</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Ene 2027 (Téc. Norte)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7F6000"/>
                          </a:solidFill>
                          <a:effectLst/>
                          <a:latin typeface="Calibri" panose="020F0502020204030204" pitchFamily="34" charset="0"/>
                        </a:rPr>
                        <a:t>Planificado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l" fontAlgn="ctr">
                        <a:buNone/>
                      </a:pPr>
                      <a:r>
                        <a:rPr lang="es-CL" sz="500" b="0" i="0" u="none" strike="noStrike">
                          <a:solidFill>
                            <a:srgbClr val="1F1F1F"/>
                          </a:solidFill>
                          <a:effectLst/>
                          <a:latin typeface="Calibri" panose="020F0502020204030204" pitchFamily="34" charset="0"/>
                        </a:rPr>
                        <a:t>Levantamiento técnico · Programa preventivo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 Base del técnico norte. Foco H. La Serena.</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447945810"/>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Magallanes</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34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49,4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24,7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51,9</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95,2%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1,5</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Oct–Nov 2026 (Téc. Sur)</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7F6000"/>
                          </a:solidFill>
                          <a:effectLst/>
                          <a:latin typeface="Calibri" panose="020F0502020204030204" pitchFamily="34" charset="0"/>
                        </a:rPr>
                        <a:t>Planificado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l" fontAlgn="ctr">
                        <a:buNone/>
                      </a:pPr>
                      <a:r>
                        <a:rPr lang="es-CL" sz="500" b="0" i="0" u="none" strike="noStrike">
                          <a:solidFill>
                            <a:srgbClr val="1F1F1F"/>
                          </a:solidFill>
                          <a:effectLst/>
                          <a:latin typeface="Calibri" panose="020F0502020204030204" pitchFamily="34" charset="0"/>
                        </a:rPr>
                        <a:t>Levantamiento técnico · Auditoría técnica · Convenio institucional · Programa preventivo · Evaluación de renovación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Apoya técnico sur.</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extLst>
                  <a:ext uri="{0D108BD9-81ED-4DB2-BD59-A6C34878D82A}">
                    <a16:rowId xmlns:a16="http://schemas.microsoft.com/office/drawing/2014/main" val="2458927961"/>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11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Tarapacá</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35</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44,3</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22,2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45,6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97,1%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1,3</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Ene 2027 (Zona Norte)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7F6000"/>
                          </a:solidFill>
                          <a:effectLst/>
                          <a:latin typeface="Calibri" panose="020F0502020204030204" pitchFamily="34" charset="0"/>
                        </a:rPr>
                        <a:t>Planificado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l" fontAlgn="ctr">
                        <a:buNone/>
                      </a:pPr>
                      <a:r>
                        <a:rPr lang="es-CL" sz="500" b="0" i="0" u="none" strike="noStrike">
                          <a:solidFill>
                            <a:srgbClr val="1F1F1F"/>
                          </a:solidFill>
                          <a:effectLst/>
                          <a:latin typeface="Calibri" panose="020F0502020204030204" pitchFamily="34" charset="0"/>
                        </a:rPr>
                        <a:t>Levantamiento técnico · Auditoría técnica · Contrato preventivo · Convenio institucional · Programa preventivo · Evaluación de renovación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Ronda zona norte.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945964610"/>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12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Ñuble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34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41,1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20,6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52,9</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77,7%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1,6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Sep 2026 – 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1" i="0" u="none" strike="noStrike">
                          <a:solidFill>
                            <a:srgbClr val="FFFFFF"/>
                          </a:solidFill>
                          <a:effectLst/>
                          <a:latin typeface="Calibri" panose="020F0502020204030204" pitchFamily="34" charset="0"/>
                        </a:rPr>
                        <a:t>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6B3C"/>
                    </a:solidFill>
                  </a:tcPr>
                </a:tc>
                <a:tc>
                  <a:txBody>
                    <a:bodyPr/>
                    <a:lstStyle/>
                    <a:p>
                      <a:pPr algn="l" fontAlgn="ctr">
                        <a:buNone/>
                      </a:pPr>
                      <a:r>
                        <a:rPr lang="es-CL" sz="500" b="0" i="0" u="none" strike="noStrike">
                          <a:solidFill>
                            <a:srgbClr val="1F1F1F"/>
                          </a:solidFill>
                          <a:effectLst/>
                          <a:latin typeface="Calibri" panose="020F0502020204030204" pitchFamily="34" charset="0"/>
                        </a:rPr>
                        <a:t>Levantamiento técnico · Auditoría técnica · Contrato preventivo · Programa preventivo · Evaluación de renovación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Campaña en curso.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extLst>
                  <a:ext uri="{0D108BD9-81ED-4DB2-BD59-A6C34878D82A}">
                    <a16:rowId xmlns:a16="http://schemas.microsoft.com/office/drawing/2014/main" val="2066694058"/>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13</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Los Ríos</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10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54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46,2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23,1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46,2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100,0%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0,9</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Sep 2026 – 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1" i="0" u="none" strike="noStrike">
                          <a:solidFill>
                            <a:srgbClr val="FFFFFF"/>
                          </a:solidFill>
                          <a:effectLst/>
                          <a:latin typeface="Calibri" panose="020F0502020204030204" pitchFamily="34" charset="0"/>
                        </a:rPr>
                        <a:t>En ejecución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6B3C"/>
                    </a:solidFill>
                  </a:tcPr>
                </a:tc>
                <a:tc>
                  <a:txBody>
                    <a:bodyPr/>
                    <a:lstStyle/>
                    <a:p>
                      <a:pPr algn="l" fontAlgn="ctr">
                        <a:buNone/>
                      </a:pPr>
                      <a:r>
                        <a:rPr lang="es-CL" sz="500" b="0" i="0" u="none" strike="noStrike">
                          <a:solidFill>
                            <a:srgbClr val="1F1F1F"/>
                          </a:solidFill>
                          <a:effectLst/>
                          <a:latin typeface="Calibri" panose="020F0502020204030204" pitchFamily="34" charset="0"/>
                        </a:rPr>
                        <a:t>Auditoría técnica · Convenio institucional · Programa preventivo · Evaluación de renovación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Campaña en curso.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244139935"/>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14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Arica y Parinacota</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18,2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9,1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18,2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100,0%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1,7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Feb 2027 (Zona Norte)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7F6000"/>
                          </a:solidFill>
                          <a:effectLst/>
                          <a:latin typeface="Calibri" panose="020F0502020204030204" pitchFamily="34" charset="0"/>
                        </a:rPr>
                        <a:t>Planificado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l" fontAlgn="ctr">
                        <a:buNone/>
                      </a:pPr>
                      <a:r>
                        <a:rPr lang="es-CL" sz="500" b="0" i="0" u="none" strike="noStrike">
                          <a:solidFill>
                            <a:srgbClr val="1F1F1F"/>
                          </a:solidFill>
                          <a:effectLst/>
                          <a:latin typeface="Calibri" panose="020F0502020204030204" pitchFamily="34" charset="0"/>
                        </a:rPr>
                        <a:t>Auditoría técnica · Convenio institucional · Programa preventivo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Ronda zona norte.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extLst>
                  <a:ext uri="{0D108BD9-81ED-4DB2-BD59-A6C34878D82A}">
                    <a16:rowId xmlns:a16="http://schemas.microsoft.com/office/drawing/2014/main" val="1210756294"/>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15</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Aysén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30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0" i="0" u="none" strike="noStrike">
                          <a:solidFill>
                            <a:srgbClr val="1F1F1F"/>
                          </a:solidFill>
                          <a:effectLst/>
                          <a:latin typeface="Calibri" panose="020F0502020204030204" pitchFamily="34" charset="0"/>
                        </a:rPr>
                        <a:t>22,3</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11,2</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22,3</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100,0%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r" fontAlgn="ctr">
                        <a:buNone/>
                      </a:pPr>
                      <a:r>
                        <a:rPr lang="es-CL" sz="500" b="1" i="0" u="none" strike="noStrike">
                          <a:solidFill>
                            <a:srgbClr val="1F1F1F"/>
                          </a:solidFill>
                          <a:effectLst/>
                          <a:latin typeface="Calibri" panose="020F0502020204030204" pitchFamily="34" charset="0"/>
                        </a:rPr>
                        <a:t>0,7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Oct–Nov 2026 (Téc. Sur)</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7F6000"/>
                          </a:solidFill>
                          <a:effectLst/>
                          <a:latin typeface="Calibri" panose="020F0502020204030204" pitchFamily="34" charset="0"/>
                        </a:rPr>
                        <a:t>Planificado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l" fontAlgn="ctr">
                        <a:buNone/>
                      </a:pPr>
                      <a:r>
                        <a:rPr lang="es-CL" sz="500" b="0" i="0" u="none" strike="noStrike">
                          <a:solidFill>
                            <a:srgbClr val="1F1F1F"/>
                          </a:solidFill>
                          <a:effectLst/>
                          <a:latin typeface="Calibri" panose="020F0502020204030204" pitchFamily="34" charset="0"/>
                        </a:rPr>
                        <a:t>Programa preventivo · Evaluación de renovación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tc>
                  <a:txBody>
                    <a:bodyPr/>
                    <a:lstStyle/>
                    <a:p>
                      <a:pPr algn="l" fontAlgn="ctr">
                        <a:buNone/>
                      </a:pPr>
                      <a:r>
                        <a:rPr lang="es-CL" sz="500" b="0" i="0" u="none" strike="noStrike">
                          <a:solidFill>
                            <a:srgbClr val="1F1F1F"/>
                          </a:solidFill>
                          <a:effectLst/>
                          <a:latin typeface="Calibri" panose="020F0502020204030204" pitchFamily="34" charset="0"/>
                        </a:rPr>
                        <a:t>Apoya técnico sur.</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FF"/>
                    </a:solidFill>
                  </a:tcPr>
                </a:tc>
                <a:extLst>
                  <a:ext uri="{0D108BD9-81ED-4DB2-BD59-A6C34878D82A}">
                    <a16:rowId xmlns:a16="http://schemas.microsoft.com/office/drawing/2014/main" val="1968973204"/>
                  </a:ext>
                </a:extLst>
              </a:tr>
              <a:tr h="231024">
                <a:tc>
                  <a:txBody>
                    <a:bodyPr/>
                    <a:lstStyle/>
                    <a:p>
                      <a:pPr algn="ctr" fontAlgn="ctr">
                        <a:buNone/>
                      </a:pPr>
                      <a:r>
                        <a:rPr lang="es-CL" sz="500" b="0" i="0" u="none" strike="noStrike">
                          <a:solidFill>
                            <a:srgbClr val="1F1F1F"/>
                          </a:solidFill>
                          <a:effectLst/>
                          <a:latin typeface="Calibri" panose="020F0502020204030204" pitchFamily="34" charset="0"/>
                        </a:rPr>
                        <a:t>16</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Atacama</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0" i="0" u="none" strike="noStrike">
                          <a:solidFill>
                            <a:srgbClr val="1F1F1F"/>
                          </a:solidFill>
                          <a:effectLst/>
                          <a:latin typeface="Calibri" panose="020F0502020204030204" pitchFamily="34" charset="0"/>
                        </a:rPr>
                        <a:t>19,4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0" i="0" u="none" strike="noStrike">
                          <a:solidFill>
                            <a:srgbClr val="1F1F1F"/>
                          </a:solidFill>
                          <a:effectLst/>
                          <a:latin typeface="Calibri" panose="020F0502020204030204" pitchFamily="34" charset="0"/>
                        </a:rPr>
                        <a:t>9,7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r" fontAlgn="ctr">
                        <a:buNone/>
                      </a:pPr>
                      <a:r>
                        <a:rPr lang="es-CL" sz="500" b="1" i="0" u="none" strike="noStrike">
                          <a:solidFill>
                            <a:srgbClr val="1F1F1F"/>
                          </a:solidFill>
                          <a:effectLst/>
                          <a:latin typeface="Calibri" panose="020F0502020204030204" pitchFamily="34" charset="0"/>
                        </a:rPr>
                        <a:t>19,4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100,0%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r" fontAlgn="ctr">
                        <a:buNone/>
                      </a:pPr>
                      <a:r>
                        <a:rPr lang="es-CL" sz="500" b="1" i="0" u="none" strike="noStrike">
                          <a:solidFill>
                            <a:srgbClr val="1F1F1F"/>
                          </a:solidFill>
                          <a:effectLst/>
                          <a:latin typeface="Calibri" panose="020F0502020204030204" pitchFamily="34" charset="0"/>
                        </a:rPr>
                        <a:t>1,4</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FF00"/>
                    </a:solidFill>
                  </a:tcPr>
                </a:tc>
                <a:tc>
                  <a:txBody>
                    <a:bodyPr/>
                    <a:lstStyle/>
                    <a:p>
                      <a:pPr algn="l" fontAlgn="ctr">
                        <a:buNone/>
                      </a:pPr>
                      <a:r>
                        <a:rPr lang="es-CL" sz="500" b="0" i="0" u="none" strike="noStrike">
                          <a:solidFill>
                            <a:srgbClr val="1F1F1F"/>
                          </a:solidFill>
                          <a:effectLst/>
                          <a:latin typeface="Calibri" panose="020F0502020204030204" pitchFamily="34" charset="0"/>
                        </a:rPr>
                        <a:t>Feb 2027 (Zona Norte)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7F6000"/>
                          </a:solidFill>
                          <a:effectLst/>
                          <a:latin typeface="Calibri" panose="020F0502020204030204" pitchFamily="34" charset="0"/>
                        </a:rPr>
                        <a:t>Planificado</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FE699"/>
                    </a:solidFill>
                  </a:tcPr>
                </a:tc>
                <a:tc>
                  <a:txBody>
                    <a:bodyPr/>
                    <a:lstStyle/>
                    <a:p>
                      <a:pPr algn="l" fontAlgn="ctr">
                        <a:buNone/>
                      </a:pPr>
                      <a:r>
                        <a:rPr lang="es-CL" sz="500" b="0" i="0" u="none" strike="noStrike">
                          <a:solidFill>
                            <a:srgbClr val="1F1F1F"/>
                          </a:solidFill>
                          <a:effectLst/>
                          <a:latin typeface="Calibri" panose="020F0502020204030204" pitchFamily="34" charset="0"/>
                        </a:rPr>
                        <a:t>Levantamiento técnico · Auditoría técnica · Programa preventivo · Evaluación de renovación</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tc>
                  <a:txBody>
                    <a:bodyPr/>
                    <a:lstStyle/>
                    <a:p>
                      <a:pPr algn="l" fontAlgn="ctr">
                        <a:buNone/>
                      </a:pPr>
                      <a:r>
                        <a:rPr lang="es-CL" sz="500" b="0" i="0" u="none" strike="noStrike">
                          <a:solidFill>
                            <a:srgbClr val="1F1F1F"/>
                          </a:solidFill>
                          <a:effectLst/>
                          <a:latin typeface="Calibri" panose="020F0502020204030204" pitchFamily="34" charset="0"/>
                        </a:rPr>
                        <a:t>Ronda zona norte.</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F0F7FE"/>
                    </a:solidFill>
                  </a:tcPr>
                </a:tc>
                <a:extLst>
                  <a:ext uri="{0D108BD9-81ED-4DB2-BD59-A6C34878D82A}">
                    <a16:rowId xmlns:a16="http://schemas.microsoft.com/office/drawing/2014/main" val="1437183301"/>
                  </a:ext>
                </a:extLst>
              </a:tr>
              <a:tr h="115512">
                <a:tc>
                  <a:txBody>
                    <a:bodyPr/>
                    <a:lstStyle/>
                    <a:p>
                      <a:pPr algn="l" fontAlgn="ctr">
                        <a:buNone/>
                      </a:pPr>
                      <a:r>
                        <a:rPr lang="es-CL" sz="500" b="1" i="0" u="none" strike="noStrike">
                          <a:solidFill>
                            <a:srgbClr val="FFFFFF"/>
                          </a:solidFill>
                          <a:effectLst/>
                          <a:latin typeface="Calibri" panose="020F0502020204030204" pitchFamily="34" charset="0"/>
                        </a:rPr>
                        <a:t> </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a:solidFill>
                            <a:srgbClr val="FFFFFF"/>
                          </a:solidFill>
                          <a:effectLst/>
                          <a:latin typeface="Calibri" panose="020F0502020204030204" pitchFamily="34" charset="0"/>
                        </a:rPr>
                        <a:t>TOTAL</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a:solidFill>
                            <a:srgbClr val="FFFFFF"/>
                          </a:solidFill>
                          <a:effectLst/>
                          <a:latin typeface="Calibri" panose="020F0502020204030204" pitchFamily="34" charset="0"/>
                        </a:rPr>
                        <a:t>150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a:solidFill>
                            <a:srgbClr val="FFFFFF"/>
                          </a:solidFill>
                          <a:effectLst/>
                          <a:latin typeface="Calibri" panose="020F0502020204030204" pitchFamily="34" charset="0"/>
                        </a:rPr>
                        <a:t>2.387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a:solidFill>
                            <a:srgbClr val="FFFFFF"/>
                          </a:solidFill>
                          <a:effectLst/>
                          <a:latin typeface="Calibri" panose="020F0502020204030204" pitchFamily="34" charset="0"/>
                        </a:rPr>
                        <a:t>1.727</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a:solidFill>
                            <a:srgbClr val="FFFFFF"/>
                          </a:solidFill>
                          <a:effectLst/>
                          <a:latin typeface="Calibri" panose="020F0502020204030204" pitchFamily="34" charset="0"/>
                        </a:rPr>
                        <a:t>893</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a:solidFill>
                            <a:srgbClr val="FFFFFF"/>
                          </a:solidFill>
                          <a:effectLst/>
                          <a:latin typeface="Calibri" panose="020F0502020204030204" pitchFamily="34" charset="0"/>
                        </a:rPr>
                        <a:t>3.138</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a:solidFill>
                            <a:srgbClr val="FFFFFF"/>
                          </a:solidFill>
                          <a:effectLst/>
                          <a:latin typeface="Calibri" panose="020F0502020204030204" pitchFamily="34" charset="0"/>
                        </a:rPr>
                        <a:t>55,0%</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a:solidFill>
                            <a:srgbClr val="FFFFFF"/>
                          </a:solidFill>
                          <a:effectLst/>
                          <a:latin typeface="Calibri" panose="020F0502020204030204" pitchFamily="34" charset="0"/>
                        </a:rPr>
                        <a:t>1</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a:solidFill>
                            <a:srgbClr val="FFFFFF"/>
                          </a:solidFill>
                          <a:effectLst/>
                          <a:latin typeface="Calibri" panose="020F0502020204030204" pitchFamily="34" charset="0"/>
                        </a:rPr>
                        <a:t> </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a:solidFill>
                            <a:srgbClr val="FFFFFF"/>
                          </a:solidFill>
                          <a:effectLst/>
                          <a:latin typeface="Calibri" panose="020F0502020204030204" pitchFamily="34" charset="0"/>
                        </a:rPr>
                        <a:t> </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a:solidFill>
                            <a:srgbClr val="FFFFFF"/>
                          </a:solidFill>
                          <a:effectLst/>
                          <a:latin typeface="Calibri" panose="020F0502020204030204" pitchFamily="34" charset="0"/>
                        </a:rPr>
                        <a:t> </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tc>
                  <a:txBody>
                    <a:bodyPr/>
                    <a:lstStyle/>
                    <a:p>
                      <a:pPr algn="l" fontAlgn="ctr">
                        <a:buNone/>
                      </a:pPr>
                      <a:r>
                        <a:rPr lang="es-CL" sz="500" b="1" i="0" u="none" strike="noStrike" dirty="0">
                          <a:solidFill>
                            <a:srgbClr val="FFFFFF"/>
                          </a:solidFill>
                          <a:effectLst/>
                          <a:latin typeface="Calibri" panose="020F0502020204030204" pitchFamily="34" charset="0"/>
                        </a:rPr>
                        <a:t> </a:t>
                      </a:r>
                    </a:p>
                  </a:txBody>
                  <a:tcPr marL="5776" marR="5776" marT="5776"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1F3864"/>
                    </a:solidFill>
                  </a:tcPr>
                </a:tc>
                <a:extLst>
                  <a:ext uri="{0D108BD9-81ED-4DB2-BD59-A6C34878D82A}">
                    <a16:rowId xmlns:a16="http://schemas.microsoft.com/office/drawing/2014/main" val="282776155"/>
                  </a:ext>
                </a:extLst>
              </a:tr>
            </a:tbl>
          </a:graphicData>
        </a:graphic>
      </p:graphicFrame>
      <p:sp>
        <p:nvSpPr>
          <p:cNvPr id="2" name="Rectángulo 1">
            <a:extLst>
              <a:ext uri="{FF2B5EF4-FFF2-40B4-BE49-F238E27FC236}">
                <a16:creationId xmlns:a16="http://schemas.microsoft.com/office/drawing/2014/main" id="{D7B5B03A-5116-1E51-C19B-F06CDA3C9384}"/>
              </a:ext>
            </a:extLst>
          </p:cNvPr>
          <p:cNvSpPr/>
          <p:nvPr/>
        </p:nvSpPr>
        <p:spPr>
          <a:xfrm>
            <a:off x="486141" y="1318210"/>
            <a:ext cx="11535168" cy="22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 name="Rectángulo 3">
            <a:extLst>
              <a:ext uri="{FF2B5EF4-FFF2-40B4-BE49-F238E27FC236}">
                <a16:creationId xmlns:a16="http://schemas.microsoft.com/office/drawing/2014/main" id="{8D984386-A783-7A78-7F83-E382848845D8}"/>
              </a:ext>
            </a:extLst>
          </p:cNvPr>
          <p:cNvSpPr/>
          <p:nvPr/>
        </p:nvSpPr>
        <p:spPr>
          <a:xfrm>
            <a:off x="387582" y="2033999"/>
            <a:ext cx="11535168" cy="22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9DB65916-497E-3093-C498-4DF9CAA7997B}"/>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881D41AA-FDCE-331E-A24B-7B5C8DFE743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Plan RM y Valparaíso</a:t>
            </a:r>
            <a:endParaRPr dirty="0"/>
          </a:p>
        </p:txBody>
      </p:sp>
      <p:sp>
        <p:nvSpPr>
          <p:cNvPr id="4" name="Rectángulo 3">
            <a:extLst>
              <a:ext uri="{FF2B5EF4-FFF2-40B4-BE49-F238E27FC236}">
                <a16:creationId xmlns:a16="http://schemas.microsoft.com/office/drawing/2014/main" id="{310655F4-FE23-7513-BD96-2AA1B8A514C7}"/>
              </a:ext>
            </a:extLst>
          </p:cNvPr>
          <p:cNvSpPr/>
          <p:nvPr/>
        </p:nvSpPr>
        <p:spPr>
          <a:xfrm>
            <a:off x="471000" y="1089000"/>
            <a:ext cx="4815000" cy="4197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Potencial Región Metropolitana</a:t>
            </a:r>
            <a:endParaRPr lang="es-CL" b="1" dirty="0">
              <a:solidFill>
                <a:schemeClr val="tx1"/>
              </a:solidFill>
            </a:endParaRPr>
          </a:p>
        </p:txBody>
      </p:sp>
      <p:sp>
        <p:nvSpPr>
          <p:cNvPr id="6" name="Rectángulo 5">
            <a:extLst>
              <a:ext uri="{FF2B5EF4-FFF2-40B4-BE49-F238E27FC236}">
                <a16:creationId xmlns:a16="http://schemas.microsoft.com/office/drawing/2014/main" id="{83DE50E8-1AEE-8EBD-3546-1A21ADBA6F53}"/>
              </a:ext>
            </a:extLst>
          </p:cNvPr>
          <p:cNvSpPr/>
          <p:nvPr/>
        </p:nvSpPr>
        <p:spPr>
          <a:xfrm>
            <a:off x="7039200" y="1089000"/>
            <a:ext cx="4816800" cy="41971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b="1" dirty="0">
                <a:solidFill>
                  <a:schemeClr val="tx1"/>
                </a:solidFill>
              </a:rPr>
              <a:t>Región de Valparaíso</a:t>
            </a:r>
            <a:endParaRPr lang="es-CL" b="1" dirty="0">
              <a:solidFill>
                <a:schemeClr val="tx1"/>
              </a:solidFill>
            </a:endParaRPr>
          </a:p>
        </p:txBody>
      </p:sp>
      <p:sp>
        <p:nvSpPr>
          <p:cNvPr id="7" name="Rectángulo 6">
            <a:extLst>
              <a:ext uri="{FF2B5EF4-FFF2-40B4-BE49-F238E27FC236}">
                <a16:creationId xmlns:a16="http://schemas.microsoft.com/office/drawing/2014/main" id="{13150B88-8A30-A57E-1591-15D33E8F6A46}"/>
              </a:ext>
            </a:extLst>
          </p:cNvPr>
          <p:cNvSpPr/>
          <p:nvPr/>
        </p:nvSpPr>
        <p:spPr>
          <a:xfrm>
            <a:off x="471000" y="1764000"/>
            <a:ext cx="1260000" cy="166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9" name="Rectángulo 8">
            <a:extLst>
              <a:ext uri="{FF2B5EF4-FFF2-40B4-BE49-F238E27FC236}">
                <a16:creationId xmlns:a16="http://schemas.microsoft.com/office/drawing/2014/main" id="{6F67E22D-43EE-2E44-523B-78AB859679C3}"/>
              </a:ext>
            </a:extLst>
          </p:cNvPr>
          <p:cNvSpPr/>
          <p:nvPr/>
        </p:nvSpPr>
        <p:spPr>
          <a:xfrm>
            <a:off x="1883400" y="1764000"/>
            <a:ext cx="1260000" cy="166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11" name="Rectángulo 10">
            <a:extLst>
              <a:ext uri="{FF2B5EF4-FFF2-40B4-BE49-F238E27FC236}">
                <a16:creationId xmlns:a16="http://schemas.microsoft.com/office/drawing/2014/main" id="{224D9E36-7867-7A83-7CC3-0383BF4E032E}"/>
              </a:ext>
            </a:extLst>
          </p:cNvPr>
          <p:cNvSpPr/>
          <p:nvPr/>
        </p:nvSpPr>
        <p:spPr>
          <a:xfrm>
            <a:off x="3295800" y="1763073"/>
            <a:ext cx="1990200" cy="166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19" name="Rectángulo 18">
            <a:extLst>
              <a:ext uri="{FF2B5EF4-FFF2-40B4-BE49-F238E27FC236}">
                <a16:creationId xmlns:a16="http://schemas.microsoft.com/office/drawing/2014/main" id="{7C218992-088C-5548-7416-70072E025CCB}"/>
              </a:ext>
            </a:extLst>
          </p:cNvPr>
          <p:cNvSpPr/>
          <p:nvPr/>
        </p:nvSpPr>
        <p:spPr>
          <a:xfrm>
            <a:off x="471000" y="3564926"/>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MM$254,0</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21" name="Rectángulo 20">
            <a:extLst>
              <a:ext uri="{FF2B5EF4-FFF2-40B4-BE49-F238E27FC236}">
                <a16:creationId xmlns:a16="http://schemas.microsoft.com/office/drawing/2014/main" id="{6AB06410-7FF9-A769-4295-AC9C8C73B407}"/>
              </a:ext>
            </a:extLst>
          </p:cNvPr>
          <p:cNvSpPr/>
          <p:nvPr/>
        </p:nvSpPr>
        <p:spPr>
          <a:xfrm>
            <a:off x="1883400" y="3564926"/>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MM$46,2</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23" name="Rectángulo 22">
            <a:extLst>
              <a:ext uri="{FF2B5EF4-FFF2-40B4-BE49-F238E27FC236}">
                <a16:creationId xmlns:a16="http://schemas.microsoft.com/office/drawing/2014/main" id="{991E9840-3361-BB33-8474-F0AC6E982254}"/>
              </a:ext>
            </a:extLst>
          </p:cNvPr>
          <p:cNvSpPr/>
          <p:nvPr/>
        </p:nvSpPr>
        <p:spPr>
          <a:xfrm>
            <a:off x="3295800" y="3563999"/>
            <a:ext cx="19902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MM$597,9</a:t>
            </a:r>
          </a:p>
          <a:p>
            <a:pPr marL="171450" indent="-171450">
              <a:buFont typeface="Arial" panose="020B0604020202020204" pitchFamily="34" charset="0"/>
              <a:buChar char="•"/>
            </a:pPr>
            <a:r>
              <a:rPr lang="es-MX" sz="900" dirty="0">
                <a:solidFill>
                  <a:schemeClr val="tx2"/>
                </a:solidFill>
              </a:rPr>
              <a:t># Clientes: 245</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31" name="Rectángulo 30">
            <a:extLst>
              <a:ext uri="{FF2B5EF4-FFF2-40B4-BE49-F238E27FC236}">
                <a16:creationId xmlns:a16="http://schemas.microsoft.com/office/drawing/2014/main" id="{5E9D9E48-B928-35D5-8300-8F67805CD609}"/>
              </a:ext>
            </a:extLst>
          </p:cNvPr>
          <p:cNvSpPr/>
          <p:nvPr/>
        </p:nvSpPr>
        <p:spPr>
          <a:xfrm>
            <a:off x="7041000" y="1764000"/>
            <a:ext cx="1260000" cy="1665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C5D84449-1FB2-D3F6-2CAC-177C0C3B31B0}"/>
              </a:ext>
            </a:extLst>
          </p:cNvPr>
          <p:cNvSpPr/>
          <p:nvPr/>
        </p:nvSpPr>
        <p:spPr>
          <a:xfrm>
            <a:off x="8453400" y="1764000"/>
            <a:ext cx="1260000" cy="1665000"/>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60DAD808-CC68-2D78-C9C7-2080A857AB36}"/>
              </a:ext>
            </a:extLst>
          </p:cNvPr>
          <p:cNvSpPr/>
          <p:nvPr/>
        </p:nvSpPr>
        <p:spPr>
          <a:xfrm>
            <a:off x="9865800" y="1763073"/>
            <a:ext cx="1990200" cy="16650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51" name="Rectángulo 50">
            <a:extLst>
              <a:ext uri="{FF2B5EF4-FFF2-40B4-BE49-F238E27FC236}">
                <a16:creationId xmlns:a16="http://schemas.microsoft.com/office/drawing/2014/main" id="{E80B99D0-A96B-45B8-91EA-45A34A1C4E82}"/>
              </a:ext>
            </a:extLst>
          </p:cNvPr>
          <p:cNvSpPr/>
          <p:nvPr/>
        </p:nvSpPr>
        <p:spPr>
          <a:xfrm>
            <a:off x="7041184" y="3563999"/>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MM$90,2</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53" name="Rectángulo 52">
            <a:extLst>
              <a:ext uri="{FF2B5EF4-FFF2-40B4-BE49-F238E27FC236}">
                <a16:creationId xmlns:a16="http://schemas.microsoft.com/office/drawing/2014/main" id="{114483FA-CA3A-F5E9-E7A7-1A957F93FE15}"/>
              </a:ext>
            </a:extLst>
          </p:cNvPr>
          <p:cNvSpPr/>
          <p:nvPr/>
        </p:nvSpPr>
        <p:spPr>
          <a:xfrm>
            <a:off x="8453584" y="3563999"/>
            <a:ext cx="12600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MM$39,1</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55" name="Rectángulo 54">
            <a:extLst>
              <a:ext uri="{FF2B5EF4-FFF2-40B4-BE49-F238E27FC236}">
                <a16:creationId xmlns:a16="http://schemas.microsoft.com/office/drawing/2014/main" id="{BDC4BFAD-6930-A86B-5FA3-B64887627B1A}"/>
              </a:ext>
            </a:extLst>
          </p:cNvPr>
          <p:cNvSpPr/>
          <p:nvPr/>
        </p:nvSpPr>
        <p:spPr>
          <a:xfrm>
            <a:off x="9865984" y="3563072"/>
            <a:ext cx="1990200" cy="269907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MM$62,1</a:t>
            </a:r>
          </a:p>
          <a:p>
            <a:pPr marL="171450" indent="-171450">
              <a:buFont typeface="Arial" panose="020B0604020202020204" pitchFamily="34" charset="0"/>
              <a:buChar char="•"/>
            </a:pPr>
            <a:r>
              <a:rPr lang="es-MX" sz="900" dirty="0">
                <a:solidFill>
                  <a:schemeClr val="tx2"/>
                </a:solidFill>
              </a:rPr>
              <a:t># Clientes: 40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Tree>
    <p:extLst>
      <p:ext uri="{BB962C8B-B14F-4D97-AF65-F5344CB8AC3E}">
        <p14:creationId xmlns:p14="http://schemas.microsoft.com/office/powerpoint/2010/main" val="33193984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1D963A12-D53E-B206-73A2-CA10067AFE4F}"/>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130241FE-70E5-11F4-B89E-B97562122A1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Valparaíso</a:t>
            </a:r>
            <a:endParaRPr dirty="0"/>
          </a:p>
        </p:txBody>
      </p:sp>
      <p:sp>
        <p:nvSpPr>
          <p:cNvPr id="31" name="Rectángulo 30">
            <a:extLst>
              <a:ext uri="{FF2B5EF4-FFF2-40B4-BE49-F238E27FC236}">
                <a16:creationId xmlns:a16="http://schemas.microsoft.com/office/drawing/2014/main" id="{58B0CF5B-7EEE-D759-CD36-55FDF3FAF347}"/>
              </a:ext>
            </a:extLst>
          </p:cNvPr>
          <p:cNvSpPr/>
          <p:nvPr/>
        </p:nvSpPr>
        <p:spPr>
          <a:xfrm>
            <a:off x="346016" y="819927"/>
            <a:ext cx="1260000" cy="1158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D885502C-F25D-6975-DB24-D0F095AA774D}"/>
              </a:ext>
            </a:extLst>
          </p:cNvPr>
          <p:cNvSpPr/>
          <p:nvPr/>
        </p:nvSpPr>
        <p:spPr>
          <a:xfrm>
            <a:off x="1758416" y="819927"/>
            <a:ext cx="12600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B5C6F263-605A-0486-CD15-F137E84BD42E}"/>
              </a:ext>
            </a:extLst>
          </p:cNvPr>
          <p:cNvSpPr/>
          <p:nvPr/>
        </p:nvSpPr>
        <p:spPr>
          <a:xfrm>
            <a:off x="3170816" y="819000"/>
            <a:ext cx="1990200" cy="11584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51" name="Rectángulo 50">
            <a:extLst>
              <a:ext uri="{FF2B5EF4-FFF2-40B4-BE49-F238E27FC236}">
                <a16:creationId xmlns:a16="http://schemas.microsoft.com/office/drawing/2014/main" id="{7D908FF9-C35B-C1E7-1CF6-50720D927B2E}"/>
              </a:ext>
            </a:extLst>
          </p:cNvPr>
          <p:cNvSpPr/>
          <p:nvPr/>
        </p:nvSpPr>
        <p:spPr>
          <a:xfrm>
            <a:off x="346200" y="2034927"/>
            <a:ext cx="12600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MM$90,2</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r>
              <a:rPr lang="es-MX" sz="1600" b="1" dirty="0">
                <a:solidFill>
                  <a:schemeClr val="tx1"/>
                </a:solidFill>
              </a:rPr>
              <a:t>MM$</a:t>
            </a:r>
            <a:endParaRPr lang="es-CL" sz="1050" b="1" dirty="0">
              <a:solidFill>
                <a:schemeClr val="tx1"/>
              </a:solidFill>
            </a:endParaRPr>
          </a:p>
        </p:txBody>
      </p:sp>
      <p:sp>
        <p:nvSpPr>
          <p:cNvPr id="53" name="Rectángulo 52">
            <a:extLst>
              <a:ext uri="{FF2B5EF4-FFF2-40B4-BE49-F238E27FC236}">
                <a16:creationId xmlns:a16="http://schemas.microsoft.com/office/drawing/2014/main" id="{F0E1AA9A-7B4C-484A-AC92-5097524F7C37}"/>
              </a:ext>
            </a:extLst>
          </p:cNvPr>
          <p:cNvSpPr/>
          <p:nvPr/>
        </p:nvSpPr>
        <p:spPr>
          <a:xfrm>
            <a:off x="1758600" y="2034927"/>
            <a:ext cx="12600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MM$39,1</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endParaRPr lang="es-CL" sz="900" b="1" dirty="0">
              <a:solidFill>
                <a:schemeClr val="tx1"/>
              </a:solidFill>
            </a:endParaRPr>
          </a:p>
        </p:txBody>
      </p:sp>
      <p:sp>
        <p:nvSpPr>
          <p:cNvPr id="55" name="Rectángulo 54">
            <a:extLst>
              <a:ext uri="{FF2B5EF4-FFF2-40B4-BE49-F238E27FC236}">
                <a16:creationId xmlns:a16="http://schemas.microsoft.com/office/drawing/2014/main" id="{84BB99B7-5E6B-0A65-941E-D90C81C29601}"/>
              </a:ext>
            </a:extLst>
          </p:cNvPr>
          <p:cNvSpPr/>
          <p:nvPr/>
        </p:nvSpPr>
        <p:spPr>
          <a:xfrm>
            <a:off x="3171000" y="2034000"/>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MM$62,1</a:t>
            </a:r>
          </a:p>
          <a:p>
            <a:pPr marL="171450" indent="-171450">
              <a:buFont typeface="Arial" panose="020B0604020202020204" pitchFamily="34" charset="0"/>
              <a:buChar char="•"/>
            </a:pPr>
            <a:r>
              <a:rPr lang="es-MX" sz="900" dirty="0">
                <a:solidFill>
                  <a:schemeClr val="tx2"/>
                </a:solidFill>
              </a:rPr>
              <a:t># Clientes: 58</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Oct - Noviembre</a:t>
            </a:r>
          </a:p>
          <a:p>
            <a:pPr marL="171450" indent="-171450">
              <a:buFont typeface="Arial" panose="020B0604020202020204" pitchFamily="34" charset="0"/>
              <a:buChar char="•"/>
            </a:pPr>
            <a:r>
              <a:rPr lang="es-MX" sz="900" dirty="0">
                <a:solidFill>
                  <a:schemeClr val="tx2"/>
                </a:solidFill>
              </a:rPr>
              <a:t>Procesos de Prospección</a:t>
            </a:r>
          </a:p>
        </p:txBody>
      </p:sp>
      <p:sp>
        <p:nvSpPr>
          <p:cNvPr id="8" name="Rectángulo 7">
            <a:extLst>
              <a:ext uri="{FF2B5EF4-FFF2-40B4-BE49-F238E27FC236}">
                <a16:creationId xmlns:a16="http://schemas.microsoft.com/office/drawing/2014/main" id="{72CBFD95-8BEE-AC20-1F39-FDD6A34B89EF}"/>
              </a:ext>
            </a:extLst>
          </p:cNvPr>
          <p:cNvSpPr/>
          <p:nvPr/>
        </p:nvSpPr>
        <p:spPr>
          <a:xfrm>
            <a:off x="5313600" y="2046101"/>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Total: 191,4</a:t>
            </a:r>
          </a:p>
          <a:p>
            <a:pPr marL="171450" indent="-171450">
              <a:buFont typeface="Arial" panose="020B0604020202020204" pitchFamily="34" charset="0"/>
              <a:buChar char="•"/>
            </a:pPr>
            <a:r>
              <a:rPr lang="es-MX" sz="900" b="1" dirty="0">
                <a:solidFill>
                  <a:schemeClr val="tx2"/>
                </a:solidFill>
              </a:rPr>
              <a:t># Clientes: 83</a:t>
            </a:r>
          </a:p>
          <a:p>
            <a:pPr marL="171450" indent="-171450">
              <a:buFont typeface="Arial" panose="020B0604020202020204" pitchFamily="34" charset="0"/>
              <a:buChar char="•"/>
            </a:pPr>
            <a:r>
              <a:rPr lang="es-MX" sz="900" b="1" dirty="0">
                <a:solidFill>
                  <a:schemeClr val="tx2"/>
                </a:solidFill>
              </a:rPr>
              <a:t>Fecha de ejecución: Septiembre - Noviembre</a:t>
            </a:r>
            <a:endParaRPr lang="es-CL" sz="1600" b="1" dirty="0">
              <a:solidFill>
                <a:schemeClr val="tx1"/>
              </a:solidFill>
            </a:endParaRPr>
          </a:p>
        </p:txBody>
      </p:sp>
      <p:sp>
        <p:nvSpPr>
          <p:cNvPr id="16" name="Rectángulo 15">
            <a:extLst>
              <a:ext uri="{FF2B5EF4-FFF2-40B4-BE49-F238E27FC236}">
                <a16:creationId xmlns:a16="http://schemas.microsoft.com/office/drawing/2014/main" id="{58D8EBA6-C0F4-7F48-8C45-48CCF0668D3A}"/>
              </a:ext>
            </a:extLst>
          </p:cNvPr>
          <p:cNvSpPr/>
          <p:nvPr/>
        </p:nvSpPr>
        <p:spPr>
          <a:xfrm>
            <a:off x="5313600" y="811825"/>
            <a:ext cx="19902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Total</a:t>
            </a:r>
            <a:endParaRPr lang="es-CL" sz="1100" b="1" dirty="0">
              <a:solidFill>
                <a:schemeClr val="tx1"/>
              </a:solidFill>
            </a:endParaRPr>
          </a:p>
        </p:txBody>
      </p:sp>
      <p:sp>
        <p:nvSpPr>
          <p:cNvPr id="17" name="Triángulo isósceles 16">
            <a:extLst>
              <a:ext uri="{FF2B5EF4-FFF2-40B4-BE49-F238E27FC236}">
                <a16:creationId xmlns:a16="http://schemas.microsoft.com/office/drawing/2014/main" id="{CCB15659-C952-9413-C0A3-9FA17EEFBF0D}"/>
              </a:ext>
            </a:extLst>
          </p:cNvPr>
          <p:cNvSpPr/>
          <p:nvPr/>
        </p:nvSpPr>
        <p:spPr>
          <a:xfrm rot="5400000">
            <a:off x="6837844" y="232664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1E0CC572-1E6A-212E-B4B4-93277C8C53A7}"/>
              </a:ext>
            </a:extLst>
          </p:cNvPr>
          <p:cNvSpPr/>
          <p:nvPr/>
        </p:nvSpPr>
        <p:spPr>
          <a:xfrm>
            <a:off x="7952460" y="837802"/>
            <a:ext cx="3868084" cy="30861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la región de Valparaíso se tienen 83 clientes,</a:t>
            </a:r>
          </a:p>
          <a:p>
            <a:pPr marL="171450" lvl="1" indent="-171450">
              <a:buFont typeface="Arial" panose="020B0604020202020204" pitchFamily="34" charset="0"/>
              <a:buChar char="•"/>
            </a:pPr>
            <a:r>
              <a:rPr lang="es-MX" sz="900" dirty="0">
                <a:solidFill>
                  <a:schemeClr val="tx2"/>
                </a:solidFill>
              </a:rPr>
              <a:t>Todos los clientes de la región son abordados por Cristian </a:t>
            </a:r>
            <a:r>
              <a:rPr lang="es-MX" sz="900" dirty="0" err="1">
                <a:solidFill>
                  <a:schemeClr val="tx2"/>
                </a:solidFill>
              </a:rPr>
              <a:t>Perez</a:t>
            </a:r>
            <a:r>
              <a:rPr lang="es-MX" sz="900" dirty="0">
                <a:solidFill>
                  <a:schemeClr val="tx2"/>
                </a:solidFill>
              </a:rPr>
              <a:t>.</a:t>
            </a:r>
            <a:endParaRPr lang="es-CL" sz="1600" dirty="0">
              <a:solidFill>
                <a:schemeClr val="tx1"/>
              </a:solidFill>
            </a:endParaRPr>
          </a:p>
        </p:txBody>
      </p:sp>
      <p:pic>
        <p:nvPicPr>
          <p:cNvPr id="6" name="Imagen 5">
            <a:extLst>
              <a:ext uri="{FF2B5EF4-FFF2-40B4-BE49-F238E27FC236}">
                <a16:creationId xmlns:a16="http://schemas.microsoft.com/office/drawing/2014/main" id="{7D6C910B-A0FE-61E4-50F6-2D3F7873E39D}"/>
              </a:ext>
            </a:extLst>
          </p:cNvPr>
          <p:cNvPicPr>
            <a:picLocks noChangeAspect="1"/>
          </p:cNvPicPr>
          <p:nvPr/>
        </p:nvPicPr>
        <p:blipFill>
          <a:blip r:embed="rId3"/>
          <a:srcRect t="5835" b="17633"/>
          <a:stretch>
            <a:fillRect/>
          </a:stretch>
        </p:blipFill>
        <p:spPr>
          <a:xfrm>
            <a:off x="0" y="4159382"/>
            <a:ext cx="12192000" cy="2503806"/>
          </a:xfrm>
          <a:prstGeom prst="rect">
            <a:avLst/>
          </a:prstGeom>
        </p:spPr>
      </p:pic>
    </p:spTree>
    <p:extLst>
      <p:ext uri="{BB962C8B-B14F-4D97-AF65-F5344CB8AC3E}">
        <p14:creationId xmlns:p14="http://schemas.microsoft.com/office/powerpoint/2010/main" val="42628450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0097D9B6-A561-10D4-D76B-5C13A796B742}"/>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21751EA0-A914-9C89-5917-7AAB0F3DE77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1 – Top según Potencial</a:t>
            </a:r>
            <a:endParaRPr dirty="0"/>
          </a:p>
        </p:txBody>
      </p:sp>
      <p:cxnSp>
        <p:nvCxnSpPr>
          <p:cNvPr id="516" name="Google Shape;516;p41">
            <a:extLst>
              <a:ext uri="{FF2B5EF4-FFF2-40B4-BE49-F238E27FC236}">
                <a16:creationId xmlns:a16="http://schemas.microsoft.com/office/drawing/2014/main" id="{A9DA05FC-7125-7CCB-6A5D-22FCF46D98B7}"/>
              </a:ext>
            </a:extLst>
          </p:cNvPr>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17" name="Google Shape;517;p41">
            <a:extLst>
              <a:ext uri="{FF2B5EF4-FFF2-40B4-BE49-F238E27FC236}">
                <a16:creationId xmlns:a16="http://schemas.microsoft.com/office/drawing/2014/main" id="{75ADE1B2-7B0E-B74E-641D-CD5688C7CEAA}"/>
              </a:ext>
            </a:extLst>
          </p:cNvPr>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33448D"/>
              </a:buClr>
              <a:buSzPts val="1400"/>
              <a:buFont typeface="Roboto"/>
              <a:buNone/>
            </a:pPr>
            <a:r>
              <a:rPr lang="es-CL" sz="1400" b="0" i="0" u="none" strike="noStrike" cap="none">
                <a:solidFill>
                  <a:srgbClr val="33448D"/>
                </a:solidFill>
                <a:latin typeface="Roboto"/>
                <a:ea typeface="Roboto"/>
                <a:cs typeface="Roboto"/>
                <a:sym typeface="Roboto"/>
              </a:rPr>
              <a:t>Región de Valparaíso</a:t>
            </a:r>
            <a:endParaRPr/>
          </a:p>
        </p:txBody>
      </p:sp>
      <p:graphicFrame>
        <p:nvGraphicFramePr>
          <p:cNvPr id="3" name="Tabla 2">
            <a:extLst>
              <a:ext uri="{FF2B5EF4-FFF2-40B4-BE49-F238E27FC236}">
                <a16:creationId xmlns:a16="http://schemas.microsoft.com/office/drawing/2014/main" id="{C9939BC3-FBE3-EBFC-7A7E-738A4D101746}"/>
              </a:ext>
            </a:extLst>
          </p:cNvPr>
          <p:cNvGraphicFramePr>
            <a:graphicFrameLocks noGrp="1"/>
          </p:cNvGraphicFramePr>
          <p:nvPr>
            <p:extLst>
              <p:ext uri="{D42A27DB-BD31-4B8C-83A1-F6EECF244321}">
                <p14:modId xmlns:p14="http://schemas.microsoft.com/office/powerpoint/2010/main" val="1381016977"/>
              </p:ext>
            </p:extLst>
          </p:nvPr>
        </p:nvGraphicFramePr>
        <p:xfrm>
          <a:off x="322750" y="1299602"/>
          <a:ext cx="11869249" cy="5182277"/>
        </p:xfrm>
        <a:graphic>
          <a:graphicData uri="http://schemas.openxmlformats.org/drawingml/2006/table">
            <a:tbl>
              <a:tblPr/>
              <a:tblGrid>
                <a:gridCol w="422523">
                  <a:extLst>
                    <a:ext uri="{9D8B030D-6E8A-4147-A177-3AD203B41FA5}">
                      <a16:colId xmlns:a16="http://schemas.microsoft.com/office/drawing/2014/main" val="3682049527"/>
                    </a:ext>
                  </a:extLst>
                </a:gridCol>
                <a:gridCol w="1917606">
                  <a:extLst>
                    <a:ext uri="{9D8B030D-6E8A-4147-A177-3AD203B41FA5}">
                      <a16:colId xmlns:a16="http://schemas.microsoft.com/office/drawing/2014/main" val="1447774929"/>
                    </a:ext>
                  </a:extLst>
                </a:gridCol>
                <a:gridCol w="503778">
                  <a:extLst>
                    <a:ext uri="{9D8B030D-6E8A-4147-A177-3AD203B41FA5}">
                      <a16:colId xmlns:a16="http://schemas.microsoft.com/office/drawing/2014/main" val="3923726705"/>
                    </a:ext>
                  </a:extLst>
                </a:gridCol>
                <a:gridCol w="505809">
                  <a:extLst>
                    <a:ext uri="{9D8B030D-6E8A-4147-A177-3AD203B41FA5}">
                      <a16:colId xmlns:a16="http://schemas.microsoft.com/office/drawing/2014/main" val="977636864"/>
                    </a:ext>
                  </a:extLst>
                </a:gridCol>
                <a:gridCol w="503778">
                  <a:extLst>
                    <a:ext uri="{9D8B030D-6E8A-4147-A177-3AD203B41FA5}">
                      <a16:colId xmlns:a16="http://schemas.microsoft.com/office/drawing/2014/main" val="3732638462"/>
                    </a:ext>
                  </a:extLst>
                </a:gridCol>
                <a:gridCol w="505809">
                  <a:extLst>
                    <a:ext uri="{9D8B030D-6E8A-4147-A177-3AD203B41FA5}">
                      <a16:colId xmlns:a16="http://schemas.microsoft.com/office/drawing/2014/main" val="3181110123"/>
                    </a:ext>
                  </a:extLst>
                </a:gridCol>
                <a:gridCol w="503778">
                  <a:extLst>
                    <a:ext uri="{9D8B030D-6E8A-4147-A177-3AD203B41FA5}">
                      <a16:colId xmlns:a16="http://schemas.microsoft.com/office/drawing/2014/main" val="3916584342"/>
                    </a:ext>
                  </a:extLst>
                </a:gridCol>
                <a:gridCol w="505809">
                  <a:extLst>
                    <a:ext uri="{9D8B030D-6E8A-4147-A177-3AD203B41FA5}">
                      <a16:colId xmlns:a16="http://schemas.microsoft.com/office/drawing/2014/main" val="2298795141"/>
                    </a:ext>
                  </a:extLst>
                </a:gridCol>
                <a:gridCol w="593158">
                  <a:extLst>
                    <a:ext uri="{9D8B030D-6E8A-4147-A177-3AD203B41FA5}">
                      <a16:colId xmlns:a16="http://schemas.microsoft.com/office/drawing/2014/main" val="3688097150"/>
                    </a:ext>
                  </a:extLst>
                </a:gridCol>
                <a:gridCol w="591127">
                  <a:extLst>
                    <a:ext uri="{9D8B030D-6E8A-4147-A177-3AD203B41FA5}">
                      <a16:colId xmlns:a16="http://schemas.microsoft.com/office/drawing/2014/main" val="1021856631"/>
                    </a:ext>
                  </a:extLst>
                </a:gridCol>
                <a:gridCol w="893799">
                  <a:extLst>
                    <a:ext uri="{9D8B030D-6E8A-4147-A177-3AD203B41FA5}">
                      <a16:colId xmlns:a16="http://schemas.microsoft.com/office/drawing/2014/main" val="4227412962"/>
                    </a:ext>
                  </a:extLst>
                </a:gridCol>
                <a:gridCol w="511903">
                  <a:extLst>
                    <a:ext uri="{9D8B030D-6E8A-4147-A177-3AD203B41FA5}">
                      <a16:colId xmlns:a16="http://schemas.microsoft.com/office/drawing/2014/main" val="181412641"/>
                    </a:ext>
                  </a:extLst>
                </a:gridCol>
                <a:gridCol w="2382787">
                  <a:extLst>
                    <a:ext uri="{9D8B030D-6E8A-4147-A177-3AD203B41FA5}">
                      <a16:colId xmlns:a16="http://schemas.microsoft.com/office/drawing/2014/main" val="4121126903"/>
                    </a:ext>
                  </a:extLst>
                </a:gridCol>
                <a:gridCol w="715040">
                  <a:extLst>
                    <a:ext uri="{9D8B030D-6E8A-4147-A177-3AD203B41FA5}">
                      <a16:colId xmlns:a16="http://schemas.microsoft.com/office/drawing/2014/main" val="3627639309"/>
                    </a:ext>
                  </a:extLst>
                </a:gridCol>
                <a:gridCol w="812545">
                  <a:extLst>
                    <a:ext uri="{9D8B030D-6E8A-4147-A177-3AD203B41FA5}">
                      <a16:colId xmlns:a16="http://schemas.microsoft.com/office/drawing/2014/main" val="2817686619"/>
                    </a:ext>
                  </a:extLst>
                </a:gridCol>
              </a:tblGrid>
              <a:tr h="436396">
                <a:tc rowSpan="2">
                  <a:txBody>
                    <a:bodyPr/>
                    <a:lstStyle/>
                    <a:p>
                      <a:pPr algn="ct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Cliente</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Dental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Esterilización</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Endoscopía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Base Instalada Total</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Pot. Mantenimiento MM$</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Margen</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002D73"/>
                    </a:solidFill>
                  </a:tcPr>
                </a:tc>
                <a:tc row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Plan de Acción</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r" fontAlgn="ctr">
                        <a:buNone/>
                      </a:pPr>
                      <a:r>
                        <a:rPr lang="es-CL" sz="700" b="1" i="0" u="none" strike="noStrike">
                          <a:solidFill>
                            <a:schemeClr val="tx1"/>
                          </a:solidFill>
                          <a:effectLst/>
                          <a:latin typeface="Roboto" panose="02000000000000000000" pitchFamily="2" charset="0"/>
                          <a:ea typeface="Roboto" panose="02000000000000000000" pitchFamily="2" charset="0"/>
                          <a:cs typeface="Roboto" panose="02000000000000000000" pitchFamily="2" charset="0"/>
                        </a:rPr>
                        <a:t>Visita Comercial/Fecha</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B26A00"/>
                    </a:solidFill>
                  </a:tcPr>
                </a:tc>
                <a:tc rowSpan="2">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Responsable Comercial</a:t>
                      </a:r>
                    </a:p>
                  </a:txBody>
                  <a:tcPr marL="5682" marR="5682" marT="5682"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solidFill>
                      <a:srgbClr val="4B0082"/>
                    </a:solidFill>
                  </a:tcPr>
                </a:tc>
                <a:extLst>
                  <a:ext uri="{0D108BD9-81ED-4DB2-BD59-A6C34878D82A}">
                    <a16:rowId xmlns:a16="http://schemas.microsoft.com/office/drawing/2014/main" val="2948408121"/>
                  </a:ext>
                </a:extLst>
              </a:tr>
              <a:tr h="651336">
                <a:tc vMerge="1">
                  <a:txBody>
                    <a:bodyPr/>
                    <a:lstStyle/>
                    <a:p>
                      <a:endParaRPr lang="es-CL"/>
                    </a:p>
                  </a:txBody>
                  <a:tcPr/>
                </a:tc>
                <a:tc vMerge="1">
                  <a:txBody>
                    <a:bodyPr/>
                    <a:lstStyle/>
                    <a:p>
                      <a:endParaRPr lang="es-CL"/>
                    </a:p>
                  </a:txBody>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r" fontAlgn="ctr">
                        <a:buNone/>
                      </a:pPr>
                      <a:r>
                        <a:rPr lang="es-CL" sz="700" b="1"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Vida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Equipos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r" fontAlgn="ctr">
                        <a:buNone/>
                      </a:pPr>
                      <a:r>
                        <a:rPr lang="es-CL" sz="700" b="1" i="0" u="none" strike="noStrike" dirty="0">
                          <a:solidFill>
                            <a:schemeClr val="tx1"/>
                          </a:solidFill>
                          <a:effectLst/>
                          <a:latin typeface="Roboto" panose="02000000000000000000" pitchFamily="2" charset="0"/>
                          <a:ea typeface="Roboto" panose="02000000000000000000" pitchFamily="2" charset="0"/>
                          <a:cs typeface="Roboto" panose="02000000000000000000" pitchFamily="2" charset="0"/>
                        </a:rPr>
                        <a:t>Vida Media (años)</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3527871949"/>
                  </a:ext>
                </a:extLst>
              </a:tr>
              <a:tr h="53409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1</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900" b="0" i="0" u="none" strike="noStrike" dirty="0">
                          <a:solidFill>
                            <a:schemeClr val="tx2">
                              <a:lumMod val="50000"/>
                            </a:schemeClr>
                          </a:solidFill>
                          <a:effectLst/>
                          <a:latin typeface="Calibri" panose="020F0502020204030204" pitchFamily="34" charset="0"/>
                        </a:rPr>
                        <a:t>HOSPITAL LA LIGUA</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9</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113,9%</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14</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62,8%</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36</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101,1%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34,1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17,05</a:t>
                      </a:r>
                    </a:p>
                  </a:txBody>
                  <a:tcPr marL="9525" marR="9525" marT="9525" marB="0" anchor="b">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Auditoría preventiva.</a:t>
                      </a:r>
                      <a:br>
                        <a:rPr lang="es-CL" sz="900" b="0" i="0" u="none" strike="noStrike">
                          <a:solidFill>
                            <a:schemeClr val="accent2"/>
                          </a:solidFill>
                          <a:effectLst/>
                          <a:latin typeface="Calibri" panose="020F0502020204030204" pitchFamily="34" charset="0"/>
                        </a:rPr>
                      </a:br>
                      <a:r>
                        <a:rPr lang="es-CL" sz="900" b="0" i="0" u="none" strike="noStrike">
                          <a:solidFill>
                            <a:schemeClr val="accent2"/>
                          </a:solidFill>
                          <a:effectLst/>
                          <a:latin typeface="Calibri" panose="020F0502020204030204" pitchFamily="34" charset="0"/>
                        </a:rPr>
                        <a:t>Contrato anual de mantenimiento.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218937019"/>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2</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900" b="0" i="0" u="none" strike="noStrike" dirty="0">
                          <a:solidFill>
                            <a:schemeClr val="tx2">
                              <a:lumMod val="50000"/>
                            </a:schemeClr>
                          </a:solidFill>
                          <a:effectLst/>
                          <a:latin typeface="Calibri" panose="020F0502020204030204" pitchFamily="34" charset="0"/>
                        </a:rPr>
                        <a:t>CLINICA REÑACA</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10</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55,2%</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10</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55,2%</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20,4</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10,2</a:t>
                      </a:r>
                    </a:p>
                  </a:txBody>
                  <a:tcPr marL="9525" marR="9525" marT="9525" marB="0" anchor="b">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Convenio institucional de mantenimiento y soporte especializado.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64530080"/>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3</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900" b="0" i="0" u="none" strike="noStrike" dirty="0">
                          <a:solidFill>
                            <a:schemeClr val="tx2">
                              <a:lumMod val="50000"/>
                            </a:schemeClr>
                          </a:solidFill>
                          <a:effectLst/>
                          <a:latin typeface="Calibri" panose="020F0502020204030204" pitchFamily="34" charset="0"/>
                        </a:rPr>
                        <a:t>CENTRAL ODONTOLOGICA PRIMERA ZONA NAVAL VIÑA</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6</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59,3%</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6</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59,3%</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12,3</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6,15</a:t>
                      </a:r>
                    </a:p>
                  </a:txBody>
                  <a:tcPr marL="9525" marR="9525" marT="9525" marB="0" anchor="b">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dirty="0">
                          <a:solidFill>
                            <a:schemeClr val="accent2"/>
                          </a:solidFill>
                          <a:effectLst/>
                          <a:latin typeface="Calibri" panose="020F0502020204030204" pitchFamily="34" charset="0"/>
                        </a:rPr>
                        <a:t>Programa preventivo anual y fortalecimiento de vínculo institucional.</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969178676"/>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4</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900" b="0" i="0" u="none" strike="noStrike" dirty="0">
                          <a:solidFill>
                            <a:schemeClr val="tx2">
                              <a:lumMod val="50000"/>
                            </a:schemeClr>
                          </a:solidFill>
                          <a:effectLst/>
                          <a:latin typeface="Calibri" panose="020F0502020204030204" pitchFamily="34" charset="0"/>
                        </a:rPr>
                        <a:t>HOSPITAL DE QUILPUE</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10</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3</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72,9%</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17</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72,9%</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12,3</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6,15</a:t>
                      </a:r>
                    </a:p>
                  </a:txBody>
                  <a:tcPr marL="9525" marR="9525" marT="9525" marB="0" anchor="b">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dirty="0">
                          <a:solidFill>
                            <a:schemeClr val="accent2"/>
                          </a:solidFill>
                          <a:effectLst/>
                          <a:latin typeface="Calibri" panose="020F0502020204030204" pitchFamily="34" charset="0"/>
                        </a:rPr>
                        <a:t>Levantamiento técnico y propuesta de cobertura preventiva.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05196648"/>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5</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900" b="0" i="0" u="none" strike="noStrike" dirty="0">
                          <a:solidFill>
                            <a:schemeClr val="tx2">
                              <a:lumMod val="50000"/>
                            </a:schemeClr>
                          </a:solidFill>
                          <a:effectLst/>
                          <a:latin typeface="Calibri" panose="020F0502020204030204" pitchFamily="34" charset="0"/>
                        </a:rPr>
                        <a:t>HOSPITAL CLINICO IST VIÑA DEL MAR</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11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68,1%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14</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66,1%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9,9</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4,95</a:t>
                      </a:r>
                    </a:p>
                  </a:txBody>
                  <a:tcPr marL="9525" marR="9525" marT="9525" marB="0" anchor="b">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Gestión mediante ruta regional preventiva programada.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972749123"/>
                  </a:ext>
                </a:extLst>
              </a:tr>
              <a:tr h="53409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6</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900" b="0" i="0" u="none" strike="noStrike" dirty="0">
                          <a:solidFill>
                            <a:schemeClr val="tx2">
                              <a:lumMod val="50000"/>
                            </a:schemeClr>
                          </a:solidFill>
                          <a:effectLst/>
                          <a:latin typeface="Calibri" panose="020F0502020204030204" pitchFamily="34" charset="0"/>
                        </a:rPr>
                        <a:t>HOSPITAL SANTO TOMAS DE LIMACHE</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12</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184,5%</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30,0%</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13</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165,2%</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9,4</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4,7</a:t>
                      </a:r>
                    </a:p>
                  </a:txBody>
                  <a:tcPr marL="9525" marR="9525" marT="9525" marB="0" anchor="b">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Levantamiento de equipos.</a:t>
                      </a:r>
                      <a:br>
                        <a:rPr lang="es-CL" sz="900" b="0" i="0" u="none" strike="noStrike">
                          <a:solidFill>
                            <a:schemeClr val="accent2"/>
                          </a:solidFill>
                          <a:effectLst/>
                          <a:latin typeface="Calibri" panose="020F0502020204030204" pitchFamily="34" charset="0"/>
                        </a:rPr>
                      </a:br>
                      <a:r>
                        <a:rPr lang="es-CL" sz="900" b="0" i="0" u="none" strike="noStrike">
                          <a:solidFill>
                            <a:schemeClr val="accent2"/>
                          </a:solidFill>
                          <a:effectLst/>
                          <a:latin typeface="Calibri" panose="020F0502020204030204" pitchFamily="34" charset="0"/>
                        </a:rPr>
                        <a:t>Contrato parcial por criticidad.</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oct-26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840122527"/>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7</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900" b="0" i="0" u="none" strike="noStrike" dirty="0">
                          <a:solidFill>
                            <a:schemeClr val="tx2">
                              <a:lumMod val="50000"/>
                            </a:schemeClr>
                          </a:solidFill>
                          <a:effectLst/>
                          <a:latin typeface="Calibri" panose="020F0502020204030204" pitchFamily="34" charset="0"/>
                        </a:rPr>
                        <a:t>HOSPITAL DE QUILLOTA</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5</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86,5%</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3</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84,7%</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44</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79,0%</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9,2</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4,6</a:t>
                      </a:r>
                    </a:p>
                  </a:txBody>
                  <a:tcPr marL="9525" marR="9525" marT="9525" marB="0" anchor="b">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Cobertura preventiva mediante planificación de rutas.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4229335852"/>
                  </a:ext>
                </a:extLst>
              </a:tr>
              <a:tr h="325668">
                <a:tc>
                  <a:txBody>
                    <a:bodyPr/>
                    <a:lstStyle/>
                    <a:p>
                      <a:pPr algn="ctr" fontAlgn="b">
                        <a:buNone/>
                      </a:pPr>
                      <a:r>
                        <a:rPr lang="es-CL" sz="700" b="0" i="0" u="none" strike="noStrike">
                          <a:solidFill>
                            <a:schemeClr val="tx2"/>
                          </a:solidFill>
                          <a:effectLst/>
                          <a:latin typeface="Roboto" panose="02000000000000000000" pitchFamily="2" charset="0"/>
                          <a:ea typeface="Roboto" panose="02000000000000000000" pitchFamily="2" charset="0"/>
                          <a:cs typeface="Roboto" panose="02000000000000000000" pitchFamily="2" charset="0"/>
                        </a:rPr>
                        <a:t>8</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900" b="0" i="0" u="none" strike="noStrike" dirty="0">
                          <a:solidFill>
                            <a:schemeClr val="tx2">
                              <a:lumMod val="50000"/>
                            </a:schemeClr>
                          </a:solidFill>
                          <a:effectLst/>
                          <a:latin typeface="Calibri" panose="020F0502020204030204" pitchFamily="34" charset="0"/>
                        </a:rPr>
                        <a:t>CENT. ODONT. DE VALPARAISO 1° ZONA NAVAL</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4</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74,7%</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4</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74,7%</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8,2</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4,1</a:t>
                      </a:r>
                    </a:p>
                  </a:txBody>
                  <a:tcPr marL="9525" marR="9525" marT="9525" marB="0" anchor="b">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Levantamiento técnico y propuesta preventiva básica.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3068128302"/>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9</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900" b="0" i="0" u="none" strike="noStrike" dirty="0">
                          <a:solidFill>
                            <a:schemeClr val="tx2">
                              <a:lumMod val="50000"/>
                            </a:schemeClr>
                          </a:solidFill>
                          <a:effectLst/>
                          <a:latin typeface="Calibri" panose="020F0502020204030204" pitchFamily="34" charset="0"/>
                        </a:rPr>
                        <a:t>HOSPITAL DE QUINTEROS</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10</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168,2%</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115,0%</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162,9%</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8,2</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4,1</a:t>
                      </a:r>
                    </a:p>
                  </a:txBody>
                  <a:tcPr marL="9525" marR="9525" marT="9525" marB="0" anchor="b">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Evaluación de cobertura y propuesta de mantenimiento anual.</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dirty="0">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687014905"/>
                  </a:ext>
                </a:extLst>
              </a:tr>
              <a:tr h="325668">
                <a:tc>
                  <a:txBody>
                    <a:bodyPr/>
                    <a:lstStyle/>
                    <a:p>
                      <a:pPr algn="ctr" fontAlgn="b">
                        <a:buNone/>
                      </a:pPr>
                      <a:r>
                        <a:rPr lang="es-CL" sz="700" b="0" i="0" u="none" strike="noStrike" dirty="0">
                          <a:solidFill>
                            <a:schemeClr val="tx2"/>
                          </a:solidFill>
                          <a:effectLst/>
                          <a:latin typeface="Roboto" panose="02000000000000000000" pitchFamily="2" charset="0"/>
                          <a:ea typeface="Roboto" panose="02000000000000000000" pitchFamily="2" charset="0"/>
                          <a:cs typeface="Roboto" panose="02000000000000000000" pitchFamily="2" charset="0"/>
                        </a:rPr>
                        <a:t>10</a:t>
                      </a:r>
                    </a:p>
                  </a:txBody>
                  <a:tcPr marL="5682" marR="5682" marT="5682"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b">
                        <a:buNone/>
                      </a:pPr>
                      <a:r>
                        <a:rPr lang="es-CL" sz="900" b="0" i="0" u="none" strike="noStrike" dirty="0">
                          <a:solidFill>
                            <a:schemeClr val="tx2">
                              <a:lumMod val="50000"/>
                            </a:schemeClr>
                          </a:solidFill>
                          <a:effectLst/>
                          <a:latin typeface="Calibri" panose="020F0502020204030204" pitchFamily="34" charset="0"/>
                        </a:rPr>
                        <a:t>CESFAM QUEBRADA VERDE</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3</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86,7%</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 </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3</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a:solidFill>
                            <a:schemeClr val="tx2">
                              <a:lumMod val="50000"/>
                            </a:schemeClr>
                          </a:solidFill>
                          <a:effectLst/>
                          <a:latin typeface="Calibri" panose="020F0502020204030204" pitchFamily="34" charset="0"/>
                        </a:rPr>
                        <a:t>86,7%</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6,1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0" i="0" u="none" strike="noStrike" dirty="0">
                          <a:solidFill>
                            <a:schemeClr val="tx2">
                              <a:lumMod val="50000"/>
                            </a:schemeClr>
                          </a:solidFill>
                          <a:effectLst/>
                          <a:latin typeface="Calibri" panose="020F0502020204030204" pitchFamily="34" charset="0"/>
                        </a:rPr>
                        <a:t>3,05</a:t>
                      </a:r>
                    </a:p>
                  </a:txBody>
                  <a:tcPr marL="9525" marR="9525" marT="9525" marB="0" anchor="b">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0" i="0" u="none" strike="noStrike">
                          <a:solidFill>
                            <a:schemeClr val="accent2"/>
                          </a:solidFill>
                          <a:effectLst/>
                          <a:latin typeface="Calibri" panose="020F0502020204030204" pitchFamily="34" charset="0"/>
                        </a:rPr>
                        <a:t>Programa preventivo anual coordinado desde Santiago.</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dic-26</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r" fontAlgn="ctr">
                        <a:buNone/>
                      </a:pPr>
                      <a:r>
                        <a:rPr lang="es-CL" sz="900" b="0" i="0" u="none" strike="noStrike">
                          <a:solidFill>
                            <a:schemeClr val="accent2"/>
                          </a:solidFill>
                          <a:effectLst/>
                          <a:latin typeface="Calibri" panose="020F0502020204030204" pitchFamily="34" charset="0"/>
                        </a:rPr>
                        <a:t>Cristián Perez</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2468996092"/>
                  </a:ext>
                </a:extLst>
              </a:tr>
              <a:tr h="325668">
                <a:tc>
                  <a:txBody>
                    <a:bodyPr/>
                    <a:lstStyle/>
                    <a:p>
                      <a:pPr algn="ctr" fontAlgn="b">
                        <a:buNone/>
                      </a:pPr>
                      <a:r>
                        <a:rPr lang="es-CL" sz="900" b="1" i="0" u="none" strike="noStrike" dirty="0">
                          <a:solidFill>
                            <a:schemeClr val="tx2"/>
                          </a:solidFill>
                          <a:effectLst/>
                          <a:latin typeface="Calibri" panose="020F0502020204030204" pitchFamily="34" charset="0"/>
                        </a:rPr>
                        <a:t>TOTAL · 10 clientes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1" i="0" u="none" strike="noStrike">
                          <a:solidFill>
                            <a:schemeClr val="accent2"/>
                          </a:solidFill>
                          <a:effectLst/>
                          <a:latin typeface="Calibri" panose="020F0502020204030204" pitchFamily="34" charset="0"/>
                        </a:rPr>
                        <a:t>TOTAL · 10 clientes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lumMod val="50000"/>
                            </a:schemeClr>
                          </a:solidFill>
                          <a:effectLst/>
                          <a:latin typeface="Calibri" panose="020F0502020204030204" pitchFamily="34" charset="0"/>
                        </a:rPr>
                        <a:t>46</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lumMod val="50000"/>
                            </a:schemeClr>
                          </a:solidFill>
                          <a:effectLst/>
                          <a:latin typeface="Calibri" panose="020F0502020204030204" pitchFamily="34" charset="0"/>
                        </a:rPr>
                        <a:t>155,5%</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lumMod val="50000"/>
                            </a:schemeClr>
                          </a:solidFill>
                          <a:effectLst/>
                          <a:latin typeface="Calibri" panose="020F0502020204030204" pitchFamily="34" charset="0"/>
                        </a:rPr>
                        <a:t>45</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dirty="0">
                          <a:solidFill>
                            <a:schemeClr val="tx2">
                              <a:lumMod val="50000"/>
                            </a:schemeClr>
                          </a:solidFill>
                          <a:effectLst/>
                          <a:latin typeface="Calibri" panose="020F0502020204030204" pitchFamily="34" charset="0"/>
                        </a:rPr>
                        <a:t>65,2%</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lumMod val="50000"/>
                            </a:schemeClr>
                          </a:solidFill>
                          <a:effectLst/>
                          <a:latin typeface="Calibri" panose="020F0502020204030204" pitchFamily="34" charset="0"/>
                        </a:rPr>
                        <a:t>11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dirty="0">
                          <a:solidFill>
                            <a:schemeClr val="tx2">
                              <a:lumMod val="50000"/>
                            </a:schemeClr>
                          </a:solidFill>
                          <a:effectLst/>
                          <a:latin typeface="Calibri" panose="020F0502020204030204" pitchFamily="34" charset="0"/>
                        </a:rPr>
                        <a:t>68,1%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a:solidFill>
                            <a:schemeClr val="tx2">
                              <a:lumMod val="50000"/>
                            </a:schemeClr>
                          </a:solidFill>
                          <a:effectLst/>
                          <a:latin typeface="Calibri" panose="020F0502020204030204" pitchFamily="34" charset="0"/>
                        </a:rPr>
                        <a:t>158</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dirty="0">
                          <a:solidFill>
                            <a:schemeClr val="tx2">
                              <a:lumMod val="50000"/>
                            </a:schemeClr>
                          </a:solidFill>
                          <a:effectLst/>
                          <a:latin typeface="Calibri" panose="020F0502020204030204" pitchFamily="34" charset="0"/>
                        </a:rPr>
                        <a:t>101,8%</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dirty="0">
                          <a:solidFill>
                            <a:schemeClr val="tx2">
                              <a:lumMod val="50000"/>
                            </a:schemeClr>
                          </a:solidFill>
                          <a:effectLst/>
                          <a:latin typeface="Calibri" panose="020F0502020204030204" pitchFamily="34" charset="0"/>
                        </a:rPr>
                        <a:t>130,0</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b">
                        <a:buNone/>
                      </a:pPr>
                      <a:r>
                        <a:rPr lang="es-CL" sz="900" b="1" i="0" u="none" strike="noStrike" dirty="0">
                          <a:solidFill>
                            <a:schemeClr val="tx2">
                              <a:lumMod val="50000"/>
                            </a:schemeClr>
                          </a:solidFill>
                          <a:effectLst/>
                          <a:latin typeface="Calibri" panose="020F0502020204030204" pitchFamily="34" charset="0"/>
                        </a:rPr>
                        <a:t>65,05</a:t>
                      </a:r>
                    </a:p>
                  </a:txBody>
                  <a:tcPr marL="9525" marR="9525" marT="9525" marB="0" anchor="b">
                    <a:lnL w="6350" cap="flat" cmpd="sng" algn="ctr">
                      <a:solidFill>
                        <a:srgbClr val="BFBFBF"/>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1" i="0" u="none" strike="noStrike" dirty="0">
                          <a:solidFill>
                            <a:schemeClr val="accent2"/>
                          </a:solidFill>
                          <a:effectLst/>
                          <a:latin typeface="Calibri" panose="020F0502020204030204" pitchFamily="34" charset="0"/>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900" b="1" i="0" u="none" strike="noStrike">
                          <a:solidFill>
                            <a:schemeClr val="accent2"/>
                          </a:solidFill>
                          <a:effectLst/>
                          <a:latin typeface="Calibri" panose="020F0502020204030204" pitchFamily="34" charset="0"/>
                        </a:rPr>
                        <a:t> </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tc>
                  <a:txBody>
                    <a:bodyPr/>
                    <a:lstStyle/>
                    <a:p>
                      <a:pPr algn="l" fontAlgn="ctr">
                        <a:buNone/>
                      </a:pPr>
                      <a:r>
                        <a:rPr lang="es-CL" sz="900" b="1" i="0" u="none" strike="noStrike" dirty="0">
                          <a:solidFill>
                            <a:schemeClr val="accent2"/>
                          </a:solidFill>
                          <a:effectLst/>
                          <a:latin typeface="Calibri" panose="020F0502020204030204" pitchFamily="34" charset="0"/>
                        </a:rPr>
                        <a:t> </a:t>
                      </a:r>
                    </a:p>
                  </a:txBody>
                  <a:tcPr marL="9525" marR="9525" marT="9525"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BFBFBF"/>
                      </a:solidFill>
                      <a:prstDash val="solid"/>
                      <a:round/>
                      <a:headEnd type="none" w="med" len="med"/>
                      <a:tailEnd type="none" w="med" len="med"/>
                    </a:lnB>
                    <a:noFill/>
                  </a:tcPr>
                </a:tc>
                <a:extLst>
                  <a:ext uri="{0D108BD9-81ED-4DB2-BD59-A6C34878D82A}">
                    <a16:rowId xmlns:a16="http://schemas.microsoft.com/office/drawing/2014/main" val="1395728688"/>
                  </a:ext>
                </a:extLst>
              </a:tr>
            </a:tbl>
          </a:graphicData>
        </a:graphic>
      </p:graphicFrame>
    </p:spTree>
    <p:extLst>
      <p:ext uri="{BB962C8B-B14F-4D97-AF65-F5344CB8AC3E}">
        <p14:creationId xmlns:p14="http://schemas.microsoft.com/office/powerpoint/2010/main" val="29069376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63006681-5E64-102B-1501-9E484FF0209F}"/>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613F9459-3ACD-38EC-DB1D-59C5DE8CA5E8}"/>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2 – Top según número de Camas</a:t>
            </a:r>
            <a:endParaRPr dirty="0"/>
          </a:p>
        </p:txBody>
      </p:sp>
      <p:graphicFrame>
        <p:nvGraphicFramePr>
          <p:cNvPr id="6" name="Tabla 5">
            <a:extLst>
              <a:ext uri="{FF2B5EF4-FFF2-40B4-BE49-F238E27FC236}">
                <a16:creationId xmlns:a16="http://schemas.microsoft.com/office/drawing/2014/main" id="{0F7D89FB-7D62-8A38-CD5A-689379CD97DA}"/>
              </a:ext>
            </a:extLst>
          </p:cNvPr>
          <p:cNvGraphicFramePr>
            <a:graphicFrameLocks noGrp="1"/>
          </p:cNvGraphicFramePr>
          <p:nvPr>
            <p:extLst>
              <p:ext uri="{D42A27DB-BD31-4B8C-83A1-F6EECF244321}">
                <p14:modId xmlns:p14="http://schemas.microsoft.com/office/powerpoint/2010/main" val="2134742561"/>
              </p:ext>
            </p:extLst>
          </p:nvPr>
        </p:nvGraphicFramePr>
        <p:xfrm>
          <a:off x="265050" y="819001"/>
          <a:ext cx="11687300" cy="5272437"/>
        </p:xfrm>
        <a:graphic>
          <a:graphicData uri="http://schemas.openxmlformats.org/drawingml/2006/table">
            <a:tbl>
              <a:tblPr/>
              <a:tblGrid>
                <a:gridCol w="205950">
                  <a:extLst>
                    <a:ext uri="{9D8B030D-6E8A-4147-A177-3AD203B41FA5}">
                      <a16:colId xmlns:a16="http://schemas.microsoft.com/office/drawing/2014/main" val="2001093109"/>
                    </a:ext>
                  </a:extLst>
                </a:gridCol>
                <a:gridCol w="2140136">
                  <a:extLst>
                    <a:ext uri="{9D8B030D-6E8A-4147-A177-3AD203B41FA5}">
                      <a16:colId xmlns:a16="http://schemas.microsoft.com/office/drawing/2014/main" val="1765677450"/>
                    </a:ext>
                  </a:extLst>
                </a:gridCol>
                <a:gridCol w="853906">
                  <a:extLst>
                    <a:ext uri="{9D8B030D-6E8A-4147-A177-3AD203B41FA5}">
                      <a16:colId xmlns:a16="http://schemas.microsoft.com/office/drawing/2014/main" val="4224294003"/>
                    </a:ext>
                  </a:extLst>
                </a:gridCol>
                <a:gridCol w="767654">
                  <a:extLst>
                    <a:ext uri="{9D8B030D-6E8A-4147-A177-3AD203B41FA5}">
                      <a16:colId xmlns:a16="http://schemas.microsoft.com/office/drawing/2014/main" val="780577230"/>
                    </a:ext>
                  </a:extLst>
                </a:gridCol>
                <a:gridCol w="845281">
                  <a:extLst>
                    <a:ext uri="{9D8B030D-6E8A-4147-A177-3AD203B41FA5}">
                      <a16:colId xmlns:a16="http://schemas.microsoft.com/office/drawing/2014/main" val="2754551449"/>
                    </a:ext>
                  </a:extLst>
                </a:gridCol>
                <a:gridCol w="405389">
                  <a:extLst>
                    <a:ext uri="{9D8B030D-6E8A-4147-A177-3AD203B41FA5}">
                      <a16:colId xmlns:a16="http://schemas.microsoft.com/office/drawing/2014/main" val="13706947"/>
                    </a:ext>
                  </a:extLst>
                </a:gridCol>
                <a:gridCol w="612634">
                  <a:extLst>
                    <a:ext uri="{9D8B030D-6E8A-4147-A177-3AD203B41FA5}">
                      <a16:colId xmlns:a16="http://schemas.microsoft.com/office/drawing/2014/main" val="5409698"/>
                    </a:ext>
                  </a:extLst>
                </a:gridCol>
                <a:gridCol w="689788">
                  <a:extLst>
                    <a:ext uri="{9D8B030D-6E8A-4147-A177-3AD203B41FA5}">
                      <a16:colId xmlns:a16="http://schemas.microsoft.com/office/drawing/2014/main" val="233010806"/>
                    </a:ext>
                  </a:extLst>
                </a:gridCol>
                <a:gridCol w="3495212">
                  <a:extLst>
                    <a:ext uri="{9D8B030D-6E8A-4147-A177-3AD203B41FA5}">
                      <a16:colId xmlns:a16="http://schemas.microsoft.com/office/drawing/2014/main" val="4075589514"/>
                    </a:ext>
                  </a:extLst>
                </a:gridCol>
                <a:gridCol w="1671350">
                  <a:extLst>
                    <a:ext uri="{9D8B030D-6E8A-4147-A177-3AD203B41FA5}">
                      <a16:colId xmlns:a16="http://schemas.microsoft.com/office/drawing/2014/main" val="3050580709"/>
                    </a:ext>
                  </a:extLst>
                </a:gridCol>
              </a:tblGrid>
              <a:tr h="213053">
                <a:tc>
                  <a:txBody>
                    <a:bodyPr/>
                    <a:lstStyle/>
                    <a:p>
                      <a:pPr algn="l" fontAlgn="ctr">
                        <a:buNone/>
                      </a:pPr>
                      <a:r>
                        <a:rPr lang="es-CL" sz="700" b="1" i="0" u="none" strike="noStrike" dirty="0">
                          <a:solidFill>
                            <a:schemeClr val="tx2"/>
                          </a:solidFill>
                          <a:effectLst/>
                          <a:latin typeface="Calibri" panose="020F0502020204030204" pitchFamily="34" charset="0"/>
                        </a:rPr>
                        <a:t>#</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Cliente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Comuna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1ª visita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Fuente 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Pot. ST anual MM$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Plan</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12980063"/>
                  </a:ext>
                </a:extLst>
              </a:tr>
              <a:tr h="421719">
                <a:tc>
                  <a:txBody>
                    <a:bodyPr/>
                    <a:lstStyle/>
                    <a:p>
                      <a:pPr algn="l" fontAlgn="t">
                        <a:buNone/>
                      </a:pPr>
                      <a:r>
                        <a:rPr lang="es-CL" sz="700" b="0" i="0" u="none" strike="noStrike" dirty="0">
                          <a:solidFill>
                            <a:schemeClr val="tx2"/>
                          </a:solidFill>
                          <a:effectLst/>
                          <a:latin typeface="Calibri" panose="020F0502020204030204" pitchFamily="34" charset="0"/>
                        </a:rPr>
                        <a:t>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HOSPITAL PSIQUIATRICO DR. PHILIPPE PINEL</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Putaendo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lun 19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354</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7104177"/>
                  </a:ext>
                </a:extLst>
              </a:tr>
              <a:tr h="253111">
                <a:tc>
                  <a:txBody>
                    <a:bodyPr/>
                    <a:lstStyle/>
                    <a:p>
                      <a:pPr algn="l" fontAlgn="t">
                        <a:buNone/>
                      </a:pPr>
                      <a:r>
                        <a:rPr lang="es-CL" sz="700" b="0" i="0" u="none" strike="noStrike">
                          <a:solidFill>
                            <a:schemeClr val="tx2"/>
                          </a:solidFill>
                          <a:effectLst/>
                          <a:latin typeface="Calibri" panose="020F0502020204030204" pitchFamily="34" charset="0"/>
                        </a:rPr>
                        <a:t>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CLINICA LOS CARRERA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Quilpué</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158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64989220"/>
                  </a:ext>
                </a:extLst>
              </a:tr>
              <a:tr h="253111">
                <a:tc>
                  <a:txBody>
                    <a:bodyPr/>
                    <a:lstStyle/>
                    <a:p>
                      <a:pPr algn="l" fontAlgn="t">
                        <a:buNone/>
                      </a:pPr>
                      <a:r>
                        <a:rPr lang="es-CL" sz="700" b="0" i="0" u="none" strike="noStrike">
                          <a:solidFill>
                            <a:schemeClr val="tx2"/>
                          </a:solidFill>
                          <a:effectLst/>
                          <a:latin typeface="Calibri" panose="020F0502020204030204" pitchFamily="34" charset="0"/>
                        </a:rPr>
                        <a:t>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DE QUILPUE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Quilpué</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156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Completo de Equipos según los servicios ofrecidos por TS</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35487565"/>
                  </a:ext>
                </a:extLst>
              </a:tr>
              <a:tr h="421719">
                <a:tc>
                  <a:txBody>
                    <a:bodyPr/>
                    <a:lstStyle/>
                    <a:p>
                      <a:pPr algn="l" fontAlgn="t">
                        <a:buNone/>
                      </a:pPr>
                      <a:r>
                        <a:rPr lang="es-CL" sz="700" b="0" i="0" u="none" strike="noStrike">
                          <a:solidFill>
                            <a:schemeClr val="tx2"/>
                          </a:solidFill>
                          <a:effectLst/>
                          <a:latin typeface="Calibri" panose="020F0502020204030204" pitchFamily="34" charset="0"/>
                        </a:rPr>
                        <a:t>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PEÑABLANCA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Villa Alemana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mié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108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Equipos del Hospital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Ver cuales están dados de baja</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Comercial</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10624698"/>
                  </a:ext>
                </a:extLst>
              </a:tr>
              <a:tr h="253111">
                <a:tc>
                  <a:txBody>
                    <a:bodyPr/>
                    <a:lstStyle/>
                    <a:p>
                      <a:pPr algn="l" fontAlgn="t">
                        <a:buNone/>
                      </a:pPr>
                      <a:r>
                        <a:rPr lang="es-CL" sz="700" b="0" i="0" u="none" strike="noStrike">
                          <a:solidFill>
                            <a:schemeClr val="tx2"/>
                          </a:solidFill>
                          <a:effectLst/>
                          <a:latin typeface="Calibri" panose="020F0502020204030204" pitchFamily="34" charset="0"/>
                        </a:rPr>
                        <a:t>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HOSPITAL PROVINCIAL MARGA MARGA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mar 13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103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Estimado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8368678"/>
                  </a:ext>
                </a:extLst>
              </a:tr>
              <a:tr h="253111">
                <a:tc>
                  <a:txBody>
                    <a:bodyPr/>
                    <a:lstStyle/>
                    <a:p>
                      <a:pPr algn="l" fontAlgn="t">
                        <a:buNone/>
                      </a:pPr>
                      <a:r>
                        <a:rPr lang="es-CL" sz="700" b="0" i="0" u="none" strike="noStrike">
                          <a:solidFill>
                            <a:schemeClr val="tx2"/>
                          </a:solidFill>
                          <a:effectLst/>
                          <a:latin typeface="Calibri" panose="020F0502020204030204" pitchFamily="34" charset="0"/>
                        </a:rPr>
                        <a:t>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HOSPITAL CLINICO VINA DEL MAR S 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Viña del Mar</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err="1">
                          <a:solidFill>
                            <a:schemeClr val="accent2"/>
                          </a:solidFill>
                          <a:effectLst/>
                          <a:latin typeface="Calibri" panose="020F0502020204030204" pitchFamily="34" charset="0"/>
                        </a:rPr>
                        <a:t>mié</a:t>
                      </a:r>
                      <a:r>
                        <a:rPr lang="es-CL" sz="700" b="0" i="0" u="none" strike="noStrike" dirty="0">
                          <a:solidFill>
                            <a:schemeClr val="accent2"/>
                          </a:solidFill>
                          <a:effectLst/>
                          <a:latin typeface="Calibri" panose="020F0502020204030204" pitchFamily="34" charset="0"/>
                        </a:rPr>
                        <a:t>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accent2"/>
                          </a:solidFill>
                          <a:effectLst/>
                          <a:latin typeface="Calibri" panose="020F0502020204030204" pitchFamily="34" charset="0"/>
                        </a:rPr>
                        <a:t>93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Levantamiento Completo de Equipos según los servicios ofrecidos por TS</a:t>
                      </a:r>
                      <a:br>
                        <a:rPr lang="es-CL" sz="700" b="0" i="0" u="none" strike="noStrike">
                          <a:solidFill>
                            <a:schemeClr val="tx2"/>
                          </a:solidFill>
                          <a:effectLst/>
                          <a:latin typeface="Calibri" panose="020F0502020204030204" pitchFamily="34" charset="0"/>
                        </a:rPr>
                      </a:br>
                      <a:r>
                        <a:rPr lang="es-CL" sz="700" b="0" i="0" u="none" strike="noStrike">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44398025"/>
                  </a:ext>
                </a:extLst>
              </a:tr>
              <a:tr h="317386">
                <a:tc>
                  <a:txBody>
                    <a:bodyPr/>
                    <a:lstStyle/>
                    <a:p>
                      <a:pPr algn="l" fontAlgn="t">
                        <a:buNone/>
                      </a:pPr>
                      <a:r>
                        <a:rPr lang="es-CL" sz="700" b="0" i="0" u="none" strike="noStrike">
                          <a:solidFill>
                            <a:schemeClr val="tx2"/>
                          </a:solidFill>
                          <a:effectLst/>
                          <a:latin typeface="Calibri" panose="020F0502020204030204" pitchFamily="34" charset="0"/>
                        </a:rPr>
                        <a:t>7</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CLINICA PINARES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 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mar 13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63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Estimado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95285940"/>
                  </a:ext>
                </a:extLst>
              </a:tr>
              <a:tr h="421719">
                <a:tc>
                  <a:txBody>
                    <a:bodyPr/>
                    <a:lstStyle/>
                    <a:p>
                      <a:pPr algn="l" fontAlgn="t">
                        <a:buNone/>
                      </a:pPr>
                      <a:r>
                        <a:rPr lang="es-CL" sz="700" b="0" i="0" u="none" strike="noStrike">
                          <a:solidFill>
                            <a:schemeClr val="tx2"/>
                          </a:solidFill>
                          <a:effectLst/>
                          <a:latin typeface="Calibri" panose="020F0502020204030204" pitchFamily="34" charset="0"/>
                        </a:rPr>
                        <a:t>8</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HOSPITAL SANTO TOMAS DE 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Limache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vie 16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57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MX" sz="700" b="0" i="0" u="none" strike="noStrike" dirty="0">
                          <a:solidFill>
                            <a:schemeClr val="accent2"/>
                          </a:solidFill>
                          <a:effectLst/>
                          <a:latin typeface="Calibri" panose="020F0502020204030204" pitchFamily="34" charset="0"/>
                        </a:rPr>
                        <a:t>3</a:t>
                      </a:r>
                      <a:r>
                        <a:rPr lang="es-CL" sz="700" b="0" i="0" u="none" strike="noStrike" dirty="0">
                          <a:solidFill>
                            <a:schemeClr val="accent2"/>
                          </a:solidFill>
                          <a:effectLst/>
                          <a:latin typeface="Calibri" panose="020F0502020204030204" pitchFamily="34" charset="0"/>
                        </a:rPr>
                        <a:t>,9</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6783829"/>
                  </a:ext>
                </a:extLst>
              </a:tr>
              <a:tr h="421719">
                <a:tc>
                  <a:txBody>
                    <a:bodyPr/>
                    <a:lstStyle/>
                    <a:p>
                      <a:pPr algn="l" fontAlgn="t">
                        <a:buNone/>
                      </a:pPr>
                      <a:r>
                        <a:rPr lang="es-CL" sz="700" b="0" i="0" u="none" strike="noStrike">
                          <a:solidFill>
                            <a:schemeClr val="tx2"/>
                          </a:solidFill>
                          <a:effectLst/>
                          <a:latin typeface="Calibri" panose="020F0502020204030204" pitchFamily="34" charset="0"/>
                        </a:rPr>
                        <a:t>9</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HOSPITAL DE QUINTEROS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Quintero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mar 13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accent2"/>
                          </a:solidFill>
                          <a:effectLst/>
                          <a:latin typeface="Calibri" panose="020F0502020204030204" pitchFamily="34" charset="0"/>
                        </a:rPr>
                        <a:t>31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accent2"/>
                          </a:solidFill>
                          <a:effectLst/>
                          <a:latin typeface="Calibri" panose="020F0502020204030204" pitchFamily="34" charset="0"/>
                        </a:rPr>
                        <a:t>3,3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Equipos del Hospital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Ver cuales están dados de baja</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Comercial</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En caso de que existan, ofrecer plan de mantenimiento con base instalada y con el resto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87977700"/>
                  </a:ext>
                </a:extLst>
              </a:tr>
              <a:tr h="419519">
                <a:tc>
                  <a:txBody>
                    <a:bodyPr/>
                    <a:lstStyle/>
                    <a:p>
                      <a:pPr algn="l" fontAlgn="t">
                        <a:buNone/>
                      </a:pPr>
                      <a:r>
                        <a:rPr lang="es-CL" sz="700" b="0" i="0" u="none" strike="noStrike">
                          <a:solidFill>
                            <a:schemeClr val="tx2"/>
                          </a:solidFill>
                          <a:effectLst/>
                          <a:latin typeface="Calibri" panose="020F0502020204030204" pitchFamily="34" charset="0"/>
                        </a:rPr>
                        <a:t>10</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HOSPITAL DE CABILDO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Cabildo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lun 19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21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accent2"/>
                          </a:solidFill>
                          <a:effectLst/>
                          <a:latin typeface="Calibri" panose="020F0502020204030204" pitchFamily="34" charset="0"/>
                        </a:rPr>
                        <a:t>3,3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Levantamiento Completo de Equipos según los servicios ofrecidos por TS</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47397755"/>
                  </a:ext>
                </a:extLst>
              </a:tr>
              <a:tr h="419519">
                <a:tc>
                  <a:txBody>
                    <a:bodyPr/>
                    <a:lstStyle/>
                    <a:p>
                      <a:pPr algn="l" fontAlgn="t">
                        <a:buNone/>
                      </a:pPr>
                      <a:r>
                        <a:rPr lang="es-CL" sz="700" b="0" i="0" u="none" strike="noStrike">
                          <a:solidFill>
                            <a:schemeClr val="tx2"/>
                          </a:solidFill>
                          <a:effectLst/>
                          <a:latin typeface="Calibri" panose="020F0502020204030204" pitchFamily="34" charset="0"/>
                        </a:rPr>
                        <a:t>11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HOSPITAL DE HANGA ROA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Isla de Pascua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Viaje aparte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a:solidFill>
                            <a:schemeClr val="accent2"/>
                          </a:solidFill>
                          <a:effectLst/>
                          <a:latin typeface="Calibri" panose="020F0502020204030204" pitchFamily="34" charset="0"/>
                        </a:rPr>
                        <a:t>18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accent2"/>
                          </a:solidFill>
                          <a:effectLst/>
                          <a:latin typeface="Calibri" panose="020F0502020204030204" pitchFamily="34" charset="0"/>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Viaje aparte, visita comercial</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07047800"/>
                  </a:ext>
                </a:extLst>
              </a:tr>
              <a:tr h="419519">
                <a:tc>
                  <a:txBody>
                    <a:bodyPr/>
                    <a:lstStyle/>
                    <a:p>
                      <a:pPr algn="l" fontAlgn="t">
                        <a:buNone/>
                      </a:pPr>
                      <a:r>
                        <a:rPr lang="es-CL" sz="700" b="0" i="0" u="none" strike="noStrike">
                          <a:solidFill>
                            <a:schemeClr val="tx2"/>
                          </a:solidFill>
                          <a:effectLst/>
                          <a:latin typeface="Calibri" panose="020F0502020204030204" pitchFamily="34" charset="0"/>
                        </a:rPr>
                        <a:t>12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HOSPITAL SAN JOSE DE CASA 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Casablanca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accent2"/>
                          </a:solidFill>
                          <a:effectLst/>
                          <a:latin typeface="Calibri" panose="020F0502020204030204" pitchFamily="34" charset="0"/>
                        </a:rPr>
                        <a:t>jue 15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accent2"/>
                          </a:solidFill>
                          <a:effectLst/>
                          <a:latin typeface="Calibri" panose="020F0502020204030204" pitchFamily="34" charset="0"/>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accent2"/>
                          </a:solidFill>
                          <a:effectLst/>
                          <a:latin typeface="Calibri" panose="020F0502020204030204" pitchFamily="34" charset="0"/>
                        </a:rPr>
                        <a:t>0,6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Plan de </a:t>
                      </a:r>
                      <a:r>
                        <a:rPr lang="es-CL" sz="700" b="0" i="0" u="none" strike="noStrike" dirty="0" err="1">
                          <a:solidFill>
                            <a:schemeClr val="tx2"/>
                          </a:solidFill>
                          <a:effectLst/>
                          <a:latin typeface="Calibri" panose="020F0502020204030204" pitchFamily="34" charset="0"/>
                        </a:rPr>
                        <a:t>manteniemiento</a:t>
                      </a:r>
                      <a:r>
                        <a:rPr lang="es-CL" sz="700" b="0" i="0" u="none" strike="noStrike" dirty="0">
                          <a:solidFill>
                            <a:schemeClr val="tx2"/>
                          </a:solidFill>
                          <a:effectLst/>
                          <a:latin typeface="Calibri" panose="020F0502020204030204" pitchFamily="34" charset="0"/>
                        </a:rPr>
                        <a:t> por equipos dentales</a:t>
                      </a:r>
                      <a:br>
                        <a:rPr lang="es-CL" sz="700" b="0" i="0" u="none" strike="noStrike" dirty="0">
                          <a:solidFill>
                            <a:schemeClr val="tx2"/>
                          </a:solidFill>
                          <a:effectLst/>
                          <a:latin typeface="Calibri" panose="020F0502020204030204" pitchFamily="34" charset="0"/>
                        </a:rPr>
                      </a:br>
                      <a:r>
                        <a:rPr lang="es-CL" sz="700" b="0" i="0" u="none" strike="noStrike" dirty="0">
                          <a:solidFill>
                            <a:schemeClr val="tx2"/>
                          </a:solidFill>
                          <a:effectLst/>
                          <a:latin typeface="Calibri" panose="020F0502020204030204" pitchFamily="34" charset="0"/>
                        </a:rPr>
                        <a:t>- Plan Conjunto</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62191090"/>
                  </a:ext>
                </a:extLst>
              </a:tr>
              <a:tr h="253111">
                <a:tc>
                  <a:txBody>
                    <a:bodyPr/>
                    <a:lstStyle/>
                    <a:p>
                      <a:pPr algn="l" fontAlgn="t">
                        <a:buNone/>
                      </a:pPr>
                      <a:r>
                        <a:rPr lang="es-CL" sz="700" b="0" i="0" u="none" strike="noStrike">
                          <a:solidFill>
                            <a:schemeClr val="tx2"/>
                          </a:solidFill>
                          <a:effectLst/>
                          <a:latin typeface="Calibri" panose="020F0502020204030204" pitchFamily="34" charset="0"/>
                        </a:rPr>
                        <a:t>13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POLICLINICO VILLA ALEMANA CENTRAL ODONTOLOGICA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Villa Alemana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mié 14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Sin internación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9368506"/>
                  </a:ext>
                </a:extLst>
              </a:tr>
              <a:tr h="175991">
                <a:tc>
                  <a:txBody>
                    <a:bodyPr/>
                    <a:lstStyle/>
                    <a:p>
                      <a:pPr algn="l" fontAlgn="t">
                        <a:buNone/>
                      </a:pPr>
                      <a:r>
                        <a:rPr lang="es-CL" sz="700" b="0" i="0" u="none" strike="noStrike">
                          <a:solidFill>
                            <a:schemeClr val="tx2"/>
                          </a:solidFill>
                          <a:effectLst/>
                          <a:latin typeface="Calibri" panose="020F0502020204030204" pitchFamily="34" charset="0"/>
                        </a:rPr>
                        <a:t>14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ASMAR</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vie 09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Sin internación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3,7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80264288"/>
                  </a:ext>
                </a:extLst>
              </a:tr>
              <a:tr h="188933">
                <a:tc>
                  <a:txBody>
                    <a:bodyPr/>
                    <a:lstStyle/>
                    <a:p>
                      <a:pPr algn="l" fontAlgn="t">
                        <a:buNone/>
                      </a:pPr>
                      <a:r>
                        <a:rPr lang="es-CL" sz="700" b="0" i="0" u="none" strike="noStrike">
                          <a:solidFill>
                            <a:schemeClr val="tx2"/>
                          </a:solidFill>
                          <a:effectLst/>
                          <a:latin typeface="Calibri" panose="020F0502020204030204" pitchFamily="34" charset="0"/>
                        </a:rPr>
                        <a:t>15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INTERMEDICA LIMITADA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mar 13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r"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Sin internación</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r"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3,6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accent2"/>
                          </a:solidFill>
                          <a:effectLst/>
                          <a:latin typeface="Calibri" panose="020F0502020204030204" pitchFamily="34" charset="0"/>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18856939"/>
                  </a:ext>
                </a:extLst>
              </a:tr>
              <a:tr h="113648">
                <a:tc>
                  <a:txBody>
                    <a:bodyPr/>
                    <a:lstStyle/>
                    <a:p>
                      <a:pPr algn="l" fontAlgn="t">
                        <a:buNone/>
                      </a:pPr>
                      <a:r>
                        <a:rPr lang="es-CL" sz="700" b="0" i="0" u="none" strike="noStrike" dirty="0">
                          <a:solidFill>
                            <a:schemeClr val="tx2"/>
                          </a:solidFill>
                          <a:effectLst/>
                          <a:latin typeface="Calibri" panose="020F0502020204030204" pitchFamily="34" charset="0"/>
                        </a:rPr>
                        <a:t>Total</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tx2"/>
                          </a:solidFill>
                          <a:effectLst/>
                          <a:latin typeface="Calibri" panose="020F0502020204030204" pitchFamily="34" charset="0"/>
                        </a:rPr>
                        <a:t>39,1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27307879"/>
                  </a:ext>
                </a:extLst>
              </a:tr>
            </a:tbl>
          </a:graphicData>
        </a:graphic>
      </p:graphicFrame>
      <p:sp>
        <p:nvSpPr>
          <p:cNvPr id="8" name="Rectángulo 7">
            <a:extLst>
              <a:ext uri="{FF2B5EF4-FFF2-40B4-BE49-F238E27FC236}">
                <a16:creationId xmlns:a16="http://schemas.microsoft.com/office/drawing/2014/main" id="{1FE12B2D-60A0-8F28-2565-241C9C9EDB65}"/>
              </a:ext>
            </a:extLst>
          </p:cNvPr>
          <p:cNvSpPr/>
          <p:nvPr/>
        </p:nvSpPr>
        <p:spPr>
          <a:xfrm>
            <a:off x="265050" y="6129000"/>
            <a:ext cx="11769034" cy="546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El plan incluye dos premisas principales: Levantamiento de equipos completos del hospital/clínica para hacer un plan de mantenimiento completo “en pack” y además</a:t>
            </a:r>
            <a:r>
              <a:rPr lang="es-CL" sz="900" dirty="0">
                <a:solidFill>
                  <a:schemeClr val="tx2"/>
                </a:solidFill>
              </a:rPr>
              <a:t> levantamiento si la base instalada sigue siendo utilizada según antigüedad de la vida </a:t>
            </a:r>
            <a:r>
              <a:rPr lang="es-CL" sz="900" dirty="0" err="1">
                <a:solidFill>
                  <a:schemeClr val="tx2"/>
                </a:solidFill>
              </a:rPr>
              <a:t>útil</a:t>
            </a:r>
            <a:r>
              <a:rPr lang="es-CL" sz="900" dirty="0" err="1">
                <a:solidFill>
                  <a:schemeClr val="tx1"/>
                </a:solidFill>
              </a:rPr>
              <a:t>DF</a:t>
            </a:r>
            <a:endParaRPr lang="es-MX" sz="900" dirty="0">
              <a:solidFill>
                <a:schemeClr val="tx2"/>
              </a:solidFill>
            </a:endParaRPr>
          </a:p>
        </p:txBody>
      </p:sp>
    </p:spTree>
    <p:extLst>
      <p:ext uri="{BB962C8B-B14F-4D97-AF65-F5344CB8AC3E}">
        <p14:creationId xmlns:p14="http://schemas.microsoft.com/office/powerpoint/2010/main" val="340339757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8F12B10F-FA45-A319-5F7E-B2097CC4D322}"/>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7DC661D5-2641-166C-4D82-11C0A6D07B22}"/>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Valparaíso Grupo 3 – Clientes Valparaíso</a:t>
            </a:r>
            <a:endParaRPr dirty="0"/>
          </a:p>
        </p:txBody>
      </p:sp>
      <p:sp>
        <p:nvSpPr>
          <p:cNvPr id="5" name="Triángulo isósceles 4">
            <a:extLst>
              <a:ext uri="{FF2B5EF4-FFF2-40B4-BE49-F238E27FC236}">
                <a16:creationId xmlns:a16="http://schemas.microsoft.com/office/drawing/2014/main" id="{D6A17410-AB89-A50F-79A5-B07ECBA513CA}"/>
              </a:ext>
            </a:extLst>
          </p:cNvPr>
          <p:cNvSpPr/>
          <p:nvPr/>
        </p:nvSpPr>
        <p:spPr>
          <a:xfrm rot="5400000">
            <a:off x="3778500" y="2641500"/>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a:extLst>
              <a:ext uri="{FF2B5EF4-FFF2-40B4-BE49-F238E27FC236}">
                <a16:creationId xmlns:a16="http://schemas.microsoft.com/office/drawing/2014/main" id="{DAF5CFED-C476-DB93-33A7-4D27B7101DE2}"/>
              </a:ext>
            </a:extLst>
          </p:cNvPr>
          <p:cNvSpPr/>
          <p:nvPr/>
        </p:nvSpPr>
        <p:spPr>
          <a:xfrm>
            <a:off x="559084" y="5448029"/>
            <a:ext cx="11430000" cy="4197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 semanas la cartera es cubierta con un promedio de 3 visitas por cliente</a:t>
            </a:r>
          </a:p>
          <a:p>
            <a:pPr marL="171450" lvl="1" indent="-171450">
              <a:buFont typeface="Arial" panose="020B0604020202020204" pitchFamily="34" charset="0"/>
              <a:buChar char="•"/>
            </a:pPr>
            <a:r>
              <a:rPr lang="es-MX" sz="900" dirty="0">
                <a:solidFill>
                  <a:schemeClr val="tx2"/>
                </a:solidFill>
              </a:rPr>
              <a:t>En total son 40 clientes del grupo 3 a visitar, mas 15 del Grupo 2 </a:t>
            </a:r>
          </a:p>
        </p:txBody>
      </p:sp>
      <p:sp>
        <p:nvSpPr>
          <p:cNvPr id="13" name="Triángulo isósceles 12">
            <a:extLst>
              <a:ext uri="{FF2B5EF4-FFF2-40B4-BE49-F238E27FC236}">
                <a16:creationId xmlns:a16="http://schemas.microsoft.com/office/drawing/2014/main" id="{9DA28DD3-3E24-FB65-7896-3E81D06FF3D6}"/>
              </a:ext>
            </a:extLst>
          </p:cNvPr>
          <p:cNvSpPr/>
          <p:nvPr/>
        </p:nvSpPr>
        <p:spPr>
          <a:xfrm rot="5400000">
            <a:off x="8176305" y="336587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6" name="Imagen 5">
            <a:extLst>
              <a:ext uri="{FF2B5EF4-FFF2-40B4-BE49-F238E27FC236}">
                <a16:creationId xmlns:a16="http://schemas.microsoft.com/office/drawing/2014/main" id="{A24D988A-5476-BFD0-FA9C-B2C70D45B57F}"/>
              </a:ext>
            </a:extLst>
          </p:cNvPr>
          <p:cNvPicPr>
            <a:picLocks noChangeAspect="1"/>
          </p:cNvPicPr>
          <p:nvPr/>
        </p:nvPicPr>
        <p:blipFill>
          <a:blip r:embed="rId3"/>
          <a:stretch>
            <a:fillRect/>
          </a:stretch>
        </p:blipFill>
        <p:spPr>
          <a:xfrm>
            <a:off x="572484" y="989965"/>
            <a:ext cx="3620005" cy="4248743"/>
          </a:xfrm>
          <a:prstGeom prst="rect">
            <a:avLst/>
          </a:prstGeom>
        </p:spPr>
      </p:pic>
      <p:pic>
        <p:nvPicPr>
          <p:cNvPr id="10" name="Imagen 9">
            <a:extLst>
              <a:ext uri="{FF2B5EF4-FFF2-40B4-BE49-F238E27FC236}">
                <a16:creationId xmlns:a16="http://schemas.microsoft.com/office/drawing/2014/main" id="{3359FBC6-09C2-C0ED-91C0-2AB3682B85F4}"/>
              </a:ext>
            </a:extLst>
          </p:cNvPr>
          <p:cNvPicPr>
            <a:picLocks noChangeAspect="1"/>
          </p:cNvPicPr>
          <p:nvPr/>
        </p:nvPicPr>
        <p:blipFill>
          <a:blip r:embed="rId4"/>
          <a:stretch>
            <a:fillRect/>
          </a:stretch>
        </p:blipFill>
        <p:spPr>
          <a:xfrm>
            <a:off x="5029511" y="989965"/>
            <a:ext cx="6144457" cy="4236369"/>
          </a:xfrm>
          <a:prstGeom prst="rect">
            <a:avLst/>
          </a:prstGeom>
        </p:spPr>
      </p:pic>
    </p:spTree>
    <p:extLst>
      <p:ext uri="{BB962C8B-B14F-4D97-AF65-F5344CB8AC3E}">
        <p14:creationId xmlns:p14="http://schemas.microsoft.com/office/powerpoint/2010/main" val="13752505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53">
          <a:extLst>
            <a:ext uri="{FF2B5EF4-FFF2-40B4-BE49-F238E27FC236}">
              <a16:creationId xmlns:a16="http://schemas.microsoft.com/office/drawing/2014/main" id="{BA8679A5-9A4F-C64E-2172-5758B6E4934F}"/>
            </a:ext>
          </a:extLst>
        </p:cNvPr>
        <p:cNvGrpSpPr/>
        <p:nvPr/>
      </p:nvGrpSpPr>
      <p:grpSpPr>
        <a:xfrm>
          <a:off x="0" y="0"/>
          <a:ext cx="0" cy="0"/>
          <a:chOff x="0" y="0"/>
          <a:chExt cx="0" cy="0"/>
        </a:xfrm>
      </p:grpSpPr>
      <p:sp>
        <p:nvSpPr>
          <p:cNvPr id="454" name="Google Shape;454;p35">
            <a:extLst>
              <a:ext uri="{FF2B5EF4-FFF2-40B4-BE49-F238E27FC236}">
                <a16:creationId xmlns:a16="http://schemas.microsoft.com/office/drawing/2014/main" id="{754C4C19-D56F-CF04-2635-5867054353BC}"/>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dirty="0">
                <a:solidFill>
                  <a:srgbClr val="33448D"/>
                </a:solidFill>
                <a:latin typeface="Roboto"/>
                <a:ea typeface="Roboto"/>
                <a:cs typeface="Roboto"/>
                <a:sym typeface="Roboto"/>
              </a:rPr>
              <a:t>Región Metropolitana</a:t>
            </a:r>
            <a:endParaRPr dirty="0"/>
          </a:p>
        </p:txBody>
      </p:sp>
      <p:sp>
        <p:nvSpPr>
          <p:cNvPr id="31" name="Rectángulo 30">
            <a:extLst>
              <a:ext uri="{FF2B5EF4-FFF2-40B4-BE49-F238E27FC236}">
                <a16:creationId xmlns:a16="http://schemas.microsoft.com/office/drawing/2014/main" id="{78AFE1EC-12B5-57C5-9649-3432E5C8E91D}"/>
              </a:ext>
            </a:extLst>
          </p:cNvPr>
          <p:cNvSpPr/>
          <p:nvPr/>
        </p:nvSpPr>
        <p:spPr>
          <a:xfrm>
            <a:off x="346016" y="819927"/>
            <a:ext cx="1260000" cy="11584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 – Top 10 Mayor Potencial</a:t>
            </a:r>
            <a:endParaRPr lang="es-CL" sz="800" b="1" dirty="0">
              <a:solidFill>
                <a:schemeClr val="tx1"/>
              </a:solidFill>
            </a:endParaRPr>
          </a:p>
        </p:txBody>
      </p:sp>
      <p:sp>
        <p:nvSpPr>
          <p:cNvPr id="33" name="Rectángulo 32">
            <a:extLst>
              <a:ext uri="{FF2B5EF4-FFF2-40B4-BE49-F238E27FC236}">
                <a16:creationId xmlns:a16="http://schemas.microsoft.com/office/drawing/2014/main" id="{A5ADBE80-21A5-1B76-954A-83260D4A9511}"/>
              </a:ext>
            </a:extLst>
          </p:cNvPr>
          <p:cNvSpPr/>
          <p:nvPr/>
        </p:nvSpPr>
        <p:spPr>
          <a:xfrm>
            <a:off x="1758416" y="819927"/>
            <a:ext cx="12600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 – Top 15 Clientes “grandes” sin contrato</a:t>
            </a:r>
            <a:endParaRPr lang="es-CL" sz="1100" b="1" dirty="0">
              <a:solidFill>
                <a:schemeClr val="tx1"/>
              </a:solidFill>
            </a:endParaRPr>
          </a:p>
        </p:txBody>
      </p:sp>
      <p:sp>
        <p:nvSpPr>
          <p:cNvPr id="35" name="Rectángulo 34">
            <a:extLst>
              <a:ext uri="{FF2B5EF4-FFF2-40B4-BE49-F238E27FC236}">
                <a16:creationId xmlns:a16="http://schemas.microsoft.com/office/drawing/2014/main" id="{F6572F1A-CF38-50E0-AC6C-BDAE99789FDB}"/>
              </a:ext>
            </a:extLst>
          </p:cNvPr>
          <p:cNvSpPr/>
          <p:nvPr/>
        </p:nvSpPr>
        <p:spPr>
          <a:xfrm>
            <a:off x="3170816" y="819000"/>
            <a:ext cx="1990200" cy="115843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3 - Restante</a:t>
            </a:r>
            <a:endParaRPr lang="es-CL" sz="1100" b="1" dirty="0">
              <a:solidFill>
                <a:schemeClr val="tx1"/>
              </a:solidFill>
            </a:endParaRPr>
          </a:p>
        </p:txBody>
      </p:sp>
      <p:sp>
        <p:nvSpPr>
          <p:cNvPr id="8" name="Rectángulo 7">
            <a:extLst>
              <a:ext uri="{FF2B5EF4-FFF2-40B4-BE49-F238E27FC236}">
                <a16:creationId xmlns:a16="http://schemas.microsoft.com/office/drawing/2014/main" id="{C80DFCBD-F36C-196D-C1BD-2EE6600326B5}"/>
              </a:ext>
            </a:extLst>
          </p:cNvPr>
          <p:cNvSpPr/>
          <p:nvPr/>
        </p:nvSpPr>
        <p:spPr>
          <a:xfrm>
            <a:off x="5313600" y="2046101"/>
            <a:ext cx="1990200" cy="18779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Total: 897.9</a:t>
            </a:r>
          </a:p>
          <a:p>
            <a:pPr marL="171450" indent="-171450">
              <a:buFont typeface="Arial" panose="020B0604020202020204" pitchFamily="34" charset="0"/>
              <a:buChar char="•"/>
            </a:pPr>
            <a:r>
              <a:rPr lang="es-MX" sz="900" b="1" dirty="0">
                <a:solidFill>
                  <a:schemeClr val="tx2"/>
                </a:solidFill>
              </a:rPr>
              <a:t># Clientes: 349</a:t>
            </a:r>
          </a:p>
          <a:p>
            <a:pPr marL="171450" indent="-171450">
              <a:buFont typeface="Arial" panose="020B0604020202020204" pitchFamily="34" charset="0"/>
              <a:buChar char="•"/>
            </a:pPr>
            <a:r>
              <a:rPr lang="es-MX" sz="900" b="1" dirty="0">
                <a:solidFill>
                  <a:schemeClr val="tx2"/>
                </a:solidFill>
              </a:rPr>
              <a:t>Fecha de ejecución: Septiembre - Noviembre</a:t>
            </a:r>
            <a:endParaRPr lang="es-CL" sz="1600" b="1" dirty="0">
              <a:solidFill>
                <a:schemeClr val="tx1"/>
              </a:solidFill>
            </a:endParaRPr>
          </a:p>
        </p:txBody>
      </p:sp>
      <p:sp>
        <p:nvSpPr>
          <p:cNvPr id="16" name="Rectángulo 15">
            <a:extLst>
              <a:ext uri="{FF2B5EF4-FFF2-40B4-BE49-F238E27FC236}">
                <a16:creationId xmlns:a16="http://schemas.microsoft.com/office/drawing/2014/main" id="{E8BB6D2B-E3DC-CC9F-02C4-D8F3D8B24140}"/>
              </a:ext>
            </a:extLst>
          </p:cNvPr>
          <p:cNvSpPr/>
          <p:nvPr/>
        </p:nvSpPr>
        <p:spPr>
          <a:xfrm>
            <a:off x="5313600" y="811825"/>
            <a:ext cx="1990200" cy="1158436"/>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Total</a:t>
            </a:r>
            <a:endParaRPr lang="es-CL" sz="1100" b="1" dirty="0">
              <a:solidFill>
                <a:schemeClr val="tx1"/>
              </a:solidFill>
            </a:endParaRPr>
          </a:p>
        </p:txBody>
      </p:sp>
      <p:sp>
        <p:nvSpPr>
          <p:cNvPr id="17" name="Triángulo isósceles 16">
            <a:extLst>
              <a:ext uri="{FF2B5EF4-FFF2-40B4-BE49-F238E27FC236}">
                <a16:creationId xmlns:a16="http://schemas.microsoft.com/office/drawing/2014/main" id="{CF82CB7B-E167-5543-705A-383DB49D5E24}"/>
              </a:ext>
            </a:extLst>
          </p:cNvPr>
          <p:cNvSpPr/>
          <p:nvPr/>
        </p:nvSpPr>
        <p:spPr>
          <a:xfrm rot="5400000">
            <a:off x="6837844" y="232664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20" name="Rectángulo 19">
            <a:extLst>
              <a:ext uri="{FF2B5EF4-FFF2-40B4-BE49-F238E27FC236}">
                <a16:creationId xmlns:a16="http://schemas.microsoft.com/office/drawing/2014/main" id="{FC4949FD-3DC1-60FA-FBFB-11E79701E22F}"/>
              </a:ext>
            </a:extLst>
          </p:cNvPr>
          <p:cNvSpPr/>
          <p:nvPr/>
        </p:nvSpPr>
        <p:spPr>
          <a:xfrm>
            <a:off x="7952460" y="837802"/>
            <a:ext cx="3868084" cy="308619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la región de Metropolitana se tienen 349 clientes.</a:t>
            </a:r>
          </a:p>
          <a:p>
            <a:pPr marL="171450" lvl="1" indent="-171450">
              <a:buFont typeface="Arial" panose="020B0604020202020204" pitchFamily="34" charset="0"/>
              <a:buChar char="•"/>
            </a:pPr>
            <a:r>
              <a:rPr lang="es-MX" sz="900" dirty="0">
                <a:solidFill>
                  <a:schemeClr val="tx2"/>
                </a:solidFill>
              </a:rPr>
              <a:t>La distribución o asignación de clientes se realiza en base a las carteras ya definidas (por comuna) para </a:t>
            </a:r>
            <a:r>
              <a:rPr lang="es-MX" sz="900" dirty="0" err="1">
                <a:solidFill>
                  <a:schemeClr val="tx2"/>
                </a:solidFill>
              </a:rPr>
              <a:t>Eglys</a:t>
            </a:r>
            <a:r>
              <a:rPr lang="es-MX" sz="900" dirty="0">
                <a:solidFill>
                  <a:schemeClr val="tx2"/>
                </a:solidFill>
              </a:rPr>
              <a:t> Ramírez y Cristian Pérez. </a:t>
            </a:r>
          </a:p>
        </p:txBody>
      </p:sp>
      <p:sp>
        <p:nvSpPr>
          <p:cNvPr id="3" name="Rectángulo 2">
            <a:extLst>
              <a:ext uri="{FF2B5EF4-FFF2-40B4-BE49-F238E27FC236}">
                <a16:creationId xmlns:a16="http://schemas.microsoft.com/office/drawing/2014/main" id="{4739562D-3A05-5EBD-A7B3-C01052B1D7EC}"/>
              </a:ext>
            </a:extLst>
          </p:cNvPr>
          <p:cNvSpPr/>
          <p:nvPr/>
        </p:nvSpPr>
        <p:spPr>
          <a:xfrm>
            <a:off x="346016" y="2080390"/>
            <a:ext cx="12600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MM$254,0</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endParaRPr lang="es-CL" sz="1050" b="1" dirty="0">
              <a:solidFill>
                <a:schemeClr val="tx1"/>
              </a:solidFill>
            </a:endParaRPr>
          </a:p>
        </p:txBody>
      </p:sp>
      <p:sp>
        <p:nvSpPr>
          <p:cNvPr id="5" name="Rectángulo 4">
            <a:extLst>
              <a:ext uri="{FF2B5EF4-FFF2-40B4-BE49-F238E27FC236}">
                <a16:creationId xmlns:a16="http://schemas.microsoft.com/office/drawing/2014/main" id="{90A3BBCB-63DD-0BE3-EEE4-2845CEAFDE2B}"/>
              </a:ext>
            </a:extLst>
          </p:cNvPr>
          <p:cNvSpPr/>
          <p:nvPr/>
        </p:nvSpPr>
        <p:spPr>
          <a:xfrm>
            <a:off x="1758416" y="2080390"/>
            <a:ext cx="12600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MM$46,2</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r>
              <a:rPr lang="es-MX" sz="900" b="1" dirty="0">
                <a:solidFill>
                  <a:schemeClr val="tx1"/>
                </a:solidFill>
              </a:rPr>
              <a:t> 2</a:t>
            </a:r>
            <a:endParaRPr lang="es-CL" sz="900" b="1" dirty="0">
              <a:solidFill>
                <a:schemeClr val="tx1"/>
              </a:solidFill>
            </a:endParaRPr>
          </a:p>
        </p:txBody>
      </p:sp>
      <p:sp>
        <p:nvSpPr>
          <p:cNvPr id="7" name="Rectángulo 6">
            <a:extLst>
              <a:ext uri="{FF2B5EF4-FFF2-40B4-BE49-F238E27FC236}">
                <a16:creationId xmlns:a16="http://schemas.microsoft.com/office/drawing/2014/main" id="{908E518B-D9D0-9461-B5DA-D63E37A6465D}"/>
              </a:ext>
            </a:extLst>
          </p:cNvPr>
          <p:cNvSpPr/>
          <p:nvPr/>
        </p:nvSpPr>
        <p:spPr>
          <a:xfrm>
            <a:off x="3170816" y="2079463"/>
            <a:ext cx="1990200" cy="184361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MM$597,7</a:t>
            </a:r>
          </a:p>
          <a:p>
            <a:pPr marL="171450" indent="-171450">
              <a:buFont typeface="Arial" panose="020B0604020202020204" pitchFamily="34" charset="0"/>
              <a:buChar char="•"/>
            </a:pPr>
            <a:r>
              <a:rPr lang="es-MX" sz="900" dirty="0">
                <a:solidFill>
                  <a:schemeClr val="tx2"/>
                </a:solidFill>
              </a:rPr>
              <a:t># Clientes: 324</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pic>
        <p:nvPicPr>
          <p:cNvPr id="9" name="Imagen 8">
            <a:extLst>
              <a:ext uri="{FF2B5EF4-FFF2-40B4-BE49-F238E27FC236}">
                <a16:creationId xmlns:a16="http://schemas.microsoft.com/office/drawing/2014/main" id="{0E28F42D-5F5A-1D08-AEC6-81F264C4D419}"/>
              </a:ext>
            </a:extLst>
          </p:cNvPr>
          <p:cNvPicPr>
            <a:picLocks noChangeAspect="1"/>
          </p:cNvPicPr>
          <p:nvPr/>
        </p:nvPicPr>
        <p:blipFill>
          <a:blip r:embed="rId3"/>
          <a:srcRect l="1279" t="17168" b="19465"/>
          <a:stretch>
            <a:fillRect/>
          </a:stretch>
        </p:blipFill>
        <p:spPr>
          <a:xfrm>
            <a:off x="423916" y="4025102"/>
            <a:ext cx="11385664" cy="2650188"/>
          </a:xfrm>
          <a:prstGeom prst="rect">
            <a:avLst/>
          </a:prstGeom>
        </p:spPr>
      </p:pic>
    </p:spTree>
    <p:extLst>
      <p:ext uri="{BB962C8B-B14F-4D97-AF65-F5344CB8AC3E}">
        <p14:creationId xmlns:p14="http://schemas.microsoft.com/office/powerpoint/2010/main" val="2650193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908A2BA0-C668-4733-25E1-FFC9E0F21F9E}"/>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1FF4FF3E-9CE0-8094-D8E2-79A67D4FD7F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Metropolitana Grupo 1 – Top según Potencial</a:t>
            </a:r>
            <a:endParaRPr dirty="0"/>
          </a:p>
        </p:txBody>
      </p:sp>
      <p:graphicFrame>
        <p:nvGraphicFramePr>
          <p:cNvPr id="3" name="Tabla 2">
            <a:extLst>
              <a:ext uri="{FF2B5EF4-FFF2-40B4-BE49-F238E27FC236}">
                <a16:creationId xmlns:a16="http://schemas.microsoft.com/office/drawing/2014/main" id="{6BD46753-8F4F-6A29-55CF-80E7A579D8CD}"/>
              </a:ext>
            </a:extLst>
          </p:cNvPr>
          <p:cNvGraphicFramePr>
            <a:graphicFrameLocks noGrp="1"/>
          </p:cNvGraphicFramePr>
          <p:nvPr>
            <p:extLst>
              <p:ext uri="{D42A27DB-BD31-4B8C-83A1-F6EECF244321}">
                <p14:modId xmlns:p14="http://schemas.microsoft.com/office/powerpoint/2010/main" val="1964434737"/>
              </p:ext>
            </p:extLst>
          </p:nvPr>
        </p:nvGraphicFramePr>
        <p:xfrm>
          <a:off x="201000" y="818999"/>
          <a:ext cx="11745000" cy="5869008"/>
        </p:xfrm>
        <a:graphic>
          <a:graphicData uri="http://schemas.openxmlformats.org/drawingml/2006/table">
            <a:tbl>
              <a:tblPr/>
              <a:tblGrid>
                <a:gridCol w="415329">
                  <a:extLst>
                    <a:ext uri="{9D8B030D-6E8A-4147-A177-3AD203B41FA5}">
                      <a16:colId xmlns:a16="http://schemas.microsoft.com/office/drawing/2014/main" val="18174365"/>
                    </a:ext>
                  </a:extLst>
                </a:gridCol>
                <a:gridCol w="1884951">
                  <a:extLst>
                    <a:ext uri="{9D8B030D-6E8A-4147-A177-3AD203B41FA5}">
                      <a16:colId xmlns:a16="http://schemas.microsoft.com/office/drawing/2014/main" val="452569541"/>
                    </a:ext>
                  </a:extLst>
                </a:gridCol>
                <a:gridCol w="495199">
                  <a:extLst>
                    <a:ext uri="{9D8B030D-6E8A-4147-A177-3AD203B41FA5}">
                      <a16:colId xmlns:a16="http://schemas.microsoft.com/office/drawing/2014/main" val="3775602071"/>
                    </a:ext>
                  </a:extLst>
                </a:gridCol>
                <a:gridCol w="497195">
                  <a:extLst>
                    <a:ext uri="{9D8B030D-6E8A-4147-A177-3AD203B41FA5}">
                      <a16:colId xmlns:a16="http://schemas.microsoft.com/office/drawing/2014/main" val="2794059284"/>
                    </a:ext>
                  </a:extLst>
                </a:gridCol>
                <a:gridCol w="495199">
                  <a:extLst>
                    <a:ext uri="{9D8B030D-6E8A-4147-A177-3AD203B41FA5}">
                      <a16:colId xmlns:a16="http://schemas.microsoft.com/office/drawing/2014/main" val="2202799446"/>
                    </a:ext>
                  </a:extLst>
                </a:gridCol>
                <a:gridCol w="497195">
                  <a:extLst>
                    <a:ext uri="{9D8B030D-6E8A-4147-A177-3AD203B41FA5}">
                      <a16:colId xmlns:a16="http://schemas.microsoft.com/office/drawing/2014/main" val="1319033109"/>
                    </a:ext>
                  </a:extLst>
                </a:gridCol>
                <a:gridCol w="495199">
                  <a:extLst>
                    <a:ext uri="{9D8B030D-6E8A-4147-A177-3AD203B41FA5}">
                      <a16:colId xmlns:a16="http://schemas.microsoft.com/office/drawing/2014/main" val="1371427262"/>
                    </a:ext>
                  </a:extLst>
                </a:gridCol>
                <a:gridCol w="497195">
                  <a:extLst>
                    <a:ext uri="{9D8B030D-6E8A-4147-A177-3AD203B41FA5}">
                      <a16:colId xmlns:a16="http://schemas.microsoft.com/office/drawing/2014/main" val="3122706052"/>
                    </a:ext>
                  </a:extLst>
                </a:gridCol>
                <a:gridCol w="583058">
                  <a:extLst>
                    <a:ext uri="{9D8B030D-6E8A-4147-A177-3AD203B41FA5}">
                      <a16:colId xmlns:a16="http://schemas.microsoft.com/office/drawing/2014/main" val="4137992039"/>
                    </a:ext>
                  </a:extLst>
                </a:gridCol>
                <a:gridCol w="581060">
                  <a:extLst>
                    <a:ext uri="{9D8B030D-6E8A-4147-A177-3AD203B41FA5}">
                      <a16:colId xmlns:a16="http://schemas.microsoft.com/office/drawing/2014/main" val="4058666224"/>
                    </a:ext>
                  </a:extLst>
                </a:gridCol>
                <a:gridCol w="878578">
                  <a:extLst>
                    <a:ext uri="{9D8B030D-6E8A-4147-A177-3AD203B41FA5}">
                      <a16:colId xmlns:a16="http://schemas.microsoft.com/office/drawing/2014/main" val="174517584"/>
                    </a:ext>
                  </a:extLst>
                </a:gridCol>
                <a:gridCol w="878578">
                  <a:extLst>
                    <a:ext uri="{9D8B030D-6E8A-4147-A177-3AD203B41FA5}">
                      <a16:colId xmlns:a16="http://schemas.microsoft.com/office/drawing/2014/main" val="2849187737"/>
                    </a:ext>
                  </a:extLst>
                </a:gridCol>
                <a:gridCol w="1971264">
                  <a:extLst>
                    <a:ext uri="{9D8B030D-6E8A-4147-A177-3AD203B41FA5}">
                      <a16:colId xmlns:a16="http://schemas.microsoft.com/office/drawing/2014/main" val="365430939"/>
                    </a:ext>
                  </a:extLst>
                </a:gridCol>
                <a:gridCol w="776292">
                  <a:extLst>
                    <a:ext uri="{9D8B030D-6E8A-4147-A177-3AD203B41FA5}">
                      <a16:colId xmlns:a16="http://schemas.microsoft.com/office/drawing/2014/main" val="4087326839"/>
                    </a:ext>
                  </a:extLst>
                </a:gridCol>
                <a:gridCol w="798708">
                  <a:extLst>
                    <a:ext uri="{9D8B030D-6E8A-4147-A177-3AD203B41FA5}">
                      <a16:colId xmlns:a16="http://schemas.microsoft.com/office/drawing/2014/main" val="3077258236"/>
                    </a:ext>
                  </a:extLst>
                </a:gridCol>
              </a:tblGrid>
              <a:tr h="262105">
                <a:tc rowSpan="2">
                  <a:txBody>
                    <a:bodyPr/>
                    <a:lstStyle/>
                    <a:p>
                      <a:pPr algn="ctr" fontAlgn="ctr">
                        <a:buNone/>
                      </a:pPr>
                      <a:r>
                        <a:rPr lang="es-CL" sz="700" b="1" i="0" u="none" strike="noStrike" dirty="0">
                          <a:solidFill>
                            <a:srgbClr val="FFFFFF"/>
                          </a:solidFill>
                          <a:effectLst/>
                          <a:latin typeface="Calibri" panose="020F0502020204030204" pitchFamily="34" charset="0"/>
                        </a:rPr>
                        <a:t>#</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700" b="1" i="0" u="none" strike="noStrike" dirty="0">
                          <a:solidFill>
                            <a:srgbClr val="FFFFFF"/>
                          </a:solidFill>
                          <a:effectLst/>
                          <a:latin typeface="Calibri" panose="020F0502020204030204" pitchFamily="34" charset="0"/>
                        </a:rPr>
                        <a:t>Cliente</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600" b="1" i="0" u="none" strike="noStrike">
                          <a:solidFill>
                            <a:srgbClr val="1A1A1A"/>
                          </a:solidFill>
                          <a:effectLst/>
                          <a:latin typeface="Calibri" panose="020F0502020204030204" pitchFamily="34" charset="0"/>
                        </a:rPr>
                        <a:t>Dental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Esterilización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600" b="1" i="0" u="none" strike="noStrike">
                          <a:solidFill>
                            <a:srgbClr val="1A1A1A"/>
                          </a:solidFill>
                          <a:effectLst/>
                          <a:latin typeface="Calibri" panose="020F0502020204030204" pitchFamily="34" charset="0"/>
                        </a:rPr>
                        <a:t>Endoscopía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600" b="1" i="0" u="none" strike="noStrike">
                          <a:solidFill>
                            <a:srgbClr val="FFFFFF"/>
                          </a:solidFill>
                          <a:effectLst/>
                          <a:latin typeface="Calibri" panose="020F0502020204030204" pitchFamily="34" charset="0"/>
                        </a:rPr>
                        <a:t>Base Instalada Total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l" fontAlgn="ctr">
                        <a:buNone/>
                      </a:pPr>
                      <a:r>
                        <a:rPr lang="es-CL" sz="700" b="1" i="0" u="none" strike="noStrike" dirty="0">
                          <a:solidFill>
                            <a:srgbClr val="FFFFFF"/>
                          </a:solidFill>
                          <a:effectLst/>
                          <a:latin typeface="Calibri" panose="020F0502020204030204" pitchFamily="34" charset="0"/>
                        </a:rPr>
                        <a:t>Pot. Mantenimiento MM$</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Margen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l" fontAlgn="ctr">
                        <a:buNone/>
                      </a:pPr>
                      <a:r>
                        <a:rPr lang="es-CL" sz="700" b="1" i="0" u="none" strike="noStrike">
                          <a:solidFill>
                            <a:srgbClr val="FFFFFF"/>
                          </a:solidFill>
                          <a:effectLst/>
                          <a:latin typeface="Calibri" panose="020F0502020204030204" pitchFamily="34" charset="0"/>
                        </a:rPr>
                        <a:t>Plan de Acción</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Visita Comercial/Fecha</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tc rowSpan="2">
                  <a:txBody>
                    <a:bodyPr/>
                    <a:lstStyle/>
                    <a:p>
                      <a:pPr algn="l" fontAlgn="ctr">
                        <a:buNone/>
                      </a:pPr>
                      <a:r>
                        <a:rPr lang="es-CL" sz="700" b="1" i="0" u="none" strike="noStrike">
                          <a:solidFill>
                            <a:srgbClr val="FFFFFF"/>
                          </a:solidFill>
                          <a:effectLst/>
                          <a:latin typeface="Roboto" panose="02000000000000000000" pitchFamily="2" charset="0"/>
                        </a:rPr>
                        <a:t>Responsable Comercial</a:t>
                      </a:r>
                    </a:p>
                  </a:txBody>
                  <a:tcPr marL="5641" marR="5641" marT="5641" marB="0" anchor="ctr">
                    <a:lnL w="6350" cap="flat" cmpd="sng" algn="ctr">
                      <a:solidFill>
                        <a:srgbClr val="BFBFBF"/>
                      </a:solidFill>
                      <a:prstDash val="solid"/>
                      <a:round/>
                      <a:headEnd type="none" w="med" len="med"/>
                      <a:tailEnd type="none" w="med" len="med"/>
                    </a:lnL>
                    <a:lnR w="6350" cap="flat" cmpd="sng" algn="ctr">
                      <a:solidFill>
                        <a:srgbClr val="BFBFBF"/>
                      </a:solidFill>
                      <a:prstDash val="solid"/>
                      <a:round/>
                      <a:headEnd type="none" w="med" len="med"/>
                      <a:tailEnd type="none" w="med" len="med"/>
                    </a:lnR>
                    <a:lnT w="6350" cap="flat" cmpd="sng" algn="ctr">
                      <a:solidFill>
                        <a:srgbClr val="BFBFBF"/>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4B0082"/>
                    </a:solidFill>
                  </a:tcPr>
                </a:tc>
                <a:extLst>
                  <a:ext uri="{0D108BD9-81ED-4DB2-BD59-A6C34878D82A}">
                    <a16:rowId xmlns:a16="http://schemas.microsoft.com/office/drawing/2014/main" val="4269033008"/>
                  </a:ext>
                </a:extLst>
              </a:tr>
              <a:tr h="391202">
                <a:tc vMerge="1">
                  <a:txBody>
                    <a:bodyPr/>
                    <a:lstStyle/>
                    <a:p>
                      <a:endParaRPr lang="es-CL"/>
                    </a:p>
                  </a:txBody>
                  <a:tcPr/>
                </a:tc>
                <a:tc vMerge="1">
                  <a:txBody>
                    <a:bodyPr/>
                    <a:lstStyle/>
                    <a:p>
                      <a:endParaRPr lang="es-CL"/>
                    </a:p>
                  </a:txBody>
                  <a:tcPr/>
                </a:tc>
                <a:tc>
                  <a:txBody>
                    <a:bodyPr/>
                    <a:lstStyle/>
                    <a:p>
                      <a:pPr algn="ctr" fontAlgn="ctr">
                        <a:buNone/>
                      </a:pPr>
                      <a:r>
                        <a:rPr lang="es-CL" sz="700" b="1" i="0" u="none" strike="noStrike">
                          <a:solidFill>
                            <a:srgbClr val="1A1A1A"/>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1A1A1A"/>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1A1A1A"/>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700" b="1" i="0" u="none" strike="noStrike">
                          <a:solidFill>
                            <a:srgbClr val="1A1A1A"/>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700" b="1" i="0" u="none" strike="noStrike">
                          <a:solidFill>
                            <a:srgbClr val="FFFFFF"/>
                          </a:solidFill>
                          <a:effectLst/>
                          <a:latin typeface="Calibri" panose="020F0502020204030204" pitchFamily="34" charset="0"/>
                        </a:rPr>
                        <a:t>Equipos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700" b="1" i="0" u="none" strike="noStrike">
                          <a:solidFill>
                            <a:srgbClr val="FFFFFF"/>
                          </a:solidFill>
                          <a:effectLst/>
                          <a:latin typeface="Calibri" panose="020F0502020204030204" pitchFamily="34" charset="0"/>
                        </a:rPr>
                        <a:t>% Vida Útil</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723236545"/>
                  </a:ext>
                </a:extLst>
              </a:tr>
              <a:tr h="938883">
                <a:tc>
                  <a:txBody>
                    <a:bodyPr/>
                    <a:lstStyle/>
                    <a:p>
                      <a:pPr algn="r" fontAlgn="ctr">
                        <a:buNone/>
                      </a:pPr>
                      <a:r>
                        <a:rPr lang="es-CL" sz="700" b="0" i="0" u="none" strike="noStrike" dirty="0">
                          <a:solidFill>
                            <a:schemeClr val="tx2"/>
                          </a:solidFill>
                          <a:effectLst/>
                          <a:latin typeface="Calibri" panose="020F0502020204030204" pitchFamily="34" charset="0"/>
                        </a:rPr>
                        <a:t>1</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CLINICA MOVIL CENTINELA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149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155,1%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46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58,9%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195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109,0%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185,3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101,9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Reunión gerencial.</a:t>
                      </a:r>
                      <a:br>
                        <a:rPr lang="es-CL" sz="700" b="0" i="0" u="none" strike="noStrike" cap="none" spc="0" dirty="0">
                          <a:solidFill>
                            <a:schemeClr val="tx2"/>
                          </a:solidFill>
                          <a:effectLst/>
                          <a:latin typeface="Calibri" panose="020F0502020204030204" pitchFamily="34" charset="0"/>
                          <a:ea typeface="+mn-ea"/>
                          <a:cs typeface="+mn-cs"/>
                          <a:sym typeface="Arial"/>
                        </a:rPr>
                      </a:br>
                      <a:r>
                        <a:rPr lang="es-CL" sz="700" b="0" i="0" u="none" strike="noStrike" cap="none" spc="0" dirty="0">
                          <a:solidFill>
                            <a:schemeClr val="tx2"/>
                          </a:solidFill>
                          <a:effectLst/>
                          <a:latin typeface="Calibri" panose="020F0502020204030204" pitchFamily="34" charset="0"/>
                          <a:ea typeface="+mn-ea"/>
                          <a:cs typeface="+mn-cs"/>
                          <a:sym typeface="Arial"/>
                        </a:rPr>
                        <a:t>Levantamiento técnico completo.</a:t>
                      </a:r>
                      <a:br>
                        <a:rPr lang="es-CL" sz="700" b="0" i="0" u="none" strike="noStrike" cap="none" spc="0" dirty="0">
                          <a:solidFill>
                            <a:schemeClr val="tx2"/>
                          </a:solidFill>
                          <a:effectLst/>
                          <a:latin typeface="Calibri" panose="020F0502020204030204" pitchFamily="34" charset="0"/>
                          <a:ea typeface="+mn-ea"/>
                          <a:cs typeface="+mn-cs"/>
                          <a:sym typeface="Arial"/>
                        </a:rPr>
                      </a:br>
                      <a:r>
                        <a:rPr lang="es-CL" sz="700" b="0" i="0" u="none" strike="noStrike" cap="none" spc="0" dirty="0">
                          <a:solidFill>
                            <a:schemeClr val="tx2"/>
                          </a:solidFill>
                          <a:effectLst/>
                          <a:latin typeface="Calibri" panose="020F0502020204030204" pitchFamily="34" charset="0"/>
                          <a:ea typeface="+mn-ea"/>
                          <a:cs typeface="+mn-cs"/>
                          <a:sym typeface="Arial"/>
                        </a:rPr>
                        <a:t>Oferta corporativa </a:t>
                      </a:r>
                      <a:r>
                        <a:rPr lang="es-CL" sz="700" b="0" i="0" u="none" strike="noStrike" cap="none" spc="0" dirty="0" err="1">
                          <a:solidFill>
                            <a:schemeClr val="tx2"/>
                          </a:solidFill>
                          <a:effectLst/>
                          <a:latin typeface="Calibri" panose="020F0502020204030204" pitchFamily="34" charset="0"/>
                          <a:ea typeface="+mn-ea"/>
                          <a:cs typeface="+mn-cs"/>
                          <a:sym typeface="Arial"/>
                        </a:rPr>
                        <a:t>multiequipamiento</a:t>
                      </a:r>
                      <a:r>
                        <a:rPr lang="es-CL" sz="700" b="0" i="0" u="none" strike="noStrike" cap="none" spc="0" dirty="0">
                          <a:solidFill>
                            <a:schemeClr val="tx2"/>
                          </a:solidFill>
                          <a:effectLst/>
                          <a:latin typeface="Calibri" panose="020F0502020204030204" pitchFamily="34" charset="0"/>
                          <a:ea typeface="+mn-ea"/>
                          <a:cs typeface="+mn-cs"/>
                          <a:sym typeface="Arial"/>
                        </a:rPr>
                        <a:t>.</a:t>
                      </a:r>
                      <a:br>
                        <a:rPr lang="es-CL" sz="700" b="0" i="0" u="none" strike="noStrike" cap="none" spc="0" dirty="0">
                          <a:solidFill>
                            <a:schemeClr val="tx2"/>
                          </a:solidFill>
                          <a:effectLst/>
                          <a:latin typeface="Calibri" panose="020F0502020204030204" pitchFamily="34" charset="0"/>
                          <a:ea typeface="+mn-ea"/>
                          <a:cs typeface="+mn-cs"/>
                          <a:sym typeface="Arial"/>
                        </a:rPr>
                      </a:br>
                      <a:r>
                        <a:rPr lang="es-CL" sz="700" b="0" i="0" u="none" strike="noStrike" cap="none" spc="0" dirty="0">
                          <a:solidFill>
                            <a:schemeClr val="tx2"/>
                          </a:solidFill>
                          <a:effectLst/>
                          <a:latin typeface="Calibri" panose="020F0502020204030204" pitchFamily="34" charset="0"/>
                          <a:ea typeface="+mn-ea"/>
                          <a:cs typeface="+mn-cs"/>
                          <a:sym typeface="Arial"/>
                        </a:rPr>
                        <a:t>Contrato marco trianual.</a:t>
                      </a:r>
                      <a:br>
                        <a:rPr lang="es-CL" sz="700" b="0" i="0" u="none" strike="noStrike" cap="none" spc="0" dirty="0">
                          <a:solidFill>
                            <a:schemeClr val="tx2"/>
                          </a:solidFill>
                          <a:effectLst/>
                          <a:latin typeface="Calibri" panose="020F0502020204030204" pitchFamily="34" charset="0"/>
                          <a:ea typeface="+mn-ea"/>
                          <a:cs typeface="+mn-cs"/>
                          <a:sym typeface="Arial"/>
                        </a:rPr>
                      </a:br>
                      <a:r>
                        <a:rPr lang="es-CL" sz="700" b="0" i="0" u="none" strike="noStrike" cap="none" spc="0" dirty="0">
                          <a:solidFill>
                            <a:schemeClr val="tx2"/>
                          </a:solidFill>
                          <a:effectLst/>
                          <a:latin typeface="Calibri" panose="020F0502020204030204" pitchFamily="34" charset="0"/>
                          <a:ea typeface="+mn-ea"/>
                          <a:cs typeface="+mn-cs"/>
                          <a:sym typeface="Arial"/>
                        </a:rPr>
                        <a:t>Programa de renovación escalonada para los equipos más antiguos.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sept-26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480537133"/>
                  </a:ext>
                </a:extLst>
              </a:tr>
              <a:tr h="469442">
                <a:tc>
                  <a:txBody>
                    <a:bodyPr/>
                    <a:lstStyle/>
                    <a:p>
                      <a:pPr algn="r" fontAlgn="ctr">
                        <a:buNone/>
                      </a:pPr>
                      <a:r>
                        <a:rPr lang="es-CL" sz="700" b="0" i="0" u="none" strike="noStrike">
                          <a:solidFill>
                            <a:schemeClr val="tx2"/>
                          </a:solidFill>
                          <a:effectLst/>
                          <a:latin typeface="Calibri" panose="020F0502020204030204" pitchFamily="34" charset="0"/>
                        </a:rPr>
                        <a:t>2</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LA ARAUCANA SALUD S.A.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45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143,8%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46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143,8%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29,6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16,3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2382637996"/>
                  </a:ext>
                </a:extLst>
              </a:tr>
              <a:tr h="469442">
                <a:tc>
                  <a:txBody>
                    <a:bodyPr/>
                    <a:lstStyle/>
                    <a:p>
                      <a:pPr algn="r" fontAlgn="ctr">
                        <a:buNone/>
                      </a:pPr>
                      <a:r>
                        <a:rPr lang="es-CL" sz="700" b="0" i="0" u="none" strike="noStrike">
                          <a:solidFill>
                            <a:schemeClr val="tx2"/>
                          </a:solidFill>
                          <a:effectLst/>
                          <a:latin typeface="Calibri" panose="020F0502020204030204" pitchFamily="34" charset="0"/>
                        </a:rPr>
                        <a:t>3</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HOSPITAL CLINICO SAN BORJA-ARRIARAN</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87,8%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302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96,8%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26,6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14,6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Visita conjunta Comercial + Servicio.</a:t>
                      </a:r>
                    </a:p>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Presentar análisis de riesgo asociado a antigüedad.</a:t>
                      </a:r>
                    </a:p>
                    <a:p>
                      <a:pPr marR="0" algn="r" rtl="0" fontAlgn="ctr">
                        <a:lnSpc>
                          <a:spcPct val="100000"/>
                        </a:lnSpc>
                        <a:spcBef>
                          <a:spcPts val="0"/>
                        </a:spcBef>
                        <a:spcAft>
                          <a:spcPts val="0"/>
                        </a:spcAft>
                        <a:buClr>
                          <a:srgbClr val="000000"/>
                        </a:buClr>
                        <a:buFont typeface="Arial"/>
                        <a:buNone/>
                      </a:pPr>
                      <a:r>
                        <a:rPr lang="pt-BR" sz="700" b="0" i="0" u="none" strike="noStrike" cap="none" spc="0" dirty="0">
                          <a:solidFill>
                            <a:schemeClr val="tx2"/>
                          </a:solidFill>
                          <a:effectLst/>
                          <a:latin typeface="Calibri" panose="020F0502020204030204" pitchFamily="34" charset="0"/>
                          <a:ea typeface="+mn-ea"/>
                          <a:cs typeface="+mn-cs"/>
                          <a:sym typeface="Arial"/>
                        </a:rPr>
                        <a:t>Contrato preventivo por </a:t>
                      </a:r>
                      <a:r>
                        <a:rPr lang="pt-BR" sz="700" b="0" i="0" u="none" strike="noStrike" cap="none" spc="0" dirty="0" err="1">
                          <a:solidFill>
                            <a:schemeClr val="tx2"/>
                          </a:solidFill>
                          <a:effectLst/>
                          <a:latin typeface="Calibri" panose="020F0502020204030204" pitchFamily="34" charset="0"/>
                          <a:ea typeface="+mn-ea"/>
                          <a:cs typeface="+mn-cs"/>
                          <a:sym typeface="Arial"/>
                        </a:rPr>
                        <a:t>familias</a:t>
                      </a:r>
                      <a:r>
                        <a:rPr lang="pt-BR" sz="700" b="0" i="0" u="none" strike="noStrike" cap="none" spc="0" dirty="0">
                          <a:solidFill>
                            <a:schemeClr val="tx2"/>
                          </a:solidFill>
                          <a:effectLst/>
                          <a:latin typeface="Calibri" panose="020F0502020204030204" pitchFamily="34" charset="0"/>
                          <a:ea typeface="+mn-ea"/>
                          <a:cs typeface="+mn-cs"/>
                          <a:sym typeface="Arial"/>
                        </a:rPr>
                        <a:t> tecnológicas.</a:t>
                      </a: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oct-26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Eglys Ramirez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160562583"/>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4</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HOSPITAL CLÍNICO UNIVERSIDAD DE CHILE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71,2%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71,2%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23,7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13,0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1615666440"/>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5</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CLINICA ALEMANA DE SANTIAGO S 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65,6%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72,8%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53,5%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18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57,8%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18,2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10,0</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r>
                        <a:rPr lang="es-MX" sz="700" b="0" i="0" u="none" strike="noStrike" cap="none" spc="0" dirty="0">
                          <a:solidFill>
                            <a:schemeClr val="tx2"/>
                          </a:solidFill>
                          <a:effectLst/>
                          <a:latin typeface="Calibri" panose="020F0502020204030204" pitchFamily="34" charset="0"/>
                          <a:ea typeface="+mn-ea"/>
                          <a:cs typeface="+mn-cs"/>
                          <a:sym typeface="Arial"/>
                        </a:rPr>
                        <a:t>Revisión de equipos sin cobertura. Presentar indicadores de disponibilidad. Buscar acuerdo marco de mantenimiento</a:t>
                      </a: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oct-26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Cristian Pérez</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2449342517"/>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FONDO PARA HOSPITALES DE CARABINEROS DE CHILE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67,7%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51,2%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56,7%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17,6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9,7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7F9FC"/>
                    </a:solidFill>
                  </a:tcPr>
                </a:tc>
                <a:extLst>
                  <a:ext uri="{0D108BD9-81ED-4DB2-BD59-A6C34878D82A}">
                    <a16:rowId xmlns:a16="http://schemas.microsoft.com/office/drawing/2014/main" val="2330811395"/>
                  </a:ext>
                </a:extLst>
              </a:tr>
              <a:tr h="312961">
                <a:tc>
                  <a:txBody>
                    <a:bodyPr/>
                    <a:lstStyle/>
                    <a:p>
                      <a:pPr algn="r" fontAlgn="ctr">
                        <a:buNone/>
                      </a:pPr>
                      <a:r>
                        <a:rPr lang="es-CL" sz="700" b="0" i="0" u="none" strike="noStrike">
                          <a:solidFill>
                            <a:schemeClr val="tx2"/>
                          </a:solidFill>
                          <a:effectLst/>
                          <a:latin typeface="Calibri" panose="020F0502020204030204" pitchFamily="34" charset="0"/>
                        </a:rPr>
                        <a:t>7</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JUNAEB ESCUELA NUEVA ZELANDIA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131,7%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58,3%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124,3%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17,6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9,7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E8F5EC"/>
                    </a:solidFill>
                  </a:tcPr>
                </a:tc>
                <a:tc>
                  <a:txBody>
                    <a:bodyPr/>
                    <a:lstStyle/>
                    <a:p>
                      <a:pPr marR="0" algn="r" rtl="0" fontAlgn="ctr">
                        <a:lnSpc>
                          <a:spcPct val="100000"/>
                        </a:lnSpc>
                        <a:spcBef>
                          <a:spcPts val="0"/>
                        </a:spcBef>
                        <a:spcAft>
                          <a:spcPts val="0"/>
                        </a:spcAft>
                        <a:buClr>
                          <a:srgbClr val="000000"/>
                        </a:buClr>
                        <a:buFont typeface="Arial"/>
                        <a:buNone/>
                      </a:pPr>
                      <a:r>
                        <a:rPr lang="es-MX" sz="700" b="0" i="0" u="none" strike="noStrike" cap="none" spc="0" dirty="0">
                          <a:solidFill>
                            <a:schemeClr val="tx2"/>
                          </a:solidFill>
                          <a:effectLst/>
                          <a:latin typeface="Calibri" panose="020F0502020204030204" pitchFamily="34" charset="0"/>
                          <a:ea typeface="+mn-ea"/>
                          <a:cs typeface="+mn-cs"/>
                          <a:sym typeface="Arial"/>
                        </a:rPr>
                        <a:t>Programa preventivo anual, capacitación a usuarios y seguimiento para futuras renovaciones.</a:t>
                      </a: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8E1"/>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nov-26</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err="1">
                          <a:solidFill>
                            <a:schemeClr val="tx2"/>
                          </a:solidFill>
                          <a:effectLst/>
                          <a:latin typeface="Calibri" panose="020F0502020204030204" pitchFamily="34" charset="0"/>
                          <a:ea typeface="+mn-ea"/>
                          <a:cs typeface="+mn-cs"/>
                          <a:sym typeface="Arial"/>
                        </a:rPr>
                        <a:t>Eglys</a:t>
                      </a:r>
                      <a:r>
                        <a:rPr lang="es-CL" sz="700" b="0" i="0" u="none" strike="noStrike" cap="none" spc="0" dirty="0">
                          <a:solidFill>
                            <a:schemeClr val="tx2"/>
                          </a:solidFill>
                          <a:effectLst/>
                          <a:latin typeface="Calibri" panose="020F0502020204030204" pitchFamily="34" charset="0"/>
                          <a:ea typeface="+mn-ea"/>
                          <a:cs typeface="+mn-cs"/>
                          <a:sym typeface="Arial"/>
                        </a:rPr>
                        <a:t> </a:t>
                      </a:r>
                      <a:r>
                        <a:rPr lang="es-CL" sz="700" b="0" i="0" u="none" strike="noStrike" cap="none" spc="0" dirty="0" err="1">
                          <a:solidFill>
                            <a:schemeClr val="tx2"/>
                          </a:solidFill>
                          <a:effectLst/>
                          <a:latin typeface="Calibri" panose="020F0502020204030204" pitchFamily="34" charset="0"/>
                          <a:ea typeface="+mn-ea"/>
                          <a:cs typeface="+mn-cs"/>
                          <a:sym typeface="Arial"/>
                        </a:rPr>
                        <a:t>Ramirez</a:t>
                      </a: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2986392698"/>
                  </a:ext>
                </a:extLst>
              </a:tr>
              <a:tr h="625923">
                <a:tc>
                  <a:txBody>
                    <a:bodyPr/>
                    <a:lstStyle/>
                    <a:p>
                      <a:pPr algn="r" fontAlgn="ctr">
                        <a:buNone/>
                      </a:pPr>
                      <a:r>
                        <a:rPr lang="es-CL" sz="700" b="0" i="0" u="none" strike="noStrike" dirty="0">
                          <a:solidFill>
                            <a:schemeClr val="tx2"/>
                          </a:solidFill>
                          <a:effectLst/>
                          <a:latin typeface="Calibri" panose="020F0502020204030204" pitchFamily="34" charset="0"/>
                        </a:rPr>
                        <a:t>8</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HOSPITAL SAN JUAN DE DIOS</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85,4%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93,8%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6</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83,3%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88,7%</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15,2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8,4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300607826"/>
                  </a:ext>
                </a:extLst>
              </a:tr>
              <a:tr h="625923">
                <a:tc>
                  <a:txBody>
                    <a:bodyPr/>
                    <a:lstStyle/>
                    <a:p>
                      <a:pPr algn="r" fontAlgn="ctr">
                        <a:buNone/>
                      </a:pPr>
                      <a:r>
                        <a:rPr lang="es-CL" sz="700" b="0" i="0" u="none" strike="noStrike">
                          <a:solidFill>
                            <a:schemeClr val="tx2"/>
                          </a:solidFill>
                          <a:effectLst/>
                          <a:latin typeface="Calibri" panose="020F0502020204030204" pitchFamily="34" charset="0"/>
                        </a:rPr>
                        <a:t>9</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UNIVERSIDAD SAN SEBASTIAN SEDE BELLAVISTA</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77,8%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77,8%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14,9</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8,2</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869566782"/>
                  </a:ext>
                </a:extLst>
              </a:tr>
              <a:tr h="625923">
                <a:tc>
                  <a:txBody>
                    <a:bodyPr/>
                    <a:lstStyle/>
                    <a:p>
                      <a:pPr algn="r" fontAlgn="ctr">
                        <a:buNone/>
                      </a:pPr>
                      <a:r>
                        <a:rPr lang="es-CL" sz="700" b="0" i="0" u="none" strike="noStrike">
                          <a:solidFill>
                            <a:schemeClr val="tx2"/>
                          </a:solidFill>
                          <a:effectLst/>
                          <a:latin typeface="Calibri" panose="020F0502020204030204" pitchFamily="34" charset="0"/>
                        </a:rPr>
                        <a:t>10</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dirty="0">
                          <a:solidFill>
                            <a:schemeClr val="tx2"/>
                          </a:solidFill>
                          <a:effectLst/>
                          <a:latin typeface="Calibri" panose="020F0502020204030204" pitchFamily="34" charset="0"/>
                          <a:ea typeface="+mn-ea"/>
                          <a:cs typeface="+mn-cs"/>
                          <a:sym typeface="Arial"/>
                        </a:rPr>
                        <a:t>CRS PEÑALOLEN CORDILLERA ORIENTE</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23</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163,5%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 </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24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121,4%</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14,1</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r>
                        <a:rPr lang="es-CL" sz="700" b="0" i="0" u="none" strike="noStrike" cap="none" spc="0">
                          <a:solidFill>
                            <a:schemeClr val="tx2"/>
                          </a:solidFill>
                          <a:effectLst/>
                          <a:latin typeface="Calibri" panose="020F0502020204030204" pitchFamily="34" charset="0"/>
                          <a:ea typeface="+mn-ea"/>
                          <a:cs typeface="+mn-cs"/>
                          <a:sym typeface="Arial"/>
                        </a:rPr>
                        <a:t>7,8</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r" rtl="0" fontAlgn="ctr">
                        <a:lnSpc>
                          <a:spcPct val="100000"/>
                        </a:lnSpc>
                        <a:spcBef>
                          <a:spcPts val="0"/>
                        </a:spcBef>
                        <a:spcAft>
                          <a:spcPts val="0"/>
                        </a:spcAft>
                        <a:buClr>
                          <a:srgbClr val="000000"/>
                        </a:buClr>
                        <a:buFont typeface="Arial"/>
                        <a:buNone/>
                      </a:pPr>
                      <a:endParaRPr lang="es-CL" sz="700" b="0" i="0" u="none" strike="noStrike" cap="none" spc="0" dirty="0">
                        <a:solidFill>
                          <a:schemeClr val="tx2"/>
                        </a:solidFill>
                        <a:effectLst/>
                        <a:latin typeface="Calibri" panose="020F0502020204030204" pitchFamily="34" charset="0"/>
                        <a:ea typeface="+mn-ea"/>
                        <a:cs typeface="+mn-cs"/>
                        <a:sym typeface="Arial"/>
                      </a:endParaRP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22771573"/>
                  </a:ext>
                </a:extLst>
              </a:tr>
              <a:tr h="195601">
                <a:tc>
                  <a:txBody>
                    <a:bodyPr/>
                    <a:lstStyle/>
                    <a:p>
                      <a:pPr algn="l" fontAlgn="ctr">
                        <a:buNone/>
                      </a:pPr>
                      <a:r>
                        <a:rPr lang="es-CL" sz="700" b="1" i="0" u="none" strike="noStrike">
                          <a:solidFill>
                            <a:schemeClr val="tx2"/>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TOTAL · 10 clientes</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900" b="1" i="0" u="none" strike="noStrike">
                          <a:solidFill>
                            <a:srgbClr val="FFFFFF"/>
                          </a:solidFill>
                          <a:effectLst/>
                          <a:latin typeface="Calibri" panose="020F0502020204030204" pitchFamily="34" charset="0"/>
                        </a:rPr>
                        <a:t>281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900" b="1" i="0" u="none" strike="noStrike">
                          <a:solidFill>
                            <a:srgbClr val="FFFFFF"/>
                          </a:solidFill>
                          <a:effectLst/>
                          <a:latin typeface="Calibri" panose="020F0502020204030204" pitchFamily="34" charset="0"/>
                        </a:rPr>
                        <a:t>143,7%</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900" b="1" i="0" u="none" strike="noStrike">
                          <a:solidFill>
                            <a:srgbClr val="FFFFFF"/>
                          </a:solidFill>
                          <a:effectLst/>
                          <a:latin typeface="Calibri" panose="020F0502020204030204" pitchFamily="34" charset="0"/>
                        </a:rPr>
                        <a:t>84</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900" b="1" i="0" u="none" strike="noStrike" dirty="0">
                          <a:solidFill>
                            <a:srgbClr val="FFFFFF"/>
                          </a:solidFill>
                          <a:effectLst/>
                          <a:latin typeface="Calibri" panose="020F0502020204030204" pitchFamily="34" charset="0"/>
                        </a:rPr>
                        <a:t>66,2%</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900" b="1" i="0" u="none" strike="noStrike">
                          <a:solidFill>
                            <a:srgbClr val="FFFFFF"/>
                          </a:solidFill>
                          <a:effectLst/>
                          <a:latin typeface="Calibri" panose="020F0502020204030204" pitchFamily="34" charset="0"/>
                        </a:rPr>
                        <a:t>21</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900" b="1" i="0" u="none" strike="noStrike" dirty="0">
                          <a:solidFill>
                            <a:srgbClr val="FFFFFF"/>
                          </a:solidFill>
                          <a:effectLst/>
                          <a:latin typeface="Calibri" panose="020F0502020204030204" pitchFamily="34" charset="0"/>
                        </a:rPr>
                        <a:t>56,5%</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900" b="1" i="0" u="none" strike="noStrike">
                          <a:solidFill>
                            <a:srgbClr val="FFFFFF"/>
                          </a:solidFill>
                          <a:effectLst/>
                          <a:latin typeface="Calibri" panose="020F0502020204030204" pitchFamily="34" charset="0"/>
                        </a:rPr>
                        <a:t>688</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900" b="1" i="0" u="none" strike="noStrike">
                          <a:solidFill>
                            <a:srgbClr val="FFFFFF"/>
                          </a:solidFill>
                          <a:effectLst/>
                          <a:latin typeface="Calibri" panose="020F0502020204030204" pitchFamily="34" charset="0"/>
                        </a:rPr>
                        <a:t>104,4%</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b">
                        <a:buNone/>
                      </a:pPr>
                      <a:r>
                        <a:rPr lang="es-CL" sz="900" b="1" i="0" u="none" strike="noStrike">
                          <a:solidFill>
                            <a:srgbClr val="FFFFFF"/>
                          </a:solidFill>
                          <a:effectLst/>
                          <a:latin typeface="Calibri" panose="020F0502020204030204" pitchFamily="34" charset="0"/>
                        </a:rPr>
                        <a:t>362,7</a:t>
                      </a:r>
                    </a:p>
                  </a:txBody>
                  <a:tcPr marL="9525" marR="9525" marT="9525" marB="0" anchor="b">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900" b="1" i="0" u="none" strike="noStrike" dirty="0">
                          <a:solidFill>
                            <a:srgbClr val="FFFFFF"/>
                          </a:solidFill>
                          <a:effectLst/>
                          <a:latin typeface="Calibri" panose="020F0502020204030204" pitchFamily="34" charset="0"/>
                        </a:rPr>
                        <a:t>199,5</a:t>
                      </a:r>
                    </a:p>
                  </a:txBody>
                  <a:tcPr marL="9525" marR="9525" marT="9525"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700" b="1" i="0" u="none" strike="noStrike" dirty="0">
                          <a:solidFill>
                            <a:schemeClr val="tx1"/>
                          </a:solidFill>
                          <a:effectLst/>
                          <a:latin typeface="Calibri" panose="020F0502020204030204" pitchFamily="34" charset="0"/>
                        </a:rPr>
                        <a:t> </a:t>
                      </a:r>
                    </a:p>
                  </a:txBody>
                  <a:tcPr marL="5641" marR="5641" marT="5641"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965744780"/>
                  </a:ext>
                </a:extLst>
              </a:tr>
            </a:tbl>
          </a:graphicData>
        </a:graphic>
      </p:graphicFrame>
    </p:spTree>
    <p:extLst>
      <p:ext uri="{BB962C8B-B14F-4D97-AF65-F5344CB8AC3E}">
        <p14:creationId xmlns:p14="http://schemas.microsoft.com/office/powerpoint/2010/main" val="11685134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5B827400-637B-5B8E-7409-2487B2434504}"/>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C317B963-CB9C-7A39-0381-2378BB81F8A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33448D"/>
              </a:buClr>
              <a:buSzPts val="2700"/>
              <a:buFont typeface="Roboto"/>
              <a:buNone/>
              <a:tabLst/>
              <a:defRPr/>
            </a:pPr>
            <a:r>
              <a:rPr kumimoji="0" lang="es-CL" sz="2700" b="1" i="0" u="none" strike="noStrike" kern="0" cap="none" spc="0" normalizeH="0" baseline="0" noProof="0" dirty="0">
                <a:ln>
                  <a:noFill/>
                </a:ln>
                <a:solidFill>
                  <a:srgbClr val="33448D"/>
                </a:solidFill>
                <a:effectLst/>
                <a:uLnTx/>
                <a:uFillTx/>
                <a:latin typeface="Roboto"/>
                <a:ea typeface="Roboto"/>
                <a:cs typeface="Roboto"/>
                <a:sym typeface="Roboto"/>
              </a:rPr>
              <a:t>RM Grupo 2 – Top según número de Camas</a:t>
            </a:r>
            <a:endParaRPr kumimoji="0" sz="1400" b="0" i="0" u="none" strike="noStrike" kern="0" cap="none" spc="0" normalizeH="0" baseline="0" noProof="0" dirty="0">
              <a:ln>
                <a:noFill/>
              </a:ln>
              <a:solidFill>
                <a:srgbClr val="000000"/>
              </a:solidFill>
              <a:effectLst/>
              <a:uLnTx/>
              <a:uFillTx/>
              <a:latin typeface="Arial"/>
              <a:cs typeface="Arial"/>
              <a:sym typeface="Arial"/>
            </a:endParaRPr>
          </a:p>
        </p:txBody>
      </p:sp>
      <p:graphicFrame>
        <p:nvGraphicFramePr>
          <p:cNvPr id="6" name="Tabla 5">
            <a:extLst>
              <a:ext uri="{FF2B5EF4-FFF2-40B4-BE49-F238E27FC236}">
                <a16:creationId xmlns:a16="http://schemas.microsoft.com/office/drawing/2014/main" id="{538537D4-E079-963C-550A-DC026FF52888}"/>
              </a:ext>
            </a:extLst>
          </p:cNvPr>
          <p:cNvGraphicFramePr>
            <a:graphicFrameLocks noGrp="1"/>
          </p:cNvGraphicFramePr>
          <p:nvPr>
            <p:extLst>
              <p:ext uri="{D42A27DB-BD31-4B8C-83A1-F6EECF244321}">
                <p14:modId xmlns:p14="http://schemas.microsoft.com/office/powerpoint/2010/main" val="2840148210"/>
              </p:ext>
            </p:extLst>
          </p:nvPr>
        </p:nvGraphicFramePr>
        <p:xfrm>
          <a:off x="265050" y="819001"/>
          <a:ext cx="11687300" cy="5305641"/>
        </p:xfrm>
        <a:graphic>
          <a:graphicData uri="http://schemas.openxmlformats.org/drawingml/2006/table">
            <a:tbl>
              <a:tblPr/>
              <a:tblGrid>
                <a:gridCol w="250950">
                  <a:extLst>
                    <a:ext uri="{9D8B030D-6E8A-4147-A177-3AD203B41FA5}">
                      <a16:colId xmlns:a16="http://schemas.microsoft.com/office/drawing/2014/main" val="2001093109"/>
                    </a:ext>
                  </a:extLst>
                </a:gridCol>
                <a:gridCol w="2095136">
                  <a:extLst>
                    <a:ext uri="{9D8B030D-6E8A-4147-A177-3AD203B41FA5}">
                      <a16:colId xmlns:a16="http://schemas.microsoft.com/office/drawing/2014/main" val="1765677450"/>
                    </a:ext>
                  </a:extLst>
                </a:gridCol>
                <a:gridCol w="853906">
                  <a:extLst>
                    <a:ext uri="{9D8B030D-6E8A-4147-A177-3AD203B41FA5}">
                      <a16:colId xmlns:a16="http://schemas.microsoft.com/office/drawing/2014/main" val="4224294003"/>
                    </a:ext>
                  </a:extLst>
                </a:gridCol>
                <a:gridCol w="767654">
                  <a:extLst>
                    <a:ext uri="{9D8B030D-6E8A-4147-A177-3AD203B41FA5}">
                      <a16:colId xmlns:a16="http://schemas.microsoft.com/office/drawing/2014/main" val="780577230"/>
                    </a:ext>
                  </a:extLst>
                </a:gridCol>
                <a:gridCol w="845281">
                  <a:extLst>
                    <a:ext uri="{9D8B030D-6E8A-4147-A177-3AD203B41FA5}">
                      <a16:colId xmlns:a16="http://schemas.microsoft.com/office/drawing/2014/main" val="2754551449"/>
                    </a:ext>
                  </a:extLst>
                </a:gridCol>
                <a:gridCol w="405389">
                  <a:extLst>
                    <a:ext uri="{9D8B030D-6E8A-4147-A177-3AD203B41FA5}">
                      <a16:colId xmlns:a16="http://schemas.microsoft.com/office/drawing/2014/main" val="13706947"/>
                    </a:ext>
                  </a:extLst>
                </a:gridCol>
                <a:gridCol w="672774">
                  <a:extLst>
                    <a:ext uri="{9D8B030D-6E8A-4147-A177-3AD203B41FA5}">
                      <a16:colId xmlns:a16="http://schemas.microsoft.com/office/drawing/2014/main" val="5409698"/>
                    </a:ext>
                  </a:extLst>
                </a:gridCol>
                <a:gridCol w="629648">
                  <a:extLst>
                    <a:ext uri="{9D8B030D-6E8A-4147-A177-3AD203B41FA5}">
                      <a16:colId xmlns:a16="http://schemas.microsoft.com/office/drawing/2014/main" val="233010806"/>
                    </a:ext>
                  </a:extLst>
                </a:gridCol>
                <a:gridCol w="3495212">
                  <a:extLst>
                    <a:ext uri="{9D8B030D-6E8A-4147-A177-3AD203B41FA5}">
                      <a16:colId xmlns:a16="http://schemas.microsoft.com/office/drawing/2014/main" val="4075589514"/>
                    </a:ext>
                  </a:extLst>
                </a:gridCol>
                <a:gridCol w="1671350">
                  <a:extLst>
                    <a:ext uri="{9D8B030D-6E8A-4147-A177-3AD203B41FA5}">
                      <a16:colId xmlns:a16="http://schemas.microsoft.com/office/drawing/2014/main" val="3050580709"/>
                    </a:ext>
                  </a:extLst>
                </a:gridCol>
              </a:tblGrid>
              <a:tr h="193183">
                <a:tc>
                  <a:txBody>
                    <a:bodyPr/>
                    <a:lstStyle/>
                    <a:p>
                      <a:pPr algn="l" fontAlgn="ctr">
                        <a:buNone/>
                      </a:pPr>
                      <a:r>
                        <a:rPr lang="es-CL" sz="700" b="1" i="0" u="none" strike="noStrike" dirty="0">
                          <a:solidFill>
                            <a:schemeClr val="tx2"/>
                          </a:solidFill>
                          <a:effectLst/>
                          <a:latin typeface="Calibri" panose="020F0502020204030204" pitchFamily="34" charset="0"/>
                        </a:rPr>
                        <a:t>#</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Cliente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Comuna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1ª visita</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Fuente camas</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a:solidFill>
                            <a:schemeClr val="tx2"/>
                          </a:solidFill>
                          <a:effectLst/>
                          <a:latin typeface="Calibri" panose="020F0502020204030204" pitchFamily="34" charset="0"/>
                        </a:rPr>
                        <a:t>Pot. ST anual MM$</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Plan</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ctr">
                        <a:buNone/>
                      </a:pPr>
                      <a:r>
                        <a:rPr lang="es-CL" sz="700" b="1" i="0" u="none" strike="noStrike" dirty="0">
                          <a:solidFill>
                            <a:schemeClr val="tx2"/>
                          </a:solidFill>
                          <a:effectLst/>
                          <a:latin typeface="Calibri" panose="020F0502020204030204" pitchFamily="34" charset="0"/>
                        </a:rPr>
                        <a:t>Responsable</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412980063"/>
                  </a:ext>
                </a:extLst>
              </a:tr>
              <a:tr h="428956">
                <a:tc>
                  <a:txBody>
                    <a:bodyPr/>
                    <a:lstStyle/>
                    <a:p>
                      <a:pPr algn="l" fontAlgn="t">
                        <a:buNone/>
                      </a:pPr>
                      <a:r>
                        <a:rPr lang="es-CL" sz="700" b="0" i="0" u="none" strike="noStrike" dirty="0">
                          <a:solidFill>
                            <a:schemeClr val="tx2"/>
                          </a:solidFill>
                          <a:effectLst/>
                          <a:latin typeface="Calibri" panose="020F0502020204030204" pitchFamily="34" charset="0"/>
                        </a:rPr>
                        <a:t>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HOSPITAL CLÍNICO UNIVERSIDAD DE CHILE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Independencia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Cristian Pérez</a:t>
                      </a:r>
                    </a:p>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mié</a:t>
                      </a:r>
                      <a:r>
                        <a:rPr lang="es-CL" sz="700" b="0" i="0" u="none" strike="noStrike" cap="none" spc="0" dirty="0">
                          <a:solidFill>
                            <a:schemeClr val="accent2"/>
                          </a:solidFill>
                          <a:effectLst/>
                          <a:latin typeface="Calibri" panose="020F0502020204030204" pitchFamily="34" charset="0"/>
                          <a:ea typeface="+mn-ea"/>
                          <a:cs typeface="+mn-cs"/>
                          <a:sym typeface="Arial"/>
                        </a:rPr>
                        <a:t> 07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540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6,1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Cristian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97104177"/>
                  </a:ext>
                </a:extLst>
              </a:tr>
              <a:tr h="258805">
                <a:tc>
                  <a:txBody>
                    <a:bodyPr/>
                    <a:lstStyle/>
                    <a:p>
                      <a:pPr algn="l" fontAlgn="t">
                        <a:buNone/>
                      </a:pPr>
                      <a:r>
                        <a:rPr lang="es-CL" sz="700" b="0" i="0" u="none" strike="noStrike">
                          <a:solidFill>
                            <a:schemeClr val="tx2"/>
                          </a:solidFill>
                          <a:effectLst/>
                          <a:latin typeface="Calibri" panose="020F0502020204030204" pitchFamily="34" charset="0"/>
                        </a:rPr>
                        <a:t>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HOSPITAL EL CARMEN DR LUIS VALENTÍN FERRADA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Maipú</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mié</a:t>
                      </a:r>
                      <a:r>
                        <a:rPr lang="es-CL" sz="700" b="0" i="0" u="none" strike="noStrike" cap="none" spc="0" dirty="0">
                          <a:solidFill>
                            <a:schemeClr val="accent2"/>
                          </a:solidFill>
                          <a:effectLst/>
                          <a:latin typeface="Calibri" panose="020F0502020204030204" pitchFamily="34" charset="0"/>
                          <a:ea typeface="+mn-ea"/>
                          <a:cs typeface="+mn-cs"/>
                          <a:sym typeface="Arial"/>
                        </a:rPr>
                        <a:t> 07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431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564989220"/>
                  </a:ext>
                </a:extLst>
              </a:tr>
              <a:tr h="258805">
                <a:tc>
                  <a:txBody>
                    <a:bodyPr/>
                    <a:lstStyle/>
                    <a:p>
                      <a:pPr algn="l" fontAlgn="t">
                        <a:buNone/>
                      </a:pPr>
                      <a:r>
                        <a:rPr lang="es-CL" sz="700" b="0" i="0" u="none" strike="noStrike">
                          <a:solidFill>
                            <a:schemeClr val="tx2"/>
                          </a:solidFill>
                          <a:effectLst/>
                          <a:latin typeface="Calibri" panose="020F0502020204030204" pitchFamily="34" charset="0"/>
                        </a:rPr>
                        <a:t>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HOSPITAL FELIX BULNES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Cerro Navia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mié 07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402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1,8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935487565"/>
                  </a:ext>
                </a:extLst>
              </a:tr>
              <a:tr h="428956">
                <a:tc>
                  <a:txBody>
                    <a:bodyPr/>
                    <a:lstStyle/>
                    <a:p>
                      <a:pPr algn="l" fontAlgn="t">
                        <a:buNone/>
                      </a:pPr>
                      <a:r>
                        <a:rPr lang="es-CL" sz="700" b="0" i="0" u="none" strike="noStrike">
                          <a:solidFill>
                            <a:schemeClr val="tx2"/>
                          </a:solidFill>
                          <a:effectLst/>
                          <a:latin typeface="Calibri" panose="020F0502020204030204" pitchFamily="34" charset="0"/>
                        </a:rPr>
                        <a:t>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HOSPITAL DE LA FLORIDA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La Florida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lun 05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391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3,0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10624698"/>
                  </a:ext>
                </a:extLst>
              </a:tr>
              <a:tr h="258805">
                <a:tc>
                  <a:txBody>
                    <a:bodyPr/>
                    <a:lstStyle/>
                    <a:p>
                      <a:pPr algn="l" fontAlgn="t">
                        <a:buNone/>
                      </a:pPr>
                      <a:r>
                        <a:rPr lang="es-CL" sz="700" b="0" i="0" u="none" strike="noStrike">
                          <a:solidFill>
                            <a:schemeClr val="tx2"/>
                          </a:solidFill>
                          <a:effectLst/>
                          <a:latin typeface="Calibri" panose="020F0502020204030204" pitchFamily="34" charset="0"/>
                        </a:rPr>
                        <a:t>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CLINICA LAS CONDES S.A.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Las Condes</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mar 06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353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5,4</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8368678"/>
                  </a:ext>
                </a:extLst>
              </a:tr>
              <a:tr h="258805">
                <a:tc>
                  <a:txBody>
                    <a:bodyPr/>
                    <a:lstStyle/>
                    <a:p>
                      <a:pPr algn="l" fontAlgn="t">
                        <a:buNone/>
                      </a:pPr>
                      <a:r>
                        <a:rPr lang="es-CL" sz="700" b="0" i="0" u="none" strike="noStrike">
                          <a:solidFill>
                            <a:schemeClr val="tx2"/>
                          </a:solidFill>
                          <a:effectLst/>
                          <a:latin typeface="Calibri" panose="020F0502020204030204" pitchFamily="34" charset="0"/>
                        </a:rPr>
                        <a:t>6</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CENTRO CLINICO SANTA MARIA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Providencia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lun 05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346</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2,7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144398025"/>
                  </a:ext>
                </a:extLst>
              </a:tr>
              <a:tr h="258805">
                <a:tc>
                  <a:txBody>
                    <a:bodyPr/>
                    <a:lstStyle/>
                    <a:p>
                      <a:pPr algn="l" fontAlgn="t">
                        <a:buNone/>
                      </a:pPr>
                      <a:r>
                        <a:rPr lang="es-CL" sz="700" b="0" i="0" u="none" strike="noStrike">
                          <a:solidFill>
                            <a:schemeClr val="tx2"/>
                          </a:solidFill>
                          <a:effectLst/>
                          <a:latin typeface="Calibri" panose="020F0502020204030204" pitchFamily="34" charset="0"/>
                        </a:rPr>
                        <a:t>7</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HOSPITAL EL PINO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San Bernardo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vie 02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303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595285940"/>
                  </a:ext>
                </a:extLst>
              </a:tr>
              <a:tr h="428956">
                <a:tc>
                  <a:txBody>
                    <a:bodyPr/>
                    <a:lstStyle/>
                    <a:p>
                      <a:pPr algn="l" fontAlgn="t">
                        <a:buNone/>
                      </a:pPr>
                      <a:r>
                        <a:rPr lang="es-CL" sz="700" b="0" i="0" u="none" strike="noStrike">
                          <a:solidFill>
                            <a:schemeClr val="tx2"/>
                          </a:solidFill>
                          <a:effectLst/>
                          <a:latin typeface="Calibri" panose="020F0502020204030204" pitchFamily="34" charset="0"/>
                        </a:rPr>
                        <a:t>8</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REDSALUD SANTIAGO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Santiago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vie 02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275</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1,2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606783829"/>
                  </a:ext>
                </a:extLst>
              </a:tr>
              <a:tr h="428956">
                <a:tc>
                  <a:txBody>
                    <a:bodyPr/>
                    <a:lstStyle/>
                    <a:p>
                      <a:pPr algn="l" fontAlgn="t">
                        <a:buNone/>
                      </a:pPr>
                      <a:r>
                        <a:rPr lang="es-CL" sz="700" b="0" i="0" u="none" strike="noStrike">
                          <a:solidFill>
                            <a:schemeClr val="tx2"/>
                          </a:solidFill>
                          <a:effectLst/>
                          <a:latin typeface="Calibri" panose="020F0502020204030204" pitchFamily="34" charset="0"/>
                        </a:rPr>
                        <a:t>9</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HOSPITAL METROPOLITANO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Providencia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mar 06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240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0,9</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87977700"/>
                  </a:ext>
                </a:extLst>
              </a:tr>
              <a:tr h="428956">
                <a:tc>
                  <a:txBody>
                    <a:bodyPr/>
                    <a:lstStyle/>
                    <a:p>
                      <a:pPr algn="l" fontAlgn="t">
                        <a:buNone/>
                      </a:pPr>
                      <a:r>
                        <a:rPr lang="es-CL" sz="700" b="0" i="0" u="none" strike="noStrike">
                          <a:solidFill>
                            <a:schemeClr val="tx2"/>
                          </a:solidFill>
                          <a:effectLst/>
                          <a:latin typeface="Calibri" panose="020F0502020204030204" pitchFamily="34" charset="0"/>
                        </a:rPr>
                        <a:t>10</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FONDO PARA HOSPITALES DE CARABINEROS DE CHILE</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Ñuñoa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lun 05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213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1547397755"/>
                  </a:ext>
                </a:extLst>
              </a:tr>
              <a:tr h="428956">
                <a:tc>
                  <a:txBody>
                    <a:bodyPr/>
                    <a:lstStyle/>
                    <a:p>
                      <a:pPr algn="l" fontAlgn="t">
                        <a:buNone/>
                      </a:pPr>
                      <a:r>
                        <a:rPr lang="es-CL" sz="700" b="0" i="0" u="none" strike="noStrike">
                          <a:solidFill>
                            <a:schemeClr val="tx2"/>
                          </a:solidFill>
                          <a:effectLst/>
                          <a:latin typeface="Calibri" panose="020F0502020204030204" pitchFamily="34" charset="0"/>
                        </a:rPr>
                        <a:t>11</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CLINICA VESPUCIO S.A.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La Florida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lun 05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203</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007047800"/>
                  </a:ext>
                </a:extLst>
              </a:tr>
              <a:tr h="428956">
                <a:tc>
                  <a:txBody>
                    <a:bodyPr/>
                    <a:lstStyle/>
                    <a:p>
                      <a:pPr algn="l" fontAlgn="t">
                        <a:buNone/>
                      </a:pPr>
                      <a:r>
                        <a:rPr lang="es-CL" sz="700" b="0" i="0" u="none" strike="noStrike">
                          <a:solidFill>
                            <a:schemeClr val="tx2"/>
                          </a:solidFill>
                          <a:effectLst/>
                          <a:latin typeface="Calibri" panose="020F0502020204030204" pitchFamily="34" charset="0"/>
                        </a:rPr>
                        <a:t>12</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HOSPITAL  SAN JOSE DE MAIPO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San José de Maipo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lun 05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198</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Registro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362191090"/>
                  </a:ext>
                </a:extLst>
              </a:tr>
              <a:tr h="258805">
                <a:tc>
                  <a:txBody>
                    <a:bodyPr/>
                    <a:lstStyle/>
                    <a:p>
                      <a:pPr algn="l" fontAlgn="t">
                        <a:buNone/>
                      </a:pPr>
                      <a:r>
                        <a:rPr lang="es-CL" sz="700" b="0" i="0" u="none" strike="noStrike">
                          <a:solidFill>
                            <a:schemeClr val="tx2"/>
                          </a:solidFill>
                          <a:effectLst/>
                          <a:latin typeface="Calibri" panose="020F0502020204030204" pitchFamily="34" charset="0"/>
                        </a:rPr>
                        <a:t>13</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HOSPITAL DE MAIPU</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Maipú</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mié 07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185</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Estimado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4,1</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229368506"/>
                  </a:ext>
                </a:extLst>
              </a:tr>
              <a:tr h="98580">
                <a:tc>
                  <a:txBody>
                    <a:bodyPr/>
                    <a:lstStyle/>
                    <a:p>
                      <a:pPr algn="l" fontAlgn="t">
                        <a:buNone/>
                      </a:pPr>
                      <a:r>
                        <a:rPr lang="es-CL" sz="700" b="0" i="0" u="none" strike="noStrike">
                          <a:solidFill>
                            <a:schemeClr val="tx2"/>
                          </a:solidFill>
                          <a:effectLst/>
                          <a:latin typeface="Calibri" panose="020F0502020204030204" pitchFamily="34" charset="0"/>
                        </a:rPr>
                        <a:t>14</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SERVICIO DE SALUD METROPOLITANO NORTE -HOSPITAL SA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Independencia</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vie 02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185</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Estimado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2,7</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Cristián Pérez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2680264288"/>
                  </a:ext>
                </a:extLst>
              </a:tr>
              <a:tr h="193183">
                <a:tc>
                  <a:txBody>
                    <a:bodyPr/>
                    <a:lstStyle/>
                    <a:p>
                      <a:pPr algn="l" fontAlgn="t">
                        <a:buNone/>
                      </a:pPr>
                      <a:r>
                        <a:rPr lang="es-CL" sz="700" b="0" i="0" u="none" strike="noStrike">
                          <a:solidFill>
                            <a:schemeClr val="tx2"/>
                          </a:solidFill>
                          <a:effectLst/>
                          <a:latin typeface="Calibri" panose="020F0502020204030204" pitchFamily="34" charset="0"/>
                        </a:rPr>
                        <a:t>15</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HOSPITAL PADRE A. HURTADO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Macul</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lun 05 oct</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185</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a:solidFill>
                            <a:schemeClr val="accent2"/>
                          </a:solidFill>
                          <a:effectLst/>
                          <a:latin typeface="Calibri" panose="020F0502020204030204" pitchFamily="34" charset="0"/>
                          <a:ea typeface="+mn-ea"/>
                          <a:cs typeface="+mn-cs"/>
                          <a:sym typeface="Arial"/>
                        </a:rPr>
                        <a:t>Estimado</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a:solidFill>
                            <a:schemeClr val="accent2"/>
                          </a:solidFill>
                          <a:effectLst/>
                          <a:latin typeface="Calibri" panose="020F0502020204030204" pitchFamily="34" charset="0"/>
                          <a:ea typeface="+mn-ea"/>
                          <a:cs typeface="+mn-cs"/>
                          <a:sym typeface="Arial"/>
                        </a:rPr>
                        <a:t>2,0</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endParaRPr lang="es-CL" sz="700" b="0" i="0" u="none" strike="noStrike" cap="none" spc="0" dirty="0">
                        <a:solidFill>
                          <a:schemeClr val="accent2"/>
                        </a:solidFill>
                        <a:effectLst/>
                        <a:latin typeface="Calibri" panose="020F0502020204030204" pitchFamily="34" charset="0"/>
                        <a:ea typeface="+mn-ea"/>
                        <a:cs typeface="+mn-cs"/>
                        <a:sym typeface="Arial"/>
                      </a:endParaRP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marR="0" algn="l" rtl="0" fontAlgn="t">
                        <a:lnSpc>
                          <a:spcPct val="100000"/>
                        </a:lnSpc>
                        <a:spcBef>
                          <a:spcPts val="0"/>
                        </a:spcBef>
                        <a:spcAft>
                          <a:spcPts val="0"/>
                        </a:spcAft>
                        <a:buClr>
                          <a:srgbClr val="000000"/>
                        </a:buClr>
                        <a:buFont typeface="Arial"/>
                        <a:buNone/>
                      </a:pPr>
                      <a:r>
                        <a:rPr lang="es-CL" sz="700" b="0" i="0" u="none" strike="noStrike" cap="none" spc="0" dirty="0" err="1">
                          <a:solidFill>
                            <a:schemeClr val="accent2"/>
                          </a:solidFill>
                          <a:effectLst/>
                          <a:latin typeface="Calibri" panose="020F0502020204030204" pitchFamily="34" charset="0"/>
                          <a:ea typeface="+mn-ea"/>
                          <a:cs typeface="+mn-cs"/>
                          <a:sym typeface="Arial"/>
                        </a:rPr>
                        <a:t>Eglys</a:t>
                      </a:r>
                      <a:r>
                        <a:rPr lang="es-CL" sz="700" b="0" i="0" u="none" strike="noStrike" cap="none" spc="0" dirty="0">
                          <a:solidFill>
                            <a:schemeClr val="accent2"/>
                          </a:solidFill>
                          <a:effectLst/>
                          <a:latin typeface="Calibri" panose="020F0502020204030204" pitchFamily="34" charset="0"/>
                          <a:ea typeface="+mn-ea"/>
                          <a:cs typeface="+mn-cs"/>
                          <a:sym typeface="Arial"/>
                        </a:rPr>
                        <a:t> Ramírez</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4018856939"/>
                  </a:ext>
                </a:extLst>
              </a:tr>
              <a:tr h="89532">
                <a:tc>
                  <a:txBody>
                    <a:bodyPr/>
                    <a:lstStyle/>
                    <a:p>
                      <a:pPr algn="l" fontAlgn="t">
                        <a:buNone/>
                      </a:pPr>
                      <a:r>
                        <a:rPr lang="es-CL" sz="700" b="0" i="0" u="none" strike="noStrike" dirty="0">
                          <a:solidFill>
                            <a:schemeClr val="tx2"/>
                          </a:solidFill>
                          <a:effectLst/>
                          <a:latin typeface="Calibri" panose="020F0502020204030204" pitchFamily="34" charset="0"/>
                        </a:rPr>
                        <a:t>Total</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a:solidFill>
                            <a:schemeClr val="tx2"/>
                          </a:solidFill>
                          <a:effectLst/>
                          <a:latin typeface="Calibri" panose="020F0502020204030204" pitchFamily="34" charset="0"/>
                        </a:rPr>
                        <a:t> </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r" fontAlgn="t">
                        <a:buNone/>
                      </a:pPr>
                      <a:r>
                        <a:rPr lang="es-CL" sz="700" b="0" i="0" u="none" strike="noStrike" dirty="0">
                          <a:solidFill>
                            <a:schemeClr val="tx2"/>
                          </a:solidFill>
                          <a:effectLst/>
                          <a:latin typeface="Calibri" panose="020F0502020204030204" pitchFamily="34" charset="0"/>
                        </a:rPr>
                        <a:t>46,2</a:t>
                      </a:r>
                    </a:p>
                  </a:txBody>
                  <a:tcPr marL="9525" marR="9525" marT="9525" marB="0">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tc>
                  <a:txBody>
                    <a:bodyPr/>
                    <a:lstStyle/>
                    <a:p>
                      <a:pPr algn="l" fontAlgn="t">
                        <a:buNone/>
                      </a:pPr>
                      <a:r>
                        <a:rPr lang="es-CL" sz="700" b="0" i="0" u="none" strike="noStrike" dirty="0">
                          <a:effectLst/>
                          <a:latin typeface="Calibri" panose="020F0502020204030204" pitchFamily="34" charset="0"/>
                        </a:rPr>
                        <a:t> </a:t>
                      </a:r>
                    </a:p>
                  </a:txBody>
                  <a:tcPr marL="4486" marR="4486" marT="4486"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noFill/>
                  </a:tcPr>
                </a:tc>
                <a:extLst>
                  <a:ext uri="{0D108BD9-81ED-4DB2-BD59-A6C34878D82A}">
                    <a16:rowId xmlns:a16="http://schemas.microsoft.com/office/drawing/2014/main" val="3427307879"/>
                  </a:ext>
                </a:extLst>
              </a:tr>
            </a:tbl>
          </a:graphicData>
        </a:graphic>
      </p:graphicFrame>
      <p:sp>
        <p:nvSpPr>
          <p:cNvPr id="8" name="Rectángulo 7">
            <a:extLst>
              <a:ext uri="{FF2B5EF4-FFF2-40B4-BE49-F238E27FC236}">
                <a16:creationId xmlns:a16="http://schemas.microsoft.com/office/drawing/2014/main" id="{5678716B-9561-4734-20F0-454803501F96}"/>
              </a:ext>
            </a:extLst>
          </p:cNvPr>
          <p:cNvSpPr/>
          <p:nvPr/>
        </p:nvSpPr>
        <p:spPr>
          <a:xfrm>
            <a:off x="265050" y="6129000"/>
            <a:ext cx="11769034" cy="546289"/>
          </a:xfrm>
          <a:prstGeom prst="rect">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marR="0" lvl="1"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r>
              <a:rPr kumimoji="0" lang="es-MX" sz="900" b="0" i="0" u="none" strike="noStrike" kern="0" cap="none" spc="0" normalizeH="0" baseline="0" noProof="0" dirty="0">
                <a:ln>
                  <a:noFill/>
                </a:ln>
                <a:solidFill>
                  <a:srgbClr val="373C46"/>
                </a:solidFill>
                <a:effectLst/>
                <a:uLnTx/>
                <a:uFillTx/>
                <a:latin typeface="Arial"/>
                <a:ea typeface="+mn-ea"/>
                <a:cs typeface="+mn-cs"/>
                <a:sym typeface="Arial"/>
              </a:rPr>
              <a:t>El plan incluye dos premisas principales: Levantamiento de equipos completos del hospital/clínica para hacer un plan de mantenimiento completo “en pack” y además</a:t>
            </a:r>
            <a:r>
              <a:rPr kumimoji="0" lang="es-CL" sz="900" b="0" i="0" u="none" strike="noStrike" kern="0" cap="none" spc="0" normalizeH="0" baseline="0" noProof="0" dirty="0">
                <a:ln>
                  <a:noFill/>
                </a:ln>
                <a:solidFill>
                  <a:srgbClr val="373C46"/>
                </a:solidFill>
                <a:effectLst/>
                <a:uLnTx/>
                <a:uFillTx/>
                <a:latin typeface="Arial"/>
                <a:ea typeface="+mn-ea"/>
                <a:cs typeface="+mn-cs"/>
                <a:sym typeface="Arial"/>
              </a:rPr>
              <a:t> levantamiento si la base instalada sigue siendo utilizada según antigüedad de la vida </a:t>
            </a:r>
            <a:r>
              <a:rPr kumimoji="0" lang="es-CL" sz="900" b="0" i="0" u="none" strike="noStrike" kern="0" cap="none" spc="0" normalizeH="0" baseline="0" noProof="0" dirty="0" err="1">
                <a:ln>
                  <a:noFill/>
                </a:ln>
                <a:solidFill>
                  <a:srgbClr val="373C46"/>
                </a:solidFill>
                <a:effectLst/>
                <a:uLnTx/>
                <a:uFillTx/>
                <a:latin typeface="Arial"/>
                <a:ea typeface="+mn-ea"/>
                <a:cs typeface="+mn-cs"/>
                <a:sym typeface="Arial"/>
              </a:rPr>
              <a:t>útil</a:t>
            </a:r>
            <a:r>
              <a:rPr kumimoji="0" lang="es-CL" sz="900" b="0" i="0" u="none" strike="noStrike" kern="0" cap="none" spc="0" normalizeH="0" baseline="0" noProof="0" dirty="0" err="1">
                <a:ln>
                  <a:noFill/>
                </a:ln>
                <a:solidFill>
                  <a:srgbClr val="FFFFFF"/>
                </a:solidFill>
                <a:effectLst/>
                <a:uLnTx/>
                <a:uFillTx/>
                <a:latin typeface="Arial"/>
                <a:ea typeface="+mn-ea"/>
                <a:cs typeface="+mn-cs"/>
                <a:sym typeface="Arial"/>
              </a:rPr>
              <a:t>DF</a:t>
            </a:r>
            <a:endParaRPr kumimoji="0" lang="es-MX" sz="900" b="0" i="0" u="none" strike="noStrike" kern="0" cap="none" spc="0" normalizeH="0" baseline="0" noProof="0" dirty="0">
              <a:ln>
                <a:noFill/>
              </a:ln>
              <a:solidFill>
                <a:srgbClr val="373C46"/>
              </a:solidFill>
              <a:effectLst/>
              <a:uLnTx/>
              <a:uFillTx/>
              <a:latin typeface="Arial"/>
              <a:ea typeface="+mn-ea"/>
              <a:cs typeface="+mn-cs"/>
              <a:sym typeface="Arial"/>
            </a:endParaRPr>
          </a:p>
        </p:txBody>
      </p:sp>
    </p:spTree>
    <p:extLst>
      <p:ext uri="{BB962C8B-B14F-4D97-AF65-F5344CB8AC3E}">
        <p14:creationId xmlns:p14="http://schemas.microsoft.com/office/powerpoint/2010/main" val="345615519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A0FA3B12-D3B0-0E67-7B74-D927E94B1CE6}"/>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841F8691-2902-0E97-3C81-04E8DB35AF2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Metropolitana Grupo 3 – Clientes</a:t>
            </a:r>
            <a:endParaRPr dirty="0"/>
          </a:p>
        </p:txBody>
      </p:sp>
      <p:sp>
        <p:nvSpPr>
          <p:cNvPr id="5" name="Triángulo isósceles 4">
            <a:extLst>
              <a:ext uri="{FF2B5EF4-FFF2-40B4-BE49-F238E27FC236}">
                <a16:creationId xmlns:a16="http://schemas.microsoft.com/office/drawing/2014/main" id="{EC92A9E8-4D6E-897E-8D3B-C60E0953A110}"/>
              </a:ext>
            </a:extLst>
          </p:cNvPr>
          <p:cNvSpPr/>
          <p:nvPr/>
        </p:nvSpPr>
        <p:spPr>
          <a:xfrm rot="5400000">
            <a:off x="4580695" y="2667426"/>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9" name="Rectángulo 8">
            <a:extLst>
              <a:ext uri="{FF2B5EF4-FFF2-40B4-BE49-F238E27FC236}">
                <a16:creationId xmlns:a16="http://schemas.microsoft.com/office/drawing/2014/main" id="{D3D42CFE-C5F6-9D86-9359-E8347E2F235B}"/>
              </a:ext>
            </a:extLst>
          </p:cNvPr>
          <p:cNvSpPr/>
          <p:nvPr/>
        </p:nvSpPr>
        <p:spPr>
          <a:xfrm>
            <a:off x="291000" y="4999383"/>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 semanas la cartera es cubierta con un promedio de 3 visitas por cliente</a:t>
            </a:r>
          </a:p>
          <a:p>
            <a:pPr marL="171450" lvl="1" indent="-171450">
              <a:buFont typeface="Arial" panose="020B0604020202020204" pitchFamily="34" charset="0"/>
              <a:buChar char="•"/>
            </a:pPr>
            <a:r>
              <a:rPr lang="es-MX" sz="900" dirty="0">
                <a:solidFill>
                  <a:schemeClr val="tx2"/>
                </a:solidFill>
              </a:rPr>
              <a:t>En total son 245 clientes del grupo 3 a visitar, mas 15 del Grupo 2 </a:t>
            </a:r>
          </a:p>
          <a:p>
            <a:pPr marL="171450" lvl="1" indent="-171450">
              <a:buFont typeface="Arial" panose="020B0604020202020204" pitchFamily="34" charset="0"/>
              <a:buChar char="•"/>
            </a:pPr>
            <a:r>
              <a:rPr lang="es-MX" sz="900" b="1" dirty="0">
                <a:solidFill>
                  <a:schemeClr val="tx2"/>
                </a:solidFill>
              </a:rPr>
              <a:t>Esto supone una estructura con 2 KAM, es un numero ESTIMATIVO</a:t>
            </a:r>
            <a:endParaRPr lang="es-CL" sz="1600" b="1" dirty="0">
              <a:solidFill>
                <a:schemeClr val="tx1"/>
              </a:solidFill>
            </a:endParaRPr>
          </a:p>
        </p:txBody>
      </p:sp>
      <p:sp>
        <p:nvSpPr>
          <p:cNvPr id="13" name="Triángulo isósceles 12">
            <a:extLst>
              <a:ext uri="{FF2B5EF4-FFF2-40B4-BE49-F238E27FC236}">
                <a16:creationId xmlns:a16="http://schemas.microsoft.com/office/drawing/2014/main" id="{919A5566-B124-4E1D-0D94-8F31B8B0D57C}"/>
              </a:ext>
            </a:extLst>
          </p:cNvPr>
          <p:cNvSpPr/>
          <p:nvPr/>
        </p:nvSpPr>
        <p:spPr>
          <a:xfrm rot="5400000">
            <a:off x="8176305" y="336587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3" name="Imagen 2">
            <a:extLst>
              <a:ext uri="{FF2B5EF4-FFF2-40B4-BE49-F238E27FC236}">
                <a16:creationId xmlns:a16="http://schemas.microsoft.com/office/drawing/2014/main" id="{984A78D9-B327-7EFC-D820-3077111D7C34}"/>
              </a:ext>
            </a:extLst>
          </p:cNvPr>
          <p:cNvPicPr>
            <a:picLocks noChangeAspect="1"/>
          </p:cNvPicPr>
          <p:nvPr/>
        </p:nvPicPr>
        <p:blipFill>
          <a:blip r:embed="rId3"/>
          <a:stretch>
            <a:fillRect/>
          </a:stretch>
        </p:blipFill>
        <p:spPr>
          <a:xfrm>
            <a:off x="837045" y="1222097"/>
            <a:ext cx="4219560" cy="3157609"/>
          </a:xfrm>
          <a:prstGeom prst="rect">
            <a:avLst/>
          </a:prstGeom>
        </p:spPr>
      </p:pic>
      <p:pic>
        <p:nvPicPr>
          <p:cNvPr id="8" name="Imagen 7">
            <a:extLst>
              <a:ext uri="{FF2B5EF4-FFF2-40B4-BE49-F238E27FC236}">
                <a16:creationId xmlns:a16="http://schemas.microsoft.com/office/drawing/2014/main" id="{480F9C6F-D08E-0ADA-435B-43985E0C7F0D}"/>
              </a:ext>
            </a:extLst>
          </p:cNvPr>
          <p:cNvPicPr>
            <a:picLocks noChangeAspect="1"/>
          </p:cNvPicPr>
          <p:nvPr/>
        </p:nvPicPr>
        <p:blipFill>
          <a:blip r:embed="rId4"/>
          <a:stretch>
            <a:fillRect/>
          </a:stretch>
        </p:blipFill>
        <p:spPr>
          <a:xfrm>
            <a:off x="5958995" y="867807"/>
            <a:ext cx="5132005" cy="3866187"/>
          </a:xfrm>
          <a:prstGeom prst="rect">
            <a:avLst/>
          </a:prstGeom>
        </p:spPr>
      </p:pic>
    </p:spTree>
    <p:extLst>
      <p:ext uri="{BB962C8B-B14F-4D97-AF65-F5344CB8AC3E}">
        <p14:creationId xmlns:p14="http://schemas.microsoft.com/office/powerpoint/2010/main" val="40122714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147EADE2-985E-4AC8-B582-B8DB7D5D212F}"/>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2D4D1D49-4F99-7EDB-A492-3A079D31D587}"/>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Plan RM y Valparaíso</a:t>
            </a:r>
            <a:endParaRPr dirty="0"/>
          </a:p>
        </p:txBody>
      </p:sp>
      <p:sp>
        <p:nvSpPr>
          <p:cNvPr id="6" name="Rectángulo 5">
            <a:extLst>
              <a:ext uri="{FF2B5EF4-FFF2-40B4-BE49-F238E27FC236}">
                <a16:creationId xmlns:a16="http://schemas.microsoft.com/office/drawing/2014/main" id="{E88E63D4-EB03-38CA-2E9A-CD1E8335414D}"/>
              </a:ext>
            </a:extLst>
          </p:cNvPr>
          <p:cNvSpPr/>
          <p:nvPr/>
        </p:nvSpPr>
        <p:spPr>
          <a:xfrm>
            <a:off x="246958" y="5319000"/>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334 visitas en 3 meses</a:t>
            </a:r>
          </a:p>
          <a:p>
            <a:pPr marL="171450" lvl="1" indent="-171450">
              <a:buFont typeface="Arial" panose="020B0604020202020204" pitchFamily="34" charset="0"/>
              <a:buChar char="•"/>
            </a:pPr>
            <a:r>
              <a:rPr lang="es-MX" sz="900" b="1" dirty="0">
                <a:solidFill>
                  <a:schemeClr val="tx2"/>
                </a:solidFill>
              </a:rPr>
              <a:t>Grupo 1 y 2 con apoyo de Alexis Flores</a:t>
            </a:r>
            <a:endParaRPr lang="es-CL" sz="1600" b="1" dirty="0">
              <a:solidFill>
                <a:schemeClr val="tx1"/>
              </a:solidFill>
            </a:endParaRPr>
          </a:p>
        </p:txBody>
      </p:sp>
      <p:pic>
        <p:nvPicPr>
          <p:cNvPr id="7" name="Imagen 6">
            <a:extLst>
              <a:ext uri="{FF2B5EF4-FFF2-40B4-BE49-F238E27FC236}">
                <a16:creationId xmlns:a16="http://schemas.microsoft.com/office/drawing/2014/main" id="{076F4675-A2E4-07F7-C469-DF1AAA3AB861}"/>
              </a:ext>
            </a:extLst>
          </p:cNvPr>
          <p:cNvPicPr>
            <a:picLocks noChangeAspect="1"/>
          </p:cNvPicPr>
          <p:nvPr/>
        </p:nvPicPr>
        <p:blipFill>
          <a:blip r:embed="rId3"/>
          <a:stretch>
            <a:fillRect/>
          </a:stretch>
        </p:blipFill>
        <p:spPr>
          <a:xfrm>
            <a:off x="246958" y="1008394"/>
            <a:ext cx="5798497" cy="3904633"/>
          </a:xfrm>
          <a:prstGeom prst="rect">
            <a:avLst/>
          </a:prstGeom>
        </p:spPr>
      </p:pic>
      <p:pic>
        <p:nvPicPr>
          <p:cNvPr id="9" name="Imagen 8">
            <a:extLst>
              <a:ext uri="{FF2B5EF4-FFF2-40B4-BE49-F238E27FC236}">
                <a16:creationId xmlns:a16="http://schemas.microsoft.com/office/drawing/2014/main" id="{1B0F5404-5CD8-EA24-CF19-26411DF2F4E5}"/>
              </a:ext>
            </a:extLst>
          </p:cNvPr>
          <p:cNvPicPr>
            <a:picLocks noChangeAspect="1"/>
          </p:cNvPicPr>
          <p:nvPr/>
        </p:nvPicPr>
        <p:blipFill>
          <a:blip r:embed="rId4"/>
          <a:srcRect r="1227"/>
          <a:stretch>
            <a:fillRect/>
          </a:stretch>
        </p:blipFill>
        <p:spPr>
          <a:xfrm>
            <a:off x="6096001" y="864000"/>
            <a:ext cx="5985000" cy="4230509"/>
          </a:xfrm>
          <a:prstGeom prst="rect">
            <a:avLst/>
          </a:prstGeom>
        </p:spPr>
      </p:pic>
    </p:spTree>
    <p:extLst>
      <p:ext uri="{BB962C8B-B14F-4D97-AF65-F5344CB8AC3E}">
        <p14:creationId xmlns:p14="http://schemas.microsoft.com/office/powerpoint/2010/main" val="25047046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39C57BAB-25BB-96B8-CD3D-12BB6E205D46}"/>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07CA3E04-8C90-055F-D279-7BAC6537A56A}"/>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Visitas Programadas</a:t>
            </a:r>
          </a:p>
        </p:txBody>
      </p:sp>
      <p:pic>
        <p:nvPicPr>
          <p:cNvPr id="4" name="Imagen 3">
            <a:extLst>
              <a:ext uri="{FF2B5EF4-FFF2-40B4-BE49-F238E27FC236}">
                <a16:creationId xmlns:a16="http://schemas.microsoft.com/office/drawing/2014/main" id="{C4B7FE2E-C3CD-B493-DEA4-AB457AB72F65}"/>
              </a:ext>
            </a:extLst>
          </p:cNvPr>
          <p:cNvPicPr>
            <a:picLocks noChangeAspect="1"/>
          </p:cNvPicPr>
          <p:nvPr/>
        </p:nvPicPr>
        <p:blipFill>
          <a:blip r:embed="rId3"/>
          <a:srcRect b="40289"/>
          <a:stretch>
            <a:fillRect/>
          </a:stretch>
        </p:blipFill>
        <p:spPr>
          <a:xfrm>
            <a:off x="1491278" y="831698"/>
            <a:ext cx="9209443" cy="5194604"/>
          </a:xfrm>
          <a:prstGeom prst="rect">
            <a:avLst/>
          </a:prstGeom>
        </p:spPr>
      </p:pic>
      <p:pic>
        <p:nvPicPr>
          <p:cNvPr id="3" name="Imagen 2">
            <a:extLst>
              <a:ext uri="{FF2B5EF4-FFF2-40B4-BE49-F238E27FC236}">
                <a16:creationId xmlns:a16="http://schemas.microsoft.com/office/drawing/2014/main" id="{6BB3B2A8-D088-155F-D688-8C1B4D9F7E50}"/>
              </a:ext>
            </a:extLst>
          </p:cNvPr>
          <p:cNvPicPr>
            <a:picLocks noChangeAspect="1"/>
          </p:cNvPicPr>
          <p:nvPr/>
        </p:nvPicPr>
        <p:blipFill>
          <a:blip r:embed="rId4"/>
          <a:srcRect b="40632"/>
          <a:stretch>
            <a:fillRect/>
          </a:stretch>
        </p:blipFill>
        <p:spPr>
          <a:xfrm>
            <a:off x="1341138" y="921671"/>
            <a:ext cx="9509722" cy="5333108"/>
          </a:xfrm>
          <a:prstGeom prst="rect">
            <a:avLst/>
          </a:prstGeom>
        </p:spPr>
      </p:pic>
    </p:spTree>
    <p:extLst>
      <p:ext uri="{BB962C8B-B14F-4D97-AF65-F5344CB8AC3E}">
        <p14:creationId xmlns:p14="http://schemas.microsoft.com/office/powerpoint/2010/main" val="3608026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A81E6D14-990C-8B4A-8354-91E668EA0703}"/>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62EFB5F2-9436-D9F5-58E5-73F3E39341C2}"/>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MX" sz="2700" b="1" dirty="0">
                <a:solidFill>
                  <a:srgbClr val="33448D"/>
                </a:solidFill>
                <a:latin typeface="Roboto"/>
                <a:ea typeface="Roboto"/>
                <a:cs typeface="Roboto"/>
                <a:sym typeface="Roboto"/>
              </a:rPr>
              <a:t>s</a:t>
            </a:r>
            <a:r>
              <a:rPr lang="es-CL" sz="2700" b="1" dirty="0">
                <a:solidFill>
                  <a:srgbClr val="33448D"/>
                </a:solidFill>
                <a:latin typeface="Roboto"/>
                <a:ea typeface="Roboto"/>
                <a:cs typeface="Roboto"/>
                <a:sym typeface="Roboto"/>
              </a:rPr>
              <a:t>Seguimiento Visitas Plan RM - Valparaíso</a:t>
            </a:r>
          </a:p>
        </p:txBody>
      </p:sp>
      <p:pic>
        <p:nvPicPr>
          <p:cNvPr id="5" name="Imagen 4">
            <a:extLst>
              <a:ext uri="{FF2B5EF4-FFF2-40B4-BE49-F238E27FC236}">
                <a16:creationId xmlns:a16="http://schemas.microsoft.com/office/drawing/2014/main" id="{14FB5C5F-4A1B-EA6A-9E83-5C4B403F5246}"/>
              </a:ext>
            </a:extLst>
          </p:cNvPr>
          <p:cNvPicPr>
            <a:picLocks noChangeAspect="1"/>
          </p:cNvPicPr>
          <p:nvPr/>
        </p:nvPicPr>
        <p:blipFill>
          <a:blip r:embed="rId3"/>
          <a:stretch>
            <a:fillRect/>
          </a:stretch>
        </p:blipFill>
        <p:spPr>
          <a:xfrm>
            <a:off x="0" y="1014656"/>
            <a:ext cx="12192000" cy="2251708"/>
          </a:xfrm>
          <a:prstGeom prst="rect">
            <a:avLst/>
          </a:prstGeom>
        </p:spPr>
      </p:pic>
      <p:pic>
        <p:nvPicPr>
          <p:cNvPr id="7" name="Imagen 6">
            <a:extLst>
              <a:ext uri="{FF2B5EF4-FFF2-40B4-BE49-F238E27FC236}">
                <a16:creationId xmlns:a16="http://schemas.microsoft.com/office/drawing/2014/main" id="{733BE83F-2DD6-BFCA-48D7-96C337ADB95A}"/>
              </a:ext>
            </a:extLst>
          </p:cNvPr>
          <p:cNvPicPr>
            <a:picLocks noChangeAspect="1"/>
          </p:cNvPicPr>
          <p:nvPr/>
        </p:nvPicPr>
        <p:blipFill>
          <a:blip r:embed="rId4"/>
          <a:stretch>
            <a:fillRect/>
          </a:stretch>
        </p:blipFill>
        <p:spPr>
          <a:xfrm>
            <a:off x="12700" y="3266364"/>
            <a:ext cx="12192000" cy="2717663"/>
          </a:xfrm>
          <a:prstGeom prst="rect">
            <a:avLst/>
          </a:prstGeom>
        </p:spPr>
      </p:pic>
    </p:spTree>
    <p:extLst>
      <p:ext uri="{BB962C8B-B14F-4D97-AF65-F5344CB8AC3E}">
        <p14:creationId xmlns:p14="http://schemas.microsoft.com/office/powerpoint/2010/main" val="34406850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44DB6F60-88CB-0F91-50A8-38D1523C06FC}"/>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95B1B125-61FB-1DFF-AF47-1B0352789351}"/>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dirty="0">
                <a:solidFill>
                  <a:srgbClr val="33448D"/>
                </a:solidFill>
                <a:latin typeface="Roboto"/>
                <a:ea typeface="Roboto"/>
                <a:cs typeface="Roboto"/>
                <a:sym typeface="Roboto"/>
              </a:rPr>
              <a:t>Seguimiento Visitas Plan RM - Valparaíso</a:t>
            </a:r>
          </a:p>
        </p:txBody>
      </p:sp>
      <p:pic>
        <p:nvPicPr>
          <p:cNvPr id="3" name="Imagen 2">
            <a:extLst>
              <a:ext uri="{FF2B5EF4-FFF2-40B4-BE49-F238E27FC236}">
                <a16:creationId xmlns:a16="http://schemas.microsoft.com/office/drawing/2014/main" id="{BDFA49B0-F81F-F20B-ECD8-95F78A3CAE47}"/>
              </a:ext>
            </a:extLst>
          </p:cNvPr>
          <p:cNvPicPr>
            <a:picLocks noChangeAspect="1"/>
          </p:cNvPicPr>
          <p:nvPr/>
        </p:nvPicPr>
        <p:blipFill>
          <a:blip r:embed="rId3"/>
          <a:stretch>
            <a:fillRect/>
          </a:stretch>
        </p:blipFill>
        <p:spPr>
          <a:xfrm>
            <a:off x="1068000" y="892657"/>
            <a:ext cx="10056000" cy="3307306"/>
          </a:xfrm>
          <a:prstGeom prst="rect">
            <a:avLst/>
          </a:prstGeom>
        </p:spPr>
      </p:pic>
      <p:pic>
        <p:nvPicPr>
          <p:cNvPr id="6" name="Imagen 5">
            <a:extLst>
              <a:ext uri="{FF2B5EF4-FFF2-40B4-BE49-F238E27FC236}">
                <a16:creationId xmlns:a16="http://schemas.microsoft.com/office/drawing/2014/main" id="{BA8B5A5F-EE58-BE0B-C1A2-5D7AF9F604C3}"/>
              </a:ext>
            </a:extLst>
          </p:cNvPr>
          <p:cNvPicPr>
            <a:picLocks noChangeAspect="1"/>
          </p:cNvPicPr>
          <p:nvPr/>
        </p:nvPicPr>
        <p:blipFill>
          <a:blip r:embed="rId4"/>
          <a:stretch>
            <a:fillRect/>
          </a:stretch>
        </p:blipFill>
        <p:spPr>
          <a:xfrm>
            <a:off x="1906299" y="3969001"/>
            <a:ext cx="8576433" cy="2884800"/>
          </a:xfrm>
          <a:prstGeom prst="rect">
            <a:avLst/>
          </a:prstGeom>
        </p:spPr>
      </p:pic>
    </p:spTree>
    <p:extLst>
      <p:ext uri="{BB962C8B-B14F-4D97-AF65-F5344CB8AC3E}">
        <p14:creationId xmlns:p14="http://schemas.microsoft.com/office/powerpoint/2010/main" val="48915064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7D44FFD5-DD7B-DC2B-A5EC-BD77F0D2AAB8}"/>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0DB7C4D3-365A-BBBA-A38A-AAD944511FA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Visitas Programadas Mapa</a:t>
            </a:r>
          </a:p>
        </p:txBody>
      </p:sp>
      <p:pic>
        <p:nvPicPr>
          <p:cNvPr id="3" name="Imagen 2">
            <a:extLst>
              <a:ext uri="{FF2B5EF4-FFF2-40B4-BE49-F238E27FC236}">
                <a16:creationId xmlns:a16="http://schemas.microsoft.com/office/drawing/2014/main" id="{97FE9B88-9570-8BF4-1340-6BD8D656B161}"/>
              </a:ext>
            </a:extLst>
          </p:cNvPr>
          <p:cNvPicPr>
            <a:picLocks noChangeAspect="1"/>
          </p:cNvPicPr>
          <p:nvPr/>
        </p:nvPicPr>
        <p:blipFill>
          <a:blip r:embed="rId3"/>
          <a:stretch>
            <a:fillRect/>
          </a:stretch>
        </p:blipFill>
        <p:spPr>
          <a:xfrm>
            <a:off x="0" y="980606"/>
            <a:ext cx="12192000" cy="4896787"/>
          </a:xfrm>
          <a:prstGeom prst="rect">
            <a:avLst/>
          </a:prstGeom>
        </p:spPr>
      </p:pic>
    </p:spTree>
    <p:extLst>
      <p:ext uri="{BB962C8B-B14F-4D97-AF65-F5344CB8AC3E}">
        <p14:creationId xmlns:p14="http://schemas.microsoft.com/office/powerpoint/2010/main" val="394095365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93678" y="184106"/>
            <a:ext cx="11874501" cy="444434"/>
          </a:xfrm>
          <a:prstGeom prst="rect">
            <a:avLst/>
          </a:prstGeom>
          <a:noFill/>
          <a:ln/>
        </p:spPr>
        <p:txBody>
          <a:bodyPr wrap="square" lIns="16933" tIns="16933" rIns="16933" bIns="16933" rtlCol="0" anchor="ctr">
            <a:normAutofit lnSpcReduction="10000"/>
          </a:bodyPr>
          <a:lstStyle/>
          <a:p>
            <a:pPr defTabSz="609630">
              <a:buClrTx/>
            </a:pPr>
            <a:r>
              <a:rPr lang="en-US" sz="2700" b="1" kern="1200" dirty="0">
                <a:solidFill>
                  <a:srgbClr val="33448D"/>
                </a:solidFill>
                <a:latin typeface="Arial" pitchFamily="34" charset="0"/>
                <a:ea typeface="Arial" pitchFamily="34" charset="-122"/>
                <a:cs typeface="Arial" pitchFamily="34" charset="-120"/>
              </a:rPr>
              <a:t>Agenda de ejecutivos · </a:t>
            </a:r>
            <a:r>
              <a:rPr lang="en-US" sz="2700" b="1" kern="1200" dirty="0" err="1">
                <a:solidFill>
                  <a:srgbClr val="33448D"/>
                </a:solidFill>
                <a:latin typeface="Arial" pitchFamily="34" charset="0"/>
                <a:ea typeface="Arial" pitchFamily="34" charset="-122"/>
                <a:cs typeface="Arial" pitchFamily="34" charset="-120"/>
              </a:rPr>
              <a:t>Propuesta</a:t>
            </a:r>
            <a:endParaRPr lang="en-US" sz="27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1417213" y="127000"/>
            <a:ext cx="469856" cy="469856"/>
          </a:xfrm>
          <a:prstGeom prst="rect">
            <a:avLst/>
          </a:prstGeom>
        </p:spPr>
      </p:pic>
      <p:sp>
        <p:nvSpPr>
          <p:cNvPr id="4" name="Shape 1"/>
          <p:cNvSpPr/>
          <p:nvPr/>
        </p:nvSpPr>
        <p:spPr>
          <a:xfrm>
            <a:off x="469856" y="1085784"/>
            <a:ext cx="4819606" cy="419034"/>
          </a:xfrm>
          <a:prstGeom prst="rect">
            <a:avLst/>
          </a:prstGeom>
          <a:solidFill>
            <a:srgbClr val="28D2C3"/>
          </a:solidFill>
          <a:ln w="21167">
            <a:solidFill>
              <a:srgbClr val="06201D"/>
            </a:solidFill>
            <a:prstDash val="solid"/>
          </a:ln>
        </p:spPr>
        <p:txBody>
          <a:bodyPr/>
          <a:lstStyle/>
          <a:p>
            <a:endParaRPr lang="es-CL"/>
          </a:p>
        </p:txBody>
      </p:sp>
      <p:sp>
        <p:nvSpPr>
          <p:cNvPr id="5" name="Text 2"/>
          <p:cNvSpPr/>
          <p:nvPr/>
        </p:nvSpPr>
        <p:spPr>
          <a:xfrm>
            <a:off x="411673" y="1099895"/>
            <a:ext cx="4935972"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Eglys Ramírez</a:t>
            </a:r>
            <a:endParaRPr lang="en-US" kern="1200" dirty="0">
              <a:solidFill>
                <a:prstClr val="black"/>
              </a:solidFill>
              <a:latin typeface="Calibri" panose="020F0502020204030204"/>
              <a:ea typeface="+mn-ea"/>
              <a:cs typeface="+mn-cs"/>
            </a:endParaRPr>
          </a:p>
        </p:txBody>
      </p:sp>
      <p:sp>
        <p:nvSpPr>
          <p:cNvPr id="6" name="Shape 3"/>
          <p:cNvSpPr/>
          <p:nvPr/>
        </p:nvSpPr>
        <p:spPr>
          <a:xfrm>
            <a:off x="469856" y="1663678"/>
            <a:ext cx="1257212" cy="1143000"/>
          </a:xfrm>
          <a:prstGeom prst="rect">
            <a:avLst/>
          </a:prstGeom>
          <a:solidFill>
            <a:srgbClr val="28D2C3"/>
          </a:solidFill>
          <a:ln w="21167">
            <a:solidFill>
              <a:srgbClr val="06201D"/>
            </a:solidFill>
            <a:prstDash val="solid"/>
          </a:ln>
        </p:spPr>
        <p:txBody>
          <a:bodyPr/>
          <a:lstStyle/>
          <a:p>
            <a:endParaRPr lang="es-CL"/>
          </a:p>
        </p:txBody>
      </p:sp>
      <p:sp>
        <p:nvSpPr>
          <p:cNvPr id="7" name="Text 4"/>
          <p:cNvSpPr/>
          <p:nvPr/>
        </p:nvSpPr>
        <p:spPr>
          <a:xfrm>
            <a:off x="805392" y="1745258"/>
            <a:ext cx="586140"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1 Top 10</a:t>
            </a:r>
            <a:endParaRPr lang="en-US" sz="1100" kern="1200" dirty="0">
              <a:solidFill>
                <a:prstClr val="black"/>
              </a:solidFill>
              <a:latin typeface="Calibri" panose="020F0502020204030204"/>
              <a:ea typeface="+mn-ea"/>
              <a:cs typeface="+mn-cs"/>
            </a:endParaRPr>
          </a:p>
        </p:txBody>
      </p:sp>
      <p:sp>
        <p:nvSpPr>
          <p:cNvPr id="8" name="Text 5"/>
          <p:cNvSpPr/>
          <p:nvPr/>
        </p:nvSpPr>
        <p:spPr>
          <a:xfrm>
            <a:off x="995341" y="2118431"/>
            <a:ext cx="206243"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6</a:t>
            </a:r>
            <a:endParaRPr lang="en-US" sz="2200" kern="1200" dirty="0">
              <a:solidFill>
                <a:prstClr val="black"/>
              </a:solidFill>
              <a:latin typeface="Calibri" panose="020F0502020204030204"/>
              <a:ea typeface="+mn-ea"/>
              <a:cs typeface="+mn-cs"/>
            </a:endParaRPr>
          </a:p>
        </p:txBody>
      </p:sp>
      <p:sp>
        <p:nvSpPr>
          <p:cNvPr id="9" name="Text 6"/>
          <p:cNvSpPr/>
          <p:nvPr/>
        </p:nvSpPr>
        <p:spPr>
          <a:xfrm>
            <a:off x="78797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MM$199,1</a:t>
            </a:r>
            <a:endParaRPr lang="en-US" sz="950" kern="1200" dirty="0">
              <a:solidFill>
                <a:prstClr val="black"/>
              </a:solidFill>
              <a:latin typeface="Calibri" panose="020F0502020204030204"/>
              <a:ea typeface="+mn-ea"/>
              <a:cs typeface="+mn-cs"/>
            </a:endParaRPr>
          </a:p>
        </p:txBody>
      </p:sp>
      <p:sp>
        <p:nvSpPr>
          <p:cNvPr id="10" name="Shape 7"/>
          <p:cNvSpPr/>
          <p:nvPr/>
        </p:nvSpPr>
        <p:spPr>
          <a:xfrm>
            <a:off x="1885928" y="1663678"/>
            <a:ext cx="1257212" cy="1143000"/>
          </a:xfrm>
          <a:prstGeom prst="rect">
            <a:avLst/>
          </a:prstGeom>
          <a:solidFill>
            <a:srgbClr val="373C46"/>
          </a:solidFill>
          <a:ln w="21167">
            <a:solidFill>
              <a:srgbClr val="06201D"/>
            </a:solidFill>
            <a:prstDash val="solid"/>
          </a:ln>
        </p:spPr>
        <p:txBody>
          <a:bodyPr/>
          <a:lstStyle/>
          <a:p>
            <a:endParaRPr lang="es-CL"/>
          </a:p>
        </p:txBody>
      </p:sp>
      <p:sp>
        <p:nvSpPr>
          <p:cNvPr id="11" name="Text 8"/>
          <p:cNvSpPr/>
          <p:nvPr/>
        </p:nvSpPr>
        <p:spPr>
          <a:xfrm>
            <a:off x="2062604" y="1661474"/>
            <a:ext cx="817430" cy="528109"/>
          </a:xfrm>
          <a:prstGeom prst="rect">
            <a:avLst/>
          </a:prstGeom>
          <a:noFill/>
          <a:ln/>
        </p:spPr>
        <p:txBody>
          <a:bodyPr wrap="none" lIns="16933" tIns="16933" rIns="16933" bIns="16933" rtlCol="0" anchor="ctr">
            <a:normAutofit/>
          </a:bodyPr>
          <a:lstStyle/>
          <a:p>
            <a:pPr algn="ctr" defTabSz="609630">
              <a:lnSpc>
                <a:spcPct val="103304"/>
              </a:lnSpc>
              <a:buClrTx/>
            </a:pPr>
            <a:r>
              <a:rPr lang="en-US" sz="1067" b="1" kern="1200" dirty="0">
                <a:solidFill>
                  <a:srgbClr val="FFFFFF"/>
                </a:solidFill>
                <a:latin typeface="Arial" pitchFamily="34" charset="0"/>
                <a:ea typeface="Arial" pitchFamily="34" charset="-122"/>
                <a:cs typeface="Arial" pitchFamily="34" charset="-120"/>
              </a:rPr>
              <a:t>Grupo 2 Top 15</a:t>
            </a:r>
          </a:p>
          <a:p>
            <a:pPr algn="ctr" defTabSz="609630">
              <a:lnSpc>
                <a:spcPct val="103304"/>
              </a:lnSpc>
              <a:buClrTx/>
            </a:pPr>
            <a:r>
              <a:rPr lang="en-US" sz="1067" b="1" kern="1200" dirty="0">
                <a:solidFill>
                  <a:srgbClr val="FFFFFF"/>
                </a:solidFill>
                <a:latin typeface="Arial" pitchFamily="34" charset="0"/>
                <a:ea typeface="Arial" pitchFamily="34" charset="-122"/>
                <a:cs typeface="Arial" pitchFamily="34" charset="-120"/>
              </a:rPr>
              <a:t>+ Grandes </a:t>
            </a:r>
            <a:r>
              <a:rPr lang="en-US" sz="1067" b="1" kern="1200" dirty="0" err="1">
                <a:solidFill>
                  <a:srgbClr val="FFFFFF"/>
                </a:solidFill>
                <a:latin typeface="Arial" pitchFamily="34" charset="0"/>
                <a:ea typeface="Arial" pitchFamily="34" charset="-122"/>
                <a:cs typeface="Arial" pitchFamily="34" charset="-120"/>
              </a:rPr>
              <a:t>en</a:t>
            </a:r>
            <a:r>
              <a:rPr lang="en-US" sz="1067" b="1" kern="1200" dirty="0">
                <a:solidFill>
                  <a:srgbClr val="FFFFFF"/>
                </a:solidFill>
                <a:latin typeface="Arial" pitchFamily="34" charset="0"/>
                <a:ea typeface="Arial" pitchFamily="34" charset="-122"/>
                <a:cs typeface="Arial" pitchFamily="34" charset="-120"/>
              </a:rPr>
              <a:t> Infra</a:t>
            </a:r>
            <a:endParaRPr lang="en-US" sz="1067" kern="1200" dirty="0">
              <a:solidFill>
                <a:prstClr val="black"/>
              </a:solidFill>
              <a:latin typeface="Calibri" panose="020F0502020204030204"/>
              <a:ea typeface="+mn-ea"/>
              <a:cs typeface="+mn-cs"/>
            </a:endParaRPr>
          </a:p>
        </p:txBody>
      </p:sp>
      <p:sp>
        <p:nvSpPr>
          <p:cNvPr id="12" name="Text 9"/>
          <p:cNvSpPr/>
          <p:nvPr/>
        </p:nvSpPr>
        <p:spPr>
          <a:xfrm>
            <a:off x="2411413" y="2202215"/>
            <a:ext cx="206243"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6</a:t>
            </a:r>
            <a:endParaRPr lang="en-US" sz="2200" kern="1200" dirty="0">
              <a:solidFill>
                <a:prstClr val="black"/>
              </a:solidFill>
              <a:latin typeface="Calibri" panose="020F0502020204030204"/>
              <a:ea typeface="+mn-ea"/>
              <a:cs typeface="+mn-cs"/>
            </a:endParaRPr>
          </a:p>
        </p:txBody>
      </p:sp>
      <p:sp>
        <p:nvSpPr>
          <p:cNvPr id="13" name="Text 10"/>
          <p:cNvSpPr/>
          <p:nvPr/>
        </p:nvSpPr>
        <p:spPr>
          <a:xfrm>
            <a:off x="2237670" y="2519606"/>
            <a:ext cx="553729"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MM$20,3</a:t>
            </a:r>
            <a:endParaRPr lang="en-US" sz="950" kern="1200" dirty="0">
              <a:solidFill>
                <a:prstClr val="black"/>
              </a:solidFill>
              <a:latin typeface="Calibri" panose="020F0502020204030204"/>
              <a:ea typeface="+mn-ea"/>
              <a:cs typeface="+mn-cs"/>
            </a:endParaRPr>
          </a:p>
        </p:txBody>
      </p:sp>
      <p:sp>
        <p:nvSpPr>
          <p:cNvPr id="14" name="Shape 11"/>
          <p:cNvSpPr/>
          <p:nvPr/>
        </p:nvSpPr>
        <p:spPr>
          <a:xfrm>
            <a:off x="3302000" y="1663678"/>
            <a:ext cx="1987462" cy="1143000"/>
          </a:xfrm>
          <a:prstGeom prst="rect">
            <a:avLst/>
          </a:prstGeom>
          <a:solidFill>
            <a:srgbClr val="282DF0"/>
          </a:solidFill>
          <a:ln w="21167">
            <a:solidFill>
              <a:srgbClr val="06201D"/>
            </a:solidFill>
            <a:prstDash val="solid"/>
          </a:ln>
        </p:spPr>
        <p:txBody>
          <a:bodyPr/>
          <a:lstStyle/>
          <a:p>
            <a:endParaRPr lang="es-CL"/>
          </a:p>
        </p:txBody>
      </p:sp>
      <p:sp>
        <p:nvSpPr>
          <p:cNvPr id="15" name="Text 12"/>
          <p:cNvSpPr/>
          <p:nvPr/>
        </p:nvSpPr>
        <p:spPr>
          <a:xfrm>
            <a:off x="3975431" y="1745258"/>
            <a:ext cx="640601"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3 Restante</a:t>
            </a:r>
            <a:endParaRPr lang="en-US" sz="1100" kern="1200" dirty="0">
              <a:solidFill>
                <a:prstClr val="black"/>
              </a:solidFill>
              <a:latin typeface="Calibri" panose="020F0502020204030204"/>
              <a:ea typeface="+mn-ea"/>
              <a:cs typeface="+mn-cs"/>
            </a:endParaRPr>
          </a:p>
        </p:txBody>
      </p:sp>
      <p:sp>
        <p:nvSpPr>
          <p:cNvPr id="16" name="Text 13"/>
          <p:cNvSpPr/>
          <p:nvPr/>
        </p:nvSpPr>
        <p:spPr>
          <a:xfrm>
            <a:off x="4037278" y="2118431"/>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139</a:t>
            </a:r>
            <a:endParaRPr lang="en-US" sz="2200" kern="1200" dirty="0">
              <a:solidFill>
                <a:prstClr val="black"/>
              </a:solidFill>
              <a:latin typeface="Calibri" panose="020F0502020204030204"/>
              <a:ea typeface="+mn-ea"/>
              <a:cs typeface="+mn-cs"/>
            </a:endParaRPr>
          </a:p>
        </p:txBody>
      </p:sp>
      <p:sp>
        <p:nvSpPr>
          <p:cNvPr id="17" name="Text 14"/>
          <p:cNvSpPr/>
          <p:nvPr/>
        </p:nvSpPr>
        <p:spPr>
          <a:xfrm>
            <a:off x="398524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MM$288,1</a:t>
            </a:r>
            <a:endParaRPr lang="en-US" sz="950" kern="1200" dirty="0">
              <a:solidFill>
                <a:prstClr val="black"/>
              </a:solidFill>
              <a:latin typeface="Calibri" panose="020F0502020204030204"/>
              <a:ea typeface="+mn-ea"/>
              <a:cs typeface="+mn-cs"/>
            </a:endParaRPr>
          </a:p>
        </p:txBody>
      </p:sp>
      <p:sp>
        <p:nvSpPr>
          <p:cNvPr id="18" name="Shape 15"/>
          <p:cNvSpPr/>
          <p:nvPr/>
        </p:nvSpPr>
        <p:spPr>
          <a:xfrm>
            <a:off x="469856" y="2908212"/>
            <a:ext cx="4819606" cy="1079500"/>
          </a:xfrm>
          <a:prstGeom prst="rect">
            <a:avLst/>
          </a:prstGeom>
          <a:ln w="21167">
            <a:solidFill>
              <a:srgbClr val="06201D"/>
            </a:solidFill>
            <a:prstDash val="solid"/>
          </a:ln>
        </p:spPr>
        <p:txBody>
          <a:bodyPr/>
          <a:lstStyle/>
          <a:p>
            <a:endParaRPr lang="es-CL"/>
          </a:p>
        </p:txBody>
      </p:sp>
      <p:sp>
        <p:nvSpPr>
          <p:cNvPr id="19" name="Text 16"/>
          <p:cNvSpPr/>
          <p:nvPr/>
        </p:nvSpPr>
        <p:spPr>
          <a:xfrm>
            <a:off x="636279" y="3105106"/>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b="1" kern="1200" dirty="0">
                <a:solidFill>
                  <a:srgbClr val="33448D"/>
                </a:solidFill>
                <a:latin typeface="Arial" pitchFamily="34" charset="0"/>
                <a:ea typeface="Arial" pitchFamily="34" charset="-122"/>
                <a:cs typeface="Arial" pitchFamily="34" charset="-120"/>
              </a:rPr>
              <a:t>151 visitas </a:t>
            </a:r>
            <a:r>
              <a:rPr lang="en-US" sz="1000" kern="1200" dirty="0">
                <a:solidFill>
                  <a:srgbClr val="373C46"/>
                </a:solidFill>
                <a:latin typeface="Arial" pitchFamily="34" charset="0"/>
                <a:ea typeface="Arial" pitchFamily="34" charset="-122"/>
                <a:cs typeface="Arial" pitchFamily="34" charset="-120"/>
              </a:rPr>
              <a:t>en 51 días hábiles · 12 semanas (1 oct – 14 dic)</a:t>
            </a:r>
            <a:endParaRPr lang="en-US" sz="1000" kern="1200" dirty="0">
              <a:solidFill>
                <a:prstClr val="black"/>
              </a:solidFill>
              <a:latin typeface="Calibri" panose="020F0502020204030204"/>
              <a:ea typeface="+mn-ea"/>
              <a:cs typeface="+mn-cs"/>
            </a:endParaRPr>
          </a:p>
        </p:txBody>
      </p:sp>
      <p:sp>
        <p:nvSpPr>
          <p:cNvPr id="20" name="Text 17"/>
          <p:cNvSpPr/>
          <p:nvPr/>
        </p:nvSpPr>
        <p:spPr>
          <a:xfrm>
            <a:off x="636279" y="3276534"/>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kern="1200" dirty="0">
                <a:solidFill>
                  <a:srgbClr val="373C46"/>
                </a:solidFill>
                <a:latin typeface="Arial" pitchFamily="34" charset="0"/>
                <a:ea typeface="Arial" pitchFamily="34" charset="-122"/>
                <a:cs typeface="Arial" pitchFamily="34" charset="-120"/>
              </a:rPr>
              <a:t>Potencial cubierto: </a:t>
            </a:r>
            <a:r>
              <a:rPr lang="en-US" sz="1000" b="1" kern="1200" dirty="0">
                <a:solidFill>
                  <a:srgbClr val="33448D"/>
                </a:solidFill>
                <a:latin typeface="Arial" pitchFamily="34" charset="0"/>
                <a:ea typeface="Arial" pitchFamily="34" charset="-122"/>
                <a:cs typeface="Arial" pitchFamily="34" charset="-120"/>
              </a:rPr>
              <a:t>MM$507,5</a:t>
            </a:r>
            <a:endParaRPr lang="en-US" sz="1000" kern="1200" dirty="0">
              <a:solidFill>
                <a:prstClr val="black"/>
              </a:solidFill>
              <a:latin typeface="Calibri" panose="020F0502020204030204"/>
              <a:ea typeface="+mn-ea"/>
              <a:cs typeface="+mn-cs"/>
            </a:endParaRPr>
          </a:p>
        </p:txBody>
      </p:sp>
      <p:sp>
        <p:nvSpPr>
          <p:cNvPr id="21" name="Text 18"/>
          <p:cNvSpPr/>
          <p:nvPr/>
        </p:nvSpPr>
        <p:spPr>
          <a:xfrm>
            <a:off x="636279" y="3447962"/>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Cobertura: 100% RM (151 visitas)</a:t>
            </a:r>
            <a:endParaRPr lang="en-US" sz="1000" kern="1200" dirty="0">
              <a:solidFill>
                <a:prstClr val="black"/>
              </a:solidFill>
              <a:latin typeface="Calibri" panose="020F0502020204030204"/>
              <a:ea typeface="+mn-ea"/>
              <a:cs typeface="+mn-cs"/>
            </a:endParaRPr>
          </a:p>
        </p:txBody>
      </p:sp>
      <p:sp>
        <p:nvSpPr>
          <p:cNvPr id="22" name="Text 19"/>
          <p:cNvSpPr/>
          <p:nvPr/>
        </p:nvSpPr>
        <p:spPr>
          <a:xfrm>
            <a:off x="636279" y="3619390"/>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3 visitas diarias: 09:30 · 12:00 · 15:30 · 64 direcciones por confirmar</a:t>
            </a:r>
            <a:endParaRPr lang="en-US" sz="1000" kern="1200" dirty="0">
              <a:solidFill>
                <a:prstClr val="black"/>
              </a:solidFill>
              <a:latin typeface="Calibri" panose="020F0502020204030204"/>
              <a:ea typeface="+mn-ea"/>
              <a:cs typeface="+mn-cs"/>
            </a:endParaRPr>
          </a:p>
        </p:txBody>
      </p:sp>
      <p:sp>
        <p:nvSpPr>
          <p:cNvPr id="23" name="Text 20"/>
          <p:cNvSpPr/>
          <p:nvPr/>
        </p:nvSpPr>
        <p:spPr>
          <a:xfrm>
            <a:off x="469856" y="4140178"/>
            <a:ext cx="1270882" cy="173567"/>
          </a:xfrm>
          <a:prstGeom prst="rect">
            <a:avLst/>
          </a:prstGeom>
          <a:noFill/>
          <a:ln/>
        </p:spPr>
        <p:txBody>
          <a:bodyPr wrap="square" lIns="16933" tIns="16933" rIns="16933" bIns="16933" rtlCol="0" anchor="t">
            <a:normAutofit lnSpcReduction="10000"/>
          </a:bodyPr>
          <a:lstStyle/>
          <a:p>
            <a:pPr defTabSz="609630">
              <a:buClrTx/>
            </a:pPr>
            <a:r>
              <a:rPr lang="en-US" sz="1000" b="1" kern="1200" dirty="0">
                <a:solidFill>
                  <a:srgbClr val="33448D"/>
                </a:solidFill>
                <a:latin typeface="Arial" pitchFamily="34" charset="0"/>
                <a:ea typeface="Arial" pitchFamily="34" charset="-122"/>
                <a:cs typeface="Arial" pitchFamily="34" charset="-120"/>
              </a:rPr>
              <a:t>Visitas por semana</a:t>
            </a:r>
            <a:endParaRPr lang="en-US" sz="1000" kern="1200" dirty="0">
              <a:solidFill>
                <a:prstClr val="black"/>
              </a:solidFill>
              <a:latin typeface="Calibri" panose="020F0502020204030204"/>
              <a:ea typeface="+mn-ea"/>
              <a:cs typeface="+mn-cs"/>
            </a:endParaRPr>
          </a:p>
        </p:txBody>
      </p:sp>
      <p:sp>
        <p:nvSpPr>
          <p:cNvPr id="24" name="Shape 21"/>
          <p:cNvSpPr/>
          <p:nvPr/>
        </p:nvSpPr>
        <p:spPr>
          <a:xfrm>
            <a:off x="469856" y="4356035"/>
            <a:ext cx="4080316" cy="14111"/>
          </a:xfrm>
          <a:prstGeom prst="rect">
            <a:avLst/>
          </a:prstGeom>
          <a:solidFill>
            <a:srgbClr val="33448D"/>
          </a:solidFill>
          <a:ln/>
        </p:spPr>
        <p:txBody>
          <a:bodyPr/>
          <a:lstStyle/>
          <a:p>
            <a:endParaRPr lang="es-CL"/>
          </a:p>
        </p:txBody>
      </p:sp>
      <p:sp>
        <p:nvSpPr>
          <p:cNvPr id="25" name="Text 22"/>
          <p:cNvSpPr/>
          <p:nvPr/>
        </p:nvSpPr>
        <p:spPr>
          <a:xfrm>
            <a:off x="265841" y="4389195"/>
            <a:ext cx="4488347" cy="152312"/>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Región Metropolitana</a:t>
            </a:r>
            <a:endParaRPr lang="en-US" sz="850" kern="1200" dirty="0">
              <a:solidFill>
                <a:prstClr val="black"/>
              </a:solidFill>
              <a:latin typeface="Calibri" panose="020F0502020204030204"/>
              <a:ea typeface="+mn-ea"/>
              <a:cs typeface="+mn-cs"/>
            </a:endParaRPr>
          </a:p>
        </p:txBody>
      </p:sp>
      <p:sp>
        <p:nvSpPr>
          <p:cNvPr id="26" name="Shape 23"/>
          <p:cNvSpPr/>
          <p:nvPr/>
        </p:nvSpPr>
        <p:spPr>
          <a:xfrm>
            <a:off x="521339" y="5435534"/>
            <a:ext cx="241212" cy="482534"/>
          </a:xfrm>
          <a:prstGeom prst="rect">
            <a:avLst/>
          </a:prstGeom>
          <a:solidFill>
            <a:srgbClr val="28D2C3"/>
          </a:solidFill>
          <a:ln/>
        </p:spPr>
        <p:txBody>
          <a:bodyPr/>
          <a:lstStyle/>
          <a:p>
            <a:endParaRPr lang="es-CL"/>
          </a:p>
        </p:txBody>
      </p:sp>
      <p:sp>
        <p:nvSpPr>
          <p:cNvPr id="27" name="Text 24"/>
          <p:cNvSpPr/>
          <p:nvPr/>
        </p:nvSpPr>
        <p:spPr>
          <a:xfrm>
            <a:off x="432439"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28" name="Text 25"/>
          <p:cNvSpPr/>
          <p:nvPr/>
        </p:nvSpPr>
        <p:spPr>
          <a:xfrm>
            <a:off x="44445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a:t>
            </a:r>
            <a:endParaRPr lang="en-US" sz="850" kern="1200" dirty="0">
              <a:solidFill>
                <a:prstClr val="black"/>
              </a:solidFill>
              <a:latin typeface="Calibri" panose="020F0502020204030204"/>
              <a:ea typeface="+mn-ea"/>
              <a:cs typeface="+mn-cs"/>
            </a:endParaRPr>
          </a:p>
        </p:txBody>
      </p:sp>
      <p:sp>
        <p:nvSpPr>
          <p:cNvPr id="29" name="Shape 26"/>
          <p:cNvSpPr/>
          <p:nvPr/>
        </p:nvSpPr>
        <p:spPr>
          <a:xfrm>
            <a:off x="865629" y="5435534"/>
            <a:ext cx="241212" cy="482534"/>
          </a:xfrm>
          <a:prstGeom prst="rect">
            <a:avLst/>
          </a:prstGeom>
          <a:solidFill>
            <a:srgbClr val="373C46"/>
          </a:solidFill>
          <a:ln/>
        </p:spPr>
        <p:txBody>
          <a:bodyPr/>
          <a:lstStyle/>
          <a:p>
            <a:endParaRPr lang="es-CL"/>
          </a:p>
        </p:txBody>
      </p:sp>
      <p:sp>
        <p:nvSpPr>
          <p:cNvPr id="30" name="Shape 27"/>
          <p:cNvSpPr/>
          <p:nvPr/>
        </p:nvSpPr>
        <p:spPr>
          <a:xfrm>
            <a:off x="865629" y="4711678"/>
            <a:ext cx="241212" cy="723856"/>
          </a:xfrm>
          <a:prstGeom prst="rect">
            <a:avLst/>
          </a:prstGeom>
          <a:solidFill>
            <a:srgbClr val="282DF0"/>
          </a:solidFill>
          <a:ln/>
        </p:spPr>
        <p:txBody>
          <a:bodyPr/>
          <a:lstStyle/>
          <a:p>
            <a:endParaRPr lang="es-CL"/>
          </a:p>
        </p:txBody>
      </p:sp>
      <p:sp>
        <p:nvSpPr>
          <p:cNvPr id="31" name="Text 28"/>
          <p:cNvSpPr/>
          <p:nvPr/>
        </p:nvSpPr>
        <p:spPr>
          <a:xfrm>
            <a:off x="77672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32" name="Text 29"/>
          <p:cNvSpPr/>
          <p:nvPr/>
        </p:nvSpPr>
        <p:spPr>
          <a:xfrm>
            <a:off x="78874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S2</a:t>
            </a:r>
            <a:endParaRPr lang="en-US" sz="850" kern="1200" dirty="0">
              <a:solidFill>
                <a:prstClr val="black"/>
              </a:solidFill>
              <a:latin typeface="Calibri" panose="020F0502020204030204"/>
              <a:ea typeface="+mn-ea"/>
              <a:cs typeface="+mn-cs"/>
            </a:endParaRPr>
          </a:p>
        </p:txBody>
      </p:sp>
      <p:sp>
        <p:nvSpPr>
          <p:cNvPr id="33" name="Shape 30"/>
          <p:cNvSpPr/>
          <p:nvPr/>
        </p:nvSpPr>
        <p:spPr>
          <a:xfrm>
            <a:off x="1209807" y="4953001"/>
            <a:ext cx="241212" cy="965178"/>
          </a:xfrm>
          <a:prstGeom prst="rect">
            <a:avLst/>
          </a:prstGeom>
          <a:solidFill>
            <a:srgbClr val="282DF0"/>
          </a:solidFill>
          <a:ln/>
        </p:spPr>
        <p:txBody>
          <a:bodyPr/>
          <a:lstStyle/>
          <a:p>
            <a:endParaRPr lang="es-CL"/>
          </a:p>
        </p:txBody>
      </p:sp>
      <p:sp>
        <p:nvSpPr>
          <p:cNvPr id="34" name="Text 31"/>
          <p:cNvSpPr/>
          <p:nvPr/>
        </p:nvSpPr>
        <p:spPr>
          <a:xfrm>
            <a:off x="1120907"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35" name="Text 32"/>
          <p:cNvSpPr/>
          <p:nvPr/>
        </p:nvSpPr>
        <p:spPr>
          <a:xfrm>
            <a:off x="113292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S3</a:t>
            </a:r>
            <a:endParaRPr lang="en-US" sz="850" kern="1200" dirty="0">
              <a:solidFill>
                <a:prstClr val="black"/>
              </a:solidFill>
              <a:latin typeface="Calibri" panose="020F0502020204030204"/>
              <a:ea typeface="+mn-ea"/>
              <a:cs typeface="+mn-cs"/>
            </a:endParaRPr>
          </a:p>
        </p:txBody>
      </p:sp>
      <p:sp>
        <p:nvSpPr>
          <p:cNvPr id="36" name="Shape 33"/>
          <p:cNvSpPr/>
          <p:nvPr/>
        </p:nvSpPr>
        <p:spPr>
          <a:xfrm>
            <a:off x="1554097" y="4711678"/>
            <a:ext cx="241212" cy="1206500"/>
          </a:xfrm>
          <a:prstGeom prst="rect">
            <a:avLst/>
          </a:prstGeom>
          <a:solidFill>
            <a:srgbClr val="282DF0"/>
          </a:solidFill>
          <a:ln/>
        </p:spPr>
        <p:txBody>
          <a:bodyPr/>
          <a:lstStyle/>
          <a:p>
            <a:endParaRPr lang="es-CL"/>
          </a:p>
        </p:txBody>
      </p:sp>
      <p:sp>
        <p:nvSpPr>
          <p:cNvPr id="37" name="Text 34"/>
          <p:cNvSpPr/>
          <p:nvPr/>
        </p:nvSpPr>
        <p:spPr>
          <a:xfrm>
            <a:off x="1465197"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38" name="Text 35"/>
          <p:cNvSpPr/>
          <p:nvPr/>
        </p:nvSpPr>
        <p:spPr>
          <a:xfrm>
            <a:off x="147721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S4</a:t>
            </a:r>
            <a:endParaRPr lang="en-US" sz="850" kern="1200" dirty="0">
              <a:solidFill>
                <a:prstClr val="black"/>
              </a:solidFill>
              <a:latin typeface="Calibri" panose="020F0502020204030204"/>
              <a:ea typeface="+mn-ea"/>
              <a:cs typeface="+mn-cs"/>
            </a:endParaRPr>
          </a:p>
        </p:txBody>
      </p:sp>
      <p:sp>
        <p:nvSpPr>
          <p:cNvPr id="39" name="Shape 36"/>
          <p:cNvSpPr/>
          <p:nvPr/>
        </p:nvSpPr>
        <p:spPr>
          <a:xfrm>
            <a:off x="1898385" y="4711678"/>
            <a:ext cx="241212" cy="1206500"/>
          </a:xfrm>
          <a:prstGeom prst="rect">
            <a:avLst/>
          </a:prstGeom>
          <a:solidFill>
            <a:srgbClr val="282DF0"/>
          </a:solidFill>
          <a:ln/>
        </p:spPr>
        <p:txBody>
          <a:bodyPr/>
          <a:lstStyle/>
          <a:p>
            <a:endParaRPr lang="es-CL"/>
          </a:p>
        </p:txBody>
      </p:sp>
      <p:sp>
        <p:nvSpPr>
          <p:cNvPr id="40" name="Text 37"/>
          <p:cNvSpPr/>
          <p:nvPr/>
        </p:nvSpPr>
        <p:spPr>
          <a:xfrm>
            <a:off x="180948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1" name="Text 38"/>
          <p:cNvSpPr/>
          <p:nvPr/>
        </p:nvSpPr>
        <p:spPr>
          <a:xfrm>
            <a:off x="1821502"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S5</a:t>
            </a:r>
            <a:endParaRPr lang="en-US" sz="850" kern="1200" dirty="0">
              <a:solidFill>
                <a:prstClr val="black"/>
              </a:solidFill>
              <a:latin typeface="Calibri" panose="020F0502020204030204"/>
              <a:ea typeface="+mn-ea"/>
              <a:cs typeface="+mn-cs"/>
            </a:endParaRPr>
          </a:p>
        </p:txBody>
      </p:sp>
      <p:sp>
        <p:nvSpPr>
          <p:cNvPr id="42" name="Shape 39"/>
          <p:cNvSpPr/>
          <p:nvPr/>
        </p:nvSpPr>
        <p:spPr>
          <a:xfrm>
            <a:off x="2242675" y="4711678"/>
            <a:ext cx="241212" cy="1206500"/>
          </a:xfrm>
          <a:prstGeom prst="rect">
            <a:avLst/>
          </a:prstGeom>
          <a:solidFill>
            <a:srgbClr val="282DF0"/>
          </a:solidFill>
          <a:ln/>
        </p:spPr>
        <p:txBody>
          <a:bodyPr/>
          <a:lstStyle/>
          <a:p>
            <a:endParaRPr lang="es-CL"/>
          </a:p>
        </p:txBody>
      </p:sp>
      <p:sp>
        <p:nvSpPr>
          <p:cNvPr id="43" name="Text 40"/>
          <p:cNvSpPr/>
          <p:nvPr/>
        </p:nvSpPr>
        <p:spPr>
          <a:xfrm>
            <a:off x="215377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4" name="Text 41"/>
          <p:cNvSpPr/>
          <p:nvPr/>
        </p:nvSpPr>
        <p:spPr>
          <a:xfrm>
            <a:off x="2165791"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S6</a:t>
            </a:r>
            <a:endParaRPr lang="en-US" sz="850" kern="1200" dirty="0">
              <a:solidFill>
                <a:prstClr val="black"/>
              </a:solidFill>
              <a:latin typeface="Calibri" panose="020F0502020204030204"/>
              <a:ea typeface="+mn-ea"/>
              <a:cs typeface="+mn-cs"/>
            </a:endParaRPr>
          </a:p>
        </p:txBody>
      </p:sp>
      <p:sp>
        <p:nvSpPr>
          <p:cNvPr id="45" name="Shape 42"/>
          <p:cNvSpPr/>
          <p:nvPr/>
        </p:nvSpPr>
        <p:spPr>
          <a:xfrm>
            <a:off x="2586853" y="4711678"/>
            <a:ext cx="241212" cy="1206500"/>
          </a:xfrm>
          <a:prstGeom prst="rect">
            <a:avLst/>
          </a:prstGeom>
          <a:solidFill>
            <a:srgbClr val="282DF0"/>
          </a:solidFill>
          <a:ln/>
        </p:spPr>
        <p:txBody>
          <a:bodyPr/>
          <a:lstStyle/>
          <a:p>
            <a:endParaRPr lang="es-CL"/>
          </a:p>
        </p:txBody>
      </p:sp>
      <p:sp>
        <p:nvSpPr>
          <p:cNvPr id="46" name="Text 43"/>
          <p:cNvSpPr/>
          <p:nvPr/>
        </p:nvSpPr>
        <p:spPr>
          <a:xfrm>
            <a:off x="249795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47" name="Text 44"/>
          <p:cNvSpPr/>
          <p:nvPr/>
        </p:nvSpPr>
        <p:spPr>
          <a:xfrm>
            <a:off x="2509970"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S7</a:t>
            </a:r>
            <a:endParaRPr lang="en-US" sz="850" kern="1200" dirty="0">
              <a:solidFill>
                <a:prstClr val="black"/>
              </a:solidFill>
              <a:latin typeface="Calibri" panose="020F0502020204030204"/>
              <a:ea typeface="+mn-ea"/>
              <a:cs typeface="+mn-cs"/>
            </a:endParaRPr>
          </a:p>
        </p:txBody>
      </p:sp>
      <p:sp>
        <p:nvSpPr>
          <p:cNvPr id="48" name="Shape 45"/>
          <p:cNvSpPr/>
          <p:nvPr/>
        </p:nvSpPr>
        <p:spPr>
          <a:xfrm>
            <a:off x="2931143" y="4711678"/>
            <a:ext cx="241212" cy="1206500"/>
          </a:xfrm>
          <a:prstGeom prst="rect">
            <a:avLst/>
          </a:prstGeom>
          <a:solidFill>
            <a:srgbClr val="282DF0"/>
          </a:solidFill>
          <a:ln/>
        </p:spPr>
        <p:txBody>
          <a:bodyPr/>
          <a:lstStyle/>
          <a:p>
            <a:endParaRPr lang="es-CL"/>
          </a:p>
        </p:txBody>
      </p:sp>
      <p:sp>
        <p:nvSpPr>
          <p:cNvPr id="49" name="Text 46"/>
          <p:cNvSpPr/>
          <p:nvPr/>
        </p:nvSpPr>
        <p:spPr>
          <a:xfrm>
            <a:off x="284224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0" name="Text 47"/>
          <p:cNvSpPr/>
          <p:nvPr/>
        </p:nvSpPr>
        <p:spPr>
          <a:xfrm>
            <a:off x="2854259"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S8</a:t>
            </a:r>
            <a:endParaRPr lang="en-US" sz="850" kern="1200" dirty="0">
              <a:solidFill>
                <a:prstClr val="black"/>
              </a:solidFill>
              <a:latin typeface="Calibri" panose="020F0502020204030204"/>
              <a:ea typeface="+mn-ea"/>
              <a:cs typeface="+mn-cs"/>
            </a:endParaRPr>
          </a:p>
        </p:txBody>
      </p:sp>
      <p:sp>
        <p:nvSpPr>
          <p:cNvPr id="51" name="Shape 48"/>
          <p:cNvSpPr/>
          <p:nvPr/>
        </p:nvSpPr>
        <p:spPr>
          <a:xfrm>
            <a:off x="3275431" y="4711678"/>
            <a:ext cx="241212" cy="1206500"/>
          </a:xfrm>
          <a:prstGeom prst="rect">
            <a:avLst/>
          </a:prstGeom>
          <a:solidFill>
            <a:srgbClr val="282DF0"/>
          </a:solidFill>
          <a:ln/>
        </p:spPr>
        <p:txBody>
          <a:bodyPr/>
          <a:lstStyle/>
          <a:p>
            <a:endParaRPr lang="es-CL"/>
          </a:p>
        </p:txBody>
      </p:sp>
      <p:sp>
        <p:nvSpPr>
          <p:cNvPr id="52" name="Text 49"/>
          <p:cNvSpPr/>
          <p:nvPr/>
        </p:nvSpPr>
        <p:spPr>
          <a:xfrm>
            <a:off x="318653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3" name="Text 50"/>
          <p:cNvSpPr/>
          <p:nvPr/>
        </p:nvSpPr>
        <p:spPr>
          <a:xfrm>
            <a:off x="3198548"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S9</a:t>
            </a:r>
            <a:endParaRPr lang="en-US" sz="850" kern="1200" dirty="0">
              <a:solidFill>
                <a:prstClr val="black"/>
              </a:solidFill>
              <a:latin typeface="Calibri" panose="020F0502020204030204"/>
              <a:ea typeface="+mn-ea"/>
              <a:cs typeface="+mn-cs"/>
            </a:endParaRPr>
          </a:p>
        </p:txBody>
      </p:sp>
      <p:sp>
        <p:nvSpPr>
          <p:cNvPr id="54" name="Shape 51"/>
          <p:cNvSpPr/>
          <p:nvPr/>
        </p:nvSpPr>
        <p:spPr>
          <a:xfrm>
            <a:off x="3619721" y="4711678"/>
            <a:ext cx="241212" cy="1206500"/>
          </a:xfrm>
          <a:prstGeom prst="rect">
            <a:avLst/>
          </a:prstGeom>
          <a:solidFill>
            <a:srgbClr val="282DF0"/>
          </a:solidFill>
          <a:ln/>
        </p:spPr>
        <p:txBody>
          <a:bodyPr/>
          <a:lstStyle/>
          <a:p>
            <a:endParaRPr lang="es-CL"/>
          </a:p>
        </p:txBody>
      </p:sp>
      <p:sp>
        <p:nvSpPr>
          <p:cNvPr id="55" name="Text 52"/>
          <p:cNvSpPr/>
          <p:nvPr/>
        </p:nvSpPr>
        <p:spPr>
          <a:xfrm>
            <a:off x="353082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56" name="Text 53"/>
          <p:cNvSpPr/>
          <p:nvPr/>
        </p:nvSpPr>
        <p:spPr>
          <a:xfrm>
            <a:off x="354283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S10</a:t>
            </a:r>
            <a:endParaRPr lang="en-US" sz="850" kern="1200" dirty="0">
              <a:solidFill>
                <a:prstClr val="black"/>
              </a:solidFill>
              <a:latin typeface="Calibri" panose="020F0502020204030204"/>
              <a:ea typeface="+mn-ea"/>
              <a:cs typeface="+mn-cs"/>
            </a:endParaRPr>
          </a:p>
        </p:txBody>
      </p:sp>
      <p:sp>
        <p:nvSpPr>
          <p:cNvPr id="57" name="Shape 54"/>
          <p:cNvSpPr/>
          <p:nvPr/>
        </p:nvSpPr>
        <p:spPr>
          <a:xfrm>
            <a:off x="3963899" y="4953001"/>
            <a:ext cx="241212" cy="965178"/>
          </a:xfrm>
          <a:prstGeom prst="rect">
            <a:avLst/>
          </a:prstGeom>
          <a:solidFill>
            <a:srgbClr val="282DF0"/>
          </a:solidFill>
          <a:ln/>
        </p:spPr>
        <p:txBody>
          <a:bodyPr/>
          <a:lstStyle/>
          <a:p>
            <a:endParaRPr lang="es-CL"/>
          </a:p>
        </p:txBody>
      </p:sp>
      <p:sp>
        <p:nvSpPr>
          <p:cNvPr id="58" name="Text 55"/>
          <p:cNvSpPr/>
          <p:nvPr/>
        </p:nvSpPr>
        <p:spPr>
          <a:xfrm>
            <a:off x="3874999"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59" name="Text 56"/>
          <p:cNvSpPr/>
          <p:nvPr/>
        </p:nvSpPr>
        <p:spPr>
          <a:xfrm>
            <a:off x="388701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S11</a:t>
            </a:r>
            <a:endParaRPr lang="en-US" sz="850" kern="1200" dirty="0">
              <a:solidFill>
                <a:prstClr val="black"/>
              </a:solidFill>
              <a:latin typeface="Calibri" panose="020F0502020204030204"/>
              <a:ea typeface="+mn-ea"/>
              <a:cs typeface="+mn-cs"/>
            </a:endParaRPr>
          </a:p>
        </p:txBody>
      </p:sp>
      <p:sp>
        <p:nvSpPr>
          <p:cNvPr id="60" name="Shape 57"/>
          <p:cNvSpPr/>
          <p:nvPr/>
        </p:nvSpPr>
        <p:spPr>
          <a:xfrm>
            <a:off x="4308189" y="5837701"/>
            <a:ext cx="241212" cy="80367"/>
          </a:xfrm>
          <a:prstGeom prst="rect">
            <a:avLst/>
          </a:prstGeom>
          <a:solidFill>
            <a:srgbClr val="282DF0"/>
          </a:solidFill>
          <a:ln/>
        </p:spPr>
        <p:txBody>
          <a:bodyPr/>
          <a:lstStyle/>
          <a:p>
            <a:endParaRPr lang="es-CL"/>
          </a:p>
        </p:txBody>
      </p:sp>
      <p:sp>
        <p:nvSpPr>
          <p:cNvPr id="61" name="Text 58"/>
          <p:cNvSpPr/>
          <p:nvPr/>
        </p:nvSpPr>
        <p:spPr>
          <a:xfrm>
            <a:off x="4219289" y="567266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a:t>
            </a:r>
            <a:endParaRPr lang="en-US" sz="900" kern="1200" dirty="0">
              <a:solidFill>
                <a:prstClr val="black"/>
              </a:solidFill>
              <a:latin typeface="Calibri" panose="020F0502020204030204"/>
              <a:ea typeface="+mn-ea"/>
              <a:cs typeface="+mn-cs"/>
            </a:endParaRPr>
          </a:p>
        </p:txBody>
      </p:sp>
      <p:sp>
        <p:nvSpPr>
          <p:cNvPr id="62" name="Text 59"/>
          <p:cNvSpPr/>
          <p:nvPr/>
        </p:nvSpPr>
        <p:spPr>
          <a:xfrm>
            <a:off x="423130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S12</a:t>
            </a:r>
            <a:endParaRPr lang="en-US" sz="850" kern="1200" dirty="0">
              <a:solidFill>
                <a:prstClr val="black"/>
              </a:solidFill>
              <a:latin typeface="Calibri" panose="020F0502020204030204"/>
              <a:ea typeface="+mn-ea"/>
              <a:cs typeface="+mn-cs"/>
            </a:endParaRPr>
          </a:p>
        </p:txBody>
      </p:sp>
      <p:sp>
        <p:nvSpPr>
          <p:cNvPr id="63" name="Shape 60"/>
          <p:cNvSpPr/>
          <p:nvPr/>
        </p:nvSpPr>
        <p:spPr>
          <a:xfrm>
            <a:off x="4652477" y="5905501"/>
            <a:ext cx="241212" cy="12678"/>
          </a:xfrm>
          <a:prstGeom prst="rect">
            <a:avLst/>
          </a:prstGeom>
          <a:solidFill>
            <a:srgbClr val="D9DCE3"/>
          </a:solidFill>
          <a:ln/>
        </p:spPr>
        <p:txBody>
          <a:bodyPr/>
          <a:lstStyle/>
          <a:p>
            <a:endParaRPr lang="es-CL"/>
          </a:p>
        </p:txBody>
      </p:sp>
      <p:sp>
        <p:nvSpPr>
          <p:cNvPr id="64" name="Text 61"/>
          <p:cNvSpPr/>
          <p:nvPr/>
        </p:nvSpPr>
        <p:spPr>
          <a:xfrm>
            <a:off x="457559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S13</a:t>
            </a:r>
            <a:endParaRPr lang="en-US" sz="850" kern="1200" dirty="0">
              <a:solidFill>
                <a:prstClr val="black"/>
              </a:solidFill>
              <a:latin typeface="Calibri" panose="020F0502020204030204"/>
              <a:ea typeface="+mn-ea"/>
              <a:cs typeface="+mn-cs"/>
            </a:endParaRPr>
          </a:p>
        </p:txBody>
      </p:sp>
      <p:sp>
        <p:nvSpPr>
          <p:cNvPr id="65" name="Shape 62"/>
          <p:cNvSpPr/>
          <p:nvPr/>
        </p:nvSpPr>
        <p:spPr>
          <a:xfrm>
            <a:off x="4996767" y="5905501"/>
            <a:ext cx="241212" cy="12678"/>
          </a:xfrm>
          <a:prstGeom prst="rect">
            <a:avLst/>
          </a:prstGeom>
          <a:solidFill>
            <a:srgbClr val="D9DCE3"/>
          </a:solidFill>
          <a:ln/>
        </p:spPr>
        <p:txBody>
          <a:bodyPr/>
          <a:lstStyle/>
          <a:p>
            <a:endParaRPr lang="es-CL"/>
          </a:p>
        </p:txBody>
      </p:sp>
      <p:sp>
        <p:nvSpPr>
          <p:cNvPr id="66" name="Text 63"/>
          <p:cNvSpPr/>
          <p:nvPr/>
        </p:nvSpPr>
        <p:spPr>
          <a:xfrm>
            <a:off x="491988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S14</a:t>
            </a:r>
            <a:endParaRPr lang="en-US" sz="850" kern="1200" dirty="0">
              <a:solidFill>
                <a:prstClr val="black"/>
              </a:solidFill>
              <a:latin typeface="Calibri" panose="020F0502020204030204"/>
              <a:ea typeface="+mn-ea"/>
              <a:cs typeface="+mn-cs"/>
            </a:endParaRPr>
          </a:p>
        </p:txBody>
      </p:sp>
      <p:sp>
        <p:nvSpPr>
          <p:cNvPr id="67" name="Shape 64"/>
          <p:cNvSpPr/>
          <p:nvPr/>
        </p:nvSpPr>
        <p:spPr>
          <a:xfrm>
            <a:off x="469856" y="5918178"/>
            <a:ext cx="4819606" cy="12678"/>
          </a:xfrm>
          <a:prstGeom prst="rect">
            <a:avLst/>
          </a:prstGeom>
          <a:solidFill>
            <a:srgbClr val="06201D"/>
          </a:solidFill>
          <a:ln/>
        </p:spPr>
        <p:txBody>
          <a:bodyPr/>
          <a:lstStyle/>
          <a:p>
            <a:endParaRPr lang="es-CL"/>
          </a:p>
        </p:txBody>
      </p:sp>
      <p:sp>
        <p:nvSpPr>
          <p:cNvPr id="68" name="Shape 65"/>
          <p:cNvSpPr/>
          <p:nvPr/>
        </p:nvSpPr>
        <p:spPr>
          <a:xfrm>
            <a:off x="488929" y="6146713"/>
            <a:ext cx="1683191" cy="7055"/>
          </a:xfrm>
          <a:prstGeom prst="rect">
            <a:avLst/>
          </a:prstGeom>
          <a:solidFill>
            <a:srgbClr val="9AA0AA"/>
          </a:solidFill>
          <a:ln/>
        </p:spPr>
        <p:txBody>
          <a:bodyPr/>
          <a:lstStyle/>
          <a:p>
            <a:endParaRPr lang="es-CL"/>
          </a:p>
        </p:txBody>
      </p:sp>
      <p:sp>
        <p:nvSpPr>
          <p:cNvPr id="69" name="Text 66"/>
          <p:cNvSpPr/>
          <p:nvPr/>
        </p:nvSpPr>
        <p:spPr>
          <a:xfrm>
            <a:off x="404769"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Octubre</a:t>
            </a:r>
            <a:endParaRPr lang="en-US" sz="800" kern="1200" dirty="0">
              <a:solidFill>
                <a:prstClr val="black"/>
              </a:solidFill>
              <a:latin typeface="Calibri" panose="020F0502020204030204"/>
              <a:ea typeface="+mn-ea"/>
              <a:cs typeface="+mn-cs"/>
            </a:endParaRPr>
          </a:p>
        </p:txBody>
      </p:sp>
      <p:sp>
        <p:nvSpPr>
          <p:cNvPr id="70" name="Shape 67"/>
          <p:cNvSpPr/>
          <p:nvPr/>
        </p:nvSpPr>
        <p:spPr>
          <a:xfrm>
            <a:off x="2210153" y="6146713"/>
            <a:ext cx="1338902" cy="7055"/>
          </a:xfrm>
          <a:prstGeom prst="rect">
            <a:avLst/>
          </a:prstGeom>
          <a:solidFill>
            <a:srgbClr val="9AA0AA"/>
          </a:solidFill>
          <a:ln/>
        </p:spPr>
        <p:txBody>
          <a:bodyPr/>
          <a:lstStyle/>
          <a:p>
            <a:endParaRPr lang="es-CL"/>
          </a:p>
        </p:txBody>
      </p:sp>
      <p:sp>
        <p:nvSpPr>
          <p:cNvPr id="71" name="Text 68"/>
          <p:cNvSpPr/>
          <p:nvPr/>
        </p:nvSpPr>
        <p:spPr>
          <a:xfrm>
            <a:off x="2143208" y="6166467"/>
            <a:ext cx="1472792"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Noviembre</a:t>
            </a:r>
            <a:endParaRPr lang="en-US" sz="800" kern="1200" dirty="0">
              <a:solidFill>
                <a:prstClr val="black"/>
              </a:solidFill>
              <a:latin typeface="Calibri" panose="020F0502020204030204"/>
              <a:ea typeface="+mn-ea"/>
              <a:cs typeface="+mn-cs"/>
            </a:endParaRPr>
          </a:p>
        </p:txBody>
      </p:sp>
      <p:sp>
        <p:nvSpPr>
          <p:cNvPr id="72" name="Shape 69"/>
          <p:cNvSpPr/>
          <p:nvPr/>
        </p:nvSpPr>
        <p:spPr>
          <a:xfrm>
            <a:off x="3587199" y="6146713"/>
            <a:ext cx="1683191" cy="7055"/>
          </a:xfrm>
          <a:prstGeom prst="rect">
            <a:avLst/>
          </a:prstGeom>
          <a:solidFill>
            <a:srgbClr val="9AA0AA"/>
          </a:solidFill>
          <a:ln/>
        </p:spPr>
        <p:txBody>
          <a:bodyPr/>
          <a:lstStyle/>
          <a:p>
            <a:endParaRPr lang="es-CL"/>
          </a:p>
        </p:txBody>
      </p:sp>
      <p:sp>
        <p:nvSpPr>
          <p:cNvPr id="73" name="Text 70"/>
          <p:cNvSpPr/>
          <p:nvPr/>
        </p:nvSpPr>
        <p:spPr>
          <a:xfrm>
            <a:off x="3503040"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Diciembre</a:t>
            </a:r>
            <a:endParaRPr lang="en-US" sz="800" kern="1200" dirty="0">
              <a:solidFill>
                <a:prstClr val="black"/>
              </a:solidFill>
              <a:latin typeface="Calibri" panose="020F0502020204030204"/>
              <a:ea typeface="+mn-ea"/>
              <a:cs typeface="+mn-cs"/>
            </a:endParaRPr>
          </a:p>
        </p:txBody>
      </p:sp>
      <p:sp>
        <p:nvSpPr>
          <p:cNvPr id="74" name="Shape 71"/>
          <p:cNvSpPr/>
          <p:nvPr/>
        </p:nvSpPr>
        <p:spPr>
          <a:xfrm>
            <a:off x="7042107" y="1085784"/>
            <a:ext cx="4819606" cy="419034"/>
          </a:xfrm>
          <a:prstGeom prst="rect">
            <a:avLst/>
          </a:prstGeom>
          <a:solidFill>
            <a:srgbClr val="28D2C3"/>
          </a:solidFill>
          <a:ln w="21167">
            <a:solidFill>
              <a:srgbClr val="06201D"/>
            </a:solidFill>
            <a:prstDash val="solid"/>
          </a:ln>
        </p:spPr>
        <p:txBody>
          <a:bodyPr/>
          <a:lstStyle/>
          <a:p>
            <a:endParaRPr lang="es-CL"/>
          </a:p>
        </p:txBody>
      </p:sp>
      <p:sp>
        <p:nvSpPr>
          <p:cNvPr id="75" name="Text 72"/>
          <p:cNvSpPr/>
          <p:nvPr/>
        </p:nvSpPr>
        <p:spPr>
          <a:xfrm>
            <a:off x="6983923" y="1099895"/>
            <a:ext cx="4935972"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Cristián Pérez</a:t>
            </a:r>
            <a:endParaRPr lang="en-US" kern="1200" dirty="0">
              <a:solidFill>
                <a:prstClr val="black"/>
              </a:solidFill>
              <a:latin typeface="Calibri" panose="020F0502020204030204"/>
              <a:ea typeface="+mn-ea"/>
              <a:cs typeface="+mn-cs"/>
            </a:endParaRPr>
          </a:p>
        </p:txBody>
      </p:sp>
      <p:sp>
        <p:nvSpPr>
          <p:cNvPr id="76" name="Shape 73"/>
          <p:cNvSpPr/>
          <p:nvPr/>
        </p:nvSpPr>
        <p:spPr>
          <a:xfrm>
            <a:off x="7042107" y="1663678"/>
            <a:ext cx="1257212" cy="1143000"/>
          </a:xfrm>
          <a:prstGeom prst="rect">
            <a:avLst/>
          </a:prstGeom>
          <a:solidFill>
            <a:srgbClr val="28D2C3"/>
          </a:solidFill>
          <a:ln w="21167">
            <a:solidFill>
              <a:srgbClr val="06201D"/>
            </a:solidFill>
            <a:prstDash val="solid"/>
          </a:ln>
        </p:spPr>
        <p:txBody>
          <a:bodyPr/>
          <a:lstStyle/>
          <a:p>
            <a:endParaRPr lang="es-CL"/>
          </a:p>
        </p:txBody>
      </p:sp>
      <p:sp>
        <p:nvSpPr>
          <p:cNvPr id="77" name="Text 74"/>
          <p:cNvSpPr/>
          <p:nvPr/>
        </p:nvSpPr>
        <p:spPr>
          <a:xfrm>
            <a:off x="7377642" y="1745258"/>
            <a:ext cx="586140"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1 Top 10</a:t>
            </a:r>
            <a:endParaRPr lang="en-US" sz="1100" kern="1200" dirty="0">
              <a:solidFill>
                <a:prstClr val="black"/>
              </a:solidFill>
              <a:latin typeface="Calibri" panose="020F0502020204030204"/>
              <a:ea typeface="+mn-ea"/>
              <a:cs typeface="+mn-cs"/>
            </a:endParaRPr>
          </a:p>
        </p:txBody>
      </p:sp>
      <p:sp>
        <p:nvSpPr>
          <p:cNvPr id="78" name="Text 75"/>
          <p:cNvSpPr/>
          <p:nvPr/>
        </p:nvSpPr>
        <p:spPr>
          <a:xfrm>
            <a:off x="7489870" y="2118431"/>
            <a:ext cx="361575"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14</a:t>
            </a:r>
            <a:endParaRPr lang="en-US" sz="2200" kern="1200" dirty="0">
              <a:solidFill>
                <a:prstClr val="black"/>
              </a:solidFill>
              <a:latin typeface="Calibri" panose="020F0502020204030204"/>
              <a:ea typeface="+mn-ea"/>
              <a:cs typeface="+mn-cs"/>
            </a:endParaRPr>
          </a:p>
        </p:txBody>
      </p:sp>
      <p:sp>
        <p:nvSpPr>
          <p:cNvPr id="79" name="Text 76"/>
          <p:cNvSpPr/>
          <p:nvPr/>
        </p:nvSpPr>
        <p:spPr>
          <a:xfrm>
            <a:off x="736022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MM$147,0</a:t>
            </a:r>
            <a:endParaRPr lang="en-US" sz="950" kern="1200" dirty="0">
              <a:solidFill>
                <a:prstClr val="black"/>
              </a:solidFill>
              <a:latin typeface="Calibri" panose="020F0502020204030204"/>
              <a:ea typeface="+mn-ea"/>
              <a:cs typeface="+mn-cs"/>
            </a:endParaRPr>
          </a:p>
        </p:txBody>
      </p:sp>
      <p:sp>
        <p:nvSpPr>
          <p:cNvPr id="80" name="Shape 77"/>
          <p:cNvSpPr/>
          <p:nvPr/>
        </p:nvSpPr>
        <p:spPr>
          <a:xfrm>
            <a:off x="8458178" y="1663678"/>
            <a:ext cx="1257212" cy="1143000"/>
          </a:xfrm>
          <a:prstGeom prst="rect">
            <a:avLst/>
          </a:prstGeom>
          <a:solidFill>
            <a:srgbClr val="373C46"/>
          </a:solidFill>
          <a:ln w="21167">
            <a:solidFill>
              <a:srgbClr val="06201D"/>
            </a:solidFill>
            <a:prstDash val="solid"/>
          </a:ln>
        </p:spPr>
        <p:txBody>
          <a:bodyPr/>
          <a:lstStyle/>
          <a:p>
            <a:endParaRPr lang="es-CL"/>
          </a:p>
        </p:txBody>
      </p:sp>
      <p:sp>
        <p:nvSpPr>
          <p:cNvPr id="81" name="Text 78"/>
          <p:cNvSpPr/>
          <p:nvPr/>
        </p:nvSpPr>
        <p:spPr>
          <a:xfrm>
            <a:off x="8721285" y="1661474"/>
            <a:ext cx="730999" cy="52810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2 Top 15</a:t>
            </a:r>
          </a:p>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 Grandes </a:t>
            </a:r>
            <a:r>
              <a:rPr lang="en-US" sz="1100" b="1" kern="1200" dirty="0" err="1">
                <a:solidFill>
                  <a:srgbClr val="FFFFFF"/>
                </a:solidFill>
                <a:latin typeface="Arial" pitchFamily="34" charset="0"/>
                <a:ea typeface="Arial" pitchFamily="34" charset="-122"/>
                <a:cs typeface="Arial" pitchFamily="34" charset="-120"/>
              </a:rPr>
              <a:t>en</a:t>
            </a:r>
            <a:r>
              <a:rPr lang="en-US" sz="1100" b="1" kern="1200" dirty="0">
                <a:solidFill>
                  <a:srgbClr val="FFFFFF"/>
                </a:solidFill>
                <a:latin typeface="Arial" pitchFamily="34" charset="0"/>
                <a:ea typeface="Arial" pitchFamily="34" charset="-122"/>
                <a:cs typeface="Arial" pitchFamily="34" charset="-120"/>
              </a:rPr>
              <a:t> Infra</a:t>
            </a:r>
            <a:endParaRPr lang="en-US" sz="1100" kern="1200" dirty="0">
              <a:solidFill>
                <a:prstClr val="black"/>
              </a:solidFill>
              <a:latin typeface="Calibri" panose="020F0502020204030204"/>
              <a:ea typeface="+mn-ea"/>
              <a:cs typeface="+mn-cs"/>
            </a:endParaRPr>
          </a:p>
        </p:txBody>
      </p:sp>
      <p:sp>
        <p:nvSpPr>
          <p:cNvPr id="82" name="Text 79"/>
          <p:cNvSpPr/>
          <p:nvPr/>
        </p:nvSpPr>
        <p:spPr>
          <a:xfrm>
            <a:off x="8905942" y="2202215"/>
            <a:ext cx="361575"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23</a:t>
            </a:r>
            <a:endParaRPr lang="en-US" sz="2200" kern="1200" dirty="0">
              <a:solidFill>
                <a:prstClr val="black"/>
              </a:solidFill>
              <a:latin typeface="Calibri" panose="020F0502020204030204"/>
              <a:ea typeface="+mn-ea"/>
              <a:cs typeface="+mn-cs"/>
            </a:endParaRPr>
          </a:p>
        </p:txBody>
      </p:sp>
      <p:sp>
        <p:nvSpPr>
          <p:cNvPr id="83" name="Text 80"/>
          <p:cNvSpPr/>
          <p:nvPr/>
        </p:nvSpPr>
        <p:spPr>
          <a:xfrm>
            <a:off x="8809920" y="2519606"/>
            <a:ext cx="553729"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MM$50,1</a:t>
            </a:r>
            <a:endParaRPr lang="en-US" sz="950" kern="1200" dirty="0">
              <a:solidFill>
                <a:prstClr val="black"/>
              </a:solidFill>
              <a:latin typeface="Calibri" panose="020F0502020204030204"/>
              <a:ea typeface="+mn-ea"/>
              <a:cs typeface="+mn-cs"/>
            </a:endParaRPr>
          </a:p>
        </p:txBody>
      </p:sp>
      <p:sp>
        <p:nvSpPr>
          <p:cNvPr id="84" name="Shape 81"/>
          <p:cNvSpPr/>
          <p:nvPr/>
        </p:nvSpPr>
        <p:spPr>
          <a:xfrm>
            <a:off x="9874251" y="1663678"/>
            <a:ext cx="1987462" cy="1143000"/>
          </a:xfrm>
          <a:prstGeom prst="rect">
            <a:avLst/>
          </a:prstGeom>
          <a:solidFill>
            <a:srgbClr val="282DF0"/>
          </a:solidFill>
          <a:ln w="21167">
            <a:solidFill>
              <a:srgbClr val="06201D"/>
            </a:solidFill>
            <a:prstDash val="solid"/>
          </a:ln>
        </p:spPr>
        <p:txBody>
          <a:bodyPr/>
          <a:lstStyle/>
          <a:p>
            <a:endParaRPr lang="es-CL"/>
          </a:p>
        </p:txBody>
      </p:sp>
      <p:sp>
        <p:nvSpPr>
          <p:cNvPr id="85" name="Text 82"/>
          <p:cNvSpPr/>
          <p:nvPr/>
        </p:nvSpPr>
        <p:spPr>
          <a:xfrm>
            <a:off x="10547681" y="1745258"/>
            <a:ext cx="640601"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Grupo 3 Restante</a:t>
            </a:r>
            <a:endParaRPr lang="en-US" sz="1100" kern="1200" dirty="0">
              <a:solidFill>
                <a:prstClr val="black"/>
              </a:solidFill>
              <a:latin typeface="Calibri" panose="020F0502020204030204"/>
              <a:ea typeface="+mn-ea"/>
              <a:cs typeface="+mn-cs"/>
            </a:endParaRPr>
          </a:p>
        </p:txBody>
      </p:sp>
      <p:sp>
        <p:nvSpPr>
          <p:cNvPr id="86" name="Text 83"/>
          <p:cNvSpPr/>
          <p:nvPr/>
        </p:nvSpPr>
        <p:spPr>
          <a:xfrm>
            <a:off x="10609528" y="2118431"/>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146</a:t>
            </a:r>
            <a:endParaRPr lang="en-US" sz="2200" kern="1200" dirty="0">
              <a:solidFill>
                <a:prstClr val="black"/>
              </a:solidFill>
              <a:latin typeface="Calibri" panose="020F0502020204030204"/>
              <a:ea typeface="+mn-ea"/>
              <a:cs typeface="+mn-cs"/>
            </a:endParaRPr>
          </a:p>
        </p:txBody>
      </p:sp>
      <p:sp>
        <p:nvSpPr>
          <p:cNvPr id="87" name="Text 84"/>
          <p:cNvSpPr/>
          <p:nvPr/>
        </p:nvSpPr>
        <p:spPr>
          <a:xfrm>
            <a:off x="10557493" y="2435821"/>
            <a:ext cx="620867" cy="314678"/>
          </a:xfrm>
          <a:prstGeom prst="rect">
            <a:avLst/>
          </a:prstGeom>
          <a:noFill/>
          <a:ln/>
        </p:spPr>
        <p:txBody>
          <a:bodyPr wrap="none" lIns="16933" tIns="16933" rIns="16933" bIns="16933" rtlCol="0" anchor="t">
            <a:normAutofit/>
          </a:bodyPr>
          <a:lstStyle/>
          <a:p>
            <a:pPr algn="ctr" defTabSz="609630">
              <a:lnSpc>
                <a:spcPct val="102600"/>
              </a:lnSpc>
              <a:buClrTx/>
            </a:pPr>
            <a:r>
              <a:rPr lang="en-US" sz="950" kern="1200" dirty="0">
                <a:solidFill>
                  <a:srgbClr val="FFFFFF"/>
                </a:solidFill>
                <a:latin typeface="Arial" pitchFamily="34" charset="0"/>
                <a:ea typeface="Arial" pitchFamily="34" charset="-122"/>
                <a:cs typeface="Arial" pitchFamily="34" charset="-120"/>
              </a:rPr>
              <a:t>visitas MM$282,5</a:t>
            </a:r>
            <a:endParaRPr lang="en-US" sz="950" kern="1200" dirty="0">
              <a:solidFill>
                <a:prstClr val="black"/>
              </a:solidFill>
              <a:latin typeface="Calibri" panose="020F0502020204030204"/>
              <a:ea typeface="+mn-ea"/>
              <a:cs typeface="+mn-cs"/>
            </a:endParaRPr>
          </a:p>
        </p:txBody>
      </p:sp>
      <p:sp>
        <p:nvSpPr>
          <p:cNvPr id="88" name="Shape 85"/>
          <p:cNvSpPr/>
          <p:nvPr/>
        </p:nvSpPr>
        <p:spPr>
          <a:xfrm>
            <a:off x="7042107" y="2908212"/>
            <a:ext cx="4819606" cy="1079500"/>
          </a:xfrm>
          <a:prstGeom prst="rect">
            <a:avLst/>
          </a:prstGeom>
          <a:ln w="21167">
            <a:solidFill>
              <a:srgbClr val="06201D"/>
            </a:solidFill>
            <a:prstDash val="solid"/>
          </a:ln>
        </p:spPr>
        <p:txBody>
          <a:bodyPr/>
          <a:lstStyle/>
          <a:p>
            <a:endParaRPr lang="es-CL"/>
          </a:p>
        </p:txBody>
      </p:sp>
      <p:sp>
        <p:nvSpPr>
          <p:cNvPr id="89" name="Text 86"/>
          <p:cNvSpPr/>
          <p:nvPr/>
        </p:nvSpPr>
        <p:spPr>
          <a:xfrm>
            <a:off x="7208529" y="3105106"/>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b="1" kern="1200" dirty="0">
                <a:solidFill>
                  <a:srgbClr val="33448D"/>
                </a:solidFill>
                <a:latin typeface="Arial" pitchFamily="34" charset="0"/>
                <a:ea typeface="Arial" pitchFamily="34" charset="-122"/>
                <a:cs typeface="Arial" pitchFamily="34" charset="-120"/>
              </a:rPr>
              <a:t>183 visitas </a:t>
            </a:r>
            <a:r>
              <a:rPr lang="en-US" sz="1000" kern="1200" dirty="0">
                <a:solidFill>
                  <a:srgbClr val="373C46"/>
                </a:solidFill>
                <a:latin typeface="Arial" pitchFamily="34" charset="0"/>
                <a:ea typeface="Arial" pitchFamily="34" charset="-122"/>
                <a:cs typeface="Arial" pitchFamily="34" charset="-120"/>
              </a:rPr>
              <a:t>en 61 días hábiles · 14 semanas (1 oct – 29 dic)</a:t>
            </a:r>
            <a:endParaRPr lang="en-US" sz="1000" kern="1200" dirty="0">
              <a:solidFill>
                <a:prstClr val="black"/>
              </a:solidFill>
              <a:latin typeface="Calibri" panose="020F0502020204030204"/>
              <a:ea typeface="+mn-ea"/>
              <a:cs typeface="+mn-cs"/>
            </a:endParaRPr>
          </a:p>
        </p:txBody>
      </p:sp>
      <p:sp>
        <p:nvSpPr>
          <p:cNvPr id="90" name="Text 87"/>
          <p:cNvSpPr/>
          <p:nvPr/>
        </p:nvSpPr>
        <p:spPr>
          <a:xfrm>
            <a:off x="7208529" y="3276534"/>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pPr>
            <a:r>
              <a:rPr lang="en-US" sz="1000" kern="1200" dirty="0">
                <a:solidFill>
                  <a:srgbClr val="373C46"/>
                </a:solidFill>
                <a:latin typeface="Arial" pitchFamily="34" charset="0"/>
                <a:ea typeface="Arial" pitchFamily="34" charset="-122"/>
                <a:cs typeface="Arial" pitchFamily="34" charset="-120"/>
              </a:rPr>
              <a:t>Potencial cubierto: </a:t>
            </a:r>
            <a:r>
              <a:rPr lang="en-US" sz="1000" b="1" kern="1200" dirty="0">
                <a:solidFill>
                  <a:srgbClr val="33448D"/>
                </a:solidFill>
                <a:latin typeface="Arial" pitchFamily="34" charset="0"/>
                <a:ea typeface="Arial" pitchFamily="34" charset="-122"/>
                <a:cs typeface="Arial" pitchFamily="34" charset="-120"/>
              </a:rPr>
              <a:t>MM$479,6</a:t>
            </a:r>
            <a:endParaRPr lang="en-US" sz="1000" kern="1200" dirty="0">
              <a:solidFill>
                <a:prstClr val="black"/>
              </a:solidFill>
              <a:latin typeface="Calibri" panose="020F0502020204030204"/>
              <a:ea typeface="+mn-ea"/>
              <a:cs typeface="+mn-cs"/>
            </a:endParaRPr>
          </a:p>
        </p:txBody>
      </p:sp>
      <p:sp>
        <p:nvSpPr>
          <p:cNvPr id="91" name="Text 88"/>
          <p:cNvSpPr/>
          <p:nvPr/>
        </p:nvSpPr>
        <p:spPr>
          <a:xfrm>
            <a:off x="7208529" y="3447962"/>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Cobertura: RM 119 · Valparaíso 64 visitas</a:t>
            </a:r>
            <a:endParaRPr lang="en-US" sz="1000" kern="1200" dirty="0">
              <a:solidFill>
                <a:prstClr val="black"/>
              </a:solidFill>
              <a:latin typeface="Calibri" panose="020F0502020204030204"/>
              <a:ea typeface="+mn-ea"/>
              <a:cs typeface="+mn-cs"/>
            </a:endParaRPr>
          </a:p>
        </p:txBody>
      </p:sp>
      <p:sp>
        <p:nvSpPr>
          <p:cNvPr id="92" name="Text 89"/>
          <p:cNvSpPr/>
          <p:nvPr/>
        </p:nvSpPr>
        <p:spPr>
          <a:xfrm>
            <a:off x="7208529" y="3619390"/>
            <a:ext cx="4982402" cy="196828"/>
          </a:xfrm>
          <a:prstGeom prst="rect">
            <a:avLst/>
          </a:prstGeom>
          <a:noFill/>
          <a:ln/>
        </p:spPr>
        <p:txBody>
          <a:bodyPr wrap="square" lIns="16933" tIns="16933" rIns="16933" bIns="16933" rtlCol="0" anchor="t">
            <a:normAutofit lnSpcReduction="10000"/>
          </a:bodyPr>
          <a:lstStyle/>
          <a:p>
            <a:pPr marL="88904" indent="-88904" defTabSz="609630">
              <a:lnSpc>
                <a:spcPct val="115714"/>
              </a:lnSpc>
              <a:buClrTx/>
              <a:buSzPct val="100000"/>
              <a:buFontTx/>
              <a:buChar char="•"/>
              <a:tabLst>
                <a:tab pos="88904" algn="l"/>
              </a:tabLst>
            </a:pPr>
            <a:r>
              <a:rPr lang="en-US" sz="1000" kern="1200" dirty="0">
                <a:solidFill>
                  <a:srgbClr val="373C46"/>
                </a:solidFill>
                <a:latin typeface="Arial" pitchFamily="34" charset="0"/>
                <a:ea typeface="Arial" pitchFamily="34" charset="-122"/>
                <a:cs typeface="Arial" pitchFamily="34" charset="-120"/>
              </a:rPr>
              <a:t>3 visitas diarias: 09:30 · 12:00 · 15:30 · 46 direcciones por confirmar</a:t>
            </a:r>
            <a:endParaRPr lang="en-US" sz="1000" kern="1200" dirty="0">
              <a:solidFill>
                <a:prstClr val="black"/>
              </a:solidFill>
              <a:latin typeface="Calibri" panose="020F0502020204030204"/>
              <a:ea typeface="+mn-ea"/>
              <a:cs typeface="+mn-cs"/>
            </a:endParaRPr>
          </a:p>
        </p:txBody>
      </p:sp>
      <p:sp>
        <p:nvSpPr>
          <p:cNvPr id="93" name="Text 90"/>
          <p:cNvSpPr/>
          <p:nvPr/>
        </p:nvSpPr>
        <p:spPr>
          <a:xfrm>
            <a:off x="7042107" y="4140178"/>
            <a:ext cx="1270882" cy="173567"/>
          </a:xfrm>
          <a:prstGeom prst="rect">
            <a:avLst/>
          </a:prstGeom>
          <a:noFill/>
          <a:ln/>
        </p:spPr>
        <p:txBody>
          <a:bodyPr wrap="square" lIns="16933" tIns="16933" rIns="16933" bIns="16933" rtlCol="0" anchor="t">
            <a:normAutofit lnSpcReduction="10000"/>
          </a:bodyPr>
          <a:lstStyle/>
          <a:p>
            <a:pPr defTabSz="609630">
              <a:buClrTx/>
            </a:pPr>
            <a:r>
              <a:rPr lang="en-US" sz="1000" b="1" kern="1200" dirty="0">
                <a:solidFill>
                  <a:srgbClr val="33448D"/>
                </a:solidFill>
                <a:latin typeface="Arial" pitchFamily="34" charset="0"/>
                <a:ea typeface="Arial" pitchFamily="34" charset="-122"/>
                <a:cs typeface="Arial" pitchFamily="34" charset="-120"/>
              </a:rPr>
              <a:t>Visitas por semana</a:t>
            </a:r>
            <a:endParaRPr lang="en-US" sz="1000" kern="1200" dirty="0">
              <a:solidFill>
                <a:prstClr val="black"/>
              </a:solidFill>
              <a:latin typeface="Calibri" panose="020F0502020204030204"/>
              <a:ea typeface="+mn-ea"/>
              <a:cs typeface="+mn-cs"/>
            </a:endParaRPr>
          </a:p>
        </p:txBody>
      </p:sp>
      <p:sp>
        <p:nvSpPr>
          <p:cNvPr id="94" name="Shape 91"/>
          <p:cNvSpPr/>
          <p:nvPr/>
        </p:nvSpPr>
        <p:spPr>
          <a:xfrm>
            <a:off x="7411751" y="4356035"/>
            <a:ext cx="1670403" cy="14111"/>
          </a:xfrm>
          <a:prstGeom prst="rect">
            <a:avLst/>
          </a:prstGeom>
          <a:solidFill>
            <a:srgbClr val="33448D"/>
          </a:solidFill>
          <a:ln/>
        </p:spPr>
        <p:txBody>
          <a:bodyPr/>
          <a:lstStyle/>
          <a:p>
            <a:endParaRPr lang="es-CL"/>
          </a:p>
        </p:txBody>
      </p:sp>
      <p:sp>
        <p:nvSpPr>
          <p:cNvPr id="95" name="Text 92"/>
          <p:cNvSpPr/>
          <p:nvPr/>
        </p:nvSpPr>
        <p:spPr>
          <a:xfrm>
            <a:off x="7328232" y="4389195"/>
            <a:ext cx="1837443" cy="152312"/>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Valparaíso · 64 visitas</a:t>
            </a:r>
            <a:endParaRPr lang="en-US" sz="850" kern="1200" dirty="0">
              <a:solidFill>
                <a:prstClr val="black"/>
              </a:solidFill>
              <a:latin typeface="Calibri" panose="020F0502020204030204"/>
              <a:ea typeface="+mn-ea"/>
              <a:cs typeface="+mn-cs"/>
            </a:endParaRPr>
          </a:p>
        </p:txBody>
      </p:sp>
      <p:sp>
        <p:nvSpPr>
          <p:cNvPr id="96" name="Shape 93"/>
          <p:cNvSpPr/>
          <p:nvPr/>
        </p:nvSpPr>
        <p:spPr>
          <a:xfrm>
            <a:off x="7093589" y="5676856"/>
            <a:ext cx="241212" cy="241212"/>
          </a:xfrm>
          <a:prstGeom prst="rect">
            <a:avLst/>
          </a:prstGeom>
          <a:solidFill>
            <a:srgbClr val="28D2C3"/>
          </a:solidFill>
          <a:ln/>
        </p:spPr>
        <p:txBody>
          <a:bodyPr/>
          <a:lstStyle/>
          <a:p>
            <a:endParaRPr lang="es-CL"/>
          </a:p>
        </p:txBody>
      </p:sp>
      <p:sp>
        <p:nvSpPr>
          <p:cNvPr id="97" name="Shape 94"/>
          <p:cNvSpPr/>
          <p:nvPr/>
        </p:nvSpPr>
        <p:spPr>
          <a:xfrm>
            <a:off x="7093589" y="5435534"/>
            <a:ext cx="241212" cy="241212"/>
          </a:xfrm>
          <a:prstGeom prst="rect">
            <a:avLst/>
          </a:prstGeom>
          <a:solidFill>
            <a:srgbClr val="373C46"/>
          </a:solidFill>
          <a:ln/>
        </p:spPr>
        <p:txBody>
          <a:bodyPr/>
          <a:lstStyle/>
          <a:p>
            <a:endParaRPr lang="es-CL"/>
          </a:p>
        </p:txBody>
      </p:sp>
      <p:sp>
        <p:nvSpPr>
          <p:cNvPr id="98" name="Text 95"/>
          <p:cNvSpPr/>
          <p:nvPr/>
        </p:nvSpPr>
        <p:spPr>
          <a:xfrm>
            <a:off x="7004689"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99" name="Text 96"/>
          <p:cNvSpPr/>
          <p:nvPr/>
        </p:nvSpPr>
        <p:spPr>
          <a:xfrm>
            <a:off x="701670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a:t>
            </a:r>
            <a:endParaRPr lang="en-US" sz="850" kern="1200" dirty="0">
              <a:solidFill>
                <a:prstClr val="black"/>
              </a:solidFill>
              <a:latin typeface="Calibri" panose="020F0502020204030204"/>
              <a:ea typeface="+mn-ea"/>
              <a:cs typeface="+mn-cs"/>
            </a:endParaRPr>
          </a:p>
        </p:txBody>
      </p:sp>
      <p:sp>
        <p:nvSpPr>
          <p:cNvPr id="100" name="Shape 97"/>
          <p:cNvSpPr/>
          <p:nvPr/>
        </p:nvSpPr>
        <p:spPr>
          <a:xfrm>
            <a:off x="7437879" y="5194212"/>
            <a:ext cx="241212" cy="723856"/>
          </a:xfrm>
          <a:prstGeom prst="rect">
            <a:avLst/>
          </a:prstGeom>
          <a:solidFill>
            <a:srgbClr val="28D2C3"/>
          </a:solidFill>
          <a:ln/>
        </p:spPr>
        <p:txBody>
          <a:bodyPr/>
          <a:lstStyle/>
          <a:p>
            <a:endParaRPr lang="es-CL"/>
          </a:p>
        </p:txBody>
      </p:sp>
      <p:sp>
        <p:nvSpPr>
          <p:cNvPr id="101" name="Shape 98"/>
          <p:cNvSpPr/>
          <p:nvPr/>
        </p:nvSpPr>
        <p:spPr>
          <a:xfrm>
            <a:off x="7437879" y="4711678"/>
            <a:ext cx="241212" cy="482534"/>
          </a:xfrm>
          <a:prstGeom prst="rect">
            <a:avLst/>
          </a:prstGeom>
          <a:solidFill>
            <a:srgbClr val="373C46"/>
          </a:solidFill>
          <a:ln/>
        </p:spPr>
        <p:txBody>
          <a:bodyPr/>
          <a:lstStyle/>
          <a:p>
            <a:endParaRPr lang="es-CL"/>
          </a:p>
        </p:txBody>
      </p:sp>
      <p:sp>
        <p:nvSpPr>
          <p:cNvPr id="102" name="Text 99"/>
          <p:cNvSpPr/>
          <p:nvPr/>
        </p:nvSpPr>
        <p:spPr>
          <a:xfrm>
            <a:off x="734897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03" name="Text 100"/>
          <p:cNvSpPr/>
          <p:nvPr/>
        </p:nvSpPr>
        <p:spPr>
          <a:xfrm>
            <a:off x="736099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S2</a:t>
            </a:r>
            <a:endParaRPr lang="en-US" sz="850" kern="1200" dirty="0">
              <a:solidFill>
                <a:prstClr val="black"/>
              </a:solidFill>
              <a:latin typeface="Calibri" panose="020F0502020204030204"/>
              <a:ea typeface="+mn-ea"/>
              <a:cs typeface="+mn-cs"/>
            </a:endParaRPr>
          </a:p>
        </p:txBody>
      </p:sp>
      <p:sp>
        <p:nvSpPr>
          <p:cNvPr id="104" name="Shape 101"/>
          <p:cNvSpPr/>
          <p:nvPr/>
        </p:nvSpPr>
        <p:spPr>
          <a:xfrm>
            <a:off x="7782057" y="5837701"/>
            <a:ext cx="241212" cy="80367"/>
          </a:xfrm>
          <a:prstGeom prst="rect">
            <a:avLst/>
          </a:prstGeom>
          <a:solidFill>
            <a:srgbClr val="28D2C3"/>
          </a:solidFill>
          <a:ln/>
        </p:spPr>
        <p:txBody>
          <a:bodyPr/>
          <a:lstStyle/>
          <a:p>
            <a:endParaRPr lang="es-CL"/>
          </a:p>
        </p:txBody>
      </p:sp>
      <p:sp>
        <p:nvSpPr>
          <p:cNvPr id="105" name="Shape 102"/>
          <p:cNvSpPr/>
          <p:nvPr/>
        </p:nvSpPr>
        <p:spPr>
          <a:xfrm>
            <a:off x="7782057" y="4953001"/>
            <a:ext cx="241212" cy="884701"/>
          </a:xfrm>
          <a:prstGeom prst="rect">
            <a:avLst/>
          </a:prstGeom>
          <a:solidFill>
            <a:srgbClr val="373C46"/>
          </a:solidFill>
          <a:ln/>
        </p:spPr>
        <p:txBody>
          <a:bodyPr/>
          <a:lstStyle/>
          <a:p>
            <a:endParaRPr lang="es-CL"/>
          </a:p>
        </p:txBody>
      </p:sp>
      <p:sp>
        <p:nvSpPr>
          <p:cNvPr id="106" name="Text 103"/>
          <p:cNvSpPr/>
          <p:nvPr/>
        </p:nvSpPr>
        <p:spPr>
          <a:xfrm>
            <a:off x="7693157"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07" name="Text 104"/>
          <p:cNvSpPr/>
          <p:nvPr/>
        </p:nvSpPr>
        <p:spPr>
          <a:xfrm>
            <a:off x="7705174"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S3</a:t>
            </a:r>
            <a:endParaRPr lang="en-US" sz="850" kern="1200" dirty="0">
              <a:solidFill>
                <a:prstClr val="black"/>
              </a:solidFill>
              <a:latin typeface="Calibri" panose="020F0502020204030204"/>
              <a:ea typeface="+mn-ea"/>
              <a:cs typeface="+mn-cs"/>
            </a:endParaRPr>
          </a:p>
        </p:txBody>
      </p:sp>
      <p:sp>
        <p:nvSpPr>
          <p:cNvPr id="108" name="Shape 105"/>
          <p:cNvSpPr/>
          <p:nvPr/>
        </p:nvSpPr>
        <p:spPr>
          <a:xfrm>
            <a:off x="8126347" y="5837701"/>
            <a:ext cx="241212" cy="80367"/>
          </a:xfrm>
          <a:prstGeom prst="rect">
            <a:avLst/>
          </a:prstGeom>
          <a:solidFill>
            <a:srgbClr val="28D2C3"/>
          </a:solidFill>
          <a:ln/>
        </p:spPr>
        <p:txBody>
          <a:bodyPr/>
          <a:lstStyle/>
          <a:p>
            <a:endParaRPr lang="es-CL"/>
          </a:p>
        </p:txBody>
      </p:sp>
      <p:sp>
        <p:nvSpPr>
          <p:cNvPr id="109" name="Shape 106"/>
          <p:cNvSpPr/>
          <p:nvPr/>
        </p:nvSpPr>
        <p:spPr>
          <a:xfrm>
            <a:off x="8126347" y="5596379"/>
            <a:ext cx="241212" cy="241212"/>
          </a:xfrm>
          <a:prstGeom prst="rect">
            <a:avLst/>
          </a:prstGeom>
          <a:solidFill>
            <a:srgbClr val="373C46"/>
          </a:solidFill>
          <a:ln/>
        </p:spPr>
        <p:txBody>
          <a:bodyPr/>
          <a:lstStyle/>
          <a:p>
            <a:endParaRPr lang="es-CL"/>
          </a:p>
        </p:txBody>
      </p:sp>
      <p:sp>
        <p:nvSpPr>
          <p:cNvPr id="110" name="Shape 107"/>
          <p:cNvSpPr/>
          <p:nvPr/>
        </p:nvSpPr>
        <p:spPr>
          <a:xfrm>
            <a:off x="8126347" y="4711678"/>
            <a:ext cx="241212" cy="884701"/>
          </a:xfrm>
          <a:prstGeom prst="rect">
            <a:avLst/>
          </a:prstGeom>
          <a:solidFill>
            <a:srgbClr val="282DF0"/>
          </a:solidFill>
          <a:ln/>
        </p:spPr>
        <p:txBody>
          <a:bodyPr/>
          <a:lstStyle/>
          <a:p>
            <a:endParaRPr lang="es-CL"/>
          </a:p>
        </p:txBody>
      </p:sp>
      <p:sp>
        <p:nvSpPr>
          <p:cNvPr id="111" name="Text 108"/>
          <p:cNvSpPr/>
          <p:nvPr/>
        </p:nvSpPr>
        <p:spPr>
          <a:xfrm>
            <a:off x="8037447"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2" name="Text 109"/>
          <p:cNvSpPr/>
          <p:nvPr/>
        </p:nvSpPr>
        <p:spPr>
          <a:xfrm>
            <a:off x="804946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S4</a:t>
            </a:r>
            <a:endParaRPr lang="en-US" sz="850" kern="1200" dirty="0">
              <a:solidFill>
                <a:prstClr val="black"/>
              </a:solidFill>
              <a:latin typeface="Calibri" panose="020F0502020204030204"/>
              <a:ea typeface="+mn-ea"/>
              <a:cs typeface="+mn-cs"/>
            </a:endParaRPr>
          </a:p>
        </p:txBody>
      </p:sp>
      <p:sp>
        <p:nvSpPr>
          <p:cNvPr id="113" name="Shape 110"/>
          <p:cNvSpPr/>
          <p:nvPr/>
        </p:nvSpPr>
        <p:spPr>
          <a:xfrm>
            <a:off x="8470636" y="4711678"/>
            <a:ext cx="241212" cy="1206500"/>
          </a:xfrm>
          <a:prstGeom prst="rect">
            <a:avLst/>
          </a:prstGeom>
          <a:solidFill>
            <a:srgbClr val="282DF0"/>
          </a:solidFill>
          <a:ln/>
        </p:spPr>
        <p:txBody>
          <a:bodyPr/>
          <a:lstStyle/>
          <a:p>
            <a:endParaRPr lang="es-CL"/>
          </a:p>
        </p:txBody>
      </p:sp>
      <p:sp>
        <p:nvSpPr>
          <p:cNvPr id="114" name="Text 111"/>
          <p:cNvSpPr/>
          <p:nvPr/>
        </p:nvSpPr>
        <p:spPr>
          <a:xfrm>
            <a:off x="8381736"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5" name="Text 112"/>
          <p:cNvSpPr/>
          <p:nvPr/>
        </p:nvSpPr>
        <p:spPr>
          <a:xfrm>
            <a:off x="8393752"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S5</a:t>
            </a:r>
            <a:endParaRPr lang="en-US" sz="850" kern="1200" dirty="0">
              <a:solidFill>
                <a:prstClr val="black"/>
              </a:solidFill>
              <a:latin typeface="Calibri" panose="020F0502020204030204"/>
              <a:ea typeface="+mn-ea"/>
              <a:cs typeface="+mn-cs"/>
            </a:endParaRPr>
          </a:p>
        </p:txBody>
      </p:sp>
      <p:sp>
        <p:nvSpPr>
          <p:cNvPr id="116" name="Shape 113"/>
          <p:cNvSpPr/>
          <p:nvPr/>
        </p:nvSpPr>
        <p:spPr>
          <a:xfrm>
            <a:off x="8814925" y="4711678"/>
            <a:ext cx="241212" cy="1206500"/>
          </a:xfrm>
          <a:prstGeom prst="rect">
            <a:avLst/>
          </a:prstGeom>
          <a:solidFill>
            <a:srgbClr val="282DF0"/>
          </a:solidFill>
          <a:ln/>
        </p:spPr>
        <p:txBody>
          <a:bodyPr/>
          <a:lstStyle/>
          <a:p>
            <a:endParaRPr lang="es-CL"/>
          </a:p>
        </p:txBody>
      </p:sp>
      <p:sp>
        <p:nvSpPr>
          <p:cNvPr id="117" name="Text 114"/>
          <p:cNvSpPr/>
          <p:nvPr/>
        </p:nvSpPr>
        <p:spPr>
          <a:xfrm>
            <a:off x="8726025"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18" name="Text 115"/>
          <p:cNvSpPr/>
          <p:nvPr/>
        </p:nvSpPr>
        <p:spPr>
          <a:xfrm>
            <a:off x="8738041"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S6</a:t>
            </a:r>
            <a:endParaRPr lang="en-US" sz="850" kern="1200" dirty="0">
              <a:solidFill>
                <a:prstClr val="black"/>
              </a:solidFill>
              <a:latin typeface="Calibri" panose="020F0502020204030204"/>
              <a:ea typeface="+mn-ea"/>
              <a:cs typeface="+mn-cs"/>
            </a:endParaRPr>
          </a:p>
        </p:txBody>
      </p:sp>
      <p:sp>
        <p:nvSpPr>
          <p:cNvPr id="119" name="Shape 116"/>
          <p:cNvSpPr/>
          <p:nvPr/>
        </p:nvSpPr>
        <p:spPr>
          <a:xfrm>
            <a:off x="9159104" y="4711678"/>
            <a:ext cx="241212" cy="1206500"/>
          </a:xfrm>
          <a:prstGeom prst="rect">
            <a:avLst/>
          </a:prstGeom>
          <a:solidFill>
            <a:srgbClr val="282DF0"/>
          </a:solidFill>
          <a:ln/>
        </p:spPr>
        <p:txBody>
          <a:bodyPr/>
          <a:lstStyle/>
          <a:p>
            <a:endParaRPr lang="es-CL"/>
          </a:p>
        </p:txBody>
      </p:sp>
      <p:sp>
        <p:nvSpPr>
          <p:cNvPr id="120" name="Text 117"/>
          <p:cNvSpPr/>
          <p:nvPr/>
        </p:nvSpPr>
        <p:spPr>
          <a:xfrm>
            <a:off x="9070204"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1" name="Text 118"/>
          <p:cNvSpPr/>
          <p:nvPr/>
        </p:nvSpPr>
        <p:spPr>
          <a:xfrm>
            <a:off x="9082220"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S7</a:t>
            </a:r>
            <a:endParaRPr lang="en-US" sz="850" kern="1200" dirty="0">
              <a:solidFill>
                <a:prstClr val="black"/>
              </a:solidFill>
              <a:latin typeface="Calibri" panose="020F0502020204030204"/>
              <a:ea typeface="+mn-ea"/>
              <a:cs typeface="+mn-cs"/>
            </a:endParaRPr>
          </a:p>
        </p:txBody>
      </p:sp>
      <p:sp>
        <p:nvSpPr>
          <p:cNvPr id="122" name="Shape 119"/>
          <p:cNvSpPr/>
          <p:nvPr/>
        </p:nvSpPr>
        <p:spPr>
          <a:xfrm>
            <a:off x="9503393" y="4711678"/>
            <a:ext cx="241212" cy="1206500"/>
          </a:xfrm>
          <a:prstGeom prst="rect">
            <a:avLst/>
          </a:prstGeom>
          <a:solidFill>
            <a:srgbClr val="282DF0"/>
          </a:solidFill>
          <a:ln/>
        </p:spPr>
        <p:txBody>
          <a:bodyPr/>
          <a:lstStyle/>
          <a:p>
            <a:endParaRPr lang="es-CL"/>
          </a:p>
        </p:txBody>
      </p:sp>
      <p:sp>
        <p:nvSpPr>
          <p:cNvPr id="123" name="Text 120"/>
          <p:cNvSpPr/>
          <p:nvPr/>
        </p:nvSpPr>
        <p:spPr>
          <a:xfrm>
            <a:off x="9414493"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4" name="Text 121"/>
          <p:cNvSpPr/>
          <p:nvPr/>
        </p:nvSpPr>
        <p:spPr>
          <a:xfrm>
            <a:off x="9426509"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S8</a:t>
            </a:r>
            <a:endParaRPr lang="en-US" sz="850" kern="1200" dirty="0">
              <a:solidFill>
                <a:prstClr val="black"/>
              </a:solidFill>
              <a:latin typeface="Calibri" panose="020F0502020204030204"/>
              <a:ea typeface="+mn-ea"/>
              <a:cs typeface="+mn-cs"/>
            </a:endParaRPr>
          </a:p>
        </p:txBody>
      </p:sp>
      <p:sp>
        <p:nvSpPr>
          <p:cNvPr id="125" name="Shape 122"/>
          <p:cNvSpPr/>
          <p:nvPr/>
        </p:nvSpPr>
        <p:spPr>
          <a:xfrm>
            <a:off x="9847682" y="4711678"/>
            <a:ext cx="241212" cy="1206500"/>
          </a:xfrm>
          <a:prstGeom prst="rect">
            <a:avLst/>
          </a:prstGeom>
          <a:solidFill>
            <a:srgbClr val="282DF0"/>
          </a:solidFill>
          <a:ln/>
        </p:spPr>
        <p:txBody>
          <a:bodyPr/>
          <a:lstStyle/>
          <a:p>
            <a:endParaRPr lang="es-CL"/>
          </a:p>
        </p:txBody>
      </p:sp>
      <p:sp>
        <p:nvSpPr>
          <p:cNvPr id="126" name="Text 123"/>
          <p:cNvSpPr/>
          <p:nvPr/>
        </p:nvSpPr>
        <p:spPr>
          <a:xfrm>
            <a:off x="9758782"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27" name="Text 124"/>
          <p:cNvSpPr/>
          <p:nvPr/>
        </p:nvSpPr>
        <p:spPr>
          <a:xfrm>
            <a:off x="9770798"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S9</a:t>
            </a:r>
            <a:endParaRPr lang="en-US" sz="850" kern="1200" dirty="0">
              <a:solidFill>
                <a:prstClr val="black"/>
              </a:solidFill>
              <a:latin typeface="Calibri" panose="020F0502020204030204"/>
              <a:ea typeface="+mn-ea"/>
              <a:cs typeface="+mn-cs"/>
            </a:endParaRPr>
          </a:p>
        </p:txBody>
      </p:sp>
      <p:sp>
        <p:nvSpPr>
          <p:cNvPr id="128" name="Shape 125"/>
          <p:cNvSpPr/>
          <p:nvPr/>
        </p:nvSpPr>
        <p:spPr>
          <a:xfrm>
            <a:off x="10191971" y="4711678"/>
            <a:ext cx="241212" cy="1206500"/>
          </a:xfrm>
          <a:prstGeom prst="rect">
            <a:avLst/>
          </a:prstGeom>
          <a:solidFill>
            <a:srgbClr val="282DF0"/>
          </a:solidFill>
          <a:ln/>
        </p:spPr>
        <p:txBody>
          <a:bodyPr/>
          <a:lstStyle/>
          <a:p>
            <a:endParaRPr lang="es-CL"/>
          </a:p>
        </p:txBody>
      </p:sp>
      <p:sp>
        <p:nvSpPr>
          <p:cNvPr id="129" name="Text 126"/>
          <p:cNvSpPr/>
          <p:nvPr/>
        </p:nvSpPr>
        <p:spPr>
          <a:xfrm>
            <a:off x="10103071"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30" name="Text 127"/>
          <p:cNvSpPr/>
          <p:nvPr/>
        </p:nvSpPr>
        <p:spPr>
          <a:xfrm>
            <a:off x="10115087"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S10</a:t>
            </a:r>
            <a:endParaRPr lang="en-US" sz="850" kern="1200" dirty="0">
              <a:solidFill>
                <a:prstClr val="black"/>
              </a:solidFill>
              <a:latin typeface="Calibri" panose="020F0502020204030204"/>
              <a:ea typeface="+mn-ea"/>
              <a:cs typeface="+mn-cs"/>
            </a:endParaRPr>
          </a:p>
        </p:txBody>
      </p:sp>
      <p:sp>
        <p:nvSpPr>
          <p:cNvPr id="131" name="Shape 128"/>
          <p:cNvSpPr/>
          <p:nvPr/>
        </p:nvSpPr>
        <p:spPr>
          <a:xfrm>
            <a:off x="10536150" y="4953001"/>
            <a:ext cx="241212" cy="965178"/>
          </a:xfrm>
          <a:prstGeom prst="rect">
            <a:avLst/>
          </a:prstGeom>
          <a:solidFill>
            <a:srgbClr val="282DF0"/>
          </a:solidFill>
          <a:ln/>
        </p:spPr>
        <p:txBody>
          <a:bodyPr/>
          <a:lstStyle/>
          <a:p>
            <a:endParaRPr lang="es-CL"/>
          </a:p>
        </p:txBody>
      </p:sp>
      <p:sp>
        <p:nvSpPr>
          <p:cNvPr id="132" name="Text 129"/>
          <p:cNvSpPr/>
          <p:nvPr/>
        </p:nvSpPr>
        <p:spPr>
          <a:xfrm>
            <a:off x="10447250"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33" name="Text 130"/>
          <p:cNvSpPr/>
          <p:nvPr/>
        </p:nvSpPr>
        <p:spPr>
          <a:xfrm>
            <a:off x="10459266"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S11</a:t>
            </a:r>
            <a:endParaRPr lang="en-US" sz="850" kern="1200" dirty="0">
              <a:solidFill>
                <a:prstClr val="black"/>
              </a:solidFill>
              <a:latin typeface="Calibri" panose="020F0502020204030204"/>
              <a:ea typeface="+mn-ea"/>
              <a:cs typeface="+mn-cs"/>
            </a:endParaRPr>
          </a:p>
        </p:txBody>
      </p:sp>
      <p:sp>
        <p:nvSpPr>
          <p:cNvPr id="134" name="Shape 131"/>
          <p:cNvSpPr/>
          <p:nvPr/>
        </p:nvSpPr>
        <p:spPr>
          <a:xfrm>
            <a:off x="10880439" y="4711678"/>
            <a:ext cx="241212" cy="1206500"/>
          </a:xfrm>
          <a:prstGeom prst="rect">
            <a:avLst/>
          </a:prstGeom>
          <a:solidFill>
            <a:srgbClr val="282DF0"/>
          </a:solidFill>
          <a:ln/>
        </p:spPr>
        <p:txBody>
          <a:bodyPr/>
          <a:lstStyle/>
          <a:p>
            <a:endParaRPr lang="es-CL"/>
          </a:p>
        </p:txBody>
      </p:sp>
      <p:sp>
        <p:nvSpPr>
          <p:cNvPr id="135" name="Text 132"/>
          <p:cNvSpPr/>
          <p:nvPr/>
        </p:nvSpPr>
        <p:spPr>
          <a:xfrm>
            <a:off x="10791539" y="4546535"/>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15</a:t>
            </a:r>
            <a:endParaRPr lang="en-US" sz="900" kern="1200" dirty="0">
              <a:solidFill>
                <a:prstClr val="black"/>
              </a:solidFill>
              <a:latin typeface="Calibri" panose="020F0502020204030204"/>
              <a:ea typeface="+mn-ea"/>
              <a:cs typeface="+mn-cs"/>
            </a:endParaRPr>
          </a:p>
        </p:txBody>
      </p:sp>
      <p:sp>
        <p:nvSpPr>
          <p:cNvPr id="136" name="Text 133"/>
          <p:cNvSpPr/>
          <p:nvPr/>
        </p:nvSpPr>
        <p:spPr>
          <a:xfrm>
            <a:off x="1080355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S12</a:t>
            </a:r>
            <a:endParaRPr lang="en-US" sz="850" kern="1200" dirty="0">
              <a:solidFill>
                <a:prstClr val="black"/>
              </a:solidFill>
              <a:latin typeface="Calibri" panose="020F0502020204030204"/>
              <a:ea typeface="+mn-ea"/>
              <a:cs typeface="+mn-cs"/>
            </a:endParaRPr>
          </a:p>
        </p:txBody>
      </p:sp>
      <p:sp>
        <p:nvSpPr>
          <p:cNvPr id="137" name="Shape 134"/>
          <p:cNvSpPr/>
          <p:nvPr/>
        </p:nvSpPr>
        <p:spPr>
          <a:xfrm>
            <a:off x="11224728" y="4953001"/>
            <a:ext cx="241212" cy="965178"/>
          </a:xfrm>
          <a:prstGeom prst="rect">
            <a:avLst/>
          </a:prstGeom>
          <a:solidFill>
            <a:srgbClr val="282DF0"/>
          </a:solidFill>
          <a:ln/>
        </p:spPr>
        <p:txBody>
          <a:bodyPr/>
          <a:lstStyle/>
          <a:p>
            <a:endParaRPr lang="es-CL"/>
          </a:p>
        </p:txBody>
      </p:sp>
      <p:sp>
        <p:nvSpPr>
          <p:cNvPr id="138" name="Text 135"/>
          <p:cNvSpPr/>
          <p:nvPr/>
        </p:nvSpPr>
        <p:spPr>
          <a:xfrm>
            <a:off x="11135828" y="4787857"/>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12</a:t>
            </a:r>
            <a:endParaRPr lang="en-US" sz="900" kern="1200" dirty="0">
              <a:solidFill>
                <a:prstClr val="black"/>
              </a:solidFill>
              <a:latin typeface="Calibri" panose="020F0502020204030204"/>
              <a:ea typeface="+mn-ea"/>
              <a:cs typeface="+mn-cs"/>
            </a:endParaRPr>
          </a:p>
        </p:txBody>
      </p:sp>
      <p:sp>
        <p:nvSpPr>
          <p:cNvPr id="139" name="Text 136"/>
          <p:cNvSpPr/>
          <p:nvPr/>
        </p:nvSpPr>
        <p:spPr>
          <a:xfrm>
            <a:off x="11147845"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S13</a:t>
            </a:r>
            <a:endParaRPr lang="en-US" sz="850" kern="1200" dirty="0">
              <a:solidFill>
                <a:prstClr val="black"/>
              </a:solidFill>
              <a:latin typeface="Calibri" panose="020F0502020204030204"/>
              <a:ea typeface="+mn-ea"/>
              <a:cs typeface="+mn-cs"/>
            </a:endParaRPr>
          </a:p>
        </p:txBody>
      </p:sp>
      <p:sp>
        <p:nvSpPr>
          <p:cNvPr id="140" name="Shape 137"/>
          <p:cNvSpPr/>
          <p:nvPr/>
        </p:nvSpPr>
        <p:spPr>
          <a:xfrm>
            <a:off x="11569017" y="5435534"/>
            <a:ext cx="241212" cy="482534"/>
          </a:xfrm>
          <a:prstGeom prst="rect">
            <a:avLst/>
          </a:prstGeom>
          <a:solidFill>
            <a:srgbClr val="282DF0"/>
          </a:solidFill>
          <a:ln/>
        </p:spPr>
        <p:txBody>
          <a:bodyPr/>
          <a:lstStyle/>
          <a:p>
            <a:endParaRPr lang="es-CL"/>
          </a:p>
        </p:txBody>
      </p:sp>
      <p:sp>
        <p:nvSpPr>
          <p:cNvPr id="141" name="Text 138"/>
          <p:cNvSpPr/>
          <p:nvPr/>
        </p:nvSpPr>
        <p:spPr>
          <a:xfrm>
            <a:off x="11480117" y="5270501"/>
            <a:ext cx="419012" cy="159455"/>
          </a:xfrm>
          <a:prstGeom prst="rect">
            <a:avLst/>
          </a:prstGeom>
          <a:noFill/>
          <a:ln/>
        </p:spPr>
        <p:txBody>
          <a:bodyPr wrap="square" lIns="16933" tIns="16933" rIns="16933" bIns="16933" rtlCol="0" anchor="t">
            <a:normAutofit lnSpcReduction="10000"/>
          </a:bodyPr>
          <a:lstStyle/>
          <a:p>
            <a:pPr algn="ctr" defTabSz="609630">
              <a:buClrTx/>
            </a:pPr>
            <a:r>
              <a:rPr lang="en-US" sz="900" b="1" kern="1200" dirty="0">
                <a:solidFill>
                  <a:srgbClr val="373C46"/>
                </a:solidFill>
                <a:latin typeface="Arial" pitchFamily="34" charset="0"/>
                <a:ea typeface="Arial" pitchFamily="34" charset="-122"/>
                <a:cs typeface="Arial" pitchFamily="34" charset="-120"/>
              </a:rPr>
              <a:t>6</a:t>
            </a:r>
            <a:endParaRPr lang="en-US" sz="900" kern="1200" dirty="0">
              <a:solidFill>
                <a:prstClr val="black"/>
              </a:solidFill>
              <a:latin typeface="Calibri" panose="020F0502020204030204"/>
              <a:ea typeface="+mn-ea"/>
              <a:cs typeface="+mn-cs"/>
            </a:endParaRPr>
          </a:p>
        </p:txBody>
      </p:sp>
      <p:sp>
        <p:nvSpPr>
          <p:cNvPr id="142" name="Text 139"/>
          <p:cNvSpPr/>
          <p:nvPr/>
        </p:nvSpPr>
        <p:spPr>
          <a:xfrm>
            <a:off x="11492133" y="5969001"/>
            <a:ext cx="394979" cy="152400"/>
          </a:xfrm>
          <a:prstGeom prst="rect">
            <a:avLst/>
          </a:prstGeom>
          <a:noFill/>
          <a:ln/>
        </p:spPr>
        <p:txBody>
          <a:bodyPr wrap="square" lIns="16933" tIns="16933" rIns="16933" bIns="16933" rtlCol="0" anchor="t">
            <a:normAutofit lnSpcReduction="10000"/>
          </a:bodyPr>
          <a:lstStyle/>
          <a:p>
            <a:pPr algn="ctr" defTabSz="609630">
              <a:buClrTx/>
            </a:pPr>
            <a:r>
              <a:rPr lang="en-US" sz="850" b="1" kern="1200" dirty="0">
                <a:solidFill>
                  <a:srgbClr val="33448D"/>
                </a:solidFill>
                <a:latin typeface="Arial" pitchFamily="34" charset="0"/>
                <a:ea typeface="Arial" pitchFamily="34" charset="-122"/>
                <a:cs typeface="Arial" pitchFamily="34" charset="-120"/>
              </a:rPr>
              <a:t>S14</a:t>
            </a:r>
            <a:endParaRPr lang="en-US" sz="850" kern="1200" dirty="0">
              <a:solidFill>
                <a:prstClr val="black"/>
              </a:solidFill>
              <a:latin typeface="Calibri" panose="020F0502020204030204"/>
              <a:ea typeface="+mn-ea"/>
              <a:cs typeface="+mn-cs"/>
            </a:endParaRPr>
          </a:p>
        </p:txBody>
      </p:sp>
      <p:sp>
        <p:nvSpPr>
          <p:cNvPr id="143" name="Shape 140"/>
          <p:cNvSpPr/>
          <p:nvPr/>
        </p:nvSpPr>
        <p:spPr>
          <a:xfrm>
            <a:off x="7042107" y="5918178"/>
            <a:ext cx="4819606" cy="12678"/>
          </a:xfrm>
          <a:prstGeom prst="rect">
            <a:avLst/>
          </a:prstGeom>
          <a:solidFill>
            <a:srgbClr val="06201D"/>
          </a:solidFill>
          <a:ln/>
        </p:spPr>
        <p:txBody>
          <a:bodyPr/>
          <a:lstStyle/>
          <a:p>
            <a:endParaRPr lang="es-CL"/>
          </a:p>
        </p:txBody>
      </p:sp>
      <p:sp>
        <p:nvSpPr>
          <p:cNvPr id="144" name="Shape 141"/>
          <p:cNvSpPr/>
          <p:nvPr/>
        </p:nvSpPr>
        <p:spPr>
          <a:xfrm>
            <a:off x="7061179" y="6146713"/>
            <a:ext cx="1683191" cy="7055"/>
          </a:xfrm>
          <a:prstGeom prst="rect">
            <a:avLst/>
          </a:prstGeom>
          <a:solidFill>
            <a:srgbClr val="9AA0AA"/>
          </a:solidFill>
          <a:ln/>
        </p:spPr>
        <p:txBody>
          <a:bodyPr/>
          <a:lstStyle/>
          <a:p>
            <a:endParaRPr lang="es-CL"/>
          </a:p>
        </p:txBody>
      </p:sp>
      <p:sp>
        <p:nvSpPr>
          <p:cNvPr id="145" name="Text 142"/>
          <p:cNvSpPr/>
          <p:nvPr/>
        </p:nvSpPr>
        <p:spPr>
          <a:xfrm>
            <a:off x="6977019"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Octubre</a:t>
            </a:r>
            <a:endParaRPr lang="en-US" sz="800" kern="1200" dirty="0">
              <a:solidFill>
                <a:prstClr val="black"/>
              </a:solidFill>
              <a:latin typeface="Calibri" panose="020F0502020204030204"/>
              <a:ea typeface="+mn-ea"/>
              <a:cs typeface="+mn-cs"/>
            </a:endParaRPr>
          </a:p>
        </p:txBody>
      </p:sp>
      <p:sp>
        <p:nvSpPr>
          <p:cNvPr id="146" name="Shape 143"/>
          <p:cNvSpPr/>
          <p:nvPr/>
        </p:nvSpPr>
        <p:spPr>
          <a:xfrm>
            <a:off x="8782404" y="6146713"/>
            <a:ext cx="1338902" cy="7055"/>
          </a:xfrm>
          <a:prstGeom prst="rect">
            <a:avLst/>
          </a:prstGeom>
          <a:solidFill>
            <a:srgbClr val="9AA0AA"/>
          </a:solidFill>
          <a:ln/>
        </p:spPr>
        <p:txBody>
          <a:bodyPr/>
          <a:lstStyle/>
          <a:p>
            <a:endParaRPr lang="es-CL"/>
          </a:p>
        </p:txBody>
      </p:sp>
      <p:sp>
        <p:nvSpPr>
          <p:cNvPr id="147" name="Text 144"/>
          <p:cNvSpPr/>
          <p:nvPr/>
        </p:nvSpPr>
        <p:spPr>
          <a:xfrm>
            <a:off x="8715459" y="6166467"/>
            <a:ext cx="1472792"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Noviembre</a:t>
            </a:r>
            <a:endParaRPr lang="en-US" sz="800" kern="1200" dirty="0">
              <a:solidFill>
                <a:prstClr val="black"/>
              </a:solidFill>
              <a:latin typeface="Calibri" panose="020F0502020204030204"/>
              <a:ea typeface="+mn-ea"/>
              <a:cs typeface="+mn-cs"/>
            </a:endParaRPr>
          </a:p>
        </p:txBody>
      </p:sp>
      <p:sp>
        <p:nvSpPr>
          <p:cNvPr id="148" name="Shape 145"/>
          <p:cNvSpPr/>
          <p:nvPr/>
        </p:nvSpPr>
        <p:spPr>
          <a:xfrm>
            <a:off x="10159450" y="6146713"/>
            <a:ext cx="1683191" cy="7055"/>
          </a:xfrm>
          <a:prstGeom prst="rect">
            <a:avLst/>
          </a:prstGeom>
          <a:solidFill>
            <a:srgbClr val="9AA0AA"/>
          </a:solidFill>
          <a:ln/>
        </p:spPr>
        <p:txBody>
          <a:bodyPr/>
          <a:lstStyle/>
          <a:p>
            <a:endParaRPr lang="es-CL"/>
          </a:p>
        </p:txBody>
      </p:sp>
      <p:sp>
        <p:nvSpPr>
          <p:cNvPr id="149" name="Text 146"/>
          <p:cNvSpPr/>
          <p:nvPr/>
        </p:nvSpPr>
        <p:spPr>
          <a:xfrm>
            <a:off x="10075290" y="6166467"/>
            <a:ext cx="1851510" cy="138267"/>
          </a:xfrm>
          <a:prstGeom prst="rect">
            <a:avLst/>
          </a:prstGeom>
          <a:noFill/>
          <a:ln/>
        </p:spPr>
        <p:txBody>
          <a:bodyPr wrap="square" lIns="16933" tIns="16933" rIns="16933" bIns="16933" rtlCol="0" anchor="t">
            <a:normAutofit fontScale="92500" lnSpcReduction="10000"/>
          </a:bodyPr>
          <a:lstStyle/>
          <a:p>
            <a:pPr algn="ctr" defTabSz="609630">
              <a:buClrTx/>
            </a:pPr>
            <a:r>
              <a:rPr lang="en-US" sz="800" kern="1200" dirty="0">
                <a:solidFill>
                  <a:srgbClr val="373C46"/>
                </a:solidFill>
                <a:latin typeface="Arial" pitchFamily="34" charset="0"/>
                <a:ea typeface="Arial" pitchFamily="34" charset="-122"/>
                <a:cs typeface="Arial" pitchFamily="34" charset="-120"/>
              </a:rPr>
              <a:t>Diciembre</a:t>
            </a:r>
            <a:endParaRPr lang="en-US" sz="800" kern="1200" dirty="0">
              <a:solidFill>
                <a:prstClr val="black"/>
              </a:solidFill>
              <a:latin typeface="Calibri" panose="020F0502020204030204"/>
              <a:ea typeface="+mn-ea"/>
              <a:cs typeface="+mn-cs"/>
            </a:endParaRPr>
          </a:p>
        </p:txBody>
      </p:sp>
      <p:sp>
        <p:nvSpPr>
          <p:cNvPr id="150" name="Shape 147"/>
          <p:cNvSpPr/>
          <p:nvPr/>
        </p:nvSpPr>
        <p:spPr>
          <a:xfrm>
            <a:off x="6134035" y="1663678"/>
            <a:ext cx="7055" cy="4572001"/>
          </a:xfrm>
          <a:prstGeom prst="rect">
            <a:avLst/>
          </a:prstGeom>
          <a:solidFill>
            <a:srgbClr val="D9DCE3"/>
          </a:solidFill>
          <a:ln/>
        </p:spPr>
        <p:txBody>
          <a:bodyPr/>
          <a:lstStyle/>
          <a:p>
            <a:endParaRPr lang="es-CL"/>
          </a:p>
        </p:txBody>
      </p:sp>
      <p:sp>
        <p:nvSpPr>
          <p:cNvPr id="151" name="Text 148"/>
          <p:cNvSpPr/>
          <p:nvPr/>
        </p:nvSpPr>
        <p:spPr>
          <a:xfrm>
            <a:off x="6559507" y="6426179"/>
            <a:ext cx="5308601" cy="159455"/>
          </a:xfrm>
          <a:prstGeom prst="rect">
            <a:avLst/>
          </a:prstGeom>
          <a:noFill/>
          <a:ln/>
        </p:spPr>
        <p:txBody>
          <a:bodyPr wrap="square" lIns="16933" tIns="16933" rIns="16933" bIns="16933" rtlCol="0" anchor="t">
            <a:normAutofit lnSpcReduction="10000"/>
          </a:bodyPr>
          <a:lstStyle/>
          <a:p>
            <a:pPr algn="r" defTabSz="609630">
              <a:buClrTx/>
            </a:pPr>
            <a:r>
              <a:rPr lang="en-US" sz="900" kern="1200" dirty="0">
                <a:solidFill>
                  <a:srgbClr val="373C46"/>
                </a:solidFill>
                <a:latin typeface="Arial" pitchFamily="34" charset="0"/>
                <a:ea typeface="Arial" pitchFamily="34" charset="-122"/>
                <a:cs typeface="Arial" pitchFamily="34" charset="-120"/>
              </a:rPr>
              <a:t>Fuente: Agenda_ejecutivos_2026-09-25 · Potencial ST anual en MM$</a:t>
            </a:r>
            <a:endParaRPr lang="en-US" sz="900" kern="1200" dirty="0">
              <a:solidFill>
                <a:prstClr val="black"/>
              </a:solidFill>
              <a:latin typeface="Calibri" panose="020F0502020204030204"/>
              <a:ea typeface="+mn-ea"/>
              <a:cs typeface="+mn-cs"/>
            </a:endParaRPr>
          </a:p>
        </p:txBody>
      </p:sp>
      <p:pic>
        <p:nvPicPr>
          <p:cNvPr id="152" name="Image 1" descr="preencoded.png"/>
          <p:cNvPicPr>
            <a:picLocks noChangeAspect="1"/>
          </p:cNvPicPr>
          <p:nvPr/>
        </p:nvPicPr>
        <p:blipFill>
          <a:blip r:embed="rId4"/>
          <a:stretch>
            <a:fillRect/>
          </a:stretch>
        </p:blipFill>
        <p:spPr>
          <a:xfrm>
            <a:off x="330178" y="6400712"/>
            <a:ext cx="1225462" cy="279356"/>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93678" y="184106"/>
            <a:ext cx="11874501" cy="444434"/>
          </a:xfrm>
          <a:prstGeom prst="rect">
            <a:avLst/>
          </a:prstGeom>
          <a:noFill/>
          <a:ln/>
        </p:spPr>
        <p:txBody>
          <a:bodyPr wrap="square" lIns="16933" tIns="16933" rIns="16933" bIns="16933" rtlCol="0" anchor="ctr">
            <a:normAutofit lnSpcReduction="10000"/>
          </a:bodyPr>
          <a:lstStyle/>
          <a:p>
            <a:pPr defTabSz="609630">
              <a:buClrTx/>
            </a:pPr>
            <a:r>
              <a:rPr lang="en-US" sz="2700" b="1" kern="1200" dirty="0">
                <a:solidFill>
                  <a:srgbClr val="33448D"/>
                </a:solidFill>
                <a:latin typeface="Arial" pitchFamily="34" charset="0"/>
                <a:ea typeface="Arial" pitchFamily="34" charset="-122"/>
                <a:cs typeface="Arial" pitchFamily="34" charset="-120"/>
              </a:rPr>
              <a:t>Segmentación de cartera por región</a:t>
            </a:r>
            <a:endParaRPr lang="en-US" sz="27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1417213" y="127000"/>
            <a:ext cx="469856" cy="469856"/>
          </a:xfrm>
          <a:prstGeom prst="rect">
            <a:avLst/>
          </a:prstGeom>
        </p:spPr>
      </p:pic>
      <p:sp>
        <p:nvSpPr>
          <p:cNvPr id="4" name="Shape 1"/>
          <p:cNvSpPr/>
          <p:nvPr/>
        </p:nvSpPr>
        <p:spPr>
          <a:xfrm>
            <a:off x="469856" y="1085784"/>
            <a:ext cx="7721534" cy="419034"/>
          </a:xfrm>
          <a:prstGeom prst="rect">
            <a:avLst/>
          </a:prstGeom>
          <a:solidFill>
            <a:srgbClr val="28D2C3"/>
          </a:solidFill>
          <a:ln w="21167">
            <a:solidFill>
              <a:srgbClr val="06201D"/>
            </a:solidFill>
            <a:prstDash val="solid"/>
          </a:ln>
        </p:spPr>
        <p:txBody>
          <a:bodyPr/>
          <a:lstStyle/>
          <a:p>
            <a:endParaRPr lang="es-CL"/>
          </a:p>
        </p:txBody>
      </p:sp>
      <p:sp>
        <p:nvSpPr>
          <p:cNvPr id="5" name="Text 2"/>
          <p:cNvSpPr/>
          <p:nvPr/>
        </p:nvSpPr>
        <p:spPr>
          <a:xfrm>
            <a:off x="368144" y="1099895"/>
            <a:ext cx="7924958"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Cartera ST por región · 758 clientes · Potencial MM$2.099,9</a:t>
            </a:r>
            <a:endParaRPr lang="en-US" kern="1200" dirty="0">
              <a:solidFill>
                <a:prstClr val="black"/>
              </a:solidFill>
              <a:latin typeface="Calibri" panose="020F0502020204030204"/>
              <a:ea typeface="+mn-ea"/>
              <a:cs typeface="+mn-cs"/>
            </a:endParaRPr>
          </a:p>
        </p:txBody>
      </p:sp>
      <p:sp>
        <p:nvSpPr>
          <p:cNvPr id="6" name="Shape 3"/>
          <p:cNvSpPr/>
          <p:nvPr/>
        </p:nvSpPr>
        <p:spPr>
          <a:xfrm>
            <a:off x="8445501" y="1085784"/>
            <a:ext cx="3416212" cy="419034"/>
          </a:xfrm>
          <a:prstGeom prst="rect">
            <a:avLst/>
          </a:prstGeom>
          <a:solidFill>
            <a:srgbClr val="28D2C3"/>
          </a:solidFill>
          <a:ln w="21167">
            <a:solidFill>
              <a:srgbClr val="06201D"/>
            </a:solidFill>
            <a:prstDash val="solid"/>
          </a:ln>
        </p:spPr>
        <p:txBody>
          <a:bodyPr/>
          <a:lstStyle/>
          <a:p>
            <a:endParaRPr lang="es-CL"/>
          </a:p>
        </p:txBody>
      </p:sp>
      <p:sp>
        <p:nvSpPr>
          <p:cNvPr id="7" name="Text 4"/>
          <p:cNvSpPr/>
          <p:nvPr/>
        </p:nvSpPr>
        <p:spPr>
          <a:xfrm>
            <a:off x="8408369" y="1099895"/>
            <a:ext cx="3490476" cy="416212"/>
          </a:xfrm>
          <a:prstGeom prst="rect">
            <a:avLst/>
          </a:prstGeom>
          <a:noFill/>
          <a:ln/>
        </p:spPr>
        <p:txBody>
          <a:bodyPr wrap="square" lIns="16933" tIns="16933" rIns="16933" bIns="16933" rtlCol="0" anchor="ctr">
            <a:normAutofit/>
          </a:bodyPr>
          <a:lstStyle/>
          <a:p>
            <a:pPr algn="ctr" defTabSz="609630">
              <a:buClrTx/>
            </a:pPr>
            <a:r>
              <a:rPr lang="en-US" b="1" kern="1200" dirty="0">
                <a:solidFill>
                  <a:srgbClr val="FFFFFF"/>
                </a:solidFill>
                <a:latin typeface="Arial" pitchFamily="34" charset="0"/>
                <a:ea typeface="Arial" pitchFamily="34" charset="-122"/>
                <a:cs typeface="Arial" pitchFamily="34" charset="-120"/>
              </a:rPr>
              <a:t>Asignación por ejecutivo</a:t>
            </a:r>
            <a:endParaRPr lang="en-US" kern="1200" dirty="0">
              <a:solidFill>
                <a:prstClr val="black"/>
              </a:solidFill>
              <a:latin typeface="Calibri" panose="020F0502020204030204"/>
              <a:ea typeface="+mn-ea"/>
              <a:cs typeface="+mn-cs"/>
            </a:endParaRPr>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0" y="0"/>
            <a:ext cx="12192001" cy="6858000"/>
          </a:xfrm>
          <a:prstGeom prst="rect">
            <a:avLst/>
          </a:prstGeom>
        </p:spPr>
      </p:pic>
      <p:sp>
        <p:nvSpPr>
          <p:cNvPr id="9" name="Shape 5"/>
          <p:cNvSpPr/>
          <p:nvPr/>
        </p:nvSpPr>
        <p:spPr>
          <a:xfrm>
            <a:off x="2667001" y="1825185"/>
            <a:ext cx="1307923" cy="7055"/>
          </a:xfrm>
          <a:prstGeom prst="rect">
            <a:avLst/>
          </a:prstGeom>
          <a:solidFill>
            <a:srgbClr val="06201D"/>
          </a:solidFill>
          <a:ln/>
        </p:spPr>
        <p:txBody>
          <a:bodyPr/>
          <a:lstStyle/>
          <a:p>
            <a:endParaRPr lang="es-CL"/>
          </a:p>
        </p:txBody>
      </p:sp>
      <p:sp>
        <p:nvSpPr>
          <p:cNvPr id="10" name="Text 6"/>
          <p:cNvSpPr/>
          <p:nvPr/>
        </p:nvSpPr>
        <p:spPr>
          <a:xfrm>
            <a:off x="2717800" y="1663678"/>
            <a:ext cx="1337116"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Región</a:t>
            </a:r>
            <a:endParaRPr lang="en-US" sz="850" kern="1200" dirty="0">
              <a:solidFill>
                <a:prstClr val="black"/>
              </a:solidFill>
              <a:latin typeface="Calibri" panose="020F0502020204030204"/>
              <a:ea typeface="+mn-ea"/>
              <a:cs typeface="+mn-cs"/>
            </a:endParaRPr>
          </a:p>
        </p:txBody>
      </p:sp>
      <p:sp>
        <p:nvSpPr>
          <p:cNvPr id="11" name="Shape 7"/>
          <p:cNvSpPr/>
          <p:nvPr/>
        </p:nvSpPr>
        <p:spPr>
          <a:xfrm>
            <a:off x="3974924" y="1825185"/>
            <a:ext cx="1212673" cy="7055"/>
          </a:xfrm>
          <a:prstGeom prst="rect">
            <a:avLst/>
          </a:prstGeom>
          <a:solidFill>
            <a:srgbClr val="06201D"/>
          </a:solidFill>
          <a:ln/>
        </p:spPr>
        <p:txBody>
          <a:bodyPr/>
          <a:lstStyle/>
          <a:p>
            <a:endParaRPr lang="es-CL"/>
          </a:p>
        </p:txBody>
      </p:sp>
      <p:sp>
        <p:nvSpPr>
          <p:cNvPr id="12" name="Text 8"/>
          <p:cNvSpPr/>
          <p:nvPr/>
        </p:nvSpPr>
        <p:spPr>
          <a:xfrm>
            <a:off x="4025724" y="1663678"/>
            <a:ext cx="1232341"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Ejecutivo</a:t>
            </a:r>
            <a:endParaRPr lang="en-US" sz="850" kern="1200" dirty="0">
              <a:solidFill>
                <a:prstClr val="black"/>
              </a:solidFill>
              <a:latin typeface="Calibri" panose="020F0502020204030204"/>
              <a:ea typeface="+mn-ea"/>
              <a:cs typeface="+mn-cs"/>
            </a:endParaRPr>
          </a:p>
        </p:txBody>
      </p:sp>
      <p:sp>
        <p:nvSpPr>
          <p:cNvPr id="13" name="Shape 9"/>
          <p:cNvSpPr/>
          <p:nvPr/>
        </p:nvSpPr>
        <p:spPr>
          <a:xfrm>
            <a:off x="5187598" y="1825185"/>
            <a:ext cx="545923" cy="7055"/>
          </a:xfrm>
          <a:prstGeom prst="rect">
            <a:avLst/>
          </a:prstGeom>
          <a:solidFill>
            <a:srgbClr val="06201D"/>
          </a:solidFill>
          <a:ln/>
        </p:spPr>
        <p:txBody>
          <a:bodyPr/>
          <a:lstStyle/>
          <a:p>
            <a:endParaRPr lang="es-CL"/>
          </a:p>
        </p:txBody>
      </p:sp>
      <p:sp>
        <p:nvSpPr>
          <p:cNvPr id="14" name="Text 10"/>
          <p:cNvSpPr/>
          <p:nvPr/>
        </p:nvSpPr>
        <p:spPr>
          <a:xfrm>
            <a:off x="5183805" y="1663678"/>
            <a:ext cx="498916" cy="148806"/>
          </a:xfrm>
          <a:prstGeom prst="rect">
            <a:avLst/>
          </a:prstGeom>
          <a:noFill/>
          <a:ln/>
        </p:spPr>
        <p:txBody>
          <a:bodyPr wrap="square" lIns="16933" tIns="16933" rIns="16933" bIns="16933" rtlCol="0" anchor="ctr">
            <a:normAutofit fontScale="92500" lnSpcReduction="10000"/>
          </a:bodyPr>
          <a:lstStyle/>
          <a:p>
            <a:pPr algn="r" defTabSz="609630">
              <a:buClrTx/>
            </a:pPr>
            <a:r>
              <a:rPr lang="en-US" sz="850" b="1" kern="1200" dirty="0">
                <a:solidFill>
                  <a:srgbClr val="33448D"/>
                </a:solidFill>
                <a:latin typeface="Arial" pitchFamily="34" charset="0"/>
                <a:ea typeface="Arial" pitchFamily="34" charset="-122"/>
                <a:cs typeface="Arial" pitchFamily="34" charset="-120"/>
              </a:rPr>
              <a:t>Clientes</a:t>
            </a:r>
            <a:endParaRPr lang="en-US" sz="850" kern="1200" dirty="0">
              <a:solidFill>
                <a:prstClr val="black"/>
              </a:solidFill>
              <a:latin typeface="Calibri" panose="020F0502020204030204"/>
              <a:ea typeface="+mn-ea"/>
              <a:cs typeface="+mn-cs"/>
            </a:endParaRPr>
          </a:p>
        </p:txBody>
      </p:sp>
      <p:sp>
        <p:nvSpPr>
          <p:cNvPr id="15" name="Shape 11"/>
          <p:cNvSpPr/>
          <p:nvPr/>
        </p:nvSpPr>
        <p:spPr>
          <a:xfrm>
            <a:off x="5733521" y="1825185"/>
            <a:ext cx="1688923" cy="7055"/>
          </a:xfrm>
          <a:prstGeom prst="rect">
            <a:avLst/>
          </a:prstGeom>
          <a:solidFill>
            <a:srgbClr val="06201D"/>
          </a:solidFill>
          <a:ln/>
        </p:spPr>
        <p:txBody>
          <a:bodyPr/>
          <a:lstStyle/>
          <a:p>
            <a:endParaRPr lang="es-CL"/>
          </a:p>
        </p:txBody>
      </p:sp>
      <p:sp>
        <p:nvSpPr>
          <p:cNvPr id="16" name="Text 12"/>
          <p:cNvSpPr/>
          <p:nvPr/>
        </p:nvSpPr>
        <p:spPr>
          <a:xfrm>
            <a:off x="5784321" y="1663678"/>
            <a:ext cx="1756216" cy="148806"/>
          </a:xfrm>
          <a:prstGeom prst="rect">
            <a:avLst/>
          </a:prstGeom>
          <a:noFill/>
          <a:ln/>
        </p:spPr>
        <p:txBody>
          <a:bodyPr wrap="square" lIns="16933" tIns="16933" rIns="16933" bIns="16933" rtlCol="0" anchor="ctr">
            <a:normAutofit fontScale="92500" lnSpcReduction="10000"/>
          </a:bodyPr>
          <a:lstStyle/>
          <a:p>
            <a:pPr defTabSz="609630">
              <a:buClrTx/>
            </a:pPr>
            <a:r>
              <a:rPr lang="en-US" sz="850" b="1" kern="1200" dirty="0">
                <a:solidFill>
                  <a:srgbClr val="33448D"/>
                </a:solidFill>
                <a:latin typeface="Arial" pitchFamily="34" charset="0"/>
                <a:ea typeface="Arial" pitchFamily="34" charset="-122"/>
                <a:cs typeface="Arial" pitchFamily="34" charset="-120"/>
              </a:rPr>
              <a:t>Potencial ST MM$</a:t>
            </a:r>
            <a:endParaRPr lang="en-US" sz="850" kern="1200" dirty="0">
              <a:solidFill>
                <a:prstClr val="black"/>
              </a:solidFill>
              <a:latin typeface="Calibri" panose="020F0502020204030204"/>
              <a:ea typeface="+mn-ea"/>
              <a:cs typeface="+mn-cs"/>
            </a:endParaRPr>
          </a:p>
        </p:txBody>
      </p:sp>
      <p:sp>
        <p:nvSpPr>
          <p:cNvPr id="17" name="Shape 13"/>
          <p:cNvSpPr/>
          <p:nvPr/>
        </p:nvSpPr>
        <p:spPr>
          <a:xfrm>
            <a:off x="7422445" y="1825185"/>
            <a:ext cx="610857" cy="7055"/>
          </a:xfrm>
          <a:prstGeom prst="rect">
            <a:avLst/>
          </a:prstGeom>
          <a:solidFill>
            <a:srgbClr val="06201D"/>
          </a:solidFill>
          <a:ln/>
        </p:spPr>
        <p:txBody>
          <a:bodyPr/>
          <a:lstStyle/>
          <a:p>
            <a:endParaRPr lang="es-CL"/>
          </a:p>
        </p:txBody>
      </p:sp>
      <p:sp>
        <p:nvSpPr>
          <p:cNvPr id="18" name="Text 14"/>
          <p:cNvSpPr/>
          <p:nvPr/>
        </p:nvSpPr>
        <p:spPr>
          <a:xfrm>
            <a:off x="7412159" y="1663678"/>
            <a:ext cx="570343" cy="148806"/>
          </a:xfrm>
          <a:prstGeom prst="rect">
            <a:avLst/>
          </a:prstGeom>
          <a:noFill/>
          <a:ln/>
        </p:spPr>
        <p:txBody>
          <a:bodyPr wrap="square" lIns="16933" tIns="16933" rIns="16933" bIns="16933" rtlCol="0" anchor="ctr">
            <a:normAutofit fontScale="92500" lnSpcReduction="10000"/>
          </a:bodyPr>
          <a:lstStyle/>
          <a:p>
            <a:pPr algn="r" defTabSz="609630">
              <a:buClrTx/>
            </a:pPr>
            <a:r>
              <a:rPr lang="en-US" sz="850" b="1" kern="1200" dirty="0">
                <a:solidFill>
                  <a:srgbClr val="33448D"/>
                </a:solidFill>
                <a:latin typeface="Arial" pitchFamily="34" charset="0"/>
                <a:ea typeface="Arial" pitchFamily="34" charset="-122"/>
                <a:cs typeface="Arial" pitchFamily="34" charset="-120"/>
              </a:rPr>
              <a:t>Contratos</a:t>
            </a:r>
            <a:endParaRPr lang="en-US" sz="850" kern="1200" dirty="0">
              <a:solidFill>
                <a:prstClr val="black"/>
              </a:solidFill>
              <a:latin typeface="Calibri" panose="020F0502020204030204"/>
              <a:ea typeface="+mn-ea"/>
              <a:cs typeface="+mn-cs"/>
            </a:endParaRPr>
          </a:p>
        </p:txBody>
      </p:sp>
      <p:sp>
        <p:nvSpPr>
          <p:cNvPr id="19" name="Shape 15"/>
          <p:cNvSpPr/>
          <p:nvPr/>
        </p:nvSpPr>
        <p:spPr>
          <a:xfrm>
            <a:off x="2667001" y="2067169"/>
            <a:ext cx="1307923" cy="7055"/>
          </a:xfrm>
          <a:prstGeom prst="rect">
            <a:avLst/>
          </a:prstGeom>
          <a:solidFill>
            <a:srgbClr val="D9DCE3"/>
          </a:solidFill>
          <a:ln/>
        </p:spPr>
        <p:txBody>
          <a:bodyPr/>
          <a:lstStyle/>
          <a:p>
            <a:endParaRPr lang="es-CL"/>
          </a:p>
        </p:txBody>
      </p:sp>
      <p:sp>
        <p:nvSpPr>
          <p:cNvPr id="20" name="Text 16"/>
          <p:cNvSpPr/>
          <p:nvPr/>
        </p:nvSpPr>
        <p:spPr>
          <a:xfrm>
            <a:off x="2717801" y="1832240"/>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Arica y Parinacota</a:t>
            </a:r>
            <a:endParaRPr lang="en-US" sz="950" kern="1200" dirty="0">
              <a:solidFill>
                <a:prstClr val="black"/>
              </a:solidFill>
              <a:latin typeface="Calibri" panose="020F0502020204030204"/>
              <a:ea typeface="+mn-ea"/>
              <a:cs typeface="+mn-cs"/>
            </a:endParaRPr>
          </a:p>
        </p:txBody>
      </p:sp>
      <p:sp>
        <p:nvSpPr>
          <p:cNvPr id="21" name="Shape 17"/>
          <p:cNvSpPr/>
          <p:nvPr/>
        </p:nvSpPr>
        <p:spPr>
          <a:xfrm>
            <a:off x="3974924" y="2067169"/>
            <a:ext cx="1212673" cy="7055"/>
          </a:xfrm>
          <a:prstGeom prst="rect">
            <a:avLst/>
          </a:prstGeom>
          <a:solidFill>
            <a:srgbClr val="D9DCE3"/>
          </a:solidFill>
          <a:ln/>
        </p:spPr>
        <p:txBody>
          <a:bodyPr/>
          <a:lstStyle/>
          <a:p>
            <a:endParaRPr lang="es-CL"/>
          </a:p>
        </p:txBody>
      </p:sp>
      <p:sp>
        <p:nvSpPr>
          <p:cNvPr id="22" name="Text 18"/>
          <p:cNvSpPr/>
          <p:nvPr/>
        </p:nvSpPr>
        <p:spPr>
          <a:xfrm>
            <a:off x="4025724" y="1832240"/>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23" name="Shape 19"/>
          <p:cNvSpPr/>
          <p:nvPr/>
        </p:nvSpPr>
        <p:spPr>
          <a:xfrm>
            <a:off x="5187598" y="2067169"/>
            <a:ext cx="545923" cy="7055"/>
          </a:xfrm>
          <a:prstGeom prst="rect">
            <a:avLst/>
          </a:prstGeom>
          <a:solidFill>
            <a:srgbClr val="D9DCE3"/>
          </a:solidFill>
          <a:ln/>
        </p:spPr>
        <p:txBody>
          <a:bodyPr/>
          <a:lstStyle/>
          <a:p>
            <a:endParaRPr lang="es-CL"/>
          </a:p>
        </p:txBody>
      </p:sp>
      <p:sp>
        <p:nvSpPr>
          <p:cNvPr id="24" name="Text 20"/>
          <p:cNvSpPr/>
          <p:nvPr/>
        </p:nvSpPr>
        <p:spPr>
          <a:xfrm>
            <a:off x="5187598" y="1832240"/>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25" name="Shape 21"/>
          <p:cNvSpPr/>
          <p:nvPr/>
        </p:nvSpPr>
        <p:spPr>
          <a:xfrm>
            <a:off x="5733521" y="2067169"/>
            <a:ext cx="1688923" cy="7055"/>
          </a:xfrm>
          <a:prstGeom prst="rect">
            <a:avLst/>
          </a:prstGeom>
          <a:solidFill>
            <a:srgbClr val="D9DCE3"/>
          </a:solidFill>
          <a:ln/>
        </p:spPr>
        <p:txBody>
          <a:bodyPr/>
          <a:lstStyle/>
          <a:p>
            <a:endParaRPr lang="es-CL"/>
          </a:p>
        </p:txBody>
      </p:sp>
      <p:sp>
        <p:nvSpPr>
          <p:cNvPr id="26" name="Shape 22"/>
          <p:cNvSpPr/>
          <p:nvPr/>
        </p:nvSpPr>
        <p:spPr>
          <a:xfrm>
            <a:off x="5784233" y="1902354"/>
            <a:ext cx="25907" cy="101534"/>
          </a:xfrm>
          <a:prstGeom prst="rect">
            <a:avLst/>
          </a:prstGeom>
          <a:solidFill>
            <a:srgbClr val="28D2C3"/>
          </a:solidFill>
          <a:ln/>
        </p:spPr>
        <p:txBody>
          <a:bodyPr/>
          <a:lstStyle/>
          <a:p>
            <a:endParaRPr lang="es-CL"/>
          </a:p>
        </p:txBody>
      </p:sp>
      <p:sp>
        <p:nvSpPr>
          <p:cNvPr id="27" name="Text 23"/>
          <p:cNvSpPr/>
          <p:nvPr/>
        </p:nvSpPr>
        <p:spPr>
          <a:xfrm>
            <a:off x="5873640" y="1882621"/>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19,4</a:t>
            </a:r>
            <a:endParaRPr lang="en-US" sz="950" kern="1200" dirty="0">
              <a:solidFill>
                <a:prstClr val="black"/>
              </a:solidFill>
              <a:latin typeface="Calibri" panose="020F0502020204030204"/>
              <a:ea typeface="+mn-ea"/>
              <a:cs typeface="+mn-cs"/>
            </a:endParaRPr>
          </a:p>
        </p:txBody>
      </p:sp>
      <p:sp>
        <p:nvSpPr>
          <p:cNvPr id="28" name="Shape 24"/>
          <p:cNvSpPr/>
          <p:nvPr/>
        </p:nvSpPr>
        <p:spPr>
          <a:xfrm>
            <a:off x="7422445" y="2067169"/>
            <a:ext cx="610857" cy="7055"/>
          </a:xfrm>
          <a:prstGeom prst="rect">
            <a:avLst/>
          </a:prstGeom>
          <a:solidFill>
            <a:srgbClr val="D9DCE3"/>
          </a:solidFill>
          <a:ln/>
        </p:spPr>
        <p:txBody>
          <a:bodyPr/>
          <a:lstStyle/>
          <a:p>
            <a:endParaRPr lang="es-CL"/>
          </a:p>
        </p:txBody>
      </p:sp>
      <p:sp>
        <p:nvSpPr>
          <p:cNvPr id="29" name="Text 25"/>
          <p:cNvSpPr/>
          <p:nvPr/>
        </p:nvSpPr>
        <p:spPr>
          <a:xfrm>
            <a:off x="7422445" y="1832240"/>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30" name="Shape 26"/>
          <p:cNvSpPr/>
          <p:nvPr/>
        </p:nvSpPr>
        <p:spPr>
          <a:xfrm>
            <a:off x="2667001" y="2309152"/>
            <a:ext cx="1307923" cy="7055"/>
          </a:xfrm>
          <a:prstGeom prst="rect">
            <a:avLst/>
          </a:prstGeom>
          <a:solidFill>
            <a:srgbClr val="D9DCE3"/>
          </a:solidFill>
          <a:ln/>
        </p:spPr>
        <p:txBody>
          <a:bodyPr/>
          <a:lstStyle/>
          <a:p>
            <a:endParaRPr lang="es-CL"/>
          </a:p>
        </p:txBody>
      </p:sp>
      <p:sp>
        <p:nvSpPr>
          <p:cNvPr id="31" name="Text 27"/>
          <p:cNvSpPr/>
          <p:nvPr/>
        </p:nvSpPr>
        <p:spPr>
          <a:xfrm>
            <a:off x="2717801" y="207422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Tarapacá</a:t>
            </a:r>
            <a:endParaRPr lang="en-US" sz="950" kern="1200" dirty="0">
              <a:solidFill>
                <a:prstClr val="black"/>
              </a:solidFill>
              <a:latin typeface="Calibri" panose="020F0502020204030204"/>
              <a:ea typeface="+mn-ea"/>
              <a:cs typeface="+mn-cs"/>
            </a:endParaRPr>
          </a:p>
        </p:txBody>
      </p:sp>
      <p:sp>
        <p:nvSpPr>
          <p:cNvPr id="32" name="Shape 28"/>
          <p:cNvSpPr/>
          <p:nvPr/>
        </p:nvSpPr>
        <p:spPr>
          <a:xfrm>
            <a:off x="3974924" y="2309152"/>
            <a:ext cx="1212673" cy="7055"/>
          </a:xfrm>
          <a:prstGeom prst="rect">
            <a:avLst/>
          </a:prstGeom>
          <a:solidFill>
            <a:srgbClr val="D9DCE3"/>
          </a:solidFill>
          <a:ln/>
        </p:spPr>
        <p:txBody>
          <a:bodyPr/>
          <a:lstStyle/>
          <a:p>
            <a:endParaRPr lang="es-CL"/>
          </a:p>
        </p:txBody>
      </p:sp>
      <p:sp>
        <p:nvSpPr>
          <p:cNvPr id="33" name="Text 29"/>
          <p:cNvSpPr/>
          <p:nvPr/>
        </p:nvSpPr>
        <p:spPr>
          <a:xfrm>
            <a:off x="4025724" y="207422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34" name="Shape 30"/>
          <p:cNvSpPr/>
          <p:nvPr/>
        </p:nvSpPr>
        <p:spPr>
          <a:xfrm>
            <a:off x="5187598" y="2309152"/>
            <a:ext cx="545923" cy="7055"/>
          </a:xfrm>
          <a:prstGeom prst="rect">
            <a:avLst/>
          </a:prstGeom>
          <a:solidFill>
            <a:srgbClr val="D9DCE3"/>
          </a:solidFill>
          <a:ln/>
        </p:spPr>
        <p:txBody>
          <a:bodyPr/>
          <a:lstStyle/>
          <a:p>
            <a:endParaRPr lang="es-CL"/>
          </a:p>
        </p:txBody>
      </p:sp>
      <p:sp>
        <p:nvSpPr>
          <p:cNvPr id="35" name="Text 31"/>
          <p:cNvSpPr/>
          <p:nvPr/>
        </p:nvSpPr>
        <p:spPr>
          <a:xfrm>
            <a:off x="5187598" y="207422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15</a:t>
            </a:r>
            <a:endParaRPr lang="en-US" sz="950" kern="1200" dirty="0">
              <a:solidFill>
                <a:prstClr val="black"/>
              </a:solidFill>
              <a:latin typeface="Calibri" panose="020F0502020204030204"/>
              <a:ea typeface="+mn-ea"/>
              <a:cs typeface="+mn-cs"/>
            </a:endParaRPr>
          </a:p>
        </p:txBody>
      </p:sp>
      <p:sp>
        <p:nvSpPr>
          <p:cNvPr id="36" name="Shape 32"/>
          <p:cNvSpPr/>
          <p:nvPr/>
        </p:nvSpPr>
        <p:spPr>
          <a:xfrm>
            <a:off x="5733521" y="2309152"/>
            <a:ext cx="1688923" cy="7055"/>
          </a:xfrm>
          <a:prstGeom prst="rect">
            <a:avLst/>
          </a:prstGeom>
          <a:solidFill>
            <a:srgbClr val="D9DCE3"/>
          </a:solidFill>
          <a:ln/>
        </p:spPr>
        <p:txBody>
          <a:bodyPr/>
          <a:lstStyle/>
          <a:p>
            <a:endParaRPr lang="es-CL"/>
          </a:p>
        </p:txBody>
      </p:sp>
      <p:sp>
        <p:nvSpPr>
          <p:cNvPr id="37" name="Shape 33"/>
          <p:cNvSpPr/>
          <p:nvPr/>
        </p:nvSpPr>
        <p:spPr>
          <a:xfrm>
            <a:off x="5784233" y="2144338"/>
            <a:ext cx="53247" cy="101534"/>
          </a:xfrm>
          <a:prstGeom prst="rect">
            <a:avLst/>
          </a:prstGeom>
          <a:solidFill>
            <a:srgbClr val="28D2C3"/>
          </a:solidFill>
          <a:ln/>
        </p:spPr>
        <p:txBody>
          <a:bodyPr/>
          <a:lstStyle/>
          <a:p>
            <a:endParaRPr lang="es-CL"/>
          </a:p>
        </p:txBody>
      </p:sp>
      <p:sp>
        <p:nvSpPr>
          <p:cNvPr id="38" name="Text 34"/>
          <p:cNvSpPr/>
          <p:nvPr/>
        </p:nvSpPr>
        <p:spPr>
          <a:xfrm>
            <a:off x="5900981" y="2124605"/>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39,8</a:t>
            </a:r>
            <a:endParaRPr lang="en-US" sz="950" kern="1200" dirty="0">
              <a:solidFill>
                <a:prstClr val="black"/>
              </a:solidFill>
              <a:latin typeface="Calibri" panose="020F0502020204030204"/>
              <a:ea typeface="+mn-ea"/>
              <a:cs typeface="+mn-cs"/>
            </a:endParaRPr>
          </a:p>
        </p:txBody>
      </p:sp>
      <p:sp>
        <p:nvSpPr>
          <p:cNvPr id="39" name="Shape 35"/>
          <p:cNvSpPr/>
          <p:nvPr/>
        </p:nvSpPr>
        <p:spPr>
          <a:xfrm>
            <a:off x="7422445" y="2309152"/>
            <a:ext cx="610857" cy="7055"/>
          </a:xfrm>
          <a:prstGeom prst="rect">
            <a:avLst/>
          </a:prstGeom>
          <a:solidFill>
            <a:srgbClr val="D9DCE3"/>
          </a:solidFill>
          <a:ln/>
        </p:spPr>
        <p:txBody>
          <a:bodyPr/>
          <a:lstStyle/>
          <a:p>
            <a:endParaRPr lang="es-CL"/>
          </a:p>
        </p:txBody>
      </p:sp>
      <p:sp>
        <p:nvSpPr>
          <p:cNvPr id="40" name="Text 36"/>
          <p:cNvSpPr/>
          <p:nvPr/>
        </p:nvSpPr>
        <p:spPr>
          <a:xfrm>
            <a:off x="7422445" y="207422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41" name="Shape 37"/>
          <p:cNvSpPr/>
          <p:nvPr/>
        </p:nvSpPr>
        <p:spPr>
          <a:xfrm>
            <a:off x="2667001" y="2551135"/>
            <a:ext cx="1307923" cy="7055"/>
          </a:xfrm>
          <a:prstGeom prst="rect">
            <a:avLst/>
          </a:prstGeom>
          <a:solidFill>
            <a:srgbClr val="D9DCE3"/>
          </a:solidFill>
          <a:ln/>
        </p:spPr>
        <p:txBody>
          <a:bodyPr/>
          <a:lstStyle/>
          <a:p>
            <a:endParaRPr lang="es-CL"/>
          </a:p>
        </p:txBody>
      </p:sp>
      <p:sp>
        <p:nvSpPr>
          <p:cNvPr id="42" name="Text 38"/>
          <p:cNvSpPr/>
          <p:nvPr/>
        </p:nvSpPr>
        <p:spPr>
          <a:xfrm>
            <a:off x="2717801" y="2316207"/>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Antofagasta</a:t>
            </a:r>
            <a:endParaRPr lang="en-US" sz="950" kern="1200" dirty="0">
              <a:solidFill>
                <a:prstClr val="black"/>
              </a:solidFill>
              <a:latin typeface="Calibri" panose="020F0502020204030204"/>
              <a:ea typeface="+mn-ea"/>
              <a:cs typeface="+mn-cs"/>
            </a:endParaRPr>
          </a:p>
        </p:txBody>
      </p:sp>
      <p:sp>
        <p:nvSpPr>
          <p:cNvPr id="43" name="Shape 39"/>
          <p:cNvSpPr/>
          <p:nvPr/>
        </p:nvSpPr>
        <p:spPr>
          <a:xfrm>
            <a:off x="3974924" y="2551135"/>
            <a:ext cx="1212673" cy="7055"/>
          </a:xfrm>
          <a:prstGeom prst="rect">
            <a:avLst/>
          </a:prstGeom>
          <a:solidFill>
            <a:srgbClr val="D9DCE3"/>
          </a:solidFill>
          <a:ln/>
        </p:spPr>
        <p:txBody>
          <a:bodyPr/>
          <a:lstStyle/>
          <a:p>
            <a:endParaRPr lang="es-CL"/>
          </a:p>
        </p:txBody>
      </p:sp>
      <p:sp>
        <p:nvSpPr>
          <p:cNvPr id="44" name="Text 40"/>
          <p:cNvSpPr/>
          <p:nvPr/>
        </p:nvSpPr>
        <p:spPr>
          <a:xfrm>
            <a:off x="4025724" y="2316207"/>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45" name="Shape 41"/>
          <p:cNvSpPr/>
          <p:nvPr/>
        </p:nvSpPr>
        <p:spPr>
          <a:xfrm>
            <a:off x="5187598" y="2551135"/>
            <a:ext cx="545923" cy="7055"/>
          </a:xfrm>
          <a:prstGeom prst="rect">
            <a:avLst/>
          </a:prstGeom>
          <a:solidFill>
            <a:srgbClr val="D9DCE3"/>
          </a:solidFill>
          <a:ln/>
        </p:spPr>
        <p:txBody>
          <a:bodyPr/>
          <a:lstStyle/>
          <a:p>
            <a:endParaRPr lang="es-CL"/>
          </a:p>
        </p:txBody>
      </p:sp>
      <p:sp>
        <p:nvSpPr>
          <p:cNvPr id="46" name="Text 42"/>
          <p:cNvSpPr/>
          <p:nvPr/>
        </p:nvSpPr>
        <p:spPr>
          <a:xfrm>
            <a:off x="5187598" y="2316207"/>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17</a:t>
            </a:r>
            <a:endParaRPr lang="en-US" sz="950" kern="1200" dirty="0">
              <a:solidFill>
                <a:prstClr val="black"/>
              </a:solidFill>
              <a:latin typeface="Calibri" panose="020F0502020204030204"/>
              <a:ea typeface="+mn-ea"/>
              <a:cs typeface="+mn-cs"/>
            </a:endParaRPr>
          </a:p>
        </p:txBody>
      </p:sp>
      <p:sp>
        <p:nvSpPr>
          <p:cNvPr id="47" name="Shape 43"/>
          <p:cNvSpPr/>
          <p:nvPr/>
        </p:nvSpPr>
        <p:spPr>
          <a:xfrm>
            <a:off x="5733521" y="2551135"/>
            <a:ext cx="1688923" cy="7055"/>
          </a:xfrm>
          <a:prstGeom prst="rect">
            <a:avLst/>
          </a:prstGeom>
          <a:solidFill>
            <a:srgbClr val="D9DCE3"/>
          </a:solidFill>
          <a:ln/>
        </p:spPr>
        <p:txBody>
          <a:bodyPr/>
          <a:lstStyle/>
          <a:p>
            <a:endParaRPr lang="es-CL"/>
          </a:p>
        </p:txBody>
      </p:sp>
      <p:sp>
        <p:nvSpPr>
          <p:cNvPr id="48" name="Shape 44"/>
          <p:cNvSpPr/>
          <p:nvPr/>
        </p:nvSpPr>
        <p:spPr>
          <a:xfrm>
            <a:off x="5784233" y="2386322"/>
            <a:ext cx="78934" cy="101534"/>
          </a:xfrm>
          <a:prstGeom prst="rect">
            <a:avLst/>
          </a:prstGeom>
          <a:solidFill>
            <a:srgbClr val="28D2C3"/>
          </a:solidFill>
          <a:ln/>
        </p:spPr>
        <p:txBody>
          <a:bodyPr/>
          <a:lstStyle/>
          <a:p>
            <a:endParaRPr lang="es-CL"/>
          </a:p>
        </p:txBody>
      </p:sp>
      <p:sp>
        <p:nvSpPr>
          <p:cNvPr id="49" name="Text 45"/>
          <p:cNvSpPr/>
          <p:nvPr/>
        </p:nvSpPr>
        <p:spPr>
          <a:xfrm>
            <a:off x="5926667" y="2366589"/>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59,0</a:t>
            </a:r>
            <a:endParaRPr lang="en-US" sz="950" kern="1200" dirty="0">
              <a:solidFill>
                <a:prstClr val="black"/>
              </a:solidFill>
              <a:latin typeface="Calibri" panose="020F0502020204030204"/>
              <a:ea typeface="+mn-ea"/>
              <a:cs typeface="+mn-cs"/>
            </a:endParaRPr>
          </a:p>
        </p:txBody>
      </p:sp>
      <p:sp>
        <p:nvSpPr>
          <p:cNvPr id="50" name="Shape 46"/>
          <p:cNvSpPr/>
          <p:nvPr/>
        </p:nvSpPr>
        <p:spPr>
          <a:xfrm>
            <a:off x="7422445" y="2551135"/>
            <a:ext cx="610857" cy="7055"/>
          </a:xfrm>
          <a:prstGeom prst="rect">
            <a:avLst/>
          </a:prstGeom>
          <a:solidFill>
            <a:srgbClr val="D9DCE3"/>
          </a:solidFill>
          <a:ln/>
        </p:spPr>
        <p:txBody>
          <a:bodyPr/>
          <a:lstStyle/>
          <a:p>
            <a:endParaRPr lang="es-CL"/>
          </a:p>
        </p:txBody>
      </p:sp>
      <p:sp>
        <p:nvSpPr>
          <p:cNvPr id="51" name="Text 47"/>
          <p:cNvSpPr/>
          <p:nvPr/>
        </p:nvSpPr>
        <p:spPr>
          <a:xfrm>
            <a:off x="7422445" y="2316207"/>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52" name="Shape 48"/>
          <p:cNvSpPr/>
          <p:nvPr/>
        </p:nvSpPr>
        <p:spPr>
          <a:xfrm>
            <a:off x="2667001" y="2793119"/>
            <a:ext cx="1307923" cy="7055"/>
          </a:xfrm>
          <a:prstGeom prst="rect">
            <a:avLst/>
          </a:prstGeom>
          <a:solidFill>
            <a:srgbClr val="D9DCE3"/>
          </a:solidFill>
          <a:ln/>
        </p:spPr>
        <p:txBody>
          <a:bodyPr/>
          <a:lstStyle/>
          <a:p>
            <a:endParaRPr lang="es-CL"/>
          </a:p>
        </p:txBody>
      </p:sp>
      <p:sp>
        <p:nvSpPr>
          <p:cNvPr id="53" name="Text 49"/>
          <p:cNvSpPr/>
          <p:nvPr/>
        </p:nvSpPr>
        <p:spPr>
          <a:xfrm>
            <a:off x="2717801" y="2558190"/>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Atacama</a:t>
            </a:r>
            <a:endParaRPr lang="en-US" sz="950" kern="1200" dirty="0">
              <a:solidFill>
                <a:prstClr val="black"/>
              </a:solidFill>
              <a:latin typeface="Calibri" panose="020F0502020204030204"/>
              <a:ea typeface="+mn-ea"/>
              <a:cs typeface="+mn-cs"/>
            </a:endParaRPr>
          </a:p>
        </p:txBody>
      </p:sp>
      <p:sp>
        <p:nvSpPr>
          <p:cNvPr id="54" name="Shape 50"/>
          <p:cNvSpPr/>
          <p:nvPr/>
        </p:nvSpPr>
        <p:spPr>
          <a:xfrm>
            <a:off x="3974924" y="2793119"/>
            <a:ext cx="1212673" cy="7055"/>
          </a:xfrm>
          <a:prstGeom prst="rect">
            <a:avLst/>
          </a:prstGeom>
          <a:solidFill>
            <a:srgbClr val="D9DCE3"/>
          </a:solidFill>
          <a:ln/>
        </p:spPr>
        <p:txBody>
          <a:bodyPr/>
          <a:lstStyle/>
          <a:p>
            <a:endParaRPr lang="es-CL"/>
          </a:p>
        </p:txBody>
      </p:sp>
      <p:sp>
        <p:nvSpPr>
          <p:cNvPr id="55" name="Text 51"/>
          <p:cNvSpPr/>
          <p:nvPr/>
        </p:nvSpPr>
        <p:spPr>
          <a:xfrm>
            <a:off x="4025724" y="2558190"/>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56" name="Shape 52"/>
          <p:cNvSpPr/>
          <p:nvPr/>
        </p:nvSpPr>
        <p:spPr>
          <a:xfrm>
            <a:off x="5187598" y="2793119"/>
            <a:ext cx="545923" cy="7055"/>
          </a:xfrm>
          <a:prstGeom prst="rect">
            <a:avLst/>
          </a:prstGeom>
          <a:solidFill>
            <a:srgbClr val="D9DCE3"/>
          </a:solidFill>
          <a:ln/>
        </p:spPr>
        <p:txBody>
          <a:bodyPr/>
          <a:lstStyle/>
          <a:p>
            <a:endParaRPr lang="es-CL"/>
          </a:p>
        </p:txBody>
      </p:sp>
      <p:sp>
        <p:nvSpPr>
          <p:cNvPr id="57" name="Text 53"/>
          <p:cNvSpPr/>
          <p:nvPr/>
        </p:nvSpPr>
        <p:spPr>
          <a:xfrm>
            <a:off x="5187598" y="2558190"/>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a:t>
            </a:r>
            <a:endParaRPr lang="en-US" sz="950" kern="1200" dirty="0">
              <a:solidFill>
                <a:prstClr val="black"/>
              </a:solidFill>
              <a:latin typeface="Calibri" panose="020F0502020204030204"/>
              <a:ea typeface="+mn-ea"/>
              <a:cs typeface="+mn-cs"/>
            </a:endParaRPr>
          </a:p>
        </p:txBody>
      </p:sp>
      <p:sp>
        <p:nvSpPr>
          <p:cNvPr id="58" name="Shape 54"/>
          <p:cNvSpPr/>
          <p:nvPr/>
        </p:nvSpPr>
        <p:spPr>
          <a:xfrm>
            <a:off x="5733521" y="2793119"/>
            <a:ext cx="1688923" cy="7055"/>
          </a:xfrm>
          <a:prstGeom prst="rect">
            <a:avLst/>
          </a:prstGeom>
          <a:solidFill>
            <a:srgbClr val="D9DCE3"/>
          </a:solidFill>
          <a:ln/>
        </p:spPr>
        <p:txBody>
          <a:bodyPr/>
          <a:lstStyle/>
          <a:p>
            <a:endParaRPr lang="es-CL"/>
          </a:p>
        </p:txBody>
      </p:sp>
      <p:sp>
        <p:nvSpPr>
          <p:cNvPr id="59" name="Shape 55"/>
          <p:cNvSpPr/>
          <p:nvPr/>
        </p:nvSpPr>
        <p:spPr>
          <a:xfrm>
            <a:off x="5784233" y="2628305"/>
            <a:ext cx="18962" cy="101534"/>
          </a:xfrm>
          <a:prstGeom prst="rect">
            <a:avLst/>
          </a:prstGeom>
          <a:solidFill>
            <a:srgbClr val="28D2C3"/>
          </a:solidFill>
          <a:ln/>
        </p:spPr>
        <p:txBody>
          <a:bodyPr/>
          <a:lstStyle/>
          <a:p>
            <a:endParaRPr lang="es-CL"/>
          </a:p>
        </p:txBody>
      </p:sp>
      <p:sp>
        <p:nvSpPr>
          <p:cNvPr id="60" name="Text 56"/>
          <p:cNvSpPr/>
          <p:nvPr/>
        </p:nvSpPr>
        <p:spPr>
          <a:xfrm>
            <a:off x="5866695" y="2608572"/>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12,1</a:t>
            </a:r>
            <a:endParaRPr lang="en-US" sz="950" kern="1200" dirty="0">
              <a:solidFill>
                <a:prstClr val="black"/>
              </a:solidFill>
              <a:latin typeface="Calibri" panose="020F0502020204030204"/>
              <a:ea typeface="+mn-ea"/>
              <a:cs typeface="+mn-cs"/>
            </a:endParaRPr>
          </a:p>
        </p:txBody>
      </p:sp>
      <p:sp>
        <p:nvSpPr>
          <p:cNvPr id="61" name="Shape 57"/>
          <p:cNvSpPr/>
          <p:nvPr/>
        </p:nvSpPr>
        <p:spPr>
          <a:xfrm>
            <a:off x="7422445" y="2793119"/>
            <a:ext cx="610857" cy="7055"/>
          </a:xfrm>
          <a:prstGeom prst="rect">
            <a:avLst/>
          </a:prstGeom>
          <a:solidFill>
            <a:srgbClr val="D9DCE3"/>
          </a:solidFill>
          <a:ln/>
        </p:spPr>
        <p:txBody>
          <a:bodyPr/>
          <a:lstStyle/>
          <a:p>
            <a:endParaRPr lang="es-CL"/>
          </a:p>
        </p:txBody>
      </p:sp>
      <p:sp>
        <p:nvSpPr>
          <p:cNvPr id="62" name="Text 58"/>
          <p:cNvSpPr/>
          <p:nvPr/>
        </p:nvSpPr>
        <p:spPr>
          <a:xfrm>
            <a:off x="7422445" y="2558190"/>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63" name="Shape 59"/>
          <p:cNvSpPr/>
          <p:nvPr/>
        </p:nvSpPr>
        <p:spPr>
          <a:xfrm>
            <a:off x="2667001" y="3035102"/>
            <a:ext cx="1307923" cy="7055"/>
          </a:xfrm>
          <a:prstGeom prst="rect">
            <a:avLst/>
          </a:prstGeom>
          <a:solidFill>
            <a:srgbClr val="D9DCE3"/>
          </a:solidFill>
          <a:ln/>
        </p:spPr>
        <p:txBody>
          <a:bodyPr/>
          <a:lstStyle/>
          <a:p>
            <a:endParaRPr lang="es-CL"/>
          </a:p>
        </p:txBody>
      </p:sp>
      <p:sp>
        <p:nvSpPr>
          <p:cNvPr id="64" name="Text 60"/>
          <p:cNvSpPr/>
          <p:nvPr/>
        </p:nvSpPr>
        <p:spPr>
          <a:xfrm>
            <a:off x="2717801" y="280017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Coquimbo</a:t>
            </a:r>
            <a:endParaRPr lang="en-US" sz="950" kern="1200" dirty="0">
              <a:solidFill>
                <a:prstClr val="black"/>
              </a:solidFill>
              <a:latin typeface="Calibri" panose="020F0502020204030204"/>
              <a:ea typeface="+mn-ea"/>
              <a:cs typeface="+mn-cs"/>
            </a:endParaRPr>
          </a:p>
        </p:txBody>
      </p:sp>
      <p:sp>
        <p:nvSpPr>
          <p:cNvPr id="65" name="Shape 61"/>
          <p:cNvSpPr/>
          <p:nvPr/>
        </p:nvSpPr>
        <p:spPr>
          <a:xfrm>
            <a:off x="3974924" y="3035102"/>
            <a:ext cx="1212673" cy="7055"/>
          </a:xfrm>
          <a:prstGeom prst="rect">
            <a:avLst/>
          </a:prstGeom>
          <a:solidFill>
            <a:srgbClr val="D9DCE3"/>
          </a:solidFill>
          <a:ln/>
        </p:spPr>
        <p:txBody>
          <a:bodyPr/>
          <a:lstStyle/>
          <a:p>
            <a:endParaRPr lang="es-CL"/>
          </a:p>
        </p:txBody>
      </p:sp>
      <p:sp>
        <p:nvSpPr>
          <p:cNvPr id="66" name="Text 62"/>
          <p:cNvSpPr/>
          <p:nvPr/>
        </p:nvSpPr>
        <p:spPr>
          <a:xfrm>
            <a:off x="4025724" y="280017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67" name="Shape 63"/>
          <p:cNvSpPr/>
          <p:nvPr/>
        </p:nvSpPr>
        <p:spPr>
          <a:xfrm>
            <a:off x="5187598" y="3035102"/>
            <a:ext cx="545923" cy="7055"/>
          </a:xfrm>
          <a:prstGeom prst="rect">
            <a:avLst/>
          </a:prstGeom>
          <a:solidFill>
            <a:srgbClr val="D9DCE3"/>
          </a:solidFill>
          <a:ln/>
        </p:spPr>
        <p:txBody>
          <a:bodyPr/>
          <a:lstStyle/>
          <a:p>
            <a:endParaRPr lang="es-CL"/>
          </a:p>
        </p:txBody>
      </p:sp>
      <p:sp>
        <p:nvSpPr>
          <p:cNvPr id="68" name="Text 64"/>
          <p:cNvSpPr/>
          <p:nvPr/>
        </p:nvSpPr>
        <p:spPr>
          <a:xfrm>
            <a:off x="5187598" y="280017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43</a:t>
            </a:r>
            <a:endParaRPr lang="en-US" sz="950" kern="1200" dirty="0">
              <a:solidFill>
                <a:prstClr val="black"/>
              </a:solidFill>
              <a:latin typeface="Calibri" panose="020F0502020204030204"/>
              <a:ea typeface="+mn-ea"/>
              <a:cs typeface="+mn-cs"/>
            </a:endParaRPr>
          </a:p>
        </p:txBody>
      </p:sp>
      <p:sp>
        <p:nvSpPr>
          <p:cNvPr id="69" name="Shape 65"/>
          <p:cNvSpPr/>
          <p:nvPr/>
        </p:nvSpPr>
        <p:spPr>
          <a:xfrm>
            <a:off x="5733521" y="3035102"/>
            <a:ext cx="1688923" cy="7055"/>
          </a:xfrm>
          <a:prstGeom prst="rect">
            <a:avLst/>
          </a:prstGeom>
          <a:solidFill>
            <a:srgbClr val="D9DCE3"/>
          </a:solidFill>
          <a:ln/>
        </p:spPr>
        <p:txBody>
          <a:bodyPr/>
          <a:lstStyle/>
          <a:p>
            <a:endParaRPr lang="es-CL"/>
          </a:p>
        </p:txBody>
      </p:sp>
      <p:sp>
        <p:nvSpPr>
          <p:cNvPr id="70" name="Shape 66"/>
          <p:cNvSpPr/>
          <p:nvPr/>
        </p:nvSpPr>
        <p:spPr>
          <a:xfrm>
            <a:off x="5784233" y="2870289"/>
            <a:ext cx="116857" cy="101534"/>
          </a:xfrm>
          <a:prstGeom prst="rect">
            <a:avLst/>
          </a:prstGeom>
          <a:solidFill>
            <a:srgbClr val="28D2C3"/>
          </a:solidFill>
          <a:ln/>
        </p:spPr>
        <p:txBody>
          <a:bodyPr/>
          <a:lstStyle/>
          <a:p>
            <a:endParaRPr lang="es-CL"/>
          </a:p>
        </p:txBody>
      </p:sp>
      <p:sp>
        <p:nvSpPr>
          <p:cNvPr id="71" name="Text 67"/>
          <p:cNvSpPr/>
          <p:nvPr/>
        </p:nvSpPr>
        <p:spPr>
          <a:xfrm>
            <a:off x="5964591" y="2850555"/>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87,3</a:t>
            </a:r>
            <a:endParaRPr lang="en-US" sz="950" kern="1200" dirty="0">
              <a:solidFill>
                <a:prstClr val="black"/>
              </a:solidFill>
              <a:latin typeface="Calibri" panose="020F0502020204030204"/>
              <a:ea typeface="+mn-ea"/>
              <a:cs typeface="+mn-cs"/>
            </a:endParaRPr>
          </a:p>
        </p:txBody>
      </p:sp>
      <p:sp>
        <p:nvSpPr>
          <p:cNvPr id="72" name="Shape 68"/>
          <p:cNvSpPr/>
          <p:nvPr/>
        </p:nvSpPr>
        <p:spPr>
          <a:xfrm>
            <a:off x="7422445" y="3035102"/>
            <a:ext cx="610857" cy="7055"/>
          </a:xfrm>
          <a:prstGeom prst="rect">
            <a:avLst/>
          </a:prstGeom>
          <a:solidFill>
            <a:srgbClr val="D9DCE3"/>
          </a:solidFill>
          <a:ln/>
        </p:spPr>
        <p:txBody>
          <a:bodyPr/>
          <a:lstStyle/>
          <a:p>
            <a:endParaRPr lang="es-CL"/>
          </a:p>
        </p:txBody>
      </p:sp>
      <p:sp>
        <p:nvSpPr>
          <p:cNvPr id="73" name="Text 69"/>
          <p:cNvSpPr/>
          <p:nvPr/>
        </p:nvSpPr>
        <p:spPr>
          <a:xfrm>
            <a:off x="7422445" y="280017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5</a:t>
            </a:r>
            <a:endParaRPr lang="en-US" sz="950" kern="1200" dirty="0">
              <a:solidFill>
                <a:prstClr val="black"/>
              </a:solidFill>
              <a:latin typeface="Calibri" panose="020F0502020204030204"/>
              <a:ea typeface="+mn-ea"/>
              <a:cs typeface="+mn-cs"/>
            </a:endParaRPr>
          </a:p>
        </p:txBody>
      </p:sp>
      <p:sp>
        <p:nvSpPr>
          <p:cNvPr id="74" name="Shape 70"/>
          <p:cNvSpPr/>
          <p:nvPr/>
        </p:nvSpPr>
        <p:spPr>
          <a:xfrm>
            <a:off x="2667001" y="3277086"/>
            <a:ext cx="1307923" cy="7055"/>
          </a:xfrm>
          <a:prstGeom prst="rect">
            <a:avLst/>
          </a:prstGeom>
          <a:solidFill>
            <a:srgbClr val="D9DCE3"/>
          </a:solidFill>
          <a:ln/>
        </p:spPr>
        <p:txBody>
          <a:bodyPr/>
          <a:lstStyle/>
          <a:p>
            <a:endParaRPr lang="es-CL"/>
          </a:p>
        </p:txBody>
      </p:sp>
      <p:sp>
        <p:nvSpPr>
          <p:cNvPr id="75" name="Text 71"/>
          <p:cNvSpPr/>
          <p:nvPr/>
        </p:nvSpPr>
        <p:spPr>
          <a:xfrm>
            <a:off x="2717801" y="3042157"/>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Valparaíso</a:t>
            </a:r>
            <a:endParaRPr lang="en-US" sz="950" kern="1200" dirty="0">
              <a:solidFill>
                <a:prstClr val="black"/>
              </a:solidFill>
              <a:latin typeface="Calibri" panose="020F0502020204030204"/>
              <a:ea typeface="+mn-ea"/>
              <a:cs typeface="+mn-cs"/>
            </a:endParaRPr>
          </a:p>
        </p:txBody>
      </p:sp>
      <p:sp>
        <p:nvSpPr>
          <p:cNvPr id="76" name="Shape 72"/>
          <p:cNvSpPr/>
          <p:nvPr/>
        </p:nvSpPr>
        <p:spPr>
          <a:xfrm>
            <a:off x="3974924" y="3277086"/>
            <a:ext cx="1212673" cy="7055"/>
          </a:xfrm>
          <a:prstGeom prst="rect">
            <a:avLst/>
          </a:prstGeom>
          <a:solidFill>
            <a:srgbClr val="D9DCE3"/>
          </a:solidFill>
          <a:ln/>
        </p:spPr>
        <p:txBody>
          <a:bodyPr/>
          <a:lstStyle/>
          <a:p>
            <a:endParaRPr lang="es-CL"/>
          </a:p>
        </p:txBody>
      </p:sp>
      <p:sp>
        <p:nvSpPr>
          <p:cNvPr id="77" name="Text 73"/>
          <p:cNvSpPr/>
          <p:nvPr/>
        </p:nvSpPr>
        <p:spPr>
          <a:xfrm>
            <a:off x="4025724" y="3042157"/>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78" name="Shape 74"/>
          <p:cNvSpPr/>
          <p:nvPr/>
        </p:nvSpPr>
        <p:spPr>
          <a:xfrm>
            <a:off x="5187598" y="3277086"/>
            <a:ext cx="545923" cy="7055"/>
          </a:xfrm>
          <a:prstGeom prst="rect">
            <a:avLst/>
          </a:prstGeom>
          <a:solidFill>
            <a:srgbClr val="D9DCE3"/>
          </a:solidFill>
          <a:ln/>
        </p:spPr>
        <p:txBody>
          <a:bodyPr/>
          <a:lstStyle/>
          <a:p>
            <a:endParaRPr lang="es-CL"/>
          </a:p>
        </p:txBody>
      </p:sp>
      <p:sp>
        <p:nvSpPr>
          <p:cNvPr id="79" name="Text 75"/>
          <p:cNvSpPr/>
          <p:nvPr/>
        </p:nvSpPr>
        <p:spPr>
          <a:xfrm>
            <a:off x="5187598" y="3042157"/>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77</a:t>
            </a:r>
            <a:endParaRPr lang="en-US" sz="950" kern="1200" dirty="0">
              <a:solidFill>
                <a:prstClr val="black"/>
              </a:solidFill>
              <a:latin typeface="Calibri" panose="020F0502020204030204"/>
              <a:ea typeface="+mn-ea"/>
              <a:cs typeface="+mn-cs"/>
            </a:endParaRPr>
          </a:p>
        </p:txBody>
      </p:sp>
      <p:sp>
        <p:nvSpPr>
          <p:cNvPr id="80" name="Shape 76"/>
          <p:cNvSpPr/>
          <p:nvPr/>
        </p:nvSpPr>
        <p:spPr>
          <a:xfrm>
            <a:off x="5733521" y="3277086"/>
            <a:ext cx="1688923" cy="7055"/>
          </a:xfrm>
          <a:prstGeom prst="rect">
            <a:avLst/>
          </a:prstGeom>
          <a:solidFill>
            <a:srgbClr val="D9DCE3"/>
          </a:solidFill>
          <a:ln/>
        </p:spPr>
        <p:txBody>
          <a:bodyPr/>
          <a:lstStyle/>
          <a:p>
            <a:endParaRPr lang="es-CL"/>
          </a:p>
        </p:txBody>
      </p:sp>
      <p:sp>
        <p:nvSpPr>
          <p:cNvPr id="81" name="Shape 77"/>
          <p:cNvSpPr/>
          <p:nvPr/>
        </p:nvSpPr>
        <p:spPr>
          <a:xfrm>
            <a:off x="5784233" y="3112272"/>
            <a:ext cx="255433" cy="101534"/>
          </a:xfrm>
          <a:prstGeom prst="rect">
            <a:avLst/>
          </a:prstGeom>
          <a:solidFill>
            <a:srgbClr val="28D2C3"/>
          </a:solidFill>
          <a:ln/>
        </p:spPr>
        <p:txBody>
          <a:bodyPr/>
          <a:lstStyle/>
          <a:p>
            <a:endParaRPr lang="es-CL"/>
          </a:p>
        </p:txBody>
      </p:sp>
      <p:sp>
        <p:nvSpPr>
          <p:cNvPr id="82" name="Text 78"/>
          <p:cNvSpPr/>
          <p:nvPr/>
        </p:nvSpPr>
        <p:spPr>
          <a:xfrm>
            <a:off x="6103166" y="3092539"/>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191,4</a:t>
            </a:r>
            <a:endParaRPr lang="en-US" sz="950" kern="1200" dirty="0">
              <a:solidFill>
                <a:prstClr val="black"/>
              </a:solidFill>
              <a:latin typeface="Calibri" panose="020F0502020204030204"/>
              <a:ea typeface="+mn-ea"/>
              <a:cs typeface="+mn-cs"/>
            </a:endParaRPr>
          </a:p>
        </p:txBody>
      </p:sp>
      <p:sp>
        <p:nvSpPr>
          <p:cNvPr id="83" name="Shape 79"/>
          <p:cNvSpPr/>
          <p:nvPr/>
        </p:nvSpPr>
        <p:spPr>
          <a:xfrm>
            <a:off x="7422445" y="3277086"/>
            <a:ext cx="610857" cy="7055"/>
          </a:xfrm>
          <a:prstGeom prst="rect">
            <a:avLst/>
          </a:prstGeom>
          <a:solidFill>
            <a:srgbClr val="D9DCE3"/>
          </a:solidFill>
          <a:ln/>
        </p:spPr>
        <p:txBody>
          <a:bodyPr/>
          <a:lstStyle/>
          <a:p>
            <a:endParaRPr lang="es-CL"/>
          </a:p>
        </p:txBody>
      </p:sp>
      <p:sp>
        <p:nvSpPr>
          <p:cNvPr id="84" name="Text 80"/>
          <p:cNvSpPr/>
          <p:nvPr/>
        </p:nvSpPr>
        <p:spPr>
          <a:xfrm>
            <a:off x="7422445" y="3042157"/>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9</a:t>
            </a:r>
            <a:endParaRPr lang="en-US" sz="950" kern="1200" dirty="0">
              <a:solidFill>
                <a:prstClr val="black"/>
              </a:solidFill>
              <a:latin typeface="Calibri" panose="020F0502020204030204"/>
              <a:ea typeface="+mn-ea"/>
              <a:cs typeface="+mn-cs"/>
            </a:endParaRPr>
          </a:p>
        </p:txBody>
      </p:sp>
      <p:sp>
        <p:nvSpPr>
          <p:cNvPr id="85" name="Shape 81"/>
          <p:cNvSpPr/>
          <p:nvPr/>
        </p:nvSpPr>
        <p:spPr>
          <a:xfrm>
            <a:off x="2667001" y="3519069"/>
            <a:ext cx="1307923" cy="7055"/>
          </a:xfrm>
          <a:prstGeom prst="rect">
            <a:avLst/>
          </a:prstGeom>
          <a:solidFill>
            <a:srgbClr val="D9DCE3"/>
          </a:solidFill>
          <a:ln/>
        </p:spPr>
        <p:txBody>
          <a:bodyPr/>
          <a:lstStyle/>
          <a:p>
            <a:endParaRPr lang="es-CL"/>
          </a:p>
        </p:txBody>
      </p:sp>
      <p:sp>
        <p:nvSpPr>
          <p:cNvPr id="86" name="Text 82"/>
          <p:cNvSpPr/>
          <p:nvPr/>
        </p:nvSpPr>
        <p:spPr>
          <a:xfrm>
            <a:off x="2717801" y="3284141"/>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Metropolitana</a:t>
            </a:r>
            <a:endParaRPr lang="en-US" sz="950" kern="1200" dirty="0">
              <a:solidFill>
                <a:prstClr val="black"/>
              </a:solidFill>
              <a:latin typeface="Calibri" panose="020F0502020204030204"/>
              <a:ea typeface="+mn-ea"/>
              <a:cs typeface="+mn-cs"/>
            </a:endParaRPr>
          </a:p>
        </p:txBody>
      </p:sp>
      <p:sp>
        <p:nvSpPr>
          <p:cNvPr id="87" name="Shape 83"/>
          <p:cNvSpPr/>
          <p:nvPr/>
        </p:nvSpPr>
        <p:spPr>
          <a:xfrm>
            <a:off x="3974924" y="3519069"/>
            <a:ext cx="1212673" cy="7055"/>
          </a:xfrm>
          <a:prstGeom prst="rect">
            <a:avLst/>
          </a:prstGeom>
          <a:solidFill>
            <a:srgbClr val="D9DCE3"/>
          </a:solidFill>
          <a:ln/>
        </p:spPr>
        <p:txBody>
          <a:bodyPr/>
          <a:lstStyle/>
          <a:p>
            <a:endParaRPr lang="es-CL"/>
          </a:p>
        </p:txBody>
      </p:sp>
      <p:sp>
        <p:nvSpPr>
          <p:cNvPr id="88" name="Text 84"/>
          <p:cNvSpPr/>
          <p:nvPr/>
        </p:nvSpPr>
        <p:spPr>
          <a:xfrm>
            <a:off x="4025724" y="3284141"/>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 Eglys</a:t>
            </a:r>
            <a:endParaRPr lang="en-US" sz="950" kern="1200" dirty="0">
              <a:solidFill>
                <a:prstClr val="black"/>
              </a:solidFill>
              <a:latin typeface="Calibri" panose="020F0502020204030204"/>
              <a:ea typeface="+mn-ea"/>
              <a:cs typeface="+mn-cs"/>
            </a:endParaRPr>
          </a:p>
        </p:txBody>
      </p:sp>
      <p:sp>
        <p:nvSpPr>
          <p:cNvPr id="89" name="Shape 85"/>
          <p:cNvSpPr/>
          <p:nvPr/>
        </p:nvSpPr>
        <p:spPr>
          <a:xfrm>
            <a:off x="5187598" y="3519069"/>
            <a:ext cx="545923" cy="7055"/>
          </a:xfrm>
          <a:prstGeom prst="rect">
            <a:avLst/>
          </a:prstGeom>
          <a:solidFill>
            <a:srgbClr val="D9DCE3"/>
          </a:solidFill>
          <a:ln/>
        </p:spPr>
        <p:txBody>
          <a:bodyPr/>
          <a:lstStyle/>
          <a:p>
            <a:endParaRPr lang="es-CL"/>
          </a:p>
        </p:txBody>
      </p:sp>
      <p:sp>
        <p:nvSpPr>
          <p:cNvPr id="90" name="Text 86"/>
          <p:cNvSpPr/>
          <p:nvPr/>
        </p:nvSpPr>
        <p:spPr>
          <a:xfrm>
            <a:off x="5187598" y="3284141"/>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333</a:t>
            </a:r>
            <a:endParaRPr lang="en-US" sz="950" kern="1200" dirty="0">
              <a:solidFill>
                <a:prstClr val="black"/>
              </a:solidFill>
              <a:latin typeface="Calibri" panose="020F0502020204030204"/>
              <a:ea typeface="+mn-ea"/>
              <a:cs typeface="+mn-cs"/>
            </a:endParaRPr>
          </a:p>
        </p:txBody>
      </p:sp>
      <p:sp>
        <p:nvSpPr>
          <p:cNvPr id="91" name="Shape 87"/>
          <p:cNvSpPr/>
          <p:nvPr/>
        </p:nvSpPr>
        <p:spPr>
          <a:xfrm>
            <a:off x="5733521" y="3519069"/>
            <a:ext cx="1688923" cy="7055"/>
          </a:xfrm>
          <a:prstGeom prst="rect">
            <a:avLst/>
          </a:prstGeom>
          <a:solidFill>
            <a:srgbClr val="D9DCE3"/>
          </a:solidFill>
          <a:ln/>
        </p:spPr>
        <p:txBody>
          <a:bodyPr/>
          <a:lstStyle/>
          <a:p>
            <a:endParaRPr lang="es-CL"/>
          </a:p>
        </p:txBody>
      </p:sp>
      <p:sp>
        <p:nvSpPr>
          <p:cNvPr id="92" name="Shape 88"/>
          <p:cNvSpPr/>
          <p:nvPr/>
        </p:nvSpPr>
        <p:spPr>
          <a:xfrm>
            <a:off x="5784233" y="3354256"/>
            <a:ext cx="1111250" cy="101534"/>
          </a:xfrm>
          <a:prstGeom prst="rect">
            <a:avLst/>
          </a:prstGeom>
          <a:solidFill>
            <a:srgbClr val="28D2C3"/>
          </a:solidFill>
          <a:ln/>
        </p:spPr>
        <p:txBody>
          <a:bodyPr/>
          <a:lstStyle/>
          <a:p>
            <a:endParaRPr lang="es-CL"/>
          </a:p>
        </p:txBody>
      </p:sp>
      <p:sp>
        <p:nvSpPr>
          <p:cNvPr id="93" name="Text 89"/>
          <p:cNvSpPr/>
          <p:nvPr/>
        </p:nvSpPr>
        <p:spPr>
          <a:xfrm>
            <a:off x="6958983" y="3334523"/>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1100,5</a:t>
            </a:r>
            <a:endParaRPr lang="en-US" sz="950" kern="1200" dirty="0">
              <a:solidFill>
                <a:prstClr val="black"/>
              </a:solidFill>
              <a:latin typeface="Calibri" panose="020F0502020204030204"/>
              <a:ea typeface="+mn-ea"/>
              <a:cs typeface="+mn-cs"/>
            </a:endParaRPr>
          </a:p>
        </p:txBody>
      </p:sp>
      <p:sp>
        <p:nvSpPr>
          <p:cNvPr id="94" name="Shape 90"/>
          <p:cNvSpPr/>
          <p:nvPr/>
        </p:nvSpPr>
        <p:spPr>
          <a:xfrm>
            <a:off x="7422445" y="3519069"/>
            <a:ext cx="610857" cy="7055"/>
          </a:xfrm>
          <a:prstGeom prst="rect">
            <a:avLst/>
          </a:prstGeom>
          <a:solidFill>
            <a:srgbClr val="D9DCE3"/>
          </a:solidFill>
          <a:ln/>
        </p:spPr>
        <p:txBody>
          <a:bodyPr/>
          <a:lstStyle/>
          <a:p>
            <a:endParaRPr lang="es-CL"/>
          </a:p>
        </p:txBody>
      </p:sp>
      <p:sp>
        <p:nvSpPr>
          <p:cNvPr id="95" name="Text 91"/>
          <p:cNvSpPr/>
          <p:nvPr/>
        </p:nvSpPr>
        <p:spPr>
          <a:xfrm>
            <a:off x="7422445" y="3284141"/>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28</a:t>
            </a:r>
            <a:endParaRPr lang="en-US" sz="950" kern="1200" dirty="0">
              <a:solidFill>
                <a:prstClr val="black"/>
              </a:solidFill>
              <a:latin typeface="Calibri" panose="020F0502020204030204"/>
              <a:ea typeface="+mn-ea"/>
              <a:cs typeface="+mn-cs"/>
            </a:endParaRPr>
          </a:p>
        </p:txBody>
      </p:sp>
      <p:sp>
        <p:nvSpPr>
          <p:cNvPr id="96" name="Shape 92"/>
          <p:cNvSpPr/>
          <p:nvPr/>
        </p:nvSpPr>
        <p:spPr>
          <a:xfrm>
            <a:off x="2667001" y="3761053"/>
            <a:ext cx="1307923" cy="7055"/>
          </a:xfrm>
          <a:prstGeom prst="rect">
            <a:avLst/>
          </a:prstGeom>
          <a:solidFill>
            <a:srgbClr val="D9DCE3"/>
          </a:solidFill>
          <a:ln/>
        </p:spPr>
        <p:txBody>
          <a:bodyPr/>
          <a:lstStyle/>
          <a:p>
            <a:endParaRPr lang="es-CL"/>
          </a:p>
        </p:txBody>
      </p:sp>
      <p:sp>
        <p:nvSpPr>
          <p:cNvPr id="97" name="Text 93"/>
          <p:cNvSpPr/>
          <p:nvPr/>
        </p:nvSpPr>
        <p:spPr>
          <a:xfrm>
            <a:off x="2717801" y="3526124"/>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O'Higgins</a:t>
            </a:r>
            <a:endParaRPr lang="en-US" sz="950" kern="1200" dirty="0">
              <a:solidFill>
                <a:prstClr val="black"/>
              </a:solidFill>
              <a:latin typeface="Calibri" panose="020F0502020204030204"/>
              <a:ea typeface="+mn-ea"/>
              <a:cs typeface="+mn-cs"/>
            </a:endParaRPr>
          </a:p>
        </p:txBody>
      </p:sp>
      <p:sp>
        <p:nvSpPr>
          <p:cNvPr id="98" name="Shape 94"/>
          <p:cNvSpPr/>
          <p:nvPr/>
        </p:nvSpPr>
        <p:spPr>
          <a:xfrm>
            <a:off x="3974924" y="3761053"/>
            <a:ext cx="1212673" cy="7055"/>
          </a:xfrm>
          <a:prstGeom prst="rect">
            <a:avLst/>
          </a:prstGeom>
          <a:solidFill>
            <a:srgbClr val="D9DCE3"/>
          </a:solidFill>
          <a:ln/>
        </p:spPr>
        <p:txBody>
          <a:bodyPr/>
          <a:lstStyle/>
          <a:p>
            <a:endParaRPr lang="es-CL"/>
          </a:p>
        </p:txBody>
      </p:sp>
      <p:sp>
        <p:nvSpPr>
          <p:cNvPr id="99" name="Text 95"/>
          <p:cNvSpPr/>
          <p:nvPr/>
        </p:nvSpPr>
        <p:spPr>
          <a:xfrm>
            <a:off x="4025724" y="3526124"/>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00" name="Shape 96"/>
          <p:cNvSpPr/>
          <p:nvPr/>
        </p:nvSpPr>
        <p:spPr>
          <a:xfrm>
            <a:off x="5187598" y="3761053"/>
            <a:ext cx="545923" cy="7055"/>
          </a:xfrm>
          <a:prstGeom prst="rect">
            <a:avLst/>
          </a:prstGeom>
          <a:solidFill>
            <a:srgbClr val="D9DCE3"/>
          </a:solidFill>
          <a:ln/>
        </p:spPr>
        <p:txBody>
          <a:bodyPr/>
          <a:lstStyle/>
          <a:p>
            <a:endParaRPr lang="es-CL"/>
          </a:p>
        </p:txBody>
      </p:sp>
      <p:sp>
        <p:nvSpPr>
          <p:cNvPr id="101" name="Text 97"/>
          <p:cNvSpPr/>
          <p:nvPr/>
        </p:nvSpPr>
        <p:spPr>
          <a:xfrm>
            <a:off x="5187598" y="3526124"/>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32</a:t>
            </a:r>
            <a:endParaRPr lang="en-US" sz="950" kern="1200" dirty="0">
              <a:solidFill>
                <a:prstClr val="black"/>
              </a:solidFill>
              <a:latin typeface="Calibri" panose="020F0502020204030204"/>
              <a:ea typeface="+mn-ea"/>
              <a:cs typeface="+mn-cs"/>
            </a:endParaRPr>
          </a:p>
        </p:txBody>
      </p:sp>
      <p:sp>
        <p:nvSpPr>
          <p:cNvPr id="102" name="Shape 98"/>
          <p:cNvSpPr/>
          <p:nvPr/>
        </p:nvSpPr>
        <p:spPr>
          <a:xfrm>
            <a:off x="5733521" y="3761053"/>
            <a:ext cx="1688923" cy="7055"/>
          </a:xfrm>
          <a:prstGeom prst="rect">
            <a:avLst/>
          </a:prstGeom>
          <a:solidFill>
            <a:srgbClr val="D9DCE3"/>
          </a:solidFill>
          <a:ln/>
        </p:spPr>
        <p:txBody>
          <a:bodyPr/>
          <a:lstStyle/>
          <a:p>
            <a:endParaRPr lang="es-CL"/>
          </a:p>
        </p:txBody>
      </p:sp>
      <p:sp>
        <p:nvSpPr>
          <p:cNvPr id="103" name="Shape 99"/>
          <p:cNvSpPr/>
          <p:nvPr/>
        </p:nvSpPr>
        <p:spPr>
          <a:xfrm>
            <a:off x="5784233" y="3596240"/>
            <a:ext cx="95360" cy="101534"/>
          </a:xfrm>
          <a:prstGeom prst="rect">
            <a:avLst/>
          </a:prstGeom>
          <a:solidFill>
            <a:srgbClr val="282DF0"/>
          </a:solidFill>
          <a:ln/>
        </p:spPr>
        <p:txBody>
          <a:bodyPr/>
          <a:lstStyle/>
          <a:p>
            <a:endParaRPr lang="es-CL"/>
          </a:p>
        </p:txBody>
      </p:sp>
      <p:sp>
        <p:nvSpPr>
          <p:cNvPr id="104" name="Text 100"/>
          <p:cNvSpPr/>
          <p:nvPr/>
        </p:nvSpPr>
        <p:spPr>
          <a:xfrm>
            <a:off x="5943093" y="3576506"/>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71,2</a:t>
            </a:r>
            <a:endParaRPr lang="en-US" sz="950" kern="1200" dirty="0">
              <a:solidFill>
                <a:prstClr val="black"/>
              </a:solidFill>
              <a:latin typeface="Calibri" panose="020F0502020204030204"/>
              <a:ea typeface="+mn-ea"/>
              <a:cs typeface="+mn-cs"/>
            </a:endParaRPr>
          </a:p>
        </p:txBody>
      </p:sp>
      <p:sp>
        <p:nvSpPr>
          <p:cNvPr id="105" name="Shape 101"/>
          <p:cNvSpPr/>
          <p:nvPr/>
        </p:nvSpPr>
        <p:spPr>
          <a:xfrm>
            <a:off x="7422445" y="3761053"/>
            <a:ext cx="610857" cy="7055"/>
          </a:xfrm>
          <a:prstGeom prst="rect">
            <a:avLst/>
          </a:prstGeom>
          <a:solidFill>
            <a:srgbClr val="D9DCE3"/>
          </a:solidFill>
          <a:ln/>
        </p:spPr>
        <p:txBody>
          <a:bodyPr/>
          <a:lstStyle/>
          <a:p>
            <a:endParaRPr lang="es-CL"/>
          </a:p>
        </p:txBody>
      </p:sp>
      <p:sp>
        <p:nvSpPr>
          <p:cNvPr id="106" name="Text 102"/>
          <p:cNvSpPr/>
          <p:nvPr/>
        </p:nvSpPr>
        <p:spPr>
          <a:xfrm>
            <a:off x="7422445" y="3526124"/>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0</a:t>
            </a:r>
            <a:endParaRPr lang="en-US" sz="950" kern="1200" dirty="0">
              <a:solidFill>
                <a:prstClr val="black"/>
              </a:solidFill>
              <a:latin typeface="Calibri" panose="020F0502020204030204"/>
              <a:ea typeface="+mn-ea"/>
              <a:cs typeface="+mn-cs"/>
            </a:endParaRPr>
          </a:p>
        </p:txBody>
      </p:sp>
      <p:sp>
        <p:nvSpPr>
          <p:cNvPr id="107" name="Shape 103"/>
          <p:cNvSpPr/>
          <p:nvPr/>
        </p:nvSpPr>
        <p:spPr>
          <a:xfrm>
            <a:off x="2667001" y="4003037"/>
            <a:ext cx="1307923" cy="7055"/>
          </a:xfrm>
          <a:prstGeom prst="rect">
            <a:avLst/>
          </a:prstGeom>
          <a:solidFill>
            <a:srgbClr val="D9DCE3"/>
          </a:solidFill>
          <a:ln/>
        </p:spPr>
        <p:txBody>
          <a:bodyPr/>
          <a:lstStyle/>
          <a:p>
            <a:endParaRPr lang="es-CL"/>
          </a:p>
        </p:txBody>
      </p:sp>
      <p:sp>
        <p:nvSpPr>
          <p:cNvPr id="108" name="Text 104"/>
          <p:cNvSpPr/>
          <p:nvPr/>
        </p:nvSpPr>
        <p:spPr>
          <a:xfrm>
            <a:off x="2717801" y="3768108"/>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Maule</a:t>
            </a:r>
            <a:endParaRPr lang="en-US" sz="950" kern="1200" dirty="0">
              <a:solidFill>
                <a:prstClr val="black"/>
              </a:solidFill>
              <a:latin typeface="Calibri" panose="020F0502020204030204"/>
              <a:ea typeface="+mn-ea"/>
              <a:cs typeface="+mn-cs"/>
            </a:endParaRPr>
          </a:p>
        </p:txBody>
      </p:sp>
      <p:sp>
        <p:nvSpPr>
          <p:cNvPr id="109" name="Shape 105"/>
          <p:cNvSpPr/>
          <p:nvPr/>
        </p:nvSpPr>
        <p:spPr>
          <a:xfrm>
            <a:off x="3974924" y="4003037"/>
            <a:ext cx="1212673" cy="7055"/>
          </a:xfrm>
          <a:prstGeom prst="rect">
            <a:avLst/>
          </a:prstGeom>
          <a:solidFill>
            <a:srgbClr val="D9DCE3"/>
          </a:solidFill>
          <a:ln/>
        </p:spPr>
        <p:txBody>
          <a:bodyPr/>
          <a:lstStyle/>
          <a:p>
            <a:endParaRPr lang="es-CL"/>
          </a:p>
        </p:txBody>
      </p:sp>
      <p:sp>
        <p:nvSpPr>
          <p:cNvPr id="110" name="Text 106"/>
          <p:cNvSpPr/>
          <p:nvPr/>
        </p:nvSpPr>
        <p:spPr>
          <a:xfrm>
            <a:off x="4025724" y="3768108"/>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111" name="Shape 107"/>
          <p:cNvSpPr/>
          <p:nvPr/>
        </p:nvSpPr>
        <p:spPr>
          <a:xfrm>
            <a:off x="5187598" y="4003037"/>
            <a:ext cx="545923" cy="7055"/>
          </a:xfrm>
          <a:prstGeom prst="rect">
            <a:avLst/>
          </a:prstGeom>
          <a:solidFill>
            <a:srgbClr val="D9DCE3"/>
          </a:solidFill>
          <a:ln/>
        </p:spPr>
        <p:txBody>
          <a:bodyPr/>
          <a:lstStyle/>
          <a:p>
            <a:endParaRPr lang="es-CL"/>
          </a:p>
        </p:txBody>
      </p:sp>
      <p:sp>
        <p:nvSpPr>
          <p:cNvPr id="112" name="Text 108"/>
          <p:cNvSpPr/>
          <p:nvPr/>
        </p:nvSpPr>
        <p:spPr>
          <a:xfrm>
            <a:off x="5187598" y="3768108"/>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46</a:t>
            </a:r>
            <a:endParaRPr lang="en-US" sz="950" kern="1200" dirty="0">
              <a:solidFill>
                <a:prstClr val="black"/>
              </a:solidFill>
              <a:latin typeface="Calibri" panose="020F0502020204030204"/>
              <a:ea typeface="+mn-ea"/>
              <a:cs typeface="+mn-cs"/>
            </a:endParaRPr>
          </a:p>
        </p:txBody>
      </p:sp>
      <p:sp>
        <p:nvSpPr>
          <p:cNvPr id="113" name="Shape 109"/>
          <p:cNvSpPr/>
          <p:nvPr/>
        </p:nvSpPr>
        <p:spPr>
          <a:xfrm>
            <a:off x="5733521" y="4003037"/>
            <a:ext cx="1688923" cy="7055"/>
          </a:xfrm>
          <a:prstGeom prst="rect">
            <a:avLst/>
          </a:prstGeom>
          <a:solidFill>
            <a:srgbClr val="D9DCE3"/>
          </a:solidFill>
          <a:ln/>
        </p:spPr>
        <p:txBody>
          <a:bodyPr/>
          <a:lstStyle/>
          <a:p>
            <a:endParaRPr lang="es-CL"/>
          </a:p>
        </p:txBody>
      </p:sp>
      <p:sp>
        <p:nvSpPr>
          <p:cNvPr id="114" name="Shape 110"/>
          <p:cNvSpPr/>
          <p:nvPr/>
        </p:nvSpPr>
        <p:spPr>
          <a:xfrm>
            <a:off x="5784233" y="3838222"/>
            <a:ext cx="177161" cy="101534"/>
          </a:xfrm>
          <a:prstGeom prst="rect">
            <a:avLst/>
          </a:prstGeom>
          <a:solidFill>
            <a:srgbClr val="28D2C3"/>
          </a:solidFill>
          <a:ln/>
        </p:spPr>
        <p:txBody>
          <a:bodyPr/>
          <a:lstStyle/>
          <a:p>
            <a:endParaRPr lang="es-CL"/>
          </a:p>
        </p:txBody>
      </p:sp>
      <p:sp>
        <p:nvSpPr>
          <p:cNvPr id="115" name="Text 111"/>
          <p:cNvSpPr/>
          <p:nvPr/>
        </p:nvSpPr>
        <p:spPr>
          <a:xfrm>
            <a:off x="6024893" y="3818490"/>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132,3</a:t>
            </a:r>
            <a:endParaRPr lang="en-US" sz="950" kern="1200" dirty="0">
              <a:solidFill>
                <a:prstClr val="black"/>
              </a:solidFill>
              <a:latin typeface="Calibri" panose="020F0502020204030204"/>
              <a:ea typeface="+mn-ea"/>
              <a:cs typeface="+mn-cs"/>
            </a:endParaRPr>
          </a:p>
        </p:txBody>
      </p:sp>
      <p:sp>
        <p:nvSpPr>
          <p:cNvPr id="116" name="Shape 112"/>
          <p:cNvSpPr/>
          <p:nvPr/>
        </p:nvSpPr>
        <p:spPr>
          <a:xfrm>
            <a:off x="7422445" y="4003037"/>
            <a:ext cx="610857" cy="7055"/>
          </a:xfrm>
          <a:prstGeom prst="rect">
            <a:avLst/>
          </a:prstGeom>
          <a:solidFill>
            <a:srgbClr val="D9DCE3"/>
          </a:solidFill>
          <a:ln/>
        </p:spPr>
        <p:txBody>
          <a:bodyPr/>
          <a:lstStyle/>
          <a:p>
            <a:endParaRPr lang="es-CL"/>
          </a:p>
        </p:txBody>
      </p:sp>
      <p:sp>
        <p:nvSpPr>
          <p:cNvPr id="117" name="Text 113"/>
          <p:cNvSpPr/>
          <p:nvPr/>
        </p:nvSpPr>
        <p:spPr>
          <a:xfrm>
            <a:off x="7422445" y="3768108"/>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a:t>
            </a:r>
            <a:endParaRPr lang="en-US" sz="950" kern="1200" dirty="0">
              <a:solidFill>
                <a:prstClr val="black"/>
              </a:solidFill>
              <a:latin typeface="Calibri" panose="020F0502020204030204"/>
              <a:ea typeface="+mn-ea"/>
              <a:cs typeface="+mn-cs"/>
            </a:endParaRPr>
          </a:p>
        </p:txBody>
      </p:sp>
      <p:sp>
        <p:nvSpPr>
          <p:cNvPr id="118" name="Shape 114"/>
          <p:cNvSpPr/>
          <p:nvPr/>
        </p:nvSpPr>
        <p:spPr>
          <a:xfrm>
            <a:off x="2667001" y="4245020"/>
            <a:ext cx="1307923" cy="7055"/>
          </a:xfrm>
          <a:prstGeom prst="rect">
            <a:avLst/>
          </a:prstGeom>
          <a:solidFill>
            <a:srgbClr val="D9DCE3"/>
          </a:solidFill>
          <a:ln/>
        </p:spPr>
        <p:txBody>
          <a:bodyPr/>
          <a:lstStyle/>
          <a:p>
            <a:endParaRPr lang="es-CL"/>
          </a:p>
        </p:txBody>
      </p:sp>
      <p:sp>
        <p:nvSpPr>
          <p:cNvPr id="119" name="Text 115"/>
          <p:cNvSpPr/>
          <p:nvPr/>
        </p:nvSpPr>
        <p:spPr>
          <a:xfrm>
            <a:off x="2717801" y="4010091"/>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Ñuble</a:t>
            </a:r>
            <a:endParaRPr lang="en-US" sz="950" kern="1200" dirty="0">
              <a:solidFill>
                <a:prstClr val="black"/>
              </a:solidFill>
              <a:latin typeface="Calibri" panose="020F0502020204030204"/>
              <a:ea typeface="+mn-ea"/>
              <a:cs typeface="+mn-cs"/>
            </a:endParaRPr>
          </a:p>
        </p:txBody>
      </p:sp>
      <p:sp>
        <p:nvSpPr>
          <p:cNvPr id="120" name="Shape 116"/>
          <p:cNvSpPr/>
          <p:nvPr/>
        </p:nvSpPr>
        <p:spPr>
          <a:xfrm>
            <a:off x="3974924" y="4245020"/>
            <a:ext cx="1212673" cy="7055"/>
          </a:xfrm>
          <a:prstGeom prst="rect">
            <a:avLst/>
          </a:prstGeom>
          <a:solidFill>
            <a:srgbClr val="D9DCE3"/>
          </a:solidFill>
          <a:ln/>
        </p:spPr>
        <p:txBody>
          <a:bodyPr/>
          <a:lstStyle/>
          <a:p>
            <a:endParaRPr lang="es-CL"/>
          </a:p>
        </p:txBody>
      </p:sp>
      <p:sp>
        <p:nvSpPr>
          <p:cNvPr id="121" name="Text 117"/>
          <p:cNvSpPr/>
          <p:nvPr/>
        </p:nvSpPr>
        <p:spPr>
          <a:xfrm>
            <a:off x="4025724" y="4010091"/>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22" name="Shape 118"/>
          <p:cNvSpPr/>
          <p:nvPr/>
        </p:nvSpPr>
        <p:spPr>
          <a:xfrm>
            <a:off x="5187598" y="4245020"/>
            <a:ext cx="545923" cy="7055"/>
          </a:xfrm>
          <a:prstGeom prst="rect">
            <a:avLst/>
          </a:prstGeom>
          <a:solidFill>
            <a:srgbClr val="D9DCE3"/>
          </a:solidFill>
          <a:ln/>
        </p:spPr>
        <p:txBody>
          <a:bodyPr/>
          <a:lstStyle/>
          <a:p>
            <a:endParaRPr lang="es-CL"/>
          </a:p>
        </p:txBody>
      </p:sp>
      <p:sp>
        <p:nvSpPr>
          <p:cNvPr id="123" name="Text 119"/>
          <p:cNvSpPr/>
          <p:nvPr/>
        </p:nvSpPr>
        <p:spPr>
          <a:xfrm>
            <a:off x="5187598" y="4010091"/>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24</a:t>
            </a:r>
            <a:endParaRPr lang="en-US" sz="950" kern="1200" dirty="0">
              <a:solidFill>
                <a:prstClr val="black"/>
              </a:solidFill>
              <a:latin typeface="Calibri" panose="020F0502020204030204"/>
              <a:ea typeface="+mn-ea"/>
              <a:cs typeface="+mn-cs"/>
            </a:endParaRPr>
          </a:p>
        </p:txBody>
      </p:sp>
      <p:sp>
        <p:nvSpPr>
          <p:cNvPr id="124" name="Shape 120"/>
          <p:cNvSpPr/>
          <p:nvPr/>
        </p:nvSpPr>
        <p:spPr>
          <a:xfrm>
            <a:off x="5733521" y="4245020"/>
            <a:ext cx="1688923" cy="7055"/>
          </a:xfrm>
          <a:prstGeom prst="rect">
            <a:avLst/>
          </a:prstGeom>
          <a:solidFill>
            <a:srgbClr val="D9DCE3"/>
          </a:solidFill>
          <a:ln/>
        </p:spPr>
        <p:txBody>
          <a:bodyPr/>
          <a:lstStyle/>
          <a:p>
            <a:endParaRPr lang="es-CL"/>
          </a:p>
        </p:txBody>
      </p:sp>
      <p:sp>
        <p:nvSpPr>
          <p:cNvPr id="125" name="Shape 121"/>
          <p:cNvSpPr/>
          <p:nvPr/>
        </p:nvSpPr>
        <p:spPr>
          <a:xfrm>
            <a:off x="5784233" y="4080206"/>
            <a:ext cx="70555" cy="101534"/>
          </a:xfrm>
          <a:prstGeom prst="rect">
            <a:avLst/>
          </a:prstGeom>
          <a:solidFill>
            <a:srgbClr val="282DF0"/>
          </a:solidFill>
          <a:ln/>
        </p:spPr>
        <p:txBody>
          <a:bodyPr/>
          <a:lstStyle/>
          <a:p>
            <a:endParaRPr lang="es-CL"/>
          </a:p>
        </p:txBody>
      </p:sp>
      <p:sp>
        <p:nvSpPr>
          <p:cNvPr id="126" name="Text 122"/>
          <p:cNvSpPr/>
          <p:nvPr/>
        </p:nvSpPr>
        <p:spPr>
          <a:xfrm>
            <a:off x="5918289" y="4060473"/>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52,7</a:t>
            </a:r>
            <a:endParaRPr lang="en-US" sz="950" kern="1200" dirty="0">
              <a:solidFill>
                <a:prstClr val="black"/>
              </a:solidFill>
              <a:latin typeface="Calibri" panose="020F0502020204030204"/>
              <a:ea typeface="+mn-ea"/>
              <a:cs typeface="+mn-cs"/>
            </a:endParaRPr>
          </a:p>
        </p:txBody>
      </p:sp>
      <p:sp>
        <p:nvSpPr>
          <p:cNvPr id="127" name="Shape 123"/>
          <p:cNvSpPr/>
          <p:nvPr/>
        </p:nvSpPr>
        <p:spPr>
          <a:xfrm>
            <a:off x="7422445" y="4245020"/>
            <a:ext cx="610857" cy="7055"/>
          </a:xfrm>
          <a:prstGeom prst="rect">
            <a:avLst/>
          </a:prstGeom>
          <a:solidFill>
            <a:srgbClr val="D9DCE3"/>
          </a:solidFill>
          <a:ln/>
        </p:spPr>
        <p:txBody>
          <a:bodyPr/>
          <a:lstStyle/>
          <a:p>
            <a:endParaRPr lang="es-CL"/>
          </a:p>
        </p:txBody>
      </p:sp>
      <p:sp>
        <p:nvSpPr>
          <p:cNvPr id="128" name="Text 124"/>
          <p:cNvSpPr/>
          <p:nvPr/>
        </p:nvSpPr>
        <p:spPr>
          <a:xfrm>
            <a:off x="7422445" y="4010091"/>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29" name="Shape 125"/>
          <p:cNvSpPr/>
          <p:nvPr/>
        </p:nvSpPr>
        <p:spPr>
          <a:xfrm>
            <a:off x="2667001" y="4487003"/>
            <a:ext cx="1307923" cy="7055"/>
          </a:xfrm>
          <a:prstGeom prst="rect">
            <a:avLst/>
          </a:prstGeom>
          <a:solidFill>
            <a:srgbClr val="D9DCE3"/>
          </a:solidFill>
          <a:ln/>
        </p:spPr>
        <p:txBody>
          <a:bodyPr/>
          <a:lstStyle/>
          <a:p>
            <a:endParaRPr lang="es-CL"/>
          </a:p>
        </p:txBody>
      </p:sp>
      <p:sp>
        <p:nvSpPr>
          <p:cNvPr id="130" name="Text 126"/>
          <p:cNvSpPr/>
          <p:nvPr/>
        </p:nvSpPr>
        <p:spPr>
          <a:xfrm>
            <a:off x="2717801" y="4252075"/>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Bío Bío</a:t>
            </a:r>
            <a:endParaRPr lang="en-US" sz="950" kern="1200" dirty="0">
              <a:solidFill>
                <a:prstClr val="black"/>
              </a:solidFill>
              <a:latin typeface="Calibri" panose="020F0502020204030204"/>
              <a:ea typeface="+mn-ea"/>
              <a:cs typeface="+mn-cs"/>
            </a:endParaRPr>
          </a:p>
        </p:txBody>
      </p:sp>
      <p:sp>
        <p:nvSpPr>
          <p:cNvPr id="131" name="Shape 127"/>
          <p:cNvSpPr/>
          <p:nvPr/>
        </p:nvSpPr>
        <p:spPr>
          <a:xfrm>
            <a:off x="3974924" y="4487003"/>
            <a:ext cx="1212673" cy="7055"/>
          </a:xfrm>
          <a:prstGeom prst="rect">
            <a:avLst/>
          </a:prstGeom>
          <a:solidFill>
            <a:srgbClr val="D9DCE3"/>
          </a:solidFill>
          <a:ln/>
        </p:spPr>
        <p:txBody>
          <a:bodyPr/>
          <a:lstStyle/>
          <a:p>
            <a:endParaRPr lang="es-CL"/>
          </a:p>
        </p:txBody>
      </p:sp>
      <p:sp>
        <p:nvSpPr>
          <p:cNvPr id="132" name="Text 128"/>
          <p:cNvSpPr/>
          <p:nvPr/>
        </p:nvSpPr>
        <p:spPr>
          <a:xfrm>
            <a:off x="4025724" y="4252075"/>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Cristián Pérez</a:t>
            </a:r>
            <a:endParaRPr lang="en-US" sz="950" kern="1200" dirty="0">
              <a:solidFill>
                <a:prstClr val="black"/>
              </a:solidFill>
              <a:latin typeface="Calibri" panose="020F0502020204030204"/>
              <a:ea typeface="+mn-ea"/>
              <a:cs typeface="+mn-cs"/>
            </a:endParaRPr>
          </a:p>
        </p:txBody>
      </p:sp>
      <p:sp>
        <p:nvSpPr>
          <p:cNvPr id="133" name="Shape 129"/>
          <p:cNvSpPr/>
          <p:nvPr/>
        </p:nvSpPr>
        <p:spPr>
          <a:xfrm>
            <a:off x="5187598" y="4487003"/>
            <a:ext cx="545923" cy="7055"/>
          </a:xfrm>
          <a:prstGeom prst="rect">
            <a:avLst/>
          </a:prstGeom>
          <a:solidFill>
            <a:srgbClr val="D9DCE3"/>
          </a:solidFill>
          <a:ln/>
        </p:spPr>
        <p:txBody>
          <a:bodyPr/>
          <a:lstStyle/>
          <a:p>
            <a:endParaRPr lang="es-CL"/>
          </a:p>
        </p:txBody>
      </p:sp>
      <p:sp>
        <p:nvSpPr>
          <p:cNvPr id="134" name="Text 130"/>
          <p:cNvSpPr/>
          <p:nvPr/>
        </p:nvSpPr>
        <p:spPr>
          <a:xfrm>
            <a:off x="5187598" y="4252075"/>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81</a:t>
            </a:r>
            <a:endParaRPr lang="en-US" sz="950" kern="1200" dirty="0">
              <a:solidFill>
                <a:prstClr val="black"/>
              </a:solidFill>
              <a:latin typeface="Calibri" panose="020F0502020204030204"/>
              <a:ea typeface="+mn-ea"/>
              <a:cs typeface="+mn-cs"/>
            </a:endParaRPr>
          </a:p>
        </p:txBody>
      </p:sp>
      <p:sp>
        <p:nvSpPr>
          <p:cNvPr id="135" name="Shape 131"/>
          <p:cNvSpPr/>
          <p:nvPr/>
        </p:nvSpPr>
        <p:spPr>
          <a:xfrm>
            <a:off x="5733521" y="4487003"/>
            <a:ext cx="1688923" cy="7055"/>
          </a:xfrm>
          <a:prstGeom prst="rect">
            <a:avLst/>
          </a:prstGeom>
          <a:solidFill>
            <a:srgbClr val="D9DCE3"/>
          </a:solidFill>
          <a:ln/>
        </p:spPr>
        <p:txBody>
          <a:bodyPr/>
          <a:lstStyle/>
          <a:p>
            <a:endParaRPr lang="es-CL"/>
          </a:p>
        </p:txBody>
      </p:sp>
      <p:sp>
        <p:nvSpPr>
          <p:cNvPr id="136" name="Shape 132"/>
          <p:cNvSpPr/>
          <p:nvPr/>
        </p:nvSpPr>
        <p:spPr>
          <a:xfrm>
            <a:off x="5784233" y="4322190"/>
            <a:ext cx="380779" cy="101534"/>
          </a:xfrm>
          <a:prstGeom prst="rect">
            <a:avLst/>
          </a:prstGeom>
          <a:solidFill>
            <a:srgbClr val="28D2C3"/>
          </a:solidFill>
          <a:ln/>
        </p:spPr>
        <p:txBody>
          <a:bodyPr/>
          <a:lstStyle/>
          <a:p>
            <a:endParaRPr lang="es-CL"/>
          </a:p>
        </p:txBody>
      </p:sp>
      <p:sp>
        <p:nvSpPr>
          <p:cNvPr id="137" name="Text 133"/>
          <p:cNvSpPr/>
          <p:nvPr/>
        </p:nvSpPr>
        <p:spPr>
          <a:xfrm>
            <a:off x="6228513" y="4302457"/>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284,3</a:t>
            </a:r>
            <a:endParaRPr lang="en-US" sz="950" kern="1200" dirty="0">
              <a:solidFill>
                <a:prstClr val="black"/>
              </a:solidFill>
              <a:latin typeface="Calibri" panose="020F0502020204030204"/>
              <a:ea typeface="+mn-ea"/>
              <a:cs typeface="+mn-cs"/>
            </a:endParaRPr>
          </a:p>
        </p:txBody>
      </p:sp>
      <p:sp>
        <p:nvSpPr>
          <p:cNvPr id="138" name="Shape 134"/>
          <p:cNvSpPr/>
          <p:nvPr/>
        </p:nvSpPr>
        <p:spPr>
          <a:xfrm>
            <a:off x="7422445" y="4487003"/>
            <a:ext cx="610857" cy="7055"/>
          </a:xfrm>
          <a:prstGeom prst="rect">
            <a:avLst/>
          </a:prstGeom>
          <a:solidFill>
            <a:srgbClr val="D9DCE3"/>
          </a:solidFill>
          <a:ln/>
        </p:spPr>
        <p:txBody>
          <a:bodyPr/>
          <a:lstStyle/>
          <a:p>
            <a:endParaRPr lang="es-CL"/>
          </a:p>
        </p:txBody>
      </p:sp>
      <p:sp>
        <p:nvSpPr>
          <p:cNvPr id="139" name="Text 135"/>
          <p:cNvSpPr/>
          <p:nvPr/>
        </p:nvSpPr>
        <p:spPr>
          <a:xfrm>
            <a:off x="7422445" y="4252075"/>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11</a:t>
            </a:r>
            <a:endParaRPr lang="en-US" sz="950" kern="1200" dirty="0">
              <a:solidFill>
                <a:prstClr val="black"/>
              </a:solidFill>
              <a:latin typeface="Calibri" panose="020F0502020204030204"/>
              <a:ea typeface="+mn-ea"/>
              <a:cs typeface="+mn-cs"/>
            </a:endParaRPr>
          </a:p>
        </p:txBody>
      </p:sp>
      <p:sp>
        <p:nvSpPr>
          <p:cNvPr id="140" name="Shape 136"/>
          <p:cNvSpPr/>
          <p:nvPr/>
        </p:nvSpPr>
        <p:spPr>
          <a:xfrm>
            <a:off x="2667001" y="4728987"/>
            <a:ext cx="1307923" cy="7055"/>
          </a:xfrm>
          <a:prstGeom prst="rect">
            <a:avLst/>
          </a:prstGeom>
          <a:solidFill>
            <a:srgbClr val="D9DCE3"/>
          </a:solidFill>
          <a:ln/>
        </p:spPr>
        <p:txBody>
          <a:bodyPr/>
          <a:lstStyle/>
          <a:p>
            <a:endParaRPr lang="es-CL"/>
          </a:p>
        </p:txBody>
      </p:sp>
      <p:sp>
        <p:nvSpPr>
          <p:cNvPr id="141" name="Text 137"/>
          <p:cNvSpPr/>
          <p:nvPr/>
        </p:nvSpPr>
        <p:spPr>
          <a:xfrm>
            <a:off x="2717801" y="4494058"/>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Araucanía</a:t>
            </a:r>
            <a:endParaRPr lang="en-US" sz="950" kern="1200" dirty="0">
              <a:solidFill>
                <a:prstClr val="black"/>
              </a:solidFill>
              <a:latin typeface="Calibri" panose="020F0502020204030204"/>
              <a:ea typeface="+mn-ea"/>
              <a:cs typeface="+mn-cs"/>
            </a:endParaRPr>
          </a:p>
        </p:txBody>
      </p:sp>
      <p:sp>
        <p:nvSpPr>
          <p:cNvPr id="142" name="Shape 138"/>
          <p:cNvSpPr/>
          <p:nvPr/>
        </p:nvSpPr>
        <p:spPr>
          <a:xfrm>
            <a:off x="3974924" y="4728987"/>
            <a:ext cx="1212673" cy="7055"/>
          </a:xfrm>
          <a:prstGeom prst="rect">
            <a:avLst/>
          </a:prstGeom>
          <a:solidFill>
            <a:srgbClr val="D9DCE3"/>
          </a:solidFill>
          <a:ln/>
        </p:spPr>
        <p:txBody>
          <a:bodyPr/>
          <a:lstStyle/>
          <a:p>
            <a:endParaRPr lang="es-CL"/>
          </a:p>
        </p:txBody>
      </p:sp>
      <p:sp>
        <p:nvSpPr>
          <p:cNvPr id="143" name="Text 139"/>
          <p:cNvSpPr/>
          <p:nvPr/>
        </p:nvSpPr>
        <p:spPr>
          <a:xfrm>
            <a:off x="4025724" y="4494058"/>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44" name="Shape 140"/>
          <p:cNvSpPr/>
          <p:nvPr/>
        </p:nvSpPr>
        <p:spPr>
          <a:xfrm>
            <a:off x="5187598" y="4728987"/>
            <a:ext cx="545923" cy="7055"/>
          </a:xfrm>
          <a:prstGeom prst="rect">
            <a:avLst/>
          </a:prstGeom>
          <a:solidFill>
            <a:srgbClr val="D9DCE3"/>
          </a:solidFill>
          <a:ln/>
        </p:spPr>
        <p:txBody>
          <a:bodyPr/>
          <a:lstStyle/>
          <a:p>
            <a:endParaRPr lang="es-CL"/>
          </a:p>
        </p:txBody>
      </p:sp>
      <p:sp>
        <p:nvSpPr>
          <p:cNvPr id="145" name="Text 141"/>
          <p:cNvSpPr/>
          <p:nvPr/>
        </p:nvSpPr>
        <p:spPr>
          <a:xfrm>
            <a:off x="5187598" y="4494058"/>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33</a:t>
            </a:r>
            <a:endParaRPr lang="en-US" sz="950" kern="1200" dirty="0">
              <a:solidFill>
                <a:prstClr val="black"/>
              </a:solidFill>
              <a:latin typeface="Calibri" panose="020F0502020204030204"/>
              <a:ea typeface="+mn-ea"/>
              <a:cs typeface="+mn-cs"/>
            </a:endParaRPr>
          </a:p>
        </p:txBody>
      </p:sp>
      <p:sp>
        <p:nvSpPr>
          <p:cNvPr id="146" name="Shape 142"/>
          <p:cNvSpPr/>
          <p:nvPr/>
        </p:nvSpPr>
        <p:spPr>
          <a:xfrm>
            <a:off x="5733521" y="4728987"/>
            <a:ext cx="1688923" cy="7055"/>
          </a:xfrm>
          <a:prstGeom prst="rect">
            <a:avLst/>
          </a:prstGeom>
          <a:solidFill>
            <a:srgbClr val="D9DCE3"/>
          </a:solidFill>
          <a:ln/>
        </p:spPr>
        <p:txBody>
          <a:bodyPr/>
          <a:lstStyle/>
          <a:p>
            <a:endParaRPr lang="es-CL"/>
          </a:p>
        </p:txBody>
      </p:sp>
      <p:sp>
        <p:nvSpPr>
          <p:cNvPr id="147" name="Shape 143"/>
          <p:cNvSpPr/>
          <p:nvPr/>
        </p:nvSpPr>
        <p:spPr>
          <a:xfrm>
            <a:off x="5784233" y="4564173"/>
            <a:ext cx="213210" cy="101534"/>
          </a:xfrm>
          <a:prstGeom prst="rect">
            <a:avLst/>
          </a:prstGeom>
          <a:solidFill>
            <a:srgbClr val="282DF0"/>
          </a:solidFill>
          <a:ln/>
        </p:spPr>
        <p:txBody>
          <a:bodyPr/>
          <a:lstStyle/>
          <a:p>
            <a:endParaRPr lang="es-CL"/>
          </a:p>
        </p:txBody>
      </p:sp>
      <p:sp>
        <p:nvSpPr>
          <p:cNvPr id="148" name="Text 144"/>
          <p:cNvSpPr/>
          <p:nvPr/>
        </p:nvSpPr>
        <p:spPr>
          <a:xfrm>
            <a:off x="6060943" y="4544440"/>
            <a:ext cx="352756"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159,2</a:t>
            </a:r>
            <a:endParaRPr lang="en-US" sz="950" kern="1200" dirty="0">
              <a:solidFill>
                <a:prstClr val="black"/>
              </a:solidFill>
              <a:latin typeface="Calibri" panose="020F0502020204030204"/>
              <a:ea typeface="+mn-ea"/>
              <a:cs typeface="+mn-cs"/>
            </a:endParaRPr>
          </a:p>
        </p:txBody>
      </p:sp>
      <p:sp>
        <p:nvSpPr>
          <p:cNvPr id="149" name="Shape 145"/>
          <p:cNvSpPr/>
          <p:nvPr/>
        </p:nvSpPr>
        <p:spPr>
          <a:xfrm>
            <a:off x="7422445" y="4728987"/>
            <a:ext cx="610857" cy="7055"/>
          </a:xfrm>
          <a:prstGeom prst="rect">
            <a:avLst/>
          </a:prstGeom>
          <a:solidFill>
            <a:srgbClr val="D9DCE3"/>
          </a:solidFill>
          <a:ln/>
        </p:spPr>
        <p:txBody>
          <a:bodyPr/>
          <a:lstStyle/>
          <a:p>
            <a:endParaRPr lang="es-CL"/>
          </a:p>
        </p:txBody>
      </p:sp>
      <p:sp>
        <p:nvSpPr>
          <p:cNvPr id="150" name="Text 146"/>
          <p:cNvSpPr/>
          <p:nvPr/>
        </p:nvSpPr>
        <p:spPr>
          <a:xfrm>
            <a:off x="7422445" y="4494058"/>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6</a:t>
            </a:r>
            <a:endParaRPr lang="en-US" sz="950" kern="1200" dirty="0">
              <a:solidFill>
                <a:prstClr val="black"/>
              </a:solidFill>
              <a:latin typeface="Calibri" panose="020F0502020204030204"/>
              <a:ea typeface="+mn-ea"/>
              <a:cs typeface="+mn-cs"/>
            </a:endParaRPr>
          </a:p>
        </p:txBody>
      </p:sp>
      <p:sp>
        <p:nvSpPr>
          <p:cNvPr id="151" name="Shape 147"/>
          <p:cNvSpPr/>
          <p:nvPr/>
        </p:nvSpPr>
        <p:spPr>
          <a:xfrm>
            <a:off x="2667001" y="4970971"/>
            <a:ext cx="1307923" cy="7055"/>
          </a:xfrm>
          <a:prstGeom prst="rect">
            <a:avLst/>
          </a:prstGeom>
          <a:solidFill>
            <a:srgbClr val="D9DCE3"/>
          </a:solidFill>
          <a:ln/>
        </p:spPr>
        <p:txBody>
          <a:bodyPr/>
          <a:lstStyle/>
          <a:p>
            <a:endParaRPr lang="es-CL"/>
          </a:p>
        </p:txBody>
      </p:sp>
      <p:sp>
        <p:nvSpPr>
          <p:cNvPr id="152" name="Text 148"/>
          <p:cNvSpPr/>
          <p:nvPr/>
        </p:nvSpPr>
        <p:spPr>
          <a:xfrm>
            <a:off x="2717801" y="4736042"/>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Los Ríos</a:t>
            </a:r>
            <a:endParaRPr lang="en-US" sz="950" kern="1200" dirty="0">
              <a:solidFill>
                <a:prstClr val="black"/>
              </a:solidFill>
              <a:latin typeface="Calibri" panose="020F0502020204030204"/>
              <a:ea typeface="+mn-ea"/>
              <a:cs typeface="+mn-cs"/>
            </a:endParaRPr>
          </a:p>
        </p:txBody>
      </p:sp>
      <p:sp>
        <p:nvSpPr>
          <p:cNvPr id="153" name="Shape 149"/>
          <p:cNvSpPr/>
          <p:nvPr/>
        </p:nvSpPr>
        <p:spPr>
          <a:xfrm>
            <a:off x="3974924" y="4970971"/>
            <a:ext cx="1212673" cy="7055"/>
          </a:xfrm>
          <a:prstGeom prst="rect">
            <a:avLst/>
          </a:prstGeom>
          <a:solidFill>
            <a:srgbClr val="D9DCE3"/>
          </a:solidFill>
          <a:ln/>
        </p:spPr>
        <p:txBody>
          <a:bodyPr/>
          <a:lstStyle/>
          <a:p>
            <a:endParaRPr lang="es-CL"/>
          </a:p>
        </p:txBody>
      </p:sp>
      <p:sp>
        <p:nvSpPr>
          <p:cNvPr id="154" name="Text 150"/>
          <p:cNvSpPr/>
          <p:nvPr/>
        </p:nvSpPr>
        <p:spPr>
          <a:xfrm>
            <a:off x="4025724" y="4736042"/>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55" name="Shape 151"/>
          <p:cNvSpPr/>
          <p:nvPr/>
        </p:nvSpPr>
        <p:spPr>
          <a:xfrm>
            <a:off x="5187598" y="4970971"/>
            <a:ext cx="545923" cy="7055"/>
          </a:xfrm>
          <a:prstGeom prst="rect">
            <a:avLst/>
          </a:prstGeom>
          <a:solidFill>
            <a:srgbClr val="D9DCE3"/>
          </a:solidFill>
          <a:ln/>
        </p:spPr>
        <p:txBody>
          <a:bodyPr/>
          <a:lstStyle/>
          <a:p>
            <a:endParaRPr lang="es-CL"/>
          </a:p>
        </p:txBody>
      </p:sp>
      <p:sp>
        <p:nvSpPr>
          <p:cNvPr id="156" name="Text 152"/>
          <p:cNvSpPr/>
          <p:nvPr/>
        </p:nvSpPr>
        <p:spPr>
          <a:xfrm>
            <a:off x="5187598" y="4736042"/>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157" name="Shape 153"/>
          <p:cNvSpPr/>
          <p:nvPr/>
        </p:nvSpPr>
        <p:spPr>
          <a:xfrm>
            <a:off x="5733521" y="4970971"/>
            <a:ext cx="1688923" cy="7055"/>
          </a:xfrm>
          <a:prstGeom prst="rect">
            <a:avLst/>
          </a:prstGeom>
          <a:solidFill>
            <a:srgbClr val="D9DCE3"/>
          </a:solidFill>
          <a:ln/>
        </p:spPr>
        <p:txBody>
          <a:bodyPr/>
          <a:lstStyle/>
          <a:p>
            <a:endParaRPr lang="es-CL"/>
          </a:p>
        </p:txBody>
      </p:sp>
      <p:sp>
        <p:nvSpPr>
          <p:cNvPr id="158" name="Shape 154"/>
          <p:cNvSpPr/>
          <p:nvPr/>
        </p:nvSpPr>
        <p:spPr>
          <a:xfrm>
            <a:off x="5784233" y="4806157"/>
            <a:ext cx="38034" cy="101534"/>
          </a:xfrm>
          <a:prstGeom prst="rect">
            <a:avLst/>
          </a:prstGeom>
          <a:solidFill>
            <a:srgbClr val="282DF0"/>
          </a:solidFill>
          <a:ln/>
        </p:spPr>
        <p:txBody>
          <a:bodyPr/>
          <a:lstStyle/>
          <a:p>
            <a:endParaRPr lang="es-CL"/>
          </a:p>
        </p:txBody>
      </p:sp>
      <p:sp>
        <p:nvSpPr>
          <p:cNvPr id="159" name="Text 155"/>
          <p:cNvSpPr/>
          <p:nvPr/>
        </p:nvSpPr>
        <p:spPr>
          <a:xfrm>
            <a:off x="5885767" y="4786423"/>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28,4</a:t>
            </a:r>
            <a:endParaRPr lang="en-US" sz="950" kern="1200" dirty="0">
              <a:solidFill>
                <a:prstClr val="black"/>
              </a:solidFill>
              <a:latin typeface="Calibri" panose="020F0502020204030204"/>
              <a:ea typeface="+mn-ea"/>
              <a:cs typeface="+mn-cs"/>
            </a:endParaRPr>
          </a:p>
        </p:txBody>
      </p:sp>
      <p:sp>
        <p:nvSpPr>
          <p:cNvPr id="160" name="Shape 156"/>
          <p:cNvSpPr/>
          <p:nvPr/>
        </p:nvSpPr>
        <p:spPr>
          <a:xfrm>
            <a:off x="7422445" y="4970971"/>
            <a:ext cx="610857" cy="7055"/>
          </a:xfrm>
          <a:prstGeom prst="rect">
            <a:avLst/>
          </a:prstGeom>
          <a:solidFill>
            <a:srgbClr val="D9DCE3"/>
          </a:solidFill>
          <a:ln/>
        </p:spPr>
        <p:txBody>
          <a:bodyPr/>
          <a:lstStyle/>
          <a:p>
            <a:endParaRPr lang="es-CL"/>
          </a:p>
        </p:txBody>
      </p:sp>
      <p:sp>
        <p:nvSpPr>
          <p:cNvPr id="161" name="Text 157"/>
          <p:cNvSpPr/>
          <p:nvPr/>
        </p:nvSpPr>
        <p:spPr>
          <a:xfrm>
            <a:off x="7422445" y="4736042"/>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0</a:t>
            </a:r>
            <a:endParaRPr lang="en-US" sz="950" kern="1200" dirty="0">
              <a:solidFill>
                <a:prstClr val="black"/>
              </a:solidFill>
              <a:latin typeface="Calibri" panose="020F0502020204030204"/>
              <a:ea typeface="+mn-ea"/>
              <a:cs typeface="+mn-cs"/>
            </a:endParaRPr>
          </a:p>
        </p:txBody>
      </p:sp>
      <p:sp>
        <p:nvSpPr>
          <p:cNvPr id="162" name="Shape 158"/>
          <p:cNvSpPr/>
          <p:nvPr/>
        </p:nvSpPr>
        <p:spPr>
          <a:xfrm>
            <a:off x="2667001" y="5212954"/>
            <a:ext cx="1307923" cy="7055"/>
          </a:xfrm>
          <a:prstGeom prst="rect">
            <a:avLst/>
          </a:prstGeom>
          <a:solidFill>
            <a:srgbClr val="D9DCE3"/>
          </a:solidFill>
          <a:ln/>
        </p:spPr>
        <p:txBody>
          <a:bodyPr/>
          <a:lstStyle/>
          <a:p>
            <a:endParaRPr lang="es-CL"/>
          </a:p>
        </p:txBody>
      </p:sp>
      <p:sp>
        <p:nvSpPr>
          <p:cNvPr id="163" name="Text 159"/>
          <p:cNvSpPr/>
          <p:nvPr/>
        </p:nvSpPr>
        <p:spPr>
          <a:xfrm>
            <a:off x="2717801" y="4978025"/>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Los Lagos</a:t>
            </a:r>
            <a:endParaRPr lang="en-US" sz="950" kern="1200" dirty="0">
              <a:solidFill>
                <a:prstClr val="black"/>
              </a:solidFill>
              <a:latin typeface="Calibri" panose="020F0502020204030204"/>
              <a:ea typeface="+mn-ea"/>
              <a:cs typeface="+mn-cs"/>
            </a:endParaRPr>
          </a:p>
        </p:txBody>
      </p:sp>
      <p:sp>
        <p:nvSpPr>
          <p:cNvPr id="164" name="Shape 160"/>
          <p:cNvSpPr/>
          <p:nvPr/>
        </p:nvSpPr>
        <p:spPr>
          <a:xfrm>
            <a:off x="3974924" y="5212954"/>
            <a:ext cx="1212673" cy="7055"/>
          </a:xfrm>
          <a:prstGeom prst="rect">
            <a:avLst/>
          </a:prstGeom>
          <a:solidFill>
            <a:srgbClr val="D9DCE3"/>
          </a:solidFill>
          <a:ln/>
        </p:spPr>
        <p:txBody>
          <a:bodyPr/>
          <a:lstStyle/>
          <a:p>
            <a:endParaRPr lang="es-CL"/>
          </a:p>
        </p:txBody>
      </p:sp>
      <p:sp>
        <p:nvSpPr>
          <p:cNvPr id="165" name="Text 161"/>
          <p:cNvSpPr/>
          <p:nvPr/>
        </p:nvSpPr>
        <p:spPr>
          <a:xfrm>
            <a:off x="4025724" y="4978025"/>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66" name="Shape 162"/>
          <p:cNvSpPr/>
          <p:nvPr/>
        </p:nvSpPr>
        <p:spPr>
          <a:xfrm>
            <a:off x="5187598" y="5212954"/>
            <a:ext cx="545923" cy="7055"/>
          </a:xfrm>
          <a:prstGeom prst="rect">
            <a:avLst/>
          </a:prstGeom>
          <a:solidFill>
            <a:srgbClr val="D9DCE3"/>
          </a:solidFill>
          <a:ln/>
        </p:spPr>
        <p:txBody>
          <a:bodyPr/>
          <a:lstStyle/>
          <a:p>
            <a:endParaRPr lang="es-CL"/>
          </a:p>
        </p:txBody>
      </p:sp>
      <p:sp>
        <p:nvSpPr>
          <p:cNvPr id="167" name="Text 163"/>
          <p:cNvSpPr/>
          <p:nvPr/>
        </p:nvSpPr>
        <p:spPr>
          <a:xfrm>
            <a:off x="5187598" y="4978025"/>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40</a:t>
            </a:r>
            <a:endParaRPr lang="en-US" sz="950" kern="1200" dirty="0">
              <a:solidFill>
                <a:prstClr val="black"/>
              </a:solidFill>
              <a:latin typeface="Calibri" panose="020F0502020204030204"/>
              <a:ea typeface="+mn-ea"/>
              <a:cs typeface="+mn-cs"/>
            </a:endParaRPr>
          </a:p>
        </p:txBody>
      </p:sp>
      <p:sp>
        <p:nvSpPr>
          <p:cNvPr id="168" name="Shape 164"/>
          <p:cNvSpPr/>
          <p:nvPr/>
        </p:nvSpPr>
        <p:spPr>
          <a:xfrm>
            <a:off x="5733521" y="5212954"/>
            <a:ext cx="1688923" cy="7055"/>
          </a:xfrm>
          <a:prstGeom prst="rect">
            <a:avLst/>
          </a:prstGeom>
          <a:solidFill>
            <a:srgbClr val="D9DCE3"/>
          </a:solidFill>
          <a:ln/>
        </p:spPr>
        <p:txBody>
          <a:bodyPr/>
          <a:lstStyle/>
          <a:p>
            <a:endParaRPr lang="es-CL"/>
          </a:p>
        </p:txBody>
      </p:sp>
      <p:sp>
        <p:nvSpPr>
          <p:cNvPr id="169" name="Shape 165"/>
          <p:cNvSpPr/>
          <p:nvPr/>
        </p:nvSpPr>
        <p:spPr>
          <a:xfrm>
            <a:off x="5784233" y="5048140"/>
            <a:ext cx="104290" cy="101534"/>
          </a:xfrm>
          <a:prstGeom prst="rect">
            <a:avLst/>
          </a:prstGeom>
          <a:solidFill>
            <a:srgbClr val="282DF0"/>
          </a:solidFill>
          <a:ln/>
        </p:spPr>
        <p:txBody>
          <a:bodyPr/>
          <a:lstStyle/>
          <a:p>
            <a:endParaRPr lang="es-CL"/>
          </a:p>
        </p:txBody>
      </p:sp>
      <p:sp>
        <p:nvSpPr>
          <p:cNvPr id="170" name="Text 166"/>
          <p:cNvSpPr/>
          <p:nvPr/>
        </p:nvSpPr>
        <p:spPr>
          <a:xfrm>
            <a:off x="5952023" y="5028407"/>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77,9</a:t>
            </a:r>
            <a:endParaRPr lang="en-US" sz="950" kern="1200" dirty="0">
              <a:solidFill>
                <a:prstClr val="black"/>
              </a:solidFill>
              <a:latin typeface="Calibri" panose="020F0502020204030204"/>
              <a:ea typeface="+mn-ea"/>
              <a:cs typeface="+mn-cs"/>
            </a:endParaRPr>
          </a:p>
        </p:txBody>
      </p:sp>
      <p:sp>
        <p:nvSpPr>
          <p:cNvPr id="171" name="Shape 167"/>
          <p:cNvSpPr/>
          <p:nvPr/>
        </p:nvSpPr>
        <p:spPr>
          <a:xfrm>
            <a:off x="7422445" y="5212954"/>
            <a:ext cx="610857" cy="7055"/>
          </a:xfrm>
          <a:prstGeom prst="rect">
            <a:avLst/>
          </a:prstGeom>
          <a:solidFill>
            <a:srgbClr val="D9DCE3"/>
          </a:solidFill>
          <a:ln/>
        </p:spPr>
        <p:txBody>
          <a:bodyPr/>
          <a:lstStyle/>
          <a:p>
            <a:endParaRPr lang="es-CL"/>
          </a:p>
        </p:txBody>
      </p:sp>
      <p:sp>
        <p:nvSpPr>
          <p:cNvPr id="172" name="Text 168"/>
          <p:cNvSpPr/>
          <p:nvPr/>
        </p:nvSpPr>
        <p:spPr>
          <a:xfrm>
            <a:off x="7422445" y="4978025"/>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10</a:t>
            </a:r>
            <a:endParaRPr lang="en-US" sz="950" kern="1200" dirty="0">
              <a:solidFill>
                <a:prstClr val="black"/>
              </a:solidFill>
              <a:latin typeface="Calibri" panose="020F0502020204030204"/>
              <a:ea typeface="+mn-ea"/>
              <a:cs typeface="+mn-cs"/>
            </a:endParaRPr>
          </a:p>
        </p:txBody>
      </p:sp>
      <p:sp>
        <p:nvSpPr>
          <p:cNvPr id="173" name="Shape 169"/>
          <p:cNvSpPr/>
          <p:nvPr/>
        </p:nvSpPr>
        <p:spPr>
          <a:xfrm>
            <a:off x="2667001" y="5454937"/>
            <a:ext cx="1307923" cy="7055"/>
          </a:xfrm>
          <a:prstGeom prst="rect">
            <a:avLst/>
          </a:prstGeom>
          <a:solidFill>
            <a:srgbClr val="D9DCE3"/>
          </a:solidFill>
          <a:ln/>
        </p:spPr>
        <p:txBody>
          <a:bodyPr/>
          <a:lstStyle/>
          <a:p>
            <a:endParaRPr lang="es-CL"/>
          </a:p>
        </p:txBody>
      </p:sp>
      <p:sp>
        <p:nvSpPr>
          <p:cNvPr id="174" name="Text 170"/>
          <p:cNvSpPr/>
          <p:nvPr/>
        </p:nvSpPr>
        <p:spPr>
          <a:xfrm>
            <a:off x="2717801" y="5220009"/>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Aysén</a:t>
            </a:r>
            <a:endParaRPr lang="en-US" sz="950" kern="1200" dirty="0">
              <a:solidFill>
                <a:prstClr val="black"/>
              </a:solidFill>
              <a:latin typeface="Calibri" panose="020F0502020204030204"/>
              <a:ea typeface="+mn-ea"/>
              <a:cs typeface="+mn-cs"/>
            </a:endParaRPr>
          </a:p>
        </p:txBody>
      </p:sp>
      <p:sp>
        <p:nvSpPr>
          <p:cNvPr id="175" name="Shape 171"/>
          <p:cNvSpPr/>
          <p:nvPr/>
        </p:nvSpPr>
        <p:spPr>
          <a:xfrm>
            <a:off x="3974924" y="5454937"/>
            <a:ext cx="1212673" cy="7055"/>
          </a:xfrm>
          <a:prstGeom prst="rect">
            <a:avLst/>
          </a:prstGeom>
          <a:solidFill>
            <a:srgbClr val="D9DCE3"/>
          </a:solidFill>
          <a:ln/>
        </p:spPr>
        <p:txBody>
          <a:bodyPr/>
          <a:lstStyle/>
          <a:p>
            <a:endParaRPr lang="es-CL"/>
          </a:p>
        </p:txBody>
      </p:sp>
      <p:sp>
        <p:nvSpPr>
          <p:cNvPr id="176" name="Text 172"/>
          <p:cNvSpPr/>
          <p:nvPr/>
        </p:nvSpPr>
        <p:spPr>
          <a:xfrm>
            <a:off x="4025724" y="5220009"/>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77" name="Shape 173"/>
          <p:cNvSpPr/>
          <p:nvPr/>
        </p:nvSpPr>
        <p:spPr>
          <a:xfrm>
            <a:off x="5187598" y="5454937"/>
            <a:ext cx="545923" cy="7055"/>
          </a:xfrm>
          <a:prstGeom prst="rect">
            <a:avLst/>
          </a:prstGeom>
          <a:solidFill>
            <a:srgbClr val="D9DCE3"/>
          </a:solidFill>
          <a:ln/>
        </p:spPr>
        <p:txBody>
          <a:bodyPr/>
          <a:lstStyle/>
          <a:p>
            <a:endParaRPr lang="es-CL"/>
          </a:p>
        </p:txBody>
      </p:sp>
      <p:sp>
        <p:nvSpPr>
          <p:cNvPr id="178" name="Text 174"/>
          <p:cNvSpPr/>
          <p:nvPr/>
        </p:nvSpPr>
        <p:spPr>
          <a:xfrm>
            <a:off x="5187598" y="5220009"/>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8</a:t>
            </a:r>
            <a:endParaRPr lang="en-US" sz="950" kern="1200" dirty="0">
              <a:solidFill>
                <a:prstClr val="black"/>
              </a:solidFill>
              <a:latin typeface="Calibri" panose="020F0502020204030204"/>
              <a:ea typeface="+mn-ea"/>
              <a:cs typeface="+mn-cs"/>
            </a:endParaRPr>
          </a:p>
        </p:txBody>
      </p:sp>
      <p:sp>
        <p:nvSpPr>
          <p:cNvPr id="179" name="Shape 175"/>
          <p:cNvSpPr/>
          <p:nvPr/>
        </p:nvSpPr>
        <p:spPr>
          <a:xfrm>
            <a:off x="5733521" y="5454937"/>
            <a:ext cx="1688923" cy="7055"/>
          </a:xfrm>
          <a:prstGeom prst="rect">
            <a:avLst/>
          </a:prstGeom>
          <a:solidFill>
            <a:srgbClr val="D9DCE3"/>
          </a:solidFill>
          <a:ln/>
        </p:spPr>
        <p:txBody>
          <a:bodyPr/>
          <a:lstStyle/>
          <a:p>
            <a:endParaRPr lang="es-CL"/>
          </a:p>
        </p:txBody>
      </p:sp>
      <p:sp>
        <p:nvSpPr>
          <p:cNvPr id="180" name="Shape 176"/>
          <p:cNvSpPr/>
          <p:nvPr/>
        </p:nvSpPr>
        <p:spPr>
          <a:xfrm>
            <a:off x="5784233" y="5290124"/>
            <a:ext cx="21387" cy="101534"/>
          </a:xfrm>
          <a:prstGeom prst="rect">
            <a:avLst/>
          </a:prstGeom>
          <a:solidFill>
            <a:srgbClr val="282DF0"/>
          </a:solidFill>
          <a:ln/>
        </p:spPr>
        <p:txBody>
          <a:bodyPr/>
          <a:lstStyle/>
          <a:p>
            <a:endParaRPr lang="es-CL"/>
          </a:p>
        </p:txBody>
      </p:sp>
      <p:sp>
        <p:nvSpPr>
          <p:cNvPr id="181" name="Text 177"/>
          <p:cNvSpPr/>
          <p:nvPr/>
        </p:nvSpPr>
        <p:spPr>
          <a:xfrm>
            <a:off x="5869120" y="5270391"/>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16,0</a:t>
            </a:r>
            <a:endParaRPr lang="en-US" sz="950" kern="1200" dirty="0">
              <a:solidFill>
                <a:prstClr val="black"/>
              </a:solidFill>
              <a:latin typeface="Calibri" panose="020F0502020204030204"/>
              <a:ea typeface="+mn-ea"/>
              <a:cs typeface="+mn-cs"/>
            </a:endParaRPr>
          </a:p>
        </p:txBody>
      </p:sp>
      <p:sp>
        <p:nvSpPr>
          <p:cNvPr id="182" name="Shape 178"/>
          <p:cNvSpPr/>
          <p:nvPr/>
        </p:nvSpPr>
        <p:spPr>
          <a:xfrm>
            <a:off x="7422445" y="5454937"/>
            <a:ext cx="610857" cy="7055"/>
          </a:xfrm>
          <a:prstGeom prst="rect">
            <a:avLst/>
          </a:prstGeom>
          <a:solidFill>
            <a:srgbClr val="D9DCE3"/>
          </a:solidFill>
          <a:ln/>
        </p:spPr>
        <p:txBody>
          <a:bodyPr/>
          <a:lstStyle/>
          <a:p>
            <a:endParaRPr lang="es-CL"/>
          </a:p>
        </p:txBody>
      </p:sp>
      <p:sp>
        <p:nvSpPr>
          <p:cNvPr id="183" name="Text 179"/>
          <p:cNvSpPr/>
          <p:nvPr/>
        </p:nvSpPr>
        <p:spPr>
          <a:xfrm>
            <a:off x="7422445" y="5220009"/>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84" name="Shape 180"/>
          <p:cNvSpPr/>
          <p:nvPr/>
        </p:nvSpPr>
        <p:spPr>
          <a:xfrm>
            <a:off x="2667001" y="5696921"/>
            <a:ext cx="1307923" cy="7055"/>
          </a:xfrm>
          <a:prstGeom prst="rect">
            <a:avLst/>
          </a:prstGeom>
          <a:solidFill>
            <a:srgbClr val="D9DCE3"/>
          </a:solidFill>
          <a:ln/>
        </p:spPr>
        <p:txBody>
          <a:bodyPr/>
          <a:lstStyle/>
          <a:p>
            <a:endParaRPr lang="es-CL"/>
          </a:p>
        </p:txBody>
      </p:sp>
      <p:sp>
        <p:nvSpPr>
          <p:cNvPr id="185" name="Text 181"/>
          <p:cNvSpPr/>
          <p:nvPr/>
        </p:nvSpPr>
        <p:spPr>
          <a:xfrm>
            <a:off x="2717801" y="5461993"/>
            <a:ext cx="1257123" cy="260328"/>
          </a:xfrm>
          <a:prstGeom prst="rect">
            <a:avLst/>
          </a:prstGeom>
          <a:noFill/>
          <a:ln/>
        </p:spPr>
        <p:txBody>
          <a:bodyPr wrap="none" lIns="16933" tIns="16933" rIns="16933" bIns="16933" rtlCol="0" anchor="ctr">
            <a:normAutofit/>
          </a:bodyPr>
          <a:lstStyle/>
          <a:p>
            <a:pPr defTabSz="609630">
              <a:buClrTx/>
            </a:pPr>
            <a:r>
              <a:rPr lang="en-US" sz="950" b="1" kern="1200" dirty="0">
                <a:solidFill>
                  <a:srgbClr val="373C46"/>
                </a:solidFill>
                <a:latin typeface="Arial" pitchFamily="34" charset="0"/>
                <a:ea typeface="Arial" pitchFamily="34" charset="-122"/>
                <a:cs typeface="Arial" pitchFamily="34" charset="-120"/>
              </a:rPr>
              <a:t>Magallanes</a:t>
            </a:r>
            <a:endParaRPr lang="en-US" sz="950" kern="1200" dirty="0">
              <a:solidFill>
                <a:prstClr val="black"/>
              </a:solidFill>
              <a:latin typeface="Calibri" panose="020F0502020204030204"/>
              <a:ea typeface="+mn-ea"/>
              <a:cs typeface="+mn-cs"/>
            </a:endParaRPr>
          </a:p>
        </p:txBody>
      </p:sp>
      <p:sp>
        <p:nvSpPr>
          <p:cNvPr id="186" name="Shape 182"/>
          <p:cNvSpPr/>
          <p:nvPr/>
        </p:nvSpPr>
        <p:spPr>
          <a:xfrm>
            <a:off x="3974924" y="5696921"/>
            <a:ext cx="1212673" cy="7055"/>
          </a:xfrm>
          <a:prstGeom prst="rect">
            <a:avLst/>
          </a:prstGeom>
          <a:solidFill>
            <a:srgbClr val="D9DCE3"/>
          </a:solidFill>
          <a:ln/>
        </p:spPr>
        <p:txBody>
          <a:bodyPr/>
          <a:lstStyle/>
          <a:p>
            <a:endParaRPr lang="es-CL"/>
          </a:p>
        </p:txBody>
      </p:sp>
      <p:sp>
        <p:nvSpPr>
          <p:cNvPr id="187" name="Text 183"/>
          <p:cNvSpPr/>
          <p:nvPr/>
        </p:nvSpPr>
        <p:spPr>
          <a:xfrm>
            <a:off x="4025724" y="5461993"/>
            <a:ext cx="1161873" cy="260328"/>
          </a:xfrm>
          <a:prstGeom prst="rect">
            <a:avLst/>
          </a:prstGeom>
          <a:noFill/>
          <a:ln/>
        </p:spPr>
        <p:txBody>
          <a:bodyPr wrap="none" lIns="16933" tIns="16933" rIns="16933" bIns="16933" rtlCol="0" anchor="ctr">
            <a:normAutofit/>
          </a:bodyPr>
          <a:lstStyle/>
          <a:p>
            <a:pPr defTabSz="609630">
              <a:buClrTx/>
            </a:pPr>
            <a:r>
              <a:rPr lang="en-US" sz="950" kern="1200" dirty="0">
                <a:solidFill>
                  <a:srgbClr val="373C46"/>
                </a:solidFill>
                <a:latin typeface="Arial" pitchFamily="34" charset="0"/>
                <a:ea typeface="Arial" pitchFamily="34" charset="-122"/>
                <a:cs typeface="Arial" pitchFamily="34" charset="-120"/>
              </a:rPr>
              <a:t>Eglys Ramírez</a:t>
            </a:r>
            <a:endParaRPr lang="en-US" sz="950" kern="1200" dirty="0">
              <a:solidFill>
                <a:prstClr val="black"/>
              </a:solidFill>
              <a:latin typeface="Calibri" panose="020F0502020204030204"/>
              <a:ea typeface="+mn-ea"/>
              <a:cs typeface="+mn-cs"/>
            </a:endParaRPr>
          </a:p>
        </p:txBody>
      </p:sp>
      <p:sp>
        <p:nvSpPr>
          <p:cNvPr id="188" name="Shape 184"/>
          <p:cNvSpPr/>
          <p:nvPr/>
        </p:nvSpPr>
        <p:spPr>
          <a:xfrm>
            <a:off x="5187598" y="5696921"/>
            <a:ext cx="545923" cy="7055"/>
          </a:xfrm>
          <a:prstGeom prst="rect">
            <a:avLst/>
          </a:prstGeom>
          <a:solidFill>
            <a:srgbClr val="D9DCE3"/>
          </a:solidFill>
          <a:ln/>
        </p:spPr>
        <p:txBody>
          <a:bodyPr/>
          <a:lstStyle/>
          <a:p>
            <a:endParaRPr lang="es-CL"/>
          </a:p>
        </p:txBody>
      </p:sp>
      <p:sp>
        <p:nvSpPr>
          <p:cNvPr id="189" name="Text 185"/>
          <p:cNvSpPr/>
          <p:nvPr/>
        </p:nvSpPr>
        <p:spPr>
          <a:xfrm>
            <a:off x="5187598" y="5461993"/>
            <a:ext cx="495123"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11</a:t>
            </a:r>
            <a:endParaRPr lang="en-US" sz="950" kern="1200" dirty="0">
              <a:solidFill>
                <a:prstClr val="black"/>
              </a:solidFill>
              <a:latin typeface="Calibri" panose="020F0502020204030204"/>
              <a:ea typeface="+mn-ea"/>
              <a:cs typeface="+mn-cs"/>
            </a:endParaRPr>
          </a:p>
        </p:txBody>
      </p:sp>
      <p:sp>
        <p:nvSpPr>
          <p:cNvPr id="190" name="Shape 186"/>
          <p:cNvSpPr/>
          <p:nvPr/>
        </p:nvSpPr>
        <p:spPr>
          <a:xfrm>
            <a:off x="5733521" y="5696921"/>
            <a:ext cx="1688923" cy="7055"/>
          </a:xfrm>
          <a:prstGeom prst="rect">
            <a:avLst/>
          </a:prstGeom>
          <a:solidFill>
            <a:srgbClr val="D9DCE3"/>
          </a:solidFill>
          <a:ln/>
        </p:spPr>
        <p:txBody>
          <a:bodyPr/>
          <a:lstStyle/>
          <a:p>
            <a:endParaRPr lang="es-CL"/>
          </a:p>
        </p:txBody>
      </p:sp>
      <p:sp>
        <p:nvSpPr>
          <p:cNvPr id="191" name="Shape 187"/>
          <p:cNvSpPr/>
          <p:nvPr/>
        </p:nvSpPr>
        <p:spPr>
          <a:xfrm>
            <a:off x="5784233" y="5532107"/>
            <a:ext cx="53578" cy="101534"/>
          </a:xfrm>
          <a:prstGeom prst="rect">
            <a:avLst/>
          </a:prstGeom>
          <a:solidFill>
            <a:srgbClr val="282DF0"/>
          </a:solidFill>
          <a:ln/>
        </p:spPr>
        <p:txBody>
          <a:bodyPr/>
          <a:lstStyle/>
          <a:p>
            <a:endParaRPr lang="es-CL"/>
          </a:p>
        </p:txBody>
      </p:sp>
      <p:sp>
        <p:nvSpPr>
          <p:cNvPr id="192" name="Text 188"/>
          <p:cNvSpPr/>
          <p:nvPr/>
        </p:nvSpPr>
        <p:spPr>
          <a:xfrm>
            <a:off x="5901311" y="5512374"/>
            <a:ext cx="285728" cy="166511"/>
          </a:xfrm>
          <a:prstGeom prst="rect">
            <a:avLst/>
          </a:prstGeom>
          <a:noFill/>
          <a:ln/>
        </p:spPr>
        <p:txBody>
          <a:bodyPr wrap="none" lIns="16933" tIns="16933" rIns="16933" bIns="16933" rtlCol="0" anchor="t">
            <a:normAutofit lnSpcReduction="10000"/>
          </a:bodyPr>
          <a:lstStyle/>
          <a:p>
            <a:pPr defTabSz="609630">
              <a:buClrTx/>
            </a:pPr>
            <a:r>
              <a:rPr lang="en-US" sz="950" kern="1200" dirty="0">
                <a:solidFill>
                  <a:srgbClr val="373C46"/>
                </a:solidFill>
                <a:latin typeface="Arial" pitchFamily="34" charset="0"/>
                <a:ea typeface="Arial" pitchFamily="34" charset="-122"/>
                <a:cs typeface="Arial" pitchFamily="34" charset="-120"/>
              </a:rPr>
              <a:t>40,0</a:t>
            </a:r>
            <a:endParaRPr lang="en-US" sz="950" kern="1200" dirty="0">
              <a:solidFill>
                <a:prstClr val="black"/>
              </a:solidFill>
              <a:latin typeface="Calibri" panose="020F0502020204030204"/>
              <a:ea typeface="+mn-ea"/>
              <a:cs typeface="+mn-cs"/>
            </a:endParaRPr>
          </a:p>
        </p:txBody>
      </p:sp>
      <p:sp>
        <p:nvSpPr>
          <p:cNvPr id="193" name="Shape 189"/>
          <p:cNvSpPr/>
          <p:nvPr/>
        </p:nvSpPr>
        <p:spPr>
          <a:xfrm>
            <a:off x="7422445" y="5696921"/>
            <a:ext cx="610857" cy="7055"/>
          </a:xfrm>
          <a:prstGeom prst="rect">
            <a:avLst/>
          </a:prstGeom>
          <a:solidFill>
            <a:srgbClr val="D9DCE3"/>
          </a:solidFill>
          <a:ln/>
        </p:spPr>
        <p:txBody>
          <a:bodyPr/>
          <a:lstStyle/>
          <a:p>
            <a:endParaRPr lang="es-CL"/>
          </a:p>
        </p:txBody>
      </p:sp>
      <p:sp>
        <p:nvSpPr>
          <p:cNvPr id="194" name="Text 190"/>
          <p:cNvSpPr/>
          <p:nvPr/>
        </p:nvSpPr>
        <p:spPr>
          <a:xfrm>
            <a:off x="7422445" y="5461993"/>
            <a:ext cx="560057" cy="260328"/>
          </a:xfrm>
          <a:prstGeom prst="rect">
            <a:avLst/>
          </a:prstGeom>
          <a:noFill/>
          <a:ln/>
        </p:spPr>
        <p:txBody>
          <a:bodyPr wrap="none" lIns="16933" tIns="16933" rIns="16933" bIns="16933" rtlCol="0" anchor="ctr">
            <a:normAutofit/>
          </a:bodyPr>
          <a:lstStyle/>
          <a:p>
            <a:pPr algn="r" defTabSz="609630">
              <a:buClrTx/>
            </a:pPr>
            <a:r>
              <a:rPr lang="en-US" sz="950" kern="1200" dirty="0">
                <a:solidFill>
                  <a:srgbClr val="373C46"/>
                </a:solidFill>
                <a:latin typeface="Arial" pitchFamily="34" charset="0"/>
                <a:ea typeface="Arial" pitchFamily="34" charset="-122"/>
                <a:cs typeface="Arial" pitchFamily="34" charset="-120"/>
              </a:rPr>
              <a:t>1</a:t>
            </a:r>
            <a:endParaRPr lang="en-US" sz="950" kern="1200" dirty="0">
              <a:solidFill>
                <a:prstClr val="black"/>
              </a:solidFill>
              <a:latin typeface="Calibri" panose="020F0502020204030204"/>
              <a:ea typeface="+mn-ea"/>
              <a:cs typeface="+mn-cs"/>
            </a:endParaRPr>
          </a:p>
        </p:txBody>
      </p:sp>
      <p:sp>
        <p:nvSpPr>
          <p:cNvPr id="195" name="Shape 191"/>
          <p:cNvSpPr/>
          <p:nvPr/>
        </p:nvSpPr>
        <p:spPr>
          <a:xfrm>
            <a:off x="8445501" y="1663678"/>
            <a:ext cx="1206500" cy="2235178"/>
          </a:xfrm>
          <a:prstGeom prst="rect">
            <a:avLst/>
          </a:prstGeom>
          <a:solidFill>
            <a:srgbClr val="28D2C3"/>
          </a:solidFill>
          <a:ln w="21167">
            <a:solidFill>
              <a:srgbClr val="06201D"/>
            </a:solidFill>
            <a:prstDash val="solid"/>
          </a:ln>
        </p:spPr>
        <p:txBody>
          <a:bodyPr/>
          <a:lstStyle/>
          <a:p>
            <a:endParaRPr lang="es-CL"/>
          </a:p>
        </p:txBody>
      </p:sp>
      <p:sp>
        <p:nvSpPr>
          <p:cNvPr id="196" name="Text 192"/>
          <p:cNvSpPr/>
          <p:nvPr/>
        </p:nvSpPr>
        <p:spPr>
          <a:xfrm>
            <a:off x="8763398" y="2367359"/>
            <a:ext cx="570706"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Cristián Pérez</a:t>
            </a:r>
            <a:endParaRPr lang="en-US" sz="1100" kern="1200" dirty="0">
              <a:solidFill>
                <a:prstClr val="black"/>
              </a:solidFill>
              <a:latin typeface="Calibri" panose="020F0502020204030204"/>
              <a:ea typeface="+mn-ea"/>
              <a:cs typeface="+mn-cs"/>
            </a:endParaRPr>
          </a:p>
        </p:txBody>
      </p:sp>
      <p:sp>
        <p:nvSpPr>
          <p:cNvPr id="197" name="Text 193"/>
          <p:cNvSpPr/>
          <p:nvPr/>
        </p:nvSpPr>
        <p:spPr>
          <a:xfrm>
            <a:off x="8790297" y="2740533"/>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433</a:t>
            </a:r>
            <a:endParaRPr lang="en-US" sz="2200" kern="1200" dirty="0">
              <a:solidFill>
                <a:prstClr val="black"/>
              </a:solidFill>
              <a:latin typeface="Calibri" panose="020F0502020204030204"/>
              <a:ea typeface="+mn-ea"/>
              <a:cs typeface="+mn-cs"/>
            </a:endParaRPr>
          </a:p>
        </p:txBody>
      </p:sp>
      <p:sp>
        <p:nvSpPr>
          <p:cNvPr id="198" name="Text 194"/>
          <p:cNvSpPr/>
          <p:nvPr/>
        </p:nvSpPr>
        <p:spPr>
          <a:xfrm>
            <a:off x="8810581" y="3057922"/>
            <a:ext cx="476228" cy="162543"/>
          </a:xfrm>
          <a:prstGeom prst="rect">
            <a:avLst/>
          </a:prstGeom>
          <a:noFill/>
          <a:ln/>
        </p:spPr>
        <p:txBody>
          <a:bodyPr wrap="none" lIns="16933" tIns="16933" rIns="16933" bIns="16933" rtlCol="0" anchor="t">
            <a:normAutofit lnSpcReduction="10000"/>
          </a:bodyPr>
          <a:lstStyle/>
          <a:p>
            <a:pPr algn="ctr" defTabSz="609630">
              <a:lnSpc>
                <a:spcPct val="102316"/>
              </a:lnSpc>
              <a:buClrTx/>
            </a:pPr>
            <a:r>
              <a:rPr lang="en-US" sz="900" b="1" kern="1200" dirty="0">
                <a:solidFill>
                  <a:srgbClr val="FFFFFF"/>
                </a:solidFill>
                <a:latin typeface="Arial" pitchFamily="34" charset="0"/>
                <a:ea typeface="Arial" pitchFamily="34" charset="-122"/>
                <a:cs typeface="Arial" pitchFamily="34" charset="-120"/>
              </a:rPr>
              <a:t>clientes</a:t>
            </a:r>
            <a:endParaRPr lang="en-US" sz="900" kern="1200" dirty="0">
              <a:solidFill>
                <a:prstClr val="black"/>
              </a:solidFill>
              <a:latin typeface="Calibri" panose="020F0502020204030204"/>
              <a:ea typeface="+mn-ea"/>
              <a:cs typeface="+mn-cs"/>
            </a:endParaRPr>
          </a:p>
        </p:txBody>
      </p:sp>
      <p:sp>
        <p:nvSpPr>
          <p:cNvPr id="199" name="Shape 195"/>
          <p:cNvSpPr/>
          <p:nvPr/>
        </p:nvSpPr>
        <p:spPr>
          <a:xfrm>
            <a:off x="9779001" y="1663678"/>
            <a:ext cx="2082712" cy="2235178"/>
          </a:xfrm>
          <a:prstGeom prst="rect">
            <a:avLst/>
          </a:prstGeom>
          <a:ln w="21167">
            <a:solidFill>
              <a:srgbClr val="06201D"/>
            </a:solidFill>
            <a:prstDash val="solid"/>
          </a:ln>
        </p:spPr>
        <p:txBody>
          <a:bodyPr/>
          <a:lstStyle/>
          <a:p>
            <a:endParaRPr lang="es-CL"/>
          </a:p>
        </p:txBody>
      </p:sp>
      <p:sp>
        <p:nvSpPr>
          <p:cNvPr id="200" name="Text 196"/>
          <p:cNvSpPr/>
          <p:nvPr/>
        </p:nvSpPr>
        <p:spPr>
          <a:xfrm>
            <a:off x="9949868" y="2293055"/>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pPr>
            <a:r>
              <a:rPr lang="en-US" sz="950" kern="1200" dirty="0">
                <a:solidFill>
                  <a:srgbClr val="373C46"/>
                </a:solidFill>
                <a:latin typeface="Arial" pitchFamily="34" charset="0"/>
                <a:ea typeface="Arial" pitchFamily="34" charset="-122"/>
                <a:cs typeface="Arial" pitchFamily="34" charset="-120"/>
              </a:rPr>
              <a:t>Potencial: </a:t>
            </a:r>
            <a:r>
              <a:rPr lang="en-US" sz="950" b="1" kern="1200" dirty="0">
                <a:solidFill>
                  <a:srgbClr val="33448D"/>
                </a:solidFill>
                <a:latin typeface="Arial" pitchFamily="34" charset="0"/>
                <a:ea typeface="Arial" pitchFamily="34" charset="-122"/>
                <a:cs typeface="Arial" pitchFamily="34" charset="-120"/>
              </a:rPr>
              <a:t>MM$1.133,2</a:t>
            </a:r>
            <a:endParaRPr lang="en-US" sz="950" kern="1200" dirty="0">
              <a:solidFill>
                <a:prstClr val="black"/>
              </a:solidFill>
              <a:latin typeface="Calibri" panose="020F0502020204030204"/>
              <a:ea typeface="+mn-ea"/>
              <a:cs typeface="+mn-cs"/>
            </a:endParaRPr>
          </a:p>
        </p:txBody>
      </p:sp>
      <p:sp>
        <p:nvSpPr>
          <p:cNvPr id="201" name="Text 197"/>
          <p:cNvSpPr/>
          <p:nvPr/>
        </p:nvSpPr>
        <p:spPr>
          <a:xfrm>
            <a:off x="9949869" y="2455774"/>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9 regiones · Norte, Valparaíso, RM, Maule y Bío Bío</a:t>
            </a:r>
            <a:endParaRPr lang="en-US" sz="950" kern="1200" dirty="0">
              <a:solidFill>
                <a:prstClr val="black"/>
              </a:solidFill>
              <a:latin typeface="Calibri" panose="020F0502020204030204"/>
              <a:ea typeface="+mn-ea"/>
              <a:cs typeface="+mn-cs"/>
            </a:endParaRPr>
          </a:p>
        </p:txBody>
      </p:sp>
      <p:sp>
        <p:nvSpPr>
          <p:cNvPr id="202" name="Text 198"/>
          <p:cNvSpPr/>
          <p:nvPr/>
        </p:nvSpPr>
        <p:spPr>
          <a:xfrm>
            <a:off x="9949868" y="2781212"/>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Contratos vigentes: 43</a:t>
            </a:r>
            <a:endParaRPr lang="en-US" sz="950" kern="1200" dirty="0">
              <a:solidFill>
                <a:prstClr val="black"/>
              </a:solidFill>
              <a:latin typeface="Calibri" panose="020F0502020204030204"/>
              <a:ea typeface="+mn-ea"/>
              <a:cs typeface="+mn-cs"/>
            </a:endParaRPr>
          </a:p>
        </p:txBody>
      </p:sp>
      <p:sp>
        <p:nvSpPr>
          <p:cNvPr id="203" name="Text 199"/>
          <p:cNvSpPr/>
          <p:nvPr/>
        </p:nvSpPr>
        <p:spPr>
          <a:xfrm>
            <a:off x="9949869" y="2943931"/>
            <a:ext cx="1847551" cy="350837"/>
          </a:xfrm>
          <a:prstGeom prst="rect">
            <a:avLst/>
          </a:prstGeom>
          <a:noFill/>
          <a:ln/>
        </p:spPr>
        <p:txBody>
          <a:bodyPr wrap="square" lIns="16933" tIns="16933" rIns="16933" bIns="16933" rtlCol="0" anchor="t">
            <a:normAutofit/>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Bío Bío: 81 clientes · MM$284,3</a:t>
            </a:r>
            <a:endParaRPr lang="en-US" sz="950" kern="1200" dirty="0">
              <a:solidFill>
                <a:prstClr val="black"/>
              </a:solidFill>
              <a:latin typeface="Calibri" panose="020F0502020204030204"/>
              <a:ea typeface="+mn-ea"/>
              <a:cs typeface="+mn-cs"/>
            </a:endParaRPr>
          </a:p>
        </p:txBody>
      </p:sp>
      <p:sp>
        <p:nvSpPr>
          <p:cNvPr id="204" name="Shape 200"/>
          <p:cNvSpPr/>
          <p:nvPr/>
        </p:nvSpPr>
        <p:spPr>
          <a:xfrm>
            <a:off x="8445501" y="4025856"/>
            <a:ext cx="1206500" cy="2235178"/>
          </a:xfrm>
          <a:prstGeom prst="rect">
            <a:avLst/>
          </a:prstGeom>
          <a:solidFill>
            <a:srgbClr val="282DF0"/>
          </a:solidFill>
          <a:ln w="21167">
            <a:solidFill>
              <a:srgbClr val="06201D"/>
            </a:solidFill>
            <a:prstDash val="solid"/>
          </a:ln>
        </p:spPr>
        <p:txBody>
          <a:bodyPr/>
          <a:lstStyle/>
          <a:p>
            <a:endParaRPr lang="es-CL"/>
          </a:p>
        </p:txBody>
      </p:sp>
      <p:sp>
        <p:nvSpPr>
          <p:cNvPr id="205" name="Text 201"/>
          <p:cNvSpPr/>
          <p:nvPr/>
        </p:nvSpPr>
        <p:spPr>
          <a:xfrm>
            <a:off x="8751712" y="4729538"/>
            <a:ext cx="594078" cy="360539"/>
          </a:xfrm>
          <a:prstGeom prst="rect">
            <a:avLst/>
          </a:prstGeom>
          <a:noFill/>
          <a:ln/>
        </p:spPr>
        <p:txBody>
          <a:bodyPr wrap="none" lIns="16933" tIns="16933" rIns="16933" bIns="16933" rtlCol="0" anchor="t">
            <a:normAutofit/>
          </a:bodyPr>
          <a:lstStyle/>
          <a:p>
            <a:pPr algn="ctr" defTabSz="609630">
              <a:lnSpc>
                <a:spcPct val="103304"/>
              </a:lnSpc>
              <a:buClrTx/>
            </a:pPr>
            <a:r>
              <a:rPr lang="en-US" sz="1100" b="1" kern="1200" dirty="0">
                <a:solidFill>
                  <a:srgbClr val="FFFFFF"/>
                </a:solidFill>
                <a:latin typeface="Arial" pitchFamily="34" charset="0"/>
                <a:ea typeface="Arial" pitchFamily="34" charset="-122"/>
                <a:cs typeface="Arial" pitchFamily="34" charset="-120"/>
              </a:rPr>
              <a:t>Eglys Ramírez</a:t>
            </a:r>
            <a:endParaRPr lang="en-US" sz="1100" kern="1200" dirty="0">
              <a:solidFill>
                <a:prstClr val="black"/>
              </a:solidFill>
              <a:latin typeface="Calibri" panose="020F0502020204030204"/>
              <a:ea typeface="+mn-ea"/>
              <a:cs typeface="+mn-cs"/>
            </a:endParaRPr>
          </a:p>
        </p:txBody>
      </p:sp>
      <p:sp>
        <p:nvSpPr>
          <p:cNvPr id="206" name="Text 202"/>
          <p:cNvSpPr/>
          <p:nvPr/>
        </p:nvSpPr>
        <p:spPr>
          <a:xfrm>
            <a:off x="8790297" y="5102710"/>
            <a:ext cx="516907" cy="304756"/>
          </a:xfrm>
          <a:prstGeom prst="rect">
            <a:avLst/>
          </a:prstGeom>
          <a:noFill/>
          <a:ln/>
        </p:spPr>
        <p:txBody>
          <a:bodyPr wrap="none" lIns="16933" tIns="16933" rIns="16933" bIns="16933" rtlCol="0" anchor="t">
            <a:normAutofit lnSpcReduction="10000"/>
          </a:bodyPr>
          <a:lstStyle/>
          <a:p>
            <a:pPr algn="ctr" defTabSz="609630">
              <a:lnSpc>
                <a:spcPct val="88000"/>
              </a:lnSpc>
              <a:buClrTx/>
            </a:pPr>
            <a:r>
              <a:rPr lang="en-US" sz="2200" b="1" kern="1200" dirty="0">
                <a:solidFill>
                  <a:srgbClr val="FFFFFF"/>
                </a:solidFill>
                <a:latin typeface="Arial" pitchFamily="34" charset="0"/>
                <a:ea typeface="Arial" pitchFamily="34" charset="-122"/>
                <a:cs typeface="Arial" pitchFamily="34" charset="-120"/>
              </a:rPr>
              <a:t>325</a:t>
            </a:r>
            <a:endParaRPr lang="en-US" sz="2200" kern="1200" dirty="0">
              <a:solidFill>
                <a:prstClr val="black"/>
              </a:solidFill>
              <a:latin typeface="Calibri" panose="020F0502020204030204"/>
              <a:ea typeface="+mn-ea"/>
              <a:cs typeface="+mn-cs"/>
            </a:endParaRPr>
          </a:p>
        </p:txBody>
      </p:sp>
      <p:sp>
        <p:nvSpPr>
          <p:cNvPr id="207" name="Text 203"/>
          <p:cNvSpPr/>
          <p:nvPr/>
        </p:nvSpPr>
        <p:spPr>
          <a:xfrm>
            <a:off x="8810581" y="5420100"/>
            <a:ext cx="476228" cy="162543"/>
          </a:xfrm>
          <a:prstGeom prst="rect">
            <a:avLst/>
          </a:prstGeom>
          <a:noFill/>
          <a:ln/>
        </p:spPr>
        <p:txBody>
          <a:bodyPr wrap="none" lIns="16933" tIns="16933" rIns="16933" bIns="16933" rtlCol="0" anchor="t">
            <a:normAutofit lnSpcReduction="10000"/>
          </a:bodyPr>
          <a:lstStyle/>
          <a:p>
            <a:pPr algn="ctr" defTabSz="609630">
              <a:lnSpc>
                <a:spcPct val="102316"/>
              </a:lnSpc>
              <a:buClrTx/>
            </a:pPr>
            <a:r>
              <a:rPr lang="en-US" sz="900" b="1" kern="1200" dirty="0">
                <a:solidFill>
                  <a:srgbClr val="FFFFFF"/>
                </a:solidFill>
                <a:latin typeface="Arial" pitchFamily="34" charset="0"/>
                <a:ea typeface="Arial" pitchFamily="34" charset="-122"/>
                <a:cs typeface="Arial" pitchFamily="34" charset="-120"/>
              </a:rPr>
              <a:t>clientes</a:t>
            </a:r>
            <a:endParaRPr lang="en-US" sz="900" kern="1200" dirty="0">
              <a:solidFill>
                <a:prstClr val="black"/>
              </a:solidFill>
              <a:latin typeface="Calibri" panose="020F0502020204030204"/>
              <a:ea typeface="+mn-ea"/>
              <a:cs typeface="+mn-cs"/>
            </a:endParaRPr>
          </a:p>
        </p:txBody>
      </p:sp>
      <p:sp>
        <p:nvSpPr>
          <p:cNvPr id="208" name="Shape 204"/>
          <p:cNvSpPr/>
          <p:nvPr/>
        </p:nvSpPr>
        <p:spPr>
          <a:xfrm>
            <a:off x="9779001" y="4025856"/>
            <a:ext cx="2082712" cy="2235178"/>
          </a:xfrm>
          <a:prstGeom prst="rect">
            <a:avLst/>
          </a:prstGeom>
          <a:ln w="21167">
            <a:solidFill>
              <a:srgbClr val="06201D"/>
            </a:solidFill>
            <a:prstDash val="solid"/>
          </a:ln>
        </p:spPr>
        <p:txBody>
          <a:bodyPr/>
          <a:lstStyle/>
          <a:p>
            <a:endParaRPr lang="es-CL"/>
          </a:p>
        </p:txBody>
      </p:sp>
      <p:sp>
        <p:nvSpPr>
          <p:cNvPr id="209" name="Text 205"/>
          <p:cNvSpPr/>
          <p:nvPr/>
        </p:nvSpPr>
        <p:spPr>
          <a:xfrm>
            <a:off x="9949868" y="4655234"/>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pPr>
            <a:r>
              <a:rPr lang="en-US" sz="950" kern="1200" dirty="0">
                <a:solidFill>
                  <a:srgbClr val="373C46"/>
                </a:solidFill>
                <a:latin typeface="Arial" pitchFamily="34" charset="0"/>
                <a:ea typeface="Arial" pitchFamily="34" charset="-122"/>
                <a:cs typeface="Arial" pitchFamily="34" charset="-120"/>
              </a:rPr>
              <a:t>Potencial: </a:t>
            </a:r>
            <a:r>
              <a:rPr lang="en-US" sz="950" b="1" kern="1200" dirty="0">
                <a:solidFill>
                  <a:srgbClr val="33448D"/>
                </a:solidFill>
                <a:latin typeface="Arial" pitchFamily="34" charset="0"/>
                <a:ea typeface="Arial" pitchFamily="34" charset="-122"/>
                <a:cs typeface="Arial" pitchFamily="34" charset="-120"/>
              </a:rPr>
              <a:t>MM$966,7</a:t>
            </a:r>
            <a:endParaRPr lang="en-US" sz="950" kern="1200" dirty="0">
              <a:solidFill>
                <a:prstClr val="black"/>
              </a:solidFill>
              <a:latin typeface="Calibri" panose="020F0502020204030204"/>
              <a:ea typeface="+mn-ea"/>
              <a:cs typeface="+mn-cs"/>
            </a:endParaRPr>
          </a:p>
        </p:txBody>
      </p:sp>
      <p:sp>
        <p:nvSpPr>
          <p:cNvPr id="210" name="Text 206"/>
          <p:cNvSpPr/>
          <p:nvPr/>
        </p:nvSpPr>
        <p:spPr>
          <a:xfrm>
            <a:off x="9949869" y="4817953"/>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8 regiones · RM, O'Higgins, Ñuble y Sur</a:t>
            </a:r>
            <a:endParaRPr lang="en-US" sz="950" kern="1200" dirty="0">
              <a:solidFill>
                <a:prstClr val="black"/>
              </a:solidFill>
              <a:latin typeface="Calibri" panose="020F0502020204030204"/>
              <a:ea typeface="+mn-ea"/>
              <a:cs typeface="+mn-cs"/>
            </a:endParaRPr>
          </a:p>
        </p:txBody>
      </p:sp>
      <p:sp>
        <p:nvSpPr>
          <p:cNvPr id="211" name="Text 207"/>
          <p:cNvSpPr/>
          <p:nvPr/>
        </p:nvSpPr>
        <p:spPr>
          <a:xfrm>
            <a:off x="9949868" y="5143390"/>
            <a:ext cx="1967373" cy="188119"/>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Contratos vigentes: 35</a:t>
            </a:r>
            <a:endParaRPr lang="en-US" sz="950" kern="1200" dirty="0">
              <a:solidFill>
                <a:prstClr val="black"/>
              </a:solidFill>
              <a:latin typeface="Calibri" panose="020F0502020204030204"/>
              <a:ea typeface="+mn-ea"/>
              <a:cs typeface="+mn-cs"/>
            </a:endParaRPr>
          </a:p>
        </p:txBody>
      </p:sp>
      <p:sp>
        <p:nvSpPr>
          <p:cNvPr id="212" name="Text 208"/>
          <p:cNvSpPr/>
          <p:nvPr/>
        </p:nvSpPr>
        <p:spPr>
          <a:xfrm>
            <a:off x="9949869" y="5306109"/>
            <a:ext cx="1847551" cy="350837"/>
          </a:xfrm>
          <a:prstGeom prst="rect">
            <a:avLst/>
          </a:prstGeom>
          <a:noFill/>
          <a:ln/>
        </p:spPr>
        <p:txBody>
          <a:bodyPr wrap="square" lIns="16933" tIns="16933" rIns="16933" bIns="16933" rtlCol="0" anchor="t">
            <a:normAutofit lnSpcReduction="10000"/>
          </a:bodyPr>
          <a:lstStyle/>
          <a:p>
            <a:pPr marL="84460" indent="-84460" defTabSz="609630">
              <a:lnSpc>
                <a:spcPct val="115425"/>
              </a:lnSpc>
              <a:buClrTx/>
              <a:buSzPct val="100000"/>
              <a:buFontTx/>
              <a:buChar char="•"/>
              <a:tabLst>
                <a:tab pos="84460" algn="l"/>
              </a:tabLst>
            </a:pPr>
            <a:r>
              <a:rPr lang="en-US" sz="950" kern="1200" dirty="0">
                <a:solidFill>
                  <a:srgbClr val="373C46"/>
                </a:solidFill>
                <a:latin typeface="Arial" pitchFamily="34" charset="0"/>
                <a:ea typeface="Arial" pitchFamily="34" charset="-122"/>
                <a:cs typeface="Arial" pitchFamily="34" charset="-120"/>
              </a:rPr>
              <a:t>Araucanía: 33 clientes · MM$159,2</a:t>
            </a:r>
            <a:endParaRPr lang="en-US" sz="950" kern="1200" dirty="0">
              <a:solidFill>
                <a:prstClr val="black"/>
              </a:solidFill>
              <a:latin typeface="Calibri" panose="020F0502020204030204"/>
              <a:ea typeface="+mn-ea"/>
              <a:cs typeface="+mn-cs"/>
            </a:endParaRPr>
          </a:p>
        </p:txBody>
      </p:sp>
      <p:sp>
        <p:nvSpPr>
          <p:cNvPr id="213" name="Text 209"/>
          <p:cNvSpPr/>
          <p:nvPr/>
        </p:nvSpPr>
        <p:spPr>
          <a:xfrm>
            <a:off x="6559507" y="6426179"/>
            <a:ext cx="5308601" cy="159455"/>
          </a:xfrm>
          <a:prstGeom prst="rect">
            <a:avLst/>
          </a:prstGeom>
          <a:noFill/>
          <a:ln/>
        </p:spPr>
        <p:txBody>
          <a:bodyPr wrap="square" lIns="16933" tIns="16933" rIns="16933" bIns="16933" rtlCol="0" anchor="t">
            <a:normAutofit lnSpcReduction="10000"/>
          </a:bodyPr>
          <a:lstStyle/>
          <a:p>
            <a:pPr algn="r" defTabSz="609630">
              <a:buClrTx/>
            </a:pPr>
            <a:r>
              <a:rPr lang="en-US" sz="900" kern="1200" dirty="0">
                <a:solidFill>
                  <a:srgbClr val="373C46"/>
                </a:solidFill>
                <a:latin typeface="Arial" pitchFamily="34" charset="0"/>
                <a:ea typeface="Arial" pitchFamily="34" charset="-122"/>
                <a:cs typeface="Arial" pitchFamily="34" charset="-120"/>
              </a:rPr>
              <a:t>Fuente: Cartera_clientes_ST_2026-09-25 · Límites regionales aproximados</a:t>
            </a:r>
            <a:endParaRPr lang="en-US" sz="900" kern="1200" dirty="0">
              <a:solidFill>
                <a:prstClr val="black"/>
              </a:solidFill>
              <a:latin typeface="Calibri" panose="020F0502020204030204"/>
              <a:ea typeface="+mn-ea"/>
              <a:cs typeface="+mn-cs"/>
            </a:endParaRPr>
          </a:p>
        </p:txBody>
      </p:sp>
      <p:pic>
        <p:nvPicPr>
          <p:cNvPr id="214" name="Image 2" descr="preencoded.png"/>
          <p:cNvPicPr>
            <a:picLocks noChangeAspect="1"/>
          </p:cNvPicPr>
          <p:nvPr/>
        </p:nvPicPr>
        <p:blipFill>
          <a:blip r:embed="rId5"/>
          <a:stretch>
            <a:fillRect/>
          </a:stretch>
        </p:blipFill>
        <p:spPr>
          <a:xfrm>
            <a:off x="330178" y="6400712"/>
            <a:ext cx="1225462" cy="279356"/>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13">
          <a:extLst>
            <a:ext uri="{FF2B5EF4-FFF2-40B4-BE49-F238E27FC236}">
              <a16:creationId xmlns:a16="http://schemas.microsoft.com/office/drawing/2014/main" id="{1EB841FC-B618-1C11-FEF8-0DE525B274A1}"/>
            </a:ext>
          </a:extLst>
        </p:cNvPr>
        <p:cNvGrpSpPr/>
        <p:nvPr/>
      </p:nvGrpSpPr>
      <p:grpSpPr>
        <a:xfrm>
          <a:off x="0" y="0"/>
          <a:ext cx="0" cy="0"/>
          <a:chOff x="0" y="0"/>
          <a:chExt cx="0" cy="0"/>
        </a:xfrm>
      </p:grpSpPr>
      <p:sp>
        <p:nvSpPr>
          <p:cNvPr id="514" name="Google Shape;514;p41">
            <a:extLst>
              <a:ext uri="{FF2B5EF4-FFF2-40B4-BE49-F238E27FC236}">
                <a16:creationId xmlns:a16="http://schemas.microsoft.com/office/drawing/2014/main" id="{441C2153-BEE1-4D2F-3298-A424146E2ACE}"/>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dirty="0">
                <a:solidFill>
                  <a:srgbClr val="33448D"/>
                </a:solidFill>
                <a:latin typeface="Roboto"/>
                <a:ea typeface="Roboto"/>
                <a:cs typeface="Roboto"/>
                <a:sym typeface="Roboto"/>
              </a:rPr>
              <a:t>Plan RM y Valparaíso</a:t>
            </a:r>
            <a:endParaRPr dirty="0"/>
          </a:p>
        </p:txBody>
      </p:sp>
      <p:sp>
        <p:nvSpPr>
          <p:cNvPr id="9" name="Rectángulo 8">
            <a:extLst>
              <a:ext uri="{FF2B5EF4-FFF2-40B4-BE49-F238E27FC236}">
                <a16:creationId xmlns:a16="http://schemas.microsoft.com/office/drawing/2014/main" id="{42990234-17A8-D4B8-0A83-5BDBDB4B3C1E}"/>
              </a:ext>
            </a:extLst>
          </p:cNvPr>
          <p:cNvSpPr/>
          <p:nvPr/>
        </p:nvSpPr>
        <p:spPr>
          <a:xfrm>
            <a:off x="304408" y="5003065"/>
            <a:ext cx="11698084" cy="8683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De las propuestas anteriores, se reasignó con Foco en Valparaíso y Cristian la cartera de visitas y se les hizo un plan de visitas a cada uno de los 3 clientes para cubrir la totalidad del Potencial.</a:t>
            </a:r>
          </a:p>
          <a:p>
            <a:pPr marL="171450" lvl="1" indent="-171450">
              <a:buFont typeface="Arial" panose="020B0604020202020204" pitchFamily="34" charset="0"/>
              <a:buChar char="•"/>
            </a:pPr>
            <a:r>
              <a:rPr lang="es-MX" sz="900" dirty="0">
                <a:solidFill>
                  <a:schemeClr val="tx2"/>
                </a:solidFill>
              </a:rPr>
              <a:t>La Cartera completa se puede cubrir en 4 meses con un promedio de 3 visitas diarias </a:t>
            </a:r>
            <a:endParaRPr lang="es-CL" sz="1600" b="1" dirty="0">
              <a:solidFill>
                <a:schemeClr val="tx1"/>
              </a:solidFill>
            </a:endParaRPr>
          </a:p>
        </p:txBody>
      </p:sp>
      <p:pic>
        <p:nvPicPr>
          <p:cNvPr id="4" name="Imagen 3">
            <a:extLst>
              <a:ext uri="{FF2B5EF4-FFF2-40B4-BE49-F238E27FC236}">
                <a16:creationId xmlns:a16="http://schemas.microsoft.com/office/drawing/2014/main" id="{D69BC1F9-B081-E8C2-3D6C-3CC984165503}"/>
              </a:ext>
            </a:extLst>
          </p:cNvPr>
          <p:cNvPicPr>
            <a:picLocks noChangeAspect="1"/>
          </p:cNvPicPr>
          <p:nvPr/>
        </p:nvPicPr>
        <p:blipFill>
          <a:blip r:embed="rId3"/>
          <a:stretch>
            <a:fillRect/>
          </a:stretch>
        </p:blipFill>
        <p:spPr>
          <a:xfrm>
            <a:off x="291000" y="970340"/>
            <a:ext cx="11698084" cy="2905606"/>
          </a:xfrm>
          <a:prstGeom prst="rect">
            <a:avLst/>
          </a:prstGeom>
        </p:spPr>
      </p:pic>
    </p:spTree>
    <p:extLst>
      <p:ext uri="{BB962C8B-B14F-4D97-AF65-F5344CB8AC3E}">
        <p14:creationId xmlns:p14="http://schemas.microsoft.com/office/powerpoint/2010/main" val="31416250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7" name="Google Shape;627;p55"/>
          <p:cNvSpPr txBox="1">
            <a:spLocks noGrp="1"/>
          </p:cNvSpPr>
          <p:nvPr>
            <p:ph type="subTitle" idx="1"/>
          </p:nvPr>
        </p:nvSpPr>
        <p:spPr>
          <a:xfrm>
            <a:off x="928356" y="5044946"/>
            <a:ext cx="5036084" cy="553998"/>
          </a:xfrm>
          <a:prstGeom prst="rect">
            <a:avLst/>
          </a:prstGeom>
          <a:noFill/>
          <a:ln>
            <a:noFill/>
          </a:ln>
        </p:spPr>
        <p:txBody>
          <a:bodyPr spcFirstLastPara="1" wrap="square" lIns="91425" tIns="45700" rIns="91425" bIns="45700" anchor="t" anchorCtr="0">
            <a:normAutofit fontScale="85000" lnSpcReduction="20000"/>
          </a:bodyPr>
          <a:lstStyle/>
          <a:p>
            <a:pPr marL="0" lvl="0" indent="0" algn="l" rtl="0">
              <a:lnSpc>
                <a:spcPct val="90000"/>
              </a:lnSpc>
              <a:spcBef>
                <a:spcPts val="0"/>
              </a:spcBef>
              <a:spcAft>
                <a:spcPts val="0"/>
              </a:spcAft>
              <a:buClr>
                <a:srgbClr val="7F7F7F"/>
              </a:buClr>
              <a:buSzPct val="100000"/>
              <a:buNone/>
            </a:pPr>
            <a:r>
              <a:rPr lang="es-CL" sz="2000" b="1" dirty="0">
                <a:solidFill>
                  <a:srgbClr val="7F7F7F"/>
                </a:solidFill>
              </a:rPr>
              <a:t>Anexos</a:t>
            </a:r>
            <a:endParaRPr dirty="0"/>
          </a:p>
          <a:p>
            <a:pPr marL="0" lvl="0" indent="0" algn="l" rtl="0">
              <a:lnSpc>
                <a:spcPct val="90000"/>
              </a:lnSpc>
              <a:spcBef>
                <a:spcPts val="1000"/>
              </a:spcBef>
              <a:spcAft>
                <a:spcPts val="0"/>
              </a:spcAft>
              <a:buClr>
                <a:srgbClr val="7F7F7F"/>
              </a:buClr>
              <a:buSzPct val="100000"/>
              <a:buNone/>
            </a:pPr>
            <a:r>
              <a:rPr lang="es-CL" dirty="0">
                <a:solidFill>
                  <a:srgbClr val="7F7F7F"/>
                </a:solidFill>
              </a:rPr>
              <a:t>21 septiembre 2026</a:t>
            </a:r>
            <a:endParaRPr dirty="0"/>
          </a:p>
        </p:txBody>
      </p:sp>
      <p:sp>
        <p:nvSpPr>
          <p:cNvPr id="628" name="Google Shape;628;p55"/>
          <p:cNvSpPr/>
          <p:nvPr/>
        </p:nvSpPr>
        <p:spPr>
          <a:xfrm>
            <a:off x="8400256" y="6309320"/>
            <a:ext cx="4427984" cy="251094"/>
          </a:xfrm>
          <a:prstGeom prst="rect">
            <a:avLst/>
          </a:prstGeom>
          <a:noFill/>
          <a:ln>
            <a:noFill/>
          </a:ln>
        </p:spPr>
        <p:txBody>
          <a:bodyPr spcFirstLastPara="1" wrap="square" lIns="0" tIns="0" rIns="0" bIns="0" anchor="b" anchorCtr="0">
            <a:spAutoFit/>
          </a:bodyPr>
          <a:lstStyle/>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DOCUMENTO CONFIDENCIAL PROPIEDAD DE GEMCO S.A.</a:t>
            </a:r>
            <a:endParaRPr/>
          </a:p>
          <a:p>
            <a:pPr marL="0" marR="0" lvl="0" indent="0" algn="l" rtl="0">
              <a:lnSpc>
                <a:spcPct val="100000"/>
              </a:lnSpc>
              <a:spcBef>
                <a:spcPts val="0"/>
              </a:spcBef>
              <a:spcAft>
                <a:spcPts val="0"/>
              </a:spcAft>
              <a:buClr>
                <a:srgbClr val="33448D"/>
              </a:buClr>
              <a:buSzPts val="816"/>
              <a:buFont typeface="Calibri"/>
              <a:buNone/>
            </a:pPr>
            <a:r>
              <a:rPr lang="es-CL" sz="816" b="0" i="0" u="none" strike="noStrike" cap="none">
                <a:solidFill>
                  <a:srgbClr val="33448D"/>
                </a:solidFill>
                <a:latin typeface="Calibri"/>
                <a:ea typeface="Calibri"/>
                <a:cs typeface="Calibri"/>
                <a:sym typeface="Calibri"/>
              </a:rPr>
              <a:t>Queda prohibido su uso y distribución sin la autorización expresa de GEMCO S.A.</a:t>
            </a:r>
            <a:endParaRPr/>
          </a:p>
        </p:txBody>
      </p:sp>
      <p:pic>
        <p:nvPicPr>
          <p:cNvPr id="629" name="Google Shape;629;p55"/>
          <p:cNvPicPr preferRelativeResize="0"/>
          <p:nvPr/>
        </p:nvPicPr>
        <p:blipFill rotWithShape="1">
          <a:blip r:embed="rId3">
            <a:alphaModFix/>
          </a:blip>
          <a:srcRect t="11037"/>
          <a:stretch/>
        </p:blipFill>
        <p:spPr>
          <a:xfrm>
            <a:off x="10209845" y="2472568"/>
            <a:ext cx="1574786" cy="1490748"/>
          </a:xfrm>
          <a:prstGeom prst="rect">
            <a:avLst/>
          </a:prstGeom>
          <a:noFill/>
          <a:ln>
            <a:noFill/>
          </a:ln>
        </p:spPr>
      </p:pic>
      <p:sp>
        <p:nvSpPr>
          <p:cNvPr id="630" name="Google Shape;630;p55"/>
          <p:cNvSpPr/>
          <p:nvPr/>
        </p:nvSpPr>
        <p:spPr>
          <a:xfrm>
            <a:off x="0" y="6634290"/>
            <a:ext cx="12192000" cy="251094"/>
          </a:xfrm>
          <a:prstGeom prst="rect">
            <a:avLst/>
          </a:prstGeom>
          <a:solidFill>
            <a:srgbClr val="0000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33448D"/>
              </a:solidFill>
              <a:latin typeface="Arial"/>
              <a:ea typeface="Arial"/>
              <a:cs typeface="Arial"/>
              <a:sym typeface="Arial"/>
            </a:endParaRPr>
          </a:p>
        </p:txBody>
      </p:sp>
      <p:pic>
        <p:nvPicPr>
          <p:cNvPr id="631" name="Google Shape;631;p55"/>
          <p:cNvPicPr preferRelativeResize="0"/>
          <p:nvPr/>
        </p:nvPicPr>
        <p:blipFill rotWithShape="1">
          <a:blip r:embed="rId4">
            <a:alphaModFix/>
          </a:blip>
          <a:srcRect/>
          <a:stretch/>
        </p:blipFill>
        <p:spPr>
          <a:xfrm>
            <a:off x="839416" y="2546444"/>
            <a:ext cx="3668216" cy="114544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88">
          <a:extLst>
            <a:ext uri="{FF2B5EF4-FFF2-40B4-BE49-F238E27FC236}">
              <a16:creationId xmlns:a16="http://schemas.microsoft.com/office/drawing/2014/main" id="{E09B4B21-AFAE-2F87-9403-9732BC8FD60D}"/>
            </a:ext>
          </a:extLst>
        </p:cNvPr>
        <p:cNvGrpSpPr/>
        <p:nvPr/>
      </p:nvGrpSpPr>
      <p:grpSpPr>
        <a:xfrm>
          <a:off x="0" y="0"/>
          <a:ext cx="0" cy="0"/>
          <a:chOff x="0" y="0"/>
          <a:chExt cx="0" cy="0"/>
        </a:xfrm>
      </p:grpSpPr>
      <p:sp>
        <p:nvSpPr>
          <p:cNvPr id="489" name="Google Shape;489;p38">
            <a:extLst>
              <a:ext uri="{FF2B5EF4-FFF2-40B4-BE49-F238E27FC236}">
                <a16:creationId xmlns:a16="http://schemas.microsoft.com/office/drawing/2014/main" id="{9C89433C-9CE3-6CE8-BEEB-E04DFE2A2638}"/>
              </a:ext>
            </a:extLst>
          </p:cNvPr>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MX" sz="2700" b="1" dirty="0">
                <a:solidFill>
                  <a:srgbClr val="33448D"/>
                </a:solidFill>
                <a:latin typeface="Roboto"/>
                <a:ea typeface="Roboto"/>
                <a:cs typeface="Roboto"/>
                <a:sym typeface="Roboto"/>
              </a:rPr>
              <a:t>P</a:t>
            </a:r>
            <a:r>
              <a:rPr lang="es-CL" sz="2700" b="1" dirty="0" err="1">
                <a:solidFill>
                  <a:srgbClr val="33448D"/>
                </a:solidFill>
                <a:latin typeface="Roboto"/>
                <a:ea typeface="Roboto"/>
                <a:cs typeface="Roboto"/>
                <a:sym typeface="Roboto"/>
              </a:rPr>
              <a:t>lan</a:t>
            </a:r>
            <a:r>
              <a:rPr lang="es-CL" sz="2700" b="1" dirty="0">
                <a:solidFill>
                  <a:srgbClr val="33448D"/>
                </a:solidFill>
                <a:latin typeface="Roboto"/>
                <a:ea typeface="Roboto"/>
                <a:cs typeface="Roboto"/>
                <a:sym typeface="Roboto"/>
              </a:rPr>
              <a:t> RM y Valparaíso</a:t>
            </a:r>
            <a:endParaRPr dirty="0"/>
          </a:p>
        </p:txBody>
      </p:sp>
      <p:sp>
        <p:nvSpPr>
          <p:cNvPr id="3" name="Rectángulo 2">
            <a:extLst>
              <a:ext uri="{FF2B5EF4-FFF2-40B4-BE49-F238E27FC236}">
                <a16:creationId xmlns:a16="http://schemas.microsoft.com/office/drawing/2014/main" id="{7D319B1B-A781-DCC7-CA95-F8915EB147C5}"/>
              </a:ext>
            </a:extLst>
          </p:cNvPr>
          <p:cNvSpPr/>
          <p:nvPr/>
        </p:nvSpPr>
        <p:spPr>
          <a:xfrm>
            <a:off x="471000" y="1314000"/>
            <a:ext cx="48150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Potencial Región Metropolitana</a:t>
            </a:r>
            <a:endParaRPr lang="es-CL" sz="1100" b="1" dirty="0">
              <a:solidFill>
                <a:schemeClr val="tx1"/>
              </a:solidFill>
            </a:endParaRPr>
          </a:p>
        </p:txBody>
      </p:sp>
      <p:sp>
        <p:nvSpPr>
          <p:cNvPr id="5" name="Rectángulo 4">
            <a:extLst>
              <a:ext uri="{FF2B5EF4-FFF2-40B4-BE49-F238E27FC236}">
                <a16:creationId xmlns:a16="http://schemas.microsoft.com/office/drawing/2014/main" id="{5C7600A5-3E04-0EBE-F326-AF1FBD5E430E}"/>
              </a:ext>
            </a:extLst>
          </p:cNvPr>
          <p:cNvSpPr/>
          <p:nvPr/>
        </p:nvSpPr>
        <p:spPr>
          <a:xfrm>
            <a:off x="471000" y="3384000"/>
            <a:ext cx="4816800" cy="270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Región de Valparaíso</a:t>
            </a:r>
            <a:endParaRPr lang="es-CL" sz="1100" b="1" dirty="0">
              <a:solidFill>
                <a:schemeClr val="tx1"/>
              </a:solidFill>
            </a:endParaRPr>
          </a:p>
        </p:txBody>
      </p:sp>
      <p:sp>
        <p:nvSpPr>
          <p:cNvPr id="7" name="Rectángulo 6">
            <a:extLst>
              <a:ext uri="{FF2B5EF4-FFF2-40B4-BE49-F238E27FC236}">
                <a16:creationId xmlns:a16="http://schemas.microsoft.com/office/drawing/2014/main" id="{413B10CD-1511-1737-B231-C29B95F1598D}"/>
              </a:ext>
            </a:extLst>
          </p:cNvPr>
          <p:cNvSpPr/>
          <p:nvPr/>
        </p:nvSpPr>
        <p:spPr>
          <a:xfrm>
            <a:off x="471000" y="909927"/>
            <a:ext cx="1170000" cy="3232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1</a:t>
            </a:r>
            <a:endParaRPr lang="es-CL" sz="800" b="1" dirty="0">
              <a:solidFill>
                <a:schemeClr val="tx1"/>
              </a:solidFill>
            </a:endParaRPr>
          </a:p>
        </p:txBody>
      </p:sp>
      <p:sp>
        <p:nvSpPr>
          <p:cNvPr id="9" name="Rectángulo 8">
            <a:extLst>
              <a:ext uri="{FF2B5EF4-FFF2-40B4-BE49-F238E27FC236}">
                <a16:creationId xmlns:a16="http://schemas.microsoft.com/office/drawing/2014/main" id="{30F675D9-F543-88DD-7751-0A853BB3D42E}"/>
              </a:ext>
            </a:extLst>
          </p:cNvPr>
          <p:cNvSpPr/>
          <p:nvPr/>
        </p:nvSpPr>
        <p:spPr>
          <a:xfrm>
            <a:off x="1686000" y="909927"/>
            <a:ext cx="1170000" cy="323282"/>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2</a:t>
            </a:r>
            <a:endParaRPr lang="es-CL" sz="1100" b="1" dirty="0">
              <a:solidFill>
                <a:schemeClr val="tx1"/>
              </a:solidFill>
            </a:endParaRPr>
          </a:p>
        </p:txBody>
      </p:sp>
      <p:sp>
        <p:nvSpPr>
          <p:cNvPr id="11" name="Rectángulo 10">
            <a:extLst>
              <a:ext uri="{FF2B5EF4-FFF2-40B4-BE49-F238E27FC236}">
                <a16:creationId xmlns:a16="http://schemas.microsoft.com/office/drawing/2014/main" id="{6C14E108-8620-B259-4E10-4DACEB74CB1A}"/>
              </a:ext>
            </a:extLst>
          </p:cNvPr>
          <p:cNvSpPr/>
          <p:nvPr/>
        </p:nvSpPr>
        <p:spPr>
          <a:xfrm>
            <a:off x="2895500" y="909000"/>
            <a:ext cx="1310500" cy="32328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1"/>
                </a:solidFill>
              </a:rPr>
              <a:t>Grupo 3</a:t>
            </a:r>
            <a:endParaRPr lang="es-CL" sz="1100" b="1" dirty="0">
              <a:solidFill>
                <a:schemeClr val="tx1"/>
              </a:solidFill>
            </a:endParaRPr>
          </a:p>
        </p:txBody>
      </p:sp>
      <p:sp>
        <p:nvSpPr>
          <p:cNvPr id="13" name="Rectángulo 12">
            <a:extLst>
              <a:ext uri="{FF2B5EF4-FFF2-40B4-BE49-F238E27FC236}">
                <a16:creationId xmlns:a16="http://schemas.microsoft.com/office/drawing/2014/main" id="{A227DE72-DA72-5717-250E-FD8D9244ED83}"/>
              </a:ext>
            </a:extLst>
          </p:cNvPr>
          <p:cNvSpPr/>
          <p:nvPr/>
        </p:nvSpPr>
        <p:spPr>
          <a:xfrm>
            <a:off x="471000" y="1629927"/>
            <a:ext cx="11700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MM$254,0</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Ramiréz</a:t>
            </a:r>
            <a:endParaRPr lang="es-MX" sz="900" dirty="0">
              <a:solidFill>
                <a:schemeClr val="tx2"/>
              </a:solidFill>
            </a:endParaRPr>
          </a:p>
          <a:p>
            <a:pPr marL="171450" indent="-171450">
              <a:buFont typeface="Arial" panose="020B0604020202020204" pitchFamily="34" charset="0"/>
              <a:buChar char="•"/>
            </a:pPr>
            <a:r>
              <a:rPr lang="es-MX" sz="900" dirty="0">
                <a:solidFill>
                  <a:schemeClr val="tx2"/>
                </a:solidFill>
              </a:rPr>
              <a:t>Fecha de Ejecución: Sept – Oct</a:t>
            </a:r>
          </a:p>
          <a:p>
            <a:pPr marL="171450" indent="-171450">
              <a:buFont typeface="Arial" panose="020B0604020202020204" pitchFamily="34" charset="0"/>
              <a:buChar char="•"/>
            </a:pPr>
            <a:r>
              <a:rPr lang="es-MX" sz="900" dirty="0">
                <a:solidFill>
                  <a:schemeClr val="tx2"/>
                </a:solidFill>
              </a:rPr>
              <a:t>Plan detallado por cada uno</a:t>
            </a:r>
            <a:endParaRPr lang="es-CL" sz="1050" b="1" dirty="0">
              <a:solidFill>
                <a:schemeClr val="tx1"/>
              </a:solidFill>
            </a:endParaRPr>
          </a:p>
        </p:txBody>
      </p:sp>
      <p:sp>
        <p:nvSpPr>
          <p:cNvPr id="15" name="Rectángulo 14">
            <a:extLst>
              <a:ext uri="{FF2B5EF4-FFF2-40B4-BE49-F238E27FC236}">
                <a16:creationId xmlns:a16="http://schemas.microsoft.com/office/drawing/2014/main" id="{22AD6056-81DB-572D-A826-6FB23C726F7C}"/>
              </a:ext>
            </a:extLst>
          </p:cNvPr>
          <p:cNvSpPr/>
          <p:nvPr/>
        </p:nvSpPr>
        <p:spPr>
          <a:xfrm>
            <a:off x="1686000" y="1629927"/>
            <a:ext cx="11700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fontAlgn="ctr">
              <a:buFont typeface="Arial" panose="020B0604020202020204" pitchFamily="34" charset="0"/>
              <a:buChar char="•"/>
            </a:pPr>
            <a:r>
              <a:rPr lang="es-MX" sz="900" dirty="0">
                <a:solidFill>
                  <a:schemeClr val="tx2"/>
                </a:solidFill>
              </a:rPr>
              <a:t>Potencial: MM$46,2</a:t>
            </a:r>
          </a:p>
          <a:p>
            <a:pPr marL="171450" indent="-171450" fontAlgn="ctr">
              <a:buFont typeface="Arial" panose="020B0604020202020204" pitchFamily="34" charset="0"/>
              <a:buChar char="•"/>
            </a:pPr>
            <a:r>
              <a:rPr lang="es-MX" sz="900" dirty="0">
                <a:solidFill>
                  <a:schemeClr val="tx2"/>
                </a:solidFill>
              </a:rPr>
              <a:t># Clientes: 15</a:t>
            </a:r>
          </a:p>
          <a:p>
            <a:pPr marL="171450" indent="-171450" fontAlgn="ctr">
              <a:buFont typeface="Arial" panose="020B0604020202020204" pitchFamily="34" charset="0"/>
              <a:buChar char="•"/>
            </a:pPr>
            <a:r>
              <a:rPr lang="es-MX" sz="900" dirty="0">
                <a:solidFill>
                  <a:schemeClr val="tx2"/>
                </a:solidFill>
              </a:rPr>
              <a:t>Responsable: Cristian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a:solidFill>
                  <a:schemeClr val="tx2"/>
                </a:solidFill>
              </a:rPr>
              <a:t>Ramirez </a:t>
            </a:r>
            <a:endParaRPr lang="es-MX" sz="900" dirty="0">
              <a:solidFill>
                <a:schemeClr val="tx2"/>
              </a:solidFill>
            </a:endParaRPr>
          </a:p>
          <a:p>
            <a:pPr marL="171450" indent="-171450" fontAlgn="ctr">
              <a:buFont typeface="Arial" panose="020B0604020202020204" pitchFamily="34" charset="0"/>
              <a:buChar char="•"/>
            </a:pPr>
            <a:r>
              <a:rPr lang="es-MX" sz="900" dirty="0">
                <a:solidFill>
                  <a:schemeClr val="tx2"/>
                </a:solidFill>
              </a:rPr>
              <a:t>Fecha de Ejecución: Sept – Oct</a:t>
            </a:r>
          </a:p>
          <a:p>
            <a:pPr marL="171450" indent="-171450" fontAlgn="ctr">
              <a:buFont typeface="Arial" panose="020B0604020202020204" pitchFamily="34" charset="0"/>
              <a:buChar char="•"/>
            </a:pPr>
            <a:r>
              <a:rPr lang="es-MX" sz="900" dirty="0">
                <a:solidFill>
                  <a:schemeClr val="tx2"/>
                </a:solidFill>
              </a:rPr>
              <a:t>Plan detallado por cada uno </a:t>
            </a:r>
            <a:endParaRPr lang="es-CL" sz="900" dirty="0">
              <a:solidFill>
                <a:schemeClr val="tx2"/>
              </a:solidFill>
            </a:endParaRPr>
          </a:p>
        </p:txBody>
      </p:sp>
      <p:sp>
        <p:nvSpPr>
          <p:cNvPr id="17" name="Rectángulo 16">
            <a:extLst>
              <a:ext uri="{FF2B5EF4-FFF2-40B4-BE49-F238E27FC236}">
                <a16:creationId xmlns:a16="http://schemas.microsoft.com/office/drawing/2014/main" id="{46DAFAF9-3F86-8916-7A90-053CB7D2A59A}"/>
              </a:ext>
            </a:extLst>
          </p:cNvPr>
          <p:cNvSpPr/>
          <p:nvPr/>
        </p:nvSpPr>
        <p:spPr>
          <a:xfrm>
            <a:off x="2895500" y="1629000"/>
            <a:ext cx="1310500"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MM$597,7</a:t>
            </a:r>
          </a:p>
          <a:p>
            <a:pPr marL="171450" indent="-171450">
              <a:buFont typeface="Arial" panose="020B0604020202020204" pitchFamily="34" charset="0"/>
              <a:buChar char="•"/>
            </a:pPr>
            <a:r>
              <a:rPr lang="es-MX" sz="900" dirty="0">
                <a:solidFill>
                  <a:schemeClr val="tx2"/>
                </a:solidFill>
              </a:rPr>
              <a:t># Clientes: 324</a:t>
            </a:r>
          </a:p>
          <a:p>
            <a:pPr marL="171450" indent="-171450">
              <a:buFont typeface="Arial" panose="020B0604020202020204" pitchFamily="34" charset="0"/>
              <a:buChar char="•"/>
            </a:pPr>
            <a:r>
              <a:rPr lang="es-MX" sz="900" dirty="0">
                <a:solidFill>
                  <a:schemeClr val="tx2"/>
                </a:solidFill>
              </a:rPr>
              <a:t>Responsable: KAM 1-2</a:t>
            </a:r>
          </a:p>
          <a:p>
            <a:pPr marL="171450" indent="-171450">
              <a:buFont typeface="Arial" panose="020B0604020202020204" pitchFamily="34" charset="0"/>
              <a:buChar char="•"/>
            </a:pPr>
            <a:r>
              <a:rPr lang="es-MX" sz="900" dirty="0">
                <a:solidFill>
                  <a:schemeClr val="tx2"/>
                </a:solidFill>
              </a:rPr>
              <a:t>Fecha de Ejecución: Oct - Noviembre</a:t>
            </a:r>
          </a:p>
          <a:p>
            <a:pPr marL="171450" indent="-171450">
              <a:buFont typeface="Arial" panose="020B0604020202020204" pitchFamily="34" charset="0"/>
              <a:buChar char="•"/>
            </a:pPr>
            <a:r>
              <a:rPr lang="es-MX" sz="900" dirty="0">
                <a:solidFill>
                  <a:schemeClr val="tx2"/>
                </a:solidFill>
              </a:rPr>
              <a:t>Procesos de Prospección</a:t>
            </a:r>
            <a:r>
              <a:rPr lang="es-MX" sz="1600" b="1" dirty="0">
                <a:solidFill>
                  <a:schemeClr val="tx1"/>
                </a:solidFill>
              </a:rPr>
              <a:t>2</a:t>
            </a:r>
            <a:endParaRPr lang="es-CL" sz="1600" b="1" dirty="0">
              <a:solidFill>
                <a:schemeClr val="tx1"/>
              </a:solidFill>
            </a:endParaRPr>
          </a:p>
        </p:txBody>
      </p:sp>
      <p:sp>
        <p:nvSpPr>
          <p:cNvPr id="25" name="Rectángulo 24">
            <a:extLst>
              <a:ext uri="{FF2B5EF4-FFF2-40B4-BE49-F238E27FC236}">
                <a16:creationId xmlns:a16="http://schemas.microsoft.com/office/drawing/2014/main" id="{AD284749-6DB9-3697-1F8D-8102A17D62F9}"/>
              </a:ext>
            </a:extLst>
          </p:cNvPr>
          <p:cNvSpPr/>
          <p:nvPr/>
        </p:nvSpPr>
        <p:spPr>
          <a:xfrm>
            <a:off x="471000" y="3743999"/>
            <a:ext cx="11700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MM$90,2</a:t>
            </a:r>
          </a:p>
          <a:p>
            <a:pPr marL="171450" indent="-171450">
              <a:buFont typeface="Arial" panose="020B0604020202020204" pitchFamily="34" charset="0"/>
              <a:buChar char="•"/>
            </a:pPr>
            <a:r>
              <a:rPr lang="es-MX" sz="900" dirty="0">
                <a:solidFill>
                  <a:schemeClr val="tx2"/>
                </a:solidFill>
              </a:rPr>
              <a:t># Clientes: 10</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endParaRPr lang="es-CL" sz="1050" b="1" dirty="0">
              <a:solidFill>
                <a:schemeClr val="tx1"/>
              </a:solidFill>
            </a:endParaRPr>
          </a:p>
        </p:txBody>
      </p:sp>
      <p:sp>
        <p:nvSpPr>
          <p:cNvPr id="27" name="Rectángulo 26">
            <a:extLst>
              <a:ext uri="{FF2B5EF4-FFF2-40B4-BE49-F238E27FC236}">
                <a16:creationId xmlns:a16="http://schemas.microsoft.com/office/drawing/2014/main" id="{5B65E494-5D32-5179-F68E-8CDC32CC36A5}"/>
              </a:ext>
            </a:extLst>
          </p:cNvPr>
          <p:cNvSpPr/>
          <p:nvPr/>
        </p:nvSpPr>
        <p:spPr>
          <a:xfrm>
            <a:off x="1686000" y="3743999"/>
            <a:ext cx="11700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MM$39,1</a:t>
            </a:r>
          </a:p>
          <a:p>
            <a:pPr marL="171450" indent="-171450">
              <a:buFont typeface="Arial" panose="020B0604020202020204" pitchFamily="34" charset="0"/>
              <a:buChar char="•"/>
            </a:pPr>
            <a:r>
              <a:rPr lang="es-MX" sz="900" dirty="0">
                <a:solidFill>
                  <a:schemeClr val="tx2"/>
                </a:solidFill>
              </a:rPr>
              <a:t># Clientes: 15</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Sept – Oct</a:t>
            </a:r>
          </a:p>
          <a:p>
            <a:pPr marL="171450" indent="-171450">
              <a:buFont typeface="Arial" panose="020B0604020202020204" pitchFamily="34" charset="0"/>
              <a:buChar char="•"/>
            </a:pPr>
            <a:r>
              <a:rPr lang="es-MX" sz="900" dirty="0">
                <a:solidFill>
                  <a:schemeClr val="tx2"/>
                </a:solidFill>
              </a:rPr>
              <a:t>Plan detallado por cada uno </a:t>
            </a:r>
            <a:endParaRPr lang="es-CL" sz="900" b="1" dirty="0">
              <a:solidFill>
                <a:schemeClr val="tx1"/>
              </a:solidFill>
            </a:endParaRPr>
          </a:p>
        </p:txBody>
      </p:sp>
      <p:sp>
        <p:nvSpPr>
          <p:cNvPr id="29" name="Rectángulo 28">
            <a:extLst>
              <a:ext uri="{FF2B5EF4-FFF2-40B4-BE49-F238E27FC236}">
                <a16:creationId xmlns:a16="http://schemas.microsoft.com/office/drawing/2014/main" id="{03667DE7-8627-3F85-175A-8A104C47BC96}"/>
              </a:ext>
            </a:extLst>
          </p:cNvPr>
          <p:cNvSpPr/>
          <p:nvPr/>
        </p:nvSpPr>
        <p:spPr>
          <a:xfrm>
            <a:off x="2895500" y="3743072"/>
            <a:ext cx="1310500"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MM$62,1</a:t>
            </a:r>
          </a:p>
          <a:p>
            <a:pPr marL="171450" indent="-171450">
              <a:buFont typeface="Arial" panose="020B0604020202020204" pitchFamily="34" charset="0"/>
              <a:buChar char="•"/>
            </a:pPr>
            <a:r>
              <a:rPr lang="es-MX" sz="900" dirty="0">
                <a:solidFill>
                  <a:schemeClr val="tx2"/>
                </a:solidFill>
              </a:rPr>
              <a:t># Clientes: 58</a:t>
            </a:r>
          </a:p>
          <a:p>
            <a:pPr marL="171450" indent="-171450">
              <a:buFont typeface="Arial" panose="020B0604020202020204" pitchFamily="34" charset="0"/>
              <a:buChar char="•"/>
            </a:pPr>
            <a:r>
              <a:rPr lang="es-MX" sz="900" dirty="0">
                <a:solidFill>
                  <a:schemeClr val="tx2"/>
                </a:solidFill>
              </a:rPr>
              <a:t>Responsable: Cristián </a:t>
            </a:r>
            <a:r>
              <a:rPr lang="es-MX" sz="900" dirty="0" err="1">
                <a:solidFill>
                  <a:schemeClr val="tx2"/>
                </a:solidFill>
              </a:rPr>
              <a:t>Perez</a:t>
            </a:r>
            <a:r>
              <a:rPr lang="es-MX" sz="900" dirty="0">
                <a:solidFill>
                  <a:schemeClr val="tx2"/>
                </a:solidFill>
              </a:rPr>
              <a:t> Fecha de Ejecución: Oct - Noviembre</a:t>
            </a:r>
          </a:p>
          <a:p>
            <a:pPr marL="171450" indent="-171450">
              <a:buFont typeface="Arial" panose="020B0604020202020204" pitchFamily="34" charset="0"/>
              <a:buChar char="•"/>
            </a:pPr>
            <a:r>
              <a:rPr lang="es-MX" sz="900" dirty="0">
                <a:solidFill>
                  <a:schemeClr val="tx2"/>
                </a:solidFill>
              </a:rPr>
              <a:t>Procesos de Prospección</a:t>
            </a:r>
          </a:p>
        </p:txBody>
      </p:sp>
      <p:sp>
        <p:nvSpPr>
          <p:cNvPr id="31" name="Rectángulo 30">
            <a:extLst>
              <a:ext uri="{FF2B5EF4-FFF2-40B4-BE49-F238E27FC236}">
                <a16:creationId xmlns:a16="http://schemas.microsoft.com/office/drawing/2014/main" id="{65D5F4BE-3DE9-479E-56D8-5148BBEBF8E3}"/>
              </a:ext>
            </a:extLst>
          </p:cNvPr>
          <p:cNvSpPr/>
          <p:nvPr/>
        </p:nvSpPr>
        <p:spPr>
          <a:xfrm>
            <a:off x="6108700" y="1470956"/>
            <a:ext cx="1546401" cy="1909515"/>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En 121 Clientes se concentra el 80% del Potencial de la Región Metropolitana (MM$718,3)</a:t>
            </a:r>
            <a:endParaRPr lang="es-CL" sz="1600" dirty="0">
              <a:solidFill>
                <a:schemeClr val="tx1"/>
              </a:solidFill>
            </a:endParaRPr>
          </a:p>
        </p:txBody>
      </p:sp>
      <p:sp>
        <p:nvSpPr>
          <p:cNvPr id="33" name="Triángulo isósceles 32">
            <a:extLst>
              <a:ext uri="{FF2B5EF4-FFF2-40B4-BE49-F238E27FC236}">
                <a16:creationId xmlns:a16="http://schemas.microsoft.com/office/drawing/2014/main" id="{ED54F256-508E-AFF5-BC74-F2115D5083FC}"/>
              </a:ext>
            </a:extLst>
          </p:cNvPr>
          <p:cNvSpPr/>
          <p:nvPr/>
        </p:nvSpPr>
        <p:spPr>
          <a:xfrm rot="5400000">
            <a:off x="4903500" y="2326501"/>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5" name="Rectángulo 34">
            <a:extLst>
              <a:ext uri="{FF2B5EF4-FFF2-40B4-BE49-F238E27FC236}">
                <a16:creationId xmlns:a16="http://schemas.microsoft.com/office/drawing/2014/main" id="{78D244A5-3572-CE36-750F-C3441AD99F31}"/>
              </a:ext>
            </a:extLst>
          </p:cNvPr>
          <p:cNvSpPr/>
          <p:nvPr/>
        </p:nvSpPr>
        <p:spPr>
          <a:xfrm>
            <a:off x="6132801" y="3846742"/>
            <a:ext cx="1546401" cy="1787258"/>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Mientras que Valparaíso en 35 clientes se concentra el 80% de potencial (MM$153,1)</a:t>
            </a:r>
            <a:endParaRPr lang="es-CL" sz="1600" dirty="0">
              <a:solidFill>
                <a:schemeClr val="tx1"/>
              </a:solidFill>
            </a:endParaRPr>
          </a:p>
        </p:txBody>
      </p:sp>
      <p:sp>
        <p:nvSpPr>
          <p:cNvPr id="37" name="Triángulo isósceles 36">
            <a:extLst>
              <a:ext uri="{FF2B5EF4-FFF2-40B4-BE49-F238E27FC236}">
                <a16:creationId xmlns:a16="http://schemas.microsoft.com/office/drawing/2014/main" id="{ABD6CB9F-F59D-B011-D6DB-3E84483AAC46}"/>
              </a:ext>
            </a:extLst>
          </p:cNvPr>
          <p:cNvSpPr/>
          <p:nvPr/>
        </p:nvSpPr>
        <p:spPr>
          <a:xfrm rot="5400000">
            <a:off x="4903500" y="4598072"/>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45" name="Triángulo isósceles 44">
            <a:extLst>
              <a:ext uri="{FF2B5EF4-FFF2-40B4-BE49-F238E27FC236}">
                <a16:creationId xmlns:a16="http://schemas.microsoft.com/office/drawing/2014/main" id="{8E8E6C9D-D3D4-4787-D84D-66A76E037395}"/>
              </a:ext>
            </a:extLst>
          </p:cNvPr>
          <p:cNvSpPr/>
          <p:nvPr/>
        </p:nvSpPr>
        <p:spPr>
          <a:xfrm rot="5400000">
            <a:off x="7108503" y="3384000"/>
            <a:ext cx="1665000" cy="270000"/>
          </a:xfrm>
          <a:prstGeom prst="triangle">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1" name="Rectángulo 50">
            <a:extLst>
              <a:ext uri="{FF2B5EF4-FFF2-40B4-BE49-F238E27FC236}">
                <a16:creationId xmlns:a16="http://schemas.microsoft.com/office/drawing/2014/main" id="{6DA4D865-9D42-907F-08BA-A5672B255BDA}"/>
              </a:ext>
            </a:extLst>
          </p:cNvPr>
          <p:cNvSpPr/>
          <p:nvPr/>
        </p:nvSpPr>
        <p:spPr>
          <a:xfrm>
            <a:off x="8251300" y="1449000"/>
            <a:ext cx="3781501" cy="4185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lvl="1" indent="-171450">
              <a:buFont typeface="Arial" panose="020B0604020202020204" pitchFamily="34" charset="0"/>
              <a:buChar char="•"/>
            </a:pPr>
            <a:r>
              <a:rPr lang="es-MX" sz="900" dirty="0">
                <a:solidFill>
                  <a:schemeClr val="tx2"/>
                </a:solidFill>
              </a:rPr>
              <a:t>El Grupo 1 ya se encuentra abordado en ambas regiones por Cristian </a:t>
            </a:r>
            <a:r>
              <a:rPr lang="es-MX" sz="900" dirty="0" err="1">
                <a:solidFill>
                  <a:schemeClr val="tx2"/>
                </a:solidFill>
              </a:rPr>
              <a:t>Perez</a:t>
            </a:r>
            <a:r>
              <a:rPr lang="es-MX" sz="900" dirty="0">
                <a:solidFill>
                  <a:schemeClr val="tx2"/>
                </a:solidFill>
              </a:rPr>
              <a:t> y </a:t>
            </a:r>
            <a:r>
              <a:rPr lang="es-MX" sz="900" dirty="0" err="1">
                <a:solidFill>
                  <a:schemeClr val="tx2"/>
                </a:solidFill>
              </a:rPr>
              <a:t>Eglys</a:t>
            </a:r>
            <a:r>
              <a:rPr lang="es-MX" sz="900" dirty="0">
                <a:solidFill>
                  <a:schemeClr val="tx2"/>
                </a:solidFill>
              </a:rPr>
              <a:t> </a:t>
            </a:r>
            <a:r>
              <a:rPr lang="es-MX" sz="900" dirty="0" err="1">
                <a:solidFill>
                  <a:schemeClr val="tx2"/>
                </a:solidFill>
              </a:rPr>
              <a:t>Ramirez</a:t>
            </a:r>
            <a:r>
              <a:rPr lang="es-MX" sz="900" dirty="0">
                <a:solidFill>
                  <a:schemeClr val="tx2"/>
                </a:solidFill>
              </a:rPr>
              <a:t>  20 Clientes – MM$344,2 (32%)</a:t>
            </a:r>
          </a:p>
          <a:p>
            <a:pPr marL="171450" lvl="1" indent="-171450">
              <a:buFont typeface="Arial" panose="020B0604020202020204" pitchFamily="34" charset="0"/>
              <a:buChar char="•"/>
            </a:pPr>
            <a:r>
              <a:rPr lang="es-MX" sz="900" dirty="0">
                <a:solidFill>
                  <a:schemeClr val="tx2"/>
                </a:solidFill>
              </a:rPr>
              <a:t>Mientras que para los Grupos 2, se abarquen con un </a:t>
            </a:r>
            <a:r>
              <a:rPr lang="es-MX" sz="900" b="1" dirty="0">
                <a:solidFill>
                  <a:schemeClr val="tx2"/>
                </a:solidFill>
              </a:rPr>
              <a:t>KAM perfil técnico (30 clientes)</a:t>
            </a:r>
            <a:r>
              <a:rPr lang="es-MX" sz="900" dirty="0">
                <a:solidFill>
                  <a:schemeClr val="tx2"/>
                </a:solidFill>
              </a:rPr>
              <a:t> junto con Apoyo el Alexis Flores</a:t>
            </a:r>
          </a:p>
          <a:p>
            <a:pPr marL="171450" lvl="1" indent="-171450">
              <a:buFont typeface="Arial" panose="020B0604020202020204" pitchFamily="34" charset="0"/>
              <a:buChar char="•"/>
            </a:pPr>
            <a:r>
              <a:rPr lang="es-MX" sz="900" b="1" dirty="0">
                <a:solidFill>
                  <a:schemeClr val="tx2"/>
                </a:solidFill>
              </a:rPr>
              <a:t>Y ese KAM también abarque los 60 clientes más prioritarios del Grupo 3 entre las dos regiones de tal manera que la Cartera sea cubierta en un plazo de 2 meses</a:t>
            </a:r>
          </a:p>
          <a:p>
            <a:pPr marL="171450" lvl="1" indent="-171450">
              <a:buFont typeface="Arial" panose="020B0604020202020204" pitchFamily="34" charset="0"/>
              <a:buChar char="•"/>
            </a:pPr>
            <a:r>
              <a:rPr lang="es-MX" sz="900" b="1" dirty="0">
                <a:solidFill>
                  <a:schemeClr val="tx2"/>
                </a:solidFill>
              </a:rPr>
              <a:t>Con esto, considerando solo una persona adicional se cubre el 70% del Potencial en las Regiones Metropolitana y Valparaíso</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a:solidFill>
                  <a:schemeClr val="tx2"/>
                </a:solidFill>
              </a:rPr>
              <a:t>En una segunda etapa, pasado este periodo de prospección existirán dos caminos: Contratación de un técnico para dar ejecución a los contratos conseguidos o un nuevo KAM para aumentar la prospección</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err="1">
                <a:solidFill>
                  <a:schemeClr val="tx2"/>
                </a:solidFill>
              </a:rPr>
              <a:t>Margenes</a:t>
            </a:r>
            <a:r>
              <a:rPr lang="es-MX" sz="900" b="1" dirty="0">
                <a:solidFill>
                  <a:schemeClr val="tx2"/>
                </a:solidFill>
              </a:rPr>
              <a:t> y potenciales están sujetos al levantamiento que realizará cada KAM en cada cliente</a:t>
            </a:r>
          </a:p>
          <a:p>
            <a:pPr marL="171450" lvl="1" indent="-171450">
              <a:buFont typeface="Arial" panose="020B0604020202020204" pitchFamily="34" charset="0"/>
              <a:buChar char="•"/>
            </a:pPr>
            <a:endParaRPr lang="es-MX" sz="900" b="1" dirty="0">
              <a:solidFill>
                <a:schemeClr val="tx2"/>
              </a:solidFill>
            </a:endParaRPr>
          </a:p>
          <a:p>
            <a:pPr marL="171450" lvl="1" indent="-171450">
              <a:buFont typeface="Arial" panose="020B0604020202020204" pitchFamily="34" charset="0"/>
              <a:buChar char="•"/>
            </a:pPr>
            <a:r>
              <a:rPr lang="es-MX" sz="900" b="1" dirty="0">
                <a:solidFill>
                  <a:schemeClr val="tx2"/>
                </a:solidFill>
              </a:rPr>
              <a:t>El KAM se pagará logrando un 10% de los Clientes </a:t>
            </a:r>
            <a:r>
              <a:rPr lang="es-MX" sz="900" b="1" dirty="0" err="1">
                <a:solidFill>
                  <a:schemeClr val="tx2"/>
                </a:solidFill>
              </a:rPr>
              <a:t>Potneciales</a:t>
            </a:r>
            <a:r>
              <a:rPr lang="es-MX" sz="900" b="1" dirty="0">
                <a:solidFill>
                  <a:schemeClr val="tx2"/>
                </a:solidFill>
              </a:rPr>
              <a:t> </a:t>
            </a:r>
            <a:r>
              <a:rPr lang="es-MX" sz="900" b="1" dirty="0" err="1">
                <a:solidFill>
                  <a:schemeClr val="tx2"/>
                </a:solidFill>
              </a:rPr>
              <a:t>estimdos</a:t>
            </a:r>
            <a:endParaRPr lang="es-MX" sz="900" b="1" dirty="0">
              <a:solidFill>
                <a:schemeClr val="tx2"/>
              </a:solidFill>
            </a:endParaRPr>
          </a:p>
        </p:txBody>
      </p:sp>
      <p:sp>
        <p:nvSpPr>
          <p:cNvPr id="53" name="Rectángulo 52">
            <a:extLst>
              <a:ext uri="{FF2B5EF4-FFF2-40B4-BE49-F238E27FC236}">
                <a16:creationId xmlns:a16="http://schemas.microsoft.com/office/drawing/2014/main" id="{30336DB1-29D3-C367-88E3-A79857E6CC3F}"/>
              </a:ext>
            </a:extLst>
          </p:cNvPr>
          <p:cNvSpPr/>
          <p:nvPr/>
        </p:nvSpPr>
        <p:spPr>
          <a:xfrm>
            <a:off x="4341000" y="909000"/>
            <a:ext cx="945000" cy="32328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MX" sz="1100" b="1" dirty="0">
                <a:solidFill>
                  <a:schemeClr val="tx2"/>
                </a:solidFill>
              </a:rPr>
              <a:t>Total</a:t>
            </a:r>
            <a:endParaRPr lang="es-CL" sz="1100" b="1" dirty="0">
              <a:solidFill>
                <a:schemeClr val="tx2"/>
              </a:solidFill>
            </a:endParaRPr>
          </a:p>
        </p:txBody>
      </p:sp>
      <p:sp>
        <p:nvSpPr>
          <p:cNvPr id="55" name="Rectángulo 54">
            <a:extLst>
              <a:ext uri="{FF2B5EF4-FFF2-40B4-BE49-F238E27FC236}">
                <a16:creationId xmlns:a16="http://schemas.microsoft.com/office/drawing/2014/main" id="{31313765-CF83-B6B2-1BD9-843D1297242D}"/>
              </a:ext>
            </a:extLst>
          </p:cNvPr>
          <p:cNvSpPr/>
          <p:nvPr/>
        </p:nvSpPr>
        <p:spPr>
          <a:xfrm>
            <a:off x="4356901" y="1628999"/>
            <a:ext cx="945999" cy="1665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MM$897,9</a:t>
            </a:r>
          </a:p>
          <a:p>
            <a:pPr marL="171450" indent="-171450">
              <a:buFont typeface="Arial" panose="020B0604020202020204" pitchFamily="34" charset="0"/>
              <a:buChar char="•"/>
            </a:pPr>
            <a:r>
              <a:rPr lang="es-MX" sz="900" b="1" dirty="0">
                <a:solidFill>
                  <a:schemeClr val="tx2"/>
                </a:solidFill>
              </a:rPr>
              <a:t>349 Clientes</a:t>
            </a:r>
            <a:endParaRPr lang="es-CL" sz="1600" b="1" dirty="0">
              <a:solidFill>
                <a:schemeClr val="tx1"/>
              </a:solidFill>
            </a:endParaRPr>
          </a:p>
        </p:txBody>
      </p:sp>
      <p:sp>
        <p:nvSpPr>
          <p:cNvPr id="57" name="Rectángulo 56">
            <a:extLst>
              <a:ext uri="{FF2B5EF4-FFF2-40B4-BE49-F238E27FC236}">
                <a16:creationId xmlns:a16="http://schemas.microsoft.com/office/drawing/2014/main" id="{FD3042F6-DF4F-BB10-96EE-C6E34C53E24F}"/>
              </a:ext>
            </a:extLst>
          </p:cNvPr>
          <p:cNvSpPr/>
          <p:nvPr/>
        </p:nvSpPr>
        <p:spPr>
          <a:xfrm>
            <a:off x="4341000" y="3743072"/>
            <a:ext cx="945999" cy="198000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dirty="0">
                <a:solidFill>
                  <a:schemeClr val="tx2"/>
                </a:solidFill>
              </a:rPr>
              <a:t>Potencial: MM$191,4</a:t>
            </a:r>
          </a:p>
          <a:p>
            <a:pPr marL="171450" indent="-171450">
              <a:buFont typeface="Arial" panose="020B0604020202020204" pitchFamily="34" charset="0"/>
              <a:buChar char="•"/>
            </a:pPr>
            <a:r>
              <a:rPr lang="es-MX" sz="900" b="1" dirty="0">
                <a:solidFill>
                  <a:schemeClr val="tx2"/>
                </a:solidFill>
              </a:rPr>
              <a:t>83 Clientes</a:t>
            </a:r>
            <a:endParaRPr lang="es-CL" sz="1600" b="1" dirty="0">
              <a:solidFill>
                <a:schemeClr val="tx1"/>
              </a:solidFill>
            </a:endParaRPr>
          </a:p>
        </p:txBody>
      </p:sp>
      <p:sp>
        <p:nvSpPr>
          <p:cNvPr id="59" name="Rectángulo 58">
            <a:extLst>
              <a:ext uri="{FF2B5EF4-FFF2-40B4-BE49-F238E27FC236}">
                <a16:creationId xmlns:a16="http://schemas.microsoft.com/office/drawing/2014/main" id="{E9B290C5-F2C2-85BC-6FB2-75288F55C4D6}"/>
              </a:ext>
            </a:extLst>
          </p:cNvPr>
          <p:cNvSpPr/>
          <p:nvPr/>
        </p:nvSpPr>
        <p:spPr>
          <a:xfrm>
            <a:off x="448500" y="5813999"/>
            <a:ext cx="11700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MM$344,2</a:t>
            </a:r>
          </a:p>
          <a:p>
            <a:pPr marL="171450" indent="-171450">
              <a:buFont typeface="Arial" panose="020B0604020202020204" pitchFamily="34" charset="0"/>
              <a:buChar char="•"/>
            </a:pPr>
            <a:r>
              <a:rPr lang="es-MX" sz="900" b="1" dirty="0">
                <a:solidFill>
                  <a:schemeClr val="tx2"/>
                </a:solidFill>
              </a:rPr>
              <a:t>20 Clientes</a:t>
            </a:r>
            <a:endParaRPr lang="es-CL" sz="1050" b="1" dirty="0">
              <a:solidFill>
                <a:schemeClr val="tx1"/>
              </a:solidFill>
            </a:endParaRPr>
          </a:p>
        </p:txBody>
      </p:sp>
      <p:sp>
        <p:nvSpPr>
          <p:cNvPr id="61" name="Rectángulo 60">
            <a:extLst>
              <a:ext uri="{FF2B5EF4-FFF2-40B4-BE49-F238E27FC236}">
                <a16:creationId xmlns:a16="http://schemas.microsoft.com/office/drawing/2014/main" id="{0958BC26-FD08-8CDF-71E9-8AD8152864FD}"/>
              </a:ext>
            </a:extLst>
          </p:cNvPr>
          <p:cNvSpPr/>
          <p:nvPr/>
        </p:nvSpPr>
        <p:spPr>
          <a:xfrm>
            <a:off x="1686000" y="5813999"/>
            <a:ext cx="11700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MM$85,3</a:t>
            </a:r>
          </a:p>
          <a:p>
            <a:pPr marL="171450" indent="-171450">
              <a:buFont typeface="Arial" panose="020B0604020202020204" pitchFamily="34" charset="0"/>
              <a:buChar char="•"/>
            </a:pPr>
            <a:r>
              <a:rPr lang="es-MX" sz="900" b="1" dirty="0">
                <a:solidFill>
                  <a:schemeClr val="tx2"/>
                </a:solidFill>
              </a:rPr>
              <a:t>30 Clientes</a:t>
            </a:r>
            <a:endParaRPr lang="es-CL" sz="1050" b="1" dirty="0">
              <a:solidFill>
                <a:schemeClr val="tx1"/>
              </a:solidFill>
            </a:endParaRPr>
          </a:p>
        </p:txBody>
      </p:sp>
      <p:sp>
        <p:nvSpPr>
          <p:cNvPr id="63" name="Rectángulo 62">
            <a:extLst>
              <a:ext uri="{FF2B5EF4-FFF2-40B4-BE49-F238E27FC236}">
                <a16:creationId xmlns:a16="http://schemas.microsoft.com/office/drawing/2014/main" id="{6F593A8E-08D4-C04E-7A91-2985F1EAF4C9}"/>
              </a:ext>
            </a:extLst>
          </p:cNvPr>
          <p:cNvSpPr/>
          <p:nvPr/>
        </p:nvSpPr>
        <p:spPr>
          <a:xfrm>
            <a:off x="2895500" y="5809810"/>
            <a:ext cx="13105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es-MX" sz="900" b="1" dirty="0">
                <a:solidFill>
                  <a:schemeClr val="tx2"/>
                </a:solidFill>
              </a:rPr>
              <a:t>Pot: MM$659,8</a:t>
            </a:r>
          </a:p>
          <a:p>
            <a:pPr marL="171450" indent="-171450">
              <a:buFont typeface="Arial" panose="020B0604020202020204" pitchFamily="34" charset="0"/>
              <a:buChar char="•"/>
            </a:pPr>
            <a:r>
              <a:rPr lang="es-MX" sz="900" b="1" dirty="0">
                <a:solidFill>
                  <a:schemeClr val="tx2"/>
                </a:solidFill>
              </a:rPr>
              <a:t>382 Clientes</a:t>
            </a:r>
            <a:endParaRPr lang="es-CL" sz="900" b="1" dirty="0">
              <a:solidFill>
                <a:schemeClr val="tx2"/>
              </a:solidFill>
            </a:endParaRPr>
          </a:p>
        </p:txBody>
      </p:sp>
      <p:sp>
        <p:nvSpPr>
          <p:cNvPr id="449" name="Rectángulo 448">
            <a:extLst>
              <a:ext uri="{FF2B5EF4-FFF2-40B4-BE49-F238E27FC236}">
                <a16:creationId xmlns:a16="http://schemas.microsoft.com/office/drawing/2014/main" id="{01287FEA-2769-9B74-619D-76E2746C5AA3}"/>
              </a:ext>
            </a:extLst>
          </p:cNvPr>
          <p:cNvSpPr/>
          <p:nvPr/>
        </p:nvSpPr>
        <p:spPr>
          <a:xfrm>
            <a:off x="4341000" y="5809810"/>
            <a:ext cx="961900" cy="51750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lIns="36000" rIns="18000" rtlCol="0" anchor="ctr"/>
          <a:lstStyle/>
          <a:p>
            <a:pPr marL="137160" indent="-137160">
              <a:buFont typeface="Arial" panose="020B0604020202020204" pitchFamily="34" charset="0"/>
              <a:buChar char="•"/>
            </a:pPr>
            <a:r>
              <a:rPr lang="es-MX" sz="900" b="1" dirty="0">
                <a:solidFill>
                  <a:schemeClr val="tx2"/>
                </a:solidFill>
              </a:rPr>
              <a:t>Pot: MM$1.089,3</a:t>
            </a:r>
          </a:p>
          <a:p>
            <a:pPr marL="137160" indent="-137160">
              <a:buFont typeface="Arial" panose="020B0604020202020204" pitchFamily="34" charset="0"/>
              <a:buChar char="•"/>
            </a:pPr>
            <a:r>
              <a:rPr lang="es-MX" sz="900" b="1" dirty="0">
                <a:solidFill>
                  <a:schemeClr val="tx2"/>
                </a:solidFill>
              </a:rPr>
              <a:t>432 Clientes</a:t>
            </a:r>
            <a:endParaRPr lang="es-CL" sz="900" b="1" dirty="0">
              <a:solidFill>
                <a:schemeClr val="tx2"/>
              </a:solidFill>
            </a:endParaRPr>
          </a:p>
        </p:txBody>
      </p:sp>
    </p:spTree>
    <p:extLst>
      <p:ext uri="{BB962C8B-B14F-4D97-AF65-F5344CB8AC3E}">
        <p14:creationId xmlns:p14="http://schemas.microsoft.com/office/powerpoint/2010/main" val="410344847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3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s-CL" sz="2700" b="1">
                <a:solidFill>
                  <a:srgbClr val="33448D"/>
                </a:solidFill>
                <a:latin typeface="Roboto"/>
                <a:ea typeface="Roboto"/>
                <a:cs typeface="Roboto"/>
                <a:sym typeface="Roboto"/>
              </a:rPr>
              <a:t>Carta Gantt</a:t>
            </a:r>
            <a:endParaRPr/>
          </a:p>
        </p:txBody>
      </p:sp>
      <p:graphicFrame>
        <p:nvGraphicFramePr>
          <p:cNvPr id="490" name="Google Shape;490;p38"/>
          <p:cNvGraphicFramePr/>
          <p:nvPr>
            <p:extLst>
              <p:ext uri="{D42A27DB-BD31-4B8C-83A1-F6EECF244321}">
                <p14:modId xmlns:p14="http://schemas.microsoft.com/office/powerpoint/2010/main" val="3075808450"/>
              </p:ext>
            </p:extLst>
          </p:nvPr>
        </p:nvGraphicFramePr>
        <p:xfrm>
          <a:off x="620923" y="938703"/>
          <a:ext cx="9666100" cy="5155355"/>
        </p:xfrm>
        <a:graphic>
          <a:graphicData uri="http://schemas.openxmlformats.org/drawingml/2006/table">
            <a:tbl>
              <a:tblPr>
                <a:noFill/>
                <a:tableStyleId>{13D43741-7D58-4360-86AC-F6E32FA5FF39}</a:tableStyleId>
              </a:tblPr>
              <a:tblGrid>
                <a:gridCol w="473075">
                  <a:extLst>
                    <a:ext uri="{9D8B030D-6E8A-4147-A177-3AD203B41FA5}">
                      <a16:colId xmlns:a16="http://schemas.microsoft.com/office/drawing/2014/main" val="20000"/>
                    </a:ext>
                  </a:extLst>
                </a:gridCol>
                <a:gridCol w="1342500">
                  <a:extLst>
                    <a:ext uri="{9D8B030D-6E8A-4147-A177-3AD203B41FA5}">
                      <a16:colId xmlns:a16="http://schemas.microsoft.com/office/drawing/2014/main" val="20001"/>
                    </a:ext>
                  </a:extLst>
                </a:gridCol>
                <a:gridCol w="537000">
                  <a:extLst>
                    <a:ext uri="{9D8B030D-6E8A-4147-A177-3AD203B41FA5}">
                      <a16:colId xmlns:a16="http://schemas.microsoft.com/office/drawing/2014/main" val="20002"/>
                    </a:ext>
                  </a:extLst>
                </a:gridCol>
                <a:gridCol w="537000">
                  <a:extLst>
                    <a:ext uri="{9D8B030D-6E8A-4147-A177-3AD203B41FA5}">
                      <a16:colId xmlns:a16="http://schemas.microsoft.com/office/drawing/2014/main" val="20003"/>
                    </a:ext>
                  </a:extLst>
                </a:gridCol>
                <a:gridCol w="2416525">
                  <a:extLst>
                    <a:ext uri="{9D8B030D-6E8A-4147-A177-3AD203B41FA5}">
                      <a16:colId xmlns:a16="http://schemas.microsoft.com/office/drawing/2014/main" val="20004"/>
                    </a:ext>
                  </a:extLst>
                </a:gridCol>
                <a:gridCol w="843875">
                  <a:extLst>
                    <a:ext uri="{9D8B030D-6E8A-4147-A177-3AD203B41FA5}">
                      <a16:colId xmlns:a16="http://schemas.microsoft.com/office/drawing/2014/main" val="20005"/>
                    </a:ext>
                  </a:extLst>
                </a:gridCol>
                <a:gridCol w="703225">
                  <a:extLst>
                    <a:ext uri="{9D8B030D-6E8A-4147-A177-3AD203B41FA5}">
                      <a16:colId xmlns:a16="http://schemas.microsoft.com/office/drawing/2014/main" val="20006"/>
                    </a:ext>
                  </a:extLst>
                </a:gridCol>
                <a:gridCol w="703225">
                  <a:extLst>
                    <a:ext uri="{9D8B030D-6E8A-4147-A177-3AD203B41FA5}">
                      <a16:colId xmlns:a16="http://schemas.microsoft.com/office/drawing/2014/main" val="20007"/>
                    </a:ext>
                  </a:extLst>
                </a:gridCol>
                <a:gridCol w="703225">
                  <a:extLst>
                    <a:ext uri="{9D8B030D-6E8A-4147-A177-3AD203B41FA5}">
                      <a16:colId xmlns:a16="http://schemas.microsoft.com/office/drawing/2014/main" val="20008"/>
                    </a:ext>
                  </a:extLst>
                </a:gridCol>
                <a:gridCol w="703225">
                  <a:extLst>
                    <a:ext uri="{9D8B030D-6E8A-4147-A177-3AD203B41FA5}">
                      <a16:colId xmlns:a16="http://schemas.microsoft.com/office/drawing/2014/main" val="20009"/>
                    </a:ext>
                  </a:extLst>
                </a:gridCol>
                <a:gridCol w="703225">
                  <a:extLst>
                    <a:ext uri="{9D8B030D-6E8A-4147-A177-3AD203B41FA5}">
                      <a16:colId xmlns:a16="http://schemas.microsoft.com/office/drawing/2014/main" val="20010"/>
                    </a:ext>
                  </a:extLst>
                </a:gridCol>
              </a:tblGrid>
              <a:tr h="255175">
                <a:tc gridSpan="5">
                  <a:txBody>
                    <a:bodyPr/>
                    <a:lstStyle/>
                    <a:p>
                      <a:pPr marL="0" marR="0" lvl="0" indent="0" algn="l" rtl="0">
                        <a:spcBef>
                          <a:spcPts val="0"/>
                        </a:spcBef>
                        <a:spcAft>
                          <a:spcPts val="0"/>
                        </a:spcAft>
                        <a:buClr>
                          <a:srgbClr val="FFFFFF"/>
                        </a:buClr>
                        <a:buSzPts val="700"/>
                        <a:buFont typeface="Roboto"/>
                        <a:buNone/>
                      </a:pPr>
                      <a:r>
                        <a:rPr lang="es-CL" sz="900" b="1" i="0" u="none" strike="noStrike" cap="none">
                          <a:solidFill>
                            <a:srgbClr val="FFFFFF"/>
                          </a:solidFill>
                          <a:latin typeface="Roboto"/>
                          <a:ea typeface="Roboto"/>
                          <a:cs typeface="Roboto"/>
                          <a:sym typeface="Roboto"/>
                        </a:rPr>
                        <a:t>CARTA GANTT — PLAN TEMPORAL DE VISITAS TECSERVICE (SEP 2026 – FEB 2027)</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hMerge="1">
                  <a:txBody>
                    <a:bodyPr/>
                    <a:lstStyle/>
                    <a:p>
                      <a:endParaRPr lang="es-CL"/>
                    </a:p>
                  </a:txBody>
                  <a:tcPr/>
                </a:tc>
                <a:tc hMerge="1">
                  <a:txBody>
                    <a:bodyPr/>
                    <a:lstStyle/>
                    <a:p>
                      <a:endParaRPr lang="es-CL"/>
                    </a:p>
                  </a:txBody>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00000"/>
                    </a:solidFill>
                  </a:tcPr>
                </a:tc>
                <a:extLst>
                  <a:ext uri="{0D108BD9-81ED-4DB2-BD59-A6C34878D82A}">
                    <a16:rowId xmlns:a16="http://schemas.microsoft.com/office/drawing/2014/main" val="10000"/>
                  </a:ext>
                </a:extLst>
              </a:tr>
              <a:tr h="150075">
                <a:tc>
                  <a:txBody>
                    <a:bodyPr/>
                    <a:lstStyle/>
                    <a:p>
                      <a:pPr marL="0" marR="0" lvl="0" indent="0" algn="l" rtl="0">
                        <a:spcBef>
                          <a:spcPts val="0"/>
                        </a:spcBef>
                        <a:spcAft>
                          <a:spcPts val="0"/>
                        </a:spcAft>
                        <a:buClr>
                          <a:srgbClr val="FFFFFF"/>
                        </a:buClr>
                        <a:buSzPts val="500"/>
                        <a:buFont typeface="Roboto"/>
                        <a:buNone/>
                      </a:pPr>
                      <a:r>
                        <a:rPr lang="es-CL" sz="700" b="0" i="1"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l" rtl="0">
                        <a:spcBef>
                          <a:spcPts val="0"/>
                        </a:spcBef>
                        <a:spcAft>
                          <a:spcPts val="0"/>
                        </a:spcAft>
                        <a:buClr>
                          <a:srgbClr val="FFFFFF"/>
                        </a:buClr>
                        <a:buSzPts val="800"/>
                        <a:buFont typeface="Roboto"/>
                        <a:buNone/>
                      </a:pPr>
                      <a:r>
                        <a:rPr lang="es-CL" sz="1000" b="0" i="0" u="none" strike="noStrike" cap="none">
                          <a:solidFill>
                            <a:srgbClr val="FFFFFF"/>
                          </a:solidFill>
                          <a:latin typeface="Roboto"/>
                          <a:ea typeface="Roboto"/>
                          <a:cs typeface="Roboto"/>
                          <a:sym typeface="Roboto"/>
                        </a:rPr>
                        <a:t> </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1"/>
                  </a:ext>
                </a:extLst>
              </a:tr>
              <a:tr h="341275">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Prior.</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Región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Eq.</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Pot.</a:t>
                      </a:r>
                      <a:br>
                        <a:rPr lang="es-CL" sz="800" b="1" i="0" u="none" strike="noStrike" cap="none">
                          <a:solidFill>
                            <a:srgbClr val="FFFFFF"/>
                          </a:solidFill>
                          <a:latin typeface="Roboto"/>
                          <a:ea typeface="Roboto"/>
                          <a:cs typeface="Roboto"/>
                          <a:sym typeface="Roboto"/>
                        </a:rPr>
                      </a:br>
                      <a:r>
                        <a:rPr lang="es-CL" sz="800" b="1" i="0" u="none" strike="noStrike" cap="none">
                          <a:solidFill>
                            <a:srgbClr val="FFFFFF"/>
                          </a:solidFill>
                          <a:latin typeface="Roboto"/>
                          <a:ea typeface="Roboto"/>
                          <a:cs typeface="Roboto"/>
                          <a:sym typeface="Roboto"/>
                        </a:rPr>
                        <a:t>MM$</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lgn="ctr">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Acciones Clave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Sep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Oct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Nov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Dic 2026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Ene 2027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Feb 2027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0000"/>
                    </a:solidFill>
                  </a:tcPr>
                </a:tc>
                <a:extLst>
                  <a:ext uri="{0D108BD9-81ED-4DB2-BD59-A6C34878D82A}">
                    <a16:rowId xmlns:a16="http://schemas.microsoft.com/office/drawing/2014/main" val="10002"/>
                  </a:ext>
                </a:extLst>
              </a:tr>
              <a:tr h="213700">
                <a:tc>
                  <a:txBody>
                    <a:bodyPr/>
                    <a:lstStyle/>
                    <a:p>
                      <a:pPr marL="0" marR="0" lvl="0" indent="0" algn="ctr" rtl="0">
                        <a:spcBef>
                          <a:spcPts val="0"/>
                        </a:spcBef>
                        <a:spcAft>
                          <a:spcPts val="0"/>
                        </a:spcAft>
                        <a:buClr>
                          <a:srgbClr val="FFFFFF"/>
                        </a:buClr>
                        <a:buSzPts val="600"/>
                        <a:buFont typeface="Roboto"/>
                        <a:buNone/>
                      </a:pPr>
                      <a:r>
                        <a:rPr lang="es-CL" sz="800" b="1" i="0" u="none" strike="noStrike" cap="none">
                          <a:solidFill>
                            <a:srgbClr val="FFFFFF"/>
                          </a:solidFill>
                          <a:latin typeface="Roboto"/>
                          <a:ea typeface="Roboto"/>
                          <a:cs typeface="Roboto"/>
                          <a:sym typeface="Roboto"/>
                        </a:rPr>
                        <a:t>1</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C00000"/>
                    </a:solidFill>
                  </a:tcPr>
                </a:tc>
                <a:tc>
                  <a:txBody>
                    <a:bodyPr/>
                    <a:lstStyle/>
                    <a:p>
                      <a:pPr marL="0" marR="0" lvl="0" indent="0" algn="l" rtl="0">
                        <a:spcBef>
                          <a:spcPts val="0"/>
                        </a:spcBef>
                        <a:spcAft>
                          <a:spcPts val="0"/>
                        </a:spcAft>
                        <a:buClr>
                          <a:srgbClr val="1F1F1F"/>
                        </a:buClr>
                        <a:buSzPts val="600"/>
                        <a:buFont typeface="Roboto"/>
                        <a:buNone/>
                      </a:pPr>
                      <a:r>
                        <a:rPr lang="es-CL" sz="800" b="1" i="0" u="none" strike="noStrike" cap="none" dirty="0">
                          <a:solidFill>
                            <a:srgbClr val="1F1F1F"/>
                          </a:solidFill>
                          <a:latin typeface="Roboto"/>
                          <a:ea typeface="Roboto"/>
                          <a:cs typeface="Roboto"/>
                          <a:sym typeface="Roboto"/>
                        </a:rPr>
                        <a:t>Metropolitana</a:t>
                      </a:r>
                      <a:endParaRPr sz="1800" dirty="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921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592,1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l" rtl="0">
                        <a:spcBef>
                          <a:spcPts val="0"/>
                        </a:spcBef>
                        <a:spcAft>
                          <a:spcPts val="0"/>
                        </a:spcAft>
                        <a:buClr>
                          <a:srgbClr val="1F1F1F"/>
                        </a:buClr>
                        <a:buSzPts val="500"/>
                        <a:buFont typeface="Roboto"/>
                        <a:buNone/>
                      </a:pPr>
                      <a:r>
                        <a:rPr lang="es-CL" sz="700" b="1" i="0" u="none" strike="noStrike" cap="none">
                          <a:solidFill>
                            <a:srgbClr val="1F1F1F"/>
                          </a:solidFill>
                          <a:latin typeface="Roboto"/>
                          <a:ea typeface="Roboto"/>
                          <a:cs typeface="Roboto"/>
                          <a:sym typeface="Roboto"/>
                        </a:rPr>
                        <a:t>Reunión / Visita gerencial · Levantamiento técnico · Auditoría</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CE4D6"/>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SEGUIMIENTO</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2E5D9F"/>
                    </a:solidFill>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3"/>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2</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Bío Bío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130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170,9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3</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Araucanía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229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157,2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Contrato preventivo · Convenio insti…</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5"/>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4</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Los Lagos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69</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91,8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Reunión / Visita gerencial · Contrato preventivo · Programa …</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Maule</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424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127,8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7"/>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12</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Ñuble</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34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41,1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13</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Los Ríos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54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46,2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EN EJECUCIÓN</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 </a:t>
                      </a:r>
                      <a:endParaRPr sz="1800"/>
                    </a:p>
                  </a:txBody>
                  <a:tcPr marL="6850" marR="6850" marT="6850" marB="0" anchor="ctr">
                    <a:lnL w="9525" cap="flat" cmpd="sng">
                      <a:solidFill>
                        <a:srgbClr val="000000">
                          <a:alpha val="0"/>
                        </a:srgbClr>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6B3C"/>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09"/>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5</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Valparaíso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158</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130,0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CAMPAÑA</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7030A0"/>
                    </a:solidFill>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0"/>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10</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Magallanes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34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49,4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rowSpan="2" gridSpan="3">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TÉC. SUR</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00B0F0"/>
                    </a:solidFill>
                  </a:tcPr>
                </a:tc>
                <a:tc rowSpan="2" hMerge="1">
                  <a:txBody>
                    <a:bodyPr/>
                    <a:lstStyle/>
                    <a:p>
                      <a:endParaRPr lang="es-CL"/>
                    </a:p>
                  </a:txBody>
                  <a:tcPr/>
                </a:tc>
                <a:tc rowSpan="2"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1"/>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16</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Aysén</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30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22,3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Programa preventivo · Evaluación de renovación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3" vMerge="1">
                  <a:txBody>
                    <a:bodyPr/>
                    <a:lstStyle/>
                    <a:p>
                      <a:endParaRPr lang="es-CL"/>
                    </a:p>
                  </a:txBody>
                  <a:tcPr/>
                </a:tc>
                <a:tc hMerge="1" vMerge="1">
                  <a:txBody>
                    <a:bodyPr/>
                    <a:lstStyle/>
                    <a:p>
                      <a:endParaRPr lang="es-CL"/>
                    </a:p>
                  </a:txBody>
                  <a:tcPr/>
                </a:tc>
                <a:tc hMerge="1" v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extLst>
                  <a:ext uri="{0D108BD9-81ED-4DB2-BD59-A6C34878D82A}">
                    <a16:rowId xmlns:a16="http://schemas.microsoft.com/office/drawing/2014/main" val="10012"/>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7</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O'Higgins</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91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73,2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Convenio institu…</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gridSpan="2">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CAMPAÑA</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7030A0"/>
                    </a:solidFill>
                  </a:tcPr>
                </a:tc>
                <a:tc hMerge="1">
                  <a:txBody>
                    <a:bodyPr/>
                    <a:lstStyle/>
                    <a:p>
                      <a:endParaRPr lang="es-CL"/>
                    </a:p>
                  </a:txBody>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extLst>
                  <a:ext uri="{0D108BD9-81ED-4DB2-BD59-A6C34878D82A}">
                    <a16:rowId xmlns:a16="http://schemas.microsoft.com/office/drawing/2014/main" val="10013"/>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8</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Antofagasta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80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65,0</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rowSpan="3" gridSpan="2">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tc rowSpan="3" hMerge="1">
                  <a:txBody>
                    <a:bodyPr/>
                    <a:lstStyle/>
                    <a:p>
                      <a:endParaRPr lang="es-CL"/>
                    </a:p>
                  </a:txBody>
                  <a:tcPr/>
                </a:tc>
                <a:extLst>
                  <a:ext uri="{0D108BD9-81ED-4DB2-BD59-A6C34878D82A}">
                    <a16:rowId xmlns:a16="http://schemas.microsoft.com/office/drawing/2014/main" val="10014"/>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9</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Coquimbo</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73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78,1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Programa preventivo</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gridSpan="2"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5"/>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11</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Tarapacá</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35</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44,3</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Contrato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gridSpan="2" vMerge="1">
                  <a:txBody>
                    <a:bodyPr/>
                    <a:lstStyle/>
                    <a:p>
                      <a:endParaRPr lang="es-CL"/>
                    </a:p>
                  </a:txBody>
                  <a:tcPr/>
                </a:tc>
                <a:tc hMerge="1" vMerge="1">
                  <a:txBody>
                    <a:bodyPr/>
                    <a:lstStyle/>
                    <a:p>
                      <a:endParaRPr lang="es-CL"/>
                    </a:p>
                  </a:txBody>
                  <a:tcPr/>
                </a:tc>
                <a:extLst>
                  <a:ext uri="{0D108BD9-81ED-4DB2-BD59-A6C34878D82A}">
                    <a16:rowId xmlns:a16="http://schemas.microsoft.com/office/drawing/2014/main" val="10016"/>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14</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Arica y Parinacota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11</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algn="r" fontAlgn="ctr">
                        <a:buNone/>
                      </a:pPr>
                      <a:r>
                        <a:rPr lang="es-CL" sz="800" b="1" i="0" u="none" strike="noStrike" cap="none" spc="0" dirty="0">
                          <a:solidFill>
                            <a:srgbClr val="1F1F1F"/>
                          </a:solidFill>
                          <a:latin typeface="Roboto"/>
                          <a:ea typeface="Roboto"/>
                          <a:cs typeface="Roboto"/>
                          <a:sym typeface="Arial"/>
                        </a:rPr>
                        <a:t>18,2</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Auditoría técnica · Convenio institucional · Programa preven…</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EF4FB"/>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extLst>
                  <a:ext uri="{0D108BD9-81ED-4DB2-BD59-A6C34878D82A}">
                    <a16:rowId xmlns:a16="http://schemas.microsoft.com/office/drawing/2014/main" val="10017"/>
                  </a:ext>
                </a:extLst>
              </a:tr>
              <a:tr h="213700">
                <a:tc>
                  <a:txBody>
                    <a:bodyPr/>
                    <a:lstStyle/>
                    <a:p>
                      <a:pPr marL="0" marR="0" lvl="0" indent="0" algn="ctr"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15</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Atacama</a:t>
                      </a:r>
                      <a:endParaRPr sz="1800"/>
                    </a:p>
                  </a:txBody>
                  <a:tcPr marL="6850" marR="6850" marT="6850" marB="0" anchor="ctr">
                    <a:lnL w="9525" cap="flat" cmpd="sng">
                      <a:solidFill>
                        <a:srgbClr val="BFBFBF"/>
                      </a:solidFill>
                      <a:prstDash val="solid"/>
                      <a:round/>
                      <a:headEnd type="none" w="sm" len="sm"/>
                      <a:tailEnd type="none" w="sm" len="sm"/>
                    </a:lnL>
                    <a:lnR w="9525" cap="flat" cmpd="sng" algn="ctr">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algn="r" fontAlgn="ctr">
                        <a:buNone/>
                      </a:pPr>
                      <a:r>
                        <a:rPr lang="es-CL" sz="800" b="1" i="0" u="none" strike="noStrike" cap="none" spc="0">
                          <a:solidFill>
                            <a:srgbClr val="1F1F1F"/>
                          </a:solidFill>
                          <a:latin typeface="Roboto"/>
                          <a:ea typeface="Roboto"/>
                          <a:cs typeface="Roboto"/>
                          <a:sym typeface="Arial"/>
                        </a:rPr>
                        <a:t>14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R="0" algn="r" rtl="0" fontAlgn="ctr">
                        <a:lnSpc>
                          <a:spcPct val="100000"/>
                        </a:lnSpc>
                        <a:spcBef>
                          <a:spcPts val="0"/>
                        </a:spcBef>
                        <a:spcAft>
                          <a:spcPts val="0"/>
                        </a:spcAft>
                        <a:buClr>
                          <a:srgbClr val="000000"/>
                        </a:buClr>
                        <a:buFont typeface="Arial"/>
                        <a:buNone/>
                      </a:pPr>
                      <a:r>
                        <a:rPr lang="es-CL" sz="800" b="1" i="0" u="none" strike="noStrike" cap="none" spc="0" dirty="0">
                          <a:solidFill>
                            <a:srgbClr val="1F1F1F"/>
                          </a:solidFill>
                          <a:latin typeface="Roboto"/>
                          <a:ea typeface="Roboto"/>
                          <a:cs typeface="Roboto"/>
                          <a:sym typeface="Arial"/>
                        </a:rPr>
                        <a:t>19,4</a:t>
                      </a:r>
                    </a:p>
                  </a:txBody>
                  <a:tcPr marL="9525" marR="9525" marT="9525"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F1F1F"/>
                        </a:buClr>
                        <a:buSzPts val="500"/>
                        <a:buFont typeface="Roboto"/>
                        <a:buNone/>
                      </a:pPr>
                      <a:r>
                        <a:rPr lang="es-CL" sz="700" b="0" i="0" u="none" strike="noStrike" cap="none">
                          <a:solidFill>
                            <a:srgbClr val="1F1F1F"/>
                          </a:solidFill>
                          <a:latin typeface="Roboto"/>
                          <a:ea typeface="Roboto"/>
                          <a:cs typeface="Roboto"/>
                          <a:sym typeface="Roboto"/>
                        </a:rPr>
                        <a:t>Levantamiento técnico · Auditoría técnica · Programa prevent…</a:t>
                      </a:r>
                      <a:endParaRPr sz="1800"/>
                    </a:p>
                  </a:txBody>
                  <a:tcPr marL="6850" marR="6850" marT="6850" marB="0" anchor="ctr">
                    <a:lnL w="9525" cap="flat" cmpd="sng" algn="ctr">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000000"/>
                        </a:buClr>
                        <a:buSzPts val="800"/>
                        <a:buFont typeface="Roboto"/>
                        <a:buNone/>
                      </a:pPr>
                      <a:r>
                        <a:rPr lang="es-CL" sz="1000" b="0" i="0" u="none" strike="noStrike" cap="none">
                          <a:solidFill>
                            <a:srgbClr val="000000"/>
                          </a:solidFill>
                          <a:latin typeface="Roboto"/>
                          <a:ea typeface="Roboto"/>
                          <a:cs typeface="Roboto"/>
                          <a:sym typeface="Roboto"/>
                        </a:rPr>
                        <a:t> </a:t>
                      </a:r>
                      <a:endParaRPr sz="1800"/>
                    </a:p>
                  </a:txBody>
                  <a:tcPr marL="6850" marR="6850" marT="6850" marB="0" anchor="b">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Clr>
                          <a:srgbClr val="FFFFFF"/>
                        </a:buClr>
                        <a:buSzPts val="500"/>
                        <a:buFont typeface="Roboto"/>
                        <a:buNone/>
                      </a:pPr>
                      <a:r>
                        <a:rPr lang="es-CL" sz="700" b="1" i="0" u="none" strike="noStrike" cap="none">
                          <a:solidFill>
                            <a:srgbClr val="FFFFFF"/>
                          </a:solidFill>
                          <a:latin typeface="Roboto"/>
                          <a:ea typeface="Roboto"/>
                          <a:cs typeface="Roboto"/>
                          <a:sym typeface="Roboto"/>
                        </a:rPr>
                        <a:t>ZONA NORTE</a:t>
                      </a:r>
                      <a:endParaRPr sz="1800"/>
                    </a:p>
                  </a:txBody>
                  <a:tcPr marL="6850" marR="6850" marT="6850" marB="0" anchor="ctr">
                    <a:lnL w="9525" cap="flat" cmpd="sng">
                      <a:solidFill>
                        <a:srgbClr val="BFBFBF"/>
                      </a:solidFill>
                      <a:prstDash val="solid"/>
                      <a:round/>
                      <a:headEnd type="none" w="sm" len="sm"/>
                      <a:tailEnd type="none" w="sm" len="sm"/>
                    </a:lnL>
                    <a:lnR w="9525" cap="flat" cmpd="sng">
                      <a:solidFill>
                        <a:srgbClr val="BFBFBF"/>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BFBFBF"/>
                      </a:solidFill>
                      <a:prstDash val="solid"/>
                      <a:round/>
                      <a:headEnd type="none" w="sm" len="sm"/>
                      <a:tailEnd type="none" w="sm" len="sm"/>
                    </a:lnB>
                    <a:solidFill>
                      <a:srgbClr val="ED7D31"/>
                    </a:solidFill>
                  </a:tcPr>
                </a:tc>
                <a:extLst>
                  <a:ext uri="{0D108BD9-81ED-4DB2-BD59-A6C34878D82A}">
                    <a16:rowId xmlns:a16="http://schemas.microsoft.com/office/drawing/2014/main" val="10018"/>
                  </a:ext>
                </a:extLst>
              </a:tr>
              <a:tr h="0">
                <a:tc>
                  <a:txBody>
                    <a:bodyPr/>
                    <a:lstStyle/>
                    <a:p>
                      <a:pPr marL="0" marR="0" lvl="0" indent="0" algn="l" rtl="0">
                        <a:spcBef>
                          <a:spcPts val="0"/>
                        </a:spcBef>
                        <a:spcAft>
                          <a:spcPts val="0"/>
                        </a:spcAft>
                        <a:buClr>
                          <a:srgbClr val="000000"/>
                        </a:buClr>
                        <a:buSzPts val="800"/>
                        <a:buFont typeface="Roboto"/>
                        <a:buNone/>
                      </a:pPr>
                      <a:r>
                        <a:rPr lang="es-CL" sz="800" b="1" i="0" u="none" strike="noStrike" cap="none" spc="0" dirty="0">
                          <a:solidFill>
                            <a:srgbClr val="1F1F1F"/>
                          </a:solidFill>
                          <a:latin typeface="Roboto"/>
                          <a:ea typeface="Roboto"/>
                          <a:cs typeface="Roboto"/>
                          <a:sym typeface="Roboto"/>
                        </a:rPr>
                        <a:t>Total</a:t>
                      </a:r>
                      <a:endParaRPr sz="800" b="1" i="0" u="none" strike="noStrike" cap="none" spc="0" dirty="0">
                        <a:solidFill>
                          <a:srgbClr val="1F1F1F"/>
                        </a:solidFill>
                        <a:latin typeface="Roboto"/>
                        <a:ea typeface="Roboto"/>
                        <a:cs typeface="Roboto"/>
                        <a:sym typeface="Arial"/>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r" rtl="0">
                        <a:spcBef>
                          <a:spcPts val="0"/>
                        </a:spcBef>
                        <a:spcAft>
                          <a:spcPts val="0"/>
                        </a:spcAft>
                        <a:buClr>
                          <a:srgbClr val="000000"/>
                        </a:buClr>
                        <a:buSzPts val="800"/>
                        <a:buFont typeface="Roboto"/>
                        <a:buNone/>
                      </a:pPr>
                      <a:r>
                        <a:rPr lang="es-CL" sz="800" b="1" i="0" u="none" strike="noStrike" cap="none" spc="0" dirty="0">
                          <a:solidFill>
                            <a:srgbClr val="1F1F1F"/>
                          </a:solidFill>
                          <a:latin typeface="Roboto"/>
                          <a:ea typeface="Roboto"/>
                          <a:cs typeface="Roboto"/>
                          <a:sym typeface="Roboto"/>
                        </a:rPr>
                        <a:t>1.727,2</a:t>
                      </a:r>
                      <a:endParaRPr sz="800" b="1" i="0" u="none" strike="noStrike" cap="none" spc="0" dirty="0">
                        <a:solidFill>
                          <a:srgbClr val="1F1F1F"/>
                        </a:solidFill>
                        <a:latin typeface="Roboto"/>
                        <a:ea typeface="Roboto"/>
                        <a:cs typeface="Roboto"/>
                        <a:sym typeface="Arial"/>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lgn="ctr">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BFBFBF"/>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19"/>
                  </a:ext>
                </a:extLst>
              </a:tr>
              <a:tr h="150075">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0"/>
                  </a:ext>
                </a:extLst>
              </a:tr>
              <a:tr h="186600">
                <a:tc>
                  <a:txBody>
                    <a:bodyPr/>
                    <a:lstStyle/>
                    <a:p>
                      <a:pPr marL="0" marR="0" lvl="0" indent="0" algn="l" rtl="0">
                        <a:spcBef>
                          <a:spcPts val="0"/>
                        </a:spcBef>
                        <a:spcAft>
                          <a:spcPts val="0"/>
                        </a:spcAft>
                        <a:buClr>
                          <a:srgbClr val="006B3C"/>
                        </a:buClr>
                        <a:buSzPts val="1000"/>
                        <a:buFont typeface="Roboto"/>
                        <a:buNone/>
                      </a:pPr>
                      <a:r>
                        <a:rPr lang="es-CL" sz="1100" b="1" i="0" u="none" strike="noStrike" cap="none">
                          <a:solidFill>
                            <a:srgbClr val="006B3C"/>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EN EJECUCIÓN: Campaña ya iniciada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2E5D9F"/>
                        </a:buClr>
                        <a:buSzPts val="1000"/>
                        <a:buFont typeface="Roboto"/>
                        <a:buNone/>
                      </a:pPr>
                      <a:r>
                        <a:rPr lang="es-CL" sz="1100" b="1" i="0" u="none" strike="noStrike" cap="none">
                          <a:solidFill>
                            <a:srgbClr val="2E5D9F"/>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SEGUIMIENTO: Región Metropolitana – continuo</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rgbClr val="7030A0"/>
                        </a:buClr>
                        <a:buSzPts val="1000"/>
                        <a:buFont typeface="Roboto"/>
                        <a:buNone/>
                      </a:pPr>
                      <a:r>
                        <a:rPr lang="es-CL" sz="1100" b="1" i="0" u="none" strike="noStrike" cap="none">
                          <a:solidFill>
                            <a:srgbClr val="7030A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3">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CAMPAÑA: Campaña programada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hMerge="1">
                  <a:txBody>
                    <a:bodyPr/>
                    <a:lstStyle/>
                    <a:p>
                      <a:endParaRPr lang="es-CL"/>
                    </a:p>
                  </a:txBody>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1"/>
                  </a:ext>
                </a:extLst>
              </a:tr>
              <a:tr h="221150">
                <a:tc>
                  <a:txBody>
                    <a:bodyPr/>
                    <a:lstStyle/>
                    <a:p>
                      <a:pPr marL="0" marR="0" lvl="0" indent="0" algn="l" rtl="0">
                        <a:spcBef>
                          <a:spcPts val="0"/>
                        </a:spcBef>
                        <a:spcAft>
                          <a:spcPts val="0"/>
                        </a:spcAft>
                        <a:buClr>
                          <a:srgbClr val="00B0F0"/>
                        </a:buClr>
                        <a:buSzPts val="1000"/>
                        <a:buFont typeface="Roboto"/>
                        <a:buNone/>
                      </a:pPr>
                      <a:r>
                        <a:rPr lang="es-CL" sz="1100" b="1" i="0" u="none" strike="noStrike" cap="none">
                          <a:solidFill>
                            <a:srgbClr val="00B0F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TÉC. SUR: Apoya técnico de la zona sur</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C00000"/>
                        </a:buClr>
                        <a:buSzPts val="1000"/>
                        <a:buFont typeface="Roboto"/>
                        <a:buNone/>
                      </a:pPr>
                      <a:r>
                        <a:rPr lang="es-CL" sz="1100" b="1" i="0" u="none" strike="noStrike" cap="none">
                          <a:solidFill>
                            <a:srgbClr val="C00000"/>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2">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TÉC. NORTE: Propuesta: técnico norte (base La Serena)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a:txBody>
                    <a:bodyPr/>
                    <a:lstStyle/>
                    <a:p>
                      <a:pPr marL="0" marR="0" lvl="0" indent="0" algn="l" rtl="0">
                        <a:spcBef>
                          <a:spcPts val="0"/>
                        </a:spcBef>
                        <a:spcAft>
                          <a:spcPts val="0"/>
                        </a:spcAft>
                        <a:buClr>
                          <a:srgbClr val="ED7D31"/>
                        </a:buClr>
                        <a:buSzPts val="1000"/>
                        <a:buFont typeface="Roboto"/>
                        <a:buNone/>
                      </a:pPr>
                      <a:r>
                        <a:rPr lang="es-CL" sz="1100" b="1" i="0" u="none" strike="noStrike" cap="none">
                          <a:solidFill>
                            <a:srgbClr val="ED7D31"/>
                          </a:solidFill>
                          <a:latin typeface="Roboto"/>
                          <a:ea typeface="Roboto"/>
                          <a:cs typeface="Roboto"/>
                          <a:sym typeface="Roboto"/>
                        </a:rPr>
                        <a:t>■</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gridSpan="4">
                  <a:txBody>
                    <a:bodyPr/>
                    <a:lstStyle/>
                    <a:p>
                      <a:pPr marL="0" marR="0" lvl="0" indent="0" algn="l" rtl="0">
                        <a:spcBef>
                          <a:spcPts val="0"/>
                        </a:spcBef>
                        <a:spcAft>
                          <a:spcPts val="0"/>
                        </a:spcAft>
                        <a:buClr>
                          <a:srgbClr val="1F1F1F"/>
                        </a:buClr>
                        <a:buSzPts val="600"/>
                        <a:buFont typeface="Roboto"/>
                        <a:buNone/>
                      </a:pPr>
                      <a:r>
                        <a:rPr lang="es-CL" sz="800" b="0" i="0" u="none" strike="noStrike" cap="none">
                          <a:solidFill>
                            <a:srgbClr val="1F1F1F"/>
                          </a:solidFill>
                          <a:latin typeface="Roboto"/>
                          <a:ea typeface="Roboto"/>
                          <a:cs typeface="Roboto"/>
                          <a:sym typeface="Roboto"/>
                        </a:rPr>
                        <a:t>ZONA NORTE: Ronda zona norte coordinada</a:t>
                      </a:r>
                      <a:endParaRPr sz="1800"/>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hMerge="1">
                  <a:txBody>
                    <a:bodyPr/>
                    <a:lstStyle/>
                    <a:p>
                      <a:endParaRPr lang="es-CL"/>
                    </a:p>
                  </a:txBody>
                  <a:tcPr/>
                </a:tc>
                <a:tc hMerge="1">
                  <a:txBody>
                    <a:bodyPr/>
                    <a:lstStyle/>
                    <a:p>
                      <a:endParaRPr lang="es-CL"/>
                    </a:p>
                  </a:txBody>
                  <a:tcPr/>
                </a:tc>
                <a:tc hMerge="1">
                  <a:txBody>
                    <a:bodyPr/>
                    <a:lstStyle/>
                    <a:p>
                      <a:endParaRPr lang="es-CL"/>
                    </a:p>
                  </a:txBody>
                  <a:tcPr/>
                </a:tc>
                <a:extLst>
                  <a:ext uri="{0D108BD9-81ED-4DB2-BD59-A6C34878D82A}">
                    <a16:rowId xmlns:a16="http://schemas.microsoft.com/office/drawing/2014/main" val="10022"/>
                  </a:ext>
                </a:extLst>
              </a:tr>
              <a:tr h="169575">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800"/>
                        <a:buFont typeface="Arial"/>
                        <a:buNone/>
                      </a:pPr>
                      <a:endParaRPr sz="1000" b="0" i="0" u="none" strike="noStrike" cap="none" dirty="0">
                        <a:solidFill>
                          <a:srgbClr val="000000"/>
                        </a:solidFill>
                        <a:latin typeface="Roboto"/>
                        <a:ea typeface="Roboto"/>
                        <a:cs typeface="Roboto"/>
                        <a:sym typeface="Roboto"/>
                      </a:endParaRPr>
                    </a:p>
                  </a:txBody>
                  <a:tcPr marL="6850" marR="6850" marT="6850" marB="0"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23"/>
                  </a:ext>
                </a:extLst>
              </a:tr>
            </a:tbl>
          </a:graphicData>
        </a:graphic>
      </p:graphicFrame>
      <p:sp>
        <p:nvSpPr>
          <p:cNvPr id="491" name="Google Shape;491;p38"/>
          <p:cNvSpPr/>
          <p:nvPr/>
        </p:nvSpPr>
        <p:spPr>
          <a:xfrm>
            <a:off x="8706809" y="3492910"/>
            <a:ext cx="1759789" cy="2251494"/>
          </a:xfrm>
          <a:prstGeom prst="rect">
            <a:avLst/>
          </a:prstGeom>
          <a:noFill/>
          <a:ln w="19050" cap="flat" cmpd="sng">
            <a:solidFill>
              <a:schemeClr val="accent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492" name="Google Shape;492;p38"/>
          <p:cNvSpPr/>
          <p:nvPr/>
        </p:nvSpPr>
        <p:spPr>
          <a:xfrm>
            <a:off x="10843404" y="3348687"/>
            <a:ext cx="1252030" cy="2539939"/>
          </a:xfrm>
          <a:prstGeom prst="rect">
            <a:avLst/>
          </a:prstGeom>
          <a:solidFill>
            <a:schemeClr val="dk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1"/>
              </a:buClr>
              <a:buSzPts val="1200"/>
              <a:buFont typeface="Arial"/>
              <a:buChar char="•"/>
            </a:pPr>
            <a:r>
              <a:rPr lang="es-CL" sz="1200">
                <a:solidFill>
                  <a:schemeClr val="lt1"/>
                </a:solidFill>
                <a:latin typeface="Arial"/>
                <a:ea typeface="Arial"/>
                <a:cs typeface="Arial"/>
                <a:sym typeface="Arial"/>
              </a:rPr>
              <a:t>En análisis, mismo técnico dedicado a operación de HLS (oct-27), puede generar prospección con anticipación de la zona norte</a:t>
            </a:r>
            <a:endParaRPr/>
          </a:p>
        </p:txBody>
      </p:sp>
      <p:sp>
        <p:nvSpPr>
          <p:cNvPr id="493" name="Google Shape;493;p38"/>
          <p:cNvSpPr/>
          <p:nvPr/>
        </p:nvSpPr>
        <p:spPr>
          <a:xfrm rot="5400000">
            <a:off x="10394831" y="4373594"/>
            <a:ext cx="586597" cy="215660"/>
          </a:xfrm>
          <a:prstGeom prst="triangle">
            <a:avLst>
              <a:gd name="adj" fmla="val 50000"/>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3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499" name="Google Shape;499;p39"/>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00" name="Google Shape;500;p39"/>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Metropolitana</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8" name="Tabla 7">
            <a:extLst>
              <a:ext uri="{FF2B5EF4-FFF2-40B4-BE49-F238E27FC236}">
                <a16:creationId xmlns:a16="http://schemas.microsoft.com/office/drawing/2014/main" id="{1F3BA039-BEA9-D774-ADD8-76DCBAA12663}"/>
              </a:ext>
            </a:extLst>
          </p:cNvPr>
          <p:cNvGraphicFramePr>
            <a:graphicFrameLocks noGrp="1"/>
          </p:cNvGraphicFramePr>
          <p:nvPr/>
        </p:nvGraphicFramePr>
        <p:xfrm>
          <a:off x="323850" y="1250000"/>
          <a:ext cx="11544300" cy="4234307"/>
        </p:xfrm>
        <a:graphic>
          <a:graphicData uri="http://schemas.openxmlformats.org/drawingml/2006/table">
            <a:tbl>
              <a:tblPr/>
              <a:tblGrid>
                <a:gridCol w="1900000">
                  <a:extLst>
                    <a:ext uri="{9D8B030D-6E8A-4147-A177-3AD203B41FA5}">
                      <a16:colId xmlns:a16="http://schemas.microsoft.com/office/drawing/2014/main" val="20000"/>
                    </a:ext>
                  </a:extLst>
                </a:gridCol>
                <a:gridCol w="440000">
                  <a:extLst>
                    <a:ext uri="{9D8B030D-6E8A-4147-A177-3AD203B41FA5}">
                      <a16:colId xmlns:a16="http://schemas.microsoft.com/office/drawing/2014/main" val="20001"/>
                    </a:ext>
                  </a:extLst>
                </a:gridCol>
                <a:gridCol w="440000">
                  <a:extLst>
                    <a:ext uri="{9D8B030D-6E8A-4147-A177-3AD203B41FA5}">
                      <a16:colId xmlns:a16="http://schemas.microsoft.com/office/drawing/2014/main" val="20002"/>
                    </a:ext>
                  </a:extLst>
                </a:gridCol>
                <a:gridCol w="440000">
                  <a:extLst>
                    <a:ext uri="{9D8B030D-6E8A-4147-A177-3AD203B41FA5}">
                      <a16:colId xmlns:a16="http://schemas.microsoft.com/office/drawing/2014/main" val="20003"/>
                    </a:ext>
                  </a:extLst>
                </a:gridCol>
                <a:gridCol w="440000">
                  <a:extLst>
                    <a:ext uri="{9D8B030D-6E8A-4147-A177-3AD203B41FA5}">
                      <a16:colId xmlns:a16="http://schemas.microsoft.com/office/drawing/2014/main" val="20004"/>
                    </a:ext>
                  </a:extLst>
                </a:gridCol>
                <a:gridCol w="440000">
                  <a:extLst>
                    <a:ext uri="{9D8B030D-6E8A-4147-A177-3AD203B41FA5}">
                      <a16:colId xmlns:a16="http://schemas.microsoft.com/office/drawing/2014/main" val="20005"/>
                    </a:ext>
                  </a:extLst>
                </a:gridCol>
                <a:gridCol w="440000">
                  <a:extLst>
                    <a:ext uri="{9D8B030D-6E8A-4147-A177-3AD203B41FA5}">
                      <a16:colId xmlns:a16="http://schemas.microsoft.com/office/drawing/2014/main" val="20006"/>
                    </a:ext>
                  </a:extLst>
                </a:gridCol>
                <a:gridCol w="440000">
                  <a:extLst>
                    <a:ext uri="{9D8B030D-6E8A-4147-A177-3AD203B41FA5}">
                      <a16:colId xmlns:a16="http://schemas.microsoft.com/office/drawing/2014/main" val="20007"/>
                    </a:ext>
                  </a:extLst>
                </a:gridCol>
                <a:gridCol w="440000">
                  <a:extLst>
                    <a:ext uri="{9D8B030D-6E8A-4147-A177-3AD203B41FA5}">
                      <a16:colId xmlns:a16="http://schemas.microsoft.com/office/drawing/2014/main" val="20008"/>
                    </a:ext>
                  </a:extLst>
                </a:gridCol>
                <a:gridCol w="440000">
                  <a:extLst>
                    <a:ext uri="{9D8B030D-6E8A-4147-A177-3AD203B41FA5}">
                      <a16:colId xmlns:a16="http://schemas.microsoft.com/office/drawing/2014/main" val="20009"/>
                    </a:ext>
                  </a:extLst>
                </a:gridCol>
                <a:gridCol w="440000">
                  <a:extLst>
                    <a:ext uri="{9D8B030D-6E8A-4147-A177-3AD203B41FA5}">
                      <a16:colId xmlns:a16="http://schemas.microsoft.com/office/drawing/2014/main" val="20010"/>
                    </a:ext>
                  </a:extLst>
                </a:gridCol>
                <a:gridCol w="440000">
                  <a:extLst>
                    <a:ext uri="{9D8B030D-6E8A-4147-A177-3AD203B41FA5}">
                      <a16:colId xmlns:a16="http://schemas.microsoft.com/office/drawing/2014/main" val="20011"/>
                    </a:ext>
                  </a:extLst>
                </a:gridCol>
                <a:gridCol w="440000">
                  <a:extLst>
                    <a:ext uri="{9D8B030D-6E8A-4147-A177-3AD203B41FA5}">
                      <a16:colId xmlns:a16="http://schemas.microsoft.com/office/drawing/2014/main" val="20012"/>
                    </a:ext>
                  </a:extLst>
                </a:gridCol>
                <a:gridCol w="520000">
                  <a:extLst>
                    <a:ext uri="{9D8B030D-6E8A-4147-A177-3AD203B41FA5}">
                      <a16:colId xmlns:a16="http://schemas.microsoft.com/office/drawing/2014/main" val="20013"/>
                    </a:ext>
                  </a:extLst>
                </a:gridCol>
                <a:gridCol w="520000">
                  <a:extLst>
                    <a:ext uri="{9D8B030D-6E8A-4147-A177-3AD203B41FA5}">
                      <a16:colId xmlns:a16="http://schemas.microsoft.com/office/drawing/2014/main" val="20014"/>
                    </a:ext>
                  </a:extLst>
                </a:gridCol>
                <a:gridCol w="760000">
                  <a:extLst>
                    <a:ext uri="{9D8B030D-6E8A-4147-A177-3AD203B41FA5}">
                      <a16:colId xmlns:a16="http://schemas.microsoft.com/office/drawing/2014/main" val="20015"/>
                    </a:ext>
                  </a:extLst>
                </a:gridCol>
                <a:gridCol w="560000">
                  <a:extLst>
                    <a:ext uri="{9D8B030D-6E8A-4147-A177-3AD203B41FA5}">
                      <a16:colId xmlns:a16="http://schemas.microsoft.com/office/drawing/2014/main" val="20016"/>
                    </a:ext>
                  </a:extLst>
                </a:gridCol>
                <a:gridCol w="2004300">
                  <a:extLst>
                    <a:ext uri="{9D8B030D-6E8A-4147-A177-3AD203B41FA5}">
                      <a16:colId xmlns:a16="http://schemas.microsoft.com/office/drawing/2014/main" val="20017"/>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Incardia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Mobiliario Clínico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Otros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8C1D8"/>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8C1D8"/>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8C1D8"/>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775000">
                <a:tc>
                  <a:txBody>
                    <a:bodyPr/>
                    <a:lstStyle/>
                    <a:p>
                      <a:pPr algn="l" fontAlgn="ctr">
                        <a:buNone/>
                      </a:pPr>
                      <a:r>
                        <a:rPr lang="es-CL" sz="800" b="0" i="0" u="none" strike="noStrike">
                          <a:solidFill>
                            <a:schemeClr val="accent2"/>
                          </a:solidFill>
                          <a:effectLst/>
                          <a:latin typeface="Calibri" panose="020F0502020204030204" pitchFamily="34" charset="0"/>
                        </a:rPr>
                        <a:t>CLINICA MOVIL CENTINELA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155,1%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195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109,0%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185,3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101,9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Reunión gerencial.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Levantamiento técnico completo.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Oferta corporativa multiequipamiento.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marco trianual.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renovación escalonada para los equipos más antiguos.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LA ARAUCANA SALUD S.A.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143,8%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143,8%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29,6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0000">
                <a:tc>
                  <a:txBody>
                    <a:bodyPr/>
                    <a:lstStyle/>
                    <a:p>
                      <a:pPr algn="l" fontAlgn="ctr">
                        <a:buNone/>
                      </a:pPr>
                      <a:r>
                        <a:rPr lang="es-CL" sz="800" b="0" i="0" u="none" strike="noStrike">
                          <a:solidFill>
                            <a:schemeClr val="accent2"/>
                          </a:solidFill>
                          <a:effectLst/>
                          <a:latin typeface="Calibri" panose="020F0502020204030204" pitchFamily="34" charset="0"/>
                        </a:rPr>
                        <a:t>HOSPITAL CLINICO SAN BORJA-ARRIARAN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124,0%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284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302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96,8%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Visita conjunta Comercial + Servicio.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Presentar análisis de riesgo asociado a antigüedad.</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preventivo por familias tecnológicas.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CLÍNICO UNIVERSIDAD DE CHILE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13,0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0000">
                <a:tc>
                  <a:txBody>
                    <a:bodyPr/>
                    <a:lstStyle/>
                    <a:p>
                      <a:pPr algn="l" fontAlgn="ctr">
                        <a:buNone/>
                      </a:pPr>
                      <a:r>
                        <a:rPr lang="es-CL" sz="800" b="0" i="0" u="none" strike="noStrike">
                          <a:solidFill>
                            <a:schemeClr val="accent2"/>
                          </a:solidFill>
                          <a:effectLst/>
                          <a:latin typeface="Calibri" panose="020F0502020204030204" pitchFamily="34" charset="0"/>
                        </a:rPr>
                        <a:t>CLINICA ALEMANA DE SANTIAGO S 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65,6%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72,8%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53,5%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Revisión de equipos sin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Presentar indicadores de disponibilidad.</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Buscar acuerdo marco de mantenimiento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FONDO PARA HOSPITALES DE CARABINEROS DE CHILE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0000">
                <a:tc>
                  <a:txBody>
                    <a:bodyPr/>
                    <a:lstStyle/>
                    <a:p>
                      <a:pPr algn="l" fontAlgn="ctr">
                        <a:buNone/>
                      </a:pPr>
                      <a:r>
                        <a:rPr lang="es-CL" sz="800" b="0" i="0" u="none" strike="noStrike">
                          <a:solidFill>
                            <a:schemeClr val="accent2"/>
                          </a:solidFill>
                          <a:effectLst/>
                          <a:latin typeface="Calibri" panose="020F0502020204030204" pitchFamily="34" charset="0"/>
                        </a:rPr>
                        <a:t>JUNAEB ESCUELA NUEVA ZELANDIA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131,7%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58,3%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124,3%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capacitación a usuarios y seguimiento para futuras renovaciones.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HOSPITAL SAN JUAN DE DIOS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85,4%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93,8%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88,7%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15,2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completo y propuesta de cobertura institucional.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UNIVERSIDAD SAN SEBASTIAN SEDE BELLAVISTA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CRS PEÑALOLEN CORDILLERA ORIENTE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163,5%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281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143,7%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66,2%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56,5%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293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688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104,4%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362,7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199,5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4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08" name="Google Shape;508;p40"/>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09" name="Google Shape;509;p40"/>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del Bío Bío</a:t>
            </a:r>
            <a:endParaRPr kumimoji="0" sz="1400" b="0" i="0" u="none" strike="noStrike" kern="0" cap="none" spc="0" normalizeH="0" baseline="0" noProof="0">
              <a:ln>
                <a:noFill/>
              </a:ln>
              <a:solidFill>
                <a:srgbClr val="33448D"/>
              </a:solidFill>
              <a:effectLst/>
              <a:uLnTx/>
              <a:uFillTx/>
              <a:latin typeface="Roboto"/>
              <a:ea typeface="Roboto"/>
              <a:cs typeface="Roboto"/>
              <a:sym typeface="Roboto"/>
            </a:endParaRPr>
          </a:p>
        </p:txBody>
      </p:sp>
      <p:graphicFrame>
        <p:nvGraphicFramePr>
          <p:cNvPr id="5" name="Tabla 4">
            <a:extLst>
              <a:ext uri="{FF2B5EF4-FFF2-40B4-BE49-F238E27FC236}">
                <a16:creationId xmlns:a16="http://schemas.microsoft.com/office/drawing/2014/main" id="{678458B1-D0D1-7FAE-8826-02558BAB2A26}"/>
              </a:ext>
            </a:extLst>
          </p:cNvPr>
          <p:cNvGraphicFramePr>
            <a:graphicFrameLocks noGrp="1"/>
          </p:cNvGraphicFramePr>
          <p:nvPr/>
        </p:nvGraphicFramePr>
        <p:xfrm>
          <a:off x="323850" y="1250000"/>
          <a:ext cx="11180000" cy="3733749"/>
        </p:xfrm>
        <a:graphic>
          <a:graphicData uri="http://schemas.openxmlformats.org/drawingml/2006/table">
            <a:tbl>
              <a:tblPr/>
              <a:tblGrid>
                <a:gridCol w="2400000">
                  <a:extLst>
                    <a:ext uri="{9D8B030D-6E8A-4147-A177-3AD203B41FA5}">
                      <a16:colId xmlns:a16="http://schemas.microsoft.com/office/drawing/2014/main" val="20000"/>
                    </a:ext>
                  </a:extLst>
                </a:gridCol>
                <a:gridCol w="520000">
                  <a:extLst>
                    <a:ext uri="{9D8B030D-6E8A-4147-A177-3AD203B41FA5}">
                      <a16:colId xmlns:a16="http://schemas.microsoft.com/office/drawing/2014/main" val="20001"/>
                    </a:ext>
                  </a:extLst>
                </a:gridCol>
                <a:gridCol w="520000">
                  <a:extLst>
                    <a:ext uri="{9D8B030D-6E8A-4147-A177-3AD203B41FA5}">
                      <a16:colId xmlns:a16="http://schemas.microsoft.com/office/drawing/2014/main" val="20002"/>
                    </a:ext>
                  </a:extLst>
                </a:gridCol>
                <a:gridCol w="520000">
                  <a:extLst>
                    <a:ext uri="{9D8B030D-6E8A-4147-A177-3AD203B41FA5}">
                      <a16:colId xmlns:a16="http://schemas.microsoft.com/office/drawing/2014/main" val="20003"/>
                    </a:ext>
                  </a:extLst>
                </a:gridCol>
                <a:gridCol w="520000">
                  <a:extLst>
                    <a:ext uri="{9D8B030D-6E8A-4147-A177-3AD203B41FA5}">
                      <a16:colId xmlns:a16="http://schemas.microsoft.com/office/drawing/2014/main" val="20004"/>
                    </a:ext>
                  </a:extLst>
                </a:gridCol>
                <a:gridCol w="520000">
                  <a:extLst>
                    <a:ext uri="{9D8B030D-6E8A-4147-A177-3AD203B41FA5}">
                      <a16:colId xmlns:a16="http://schemas.microsoft.com/office/drawing/2014/main" val="20005"/>
                    </a:ext>
                  </a:extLst>
                </a:gridCol>
                <a:gridCol w="520000">
                  <a:extLst>
                    <a:ext uri="{9D8B030D-6E8A-4147-A177-3AD203B41FA5}">
                      <a16:colId xmlns:a16="http://schemas.microsoft.com/office/drawing/2014/main" val="20006"/>
                    </a:ext>
                  </a:extLst>
                </a:gridCol>
                <a:gridCol w="520000">
                  <a:extLst>
                    <a:ext uri="{9D8B030D-6E8A-4147-A177-3AD203B41FA5}">
                      <a16:colId xmlns:a16="http://schemas.microsoft.com/office/drawing/2014/main" val="20007"/>
                    </a:ext>
                  </a:extLst>
                </a:gridCol>
                <a:gridCol w="520000">
                  <a:extLst>
                    <a:ext uri="{9D8B030D-6E8A-4147-A177-3AD203B41FA5}">
                      <a16:colId xmlns:a16="http://schemas.microsoft.com/office/drawing/2014/main" val="20008"/>
                    </a:ext>
                  </a:extLst>
                </a:gridCol>
                <a:gridCol w="760000">
                  <a:extLst>
                    <a:ext uri="{9D8B030D-6E8A-4147-A177-3AD203B41FA5}">
                      <a16:colId xmlns:a16="http://schemas.microsoft.com/office/drawing/2014/main" val="20009"/>
                    </a:ext>
                  </a:extLst>
                </a:gridCol>
                <a:gridCol w="560000">
                  <a:extLst>
                    <a:ext uri="{9D8B030D-6E8A-4147-A177-3AD203B41FA5}">
                      <a16:colId xmlns:a16="http://schemas.microsoft.com/office/drawing/2014/main" val="20010"/>
                    </a:ext>
                  </a:extLst>
                </a:gridCol>
                <a:gridCol w="3300000">
                  <a:extLst>
                    <a:ext uri="{9D8B030D-6E8A-4147-A177-3AD203B41FA5}">
                      <a16:colId xmlns:a16="http://schemas.microsoft.com/office/drawing/2014/main" val="20011"/>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UNIVERSIDAD DEL DESARROLLO CONCEPCION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80,3%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77,9%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33,7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académico y de soporte.</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Cobertura para laboratorios y simulación.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0000">
                <a:tc>
                  <a:txBody>
                    <a:bodyPr/>
                    <a:lstStyle/>
                    <a:p>
                      <a:pPr algn="l" fontAlgn="ctr">
                        <a:buNone/>
                      </a:pPr>
                      <a:r>
                        <a:rPr lang="es-CL" sz="800" b="0" i="0" u="none" strike="noStrike">
                          <a:solidFill>
                            <a:schemeClr val="accent2"/>
                          </a:solidFill>
                          <a:effectLst/>
                          <a:latin typeface="Calibri" panose="020F0502020204030204" pitchFamily="34" charset="0"/>
                        </a:rPr>
                        <a:t>CLINICA SANATORIO ALEMAN S.A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115,6%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75,8%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28,7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Presentar riesgos de obsolescencia.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Paquete PM + correctivos.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Potenciar venta de repuestos.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I MUNICIPALIDAD DE TALCAHUANO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445,8%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445,8%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 LOS TILOS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59,8%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de soporte, auditoría técnica y programa preventivo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CONSULTORIO NORTE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 y programa preventivo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CENTRAL ODONTOLGICA II ZONA NAVAL TALCAHUANO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74,8%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74,8%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anual preventivo, gestión institucional y stock de repuestos críticos.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LOS CERROS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LABORATORIO CLINICO CENTRAL LTDA.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de disponibilidad operacional y mantenimiento preventivo.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900000">
                <a:tc>
                  <a:txBody>
                    <a:bodyPr/>
                    <a:lstStyle/>
                    <a:p>
                      <a:pPr algn="l" fontAlgn="ctr">
                        <a:buNone/>
                      </a:pPr>
                      <a:r>
                        <a:rPr lang="es-CL" sz="800" b="0" i="0" u="none" strike="noStrike">
                          <a:solidFill>
                            <a:schemeClr val="accent2"/>
                          </a:solidFill>
                          <a:effectLst/>
                          <a:latin typeface="Calibri" panose="020F0502020204030204" pitchFamily="34" charset="0"/>
                        </a:rPr>
                        <a:t>CLINICA UNIVERSITARIA CONCEPCION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68,7%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68,7%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completa de todos los equipos.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Identificación de equipos fuera de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Presentación de contrato preventivo anual.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visitas semestrales desde la base Biobío.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Propuesta de stock crítico de repuestos.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Construcción de indicadores de disponibilidad para la administración clínica.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UNIVERSIDAD DE CONCEPCION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de toda la base instalada.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Recuperar equipos sin seguimiento técnico.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100,8%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84,8%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170,9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85,5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4" name="Google Shape;514;p4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33448D"/>
              </a:buClr>
              <a:buSzPts val="2700"/>
              <a:buFont typeface="Roboto"/>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16" name="Google Shape;516;p41"/>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17" name="Google Shape;517;p41"/>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33448D"/>
              </a:buClr>
              <a:buSzPts val="1400"/>
              <a:buFont typeface="Roboto"/>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Valparaíso</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3" name="Tabla 2">
            <a:extLst>
              <a:ext uri="{FF2B5EF4-FFF2-40B4-BE49-F238E27FC236}">
                <a16:creationId xmlns:a16="http://schemas.microsoft.com/office/drawing/2014/main" id="{3D42D46C-05DC-0D0D-6EF7-1A97B558A6B3}"/>
              </a:ext>
            </a:extLst>
          </p:cNvPr>
          <p:cNvGraphicFramePr>
            <a:graphicFrameLocks noGrp="1"/>
          </p:cNvGraphicFramePr>
          <p:nvPr/>
        </p:nvGraphicFramePr>
        <p:xfrm>
          <a:off x="323850" y="1250000"/>
          <a:ext cx="11544300" cy="3133749"/>
        </p:xfrm>
        <a:graphic>
          <a:graphicData uri="http://schemas.openxmlformats.org/drawingml/2006/table">
            <a:tbl>
              <a:tblPr/>
              <a:tblGrid>
                <a:gridCol w="1900000">
                  <a:extLst>
                    <a:ext uri="{9D8B030D-6E8A-4147-A177-3AD203B41FA5}">
                      <a16:colId xmlns:a16="http://schemas.microsoft.com/office/drawing/2014/main" val="20000"/>
                    </a:ext>
                  </a:extLst>
                </a:gridCol>
                <a:gridCol w="440000">
                  <a:extLst>
                    <a:ext uri="{9D8B030D-6E8A-4147-A177-3AD203B41FA5}">
                      <a16:colId xmlns:a16="http://schemas.microsoft.com/office/drawing/2014/main" val="20001"/>
                    </a:ext>
                  </a:extLst>
                </a:gridCol>
                <a:gridCol w="440000">
                  <a:extLst>
                    <a:ext uri="{9D8B030D-6E8A-4147-A177-3AD203B41FA5}">
                      <a16:colId xmlns:a16="http://schemas.microsoft.com/office/drawing/2014/main" val="20002"/>
                    </a:ext>
                  </a:extLst>
                </a:gridCol>
                <a:gridCol w="440000">
                  <a:extLst>
                    <a:ext uri="{9D8B030D-6E8A-4147-A177-3AD203B41FA5}">
                      <a16:colId xmlns:a16="http://schemas.microsoft.com/office/drawing/2014/main" val="20003"/>
                    </a:ext>
                  </a:extLst>
                </a:gridCol>
                <a:gridCol w="440000">
                  <a:extLst>
                    <a:ext uri="{9D8B030D-6E8A-4147-A177-3AD203B41FA5}">
                      <a16:colId xmlns:a16="http://schemas.microsoft.com/office/drawing/2014/main" val="20004"/>
                    </a:ext>
                  </a:extLst>
                </a:gridCol>
                <a:gridCol w="440000">
                  <a:extLst>
                    <a:ext uri="{9D8B030D-6E8A-4147-A177-3AD203B41FA5}">
                      <a16:colId xmlns:a16="http://schemas.microsoft.com/office/drawing/2014/main" val="20005"/>
                    </a:ext>
                  </a:extLst>
                </a:gridCol>
                <a:gridCol w="440000">
                  <a:extLst>
                    <a:ext uri="{9D8B030D-6E8A-4147-A177-3AD203B41FA5}">
                      <a16:colId xmlns:a16="http://schemas.microsoft.com/office/drawing/2014/main" val="20006"/>
                    </a:ext>
                  </a:extLst>
                </a:gridCol>
                <a:gridCol w="440000">
                  <a:extLst>
                    <a:ext uri="{9D8B030D-6E8A-4147-A177-3AD203B41FA5}">
                      <a16:colId xmlns:a16="http://schemas.microsoft.com/office/drawing/2014/main" val="20007"/>
                    </a:ext>
                  </a:extLst>
                </a:gridCol>
                <a:gridCol w="440000">
                  <a:extLst>
                    <a:ext uri="{9D8B030D-6E8A-4147-A177-3AD203B41FA5}">
                      <a16:colId xmlns:a16="http://schemas.microsoft.com/office/drawing/2014/main" val="20008"/>
                    </a:ext>
                  </a:extLst>
                </a:gridCol>
                <a:gridCol w="440000">
                  <a:extLst>
                    <a:ext uri="{9D8B030D-6E8A-4147-A177-3AD203B41FA5}">
                      <a16:colId xmlns:a16="http://schemas.microsoft.com/office/drawing/2014/main" val="20009"/>
                    </a:ext>
                  </a:extLst>
                </a:gridCol>
                <a:gridCol w="440000">
                  <a:extLst>
                    <a:ext uri="{9D8B030D-6E8A-4147-A177-3AD203B41FA5}">
                      <a16:colId xmlns:a16="http://schemas.microsoft.com/office/drawing/2014/main" val="20010"/>
                    </a:ext>
                  </a:extLst>
                </a:gridCol>
                <a:gridCol w="440000">
                  <a:extLst>
                    <a:ext uri="{9D8B030D-6E8A-4147-A177-3AD203B41FA5}">
                      <a16:colId xmlns:a16="http://schemas.microsoft.com/office/drawing/2014/main" val="20011"/>
                    </a:ext>
                  </a:extLst>
                </a:gridCol>
                <a:gridCol w="440000">
                  <a:extLst>
                    <a:ext uri="{9D8B030D-6E8A-4147-A177-3AD203B41FA5}">
                      <a16:colId xmlns:a16="http://schemas.microsoft.com/office/drawing/2014/main" val="20012"/>
                    </a:ext>
                  </a:extLst>
                </a:gridCol>
                <a:gridCol w="520000">
                  <a:extLst>
                    <a:ext uri="{9D8B030D-6E8A-4147-A177-3AD203B41FA5}">
                      <a16:colId xmlns:a16="http://schemas.microsoft.com/office/drawing/2014/main" val="20013"/>
                    </a:ext>
                  </a:extLst>
                </a:gridCol>
                <a:gridCol w="520000">
                  <a:extLst>
                    <a:ext uri="{9D8B030D-6E8A-4147-A177-3AD203B41FA5}">
                      <a16:colId xmlns:a16="http://schemas.microsoft.com/office/drawing/2014/main" val="20014"/>
                    </a:ext>
                  </a:extLst>
                </a:gridCol>
                <a:gridCol w="760000">
                  <a:extLst>
                    <a:ext uri="{9D8B030D-6E8A-4147-A177-3AD203B41FA5}">
                      <a16:colId xmlns:a16="http://schemas.microsoft.com/office/drawing/2014/main" val="20015"/>
                    </a:ext>
                  </a:extLst>
                </a:gridCol>
                <a:gridCol w="560000">
                  <a:extLst>
                    <a:ext uri="{9D8B030D-6E8A-4147-A177-3AD203B41FA5}">
                      <a16:colId xmlns:a16="http://schemas.microsoft.com/office/drawing/2014/main" val="20016"/>
                    </a:ext>
                  </a:extLst>
                </a:gridCol>
                <a:gridCol w="2004300">
                  <a:extLst>
                    <a:ext uri="{9D8B030D-6E8A-4147-A177-3AD203B41FA5}">
                      <a16:colId xmlns:a16="http://schemas.microsoft.com/office/drawing/2014/main" val="20017"/>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Incardia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Mobiliario Clínico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MMQ / REAS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HOSPITAL LA LIGUA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propuesta preventiva básica.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CLINICA REÑACA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55,2%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55,2%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preventiva.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anual de mantenimiento.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CENTRAL ODONTOLOGICA PRIMERA ZONA NAVAL VIÑA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59,3%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59,3%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de mantenimiento y soporte especializado.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HOSPITAL DE QUILPUE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de cobertura y propuesta de mantenimiento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HOSPITAL CLINICO IST VIÑA DEL MAR</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68,1%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54,2%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propuesta de cobertura preventiva.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SANTO TOMAS DE LIMACHE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184,5%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30,0%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165,2%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HOSPITAL DE QUILLOTA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86,5%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79,0%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de equipos.</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parcial por criticidad.</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CENT. ODONT. DE VALPARAISO 1° ZONA NAVAL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fortalecimiento de vínculo institucional.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QUINTEROS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QUEBRADA VERDE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155,5%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65,2%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68,1%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62,5%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101,8%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130,0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65,1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4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23" name="Google Shape;523;p42"/>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24" name="Google Shape;524;p42"/>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la Araucanía</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2" name="Tabla 1">
            <a:extLst>
              <a:ext uri="{FF2B5EF4-FFF2-40B4-BE49-F238E27FC236}">
                <a16:creationId xmlns:a16="http://schemas.microsoft.com/office/drawing/2014/main" id="{FDA81806-3802-B39E-9532-ABF5DEAA928A}"/>
              </a:ext>
            </a:extLst>
          </p:cNvPr>
          <p:cNvGraphicFramePr>
            <a:graphicFrameLocks noGrp="1"/>
          </p:cNvGraphicFramePr>
          <p:nvPr/>
        </p:nvGraphicFramePr>
        <p:xfrm>
          <a:off x="323850" y="1250000"/>
          <a:ext cx="11544300" cy="2883749"/>
        </p:xfrm>
        <a:graphic>
          <a:graphicData uri="http://schemas.openxmlformats.org/drawingml/2006/table">
            <a:tbl>
              <a:tblPr/>
              <a:tblGrid>
                <a:gridCol w="1900000">
                  <a:extLst>
                    <a:ext uri="{9D8B030D-6E8A-4147-A177-3AD203B41FA5}">
                      <a16:colId xmlns:a16="http://schemas.microsoft.com/office/drawing/2014/main" val="20000"/>
                    </a:ext>
                  </a:extLst>
                </a:gridCol>
                <a:gridCol w="440000">
                  <a:extLst>
                    <a:ext uri="{9D8B030D-6E8A-4147-A177-3AD203B41FA5}">
                      <a16:colId xmlns:a16="http://schemas.microsoft.com/office/drawing/2014/main" val="20001"/>
                    </a:ext>
                  </a:extLst>
                </a:gridCol>
                <a:gridCol w="440000">
                  <a:extLst>
                    <a:ext uri="{9D8B030D-6E8A-4147-A177-3AD203B41FA5}">
                      <a16:colId xmlns:a16="http://schemas.microsoft.com/office/drawing/2014/main" val="20002"/>
                    </a:ext>
                  </a:extLst>
                </a:gridCol>
                <a:gridCol w="440000">
                  <a:extLst>
                    <a:ext uri="{9D8B030D-6E8A-4147-A177-3AD203B41FA5}">
                      <a16:colId xmlns:a16="http://schemas.microsoft.com/office/drawing/2014/main" val="20003"/>
                    </a:ext>
                  </a:extLst>
                </a:gridCol>
                <a:gridCol w="440000">
                  <a:extLst>
                    <a:ext uri="{9D8B030D-6E8A-4147-A177-3AD203B41FA5}">
                      <a16:colId xmlns:a16="http://schemas.microsoft.com/office/drawing/2014/main" val="20004"/>
                    </a:ext>
                  </a:extLst>
                </a:gridCol>
                <a:gridCol w="440000">
                  <a:extLst>
                    <a:ext uri="{9D8B030D-6E8A-4147-A177-3AD203B41FA5}">
                      <a16:colId xmlns:a16="http://schemas.microsoft.com/office/drawing/2014/main" val="20005"/>
                    </a:ext>
                  </a:extLst>
                </a:gridCol>
                <a:gridCol w="440000">
                  <a:extLst>
                    <a:ext uri="{9D8B030D-6E8A-4147-A177-3AD203B41FA5}">
                      <a16:colId xmlns:a16="http://schemas.microsoft.com/office/drawing/2014/main" val="20006"/>
                    </a:ext>
                  </a:extLst>
                </a:gridCol>
                <a:gridCol w="440000">
                  <a:extLst>
                    <a:ext uri="{9D8B030D-6E8A-4147-A177-3AD203B41FA5}">
                      <a16:colId xmlns:a16="http://schemas.microsoft.com/office/drawing/2014/main" val="20007"/>
                    </a:ext>
                  </a:extLst>
                </a:gridCol>
                <a:gridCol w="440000">
                  <a:extLst>
                    <a:ext uri="{9D8B030D-6E8A-4147-A177-3AD203B41FA5}">
                      <a16:colId xmlns:a16="http://schemas.microsoft.com/office/drawing/2014/main" val="20008"/>
                    </a:ext>
                  </a:extLst>
                </a:gridCol>
                <a:gridCol w="440000">
                  <a:extLst>
                    <a:ext uri="{9D8B030D-6E8A-4147-A177-3AD203B41FA5}">
                      <a16:colId xmlns:a16="http://schemas.microsoft.com/office/drawing/2014/main" val="20009"/>
                    </a:ext>
                  </a:extLst>
                </a:gridCol>
                <a:gridCol w="440000">
                  <a:extLst>
                    <a:ext uri="{9D8B030D-6E8A-4147-A177-3AD203B41FA5}">
                      <a16:colId xmlns:a16="http://schemas.microsoft.com/office/drawing/2014/main" val="20010"/>
                    </a:ext>
                  </a:extLst>
                </a:gridCol>
                <a:gridCol w="520000">
                  <a:extLst>
                    <a:ext uri="{9D8B030D-6E8A-4147-A177-3AD203B41FA5}">
                      <a16:colId xmlns:a16="http://schemas.microsoft.com/office/drawing/2014/main" val="20011"/>
                    </a:ext>
                  </a:extLst>
                </a:gridCol>
                <a:gridCol w="520000">
                  <a:extLst>
                    <a:ext uri="{9D8B030D-6E8A-4147-A177-3AD203B41FA5}">
                      <a16:colId xmlns:a16="http://schemas.microsoft.com/office/drawing/2014/main" val="20012"/>
                    </a:ext>
                  </a:extLst>
                </a:gridCol>
                <a:gridCol w="760000">
                  <a:extLst>
                    <a:ext uri="{9D8B030D-6E8A-4147-A177-3AD203B41FA5}">
                      <a16:colId xmlns:a16="http://schemas.microsoft.com/office/drawing/2014/main" val="20013"/>
                    </a:ext>
                  </a:extLst>
                </a:gridCol>
                <a:gridCol w="560000">
                  <a:extLst>
                    <a:ext uri="{9D8B030D-6E8A-4147-A177-3AD203B41FA5}">
                      <a16:colId xmlns:a16="http://schemas.microsoft.com/office/drawing/2014/main" val="20014"/>
                    </a:ext>
                  </a:extLst>
                </a:gridCol>
                <a:gridCol w="2884300">
                  <a:extLst>
                    <a:ext uri="{9D8B030D-6E8A-4147-A177-3AD203B41FA5}">
                      <a16:colId xmlns:a16="http://schemas.microsoft.com/office/drawing/2014/main" val="20015"/>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Incardia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Mobiliario Clínico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400000">
                <a:tc>
                  <a:txBody>
                    <a:bodyPr/>
                    <a:lstStyle/>
                    <a:p>
                      <a:pPr algn="l" fontAlgn="ctr">
                        <a:buNone/>
                      </a:pPr>
                      <a:r>
                        <a:rPr lang="es-CL" sz="800" b="0" i="0" u="none" strike="noStrike">
                          <a:solidFill>
                            <a:schemeClr val="accent2"/>
                          </a:solidFill>
                          <a:effectLst/>
                          <a:latin typeface="Calibri" panose="020F0502020204030204" pitchFamily="34" charset="0"/>
                        </a:rPr>
                        <a:t>HOSPITAL DE ANGOL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81,7%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60,5%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81,9%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31,7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15,8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Campaña de recuperación de BI.</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Oferta de contrato preventivo.</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Identificación de equipos cercanos a renovación.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UNIVERSIDAD DE LA FRONTERA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56,8%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30,2%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43,5%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Cobertura preventiva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LAUTARO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128,7%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128,7%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25,8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de riesgo operativo y propuesta de mantenimiento.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VICTORIA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87,1%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reuniones periódicas.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COLLIPULLI</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evaluación de renovación.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TRAIGUEN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56,3%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63,6%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59,9%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cobertura planificada.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PUCON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regional preventiva programada.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LONQUIMAY</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 de soporte.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ERCILLA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70,0%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70,0%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LUMACO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67,0%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80,7%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71,8%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78,6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4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31" name="Google Shape;531;p43"/>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32" name="Google Shape;532;p43"/>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del Maule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3" name="Tabla 2">
            <a:extLst>
              <a:ext uri="{FF2B5EF4-FFF2-40B4-BE49-F238E27FC236}">
                <a16:creationId xmlns:a16="http://schemas.microsoft.com/office/drawing/2014/main" id="{48D8B932-BB4A-D0DE-8A97-71C2444A7142}"/>
              </a:ext>
            </a:extLst>
          </p:cNvPr>
          <p:cNvGraphicFramePr>
            <a:graphicFrameLocks noGrp="1"/>
          </p:cNvGraphicFramePr>
          <p:nvPr/>
        </p:nvGraphicFramePr>
        <p:xfrm>
          <a:off x="323850" y="1250000"/>
          <a:ext cx="11544300" cy="2608749"/>
        </p:xfrm>
        <a:graphic>
          <a:graphicData uri="http://schemas.openxmlformats.org/drawingml/2006/table">
            <a:tbl>
              <a:tblPr/>
              <a:tblGrid>
                <a:gridCol w="2344300">
                  <a:extLst>
                    <a:ext uri="{9D8B030D-6E8A-4147-A177-3AD203B41FA5}">
                      <a16:colId xmlns:a16="http://schemas.microsoft.com/office/drawing/2014/main" val="20000"/>
                    </a:ext>
                  </a:extLst>
                </a:gridCol>
                <a:gridCol w="480000">
                  <a:extLst>
                    <a:ext uri="{9D8B030D-6E8A-4147-A177-3AD203B41FA5}">
                      <a16:colId xmlns:a16="http://schemas.microsoft.com/office/drawing/2014/main" val="20001"/>
                    </a:ext>
                  </a:extLst>
                </a:gridCol>
                <a:gridCol w="480000">
                  <a:extLst>
                    <a:ext uri="{9D8B030D-6E8A-4147-A177-3AD203B41FA5}">
                      <a16:colId xmlns:a16="http://schemas.microsoft.com/office/drawing/2014/main" val="20002"/>
                    </a:ext>
                  </a:extLst>
                </a:gridCol>
                <a:gridCol w="480000">
                  <a:extLst>
                    <a:ext uri="{9D8B030D-6E8A-4147-A177-3AD203B41FA5}">
                      <a16:colId xmlns:a16="http://schemas.microsoft.com/office/drawing/2014/main" val="20003"/>
                    </a:ext>
                  </a:extLst>
                </a:gridCol>
                <a:gridCol w="480000">
                  <a:extLst>
                    <a:ext uri="{9D8B030D-6E8A-4147-A177-3AD203B41FA5}">
                      <a16:colId xmlns:a16="http://schemas.microsoft.com/office/drawing/2014/main" val="20004"/>
                    </a:ext>
                  </a:extLst>
                </a:gridCol>
                <a:gridCol w="480000">
                  <a:extLst>
                    <a:ext uri="{9D8B030D-6E8A-4147-A177-3AD203B41FA5}">
                      <a16:colId xmlns:a16="http://schemas.microsoft.com/office/drawing/2014/main" val="20005"/>
                    </a:ext>
                  </a:extLst>
                </a:gridCol>
                <a:gridCol w="480000">
                  <a:extLst>
                    <a:ext uri="{9D8B030D-6E8A-4147-A177-3AD203B41FA5}">
                      <a16:colId xmlns:a16="http://schemas.microsoft.com/office/drawing/2014/main" val="20006"/>
                    </a:ext>
                  </a:extLst>
                </a:gridCol>
                <a:gridCol w="480000">
                  <a:extLst>
                    <a:ext uri="{9D8B030D-6E8A-4147-A177-3AD203B41FA5}">
                      <a16:colId xmlns:a16="http://schemas.microsoft.com/office/drawing/2014/main" val="20007"/>
                    </a:ext>
                  </a:extLst>
                </a:gridCol>
                <a:gridCol w="480000">
                  <a:extLst>
                    <a:ext uri="{9D8B030D-6E8A-4147-A177-3AD203B41FA5}">
                      <a16:colId xmlns:a16="http://schemas.microsoft.com/office/drawing/2014/main" val="20008"/>
                    </a:ext>
                  </a:extLst>
                </a:gridCol>
                <a:gridCol w="520000">
                  <a:extLst>
                    <a:ext uri="{9D8B030D-6E8A-4147-A177-3AD203B41FA5}">
                      <a16:colId xmlns:a16="http://schemas.microsoft.com/office/drawing/2014/main" val="20009"/>
                    </a:ext>
                  </a:extLst>
                </a:gridCol>
                <a:gridCol w="520000">
                  <a:extLst>
                    <a:ext uri="{9D8B030D-6E8A-4147-A177-3AD203B41FA5}">
                      <a16:colId xmlns:a16="http://schemas.microsoft.com/office/drawing/2014/main" val="20010"/>
                    </a:ext>
                  </a:extLst>
                </a:gridCol>
                <a:gridCol w="760000">
                  <a:extLst>
                    <a:ext uri="{9D8B030D-6E8A-4147-A177-3AD203B41FA5}">
                      <a16:colId xmlns:a16="http://schemas.microsoft.com/office/drawing/2014/main" val="20011"/>
                    </a:ext>
                  </a:extLst>
                </a:gridCol>
                <a:gridCol w="560000">
                  <a:extLst>
                    <a:ext uri="{9D8B030D-6E8A-4147-A177-3AD203B41FA5}">
                      <a16:colId xmlns:a16="http://schemas.microsoft.com/office/drawing/2014/main" val="20012"/>
                    </a:ext>
                  </a:extLst>
                </a:gridCol>
                <a:gridCol w="3000000">
                  <a:extLst>
                    <a:ext uri="{9D8B030D-6E8A-4147-A177-3AD203B41FA5}">
                      <a16:colId xmlns:a16="http://schemas.microsoft.com/office/drawing/2014/main" val="20013"/>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Mobiliario Clínico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SERVICIO DE SALUD DEL MAULE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269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326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34,9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I. MUNICIPALIDAD DE PARRAL - DPTO SALUD</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91,7%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62,6%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15,5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y programa preventivo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CURICO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64,6%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21,9%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institucional y propuesta de cobertura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BASE DE LINARES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123,4%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123,4%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LONGAVI</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preventivas regionales.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BASE CURICO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90,3%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90,3%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Contrato preventivo institucional y soporte programado.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SOL DE SEPTIEMBRE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160,4%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102,8%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131,6%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COLBUN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85,4%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114,6%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104,9%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seguimiento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CARABINEROS CURICO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de soporte técnico.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PARRAL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110,4%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77,3%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88,4%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80,7%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21,9%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270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78,1%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4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39" name="Google Shape;539;p44"/>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40" name="Google Shape;540;p44"/>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Los Lagos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4" name="Tabla 3">
            <a:extLst>
              <a:ext uri="{FF2B5EF4-FFF2-40B4-BE49-F238E27FC236}">
                <a16:creationId xmlns:a16="http://schemas.microsoft.com/office/drawing/2014/main" id="{F2EC0A13-5A9A-307A-3B9F-42D79B2C9CFD}"/>
              </a:ext>
            </a:extLst>
          </p:cNvPr>
          <p:cNvGraphicFramePr>
            <a:graphicFrameLocks noGrp="1"/>
          </p:cNvGraphicFramePr>
          <p:nvPr/>
        </p:nvGraphicFramePr>
        <p:xfrm>
          <a:off x="323850" y="1250000"/>
          <a:ext cx="11544300" cy="2758749"/>
        </p:xfrm>
        <a:graphic>
          <a:graphicData uri="http://schemas.openxmlformats.org/drawingml/2006/table">
            <a:tbl>
              <a:tblPr/>
              <a:tblGrid>
                <a:gridCol w="1900000">
                  <a:extLst>
                    <a:ext uri="{9D8B030D-6E8A-4147-A177-3AD203B41FA5}">
                      <a16:colId xmlns:a16="http://schemas.microsoft.com/office/drawing/2014/main" val="20000"/>
                    </a:ext>
                  </a:extLst>
                </a:gridCol>
                <a:gridCol w="440000">
                  <a:extLst>
                    <a:ext uri="{9D8B030D-6E8A-4147-A177-3AD203B41FA5}">
                      <a16:colId xmlns:a16="http://schemas.microsoft.com/office/drawing/2014/main" val="20001"/>
                    </a:ext>
                  </a:extLst>
                </a:gridCol>
                <a:gridCol w="440000">
                  <a:extLst>
                    <a:ext uri="{9D8B030D-6E8A-4147-A177-3AD203B41FA5}">
                      <a16:colId xmlns:a16="http://schemas.microsoft.com/office/drawing/2014/main" val="20002"/>
                    </a:ext>
                  </a:extLst>
                </a:gridCol>
                <a:gridCol w="440000">
                  <a:extLst>
                    <a:ext uri="{9D8B030D-6E8A-4147-A177-3AD203B41FA5}">
                      <a16:colId xmlns:a16="http://schemas.microsoft.com/office/drawing/2014/main" val="20003"/>
                    </a:ext>
                  </a:extLst>
                </a:gridCol>
                <a:gridCol w="440000">
                  <a:extLst>
                    <a:ext uri="{9D8B030D-6E8A-4147-A177-3AD203B41FA5}">
                      <a16:colId xmlns:a16="http://schemas.microsoft.com/office/drawing/2014/main" val="20004"/>
                    </a:ext>
                  </a:extLst>
                </a:gridCol>
                <a:gridCol w="440000">
                  <a:extLst>
                    <a:ext uri="{9D8B030D-6E8A-4147-A177-3AD203B41FA5}">
                      <a16:colId xmlns:a16="http://schemas.microsoft.com/office/drawing/2014/main" val="20005"/>
                    </a:ext>
                  </a:extLst>
                </a:gridCol>
                <a:gridCol w="440000">
                  <a:extLst>
                    <a:ext uri="{9D8B030D-6E8A-4147-A177-3AD203B41FA5}">
                      <a16:colId xmlns:a16="http://schemas.microsoft.com/office/drawing/2014/main" val="20006"/>
                    </a:ext>
                  </a:extLst>
                </a:gridCol>
                <a:gridCol w="440000">
                  <a:extLst>
                    <a:ext uri="{9D8B030D-6E8A-4147-A177-3AD203B41FA5}">
                      <a16:colId xmlns:a16="http://schemas.microsoft.com/office/drawing/2014/main" val="20007"/>
                    </a:ext>
                  </a:extLst>
                </a:gridCol>
                <a:gridCol w="440000">
                  <a:extLst>
                    <a:ext uri="{9D8B030D-6E8A-4147-A177-3AD203B41FA5}">
                      <a16:colId xmlns:a16="http://schemas.microsoft.com/office/drawing/2014/main" val="20008"/>
                    </a:ext>
                  </a:extLst>
                </a:gridCol>
                <a:gridCol w="440000">
                  <a:extLst>
                    <a:ext uri="{9D8B030D-6E8A-4147-A177-3AD203B41FA5}">
                      <a16:colId xmlns:a16="http://schemas.microsoft.com/office/drawing/2014/main" val="20009"/>
                    </a:ext>
                  </a:extLst>
                </a:gridCol>
                <a:gridCol w="440000">
                  <a:extLst>
                    <a:ext uri="{9D8B030D-6E8A-4147-A177-3AD203B41FA5}">
                      <a16:colId xmlns:a16="http://schemas.microsoft.com/office/drawing/2014/main" val="20010"/>
                    </a:ext>
                  </a:extLst>
                </a:gridCol>
                <a:gridCol w="520000">
                  <a:extLst>
                    <a:ext uri="{9D8B030D-6E8A-4147-A177-3AD203B41FA5}">
                      <a16:colId xmlns:a16="http://schemas.microsoft.com/office/drawing/2014/main" val="20011"/>
                    </a:ext>
                  </a:extLst>
                </a:gridCol>
                <a:gridCol w="520000">
                  <a:extLst>
                    <a:ext uri="{9D8B030D-6E8A-4147-A177-3AD203B41FA5}">
                      <a16:colId xmlns:a16="http://schemas.microsoft.com/office/drawing/2014/main" val="20012"/>
                    </a:ext>
                  </a:extLst>
                </a:gridCol>
                <a:gridCol w="760000">
                  <a:extLst>
                    <a:ext uri="{9D8B030D-6E8A-4147-A177-3AD203B41FA5}">
                      <a16:colId xmlns:a16="http://schemas.microsoft.com/office/drawing/2014/main" val="20013"/>
                    </a:ext>
                  </a:extLst>
                </a:gridCol>
                <a:gridCol w="560000">
                  <a:extLst>
                    <a:ext uri="{9D8B030D-6E8A-4147-A177-3AD203B41FA5}">
                      <a16:colId xmlns:a16="http://schemas.microsoft.com/office/drawing/2014/main" val="20014"/>
                    </a:ext>
                  </a:extLst>
                </a:gridCol>
                <a:gridCol w="2884300">
                  <a:extLst>
                    <a:ext uri="{9D8B030D-6E8A-4147-A177-3AD203B41FA5}">
                      <a16:colId xmlns:a16="http://schemas.microsoft.com/office/drawing/2014/main" val="20015"/>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Incardia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Otros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8C1D8"/>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8C1D8"/>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8C1D8"/>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FRESIA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85,4%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85,4%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19,6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HOSPITAL DE FRUTILLAR</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Ruta técnica trimestral.</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Programa de inspección preventiva.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ALERCE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28,4%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28,4%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utilizando base Puerto Montt.</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FUTALEUFU</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83,6%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83,6%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programada en rondas regionales.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JUNAEB MODULO FRUTILLAR</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127,9%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52,5%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capacitación usuarios.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ANTONIO VARAS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100,5%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100,5%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Integración en rutas técnicas programadas.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CHUYACA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programada desde Osorno.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REDSALUD PUERTO MONTT</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62,8%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Recuperación de activos sin cobertura.</a:t>
                      </a:r>
                      <a:br>
                        <a:rPr lang="es-CL" sz="800" b="0" i="0" u="none" strike="noStrike">
                          <a:solidFill>
                            <a:schemeClr val="accent2"/>
                          </a:solidFill>
                          <a:effectLst/>
                          <a:latin typeface="Calibri" panose="020F0502020204030204" pitchFamily="34" charset="0"/>
                        </a:rPr>
                      </a:br>
                      <a:r>
                        <a:rPr lang="es-CL" sz="800" b="0" i="0" u="none" strike="noStrike">
                          <a:solidFill>
                            <a:schemeClr val="accent2"/>
                          </a:solidFill>
                          <a:effectLst/>
                          <a:latin typeface="Calibri" panose="020F0502020204030204" pitchFamily="34" charset="0"/>
                        </a:rPr>
                        <a:t>Contrato preventivo programado.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POLICLINICO NAVAL DE PUERTO MONTT</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POSTA CHAUCHIL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104,2%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93,8%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regional.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59,1%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80,3%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91,8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45,9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sp>
        <p:nvSpPr>
          <p:cNvPr id="546" name="Google Shape;546;p45"/>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47" name="Google Shape;547;p45"/>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48" name="Google Shape;548;p45"/>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O’Higgins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3" name="Tabla 2">
            <a:extLst>
              <a:ext uri="{FF2B5EF4-FFF2-40B4-BE49-F238E27FC236}">
                <a16:creationId xmlns:a16="http://schemas.microsoft.com/office/drawing/2014/main" id="{7F711AEB-9048-C99A-BE11-216CCFEEEFCD}"/>
              </a:ext>
            </a:extLst>
          </p:cNvPr>
          <p:cNvGraphicFramePr>
            <a:graphicFrameLocks noGrp="1"/>
          </p:cNvGraphicFramePr>
          <p:nvPr/>
        </p:nvGraphicFramePr>
        <p:xfrm>
          <a:off x="323850" y="1250000"/>
          <a:ext cx="11544300" cy="2608749"/>
        </p:xfrm>
        <a:graphic>
          <a:graphicData uri="http://schemas.openxmlformats.org/drawingml/2006/table">
            <a:tbl>
              <a:tblPr/>
              <a:tblGrid>
                <a:gridCol w="2344300">
                  <a:extLst>
                    <a:ext uri="{9D8B030D-6E8A-4147-A177-3AD203B41FA5}">
                      <a16:colId xmlns:a16="http://schemas.microsoft.com/office/drawing/2014/main" val="20000"/>
                    </a:ext>
                  </a:extLst>
                </a:gridCol>
                <a:gridCol w="480000">
                  <a:extLst>
                    <a:ext uri="{9D8B030D-6E8A-4147-A177-3AD203B41FA5}">
                      <a16:colId xmlns:a16="http://schemas.microsoft.com/office/drawing/2014/main" val="20001"/>
                    </a:ext>
                  </a:extLst>
                </a:gridCol>
                <a:gridCol w="480000">
                  <a:extLst>
                    <a:ext uri="{9D8B030D-6E8A-4147-A177-3AD203B41FA5}">
                      <a16:colId xmlns:a16="http://schemas.microsoft.com/office/drawing/2014/main" val="20002"/>
                    </a:ext>
                  </a:extLst>
                </a:gridCol>
                <a:gridCol w="480000">
                  <a:extLst>
                    <a:ext uri="{9D8B030D-6E8A-4147-A177-3AD203B41FA5}">
                      <a16:colId xmlns:a16="http://schemas.microsoft.com/office/drawing/2014/main" val="20003"/>
                    </a:ext>
                  </a:extLst>
                </a:gridCol>
                <a:gridCol w="480000">
                  <a:extLst>
                    <a:ext uri="{9D8B030D-6E8A-4147-A177-3AD203B41FA5}">
                      <a16:colId xmlns:a16="http://schemas.microsoft.com/office/drawing/2014/main" val="20004"/>
                    </a:ext>
                  </a:extLst>
                </a:gridCol>
                <a:gridCol w="480000">
                  <a:extLst>
                    <a:ext uri="{9D8B030D-6E8A-4147-A177-3AD203B41FA5}">
                      <a16:colId xmlns:a16="http://schemas.microsoft.com/office/drawing/2014/main" val="20005"/>
                    </a:ext>
                  </a:extLst>
                </a:gridCol>
                <a:gridCol w="480000">
                  <a:extLst>
                    <a:ext uri="{9D8B030D-6E8A-4147-A177-3AD203B41FA5}">
                      <a16:colId xmlns:a16="http://schemas.microsoft.com/office/drawing/2014/main" val="20006"/>
                    </a:ext>
                  </a:extLst>
                </a:gridCol>
                <a:gridCol w="480000">
                  <a:extLst>
                    <a:ext uri="{9D8B030D-6E8A-4147-A177-3AD203B41FA5}">
                      <a16:colId xmlns:a16="http://schemas.microsoft.com/office/drawing/2014/main" val="20007"/>
                    </a:ext>
                  </a:extLst>
                </a:gridCol>
                <a:gridCol w="480000">
                  <a:extLst>
                    <a:ext uri="{9D8B030D-6E8A-4147-A177-3AD203B41FA5}">
                      <a16:colId xmlns:a16="http://schemas.microsoft.com/office/drawing/2014/main" val="20008"/>
                    </a:ext>
                  </a:extLst>
                </a:gridCol>
                <a:gridCol w="520000">
                  <a:extLst>
                    <a:ext uri="{9D8B030D-6E8A-4147-A177-3AD203B41FA5}">
                      <a16:colId xmlns:a16="http://schemas.microsoft.com/office/drawing/2014/main" val="20009"/>
                    </a:ext>
                  </a:extLst>
                </a:gridCol>
                <a:gridCol w="520000">
                  <a:extLst>
                    <a:ext uri="{9D8B030D-6E8A-4147-A177-3AD203B41FA5}">
                      <a16:colId xmlns:a16="http://schemas.microsoft.com/office/drawing/2014/main" val="20010"/>
                    </a:ext>
                  </a:extLst>
                </a:gridCol>
                <a:gridCol w="760000">
                  <a:extLst>
                    <a:ext uri="{9D8B030D-6E8A-4147-A177-3AD203B41FA5}">
                      <a16:colId xmlns:a16="http://schemas.microsoft.com/office/drawing/2014/main" val="20011"/>
                    </a:ext>
                  </a:extLst>
                </a:gridCol>
                <a:gridCol w="560000">
                  <a:extLst>
                    <a:ext uri="{9D8B030D-6E8A-4147-A177-3AD203B41FA5}">
                      <a16:colId xmlns:a16="http://schemas.microsoft.com/office/drawing/2014/main" val="20012"/>
                    </a:ext>
                  </a:extLst>
                </a:gridCol>
                <a:gridCol w="3000000">
                  <a:extLst>
                    <a:ext uri="{9D8B030D-6E8A-4147-A177-3AD203B41FA5}">
                      <a16:colId xmlns:a16="http://schemas.microsoft.com/office/drawing/2014/main" val="20013"/>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Mobiliario Clínico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N° 2 RANCAGUA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propuesta institucional.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RENGO ORIENTE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95,8%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80,4%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REDSALUD RANCAGUA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65,2%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65,2%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Contrato institucional preventivo.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SERVICIO SALUD O'HIGGINS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124,2%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124,2%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regional.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NAVIDAD</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109,4%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65,8%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98,5%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SAN VICENTE TAGUA TAGUA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programada.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RENGO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REGIONAL DE RANCAGUA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45,8%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39,1%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de soporte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RENGO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65,6%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89,6%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73,6%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regional preventiva.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N°1 RANCAGUA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136,4%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76,8%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73,2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4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55" name="Google Shape;555;p46"/>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56" name="Google Shape;556;p46"/>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Coquimbo</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2" name="Tabla 1">
            <a:extLst>
              <a:ext uri="{FF2B5EF4-FFF2-40B4-BE49-F238E27FC236}">
                <a16:creationId xmlns:a16="http://schemas.microsoft.com/office/drawing/2014/main" id="{8FE44CF1-AB4F-9774-28C2-E530BB12DB16}"/>
              </a:ext>
            </a:extLst>
          </p:cNvPr>
          <p:cNvGraphicFramePr>
            <a:graphicFrameLocks noGrp="1"/>
          </p:cNvGraphicFramePr>
          <p:nvPr/>
        </p:nvGraphicFramePr>
        <p:xfrm>
          <a:off x="323850" y="1250000"/>
          <a:ext cx="11544300" cy="2608749"/>
        </p:xfrm>
        <a:graphic>
          <a:graphicData uri="http://schemas.openxmlformats.org/drawingml/2006/table">
            <a:tbl>
              <a:tblPr/>
              <a:tblGrid>
                <a:gridCol w="1900000">
                  <a:extLst>
                    <a:ext uri="{9D8B030D-6E8A-4147-A177-3AD203B41FA5}">
                      <a16:colId xmlns:a16="http://schemas.microsoft.com/office/drawing/2014/main" val="20000"/>
                    </a:ext>
                  </a:extLst>
                </a:gridCol>
                <a:gridCol w="440000">
                  <a:extLst>
                    <a:ext uri="{9D8B030D-6E8A-4147-A177-3AD203B41FA5}">
                      <a16:colId xmlns:a16="http://schemas.microsoft.com/office/drawing/2014/main" val="20001"/>
                    </a:ext>
                  </a:extLst>
                </a:gridCol>
                <a:gridCol w="440000">
                  <a:extLst>
                    <a:ext uri="{9D8B030D-6E8A-4147-A177-3AD203B41FA5}">
                      <a16:colId xmlns:a16="http://schemas.microsoft.com/office/drawing/2014/main" val="20002"/>
                    </a:ext>
                  </a:extLst>
                </a:gridCol>
                <a:gridCol w="440000">
                  <a:extLst>
                    <a:ext uri="{9D8B030D-6E8A-4147-A177-3AD203B41FA5}">
                      <a16:colId xmlns:a16="http://schemas.microsoft.com/office/drawing/2014/main" val="20003"/>
                    </a:ext>
                  </a:extLst>
                </a:gridCol>
                <a:gridCol w="440000">
                  <a:extLst>
                    <a:ext uri="{9D8B030D-6E8A-4147-A177-3AD203B41FA5}">
                      <a16:colId xmlns:a16="http://schemas.microsoft.com/office/drawing/2014/main" val="20004"/>
                    </a:ext>
                  </a:extLst>
                </a:gridCol>
                <a:gridCol w="440000">
                  <a:extLst>
                    <a:ext uri="{9D8B030D-6E8A-4147-A177-3AD203B41FA5}">
                      <a16:colId xmlns:a16="http://schemas.microsoft.com/office/drawing/2014/main" val="20005"/>
                    </a:ext>
                  </a:extLst>
                </a:gridCol>
                <a:gridCol w="440000">
                  <a:extLst>
                    <a:ext uri="{9D8B030D-6E8A-4147-A177-3AD203B41FA5}">
                      <a16:colId xmlns:a16="http://schemas.microsoft.com/office/drawing/2014/main" val="20006"/>
                    </a:ext>
                  </a:extLst>
                </a:gridCol>
                <a:gridCol w="440000">
                  <a:extLst>
                    <a:ext uri="{9D8B030D-6E8A-4147-A177-3AD203B41FA5}">
                      <a16:colId xmlns:a16="http://schemas.microsoft.com/office/drawing/2014/main" val="20007"/>
                    </a:ext>
                  </a:extLst>
                </a:gridCol>
                <a:gridCol w="440000">
                  <a:extLst>
                    <a:ext uri="{9D8B030D-6E8A-4147-A177-3AD203B41FA5}">
                      <a16:colId xmlns:a16="http://schemas.microsoft.com/office/drawing/2014/main" val="20008"/>
                    </a:ext>
                  </a:extLst>
                </a:gridCol>
                <a:gridCol w="440000">
                  <a:extLst>
                    <a:ext uri="{9D8B030D-6E8A-4147-A177-3AD203B41FA5}">
                      <a16:colId xmlns:a16="http://schemas.microsoft.com/office/drawing/2014/main" val="20009"/>
                    </a:ext>
                  </a:extLst>
                </a:gridCol>
                <a:gridCol w="440000">
                  <a:extLst>
                    <a:ext uri="{9D8B030D-6E8A-4147-A177-3AD203B41FA5}">
                      <a16:colId xmlns:a16="http://schemas.microsoft.com/office/drawing/2014/main" val="20010"/>
                    </a:ext>
                  </a:extLst>
                </a:gridCol>
                <a:gridCol w="520000">
                  <a:extLst>
                    <a:ext uri="{9D8B030D-6E8A-4147-A177-3AD203B41FA5}">
                      <a16:colId xmlns:a16="http://schemas.microsoft.com/office/drawing/2014/main" val="20011"/>
                    </a:ext>
                  </a:extLst>
                </a:gridCol>
                <a:gridCol w="520000">
                  <a:extLst>
                    <a:ext uri="{9D8B030D-6E8A-4147-A177-3AD203B41FA5}">
                      <a16:colId xmlns:a16="http://schemas.microsoft.com/office/drawing/2014/main" val="20012"/>
                    </a:ext>
                  </a:extLst>
                </a:gridCol>
                <a:gridCol w="760000">
                  <a:extLst>
                    <a:ext uri="{9D8B030D-6E8A-4147-A177-3AD203B41FA5}">
                      <a16:colId xmlns:a16="http://schemas.microsoft.com/office/drawing/2014/main" val="20013"/>
                    </a:ext>
                  </a:extLst>
                </a:gridCol>
                <a:gridCol w="560000">
                  <a:extLst>
                    <a:ext uri="{9D8B030D-6E8A-4147-A177-3AD203B41FA5}">
                      <a16:colId xmlns:a16="http://schemas.microsoft.com/office/drawing/2014/main" val="20014"/>
                    </a:ext>
                  </a:extLst>
                </a:gridCol>
                <a:gridCol w="2884300">
                  <a:extLst>
                    <a:ext uri="{9D8B030D-6E8A-4147-A177-3AD203B41FA5}">
                      <a16:colId xmlns:a16="http://schemas.microsoft.com/office/drawing/2014/main" val="20015"/>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Incardia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MMQ / REAS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LA SERENA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149,0%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123,6%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127,3%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19,0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Desarrollo de cuenta estratégica y propuesta institucional.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EL SAUCE COQUIMBO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OVALLE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113,0%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71,9%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104,8%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completa de base instalada.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SALAMANCA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institucional.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URBANO DE ILLAPEL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280,6%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280,6%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SAN JUAN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regionales.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I. MUNICIPALIDAD DE OVALLE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69,8%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69,8%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VENTA ENDOSCOPIA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35,1%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35,1%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comercial y generación de contratos.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JORGE JORDAN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126,0%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126,0%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MARCOS MACUADA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126,0%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126,0%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128,1%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100,8%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71,9%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35,1%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110,5%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78,1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39,0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562" name="Google Shape;562;p47"/>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63" name="Google Shape;563;p47"/>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64" name="Google Shape;564;p47"/>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Antofagasta</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4" name="Tabla 3">
            <a:extLst>
              <a:ext uri="{FF2B5EF4-FFF2-40B4-BE49-F238E27FC236}">
                <a16:creationId xmlns:a16="http://schemas.microsoft.com/office/drawing/2014/main" id="{298ED0F2-620E-A309-BE64-F501D7B6D29D}"/>
              </a:ext>
            </a:extLst>
          </p:cNvPr>
          <p:cNvGraphicFramePr>
            <a:graphicFrameLocks noGrp="1"/>
          </p:cNvGraphicFramePr>
          <p:nvPr/>
        </p:nvGraphicFramePr>
        <p:xfrm>
          <a:off x="323850" y="1250000"/>
          <a:ext cx="11544300" cy="2833749"/>
        </p:xfrm>
        <a:graphic>
          <a:graphicData uri="http://schemas.openxmlformats.org/drawingml/2006/table">
            <a:tbl>
              <a:tblPr/>
              <a:tblGrid>
                <a:gridCol w="1900000">
                  <a:extLst>
                    <a:ext uri="{9D8B030D-6E8A-4147-A177-3AD203B41FA5}">
                      <a16:colId xmlns:a16="http://schemas.microsoft.com/office/drawing/2014/main" val="20000"/>
                    </a:ext>
                  </a:extLst>
                </a:gridCol>
                <a:gridCol w="440000">
                  <a:extLst>
                    <a:ext uri="{9D8B030D-6E8A-4147-A177-3AD203B41FA5}">
                      <a16:colId xmlns:a16="http://schemas.microsoft.com/office/drawing/2014/main" val="20001"/>
                    </a:ext>
                  </a:extLst>
                </a:gridCol>
                <a:gridCol w="440000">
                  <a:extLst>
                    <a:ext uri="{9D8B030D-6E8A-4147-A177-3AD203B41FA5}">
                      <a16:colId xmlns:a16="http://schemas.microsoft.com/office/drawing/2014/main" val="20002"/>
                    </a:ext>
                  </a:extLst>
                </a:gridCol>
                <a:gridCol w="440000">
                  <a:extLst>
                    <a:ext uri="{9D8B030D-6E8A-4147-A177-3AD203B41FA5}">
                      <a16:colId xmlns:a16="http://schemas.microsoft.com/office/drawing/2014/main" val="20003"/>
                    </a:ext>
                  </a:extLst>
                </a:gridCol>
                <a:gridCol w="440000">
                  <a:extLst>
                    <a:ext uri="{9D8B030D-6E8A-4147-A177-3AD203B41FA5}">
                      <a16:colId xmlns:a16="http://schemas.microsoft.com/office/drawing/2014/main" val="20004"/>
                    </a:ext>
                  </a:extLst>
                </a:gridCol>
                <a:gridCol w="440000">
                  <a:extLst>
                    <a:ext uri="{9D8B030D-6E8A-4147-A177-3AD203B41FA5}">
                      <a16:colId xmlns:a16="http://schemas.microsoft.com/office/drawing/2014/main" val="20005"/>
                    </a:ext>
                  </a:extLst>
                </a:gridCol>
                <a:gridCol w="440000">
                  <a:extLst>
                    <a:ext uri="{9D8B030D-6E8A-4147-A177-3AD203B41FA5}">
                      <a16:colId xmlns:a16="http://schemas.microsoft.com/office/drawing/2014/main" val="20006"/>
                    </a:ext>
                  </a:extLst>
                </a:gridCol>
                <a:gridCol w="440000">
                  <a:extLst>
                    <a:ext uri="{9D8B030D-6E8A-4147-A177-3AD203B41FA5}">
                      <a16:colId xmlns:a16="http://schemas.microsoft.com/office/drawing/2014/main" val="20007"/>
                    </a:ext>
                  </a:extLst>
                </a:gridCol>
                <a:gridCol w="440000">
                  <a:extLst>
                    <a:ext uri="{9D8B030D-6E8A-4147-A177-3AD203B41FA5}">
                      <a16:colId xmlns:a16="http://schemas.microsoft.com/office/drawing/2014/main" val="20008"/>
                    </a:ext>
                  </a:extLst>
                </a:gridCol>
                <a:gridCol w="440000">
                  <a:extLst>
                    <a:ext uri="{9D8B030D-6E8A-4147-A177-3AD203B41FA5}">
                      <a16:colId xmlns:a16="http://schemas.microsoft.com/office/drawing/2014/main" val="20009"/>
                    </a:ext>
                  </a:extLst>
                </a:gridCol>
                <a:gridCol w="440000">
                  <a:extLst>
                    <a:ext uri="{9D8B030D-6E8A-4147-A177-3AD203B41FA5}">
                      <a16:colId xmlns:a16="http://schemas.microsoft.com/office/drawing/2014/main" val="20010"/>
                    </a:ext>
                  </a:extLst>
                </a:gridCol>
                <a:gridCol w="520000">
                  <a:extLst>
                    <a:ext uri="{9D8B030D-6E8A-4147-A177-3AD203B41FA5}">
                      <a16:colId xmlns:a16="http://schemas.microsoft.com/office/drawing/2014/main" val="20011"/>
                    </a:ext>
                  </a:extLst>
                </a:gridCol>
                <a:gridCol w="520000">
                  <a:extLst>
                    <a:ext uri="{9D8B030D-6E8A-4147-A177-3AD203B41FA5}">
                      <a16:colId xmlns:a16="http://schemas.microsoft.com/office/drawing/2014/main" val="20012"/>
                    </a:ext>
                  </a:extLst>
                </a:gridCol>
                <a:gridCol w="760000">
                  <a:extLst>
                    <a:ext uri="{9D8B030D-6E8A-4147-A177-3AD203B41FA5}">
                      <a16:colId xmlns:a16="http://schemas.microsoft.com/office/drawing/2014/main" val="20013"/>
                    </a:ext>
                  </a:extLst>
                </a:gridCol>
                <a:gridCol w="560000">
                  <a:extLst>
                    <a:ext uri="{9D8B030D-6E8A-4147-A177-3AD203B41FA5}">
                      <a16:colId xmlns:a16="http://schemas.microsoft.com/office/drawing/2014/main" val="20014"/>
                    </a:ext>
                  </a:extLst>
                </a:gridCol>
                <a:gridCol w="2884300">
                  <a:extLst>
                    <a:ext uri="{9D8B030D-6E8A-4147-A177-3AD203B41FA5}">
                      <a16:colId xmlns:a16="http://schemas.microsoft.com/office/drawing/2014/main" val="20015"/>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Incardia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Otros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8C1D8"/>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8C1D8"/>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8C1D8"/>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HOSPITAL REGIONAL DE ANTOFAGASTA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114,6%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58,3%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105,2%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24,4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Cuenta estratégica regional y propuesta integral de mantenimiento.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DIAGNORAD ANTOFAGASTA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y disponibilidad operacional.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CARLOS CISTERNA DE CALAMA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173,8%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84,6%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cobertura institucional.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CLINICA REGIONAL LA PORTADA DE ANTOFAGASTA S.A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37,5%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37,5%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preventiva.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HANS LENHERT SAN TORO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CENTRO OFTALMOLOGICO LASER CEOLA ANTOFAGASTA S.A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soporte especializado.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E.CL S.A.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seguimiento comercial.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MEJILLONES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regional.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SOCIEDAD VERDEJO Y VERDEJO LIMITADA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básico de mantenimiento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POSTA RURAL CALETA PAPOSO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79,7%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79,7%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programada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139,4%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90,7%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58,3%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102,6%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69"/>
        <p:cNvGrpSpPr/>
        <p:nvPr/>
      </p:nvGrpSpPr>
      <p:grpSpPr>
        <a:xfrm>
          <a:off x="0" y="0"/>
          <a:ext cx="0" cy="0"/>
          <a:chOff x="0" y="0"/>
          <a:chExt cx="0" cy="0"/>
        </a:xfrm>
      </p:grpSpPr>
      <p:sp>
        <p:nvSpPr>
          <p:cNvPr id="570" name="Google Shape;570;p48"/>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71" name="Google Shape;571;p48"/>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72" name="Google Shape;572;p48"/>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Ñuble</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4" name="Tabla 3">
            <a:extLst>
              <a:ext uri="{FF2B5EF4-FFF2-40B4-BE49-F238E27FC236}">
                <a16:creationId xmlns:a16="http://schemas.microsoft.com/office/drawing/2014/main" id="{03C4ED3A-0984-9E66-0985-699052E54AB7}"/>
              </a:ext>
            </a:extLst>
          </p:cNvPr>
          <p:cNvGraphicFramePr>
            <a:graphicFrameLocks noGrp="1"/>
          </p:cNvGraphicFramePr>
          <p:nvPr/>
        </p:nvGraphicFramePr>
        <p:xfrm>
          <a:off x="323850" y="1250000"/>
          <a:ext cx="11180000" cy="2908749"/>
        </p:xfrm>
        <a:graphic>
          <a:graphicData uri="http://schemas.openxmlformats.org/drawingml/2006/table">
            <a:tbl>
              <a:tblPr/>
              <a:tblGrid>
                <a:gridCol w="2400000">
                  <a:extLst>
                    <a:ext uri="{9D8B030D-6E8A-4147-A177-3AD203B41FA5}">
                      <a16:colId xmlns:a16="http://schemas.microsoft.com/office/drawing/2014/main" val="20000"/>
                    </a:ext>
                  </a:extLst>
                </a:gridCol>
                <a:gridCol w="520000">
                  <a:extLst>
                    <a:ext uri="{9D8B030D-6E8A-4147-A177-3AD203B41FA5}">
                      <a16:colId xmlns:a16="http://schemas.microsoft.com/office/drawing/2014/main" val="20001"/>
                    </a:ext>
                  </a:extLst>
                </a:gridCol>
                <a:gridCol w="520000">
                  <a:extLst>
                    <a:ext uri="{9D8B030D-6E8A-4147-A177-3AD203B41FA5}">
                      <a16:colId xmlns:a16="http://schemas.microsoft.com/office/drawing/2014/main" val="20002"/>
                    </a:ext>
                  </a:extLst>
                </a:gridCol>
                <a:gridCol w="520000">
                  <a:extLst>
                    <a:ext uri="{9D8B030D-6E8A-4147-A177-3AD203B41FA5}">
                      <a16:colId xmlns:a16="http://schemas.microsoft.com/office/drawing/2014/main" val="20003"/>
                    </a:ext>
                  </a:extLst>
                </a:gridCol>
                <a:gridCol w="520000">
                  <a:extLst>
                    <a:ext uri="{9D8B030D-6E8A-4147-A177-3AD203B41FA5}">
                      <a16:colId xmlns:a16="http://schemas.microsoft.com/office/drawing/2014/main" val="20004"/>
                    </a:ext>
                  </a:extLst>
                </a:gridCol>
                <a:gridCol w="520000">
                  <a:extLst>
                    <a:ext uri="{9D8B030D-6E8A-4147-A177-3AD203B41FA5}">
                      <a16:colId xmlns:a16="http://schemas.microsoft.com/office/drawing/2014/main" val="20005"/>
                    </a:ext>
                  </a:extLst>
                </a:gridCol>
                <a:gridCol w="520000">
                  <a:extLst>
                    <a:ext uri="{9D8B030D-6E8A-4147-A177-3AD203B41FA5}">
                      <a16:colId xmlns:a16="http://schemas.microsoft.com/office/drawing/2014/main" val="20006"/>
                    </a:ext>
                  </a:extLst>
                </a:gridCol>
                <a:gridCol w="520000">
                  <a:extLst>
                    <a:ext uri="{9D8B030D-6E8A-4147-A177-3AD203B41FA5}">
                      <a16:colId xmlns:a16="http://schemas.microsoft.com/office/drawing/2014/main" val="20007"/>
                    </a:ext>
                  </a:extLst>
                </a:gridCol>
                <a:gridCol w="520000">
                  <a:extLst>
                    <a:ext uri="{9D8B030D-6E8A-4147-A177-3AD203B41FA5}">
                      <a16:colId xmlns:a16="http://schemas.microsoft.com/office/drawing/2014/main" val="20008"/>
                    </a:ext>
                  </a:extLst>
                </a:gridCol>
                <a:gridCol w="760000">
                  <a:extLst>
                    <a:ext uri="{9D8B030D-6E8A-4147-A177-3AD203B41FA5}">
                      <a16:colId xmlns:a16="http://schemas.microsoft.com/office/drawing/2014/main" val="20009"/>
                    </a:ext>
                  </a:extLst>
                </a:gridCol>
                <a:gridCol w="560000">
                  <a:extLst>
                    <a:ext uri="{9D8B030D-6E8A-4147-A177-3AD203B41FA5}">
                      <a16:colId xmlns:a16="http://schemas.microsoft.com/office/drawing/2014/main" val="20010"/>
                    </a:ext>
                  </a:extLst>
                </a:gridCol>
                <a:gridCol w="3300000">
                  <a:extLst>
                    <a:ext uri="{9D8B030D-6E8A-4147-A177-3AD203B41FA5}">
                      <a16:colId xmlns:a16="http://schemas.microsoft.com/office/drawing/2014/main" val="20011"/>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Incardia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CLINICA ANDES SALUD CHILLAN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36,2%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36,2%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de base instalada, propuesta de mantenimiento preventivo anual y presentación de indicadores de continuidad operacional.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DR. CLAUDIO ARROYO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72,6%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72,6%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HOSPITAL CLINICO HERMINDA MARTIN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43,8%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110,8%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institucional, identificación de equipos sin cobertura y propuesta de contrato preventivo.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CESFAM COBQUECURA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Incorporación a rutas preventivas regionales y programa anual de mantención.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SAN NICOLAS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seguimiento de necesidades de renovación.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PORTEZUELO ÑUBLE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mediante visitas programadas.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CESFAM ULTRAESTACION CHILLAN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43,8%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43,8%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Integración a rutas técnicas regionales y programa de inspección preventiva.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EL CARMEN DE CHILLAN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40,8%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112,5%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de base instalada y propuesta de cobertura institucional.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BACHELET CHILLAN VIEJO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CHILLAN VIEJO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49,6%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49,7%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112,5%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4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79" name="Google Shape;579;p49"/>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80" name="Google Shape;580;p49"/>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Magallanes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2" name="Tabla 1">
            <a:extLst>
              <a:ext uri="{FF2B5EF4-FFF2-40B4-BE49-F238E27FC236}">
                <a16:creationId xmlns:a16="http://schemas.microsoft.com/office/drawing/2014/main" id="{DCD5F107-DD79-41A3-596E-35D2E9CC4B73}"/>
              </a:ext>
            </a:extLst>
          </p:cNvPr>
          <p:cNvGraphicFramePr>
            <a:graphicFrameLocks noGrp="1"/>
          </p:cNvGraphicFramePr>
          <p:nvPr/>
        </p:nvGraphicFramePr>
        <p:xfrm>
          <a:off x="323850" y="1250000"/>
          <a:ext cx="10140000" cy="2683749"/>
        </p:xfrm>
        <a:graphic>
          <a:graphicData uri="http://schemas.openxmlformats.org/drawingml/2006/table">
            <a:tbl>
              <a:tblPr/>
              <a:tblGrid>
                <a:gridCol w="2400000">
                  <a:extLst>
                    <a:ext uri="{9D8B030D-6E8A-4147-A177-3AD203B41FA5}">
                      <a16:colId xmlns:a16="http://schemas.microsoft.com/office/drawing/2014/main" val="20000"/>
                    </a:ext>
                  </a:extLst>
                </a:gridCol>
                <a:gridCol w="520000">
                  <a:extLst>
                    <a:ext uri="{9D8B030D-6E8A-4147-A177-3AD203B41FA5}">
                      <a16:colId xmlns:a16="http://schemas.microsoft.com/office/drawing/2014/main" val="20001"/>
                    </a:ext>
                  </a:extLst>
                </a:gridCol>
                <a:gridCol w="520000">
                  <a:extLst>
                    <a:ext uri="{9D8B030D-6E8A-4147-A177-3AD203B41FA5}">
                      <a16:colId xmlns:a16="http://schemas.microsoft.com/office/drawing/2014/main" val="20002"/>
                    </a:ext>
                  </a:extLst>
                </a:gridCol>
                <a:gridCol w="520000">
                  <a:extLst>
                    <a:ext uri="{9D8B030D-6E8A-4147-A177-3AD203B41FA5}">
                      <a16:colId xmlns:a16="http://schemas.microsoft.com/office/drawing/2014/main" val="20003"/>
                    </a:ext>
                  </a:extLst>
                </a:gridCol>
                <a:gridCol w="520000">
                  <a:extLst>
                    <a:ext uri="{9D8B030D-6E8A-4147-A177-3AD203B41FA5}">
                      <a16:colId xmlns:a16="http://schemas.microsoft.com/office/drawing/2014/main" val="20004"/>
                    </a:ext>
                  </a:extLst>
                </a:gridCol>
                <a:gridCol w="520000">
                  <a:extLst>
                    <a:ext uri="{9D8B030D-6E8A-4147-A177-3AD203B41FA5}">
                      <a16:colId xmlns:a16="http://schemas.microsoft.com/office/drawing/2014/main" val="20005"/>
                    </a:ext>
                  </a:extLst>
                </a:gridCol>
                <a:gridCol w="520000">
                  <a:extLst>
                    <a:ext uri="{9D8B030D-6E8A-4147-A177-3AD203B41FA5}">
                      <a16:colId xmlns:a16="http://schemas.microsoft.com/office/drawing/2014/main" val="20006"/>
                    </a:ext>
                  </a:extLst>
                </a:gridCol>
                <a:gridCol w="760000">
                  <a:extLst>
                    <a:ext uri="{9D8B030D-6E8A-4147-A177-3AD203B41FA5}">
                      <a16:colId xmlns:a16="http://schemas.microsoft.com/office/drawing/2014/main" val="20007"/>
                    </a:ext>
                  </a:extLst>
                </a:gridCol>
                <a:gridCol w="560000">
                  <a:extLst>
                    <a:ext uri="{9D8B030D-6E8A-4147-A177-3AD203B41FA5}">
                      <a16:colId xmlns:a16="http://schemas.microsoft.com/office/drawing/2014/main" val="20008"/>
                    </a:ext>
                  </a:extLst>
                </a:gridCol>
                <a:gridCol w="3300000">
                  <a:extLst>
                    <a:ext uri="{9D8B030D-6E8A-4147-A177-3AD203B41FA5}">
                      <a16:colId xmlns:a16="http://schemas.microsoft.com/office/drawing/2014/main" val="20009"/>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CLINICO DE MAGALLANES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Contrato institucional de mantenimiento y continuidad operacional.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SOCIEDAD CMA-COSTANERA S.A.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93,8%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58,4%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técnico y propuesta preventiva.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THOMAS FENTON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soporte remoto prioritario.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SERVICIOS ODONTOLOGICOS AMAR SPA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69,8%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69,8%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seguimiento comercial.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PUERTO WILLIAMS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anual programada.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PUERTO NATALES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115,3%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115,3%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periódico y evaluación de renovación.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CENTROS MEDICO IMET</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de disponibilidad operacional y mantenimiento preventivo.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CLINICA MAGALLANES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anual de soporte.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PORVENIR</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mediante visitas programadas.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SERVICIO SALUD MAGALLANES, HOSPITAL DE PUNTA ARENA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regional para soporte técnico y renovación tecnológica futura.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119,0%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72,5%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49,4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24,6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50"/>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87" name="Google Shape;587;p50"/>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88" name="Google Shape;588;p50"/>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Tarapacá</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2" name="Tabla 1">
            <a:extLst>
              <a:ext uri="{FF2B5EF4-FFF2-40B4-BE49-F238E27FC236}">
                <a16:creationId xmlns:a16="http://schemas.microsoft.com/office/drawing/2014/main" id="{EDB6F010-B599-FF21-6265-23C2FF1B7A28}"/>
              </a:ext>
            </a:extLst>
          </p:cNvPr>
          <p:cNvGraphicFramePr>
            <a:graphicFrameLocks noGrp="1"/>
          </p:cNvGraphicFramePr>
          <p:nvPr/>
        </p:nvGraphicFramePr>
        <p:xfrm>
          <a:off x="323850" y="1250000"/>
          <a:ext cx="10140000" cy="2683749"/>
        </p:xfrm>
        <a:graphic>
          <a:graphicData uri="http://schemas.openxmlformats.org/drawingml/2006/table">
            <a:tbl>
              <a:tblPr/>
              <a:tblGrid>
                <a:gridCol w="2400000">
                  <a:extLst>
                    <a:ext uri="{9D8B030D-6E8A-4147-A177-3AD203B41FA5}">
                      <a16:colId xmlns:a16="http://schemas.microsoft.com/office/drawing/2014/main" val="20000"/>
                    </a:ext>
                  </a:extLst>
                </a:gridCol>
                <a:gridCol w="520000">
                  <a:extLst>
                    <a:ext uri="{9D8B030D-6E8A-4147-A177-3AD203B41FA5}">
                      <a16:colId xmlns:a16="http://schemas.microsoft.com/office/drawing/2014/main" val="20001"/>
                    </a:ext>
                  </a:extLst>
                </a:gridCol>
                <a:gridCol w="520000">
                  <a:extLst>
                    <a:ext uri="{9D8B030D-6E8A-4147-A177-3AD203B41FA5}">
                      <a16:colId xmlns:a16="http://schemas.microsoft.com/office/drawing/2014/main" val="20002"/>
                    </a:ext>
                  </a:extLst>
                </a:gridCol>
                <a:gridCol w="520000">
                  <a:extLst>
                    <a:ext uri="{9D8B030D-6E8A-4147-A177-3AD203B41FA5}">
                      <a16:colId xmlns:a16="http://schemas.microsoft.com/office/drawing/2014/main" val="20003"/>
                    </a:ext>
                  </a:extLst>
                </a:gridCol>
                <a:gridCol w="520000">
                  <a:extLst>
                    <a:ext uri="{9D8B030D-6E8A-4147-A177-3AD203B41FA5}">
                      <a16:colId xmlns:a16="http://schemas.microsoft.com/office/drawing/2014/main" val="20004"/>
                    </a:ext>
                  </a:extLst>
                </a:gridCol>
                <a:gridCol w="520000">
                  <a:extLst>
                    <a:ext uri="{9D8B030D-6E8A-4147-A177-3AD203B41FA5}">
                      <a16:colId xmlns:a16="http://schemas.microsoft.com/office/drawing/2014/main" val="20005"/>
                    </a:ext>
                  </a:extLst>
                </a:gridCol>
                <a:gridCol w="520000">
                  <a:extLst>
                    <a:ext uri="{9D8B030D-6E8A-4147-A177-3AD203B41FA5}">
                      <a16:colId xmlns:a16="http://schemas.microsoft.com/office/drawing/2014/main" val="20006"/>
                    </a:ext>
                  </a:extLst>
                </a:gridCol>
                <a:gridCol w="760000">
                  <a:extLst>
                    <a:ext uri="{9D8B030D-6E8A-4147-A177-3AD203B41FA5}">
                      <a16:colId xmlns:a16="http://schemas.microsoft.com/office/drawing/2014/main" val="20007"/>
                    </a:ext>
                  </a:extLst>
                </a:gridCol>
                <a:gridCol w="560000">
                  <a:extLst>
                    <a:ext uri="{9D8B030D-6E8A-4147-A177-3AD203B41FA5}">
                      <a16:colId xmlns:a16="http://schemas.microsoft.com/office/drawing/2014/main" val="20008"/>
                    </a:ext>
                  </a:extLst>
                </a:gridCol>
                <a:gridCol w="3300000">
                  <a:extLst>
                    <a:ext uri="{9D8B030D-6E8A-4147-A177-3AD203B41FA5}">
                      <a16:colId xmlns:a16="http://schemas.microsoft.com/office/drawing/2014/main" val="20009"/>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HOSPITAL DE IQUIQUE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completo de activos, propuesta institucional de mantenimiento y análisis de criticidad.</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DOCTOR ERNESTO TORRES GALDAMES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86,5%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49,1%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58,5%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institucional y evaluación de renovación tecnológica.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PICA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169,6%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169,6%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programada durante rondas zonales.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POSTA PACHICA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SERVICIO SALUD IQUIQUE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84,7%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regional y soporte para futuros proyectos.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SERVICLINICA IQUIQUE INMOBILIARIA S.A.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80,0%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80,0%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de contrato preventivo.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PEDRO PULGAR DE ALTO HOSPICIO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94,8%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94,8%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seguimiento de activos.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FACHS IQUIQUE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91,7%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91,7%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y planificación anual de servicios.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POSTA HUARA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135,4%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135,4%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programada.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DR. PEDRO PULGAR MELGAREJO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132,4%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90,2%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44,3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51"/>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595" name="Google Shape;595;p51"/>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596" name="Google Shape;596;p51"/>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Los Ríos</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2" name="Tabla 1">
            <a:extLst>
              <a:ext uri="{FF2B5EF4-FFF2-40B4-BE49-F238E27FC236}">
                <a16:creationId xmlns:a16="http://schemas.microsoft.com/office/drawing/2014/main" id="{A8483040-33A1-89BB-8D0E-32ADB0080E1D}"/>
              </a:ext>
            </a:extLst>
          </p:cNvPr>
          <p:cNvGraphicFramePr>
            <a:graphicFrameLocks noGrp="1"/>
          </p:cNvGraphicFramePr>
          <p:nvPr/>
        </p:nvGraphicFramePr>
        <p:xfrm>
          <a:off x="323850" y="1250000"/>
          <a:ext cx="11544300" cy="2884307"/>
        </p:xfrm>
        <a:graphic>
          <a:graphicData uri="http://schemas.openxmlformats.org/drawingml/2006/table">
            <a:tbl>
              <a:tblPr/>
              <a:tblGrid>
                <a:gridCol w="2344300">
                  <a:extLst>
                    <a:ext uri="{9D8B030D-6E8A-4147-A177-3AD203B41FA5}">
                      <a16:colId xmlns:a16="http://schemas.microsoft.com/office/drawing/2014/main" val="20000"/>
                    </a:ext>
                  </a:extLst>
                </a:gridCol>
                <a:gridCol w="480000">
                  <a:extLst>
                    <a:ext uri="{9D8B030D-6E8A-4147-A177-3AD203B41FA5}">
                      <a16:colId xmlns:a16="http://schemas.microsoft.com/office/drawing/2014/main" val="20001"/>
                    </a:ext>
                  </a:extLst>
                </a:gridCol>
                <a:gridCol w="480000">
                  <a:extLst>
                    <a:ext uri="{9D8B030D-6E8A-4147-A177-3AD203B41FA5}">
                      <a16:colId xmlns:a16="http://schemas.microsoft.com/office/drawing/2014/main" val="20002"/>
                    </a:ext>
                  </a:extLst>
                </a:gridCol>
                <a:gridCol w="480000">
                  <a:extLst>
                    <a:ext uri="{9D8B030D-6E8A-4147-A177-3AD203B41FA5}">
                      <a16:colId xmlns:a16="http://schemas.microsoft.com/office/drawing/2014/main" val="20003"/>
                    </a:ext>
                  </a:extLst>
                </a:gridCol>
                <a:gridCol w="480000">
                  <a:extLst>
                    <a:ext uri="{9D8B030D-6E8A-4147-A177-3AD203B41FA5}">
                      <a16:colId xmlns:a16="http://schemas.microsoft.com/office/drawing/2014/main" val="20004"/>
                    </a:ext>
                  </a:extLst>
                </a:gridCol>
                <a:gridCol w="480000">
                  <a:extLst>
                    <a:ext uri="{9D8B030D-6E8A-4147-A177-3AD203B41FA5}">
                      <a16:colId xmlns:a16="http://schemas.microsoft.com/office/drawing/2014/main" val="20005"/>
                    </a:ext>
                  </a:extLst>
                </a:gridCol>
                <a:gridCol w="480000">
                  <a:extLst>
                    <a:ext uri="{9D8B030D-6E8A-4147-A177-3AD203B41FA5}">
                      <a16:colId xmlns:a16="http://schemas.microsoft.com/office/drawing/2014/main" val="20006"/>
                    </a:ext>
                  </a:extLst>
                </a:gridCol>
                <a:gridCol w="480000">
                  <a:extLst>
                    <a:ext uri="{9D8B030D-6E8A-4147-A177-3AD203B41FA5}">
                      <a16:colId xmlns:a16="http://schemas.microsoft.com/office/drawing/2014/main" val="20007"/>
                    </a:ext>
                  </a:extLst>
                </a:gridCol>
                <a:gridCol w="480000">
                  <a:extLst>
                    <a:ext uri="{9D8B030D-6E8A-4147-A177-3AD203B41FA5}">
                      <a16:colId xmlns:a16="http://schemas.microsoft.com/office/drawing/2014/main" val="20008"/>
                    </a:ext>
                  </a:extLst>
                </a:gridCol>
                <a:gridCol w="520000">
                  <a:extLst>
                    <a:ext uri="{9D8B030D-6E8A-4147-A177-3AD203B41FA5}">
                      <a16:colId xmlns:a16="http://schemas.microsoft.com/office/drawing/2014/main" val="20009"/>
                    </a:ext>
                  </a:extLst>
                </a:gridCol>
                <a:gridCol w="520000">
                  <a:extLst>
                    <a:ext uri="{9D8B030D-6E8A-4147-A177-3AD203B41FA5}">
                      <a16:colId xmlns:a16="http://schemas.microsoft.com/office/drawing/2014/main" val="20010"/>
                    </a:ext>
                  </a:extLst>
                </a:gridCol>
                <a:gridCol w="760000">
                  <a:extLst>
                    <a:ext uri="{9D8B030D-6E8A-4147-A177-3AD203B41FA5}">
                      <a16:colId xmlns:a16="http://schemas.microsoft.com/office/drawing/2014/main" val="20011"/>
                    </a:ext>
                  </a:extLst>
                </a:gridCol>
                <a:gridCol w="560000">
                  <a:extLst>
                    <a:ext uri="{9D8B030D-6E8A-4147-A177-3AD203B41FA5}">
                      <a16:colId xmlns:a16="http://schemas.microsoft.com/office/drawing/2014/main" val="20012"/>
                    </a:ext>
                  </a:extLst>
                </a:gridCol>
                <a:gridCol w="3000000">
                  <a:extLst>
                    <a:ext uri="{9D8B030D-6E8A-4147-A177-3AD203B41FA5}">
                      <a16:colId xmlns:a16="http://schemas.microsoft.com/office/drawing/2014/main" val="20013"/>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Mobiliario Clínico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MMQ / REAS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7B2FBE"/>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LANCO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97,9%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95,7%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técnica de activos y propuesta preventiva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I.MUNICIPALIDAD DE LA UNION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73,6%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108,8%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9,6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para soporte de equipamiento y servicios asociados.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HOSPITAL BASE DE VALDIVIA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59,4%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117,4%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Cuenta estratégica regional, propuesta integral de mantenimiento y plan de renovación tecnológica.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FUTRONO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162,5%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162,5%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Integración a rutas regionales programadas.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LA UNION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129,2%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y fortalecimiento de relación institucional.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CLINICA COSTANERA VALDIVIA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y propuesta preventiva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SOCIEDAD DE SERVICIOS MEDICOS Y ODONTOLOGICOS MERI</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 y soporte programado.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CLINICA ALEMANA DE VALDIVIA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preventiva y propuesta de cobertura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UNIVERSIDAD AUSTRAL DE VALDIVIA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38,3%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soporte para laboratorios y cobertura preventiva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PEDRO ROMERO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68,8%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68,8%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10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79,0%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46,2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25,4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52"/>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603" name="Google Shape;603;p52"/>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04" name="Google Shape;604;p52"/>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Arica y Parinacota</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2" name="Tabla 1">
            <a:extLst>
              <a:ext uri="{FF2B5EF4-FFF2-40B4-BE49-F238E27FC236}">
                <a16:creationId xmlns:a16="http://schemas.microsoft.com/office/drawing/2014/main" id="{99BA2EC5-1EBA-470A-0BCB-97A78F52A8E5}"/>
              </a:ext>
            </a:extLst>
          </p:cNvPr>
          <p:cNvGraphicFramePr>
            <a:graphicFrameLocks noGrp="1"/>
          </p:cNvGraphicFramePr>
          <p:nvPr/>
        </p:nvGraphicFramePr>
        <p:xfrm>
          <a:off x="323850" y="1250000"/>
          <a:ext cx="10140000" cy="1883749"/>
        </p:xfrm>
        <a:graphic>
          <a:graphicData uri="http://schemas.openxmlformats.org/drawingml/2006/table">
            <a:tbl>
              <a:tblPr/>
              <a:tblGrid>
                <a:gridCol w="2400000">
                  <a:extLst>
                    <a:ext uri="{9D8B030D-6E8A-4147-A177-3AD203B41FA5}">
                      <a16:colId xmlns:a16="http://schemas.microsoft.com/office/drawing/2014/main" val="20000"/>
                    </a:ext>
                  </a:extLst>
                </a:gridCol>
                <a:gridCol w="520000">
                  <a:extLst>
                    <a:ext uri="{9D8B030D-6E8A-4147-A177-3AD203B41FA5}">
                      <a16:colId xmlns:a16="http://schemas.microsoft.com/office/drawing/2014/main" val="20001"/>
                    </a:ext>
                  </a:extLst>
                </a:gridCol>
                <a:gridCol w="520000">
                  <a:extLst>
                    <a:ext uri="{9D8B030D-6E8A-4147-A177-3AD203B41FA5}">
                      <a16:colId xmlns:a16="http://schemas.microsoft.com/office/drawing/2014/main" val="20002"/>
                    </a:ext>
                  </a:extLst>
                </a:gridCol>
                <a:gridCol w="520000">
                  <a:extLst>
                    <a:ext uri="{9D8B030D-6E8A-4147-A177-3AD203B41FA5}">
                      <a16:colId xmlns:a16="http://schemas.microsoft.com/office/drawing/2014/main" val="20003"/>
                    </a:ext>
                  </a:extLst>
                </a:gridCol>
                <a:gridCol w="520000">
                  <a:extLst>
                    <a:ext uri="{9D8B030D-6E8A-4147-A177-3AD203B41FA5}">
                      <a16:colId xmlns:a16="http://schemas.microsoft.com/office/drawing/2014/main" val="20004"/>
                    </a:ext>
                  </a:extLst>
                </a:gridCol>
                <a:gridCol w="520000">
                  <a:extLst>
                    <a:ext uri="{9D8B030D-6E8A-4147-A177-3AD203B41FA5}">
                      <a16:colId xmlns:a16="http://schemas.microsoft.com/office/drawing/2014/main" val="20005"/>
                    </a:ext>
                  </a:extLst>
                </a:gridCol>
                <a:gridCol w="520000">
                  <a:extLst>
                    <a:ext uri="{9D8B030D-6E8A-4147-A177-3AD203B41FA5}">
                      <a16:colId xmlns:a16="http://schemas.microsoft.com/office/drawing/2014/main" val="20006"/>
                    </a:ext>
                  </a:extLst>
                </a:gridCol>
                <a:gridCol w="760000">
                  <a:extLst>
                    <a:ext uri="{9D8B030D-6E8A-4147-A177-3AD203B41FA5}">
                      <a16:colId xmlns:a16="http://schemas.microsoft.com/office/drawing/2014/main" val="20007"/>
                    </a:ext>
                  </a:extLst>
                </a:gridCol>
                <a:gridCol w="560000">
                  <a:extLst>
                    <a:ext uri="{9D8B030D-6E8A-4147-A177-3AD203B41FA5}">
                      <a16:colId xmlns:a16="http://schemas.microsoft.com/office/drawing/2014/main" val="20008"/>
                    </a:ext>
                  </a:extLst>
                </a:gridCol>
                <a:gridCol w="3300000">
                  <a:extLst>
                    <a:ext uri="{9D8B030D-6E8A-4147-A177-3AD203B41FA5}">
                      <a16:colId xmlns:a16="http://schemas.microsoft.com/office/drawing/2014/main" val="20009"/>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CENTRO CLINICO MILITAR ARICA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85,6%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85,6%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y programa anual de mantenimiento preventivo.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SOCIEDAD ARICA SALUD LTDA. (ARICA)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73,9%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de equipos e identificación de oportunidades de contrato.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ARICALAB SPA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básico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GENDARMERIA DE ARICA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58,3%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58,3%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Convenio institucional y planificación anual de mantenimiento.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POLICLINICO GENARMERIA DE ARICA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84,4%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84,4%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institucional de soporte técnico.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REDSALUD ARICA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Evaluación de base instalada y generación de propuesta preventiva.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6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71,9%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78,5%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18,2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10,0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53"/>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611" name="Google Shape;611;p53"/>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12" name="Google Shape;612;p53"/>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de Atacama</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2" name="Tabla 1">
            <a:extLst>
              <a:ext uri="{FF2B5EF4-FFF2-40B4-BE49-F238E27FC236}">
                <a16:creationId xmlns:a16="http://schemas.microsoft.com/office/drawing/2014/main" id="{DE170ECF-9D56-9595-8A3E-3D19E2B9E65D}"/>
              </a:ext>
            </a:extLst>
          </p:cNvPr>
          <p:cNvGraphicFramePr>
            <a:graphicFrameLocks noGrp="1"/>
          </p:cNvGraphicFramePr>
          <p:nvPr/>
        </p:nvGraphicFramePr>
        <p:xfrm>
          <a:off x="323850" y="1250000"/>
          <a:ext cx="11180000" cy="2083749"/>
        </p:xfrm>
        <a:graphic>
          <a:graphicData uri="http://schemas.openxmlformats.org/drawingml/2006/table">
            <a:tbl>
              <a:tblPr/>
              <a:tblGrid>
                <a:gridCol w="2400000">
                  <a:extLst>
                    <a:ext uri="{9D8B030D-6E8A-4147-A177-3AD203B41FA5}">
                      <a16:colId xmlns:a16="http://schemas.microsoft.com/office/drawing/2014/main" val="20000"/>
                    </a:ext>
                  </a:extLst>
                </a:gridCol>
                <a:gridCol w="520000">
                  <a:extLst>
                    <a:ext uri="{9D8B030D-6E8A-4147-A177-3AD203B41FA5}">
                      <a16:colId xmlns:a16="http://schemas.microsoft.com/office/drawing/2014/main" val="20001"/>
                    </a:ext>
                  </a:extLst>
                </a:gridCol>
                <a:gridCol w="520000">
                  <a:extLst>
                    <a:ext uri="{9D8B030D-6E8A-4147-A177-3AD203B41FA5}">
                      <a16:colId xmlns:a16="http://schemas.microsoft.com/office/drawing/2014/main" val="20002"/>
                    </a:ext>
                  </a:extLst>
                </a:gridCol>
                <a:gridCol w="520000">
                  <a:extLst>
                    <a:ext uri="{9D8B030D-6E8A-4147-A177-3AD203B41FA5}">
                      <a16:colId xmlns:a16="http://schemas.microsoft.com/office/drawing/2014/main" val="20003"/>
                    </a:ext>
                  </a:extLst>
                </a:gridCol>
                <a:gridCol w="520000">
                  <a:extLst>
                    <a:ext uri="{9D8B030D-6E8A-4147-A177-3AD203B41FA5}">
                      <a16:colId xmlns:a16="http://schemas.microsoft.com/office/drawing/2014/main" val="20004"/>
                    </a:ext>
                  </a:extLst>
                </a:gridCol>
                <a:gridCol w="520000">
                  <a:extLst>
                    <a:ext uri="{9D8B030D-6E8A-4147-A177-3AD203B41FA5}">
                      <a16:colId xmlns:a16="http://schemas.microsoft.com/office/drawing/2014/main" val="20005"/>
                    </a:ext>
                  </a:extLst>
                </a:gridCol>
                <a:gridCol w="520000">
                  <a:extLst>
                    <a:ext uri="{9D8B030D-6E8A-4147-A177-3AD203B41FA5}">
                      <a16:colId xmlns:a16="http://schemas.microsoft.com/office/drawing/2014/main" val="20006"/>
                    </a:ext>
                  </a:extLst>
                </a:gridCol>
                <a:gridCol w="520000">
                  <a:extLst>
                    <a:ext uri="{9D8B030D-6E8A-4147-A177-3AD203B41FA5}">
                      <a16:colId xmlns:a16="http://schemas.microsoft.com/office/drawing/2014/main" val="20007"/>
                    </a:ext>
                  </a:extLst>
                </a:gridCol>
                <a:gridCol w="520000">
                  <a:extLst>
                    <a:ext uri="{9D8B030D-6E8A-4147-A177-3AD203B41FA5}">
                      <a16:colId xmlns:a16="http://schemas.microsoft.com/office/drawing/2014/main" val="20008"/>
                    </a:ext>
                  </a:extLst>
                </a:gridCol>
                <a:gridCol w="760000">
                  <a:extLst>
                    <a:ext uri="{9D8B030D-6E8A-4147-A177-3AD203B41FA5}">
                      <a16:colId xmlns:a16="http://schemas.microsoft.com/office/drawing/2014/main" val="20009"/>
                    </a:ext>
                  </a:extLst>
                </a:gridCol>
                <a:gridCol w="560000">
                  <a:extLst>
                    <a:ext uri="{9D8B030D-6E8A-4147-A177-3AD203B41FA5}">
                      <a16:colId xmlns:a16="http://schemas.microsoft.com/office/drawing/2014/main" val="20010"/>
                    </a:ext>
                  </a:extLst>
                </a:gridCol>
                <a:gridCol w="3300000">
                  <a:extLst>
                    <a:ext uri="{9D8B030D-6E8A-4147-A177-3AD203B41FA5}">
                      <a16:colId xmlns:a16="http://schemas.microsoft.com/office/drawing/2014/main" val="20011"/>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MMQ / REAS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832F"/>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PEDRO LEON GALLO COPIAPO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seguimiento técnico.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CLINICA ATACAMA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66,6%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Auditoría técnica, propuesta preventiva y evaluación de renovación tecnológica.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FLORENCIO VARGAS DIAZ</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67,2%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institucional y análisis de criticidad.</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VALLENAR</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Levantamiento institucional y propuesta anual de cobertura.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I.MUNICIPALIDAD DE TIERRA AMARILLA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102,1%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VARGAS ROJAS SOC.RESP. LTDA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básico de mantenimiento preventivo.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FREIRINA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programada.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7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122,6%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95,0%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19,4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9,7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54"/>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2700" b="1" i="0" u="none" strike="noStrike" kern="0" cap="none" spc="0" normalizeH="0" baseline="0" noProof="0">
                <a:ln>
                  <a:noFill/>
                </a:ln>
                <a:solidFill>
                  <a:srgbClr val="33448D"/>
                </a:solidFill>
                <a:effectLst/>
                <a:uLnTx/>
                <a:uFillTx/>
                <a:latin typeface="Roboto"/>
                <a:ea typeface="Roboto"/>
                <a:cs typeface="Roboto"/>
                <a:sym typeface="Roboto"/>
              </a:rPr>
              <a:t>Plan de Acción Para Clientes por Región </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cxnSp>
        <p:nvCxnSpPr>
          <p:cNvPr id="619" name="Google Shape;619;p54"/>
          <p:cNvCxnSpPr/>
          <p:nvPr/>
        </p:nvCxnSpPr>
        <p:spPr>
          <a:xfrm>
            <a:off x="323850" y="1104900"/>
            <a:ext cx="5410200" cy="0"/>
          </a:xfrm>
          <a:prstGeom prst="straightConnector1">
            <a:avLst/>
          </a:prstGeom>
          <a:noFill/>
          <a:ln w="19050" cap="flat" cmpd="sng">
            <a:solidFill>
              <a:schemeClr val="accent1"/>
            </a:solidFill>
            <a:prstDash val="solid"/>
            <a:miter lim="8000"/>
            <a:headEnd type="none" w="sm" len="sm"/>
            <a:tailEnd type="none" w="sm" len="sm"/>
          </a:ln>
        </p:spPr>
      </p:cxnSp>
      <p:sp>
        <p:nvSpPr>
          <p:cNvPr id="620" name="Google Shape;620;p54"/>
          <p:cNvSpPr txBox="1"/>
          <p:nvPr/>
        </p:nvSpPr>
        <p:spPr>
          <a:xfrm>
            <a:off x="323850" y="797123"/>
            <a:ext cx="3657600" cy="30777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CL" sz="1400" b="0" i="0" u="none" strike="noStrike" kern="0" cap="none" spc="0" normalizeH="0" baseline="0" noProof="0">
                <a:ln>
                  <a:noFill/>
                </a:ln>
                <a:solidFill>
                  <a:srgbClr val="33448D"/>
                </a:solidFill>
                <a:effectLst/>
                <a:uLnTx/>
                <a:uFillTx/>
                <a:latin typeface="Roboto"/>
                <a:ea typeface="Roboto"/>
                <a:cs typeface="Roboto"/>
                <a:sym typeface="Roboto"/>
              </a:rPr>
              <a:t>Región Aysén</a:t>
            </a:r>
            <a:endParaRPr kumimoji="0" sz="1400" b="0" i="0" u="none" strike="noStrike" kern="0" cap="none" spc="0" normalizeH="0" baseline="0" noProof="0">
              <a:ln>
                <a:noFill/>
              </a:ln>
              <a:solidFill>
                <a:srgbClr val="000000"/>
              </a:solidFill>
              <a:effectLst/>
              <a:uLnTx/>
              <a:uFillTx/>
              <a:latin typeface="Arial"/>
              <a:ea typeface="+mn-ea"/>
              <a:cs typeface="Arial"/>
              <a:sym typeface="Arial"/>
            </a:endParaRPr>
          </a:p>
        </p:txBody>
      </p:sp>
      <p:graphicFrame>
        <p:nvGraphicFramePr>
          <p:cNvPr id="4" name="Tabla 3">
            <a:extLst>
              <a:ext uri="{FF2B5EF4-FFF2-40B4-BE49-F238E27FC236}">
                <a16:creationId xmlns:a16="http://schemas.microsoft.com/office/drawing/2014/main" id="{E316565C-4A78-7F68-2873-F51136F11703}"/>
              </a:ext>
            </a:extLst>
          </p:cNvPr>
          <p:cNvGraphicFramePr>
            <a:graphicFrameLocks noGrp="1"/>
          </p:cNvGraphicFramePr>
          <p:nvPr/>
        </p:nvGraphicFramePr>
        <p:xfrm>
          <a:off x="323850" y="1250000"/>
          <a:ext cx="11544300" cy="2083749"/>
        </p:xfrm>
        <a:graphic>
          <a:graphicData uri="http://schemas.openxmlformats.org/drawingml/2006/table">
            <a:tbl>
              <a:tblPr/>
              <a:tblGrid>
                <a:gridCol w="2344300">
                  <a:extLst>
                    <a:ext uri="{9D8B030D-6E8A-4147-A177-3AD203B41FA5}">
                      <a16:colId xmlns:a16="http://schemas.microsoft.com/office/drawing/2014/main" val="20000"/>
                    </a:ext>
                  </a:extLst>
                </a:gridCol>
                <a:gridCol w="480000">
                  <a:extLst>
                    <a:ext uri="{9D8B030D-6E8A-4147-A177-3AD203B41FA5}">
                      <a16:colId xmlns:a16="http://schemas.microsoft.com/office/drawing/2014/main" val="20001"/>
                    </a:ext>
                  </a:extLst>
                </a:gridCol>
                <a:gridCol w="480000">
                  <a:extLst>
                    <a:ext uri="{9D8B030D-6E8A-4147-A177-3AD203B41FA5}">
                      <a16:colId xmlns:a16="http://schemas.microsoft.com/office/drawing/2014/main" val="20002"/>
                    </a:ext>
                  </a:extLst>
                </a:gridCol>
                <a:gridCol w="480000">
                  <a:extLst>
                    <a:ext uri="{9D8B030D-6E8A-4147-A177-3AD203B41FA5}">
                      <a16:colId xmlns:a16="http://schemas.microsoft.com/office/drawing/2014/main" val="20003"/>
                    </a:ext>
                  </a:extLst>
                </a:gridCol>
                <a:gridCol w="480000">
                  <a:extLst>
                    <a:ext uri="{9D8B030D-6E8A-4147-A177-3AD203B41FA5}">
                      <a16:colId xmlns:a16="http://schemas.microsoft.com/office/drawing/2014/main" val="20004"/>
                    </a:ext>
                  </a:extLst>
                </a:gridCol>
                <a:gridCol w="480000">
                  <a:extLst>
                    <a:ext uri="{9D8B030D-6E8A-4147-A177-3AD203B41FA5}">
                      <a16:colId xmlns:a16="http://schemas.microsoft.com/office/drawing/2014/main" val="20005"/>
                    </a:ext>
                  </a:extLst>
                </a:gridCol>
                <a:gridCol w="480000">
                  <a:extLst>
                    <a:ext uri="{9D8B030D-6E8A-4147-A177-3AD203B41FA5}">
                      <a16:colId xmlns:a16="http://schemas.microsoft.com/office/drawing/2014/main" val="20006"/>
                    </a:ext>
                  </a:extLst>
                </a:gridCol>
                <a:gridCol w="480000">
                  <a:extLst>
                    <a:ext uri="{9D8B030D-6E8A-4147-A177-3AD203B41FA5}">
                      <a16:colId xmlns:a16="http://schemas.microsoft.com/office/drawing/2014/main" val="20007"/>
                    </a:ext>
                  </a:extLst>
                </a:gridCol>
                <a:gridCol w="480000">
                  <a:extLst>
                    <a:ext uri="{9D8B030D-6E8A-4147-A177-3AD203B41FA5}">
                      <a16:colId xmlns:a16="http://schemas.microsoft.com/office/drawing/2014/main" val="20008"/>
                    </a:ext>
                  </a:extLst>
                </a:gridCol>
                <a:gridCol w="520000">
                  <a:extLst>
                    <a:ext uri="{9D8B030D-6E8A-4147-A177-3AD203B41FA5}">
                      <a16:colId xmlns:a16="http://schemas.microsoft.com/office/drawing/2014/main" val="20009"/>
                    </a:ext>
                  </a:extLst>
                </a:gridCol>
                <a:gridCol w="520000">
                  <a:extLst>
                    <a:ext uri="{9D8B030D-6E8A-4147-A177-3AD203B41FA5}">
                      <a16:colId xmlns:a16="http://schemas.microsoft.com/office/drawing/2014/main" val="20010"/>
                    </a:ext>
                  </a:extLst>
                </a:gridCol>
                <a:gridCol w="760000">
                  <a:extLst>
                    <a:ext uri="{9D8B030D-6E8A-4147-A177-3AD203B41FA5}">
                      <a16:colId xmlns:a16="http://schemas.microsoft.com/office/drawing/2014/main" val="20011"/>
                    </a:ext>
                  </a:extLst>
                </a:gridCol>
                <a:gridCol w="560000">
                  <a:extLst>
                    <a:ext uri="{9D8B030D-6E8A-4147-A177-3AD203B41FA5}">
                      <a16:colId xmlns:a16="http://schemas.microsoft.com/office/drawing/2014/main" val="20012"/>
                    </a:ext>
                  </a:extLst>
                </a:gridCol>
                <a:gridCol w="3000000">
                  <a:extLst>
                    <a:ext uri="{9D8B030D-6E8A-4147-A177-3AD203B41FA5}">
                      <a16:colId xmlns:a16="http://schemas.microsoft.com/office/drawing/2014/main" val="20013"/>
                    </a:ext>
                  </a:extLst>
                </a:gridCol>
              </a:tblGrid>
              <a:tr h="180037">
                <a:tc rowSpan="2">
                  <a:txBody>
                    <a:bodyPr/>
                    <a:lstStyle/>
                    <a:p>
                      <a:pPr algn="ctr" fontAlgn="ctr">
                        <a:buNone/>
                      </a:pPr>
                      <a:r>
                        <a:rPr lang="es-CL" sz="800" b="1" i="0" u="none" strike="noStrike">
                          <a:solidFill>
                            <a:srgbClr val="FFFFFF"/>
                          </a:solidFill>
                          <a:effectLst/>
                          <a:latin typeface="Calibri" panose="020F0502020204030204" pitchFamily="34" charset="0"/>
                        </a:rPr>
                        <a:t>Cliente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gridSpan="2">
                  <a:txBody>
                    <a:bodyPr/>
                    <a:lstStyle/>
                    <a:p>
                      <a:pPr algn="ctr" fontAlgn="ctr">
                        <a:buNone/>
                      </a:pPr>
                      <a:r>
                        <a:rPr lang="es-CL" sz="800" b="1" i="0" u="none" strike="noStrike">
                          <a:solidFill>
                            <a:srgbClr val="1A1A1A"/>
                          </a:solidFill>
                          <a:effectLst/>
                          <a:latin typeface="Calibri" panose="020F0502020204030204" pitchFamily="34" charset="0"/>
                        </a:rPr>
                        <a:t>Dental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Esterilización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Incardia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hMerge="1">
                  <a:txBody>
                    <a:bodyPr/>
                    <a:lstStyle/>
                    <a:p>
                      <a:endParaRPr lang="es-CL"/>
                    </a:p>
                  </a:txBody>
                  <a:tcPr/>
                </a:tc>
                <a:tc gridSpan="2">
                  <a:txBody>
                    <a:bodyPr/>
                    <a:lstStyle/>
                    <a:p>
                      <a:pPr algn="ctr" fontAlgn="ctr">
                        <a:buNone/>
                      </a:pPr>
                      <a:r>
                        <a:rPr lang="es-CL" sz="800" b="1" i="0" u="none" strike="noStrike">
                          <a:solidFill>
                            <a:srgbClr val="1A1A1A"/>
                          </a:solidFill>
                          <a:effectLst/>
                          <a:latin typeface="Calibri" panose="020F0502020204030204" pitchFamily="34" charset="0"/>
                        </a:rPr>
                        <a:t>Endoscopía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hMerge="1">
                  <a:txBody>
                    <a:bodyPr/>
                    <a:lstStyle/>
                    <a:p>
                      <a:endParaRPr lang="es-CL"/>
                    </a:p>
                  </a:txBody>
                  <a:tcPr/>
                </a:tc>
                <a:tc gridSpan="2">
                  <a:txBody>
                    <a:bodyPr/>
                    <a:lstStyle/>
                    <a:p>
                      <a:pPr algn="ctr" fontAlgn="ctr">
                        <a:buNone/>
                      </a:pPr>
                      <a:r>
                        <a:rPr lang="es-CL" sz="800" b="1" i="0" u="none" strike="noStrike">
                          <a:solidFill>
                            <a:srgbClr val="FFFFFF"/>
                          </a:solidFill>
                          <a:effectLst/>
                          <a:latin typeface="Calibri" panose="020F0502020204030204" pitchFamily="34" charset="0"/>
                        </a:rPr>
                        <a:t>Base Instalada Total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hMerge="1">
                  <a:txBody>
                    <a:bodyPr/>
                    <a:lstStyle/>
                    <a:p>
                      <a:endParaRPr lang="es-CL"/>
                    </a:p>
                  </a:txBody>
                  <a:tcPr/>
                </a:tc>
                <a:tc rowSpan="2">
                  <a:txBody>
                    <a:bodyPr/>
                    <a:lstStyle/>
                    <a:p>
                      <a:pPr algn="ctr" fontAlgn="ctr">
                        <a:buNone/>
                      </a:pPr>
                      <a:r>
                        <a:rPr lang="es-CL" sz="800" b="1" i="0" u="none" strike="noStrike">
                          <a:solidFill>
                            <a:srgbClr val="FFFFFF"/>
                          </a:solidFill>
                          <a:effectLst/>
                          <a:latin typeface="Calibri" panose="020F0502020204030204" pitchFamily="34" charset="0"/>
                        </a:rPr>
                        <a:t>Pot. Mantenimiento MM$</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Margen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rowSpan="2">
                  <a:txBody>
                    <a:bodyPr/>
                    <a:lstStyle/>
                    <a:p>
                      <a:pPr algn="ctr" fontAlgn="ctr">
                        <a:buNone/>
                      </a:pPr>
                      <a:r>
                        <a:rPr lang="es-CL" sz="800" b="1" i="0" u="none" strike="noStrike">
                          <a:solidFill>
                            <a:srgbClr val="FFFFFF"/>
                          </a:solidFill>
                          <a:effectLst/>
                          <a:latin typeface="Calibri" panose="020F0502020204030204" pitchFamily="34" charset="0"/>
                        </a:rPr>
                        <a:t>Plan de Acción</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B26A00"/>
                    </a:solidFill>
                  </a:tcPr>
                </a:tc>
                <a:extLst>
                  <a:ext uri="{0D108BD9-81ED-4DB2-BD59-A6C34878D82A}">
                    <a16:rowId xmlns:a16="http://schemas.microsoft.com/office/drawing/2014/main" val="10000"/>
                  </a:ext>
                </a:extLst>
              </a:tr>
              <a:tr h="268712">
                <a:tc vMerge="1">
                  <a:txBody>
                    <a:bodyPr/>
                    <a:lstStyle/>
                    <a:p>
                      <a:endParaRPr lang="es-CL"/>
                    </a:p>
                  </a:txBody>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C000"/>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D46000"/>
                    </a:solidFill>
                  </a:tcPr>
                </a:tc>
                <a:tc>
                  <a:txBody>
                    <a:bodyPr/>
                    <a:lstStyle/>
                    <a:p>
                      <a:pPr algn="ctr" fontAlgn="ctr">
                        <a:buNone/>
                      </a:pPr>
                      <a:r>
                        <a:rPr lang="es-CL" sz="800" b="1" i="0" u="none" strike="noStrike">
                          <a:solidFill>
                            <a:srgbClr val="1A1A1A"/>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1A1A1A"/>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28D2C3"/>
                    </a:solidFill>
                  </a:tcPr>
                </a:tc>
                <a:tc>
                  <a:txBody>
                    <a:bodyPr/>
                    <a:lstStyle/>
                    <a:p>
                      <a:pPr algn="ctr" fontAlgn="ctr">
                        <a:buNone/>
                      </a:pPr>
                      <a:r>
                        <a:rPr lang="es-CL" sz="800" b="1" i="0" u="none" strike="noStrike">
                          <a:solidFill>
                            <a:srgbClr val="FFFFFF"/>
                          </a:solidFill>
                          <a:effectLst/>
                          <a:latin typeface="Calibri" panose="020F0502020204030204" pitchFamily="34" charset="0"/>
                        </a:rPr>
                        <a:t>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a:txBody>
                    <a:bodyPr/>
                    <a:lstStyle/>
                    <a:p>
                      <a:pPr algn="ctr" fontAlgn="ctr">
                        <a:buNone/>
                      </a:pPr>
                      <a:r>
                        <a:rPr lang="es-CL" sz="800" b="1" i="0" u="none" strike="noStrike">
                          <a:solidFill>
                            <a:srgbClr val="FFFFFF"/>
                          </a:solidFill>
                          <a:effectLst/>
                          <a:latin typeface="Calibri" panose="020F0502020204030204" pitchFamily="34" charset="0"/>
                        </a:rPr>
                        <a:t>% Vida Útil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02D73"/>
                    </a:solidFill>
                  </a:tcPr>
                </a:tc>
                <a:tc vMerge="1">
                  <a:txBody>
                    <a:bodyPr/>
                    <a:lstStyle/>
                    <a:p>
                      <a:endParaRPr lang="es-CL"/>
                    </a:p>
                  </a:txBody>
                  <a:tcPr/>
                </a:tc>
                <a:tc vMerge="1">
                  <a:txBody>
                    <a:bodyPr/>
                    <a:lstStyle/>
                    <a:p>
                      <a:endParaRPr lang="es-CL"/>
                    </a:p>
                  </a:txBody>
                  <a:tcPr/>
                </a:tc>
                <a:tc vMerge="1">
                  <a:txBody>
                    <a:bodyPr/>
                    <a:lstStyle/>
                    <a:p>
                      <a:endParaRPr lang="es-CL"/>
                    </a:p>
                  </a:txBody>
                  <a:tcPr/>
                </a:tc>
                <a:extLst>
                  <a:ext uri="{0D108BD9-81ED-4DB2-BD59-A6C34878D82A}">
                    <a16:rowId xmlns:a16="http://schemas.microsoft.com/office/drawing/2014/main" val="10001"/>
                  </a:ext>
                </a:extLst>
              </a:tr>
              <a:tr h="275000">
                <a:tc>
                  <a:txBody>
                    <a:bodyPr/>
                    <a:lstStyle/>
                    <a:p>
                      <a:pPr algn="l" fontAlgn="ctr">
                        <a:buNone/>
                      </a:pPr>
                      <a:r>
                        <a:rPr lang="es-CL" sz="800" b="0" i="0" u="none" strike="noStrike">
                          <a:solidFill>
                            <a:schemeClr val="accent2"/>
                          </a:solidFill>
                          <a:effectLst/>
                          <a:latin typeface="Calibri" panose="020F0502020204030204" pitchFamily="34" charset="0"/>
                        </a:rPr>
                        <a:t>HOSPITAL DE COYHAIQUE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69,4%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69,4%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Cuenta regional principal, propuesta institucional de mantenimiento y renovación tecnológica.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CESFAM LA JUNTA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176,7%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122,8%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5,7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programado e integración a rutas regionales.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HOSPITAL DE COCHRANE</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60,4%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60,4%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Programa preventivo anual y evaluación periódica de equipos.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MUN. DE CHILE CHICO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48,9%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2,9</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CECOSF CHACABUCO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173,3%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Mantención preventiva básica y seguimiento anual.</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POSTA BAHÍA MURTA</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77,1%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77,1%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Cobertura preventiva anual y soporte remoto prioritario.</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00000">
                <a:tc>
                  <a:txBody>
                    <a:bodyPr/>
                    <a:lstStyle/>
                    <a:p>
                      <a:pPr algn="l" fontAlgn="ctr">
                        <a:buNone/>
                      </a:pPr>
                      <a:r>
                        <a:rPr lang="es-CL" sz="800" b="0" i="0" u="none" strike="noStrike">
                          <a:solidFill>
                            <a:schemeClr val="accent2"/>
                          </a:solidFill>
                          <a:effectLst/>
                          <a:latin typeface="Calibri" panose="020F0502020204030204" pitchFamily="34" charset="0"/>
                        </a:rPr>
                        <a:t>CECOSF MAÑIHUALES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86,5%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86,5%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r" fontAlgn="ctr">
                        <a:buNone/>
                      </a:pPr>
                      <a:r>
                        <a:rPr lang="es-CL" sz="800" b="0" i="0" u="none" strike="noStrike">
                          <a:solidFill>
                            <a:schemeClr val="accent2"/>
                          </a:solidFill>
                          <a:effectLst/>
                          <a:latin typeface="Calibri" panose="020F0502020204030204" pitchFamily="34" charset="0"/>
                        </a:rPr>
                        <a:t>0,3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tc>
                  <a:txBody>
                    <a:bodyPr/>
                    <a:lstStyle/>
                    <a:p>
                      <a:pPr algn="l" fontAlgn="ctr">
                        <a:buNone/>
                      </a:pPr>
                      <a:r>
                        <a:rPr lang="es-CL" sz="800" b="0" i="0" u="none" strike="noStrike">
                          <a:solidFill>
                            <a:schemeClr val="accent2"/>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160000">
                <a:tc>
                  <a:txBody>
                    <a:bodyPr/>
                    <a:lstStyle/>
                    <a:p>
                      <a:pPr algn="l" fontAlgn="ctr">
                        <a:buNone/>
                      </a:pPr>
                      <a:r>
                        <a:rPr lang="es-CL" sz="800" b="1" i="0" u="none" strike="noStrike">
                          <a:solidFill>
                            <a:srgbClr val="FFFFFF"/>
                          </a:solidFill>
                          <a:effectLst/>
                          <a:latin typeface="Calibri" panose="020F0502020204030204" pitchFamily="34" charset="0"/>
                        </a:rPr>
                        <a:t>TOTAL · 7 clientes</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15</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118,1%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59,7%</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69,4%</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30</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83,1%</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22,3</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r" fontAlgn="ctr">
                        <a:buNone/>
                      </a:pPr>
                      <a:r>
                        <a:rPr lang="es-CL" sz="800" b="1" i="0" u="none" strike="noStrike">
                          <a:solidFill>
                            <a:srgbClr val="FFFFFF"/>
                          </a:solidFill>
                          <a:effectLst/>
                          <a:latin typeface="Calibri" panose="020F0502020204030204" pitchFamily="34" charset="0"/>
                        </a:rPr>
                        <a:t>12,2</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tc>
                  <a:txBody>
                    <a:bodyPr/>
                    <a:lstStyle/>
                    <a:p>
                      <a:pPr algn="l" fontAlgn="ctr">
                        <a:buNone/>
                      </a:pPr>
                      <a:r>
                        <a:rPr lang="es-CL" sz="800" b="1" i="0" u="none" strike="noStrike">
                          <a:solidFill>
                            <a:srgbClr val="FFFFFF"/>
                          </a:solidFill>
                          <a:effectLst/>
                          <a:latin typeface="Calibri" panose="020F0502020204030204" pitchFamily="34" charset="0"/>
                        </a:rPr>
                        <a:t> </a:t>
                      </a:r>
                    </a:p>
                  </a:txBody>
                  <a:tcPr marL="22000" marR="22000" marT="6718" marB="0" anchor="ctr">
                    <a:lnL w="6350" cap="flat" cmpd="sng" algn="ctr">
                      <a:solidFill>
                        <a:srgbClr val="D4D5E8"/>
                      </a:solidFill>
                      <a:prstDash val="solid"/>
                      <a:round/>
                      <a:headEnd type="none" w="med" len="med"/>
                      <a:tailEnd type="none" w="med" len="med"/>
                    </a:lnL>
                    <a:lnR w="6350" cap="flat" cmpd="sng" algn="ctr">
                      <a:solidFill>
                        <a:srgbClr val="D4D5E8"/>
                      </a:solidFill>
                      <a:prstDash val="solid"/>
                      <a:round/>
                      <a:headEnd type="none" w="med" len="med"/>
                      <a:tailEnd type="none" w="med" len="med"/>
                    </a:lnR>
                    <a:lnT w="6350" cap="flat" cmpd="sng" algn="ctr">
                      <a:solidFill>
                        <a:srgbClr val="D4D5E8"/>
                      </a:solidFill>
                      <a:prstDash val="solid"/>
                      <a:round/>
                      <a:headEnd type="none" w="med" len="med"/>
                      <a:tailEnd type="none" w="med" len="med"/>
                    </a:lnT>
                    <a:lnB w="6350" cap="flat" cmpd="sng" algn="ctr">
                      <a:solidFill>
                        <a:srgbClr val="D4D5E8"/>
                      </a:solidFill>
                      <a:prstDash val="solid"/>
                      <a:round/>
                      <a:headEnd type="none" w="med" len="med"/>
                      <a:tailEnd type="none" w="med" len="med"/>
                    </a:lnB>
                    <a:solidFill>
                      <a:srgbClr val="0E2D55"/>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56"/>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Estructura Operativa 2026</a:t>
            </a:r>
            <a:endParaRPr sz="2700" b="0" i="0" u="none" strike="noStrike" cap="none">
              <a:solidFill>
                <a:srgbClr val="FFFFFF"/>
              </a:solidFill>
              <a:latin typeface="Roboto"/>
              <a:ea typeface="Roboto"/>
              <a:cs typeface="Roboto"/>
              <a:sym typeface="Roboto"/>
            </a:endParaRPr>
          </a:p>
        </p:txBody>
      </p:sp>
      <p:sp>
        <p:nvSpPr>
          <p:cNvPr id="637" name="Google Shape;637;p56"/>
          <p:cNvSpPr/>
          <p:nvPr/>
        </p:nvSpPr>
        <p:spPr>
          <a:xfrm>
            <a:off x="4810504" y="810883"/>
            <a:ext cx="2716380" cy="777240"/>
          </a:xfrm>
          <a:prstGeom prst="roundRect">
            <a:avLst>
              <a:gd name="adj" fmla="val 5882"/>
            </a:avLst>
          </a:prstGeom>
          <a:solidFill>
            <a:srgbClr val="21295C"/>
          </a:solidFill>
          <a:ln w="12700" cap="flat" cmpd="sng">
            <a:solidFill>
              <a:srgbClr val="21295C"/>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38" name="Google Shape;638;p56"/>
          <p:cNvSpPr/>
          <p:nvPr/>
        </p:nvSpPr>
        <p:spPr>
          <a:xfrm>
            <a:off x="4212184" y="789615"/>
            <a:ext cx="3931920" cy="77724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C9D3F0"/>
              </a:buClr>
              <a:buSzPts val="1050"/>
              <a:buFont typeface="Calibri"/>
              <a:buNone/>
            </a:pPr>
            <a:r>
              <a:rPr lang="es-CL" sz="1050" b="1">
                <a:solidFill>
                  <a:srgbClr val="C9D3F0"/>
                </a:solidFill>
                <a:latin typeface="Calibri"/>
                <a:ea typeface="Calibri"/>
                <a:cs typeface="Calibri"/>
                <a:sym typeface="Calibri"/>
              </a:rPr>
              <a:t>LIDERAZGO EJECUTIVO</a:t>
            </a:r>
            <a:endParaRPr sz="10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50"/>
              <a:buFont typeface="Calibri"/>
              <a:buNone/>
            </a:pPr>
            <a:r>
              <a:rPr lang="es-CL" sz="1150" b="1">
                <a:solidFill>
                  <a:srgbClr val="FFFFFF"/>
                </a:solidFill>
                <a:latin typeface="Calibri"/>
                <a:ea typeface="Calibri"/>
                <a:cs typeface="Calibri"/>
                <a:sym typeface="Calibri"/>
              </a:rPr>
              <a:t>Marcelo Ruminot — Gerente General</a:t>
            </a:r>
            <a:endParaRPr sz="1050">
              <a:solidFill>
                <a:schemeClr val="dk1"/>
              </a:solidFill>
              <a:latin typeface="Arial"/>
              <a:ea typeface="Arial"/>
              <a:cs typeface="Arial"/>
              <a:sym typeface="Arial"/>
            </a:endParaRPr>
          </a:p>
        </p:txBody>
      </p:sp>
      <p:cxnSp>
        <p:nvCxnSpPr>
          <p:cNvPr id="639" name="Google Shape;639;p56"/>
          <p:cNvCxnSpPr/>
          <p:nvPr/>
        </p:nvCxnSpPr>
        <p:spPr>
          <a:xfrm>
            <a:off x="6095848" y="2524089"/>
            <a:ext cx="0" cy="274320"/>
          </a:xfrm>
          <a:prstGeom prst="straightConnector1">
            <a:avLst/>
          </a:prstGeom>
          <a:noFill/>
          <a:ln w="15875" cap="flat" cmpd="sng">
            <a:solidFill>
              <a:srgbClr val="94A3B8"/>
            </a:solidFill>
            <a:prstDash val="solid"/>
            <a:round/>
            <a:headEnd type="none" w="sm" len="sm"/>
            <a:tailEnd type="none" w="sm" len="sm"/>
          </a:ln>
        </p:spPr>
      </p:cxnSp>
      <p:cxnSp>
        <p:nvCxnSpPr>
          <p:cNvPr id="640" name="Google Shape;640;p56"/>
          <p:cNvCxnSpPr/>
          <p:nvPr/>
        </p:nvCxnSpPr>
        <p:spPr>
          <a:xfrm>
            <a:off x="1802740" y="2798409"/>
            <a:ext cx="8586216" cy="0"/>
          </a:xfrm>
          <a:prstGeom prst="straightConnector1">
            <a:avLst/>
          </a:prstGeom>
          <a:noFill/>
          <a:ln w="15875" cap="flat" cmpd="sng">
            <a:solidFill>
              <a:srgbClr val="94A3B8"/>
            </a:solidFill>
            <a:prstDash val="solid"/>
            <a:round/>
            <a:headEnd type="none" w="sm" len="sm"/>
            <a:tailEnd type="none" w="sm" len="sm"/>
          </a:ln>
        </p:spPr>
      </p:cxnSp>
      <p:cxnSp>
        <p:nvCxnSpPr>
          <p:cNvPr id="641" name="Google Shape;641;p56"/>
          <p:cNvCxnSpPr/>
          <p:nvPr/>
        </p:nvCxnSpPr>
        <p:spPr>
          <a:xfrm>
            <a:off x="1802740"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2" name="Google Shape;642;p56"/>
          <p:cNvCxnSpPr/>
          <p:nvPr/>
        </p:nvCxnSpPr>
        <p:spPr>
          <a:xfrm>
            <a:off x="4664812"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3" name="Google Shape;643;p56"/>
          <p:cNvCxnSpPr/>
          <p:nvPr/>
        </p:nvCxnSpPr>
        <p:spPr>
          <a:xfrm>
            <a:off x="7526884" y="2798409"/>
            <a:ext cx="0" cy="91440"/>
          </a:xfrm>
          <a:prstGeom prst="straightConnector1">
            <a:avLst/>
          </a:prstGeom>
          <a:noFill/>
          <a:ln w="15875" cap="flat" cmpd="sng">
            <a:solidFill>
              <a:srgbClr val="94A3B8"/>
            </a:solidFill>
            <a:prstDash val="solid"/>
            <a:round/>
            <a:headEnd type="none" w="sm" len="sm"/>
            <a:tailEnd type="none" w="sm" len="sm"/>
          </a:ln>
        </p:spPr>
      </p:cxnSp>
      <p:cxnSp>
        <p:nvCxnSpPr>
          <p:cNvPr id="644" name="Google Shape;644;p56"/>
          <p:cNvCxnSpPr/>
          <p:nvPr/>
        </p:nvCxnSpPr>
        <p:spPr>
          <a:xfrm>
            <a:off x="10388956" y="2798409"/>
            <a:ext cx="0" cy="91440"/>
          </a:xfrm>
          <a:prstGeom prst="straightConnector1">
            <a:avLst/>
          </a:prstGeom>
          <a:noFill/>
          <a:ln w="15875" cap="flat" cmpd="sng">
            <a:solidFill>
              <a:srgbClr val="94A3B8"/>
            </a:solidFill>
            <a:prstDash val="solid"/>
            <a:round/>
            <a:headEnd type="none" w="sm" len="sm"/>
            <a:tailEnd type="none" w="sm" len="sm"/>
          </a:ln>
        </p:spPr>
      </p:cxnSp>
      <p:sp>
        <p:nvSpPr>
          <p:cNvPr id="645" name="Google Shape;645;p56"/>
          <p:cNvSpPr/>
          <p:nvPr/>
        </p:nvSpPr>
        <p:spPr>
          <a:xfrm>
            <a:off x="454000"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6" name="Google Shape;646;p56"/>
          <p:cNvSpPr/>
          <p:nvPr/>
        </p:nvSpPr>
        <p:spPr>
          <a:xfrm>
            <a:off x="499720"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INGENIERÍA DE PROYECTOS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Camilo Alexis Morales Aguilera</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Ingeniero de Soluciones Estratégicas</a:t>
            </a:r>
            <a:endParaRPr sz="950">
              <a:solidFill>
                <a:schemeClr val="dk1"/>
              </a:solidFill>
              <a:latin typeface="Arial"/>
              <a:ea typeface="Arial"/>
              <a:cs typeface="Arial"/>
              <a:sym typeface="Arial"/>
            </a:endParaRPr>
          </a:p>
        </p:txBody>
      </p:sp>
      <p:sp>
        <p:nvSpPr>
          <p:cNvPr id="647" name="Google Shape;647;p56"/>
          <p:cNvSpPr/>
          <p:nvPr/>
        </p:nvSpPr>
        <p:spPr>
          <a:xfrm>
            <a:off x="3316072"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48" name="Google Shape;648;p56"/>
          <p:cNvSpPr/>
          <p:nvPr/>
        </p:nvSpPr>
        <p:spPr>
          <a:xfrm>
            <a:off x="3361792"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GESTIÓN COMERCIAL (KAM SERVICIOS)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b="1">
                <a:solidFill>
                  <a:srgbClr val="FFFFFF"/>
                </a:solidFill>
                <a:latin typeface="Calibri"/>
                <a:ea typeface="Calibri"/>
                <a:cs typeface="Calibri"/>
                <a:sym typeface="Calibri"/>
              </a:rPr>
              <a:t>Cristian Silvano Pérez Ramirez — Ejec. de Servicio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b="1">
                <a:solidFill>
                  <a:srgbClr val="FFFFFF"/>
                </a:solidFill>
                <a:latin typeface="Calibri"/>
                <a:ea typeface="Calibri"/>
                <a:cs typeface="Calibri"/>
                <a:sym typeface="Calibri"/>
              </a:rPr>
              <a:t>Eglys Anadris Ramirez Caraballo — Ejec. de Servicio</a:t>
            </a:r>
            <a:endParaRPr sz="950">
              <a:solidFill>
                <a:schemeClr val="dk1"/>
              </a:solidFill>
              <a:latin typeface="Arial"/>
              <a:ea typeface="Arial"/>
              <a:cs typeface="Arial"/>
              <a:sym typeface="Arial"/>
            </a:endParaRPr>
          </a:p>
        </p:txBody>
      </p:sp>
      <p:sp>
        <p:nvSpPr>
          <p:cNvPr id="649" name="Google Shape;649;p56"/>
          <p:cNvSpPr/>
          <p:nvPr/>
        </p:nvSpPr>
        <p:spPr>
          <a:xfrm>
            <a:off x="6178144"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0" name="Google Shape;650;p56"/>
          <p:cNvSpPr/>
          <p:nvPr/>
        </p:nvSpPr>
        <p:spPr>
          <a:xfrm>
            <a:off x="6223864"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ATENCIÓN AL CLIENTE</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Matilde Rebeca Carrillo Castillo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Jefe de Servicio al Cliente</a:t>
            </a:r>
            <a:endParaRPr sz="950">
              <a:solidFill>
                <a:schemeClr val="dk1"/>
              </a:solidFill>
              <a:latin typeface="Arial"/>
              <a:ea typeface="Arial"/>
              <a:cs typeface="Arial"/>
              <a:sym typeface="Arial"/>
            </a:endParaRPr>
          </a:p>
        </p:txBody>
      </p:sp>
      <p:sp>
        <p:nvSpPr>
          <p:cNvPr id="651" name="Google Shape;651;p56"/>
          <p:cNvSpPr/>
          <p:nvPr/>
        </p:nvSpPr>
        <p:spPr>
          <a:xfrm>
            <a:off x="9040216" y="2889849"/>
            <a:ext cx="2697480" cy="960120"/>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52" name="Google Shape;652;p56"/>
          <p:cNvSpPr/>
          <p:nvPr/>
        </p:nvSpPr>
        <p:spPr>
          <a:xfrm>
            <a:off x="9085936" y="2889849"/>
            <a:ext cx="2606040" cy="96012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BFE3F0"/>
              </a:buClr>
              <a:buSzPts val="950"/>
              <a:buFont typeface="Calibri"/>
              <a:buNone/>
            </a:pPr>
            <a:r>
              <a:rPr lang="es-CL" sz="950" b="1">
                <a:solidFill>
                  <a:srgbClr val="BFE3F0"/>
                </a:solidFill>
                <a:latin typeface="Calibri"/>
                <a:ea typeface="Calibri"/>
                <a:cs typeface="Calibri"/>
                <a:sym typeface="Calibri"/>
              </a:rPr>
              <a:t>SOPORTE OPERATIVO</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100"/>
              <a:buFont typeface="Calibri"/>
              <a:buNone/>
            </a:pPr>
            <a:r>
              <a:rPr lang="es-CL" sz="1100" b="1">
                <a:solidFill>
                  <a:srgbClr val="FFFFFF"/>
                </a:solidFill>
                <a:latin typeface="Calibri"/>
                <a:ea typeface="Calibri"/>
                <a:cs typeface="Calibri"/>
                <a:sym typeface="Calibri"/>
              </a:rPr>
              <a:t>Edson De Morais</a:t>
            </a:r>
            <a:endParaRPr sz="95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00"/>
              <a:buFont typeface="Calibri"/>
              <a:buNone/>
            </a:pPr>
            <a:r>
              <a:rPr lang="es-CL" sz="900">
                <a:solidFill>
                  <a:srgbClr val="FFFFFF"/>
                </a:solidFill>
                <a:latin typeface="Calibri"/>
                <a:ea typeface="Calibri"/>
                <a:cs typeface="Calibri"/>
                <a:sym typeface="Calibri"/>
              </a:rPr>
              <a:t>Asistente de Coordinación</a:t>
            </a:r>
            <a:endParaRPr sz="950">
              <a:solidFill>
                <a:schemeClr val="dk1"/>
              </a:solidFill>
              <a:latin typeface="Arial"/>
              <a:ea typeface="Arial"/>
              <a:cs typeface="Arial"/>
              <a:sym typeface="Arial"/>
            </a:endParaRPr>
          </a:p>
        </p:txBody>
      </p:sp>
      <p:cxnSp>
        <p:nvCxnSpPr>
          <p:cNvPr id="653" name="Google Shape;653;p56"/>
          <p:cNvCxnSpPr/>
          <p:nvPr/>
        </p:nvCxnSpPr>
        <p:spPr>
          <a:xfrm>
            <a:off x="7526884" y="3849969"/>
            <a:ext cx="0" cy="274320"/>
          </a:xfrm>
          <a:prstGeom prst="straightConnector1">
            <a:avLst/>
          </a:prstGeom>
          <a:noFill/>
          <a:ln w="15875" cap="flat" cmpd="sng">
            <a:solidFill>
              <a:srgbClr val="94A3B8"/>
            </a:solidFill>
            <a:prstDash val="solid"/>
            <a:round/>
            <a:headEnd type="none" w="sm" len="sm"/>
            <a:tailEnd type="none" w="sm" len="sm"/>
          </a:ln>
        </p:spPr>
      </p:cxnSp>
      <p:cxnSp>
        <p:nvCxnSpPr>
          <p:cNvPr id="654" name="Google Shape;654;p56"/>
          <p:cNvCxnSpPr/>
          <p:nvPr/>
        </p:nvCxnSpPr>
        <p:spPr>
          <a:xfrm>
            <a:off x="1802740" y="4124289"/>
            <a:ext cx="8586216" cy="0"/>
          </a:xfrm>
          <a:prstGeom prst="straightConnector1">
            <a:avLst/>
          </a:prstGeom>
          <a:noFill/>
          <a:ln w="15875" cap="flat" cmpd="sng">
            <a:solidFill>
              <a:srgbClr val="94A3B8"/>
            </a:solidFill>
            <a:prstDash val="solid"/>
            <a:round/>
            <a:headEnd type="none" w="sm" len="sm"/>
            <a:tailEnd type="none" w="sm" len="sm"/>
          </a:ln>
        </p:spPr>
      </p:cxnSp>
      <p:cxnSp>
        <p:nvCxnSpPr>
          <p:cNvPr id="655" name="Google Shape;655;p56"/>
          <p:cNvCxnSpPr/>
          <p:nvPr/>
        </p:nvCxnSpPr>
        <p:spPr>
          <a:xfrm>
            <a:off x="1802740"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6" name="Google Shape;656;p56"/>
          <p:cNvCxnSpPr/>
          <p:nvPr/>
        </p:nvCxnSpPr>
        <p:spPr>
          <a:xfrm>
            <a:off x="4664812"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7" name="Google Shape;657;p56"/>
          <p:cNvCxnSpPr/>
          <p:nvPr/>
        </p:nvCxnSpPr>
        <p:spPr>
          <a:xfrm>
            <a:off x="7526884" y="4124289"/>
            <a:ext cx="0" cy="182880"/>
          </a:xfrm>
          <a:prstGeom prst="straightConnector1">
            <a:avLst/>
          </a:prstGeom>
          <a:noFill/>
          <a:ln w="15875" cap="flat" cmpd="sng">
            <a:solidFill>
              <a:srgbClr val="94A3B8"/>
            </a:solidFill>
            <a:prstDash val="solid"/>
            <a:round/>
            <a:headEnd type="none" w="sm" len="sm"/>
            <a:tailEnd type="none" w="sm" len="sm"/>
          </a:ln>
        </p:spPr>
      </p:cxnSp>
      <p:cxnSp>
        <p:nvCxnSpPr>
          <p:cNvPr id="658" name="Google Shape;658;p56"/>
          <p:cNvCxnSpPr/>
          <p:nvPr/>
        </p:nvCxnSpPr>
        <p:spPr>
          <a:xfrm>
            <a:off x="10388956" y="4124289"/>
            <a:ext cx="0" cy="182880"/>
          </a:xfrm>
          <a:prstGeom prst="straightConnector1">
            <a:avLst/>
          </a:prstGeom>
          <a:noFill/>
          <a:ln w="15875" cap="flat" cmpd="sng">
            <a:solidFill>
              <a:srgbClr val="94A3B8"/>
            </a:solidFill>
            <a:prstDash val="solid"/>
            <a:round/>
            <a:headEnd type="none" w="sm" len="sm"/>
            <a:tailEnd type="none" w="sm" len="sm"/>
          </a:ln>
        </p:spPr>
      </p:cxnSp>
      <p:sp>
        <p:nvSpPr>
          <p:cNvPr id="659" name="Google Shape;659;p56"/>
          <p:cNvSpPr/>
          <p:nvPr/>
        </p:nvSpPr>
        <p:spPr>
          <a:xfrm>
            <a:off x="454000"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0" name="Google Shape;660;p56"/>
          <p:cNvSpPr/>
          <p:nvPr/>
        </p:nvSpPr>
        <p:spPr>
          <a:xfrm>
            <a:off x="499720"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EQUIPO ATENCIÓN AL CLIENTE</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C. Alvarado, P. Guzman,</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M.A. Colina, E. Galvez</a:t>
            </a:r>
            <a:endParaRPr sz="900">
              <a:solidFill>
                <a:schemeClr val="dk1"/>
              </a:solidFill>
              <a:latin typeface="Arial"/>
              <a:ea typeface="Arial"/>
              <a:cs typeface="Arial"/>
              <a:sym typeface="Arial"/>
            </a:endParaRPr>
          </a:p>
        </p:txBody>
      </p:sp>
      <p:sp>
        <p:nvSpPr>
          <p:cNvPr id="661" name="Google Shape;661;p56"/>
          <p:cNvSpPr/>
          <p:nvPr/>
        </p:nvSpPr>
        <p:spPr>
          <a:xfrm>
            <a:off x="3316072"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2" name="Google Shape;662;p56"/>
          <p:cNvSpPr/>
          <p:nvPr/>
        </p:nvSpPr>
        <p:spPr>
          <a:xfrm>
            <a:off x="3361792"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SUPERVISIÓN TÉCNICA 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000"/>
              <a:buFont typeface="Calibri"/>
              <a:buNone/>
            </a:pPr>
            <a:r>
              <a:rPr lang="es-CL" sz="1000" b="1">
                <a:solidFill>
                  <a:srgbClr val="FFFFFF"/>
                </a:solidFill>
                <a:latin typeface="Calibri"/>
                <a:ea typeface="Calibri"/>
                <a:cs typeface="Calibri"/>
                <a:sym typeface="Calibri"/>
              </a:rPr>
              <a:t>Jonathan Valerio Sumoza Ávila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50"/>
              <a:buFont typeface="Calibri"/>
              <a:buNone/>
            </a:pPr>
            <a:r>
              <a:rPr lang="es-CL" sz="850">
                <a:solidFill>
                  <a:srgbClr val="FFFFFF"/>
                </a:solidFill>
                <a:latin typeface="Calibri"/>
                <a:ea typeface="Calibri"/>
                <a:cs typeface="Calibri"/>
                <a:sym typeface="Calibri"/>
              </a:rPr>
              <a:t>Supervisor Técnico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10 Técnicos: J. Pino, L. Quezada, M. Cerpa,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I. Muñoz, M. Gutiérrez, P. Esteves, F. Toloza,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M. Montenegro, I. Miranda, D. Torres</a:t>
            </a:r>
            <a:endParaRPr sz="900">
              <a:solidFill>
                <a:schemeClr val="dk1"/>
              </a:solidFill>
              <a:latin typeface="Arial"/>
              <a:ea typeface="Arial"/>
              <a:cs typeface="Arial"/>
              <a:sym typeface="Arial"/>
            </a:endParaRPr>
          </a:p>
        </p:txBody>
      </p:sp>
      <p:sp>
        <p:nvSpPr>
          <p:cNvPr id="663" name="Google Shape;663;p56"/>
          <p:cNvSpPr/>
          <p:nvPr/>
        </p:nvSpPr>
        <p:spPr>
          <a:xfrm>
            <a:off x="6178144"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4" name="Google Shape;664;p56"/>
          <p:cNvSpPr/>
          <p:nvPr/>
        </p:nvSpPr>
        <p:spPr>
          <a:xfrm>
            <a:off x="6223864"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SUPERVISIÓN TÉCNICA B</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1000"/>
              <a:buFont typeface="Calibri"/>
              <a:buNone/>
            </a:pPr>
            <a:r>
              <a:rPr lang="es-CL" sz="1000" b="1">
                <a:solidFill>
                  <a:srgbClr val="FFFFFF"/>
                </a:solidFill>
                <a:latin typeface="Calibri"/>
                <a:ea typeface="Calibri"/>
                <a:cs typeface="Calibri"/>
                <a:sym typeface="Calibri"/>
              </a:rPr>
              <a:t>Cristian Rohr Toro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50"/>
              <a:buFont typeface="Calibri"/>
              <a:buNone/>
            </a:pPr>
            <a:r>
              <a:rPr lang="es-CL" sz="850">
                <a:solidFill>
                  <a:srgbClr val="FFFFFF"/>
                </a:solidFill>
                <a:latin typeface="Calibri"/>
                <a:ea typeface="Calibri"/>
                <a:cs typeface="Calibri"/>
                <a:sym typeface="Calibri"/>
              </a:rPr>
              <a:t>Supervisor Técnico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9 Técnicos: R. Leiva, E. Valle, C. Castro,</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A. Labado, N. Rodríguez</a:t>
            </a:r>
            <a:r>
              <a:rPr lang="es-CL" sz="800" b="1">
                <a:solidFill>
                  <a:srgbClr val="FF0000"/>
                </a:solidFill>
                <a:latin typeface="Calibri"/>
                <a:ea typeface="Calibri"/>
                <a:cs typeface="Calibri"/>
                <a:sym typeface="Calibri"/>
              </a:rPr>
              <a:t>, T. Rojas</a:t>
            </a:r>
            <a:r>
              <a:rPr lang="es-CL" sz="800">
                <a:solidFill>
                  <a:srgbClr val="FFFFFF"/>
                </a:solidFill>
                <a:latin typeface="Calibri"/>
                <a:ea typeface="Calibri"/>
                <a:cs typeface="Calibri"/>
                <a:sym typeface="Calibri"/>
              </a:rPr>
              <a:t>,</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800"/>
              <a:buFont typeface="Calibri"/>
              <a:buNone/>
            </a:pPr>
            <a:r>
              <a:rPr lang="es-CL" sz="800">
                <a:solidFill>
                  <a:srgbClr val="FFFFFF"/>
                </a:solidFill>
                <a:latin typeface="Calibri"/>
                <a:ea typeface="Calibri"/>
                <a:cs typeface="Calibri"/>
                <a:sym typeface="Calibri"/>
              </a:rPr>
              <a:t>A. Arnaiz, E. Acevedo, C. Mayorga</a:t>
            </a:r>
            <a:endParaRPr sz="900">
              <a:solidFill>
                <a:schemeClr val="dk1"/>
              </a:solidFill>
              <a:latin typeface="Arial"/>
              <a:ea typeface="Arial"/>
              <a:cs typeface="Arial"/>
              <a:sym typeface="Arial"/>
            </a:endParaRPr>
          </a:p>
        </p:txBody>
      </p:sp>
      <p:sp>
        <p:nvSpPr>
          <p:cNvPr id="665" name="Google Shape;665;p56"/>
          <p:cNvSpPr/>
          <p:nvPr/>
        </p:nvSpPr>
        <p:spPr>
          <a:xfrm>
            <a:off x="9040216" y="4307169"/>
            <a:ext cx="2697480" cy="1737360"/>
          </a:xfrm>
          <a:prstGeom prst="roundRect">
            <a:avLst>
              <a:gd name="adj" fmla="val 2632"/>
            </a:avLst>
          </a:prstGeom>
          <a:solidFill>
            <a:srgbClr val="1C7293"/>
          </a:solidFill>
          <a:ln w="12700" cap="flat" cmpd="sng">
            <a:solidFill>
              <a:srgbClr val="1C7293"/>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66" name="Google Shape;666;p56"/>
          <p:cNvSpPr/>
          <p:nvPr/>
        </p:nvSpPr>
        <p:spPr>
          <a:xfrm>
            <a:off x="9085936" y="4307169"/>
            <a:ext cx="2606040" cy="1737360"/>
          </a:xfrm>
          <a:prstGeom prst="rect">
            <a:avLst/>
          </a:prstGeom>
          <a:noFill/>
          <a:ln>
            <a:noFill/>
          </a:ln>
        </p:spPr>
        <p:txBody>
          <a:bodyPr spcFirstLastPara="1" wrap="square" lIns="25400" tIns="25400" rIns="25400" bIns="25400" anchor="ctr" anchorCtr="0">
            <a:noAutofit/>
          </a:bodyPr>
          <a:lstStyle/>
          <a:p>
            <a:pPr marL="0" marR="0" lvl="0" indent="0" algn="ctr" rtl="0">
              <a:lnSpc>
                <a:spcPct val="105000"/>
              </a:lnSpc>
              <a:spcBef>
                <a:spcPts val="0"/>
              </a:spcBef>
              <a:spcAft>
                <a:spcPts val="0"/>
              </a:spcAft>
              <a:buClr>
                <a:srgbClr val="D8F0EC"/>
              </a:buClr>
              <a:buSzPts val="900"/>
              <a:buFont typeface="Calibri"/>
              <a:buNone/>
            </a:pPr>
            <a:r>
              <a:rPr lang="es-CL" sz="900" b="1">
                <a:solidFill>
                  <a:srgbClr val="D8F0EC"/>
                </a:solidFill>
                <a:latin typeface="Calibri"/>
                <a:ea typeface="Calibri"/>
                <a:cs typeface="Calibri"/>
                <a:sym typeface="Calibri"/>
              </a:rPr>
              <a:t>ESPECIALIDAD ENDOSCOPIA</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G. Ramirez, N. Martinez,</a:t>
            </a:r>
            <a:endParaRPr sz="900">
              <a:solidFill>
                <a:schemeClr val="dk1"/>
              </a:solidFill>
              <a:latin typeface="Arial"/>
              <a:ea typeface="Arial"/>
              <a:cs typeface="Arial"/>
              <a:sym typeface="Arial"/>
            </a:endParaRPr>
          </a:p>
          <a:p>
            <a:pPr marL="0" marR="0" lvl="0" indent="0" algn="ctr" rtl="0">
              <a:lnSpc>
                <a:spcPct val="105000"/>
              </a:lnSpc>
              <a:spcBef>
                <a:spcPts val="0"/>
              </a:spcBef>
              <a:spcAft>
                <a:spcPts val="0"/>
              </a:spcAft>
              <a:buClr>
                <a:srgbClr val="FFFFFF"/>
              </a:buClr>
              <a:buSzPts val="950"/>
              <a:buFont typeface="Calibri"/>
              <a:buNone/>
            </a:pPr>
            <a:r>
              <a:rPr lang="es-CL" sz="950">
                <a:solidFill>
                  <a:srgbClr val="FFFFFF"/>
                </a:solidFill>
                <a:latin typeface="Calibri"/>
                <a:ea typeface="Calibri"/>
                <a:cs typeface="Calibri"/>
                <a:sym typeface="Calibri"/>
              </a:rPr>
              <a:t>N. Técnico (En Contratación)</a:t>
            </a:r>
            <a:endParaRPr sz="900">
              <a:solidFill>
                <a:schemeClr val="dk1"/>
              </a:solidFill>
              <a:latin typeface="Arial"/>
              <a:ea typeface="Arial"/>
              <a:cs typeface="Arial"/>
              <a:sym typeface="Arial"/>
            </a:endParaRPr>
          </a:p>
        </p:txBody>
      </p:sp>
      <p:sp>
        <p:nvSpPr>
          <p:cNvPr id="667" name="Google Shape;667;p56"/>
          <p:cNvSpPr/>
          <p:nvPr/>
        </p:nvSpPr>
        <p:spPr>
          <a:xfrm>
            <a:off x="4810504" y="1862443"/>
            <a:ext cx="2697480" cy="661646"/>
          </a:xfrm>
          <a:prstGeom prst="roundRect">
            <a:avLst>
              <a:gd name="adj" fmla="val 4762"/>
            </a:avLst>
          </a:prstGeom>
          <a:solidFill>
            <a:srgbClr val="065A82"/>
          </a:solidFill>
          <a:ln w="12700" cap="flat" cmpd="sng">
            <a:solidFill>
              <a:srgbClr val="065A82"/>
            </a:solidFill>
            <a:prstDash val="solid"/>
            <a:round/>
            <a:headEnd type="none" w="sm" len="sm"/>
            <a:tailEnd type="none" w="sm" len="sm"/>
          </a:ln>
          <a:effectLst>
            <a:outerShdw blurRad="63500" dist="25400" dir="2700000" algn="bl" rotWithShape="0">
              <a:srgbClr val="000000">
                <a:alpha val="12941"/>
              </a:srgbClr>
            </a:outerShdw>
          </a:effectLst>
        </p:spPr>
        <p:txBody>
          <a:bodyPr spcFirstLastPara="1" wrap="square" lIns="91425" tIns="45700" rIns="91425" bIns="45700" anchor="ctr" anchorCtr="0">
            <a:noAutofit/>
          </a:bodyPr>
          <a:lstStyle/>
          <a:p>
            <a:pPr marL="0" marR="0" lvl="0" indent="0" algn="ctr" rtl="0">
              <a:lnSpc>
                <a:spcPct val="105000"/>
              </a:lnSpc>
              <a:spcBef>
                <a:spcPts val="0"/>
              </a:spcBef>
              <a:spcAft>
                <a:spcPts val="0"/>
              </a:spcAft>
              <a:buNone/>
            </a:pPr>
            <a:r>
              <a:rPr lang="es-CL" sz="1150" b="1">
                <a:solidFill>
                  <a:srgbClr val="BFE3F0"/>
                </a:solidFill>
                <a:latin typeface="Calibri"/>
                <a:ea typeface="Calibri"/>
                <a:cs typeface="Calibri"/>
                <a:sym typeface="Calibri"/>
              </a:rPr>
              <a:t>Alexis Flores — Sub Gerente Técnico</a:t>
            </a:r>
            <a:endParaRPr/>
          </a:p>
        </p:txBody>
      </p:sp>
      <p:cxnSp>
        <p:nvCxnSpPr>
          <p:cNvPr id="668" name="Google Shape;668;p56"/>
          <p:cNvCxnSpPr/>
          <p:nvPr/>
        </p:nvCxnSpPr>
        <p:spPr>
          <a:xfrm>
            <a:off x="6095848" y="1588123"/>
            <a:ext cx="0" cy="274320"/>
          </a:xfrm>
          <a:prstGeom prst="straightConnector1">
            <a:avLst/>
          </a:prstGeom>
          <a:noFill/>
          <a:ln w="15875" cap="flat" cmpd="sng">
            <a:solidFill>
              <a:srgbClr val="94A3B8"/>
            </a:solidFill>
            <a:prstDash val="solid"/>
            <a:round/>
            <a:headEnd type="none" w="sm" len="sm"/>
            <a:tailEnd type="none" w="sm" len="sm"/>
          </a:ln>
        </p:spPr>
      </p:cxn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Cómo funciona el plan de carrera de técnicos de servicio</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1 · Ingreso</a:t>
            </a:r>
            <a:endParaRPr lang="en-US" sz="1300" kern="1200" dirty="0">
              <a:solidFill>
                <a:prstClr val="black"/>
              </a:solidFill>
              <a:latin typeface="Calibri" panose="020F0502020204030204"/>
              <a:ea typeface="+mn-ea"/>
              <a:cs typeface="+mn-cs"/>
            </a:endParaRPr>
          </a:p>
        </p:txBody>
      </p:sp>
      <p:sp>
        <p:nvSpPr>
          <p:cNvPr id="9" name="Text 4"/>
          <p:cNvSpPr/>
          <p:nvPr/>
        </p:nvSpPr>
        <p:spPr>
          <a:xfrm>
            <a:off x="635000"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Todo técnico ingresa como Trainee y comienza su formación y las evaluaciones del área.</a:t>
            </a:r>
            <a:endParaRPr lang="en-US" sz="1200" kern="1200" dirty="0">
              <a:solidFill>
                <a:prstClr val="black"/>
              </a:solidFill>
              <a:latin typeface="Calibri" panose="020F0502020204030204"/>
              <a:ea typeface="+mn-ea"/>
              <a:cs typeface="+mn-cs"/>
            </a:endParaRPr>
          </a:p>
        </p:txBody>
      </p:sp>
      <p:sp>
        <p:nvSpPr>
          <p:cNvPr id="10" name="Shape 5"/>
          <p:cNvSpPr/>
          <p:nvPr/>
        </p:nvSpPr>
        <p:spPr>
          <a:xfrm>
            <a:off x="3397250"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 name="Text 6"/>
          <p:cNvSpPr/>
          <p:nvPr/>
        </p:nvSpPr>
        <p:spPr>
          <a:xfrm>
            <a:off x="339725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2 · Cumplimiento</a:t>
            </a:r>
            <a:endParaRPr lang="en-US" sz="1300" kern="1200" dirty="0">
              <a:solidFill>
                <a:prstClr val="black"/>
              </a:solidFill>
              <a:latin typeface="Calibri" panose="020F0502020204030204"/>
              <a:ea typeface="+mn-ea"/>
              <a:cs typeface="+mn-cs"/>
            </a:endParaRPr>
          </a:p>
        </p:txBody>
      </p:sp>
      <p:sp>
        <p:nvSpPr>
          <p:cNvPr id="12" name="Text 7"/>
          <p:cNvSpPr/>
          <p:nvPr/>
        </p:nvSpPr>
        <p:spPr>
          <a:xfrm>
            <a:off x="3397250"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Para subir debe cumplir todos los requisitos del nivel siguiente. No basta con cumplir solo algunos.</a:t>
            </a:r>
            <a:endParaRPr lang="en-US" sz="1200" kern="1200" dirty="0">
              <a:solidFill>
                <a:prstClr val="black"/>
              </a:solidFill>
              <a:latin typeface="Calibri" panose="020F0502020204030204"/>
              <a:ea typeface="+mn-ea"/>
              <a:cs typeface="+mn-cs"/>
            </a:endParaRPr>
          </a:p>
        </p:txBody>
      </p:sp>
      <p:sp>
        <p:nvSpPr>
          <p:cNvPr id="13" name="Shape 8"/>
          <p:cNvSpPr/>
          <p:nvPr/>
        </p:nvSpPr>
        <p:spPr>
          <a:xfrm>
            <a:off x="6159501"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615950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3 · Cambio de tramo</a:t>
            </a:r>
            <a:endParaRPr lang="en-US" sz="1300" kern="1200" dirty="0">
              <a:solidFill>
                <a:prstClr val="black"/>
              </a:solidFill>
              <a:latin typeface="Calibri" panose="020F0502020204030204"/>
              <a:ea typeface="+mn-ea"/>
              <a:cs typeface="+mn-cs"/>
            </a:endParaRPr>
          </a:p>
        </p:txBody>
      </p:sp>
      <p:sp>
        <p:nvSpPr>
          <p:cNvPr id="15" name="Text 10"/>
          <p:cNvSpPr/>
          <p:nvPr/>
        </p:nvSpPr>
        <p:spPr>
          <a:xfrm>
            <a:off x="6159501" y="1496439"/>
            <a:ext cx="2714308" cy="436607"/>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Se avanza un nivel a la vez y el sueldo pasa a la banda salarial del nuevo nivel.</a:t>
            </a:r>
            <a:endParaRPr lang="en-US" sz="1200" kern="1200" dirty="0">
              <a:solidFill>
                <a:prstClr val="black"/>
              </a:solidFill>
              <a:latin typeface="Calibri" panose="020F0502020204030204"/>
              <a:ea typeface="+mn-ea"/>
              <a:cs typeface="+mn-cs"/>
            </a:endParaRPr>
          </a:p>
        </p:txBody>
      </p:sp>
      <p:sp>
        <p:nvSpPr>
          <p:cNvPr id="16" name="Shape 11"/>
          <p:cNvSpPr/>
          <p:nvPr/>
        </p:nvSpPr>
        <p:spPr>
          <a:xfrm>
            <a:off x="8921751" y="1036505"/>
            <a:ext cx="2635250" cy="21167"/>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7" name="Text 12"/>
          <p:cNvSpPr/>
          <p:nvPr/>
        </p:nvSpPr>
        <p:spPr>
          <a:xfrm>
            <a:off x="8921751" y="1210029"/>
            <a:ext cx="2898775" cy="222955"/>
          </a:xfrm>
          <a:prstGeom prst="rect">
            <a:avLst/>
          </a:prstGeom>
          <a:noFill/>
          <a:ln/>
        </p:spPr>
        <p:txBody>
          <a:bodyPr wrap="square" lIns="16933" tIns="16933" rIns="16933" bIns="16933" rtlCol="0" anchor="t">
            <a:normAutofit lnSpcReduction="10000"/>
          </a:bodyPr>
          <a:lstStyle/>
          <a:p>
            <a:pPr defTabSz="609630">
              <a:buClrTx/>
            </a:pPr>
            <a:r>
              <a:rPr lang="en-US" sz="1300" b="1" kern="1200" dirty="0">
                <a:solidFill>
                  <a:srgbClr val="282DF0"/>
                </a:solidFill>
                <a:latin typeface="Figtree" pitchFamily="34" charset="0"/>
                <a:ea typeface="Figtree" pitchFamily="34" charset="-122"/>
                <a:cs typeface="Figtree" pitchFamily="34" charset="-120"/>
              </a:rPr>
              <a:t>4 · Bono</a:t>
            </a:r>
            <a:endParaRPr lang="en-US" sz="1300" kern="1200" dirty="0">
              <a:solidFill>
                <a:prstClr val="black"/>
              </a:solidFill>
              <a:latin typeface="Calibri" panose="020F0502020204030204"/>
              <a:ea typeface="+mn-ea"/>
              <a:cs typeface="+mn-cs"/>
            </a:endParaRPr>
          </a:p>
        </p:txBody>
      </p:sp>
      <p:sp>
        <p:nvSpPr>
          <p:cNvPr id="18" name="Text 13"/>
          <p:cNvSpPr/>
          <p:nvPr/>
        </p:nvSpPr>
        <p:spPr>
          <a:xfrm>
            <a:off x="8921751" y="1496440"/>
            <a:ext cx="2714308" cy="642210"/>
          </a:xfrm>
          <a:prstGeom prst="rect">
            <a:avLst/>
          </a:prstGeom>
          <a:noFill/>
          <a:ln/>
        </p:spPr>
        <p:txBody>
          <a:bodyPr wrap="square" lIns="16933" tIns="16933" rIns="16933" bIns="16933" rtlCol="0" anchor="t">
            <a:normAutofit/>
          </a:bodyPr>
          <a:lstStyle/>
          <a:p>
            <a:pPr defTabSz="609630">
              <a:lnSpc>
                <a:spcPct val="112154"/>
              </a:lnSpc>
              <a:buClrTx/>
            </a:pPr>
            <a:r>
              <a:rPr lang="en-US" sz="1200" kern="1200" dirty="0">
                <a:solidFill>
                  <a:srgbClr val="373C46"/>
                </a:solidFill>
                <a:latin typeface="Figtree" pitchFamily="34" charset="0"/>
                <a:ea typeface="Figtree" pitchFamily="34" charset="-122"/>
                <a:cs typeface="Figtree" pitchFamily="34" charset="-120"/>
              </a:rPr>
              <a:t>Al subir a Intermedio o a Senior se paga un bono único por el cambio de tramo.</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3649927"/>
            <a:ext cx="2635250" cy="1892212"/>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812712" y="38022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5E57"/>
                </a:solidFill>
                <a:latin typeface="Figtree" pitchFamily="34" charset="0"/>
                <a:ea typeface="Figtree" pitchFamily="34" charset="-122"/>
                <a:cs typeface="Figtree" pitchFamily="34" charset="-120"/>
              </a:rPr>
              <a:t>Trainee</a:t>
            </a:r>
            <a:endParaRPr lang="en-US" sz="1800" kern="1200" dirty="0">
              <a:solidFill>
                <a:prstClr val="black"/>
              </a:solidFill>
              <a:latin typeface="Calibri" panose="020F0502020204030204"/>
              <a:ea typeface="+mn-ea"/>
              <a:cs typeface="+mn-cs"/>
            </a:endParaRPr>
          </a:p>
        </p:txBody>
      </p:sp>
      <p:sp>
        <p:nvSpPr>
          <p:cNvPr id="21" name="Text 16"/>
          <p:cNvSpPr/>
          <p:nvPr/>
        </p:nvSpPr>
        <p:spPr>
          <a:xfrm>
            <a:off x="812712" y="4140950"/>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Nivel de ingreso</a:t>
            </a:r>
            <a:endParaRPr lang="en-US" sz="1200" kern="1200" dirty="0">
              <a:solidFill>
                <a:prstClr val="black"/>
              </a:solidFill>
              <a:latin typeface="Calibri" panose="020F0502020204030204"/>
              <a:ea typeface="+mn-ea"/>
              <a:cs typeface="+mn-cs"/>
            </a:endParaRPr>
          </a:p>
        </p:txBody>
      </p:sp>
      <p:sp>
        <p:nvSpPr>
          <p:cNvPr id="22" name="Text 17"/>
          <p:cNvSpPr/>
          <p:nvPr/>
        </p:nvSpPr>
        <p:spPr>
          <a:xfrm>
            <a:off x="812712"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5E57"/>
                </a:solidFill>
                <a:latin typeface="Figtree" pitchFamily="34" charset="0"/>
                <a:ea typeface="Figtree" pitchFamily="34" charset="-122"/>
                <a:cs typeface="Figtree" pitchFamily="34" charset="-120"/>
              </a:rPr>
              <a:t>Sin requisitos de entrada</a:t>
            </a:r>
            <a:endParaRPr lang="en-US" sz="1200" kern="1200" dirty="0">
              <a:solidFill>
                <a:prstClr val="black"/>
              </a:solidFill>
              <a:latin typeface="Calibri" panose="020F0502020204030204"/>
              <a:ea typeface="+mn-ea"/>
              <a:cs typeface="+mn-cs"/>
            </a:endParaRPr>
          </a:p>
        </p:txBody>
      </p:sp>
      <p:sp>
        <p:nvSpPr>
          <p:cNvPr id="23" name="Text 18"/>
          <p:cNvSpPr/>
          <p:nvPr/>
        </p:nvSpPr>
        <p:spPr>
          <a:xfrm>
            <a:off x="81271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5E57"/>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397250" y="3205427"/>
            <a:ext cx="2635250" cy="2336712"/>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574962" y="33577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3D39"/>
                </a:solidFill>
                <a:latin typeface="Figtree" pitchFamily="34" charset="0"/>
                <a:ea typeface="Figtree" pitchFamily="34" charset="-122"/>
                <a:cs typeface="Figtree" pitchFamily="34" charset="-120"/>
              </a:rPr>
              <a:t>Junior</a:t>
            </a:r>
            <a:endParaRPr lang="en-US" sz="1800" kern="1200" dirty="0">
              <a:solidFill>
                <a:prstClr val="black"/>
              </a:solidFill>
              <a:latin typeface="Calibri" panose="020F0502020204030204"/>
              <a:ea typeface="+mn-ea"/>
              <a:cs typeface="+mn-cs"/>
            </a:endParaRPr>
          </a:p>
        </p:txBody>
      </p:sp>
      <p:sp>
        <p:nvSpPr>
          <p:cNvPr id="26" name="Text 21"/>
          <p:cNvSpPr/>
          <p:nvPr/>
        </p:nvSpPr>
        <p:spPr>
          <a:xfrm>
            <a:off x="3574962" y="36964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 6 meses de antigüedad</a:t>
            </a:r>
            <a:endParaRPr lang="en-US" sz="1200" kern="1200" dirty="0">
              <a:solidFill>
                <a:prstClr val="black"/>
              </a:solidFill>
              <a:latin typeface="Calibri" panose="020F0502020204030204"/>
              <a:ea typeface="+mn-ea"/>
              <a:cs typeface="+mn-cs"/>
            </a:endParaRPr>
          </a:p>
        </p:txBody>
      </p:sp>
      <p:sp>
        <p:nvSpPr>
          <p:cNvPr id="27" name="Text 22"/>
          <p:cNvSpPr/>
          <p:nvPr/>
        </p:nvSpPr>
        <p:spPr>
          <a:xfrm>
            <a:off x="3574962" y="4338505"/>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Productividad ≥ 1,4</a:t>
            </a:r>
            <a:endParaRPr lang="en-US" sz="1200" kern="1200" dirty="0">
              <a:solidFill>
                <a:prstClr val="black"/>
              </a:solidFill>
              <a:latin typeface="Calibri" panose="020F0502020204030204"/>
              <a:ea typeface="+mn-ea"/>
              <a:cs typeface="+mn-cs"/>
            </a:endParaRPr>
          </a:p>
        </p:txBody>
      </p:sp>
      <p:sp>
        <p:nvSpPr>
          <p:cNvPr id="28" name="Text 23"/>
          <p:cNvSpPr/>
          <p:nvPr/>
        </p:nvSpPr>
        <p:spPr>
          <a:xfrm>
            <a:off x="3574962" y="4592506"/>
            <a:ext cx="2348221" cy="575733"/>
          </a:xfrm>
          <a:prstGeom prst="rect">
            <a:avLst/>
          </a:prstGeom>
          <a:noFill/>
          <a:ln/>
        </p:spPr>
        <p:txBody>
          <a:bodyPr wrap="square" lIns="16933" tIns="16933" rIns="16933" bIns="16933" rtlCol="0" anchor="t">
            <a:normAutofit/>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Preventivo (50) · Correctivo/Diag. (30) · 1 especialidad</a:t>
            </a:r>
            <a:endParaRPr lang="en-US" sz="1200" kern="1200" dirty="0">
              <a:solidFill>
                <a:prstClr val="black"/>
              </a:solidFill>
              <a:latin typeface="Calibri" panose="020F0502020204030204"/>
              <a:ea typeface="+mn-ea"/>
              <a:cs typeface="+mn-cs"/>
            </a:endParaRPr>
          </a:p>
        </p:txBody>
      </p:sp>
      <p:sp>
        <p:nvSpPr>
          <p:cNvPr id="29" name="Text 24"/>
          <p:cNvSpPr/>
          <p:nvPr/>
        </p:nvSpPr>
        <p:spPr>
          <a:xfrm>
            <a:off x="357496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30" name="Shape 25"/>
          <p:cNvSpPr/>
          <p:nvPr/>
        </p:nvSpPr>
        <p:spPr>
          <a:xfrm>
            <a:off x="6159501" y="2760927"/>
            <a:ext cx="2635250" cy="2781212"/>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6337212" y="29132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0F3D39"/>
                </a:solidFill>
                <a:latin typeface="Figtree" pitchFamily="34" charset="0"/>
                <a:ea typeface="Figtree" pitchFamily="34" charset="-122"/>
                <a:cs typeface="Figtree" pitchFamily="34" charset="-120"/>
              </a:rPr>
              <a:t>Intermedio</a:t>
            </a:r>
            <a:endParaRPr lang="en-US" sz="1800" kern="1200" dirty="0">
              <a:solidFill>
                <a:prstClr val="black"/>
              </a:solidFill>
              <a:latin typeface="Calibri" panose="020F0502020204030204"/>
              <a:ea typeface="+mn-ea"/>
              <a:cs typeface="+mn-cs"/>
            </a:endParaRPr>
          </a:p>
        </p:txBody>
      </p:sp>
      <p:sp>
        <p:nvSpPr>
          <p:cNvPr id="32" name="Text 27"/>
          <p:cNvSpPr/>
          <p:nvPr/>
        </p:nvSpPr>
        <p:spPr>
          <a:xfrm>
            <a:off x="6337212" y="32519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 8 meses · contrato indefinido</a:t>
            </a:r>
            <a:endParaRPr lang="en-US" sz="1200" kern="1200" dirty="0">
              <a:solidFill>
                <a:prstClr val="black"/>
              </a:solidFill>
              <a:latin typeface="Calibri" panose="020F0502020204030204"/>
              <a:ea typeface="+mn-ea"/>
              <a:cs typeface="+mn-cs"/>
            </a:endParaRPr>
          </a:p>
        </p:txBody>
      </p:sp>
      <p:sp>
        <p:nvSpPr>
          <p:cNvPr id="33" name="Text 28"/>
          <p:cNvSpPr/>
          <p:nvPr/>
        </p:nvSpPr>
        <p:spPr>
          <a:xfrm>
            <a:off x="6337212" y="3908117"/>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Productividad ≥ 1,6</a:t>
            </a:r>
            <a:endParaRPr lang="en-US" sz="1200" kern="1200" dirty="0">
              <a:solidFill>
                <a:prstClr val="black"/>
              </a:solidFill>
              <a:latin typeface="Calibri" panose="020F0502020204030204"/>
              <a:ea typeface="+mn-ea"/>
              <a:cs typeface="+mn-cs"/>
            </a:endParaRPr>
          </a:p>
        </p:txBody>
      </p:sp>
      <p:sp>
        <p:nvSpPr>
          <p:cNvPr id="34" name="Text 29"/>
          <p:cNvSpPr/>
          <p:nvPr/>
        </p:nvSpPr>
        <p:spPr>
          <a:xfrm>
            <a:off x="6337212" y="4162117"/>
            <a:ext cx="2348221" cy="759178"/>
          </a:xfrm>
          <a:prstGeom prst="rect">
            <a:avLst/>
          </a:prstGeom>
          <a:noFill/>
          <a:ln/>
        </p:spPr>
        <p:txBody>
          <a:bodyPr wrap="square" lIns="16933" tIns="16933" rIns="16933" bIns="16933" rtlCol="0" anchor="t">
            <a:normAutofit/>
          </a:bodyPr>
          <a:lstStyle/>
          <a:p>
            <a:pPr defTabSz="609630">
              <a:buClrTx/>
            </a:pPr>
            <a:r>
              <a:rPr lang="en-US" sz="1200" kern="1200" dirty="0">
                <a:solidFill>
                  <a:srgbClr val="0F3D39"/>
                </a:solidFill>
                <a:latin typeface="Figtree" pitchFamily="34" charset="0"/>
                <a:ea typeface="Figtree" pitchFamily="34" charset="-122"/>
                <a:cs typeface="Figtree" pitchFamily="34" charset="-120"/>
              </a:rPr>
              <a:t>Preventivo (80) · Correctivo/Diag. (80) · Instalaciones (2) · 2 especialidades</a:t>
            </a:r>
            <a:endParaRPr lang="en-US" sz="1200" kern="1200" dirty="0">
              <a:solidFill>
                <a:prstClr val="black"/>
              </a:solidFill>
              <a:latin typeface="Calibri" panose="020F0502020204030204"/>
              <a:ea typeface="+mn-ea"/>
              <a:cs typeface="+mn-cs"/>
            </a:endParaRPr>
          </a:p>
        </p:txBody>
      </p:sp>
      <p:sp>
        <p:nvSpPr>
          <p:cNvPr id="35" name="Text 30"/>
          <p:cNvSpPr/>
          <p:nvPr/>
        </p:nvSpPr>
        <p:spPr>
          <a:xfrm>
            <a:off x="6337212"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$1.350.000 – $1.500.000</a:t>
            </a:r>
            <a:endParaRPr lang="en-US" sz="1200" kern="1200" dirty="0">
              <a:solidFill>
                <a:prstClr val="black"/>
              </a:solidFill>
              <a:latin typeface="Calibri" panose="020F0502020204030204"/>
              <a:ea typeface="+mn-ea"/>
              <a:cs typeface="+mn-cs"/>
            </a:endParaRPr>
          </a:p>
        </p:txBody>
      </p:sp>
      <p:sp>
        <p:nvSpPr>
          <p:cNvPr id="36" name="Text 31"/>
          <p:cNvSpPr/>
          <p:nvPr/>
        </p:nvSpPr>
        <p:spPr>
          <a:xfrm>
            <a:off x="6337212"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Bono $300.000</a:t>
            </a:r>
            <a:endParaRPr lang="en-US" sz="1200" kern="1200" dirty="0">
              <a:solidFill>
                <a:prstClr val="black"/>
              </a:solidFill>
              <a:latin typeface="Calibri" panose="020F0502020204030204"/>
              <a:ea typeface="+mn-ea"/>
              <a:cs typeface="+mn-cs"/>
            </a:endParaRPr>
          </a:p>
        </p:txBody>
      </p:sp>
      <p:sp>
        <p:nvSpPr>
          <p:cNvPr id="37" name="Shape 32"/>
          <p:cNvSpPr/>
          <p:nvPr/>
        </p:nvSpPr>
        <p:spPr>
          <a:xfrm>
            <a:off x="8921751" y="2316427"/>
            <a:ext cx="2635250" cy="3225712"/>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9099463" y="2468783"/>
            <a:ext cx="2507809" cy="300567"/>
          </a:xfrm>
          <a:prstGeom prst="rect">
            <a:avLst/>
          </a:prstGeom>
          <a:noFill/>
          <a:ln/>
        </p:spPr>
        <p:txBody>
          <a:bodyPr wrap="square" lIns="16933" tIns="16933" rIns="16933" bIns="16933" rtlCol="0" anchor="t">
            <a:normAutofit lnSpcReduction="10000"/>
          </a:bodyPr>
          <a:lstStyle/>
          <a:p>
            <a:pPr defTabSz="609630">
              <a:buClrTx/>
            </a:pPr>
            <a:r>
              <a:rPr lang="en-US" sz="1800" b="1" kern="1200" dirty="0">
                <a:solidFill>
                  <a:srgbClr val="FFFFFF"/>
                </a:solidFill>
                <a:latin typeface="Figtree" pitchFamily="34" charset="0"/>
                <a:ea typeface="Figtree" pitchFamily="34" charset="-122"/>
                <a:cs typeface="Figtree" pitchFamily="34" charset="-120"/>
              </a:rPr>
              <a:t>Senior</a:t>
            </a:r>
            <a:endParaRPr lang="en-US" sz="1800" kern="1200" dirty="0">
              <a:solidFill>
                <a:prstClr val="black"/>
              </a:solidFill>
              <a:latin typeface="Calibri" panose="020F0502020204030204"/>
              <a:ea typeface="+mn-ea"/>
              <a:cs typeface="+mn-cs"/>
            </a:endParaRPr>
          </a:p>
        </p:txBody>
      </p:sp>
      <p:sp>
        <p:nvSpPr>
          <p:cNvPr id="39" name="Text 34"/>
          <p:cNvSpPr/>
          <p:nvPr/>
        </p:nvSpPr>
        <p:spPr>
          <a:xfrm>
            <a:off x="9099463" y="2807450"/>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 18 meses · contrato indefinido</a:t>
            </a:r>
            <a:endParaRPr lang="en-US" sz="1200" kern="1200" dirty="0">
              <a:solidFill>
                <a:prstClr val="black"/>
              </a:solidFill>
              <a:latin typeface="Calibri" panose="020F0502020204030204"/>
              <a:ea typeface="+mn-ea"/>
              <a:cs typeface="+mn-cs"/>
            </a:endParaRPr>
          </a:p>
        </p:txBody>
      </p:sp>
      <p:sp>
        <p:nvSpPr>
          <p:cNvPr id="40" name="Text 35"/>
          <p:cNvSpPr/>
          <p:nvPr/>
        </p:nvSpPr>
        <p:spPr>
          <a:xfrm>
            <a:off x="9099463" y="3908117"/>
            <a:ext cx="2507809" cy="215900"/>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FFFFFF"/>
                </a:solidFill>
                <a:latin typeface="Figtree" pitchFamily="34" charset="0"/>
                <a:ea typeface="Figtree" pitchFamily="34" charset="-122"/>
                <a:cs typeface="Figtree" pitchFamily="34" charset="-120"/>
              </a:rPr>
              <a:t>Productividad ≥ 1,8</a:t>
            </a:r>
            <a:endParaRPr lang="en-US" sz="1200" kern="1200" dirty="0">
              <a:solidFill>
                <a:prstClr val="black"/>
              </a:solidFill>
              <a:latin typeface="Calibri" panose="020F0502020204030204"/>
              <a:ea typeface="+mn-ea"/>
              <a:cs typeface="+mn-cs"/>
            </a:endParaRPr>
          </a:p>
        </p:txBody>
      </p:sp>
      <p:sp>
        <p:nvSpPr>
          <p:cNvPr id="41" name="Text 36"/>
          <p:cNvSpPr/>
          <p:nvPr/>
        </p:nvSpPr>
        <p:spPr>
          <a:xfrm>
            <a:off x="9099463" y="4162117"/>
            <a:ext cx="2348221" cy="759178"/>
          </a:xfrm>
          <a:prstGeom prst="rect">
            <a:avLst/>
          </a:prstGeom>
          <a:noFill/>
          <a:ln/>
        </p:spPr>
        <p:txBody>
          <a:bodyPr wrap="square" lIns="16933" tIns="16933" rIns="16933" bIns="16933" rtlCol="0" anchor="t">
            <a:normAutofit/>
          </a:bodyPr>
          <a:lstStyle/>
          <a:p>
            <a:pPr defTabSz="609630">
              <a:buClrTx/>
            </a:pPr>
            <a:r>
              <a:rPr lang="en-US" sz="1200" kern="1200" dirty="0">
                <a:solidFill>
                  <a:srgbClr val="FFFFFF"/>
                </a:solidFill>
                <a:latin typeface="Figtree" pitchFamily="34" charset="0"/>
                <a:ea typeface="Figtree" pitchFamily="34" charset="-122"/>
                <a:cs typeface="Figtree" pitchFamily="34" charset="-120"/>
              </a:rPr>
              <a:t>Preventivo (100) · Correctivo/Diag. (200) · Instalaciones (5) · 3 especialidades</a:t>
            </a:r>
            <a:endParaRPr lang="en-US" sz="1200" kern="1200" dirty="0">
              <a:solidFill>
                <a:prstClr val="black"/>
              </a:solidFill>
              <a:latin typeface="Calibri" panose="020F0502020204030204"/>
              <a:ea typeface="+mn-ea"/>
              <a:cs typeface="+mn-cs"/>
            </a:endParaRPr>
          </a:p>
        </p:txBody>
      </p:sp>
      <p:sp>
        <p:nvSpPr>
          <p:cNvPr id="42" name="Text 37"/>
          <p:cNvSpPr/>
          <p:nvPr/>
        </p:nvSpPr>
        <p:spPr>
          <a:xfrm>
            <a:off x="9099463" y="4959394"/>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$1.550.000 – $1.850.000</a:t>
            </a:r>
            <a:endParaRPr lang="en-US" sz="1200" kern="1200" dirty="0">
              <a:solidFill>
                <a:prstClr val="black"/>
              </a:solidFill>
              <a:latin typeface="Calibri" panose="020F0502020204030204"/>
              <a:ea typeface="+mn-ea"/>
              <a:cs typeface="+mn-cs"/>
            </a:endParaRPr>
          </a:p>
        </p:txBody>
      </p:sp>
      <p:sp>
        <p:nvSpPr>
          <p:cNvPr id="43" name="Text 38"/>
          <p:cNvSpPr/>
          <p:nvPr/>
        </p:nvSpPr>
        <p:spPr>
          <a:xfrm>
            <a:off x="9099463" y="5206339"/>
            <a:ext cx="2507809" cy="208845"/>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Bono $400.000</a:t>
            </a:r>
            <a:endParaRPr lang="en-US" sz="1200" kern="1200" dirty="0">
              <a:solidFill>
                <a:prstClr val="black"/>
              </a:solidFill>
              <a:latin typeface="Calibri" panose="020F0502020204030204"/>
              <a:ea typeface="+mn-ea"/>
              <a:cs typeface="+mn-cs"/>
            </a:endParaRPr>
          </a:p>
        </p:txBody>
      </p:sp>
      <p:sp>
        <p:nvSpPr>
          <p:cNvPr id="44" name="Shape 39"/>
          <p:cNvSpPr/>
          <p:nvPr/>
        </p:nvSpPr>
        <p:spPr>
          <a:xfrm>
            <a:off x="635000" y="5745317"/>
            <a:ext cx="10922001" cy="393568"/>
          </a:xfrm>
          <a:prstGeom prst="rect">
            <a:avLst/>
          </a:prstGeom>
          <a:solidFill>
            <a:srgbClr val="F2F3F5"/>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5" name="Text 40"/>
          <p:cNvSpPr/>
          <p:nvPr/>
        </p:nvSpPr>
        <p:spPr>
          <a:xfrm>
            <a:off x="812712" y="5850379"/>
            <a:ext cx="1522754" cy="208845"/>
          </a:xfrm>
          <a:prstGeom prst="rect">
            <a:avLst/>
          </a:prstGeom>
          <a:noFill/>
          <a:ln/>
        </p:spPr>
        <p:txBody>
          <a:bodyPr wrap="non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 todos los niveles</a:t>
            </a:r>
            <a:endParaRPr lang="en-US" sz="1200" kern="1200" dirty="0">
              <a:solidFill>
                <a:prstClr val="black"/>
              </a:solidFill>
              <a:latin typeface="Calibri" panose="020F0502020204030204"/>
              <a:ea typeface="+mn-ea"/>
              <a:cs typeface="+mn-cs"/>
            </a:endParaRPr>
          </a:p>
        </p:txBody>
      </p:sp>
      <p:sp>
        <p:nvSpPr>
          <p:cNvPr id="46" name="Text 41"/>
          <p:cNvSpPr/>
          <p:nvPr/>
        </p:nvSpPr>
        <p:spPr>
          <a:xfrm>
            <a:off x="2374746" y="5846851"/>
            <a:ext cx="2635746"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Desempeño ≥ acorde a lo esperado</a:t>
            </a:r>
            <a:endParaRPr lang="en-US" sz="1200" kern="1200" dirty="0">
              <a:solidFill>
                <a:prstClr val="black"/>
              </a:solidFill>
              <a:latin typeface="Calibri" panose="020F0502020204030204"/>
              <a:ea typeface="+mn-ea"/>
              <a:cs typeface="+mn-cs"/>
            </a:endParaRPr>
          </a:p>
        </p:txBody>
      </p:sp>
      <p:sp>
        <p:nvSpPr>
          <p:cNvPr id="47" name="Text 42"/>
          <p:cNvSpPr/>
          <p:nvPr/>
        </p:nvSpPr>
        <p:spPr>
          <a:xfrm>
            <a:off x="4948591" y="5846851"/>
            <a:ext cx="1289800"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Formación ≥ 95%</a:t>
            </a:r>
            <a:endParaRPr lang="en-US" sz="1200" kern="1200" dirty="0">
              <a:solidFill>
                <a:prstClr val="black"/>
              </a:solidFill>
              <a:latin typeface="Calibri" panose="020F0502020204030204"/>
              <a:ea typeface="+mn-ea"/>
              <a:cs typeface="+mn-cs"/>
            </a:endParaRPr>
          </a:p>
        </p:txBody>
      </p:sp>
      <p:sp>
        <p:nvSpPr>
          <p:cNvPr id="48" name="Text 43"/>
          <p:cNvSpPr/>
          <p:nvPr/>
        </p:nvSpPr>
        <p:spPr>
          <a:xfrm>
            <a:off x="6298848" y="5846851"/>
            <a:ext cx="1302533"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teórica ≥ 80%</a:t>
            </a:r>
            <a:endParaRPr lang="en-US" sz="1200" kern="1200" dirty="0">
              <a:solidFill>
                <a:prstClr val="black"/>
              </a:solidFill>
              <a:latin typeface="Calibri" panose="020F0502020204030204"/>
              <a:ea typeface="+mn-ea"/>
              <a:cs typeface="+mn-cs"/>
            </a:endParaRPr>
          </a:p>
        </p:txBody>
      </p:sp>
      <p:sp>
        <p:nvSpPr>
          <p:cNvPr id="49" name="Text 44"/>
          <p:cNvSpPr/>
          <p:nvPr/>
        </p:nvSpPr>
        <p:spPr>
          <a:xfrm>
            <a:off x="7660680" y="5846851"/>
            <a:ext cx="1381357"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práctica ≥ 90%</a:t>
            </a:r>
            <a:endParaRPr lang="en-US" sz="1200" kern="1200" dirty="0">
              <a:solidFill>
                <a:prstClr val="black"/>
              </a:solidFill>
              <a:latin typeface="Calibri" panose="020F0502020204030204"/>
              <a:ea typeface="+mn-ea"/>
              <a:cs typeface="+mn-cs"/>
            </a:endParaRPr>
          </a:p>
        </p:txBody>
      </p:sp>
      <p:pic>
        <p:nvPicPr>
          <p:cNvPr id="50"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51"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52"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53" name="Text 45"/>
          <p:cNvSpPr/>
          <p:nvPr/>
        </p:nvSpPr>
        <p:spPr>
          <a:xfrm>
            <a:off x="11798874" y="6484056"/>
            <a:ext cx="113749"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Status de cada técnico en el plan de carrera</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246519"/>
            <a:ext cx="2095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0" y="986896"/>
            <a:ext cx="2158365"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Técnico</a:t>
            </a:r>
            <a:endParaRPr lang="en-US" sz="1200" kern="1200" dirty="0">
              <a:solidFill>
                <a:prstClr val="black"/>
              </a:solidFill>
              <a:latin typeface="Calibri" panose="020F0502020204030204"/>
              <a:ea typeface="+mn-ea"/>
              <a:cs typeface="+mn-cs"/>
            </a:endParaRPr>
          </a:p>
        </p:txBody>
      </p:sp>
      <p:sp>
        <p:nvSpPr>
          <p:cNvPr id="9" name="Shape 4"/>
          <p:cNvSpPr/>
          <p:nvPr/>
        </p:nvSpPr>
        <p:spPr>
          <a:xfrm>
            <a:off x="2730500" y="1246519"/>
            <a:ext cx="1206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 name="Text 5"/>
          <p:cNvSpPr/>
          <p:nvPr/>
        </p:nvSpPr>
        <p:spPr>
          <a:xfrm>
            <a:off x="2730500" y="986896"/>
            <a:ext cx="12573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Nivel actual</a:t>
            </a:r>
            <a:endParaRPr lang="en-US" sz="1200" kern="1200" dirty="0">
              <a:solidFill>
                <a:prstClr val="black"/>
              </a:solidFill>
              <a:latin typeface="Calibri" panose="020F0502020204030204"/>
              <a:ea typeface="+mn-ea"/>
              <a:cs typeface="+mn-cs"/>
            </a:endParaRPr>
          </a:p>
        </p:txBody>
      </p:sp>
      <p:sp>
        <p:nvSpPr>
          <p:cNvPr id="11" name="Shape 6"/>
          <p:cNvSpPr/>
          <p:nvPr/>
        </p:nvSpPr>
        <p:spPr>
          <a:xfrm>
            <a:off x="3937000" y="1246519"/>
            <a:ext cx="1651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 name="Text 7"/>
          <p:cNvSpPr/>
          <p:nvPr/>
        </p:nvSpPr>
        <p:spPr>
          <a:xfrm>
            <a:off x="3937000" y="986896"/>
            <a:ext cx="1701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Supervisor</a:t>
            </a:r>
            <a:endParaRPr lang="en-US" sz="1200" kern="1200" dirty="0">
              <a:solidFill>
                <a:prstClr val="black"/>
              </a:solidFill>
              <a:latin typeface="Calibri" panose="020F0502020204030204"/>
              <a:ea typeface="+mn-ea"/>
              <a:cs typeface="+mn-cs"/>
            </a:endParaRPr>
          </a:p>
        </p:txBody>
      </p:sp>
      <p:sp>
        <p:nvSpPr>
          <p:cNvPr id="13" name="Shape 8"/>
          <p:cNvSpPr/>
          <p:nvPr/>
        </p:nvSpPr>
        <p:spPr>
          <a:xfrm>
            <a:off x="5588001" y="1246519"/>
            <a:ext cx="1270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5588001" y="986896"/>
            <a:ext cx="1320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Próximo nivel</a:t>
            </a:r>
            <a:endParaRPr lang="en-US" sz="1200" kern="1200" dirty="0">
              <a:solidFill>
                <a:prstClr val="black"/>
              </a:solidFill>
              <a:latin typeface="Calibri" panose="020F0502020204030204"/>
              <a:ea typeface="+mn-ea"/>
              <a:cs typeface="+mn-cs"/>
            </a:endParaRPr>
          </a:p>
        </p:txBody>
      </p:sp>
      <p:sp>
        <p:nvSpPr>
          <p:cNvPr id="15" name="Shape 10"/>
          <p:cNvSpPr/>
          <p:nvPr/>
        </p:nvSpPr>
        <p:spPr>
          <a:xfrm>
            <a:off x="6858000" y="1246519"/>
            <a:ext cx="2794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 name="Text 11"/>
          <p:cNvSpPr/>
          <p:nvPr/>
        </p:nvSpPr>
        <p:spPr>
          <a:xfrm>
            <a:off x="6858000" y="986896"/>
            <a:ext cx="287782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Para subir necesita</a:t>
            </a:r>
            <a:endParaRPr lang="en-US" sz="1200" kern="1200" dirty="0">
              <a:solidFill>
                <a:prstClr val="black"/>
              </a:solidFill>
              <a:latin typeface="Calibri" panose="020F0502020204030204"/>
              <a:ea typeface="+mn-ea"/>
              <a:cs typeface="+mn-cs"/>
            </a:endParaRPr>
          </a:p>
        </p:txBody>
      </p:sp>
      <p:sp>
        <p:nvSpPr>
          <p:cNvPr id="17" name="Shape 12"/>
          <p:cNvSpPr/>
          <p:nvPr/>
        </p:nvSpPr>
        <p:spPr>
          <a:xfrm>
            <a:off x="9652001" y="1246519"/>
            <a:ext cx="1905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8" name="Text 13"/>
          <p:cNvSpPr/>
          <p:nvPr/>
        </p:nvSpPr>
        <p:spPr>
          <a:xfrm>
            <a:off x="9652001" y="986896"/>
            <a:ext cx="196215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Al subir</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155475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635000" y="131425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Eduardo Acevedo</a:t>
            </a:r>
            <a:endParaRPr lang="en-US" sz="1200" kern="1200" dirty="0">
              <a:solidFill>
                <a:prstClr val="black"/>
              </a:solidFill>
              <a:latin typeface="Calibri" panose="020F0502020204030204"/>
              <a:ea typeface="+mn-ea"/>
              <a:cs typeface="+mn-cs"/>
            </a:endParaRPr>
          </a:p>
        </p:txBody>
      </p:sp>
      <p:sp>
        <p:nvSpPr>
          <p:cNvPr id="21" name="Shape 16"/>
          <p:cNvSpPr/>
          <p:nvPr/>
        </p:nvSpPr>
        <p:spPr>
          <a:xfrm>
            <a:off x="2730500" y="155475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2" name="Shape 17"/>
          <p:cNvSpPr/>
          <p:nvPr/>
        </p:nvSpPr>
        <p:spPr>
          <a:xfrm>
            <a:off x="2730500" y="1295246"/>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3" name="Text 18"/>
          <p:cNvSpPr/>
          <p:nvPr/>
        </p:nvSpPr>
        <p:spPr>
          <a:xfrm>
            <a:off x="2806701" y="1314296"/>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937000" y="155475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937000" y="131425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26" name="Shape 21"/>
          <p:cNvSpPr/>
          <p:nvPr/>
        </p:nvSpPr>
        <p:spPr>
          <a:xfrm>
            <a:off x="5588001" y="155475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7" name="Text 22"/>
          <p:cNvSpPr/>
          <p:nvPr/>
        </p:nvSpPr>
        <p:spPr>
          <a:xfrm>
            <a:off x="5588001" y="131425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28" name="Shape 23"/>
          <p:cNvSpPr/>
          <p:nvPr/>
        </p:nvSpPr>
        <p:spPr>
          <a:xfrm>
            <a:off x="6858000" y="155828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9" name="Text 24"/>
          <p:cNvSpPr/>
          <p:nvPr/>
        </p:nvSpPr>
        <p:spPr>
          <a:xfrm>
            <a:off x="6858000" y="1310724"/>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30" name="Shape 25"/>
          <p:cNvSpPr/>
          <p:nvPr/>
        </p:nvSpPr>
        <p:spPr>
          <a:xfrm>
            <a:off x="9652001" y="1554759"/>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9652001" y="1314251"/>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32" name="Shape 27"/>
          <p:cNvSpPr/>
          <p:nvPr/>
        </p:nvSpPr>
        <p:spPr>
          <a:xfrm>
            <a:off x="635000" y="1866526"/>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3" name="Text 28"/>
          <p:cNvSpPr/>
          <p:nvPr/>
        </p:nvSpPr>
        <p:spPr>
          <a:xfrm>
            <a:off x="635000" y="1626019"/>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Daniel Torres</a:t>
            </a:r>
            <a:endParaRPr lang="en-US" sz="1200" kern="1200" dirty="0">
              <a:solidFill>
                <a:prstClr val="black"/>
              </a:solidFill>
              <a:latin typeface="Calibri" panose="020F0502020204030204"/>
              <a:ea typeface="+mn-ea"/>
              <a:cs typeface="+mn-cs"/>
            </a:endParaRPr>
          </a:p>
        </p:txBody>
      </p:sp>
      <p:sp>
        <p:nvSpPr>
          <p:cNvPr id="34" name="Shape 29"/>
          <p:cNvSpPr/>
          <p:nvPr/>
        </p:nvSpPr>
        <p:spPr>
          <a:xfrm>
            <a:off x="2730500" y="1866526"/>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5" name="Shape 30"/>
          <p:cNvSpPr/>
          <p:nvPr/>
        </p:nvSpPr>
        <p:spPr>
          <a:xfrm>
            <a:off x="2730500" y="1607013"/>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6" name="Text 31"/>
          <p:cNvSpPr/>
          <p:nvPr/>
        </p:nvSpPr>
        <p:spPr>
          <a:xfrm>
            <a:off x="2806701" y="1626063"/>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37" name="Shape 32"/>
          <p:cNvSpPr/>
          <p:nvPr/>
        </p:nvSpPr>
        <p:spPr>
          <a:xfrm>
            <a:off x="3937000" y="1866526"/>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3937000" y="1626019"/>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39" name="Shape 34"/>
          <p:cNvSpPr/>
          <p:nvPr/>
        </p:nvSpPr>
        <p:spPr>
          <a:xfrm>
            <a:off x="5588001" y="1866526"/>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0" name="Text 35"/>
          <p:cNvSpPr/>
          <p:nvPr/>
        </p:nvSpPr>
        <p:spPr>
          <a:xfrm>
            <a:off x="5588001" y="1626019"/>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41" name="Shape 36"/>
          <p:cNvSpPr/>
          <p:nvPr/>
        </p:nvSpPr>
        <p:spPr>
          <a:xfrm>
            <a:off x="6858000" y="1870054"/>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2" name="Text 37"/>
          <p:cNvSpPr/>
          <p:nvPr/>
        </p:nvSpPr>
        <p:spPr>
          <a:xfrm>
            <a:off x="6858000" y="1622491"/>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43" name="Shape 38"/>
          <p:cNvSpPr/>
          <p:nvPr/>
        </p:nvSpPr>
        <p:spPr>
          <a:xfrm>
            <a:off x="9652001" y="1866526"/>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4" name="Text 39"/>
          <p:cNvSpPr/>
          <p:nvPr/>
        </p:nvSpPr>
        <p:spPr>
          <a:xfrm>
            <a:off x="9652001" y="1626019"/>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45" name="Shape 40"/>
          <p:cNvSpPr/>
          <p:nvPr/>
        </p:nvSpPr>
        <p:spPr>
          <a:xfrm>
            <a:off x="635000" y="217829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6" name="Text 41"/>
          <p:cNvSpPr/>
          <p:nvPr/>
        </p:nvSpPr>
        <p:spPr>
          <a:xfrm>
            <a:off x="635000" y="1937787"/>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Christopher Amesty</a:t>
            </a:r>
            <a:endParaRPr lang="en-US" sz="1200" kern="1200" dirty="0">
              <a:solidFill>
                <a:prstClr val="black"/>
              </a:solidFill>
              <a:latin typeface="Calibri" panose="020F0502020204030204"/>
              <a:ea typeface="+mn-ea"/>
              <a:cs typeface="+mn-cs"/>
            </a:endParaRPr>
          </a:p>
        </p:txBody>
      </p:sp>
      <p:sp>
        <p:nvSpPr>
          <p:cNvPr id="47" name="Shape 42"/>
          <p:cNvSpPr/>
          <p:nvPr/>
        </p:nvSpPr>
        <p:spPr>
          <a:xfrm>
            <a:off x="2730500" y="217829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8" name="Shape 43"/>
          <p:cNvSpPr/>
          <p:nvPr/>
        </p:nvSpPr>
        <p:spPr>
          <a:xfrm>
            <a:off x="2730500" y="1918781"/>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9" name="Text 44"/>
          <p:cNvSpPr/>
          <p:nvPr/>
        </p:nvSpPr>
        <p:spPr>
          <a:xfrm>
            <a:off x="2806701" y="1937831"/>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50" name="Shape 45"/>
          <p:cNvSpPr/>
          <p:nvPr/>
        </p:nvSpPr>
        <p:spPr>
          <a:xfrm>
            <a:off x="3937000" y="217829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1" name="Text 46"/>
          <p:cNvSpPr/>
          <p:nvPr/>
        </p:nvSpPr>
        <p:spPr>
          <a:xfrm>
            <a:off x="3937000" y="1937787"/>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52" name="Shape 47"/>
          <p:cNvSpPr/>
          <p:nvPr/>
        </p:nvSpPr>
        <p:spPr>
          <a:xfrm>
            <a:off x="5588001" y="217829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3" name="Text 48"/>
          <p:cNvSpPr/>
          <p:nvPr/>
        </p:nvSpPr>
        <p:spPr>
          <a:xfrm>
            <a:off x="5588001" y="1937787"/>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54" name="Shape 49"/>
          <p:cNvSpPr/>
          <p:nvPr/>
        </p:nvSpPr>
        <p:spPr>
          <a:xfrm>
            <a:off x="6858000" y="218182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5" name="Text 50"/>
          <p:cNvSpPr/>
          <p:nvPr/>
        </p:nvSpPr>
        <p:spPr>
          <a:xfrm>
            <a:off x="6858000" y="1934259"/>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56" name="Shape 51"/>
          <p:cNvSpPr/>
          <p:nvPr/>
        </p:nvSpPr>
        <p:spPr>
          <a:xfrm>
            <a:off x="9652001" y="217829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7" name="Text 52"/>
          <p:cNvSpPr/>
          <p:nvPr/>
        </p:nvSpPr>
        <p:spPr>
          <a:xfrm>
            <a:off x="9652001" y="1937787"/>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58" name="Shape 53"/>
          <p:cNvSpPr/>
          <p:nvPr/>
        </p:nvSpPr>
        <p:spPr>
          <a:xfrm>
            <a:off x="635000" y="249006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9" name="Text 54"/>
          <p:cNvSpPr/>
          <p:nvPr/>
        </p:nvSpPr>
        <p:spPr>
          <a:xfrm>
            <a:off x="635000" y="2249554"/>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Danko Vasquez</a:t>
            </a:r>
            <a:endParaRPr lang="en-US" sz="1200" kern="1200" dirty="0">
              <a:solidFill>
                <a:prstClr val="black"/>
              </a:solidFill>
              <a:latin typeface="Calibri" panose="020F0502020204030204"/>
              <a:ea typeface="+mn-ea"/>
              <a:cs typeface="+mn-cs"/>
            </a:endParaRPr>
          </a:p>
        </p:txBody>
      </p:sp>
      <p:sp>
        <p:nvSpPr>
          <p:cNvPr id="60" name="Shape 55"/>
          <p:cNvSpPr/>
          <p:nvPr/>
        </p:nvSpPr>
        <p:spPr>
          <a:xfrm>
            <a:off x="2730500" y="249006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1" name="Shape 56"/>
          <p:cNvSpPr/>
          <p:nvPr/>
        </p:nvSpPr>
        <p:spPr>
          <a:xfrm>
            <a:off x="2730500" y="2230548"/>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2" name="Text 57"/>
          <p:cNvSpPr/>
          <p:nvPr/>
        </p:nvSpPr>
        <p:spPr>
          <a:xfrm>
            <a:off x="2806701" y="2249598"/>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63" name="Shape 58"/>
          <p:cNvSpPr/>
          <p:nvPr/>
        </p:nvSpPr>
        <p:spPr>
          <a:xfrm>
            <a:off x="3937000" y="249006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4" name="Text 59"/>
          <p:cNvSpPr/>
          <p:nvPr/>
        </p:nvSpPr>
        <p:spPr>
          <a:xfrm>
            <a:off x="3937000" y="2249554"/>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65" name="Shape 60"/>
          <p:cNvSpPr/>
          <p:nvPr/>
        </p:nvSpPr>
        <p:spPr>
          <a:xfrm>
            <a:off x="5588001" y="249006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6" name="Text 61"/>
          <p:cNvSpPr/>
          <p:nvPr/>
        </p:nvSpPr>
        <p:spPr>
          <a:xfrm>
            <a:off x="5588001" y="2249554"/>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67" name="Shape 62"/>
          <p:cNvSpPr/>
          <p:nvPr/>
        </p:nvSpPr>
        <p:spPr>
          <a:xfrm>
            <a:off x="6858000" y="249358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8" name="Text 63"/>
          <p:cNvSpPr/>
          <p:nvPr/>
        </p:nvSpPr>
        <p:spPr>
          <a:xfrm>
            <a:off x="6858000" y="2246026"/>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69" name="Shape 64"/>
          <p:cNvSpPr/>
          <p:nvPr/>
        </p:nvSpPr>
        <p:spPr>
          <a:xfrm>
            <a:off x="9652001" y="249006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0" name="Text 65"/>
          <p:cNvSpPr/>
          <p:nvPr/>
        </p:nvSpPr>
        <p:spPr>
          <a:xfrm>
            <a:off x="9652001" y="2249554"/>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71" name="Shape 66"/>
          <p:cNvSpPr/>
          <p:nvPr/>
        </p:nvSpPr>
        <p:spPr>
          <a:xfrm>
            <a:off x="635000" y="2801828"/>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2" name="Text 67"/>
          <p:cNvSpPr/>
          <p:nvPr/>
        </p:nvSpPr>
        <p:spPr>
          <a:xfrm>
            <a:off x="635000" y="256132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Gabriel Gomez</a:t>
            </a:r>
            <a:endParaRPr lang="en-US" sz="1200" kern="1200" dirty="0">
              <a:solidFill>
                <a:prstClr val="black"/>
              </a:solidFill>
              <a:latin typeface="Calibri" panose="020F0502020204030204"/>
              <a:ea typeface="+mn-ea"/>
              <a:cs typeface="+mn-cs"/>
            </a:endParaRPr>
          </a:p>
        </p:txBody>
      </p:sp>
      <p:sp>
        <p:nvSpPr>
          <p:cNvPr id="73" name="Shape 68"/>
          <p:cNvSpPr/>
          <p:nvPr/>
        </p:nvSpPr>
        <p:spPr>
          <a:xfrm>
            <a:off x="2730500" y="2801828"/>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4" name="Shape 69"/>
          <p:cNvSpPr/>
          <p:nvPr/>
        </p:nvSpPr>
        <p:spPr>
          <a:xfrm>
            <a:off x="2730500" y="2542315"/>
            <a:ext cx="669727" cy="221368"/>
          </a:xfrm>
          <a:prstGeom prst="rect">
            <a:avLst/>
          </a:prstGeom>
          <a:solidFill>
            <a:srgbClr val="BFF2ED"/>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5" name="Text 70"/>
          <p:cNvSpPr/>
          <p:nvPr/>
        </p:nvSpPr>
        <p:spPr>
          <a:xfrm>
            <a:off x="2806701" y="2561365"/>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5E57"/>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76" name="Shape 71"/>
          <p:cNvSpPr/>
          <p:nvPr/>
        </p:nvSpPr>
        <p:spPr>
          <a:xfrm>
            <a:off x="3937000" y="2801828"/>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7" name="Text 72"/>
          <p:cNvSpPr/>
          <p:nvPr/>
        </p:nvSpPr>
        <p:spPr>
          <a:xfrm>
            <a:off x="3937000" y="256132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Sin asignar</a:t>
            </a:r>
            <a:endParaRPr lang="en-US" sz="1200" kern="1200" dirty="0">
              <a:solidFill>
                <a:prstClr val="black"/>
              </a:solidFill>
              <a:latin typeface="Calibri" panose="020F0502020204030204"/>
              <a:ea typeface="+mn-ea"/>
              <a:cs typeface="+mn-cs"/>
            </a:endParaRPr>
          </a:p>
        </p:txBody>
      </p:sp>
      <p:sp>
        <p:nvSpPr>
          <p:cNvPr id="78" name="Shape 73"/>
          <p:cNvSpPr/>
          <p:nvPr/>
        </p:nvSpPr>
        <p:spPr>
          <a:xfrm>
            <a:off x="5588001" y="2801828"/>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9" name="Text 74"/>
          <p:cNvSpPr/>
          <p:nvPr/>
        </p:nvSpPr>
        <p:spPr>
          <a:xfrm>
            <a:off x="5588001" y="256132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80" name="Shape 75"/>
          <p:cNvSpPr/>
          <p:nvPr/>
        </p:nvSpPr>
        <p:spPr>
          <a:xfrm>
            <a:off x="6858000" y="2805356"/>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1" name="Text 76"/>
          <p:cNvSpPr/>
          <p:nvPr/>
        </p:nvSpPr>
        <p:spPr>
          <a:xfrm>
            <a:off x="6858000" y="2557793"/>
            <a:ext cx="2877820" cy="2158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6 meses · prod. ≥ 1,4 · challenge Junior</a:t>
            </a:r>
            <a:endParaRPr lang="en-US" sz="1200" kern="1200" dirty="0">
              <a:solidFill>
                <a:prstClr val="black"/>
              </a:solidFill>
              <a:latin typeface="Calibri" panose="020F0502020204030204"/>
              <a:ea typeface="+mn-ea"/>
              <a:cs typeface="+mn-cs"/>
            </a:endParaRPr>
          </a:p>
        </p:txBody>
      </p:sp>
      <p:sp>
        <p:nvSpPr>
          <p:cNvPr id="82" name="Shape 77"/>
          <p:cNvSpPr/>
          <p:nvPr/>
        </p:nvSpPr>
        <p:spPr>
          <a:xfrm>
            <a:off x="9652001" y="2801828"/>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3" name="Text 78"/>
          <p:cNvSpPr/>
          <p:nvPr/>
        </p:nvSpPr>
        <p:spPr>
          <a:xfrm>
            <a:off x="9652001" y="2561321"/>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Sin banda definida</a:t>
            </a:r>
            <a:endParaRPr lang="en-US" sz="1200" kern="1200" dirty="0">
              <a:solidFill>
                <a:prstClr val="black"/>
              </a:solidFill>
              <a:latin typeface="Calibri" panose="020F0502020204030204"/>
              <a:ea typeface="+mn-ea"/>
              <a:cs typeface="+mn-cs"/>
            </a:endParaRPr>
          </a:p>
        </p:txBody>
      </p:sp>
      <p:sp>
        <p:nvSpPr>
          <p:cNvPr id="84" name="Shape 79"/>
          <p:cNvSpPr/>
          <p:nvPr/>
        </p:nvSpPr>
        <p:spPr>
          <a:xfrm>
            <a:off x="635000" y="320531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5" name="Text 80"/>
          <p:cNvSpPr/>
          <p:nvPr/>
        </p:nvSpPr>
        <p:spPr>
          <a:xfrm>
            <a:off x="635000" y="2964811"/>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Maximiliano Cerpa</a:t>
            </a:r>
            <a:endParaRPr lang="en-US" sz="1200" kern="1200" dirty="0">
              <a:solidFill>
                <a:prstClr val="black"/>
              </a:solidFill>
              <a:latin typeface="Calibri" panose="020F0502020204030204"/>
              <a:ea typeface="+mn-ea"/>
              <a:cs typeface="+mn-cs"/>
            </a:endParaRPr>
          </a:p>
        </p:txBody>
      </p:sp>
      <p:sp>
        <p:nvSpPr>
          <p:cNvPr id="86" name="Shape 81"/>
          <p:cNvSpPr/>
          <p:nvPr/>
        </p:nvSpPr>
        <p:spPr>
          <a:xfrm>
            <a:off x="2730500" y="320531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7" name="Shape 82"/>
          <p:cNvSpPr/>
          <p:nvPr/>
        </p:nvSpPr>
        <p:spPr>
          <a:xfrm>
            <a:off x="2730501" y="2945805"/>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8" name="Text 83"/>
          <p:cNvSpPr/>
          <p:nvPr/>
        </p:nvSpPr>
        <p:spPr>
          <a:xfrm>
            <a:off x="2806701" y="2964855"/>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89" name="Shape 84"/>
          <p:cNvSpPr/>
          <p:nvPr/>
        </p:nvSpPr>
        <p:spPr>
          <a:xfrm>
            <a:off x="3937000" y="320531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0" name="Text 85"/>
          <p:cNvSpPr/>
          <p:nvPr/>
        </p:nvSpPr>
        <p:spPr>
          <a:xfrm>
            <a:off x="3937000" y="2964811"/>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91" name="Shape 86"/>
          <p:cNvSpPr/>
          <p:nvPr/>
        </p:nvSpPr>
        <p:spPr>
          <a:xfrm>
            <a:off x="5588001" y="320531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2" name="Text 87"/>
          <p:cNvSpPr/>
          <p:nvPr/>
        </p:nvSpPr>
        <p:spPr>
          <a:xfrm>
            <a:off x="5588001" y="2964811"/>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93" name="Shape 88"/>
          <p:cNvSpPr/>
          <p:nvPr/>
        </p:nvSpPr>
        <p:spPr>
          <a:xfrm>
            <a:off x="6858000" y="330056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4" name="Text 89"/>
          <p:cNvSpPr/>
          <p:nvPr/>
        </p:nvSpPr>
        <p:spPr>
          <a:xfrm>
            <a:off x="6858000" y="2869561"/>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95" name="Shape 90"/>
          <p:cNvSpPr/>
          <p:nvPr/>
        </p:nvSpPr>
        <p:spPr>
          <a:xfrm>
            <a:off x="9652001" y="3297040"/>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6" name="Text 91"/>
          <p:cNvSpPr/>
          <p:nvPr/>
        </p:nvSpPr>
        <p:spPr>
          <a:xfrm>
            <a:off x="9652001" y="2873089"/>
            <a:ext cx="1962150" cy="392201"/>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97" name="Shape 92"/>
          <p:cNvSpPr/>
          <p:nvPr/>
        </p:nvSpPr>
        <p:spPr>
          <a:xfrm>
            <a:off x="635000" y="370052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8" name="Text 93"/>
          <p:cNvSpPr/>
          <p:nvPr/>
        </p:nvSpPr>
        <p:spPr>
          <a:xfrm>
            <a:off x="635000" y="3460023"/>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Nicolás Rodriguez</a:t>
            </a:r>
            <a:endParaRPr lang="en-US" sz="1200" kern="1200" dirty="0">
              <a:solidFill>
                <a:prstClr val="black"/>
              </a:solidFill>
              <a:latin typeface="Calibri" panose="020F0502020204030204"/>
              <a:ea typeface="+mn-ea"/>
              <a:cs typeface="+mn-cs"/>
            </a:endParaRPr>
          </a:p>
        </p:txBody>
      </p:sp>
      <p:sp>
        <p:nvSpPr>
          <p:cNvPr id="99" name="Shape 94"/>
          <p:cNvSpPr/>
          <p:nvPr/>
        </p:nvSpPr>
        <p:spPr>
          <a:xfrm>
            <a:off x="2730500" y="370052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0" name="Shape 95"/>
          <p:cNvSpPr/>
          <p:nvPr/>
        </p:nvSpPr>
        <p:spPr>
          <a:xfrm>
            <a:off x="2730501" y="3441017"/>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1" name="Text 96"/>
          <p:cNvSpPr/>
          <p:nvPr/>
        </p:nvSpPr>
        <p:spPr>
          <a:xfrm>
            <a:off x="2806701" y="3460067"/>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102" name="Shape 97"/>
          <p:cNvSpPr/>
          <p:nvPr/>
        </p:nvSpPr>
        <p:spPr>
          <a:xfrm>
            <a:off x="3937000" y="370052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3" name="Text 98"/>
          <p:cNvSpPr/>
          <p:nvPr/>
        </p:nvSpPr>
        <p:spPr>
          <a:xfrm>
            <a:off x="3937000" y="3460023"/>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04" name="Shape 99"/>
          <p:cNvSpPr/>
          <p:nvPr/>
        </p:nvSpPr>
        <p:spPr>
          <a:xfrm>
            <a:off x="5588001" y="370052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5" name="Text 100"/>
          <p:cNvSpPr/>
          <p:nvPr/>
        </p:nvSpPr>
        <p:spPr>
          <a:xfrm>
            <a:off x="5588001" y="3460023"/>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06" name="Shape 101"/>
          <p:cNvSpPr/>
          <p:nvPr/>
        </p:nvSpPr>
        <p:spPr>
          <a:xfrm>
            <a:off x="6858000" y="379577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7" name="Text 102"/>
          <p:cNvSpPr/>
          <p:nvPr/>
        </p:nvSpPr>
        <p:spPr>
          <a:xfrm>
            <a:off x="6858000" y="3364773"/>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108" name="Shape 103"/>
          <p:cNvSpPr/>
          <p:nvPr/>
        </p:nvSpPr>
        <p:spPr>
          <a:xfrm>
            <a:off x="9652001" y="379225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9" name="Text 104"/>
          <p:cNvSpPr/>
          <p:nvPr/>
        </p:nvSpPr>
        <p:spPr>
          <a:xfrm>
            <a:off x="9652001" y="3368300"/>
            <a:ext cx="1962150" cy="392201"/>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110" name="Shape 105"/>
          <p:cNvSpPr/>
          <p:nvPr/>
        </p:nvSpPr>
        <p:spPr>
          <a:xfrm>
            <a:off x="635000" y="419574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1" name="Text 106"/>
          <p:cNvSpPr/>
          <p:nvPr/>
        </p:nvSpPr>
        <p:spPr>
          <a:xfrm>
            <a:off x="635000" y="3955235"/>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Ayron Arnaiz</a:t>
            </a:r>
            <a:endParaRPr lang="en-US" sz="1200" kern="1200" dirty="0">
              <a:solidFill>
                <a:prstClr val="black"/>
              </a:solidFill>
              <a:latin typeface="Calibri" panose="020F0502020204030204"/>
              <a:ea typeface="+mn-ea"/>
              <a:cs typeface="+mn-cs"/>
            </a:endParaRPr>
          </a:p>
        </p:txBody>
      </p:sp>
      <p:sp>
        <p:nvSpPr>
          <p:cNvPr id="112" name="Shape 107"/>
          <p:cNvSpPr/>
          <p:nvPr/>
        </p:nvSpPr>
        <p:spPr>
          <a:xfrm>
            <a:off x="2730500" y="419574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3" name="Shape 108"/>
          <p:cNvSpPr/>
          <p:nvPr/>
        </p:nvSpPr>
        <p:spPr>
          <a:xfrm>
            <a:off x="2730501" y="3936229"/>
            <a:ext cx="595643" cy="221368"/>
          </a:xfrm>
          <a:prstGeom prst="rect">
            <a:avLst/>
          </a:prstGeom>
          <a:solidFill>
            <a:srgbClr val="7FE4D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4" name="Text 109"/>
          <p:cNvSpPr/>
          <p:nvPr/>
        </p:nvSpPr>
        <p:spPr>
          <a:xfrm>
            <a:off x="2806701" y="3955279"/>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115" name="Shape 110"/>
          <p:cNvSpPr/>
          <p:nvPr/>
        </p:nvSpPr>
        <p:spPr>
          <a:xfrm>
            <a:off x="3937000" y="419574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6" name="Text 111"/>
          <p:cNvSpPr/>
          <p:nvPr/>
        </p:nvSpPr>
        <p:spPr>
          <a:xfrm>
            <a:off x="3937000" y="3955235"/>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17" name="Shape 112"/>
          <p:cNvSpPr/>
          <p:nvPr/>
        </p:nvSpPr>
        <p:spPr>
          <a:xfrm>
            <a:off x="5588001" y="419574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18" name="Text 113"/>
          <p:cNvSpPr/>
          <p:nvPr/>
        </p:nvSpPr>
        <p:spPr>
          <a:xfrm>
            <a:off x="5588001" y="3955235"/>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19" name="Shape 114"/>
          <p:cNvSpPr/>
          <p:nvPr/>
        </p:nvSpPr>
        <p:spPr>
          <a:xfrm>
            <a:off x="6858000" y="429099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0" name="Text 115"/>
          <p:cNvSpPr/>
          <p:nvPr/>
        </p:nvSpPr>
        <p:spPr>
          <a:xfrm>
            <a:off x="6858000" y="3859985"/>
            <a:ext cx="2877820" cy="3992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1,6 · challenge Intermedio</a:t>
            </a:r>
            <a:endParaRPr lang="en-US" sz="1200" kern="1200" dirty="0">
              <a:solidFill>
                <a:prstClr val="black"/>
              </a:solidFill>
              <a:latin typeface="Calibri" panose="020F0502020204030204"/>
              <a:ea typeface="+mn-ea"/>
              <a:cs typeface="+mn-cs"/>
            </a:endParaRPr>
          </a:p>
        </p:txBody>
      </p:sp>
      <p:sp>
        <p:nvSpPr>
          <p:cNvPr id="121" name="Shape 116"/>
          <p:cNvSpPr/>
          <p:nvPr/>
        </p:nvSpPr>
        <p:spPr>
          <a:xfrm>
            <a:off x="9652001" y="428746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2" name="Text 117"/>
          <p:cNvSpPr/>
          <p:nvPr/>
        </p:nvSpPr>
        <p:spPr>
          <a:xfrm>
            <a:off x="9652001" y="3863512"/>
            <a:ext cx="1962150" cy="392201"/>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$300 mil</a:t>
            </a:r>
            <a:endParaRPr lang="en-US" sz="1200" kern="1200" dirty="0">
              <a:solidFill>
                <a:prstClr val="black"/>
              </a:solidFill>
              <a:latin typeface="Calibri" panose="020F0502020204030204"/>
              <a:ea typeface="+mn-ea"/>
              <a:cs typeface="+mn-cs"/>
            </a:endParaRPr>
          </a:p>
        </p:txBody>
      </p:sp>
      <p:sp>
        <p:nvSpPr>
          <p:cNvPr id="123" name="Shape 118"/>
          <p:cNvSpPr/>
          <p:nvPr/>
        </p:nvSpPr>
        <p:spPr>
          <a:xfrm>
            <a:off x="635000" y="469095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4" name="Text 119"/>
          <p:cNvSpPr/>
          <p:nvPr/>
        </p:nvSpPr>
        <p:spPr>
          <a:xfrm>
            <a:off x="635000" y="4450446"/>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Luis Quezada</a:t>
            </a:r>
            <a:endParaRPr lang="en-US" sz="1200" kern="1200" dirty="0">
              <a:solidFill>
                <a:prstClr val="black"/>
              </a:solidFill>
              <a:latin typeface="Calibri" panose="020F0502020204030204"/>
              <a:ea typeface="+mn-ea"/>
              <a:cs typeface="+mn-cs"/>
            </a:endParaRPr>
          </a:p>
        </p:txBody>
      </p:sp>
      <p:sp>
        <p:nvSpPr>
          <p:cNvPr id="125" name="Shape 120"/>
          <p:cNvSpPr/>
          <p:nvPr/>
        </p:nvSpPr>
        <p:spPr>
          <a:xfrm>
            <a:off x="2730500" y="469095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6" name="Shape 121"/>
          <p:cNvSpPr/>
          <p:nvPr/>
        </p:nvSpPr>
        <p:spPr>
          <a:xfrm>
            <a:off x="2730501" y="4431441"/>
            <a:ext cx="921191" cy="221368"/>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7" name="Text 122"/>
          <p:cNvSpPr/>
          <p:nvPr/>
        </p:nvSpPr>
        <p:spPr>
          <a:xfrm>
            <a:off x="2806700" y="4450491"/>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28" name="Shape 123"/>
          <p:cNvSpPr/>
          <p:nvPr/>
        </p:nvSpPr>
        <p:spPr>
          <a:xfrm>
            <a:off x="3937000" y="469095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9" name="Text 124"/>
          <p:cNvSpPr/>
          <p:nvPr/>
        </p:nvSpPr>
        <p:spPr>
          <a:xfrm>
            <a:off x="3937000" y="4450446"/>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130" name="Shape 125"/>
          <p:cNvSpPr/>
          <p:nvPr/>
        </p:nvSpPr>
        <p:spPr>
          <a:xfrm>
            <a:off x="5588001" y="469095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1" name="Text 126"/>
          <p:cNvSpPr/>
          <p:nvPr/>
        </p:nvSpPr>
        <p:spPr>
          <a:xfrm>
            <a:off x="5588001" y="4450446"/>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32" name="Shape 127"/>
          <p:cNvSpPr/>
          <p:nvPr/>
        </p:nvSpPr>
        <p:spPr>
          <a:xfrm>
            <a:off x="6858000" y="4786203"/>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3" name="Text 128"/>
          <p:cNvSpPr/>
          <p:nvPr/>
        </p:nvSpPr>
        <p:spPr>
          <a:xfrm>
            <a:off x="6858000" y="4355196"/>
            <a:ext cx="2877820" cy="399256"/>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34" name="Shape 129"/>
          <p:cNvSpPr/>
          <p:nvPr/>
        </p:nvSpPr>
        <p:spPr>
          <a:xfrm>
            <a:off x="9652001" y="4782675"/>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5" name="Text 130"/>
          <p:cNvSpPr/>
          <p:nvPr/>
        </p:nvSpPr>
        <p:spPr>
          <a:xfrm>
            <a:off x="9652001" y="4358724"/>
            <a:ext cx="1962150" cy="392201"/>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$1,55–1,85 MM · bono $400 mil</a:t>
            </a:r>
            <a:endParaRPr lang="en-US" sz="1200" kern="1200" dirty="0">
              <a:solidFill>
                <a:prstClr val="black"/>
              </a:solidFill>
              <a:latin typeface="Calibri" panose="020F0502020204030204"/>
              <a:ea typeface="+mn-ea"/>
              <a:cs typeface="+mn-cs"/>
            </a:endParaRPr>
          </a:p>
        </p:txBody>
      </p:sp>
      <p:sp>
        <p:nvSpPr>
          <p:cNvPr id="136" name="Shape 131"/>
          <p:cNvSpPr/>
          <p:nvPr/>
        </p:nvSpPr>
        <p:spPr>
          <a:xfrm>
            <a:off x="635000" y="518616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7" name="Text 132"/>
          <p:cNvSpPr/>
          <p:nvPr/>
        </p:nvSpPr>
        <p:spPr>
          <a:xfrm>
            <a:off x="635000" y="4945658"/>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Enzo Valle</a:t>
            </a:r>
            <a:endParaRPr lang="en-US" sz="1200" kern="1200" dirty="0">
              <a:solidFill>
                <a:prstClr val="black"/>
              </a:solidFill>
              <a:latin typeface="Calibri" panose="020F0502020204030204"/>
              <a:ea typeface="+mn-ea"/>
              <a:cs typeface="+mn-cs"/>
            </a:endParaRPr>
          </a:p>
        </p:txBody>
      </p:sp>
      <p:sp>
        <p:nvSpPr>
          <p:cNvPr id="138" name="Shape 133"/>
          <p:cNvSpPr/>
          <p:nvPr/>
        </p:nvSpPr>
        <p:spPr>
          <a:xfrm>
            <a:off x="2730500" y="518616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39" name="Shape 134"/>
          <p:cNvSpPr/>
          <p:nvPr/>
        </p:nvSpPr>
        <p:spPr>
          <a:xfrm>
            <a:off x="2730501" y="4926652"/>
            <a:ext cx="921191" cy="221368"/>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0" name="Text 135"/>
          <p:cNvSpPr/>
          <p:nvPr/>
        </p:nvSpPr>
        <p:spPr>
          <a:xfrm>
            <a:off x="2806700" y="4945702"/>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0F3D39"/>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41" name="Shape 136"/>
          <p:cNvSpPr/>
          <p:nvPr/>
        </p:nvSpPr>
        <p:spPr>
          <a:xfrm>
            <a:off x="3937000" y="518616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2" name="Text 137"/>
          <p:cNvSpPr/>
          <p:nvPr/>
        </p:nvSpPr>
        <p:spPr>
          <a:xfrm>
            <a:off x="3937000" y="4945658"/>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43" name="Shape 138"/>
          <p:cNvSpPr/>
          <p:nvPr/>
        </p:nvSpPr>
        <p:spPr>
          <a:xfrm>
            <a:off x="5588001" y="518616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4" name="Text 139"/>
          <p:cNvSpPr/>
          <p:nvPr/>
        </p:nvSpPr>
        <p:spPr>
          <a:xfrm>
            <a:off x="5588001" y="4945658"/>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45" name="Shape 140"/>
          <p:cNvSpPr/>
          <p:nvPr/>
        </p:nvSpPr>
        <p:spPr>
          <a:xfrm>
            <a:off x="6858000" y="528141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6" name="Text 141"/>
          <p:cNvSpPr/>
          <p:nvPr/>
        </p:nvSpPr>
        <p:spPr>
          <a:xfrm>
            <a:off x="6858000" y="4850408"/>
            <a:ext cx="2877820" cy="399256"/>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47" name="Shape 142"/>
          <p:cNvSpPr/>
          <p:nvPr/>
        </p:nvSpPr>
        <p:spPr>
          <a:xfrm>
            <a:off x="9652001" y="527788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8" name="Text 143"/>
          <p:cNvSpPr/>
          <p:nvPr/>
        </p:nvSpPr>
        <p:spPr>
          <a:xfrm>
            <a:off x="9652001" y="4853936"/>
            <a:ext cx="1962150" cy="392201"/>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$1,55–1,85 MM · bono $400 mil</a:t>
            </a:r>
            <a:endParaRPr lang="en-US" sz="1200" kern="1200" dirty="0">
              <a:solidFill>
                <a:prstClr val="black"/>
              </a:solidFill>
              <a:latin typeface="Calibri" panose="020F0502020204030204"/>
              <a:ea typeface="+mn-ea"/>
              <a:cs typeface="+mn-cs"/>
            </a:endParaRPr>
          </a:p>
        </p:txBody>
      </p:sp>
      <p:sp>
        <p:nvSpPr>
          <p:cNvPr id="149" name="Shape 144"/>
          <p:cNvSpPr/>
          <p:nvPr/>
        </p:nvSpPr>
        <p:spPr>
          <a:xfrm>
            <a:off x="635000" y="558612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0" name="Text 145"/>
          <p:cNvSpPr/>
          <p:nvPr/>
        </p:nvSpPr>
        <p:spPr>
          <a:xfrm>
            <a:off x="635000" y="5345620"/>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Ricardo Leiva</a:t>
            </a:r>
            <a:endParaRPr lang="en-US" sz="1200" kern="1200" dirty="0">
              <a:solidFill>
                <a:prstClr val="black"/>
              </a:solidFill>
              <a:latin typeface="Calibri" panose="020F0502020204030204"/>
              <a:ea typeface="+mn-ea"/>
              <a:cs typeface="+mn-cs"/>
            </a:endParaRPr>
          </a:p>
        </p:txBody>
      </p:sp>
      <p:sp>
        <p:nvSpPr>
          <p:cNvPr id="151" name="Shape 146"/>
          <p:cNvSpPr/>
          <p:nvPr/>
        </p:nvSpPr>
        <p:spPr>
          <a:xfrm>
            <a:off x="2730500" y="558612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2" name="Shape 147"/>
          <p:cNvSpPr/>
          <p:nvPr/>
        </p:nvSpPr>
        <p:spPr>
          <a:xfrm>
            <a:off x="2730501" y="5326614"/>
            <a:ext cx="601927" cy="221368"/>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3" name="Text 148"/>
          <p:cNvSpPr/>
          <p:nvPr/>
        </p:nvSpPr>
        <p:spPr>
          <a:xfrm>
            <a:off x="2806700" y="5345664"/>
            <a:ext cx="50972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54" name="Shape 149"/>
          <p:cNvSpPr/>
          <p:nvPr/>
        </p:nvSpPr>
        <p:spPr>
          <a:xfrm>
            <a:off x="3937000" y="558612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5" name="Text 150"/>
          <p:cNvSpPr/>
          <p:nvPr/>
        </p:nvSpPr>
        <p:spPr>
          <a:xfrm>
            <a:off x="3937000" y="5345620"/>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56" name="Shape 151"/>
          <p:cNvSpPr/>
          <p:nvPr/>
        </p:nvSpPr>
        <p:spPr>
          <a:xfrm>
            <a:off x="5588001" y="558612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7" name="Text 152"/>
          <p:cNvSpPr/>
          <p:nvPr/>
        </p:nvSpPr>
        <p:spPr>
          <a:xfrm>
            <a:off x="5588001" y="5345620"/>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Nivel máximo</a:t>
            </a:r>
            <a:endParaRPr lang="en-US" sz="1200" kern="1200" dirty="0">
              <a:solidFill>
                <a:prstClr val="black"/>
              </a:solidFill>
              <a:latin typeface="Calibri" panose="020F0502020204030204"/>
              <a:ea typeface="+mn-ea"/>
              <a:cs typeface="+mn-cs"/>
            </a:endParaRPr>
          </a:p>
        </p:txBody>
      </p:sp>
      <p:sp>
        <p:nvSpPr>
          <p:cNvPr id="158" name="Shape 153"/>
          <p:cNvSpPr/>
          <p:nvPr/>
        </p:nvSpPr>
        <p:spPr>
          <a:xfrm>
            <a:off x="6858000" y="558612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59" name="Text 154"/>
          <p:cNvSpPr/>
          <p:nvPr/>
        </p:nvSpPr>
        <p:spPr>
          <a:xfrm>
            <a:off x="6858000" y="5345620"/>
            <a:ext cx="287782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Mantener estándares Senior</a:t>
            </a:r>
            <a:endParaRPr lang="en-US" sz="1200" kern="1200" dirty="0">
              <a:solidFill>
                <a:prstClr val="black"/>
              </a:solidFill>
              <a:latin typeface="Calibri" panose="020F0502020204030204"/>
              <a:ea typeface="+mn-ea"/>
              <a:cs typeface="+mn-cs"/>
            </a:endParaRPr>
          </a:p>
        </p:txBody>
      </p:sp>
      <p:sp>
        <p:nvSpPr>
          <p:cNvPr id="160" name="Shape 155"/>
          <p:cNvSpPr/>
          <p:nvPr/>
        </p:nvSpPr>
        <p:spPr>
          <a:xfrm>
            <a:off x="9652001" y="558612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1" name="Text 156"/>
          <p:cNvSpPr/>
          <p:nvPr/>
        </p:nvSpPr>
        <p:spPr>
          <a:xfrm>
            <a:off x="9652001" y="5345620"/>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a:t>
            </a:r>
            <a:endParaRPr lang="en-US" sz="1200" kern="1200" dirty="0">
              <a:solidFill>
                <a:prstClr val="black"/>
              </a:solidFill>
              <a:latin typeface="Calibri" panose="020F0502020204030204"/>
              <a:ea typeface="+mn-ea"/>
              <a:cs typeface="+mn-cs"/>
            </a:endParaRPr>
          </a:p>
        </p:txBody>
      </p:sp>
      <p:sp>
        <p:nvSpPr>
          <p:cNvPr id="162" name="Text 157"/>
          <p:cNvSpPr/>
          <p:nvPr/>
        </p:nvSpPr>
        <p:spPr>
          <a:xfrm>
            <a:off x="635000" y="5650332"/>
            <a:ext cx="2158365" cy="208756"/>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Juan Pino</a:t>
            </a:r>
            <a:endParaRPr lang="en-US" sz="1200" kern="1200" dirty="0">
              <a:solidFill>
                <a:prstClr val="black"/>
              </a:solidFill>
              <a:latin typeface="Calibri" panose="020F0502020204030204"/>
              <a:ea typeface="+mn-ea"/>
              <a:cs typeface="+mn-cs"/>
            </a:endParaRPr>
          </a:p>
        </p:txBody>
      </p:sp>
      <p:sp>
        <p:nvSpPr>
          <p:cNvPr id="163" name="Shape 158"/>
          <p:cNvSpPr/>
          <p:nvPr/>
        </p:nvSpPr>
        <p:spPr>
          <a:xfrm>
            <a:off x="2730501" y="5631325"/>
            <a:ext cx="601927" cy="221368"/>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4" name="Text 159"/>
          <p:cNvSpPr/>
          <p:nvPr/>
        </p:nvSpPr>
        <p:spPr>
          <a:xfrm>
            <a:off x="2806700" y="5650375"/>
            <a:ext cx="50972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65" name="Text 160"/>
          <p:cNvSpPr/>
          <p:nvPr/>
        </p:nvSpPr>
        <p:spPr>
          <a:xfrm>
            <a:off x="3937000" y="5650332"/>
            <a:ext cx="1701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166" name="Text 161"/>
          <p:cNvSpPr/>
          <p:nvPr/>
        </p:nvSpPr>
        <p:spPr>
          <a:xfrm>
            <a:off x="5588001" y="5650332"/>
            <a:ext cx="132080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Nivel máximo</a:t>
            </a:r>
            <a:endParaRPr lang="en-US" sz="1200" kern="1200" dirty="0">
              <a:solidFill>
                <a:prstClr val="black"/>
              </a:solidFill>
              <a:latin typeface="Calibri" panose="020F0502020204030204"/>
              <a:ea typeface="+mn-ea"/>
              <a:cs typeface="+mn-cs"/>
            </a:endParaRPr>
          </a:p>
        </p:txBody>
      </p:sp>
      <p:sp>
        <p:nvSpPr>
          <p:cNvPr id="167" name="Text 162"/>
          <p:cNvSpPr/>
          <p:nvPr/>
        </p:nvSpPr>
        <p:spPr>
          <a:xfrm>
            <a:off x="6858000" y="5650332"/>
            <a:ext cx="287782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Mantener estándares Senior</a:t>
            </a:r>
            <a:endParaRPr lang="en-US" sz="1200" kern="1200" dirty="0">
              <a:solidFill>
                <a:prstClr val="black"/>
              </a:solidFill>
              <a:latin typeface="Calibri" panose="020F0502020204030204"/>
              <a:ea typeface="+mn-ea"/>
              <a:cs typeface="+mn-cs"/>
            </a:endParaRPr>
          </a:p>
        </p:txBody>
      </p:sp>
      <p:sp>
        <p:nvSpPr>
          <p:cNvPr id="168" name="Text 163"/>
          <p:cNvSpPr/>
          <p:nvPr/>
        </p:nvSpPr>
        <p:spPr>
          <a:xfrm>
            <a:off x="9652001" y="5650332"/>
            <a:ext cx="1962150" cy="208756"/>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a:t>
            </a:r>
            <a:endParaRPr lang="en-US" sz="1200" kern="1200" dirty="0">
              <a:solidFill>
                <a:prstClr val="black"/>
              </a:solidFill>
              <a:latin typeface="Calibri" panose="020F0502020204030204"/>
              <a:ea typeface="+mn-ea"/>
              <a:cs typeface="+mn-cs"/>
            </a:endParaRPr>
          </a:p>
        </p:txBody>
      </p:sp>
      <p:sp>
        <p:nvSpPr>
          <p:cNvPr id="169" name="Text 164"/>
          <p:cNvSpPr/>
          <p:nvPr/>
        </p:nvSpPr>
        <p:spPr>
          <a:xfrm>
            <a:off x="635000" y="6005050"/>
            <a:ext cx="12014201"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Challenge y requisitos comunes según lámina 1. El avance individual (meses cumplidos, productividad, evaluaciones) se completa con los datos de cada técnico.</a:t>
            </a:r>
            <a:endParaRPr lang="en-US" sz="1200" kern="1200" dirty="0">
              <a:solidFill>
                <a:prstClr val="black"/>
              </a:solidFill>
              <a:latin typeface="Calibri" panose="020F0502020204030204"/>
              <a:ea typeface="+mn-ea"/>
              <a:cs typeface="+mn-cs"/>
            </a:endParaRPr>
          </a:p>
        </p:txBody>
      </p:sp>
      <p:pic>
        <p:nvPicPr>
          <p:cNvPr id="170"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171"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172"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173" name="Text 165"/>
          <p:cNvSpPr/>
          <p:nvPr/>
        </p:nvSpPr>
        <p:spPr>
          <a:xfrm>
            <a:off x="11776605" y="6484056"/>
            <a:ext cx="136018"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2</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0179" y="177712"/>
            <a:ext cx="9993907" cy="469900"/>
          </a:xfrm>
          <a:prstGeom prst="rect">
            <a:avLst/>
          </a:prstGeom>
          <a:noFill/>
          <a:ln/>
        </p:spPr>
        <p:txBody>
          <a:bodyPr wrap="square" lIns="16933" tIns="16933" rIns="16933" bIns="16933" rtlCol="0" anchor="ctr">
            <a:normAutofit/>
          </a:bodyPr>
          <a:lstStyle/>
          <a:p>
            <a:pPr defTabSz="609630">
              <a:buClrTx/>
            </a:pPr>
            <a:r>
              <a:rPr lang="en-US" sz="1800" b="1" kern="1200" dirty="0">
                <a:solidFill>
                  <a:srgbClr val="373C46"/>
                </a:solidFill>
                <a:latin typeface="Figtree" pitchFamily="34" charset="0"/>
                <a:ea typeface="Figtree" pitchFamily="34" charset="-122"/>
                <a:cs typeface="Figtree" pitchFamily="34" charset="-120"/>
              </a:rPr>
              <a:t>Status de cada ingeniero de servicio en el plan de carrera</a:t>
            </a:r>
            <a:endParaRPr lang="en-US" sz="1800" kern="1200" dirty="0">
              <a:solidFill>
                <a:prstClr val="black"/>
              </a:solidFill>
              <a:latin typeface="Calibri" panose="020F0502020204030204"/>
              <a:ea typeface="+mn-ea"/>
              <a:cs typeface="+mn-cs"/>
            </a:endParaRPr>
          </a:p>
        </p:txBody>
      </p:sp>
      <p:pic>
        <p:nvPicPr>
          <p:cNvPr id="3" name="Image 0" descr="preencoded.png"/>
          <p:cNvPicPr>
            <a:picLocks noChangeAspect="1"/>
          </p:cNvPicPr>
          <p:nvPr/>
        </p:nvPicPr>
        <p:blipFill>
          <a:blip r:embed="rId3"/>
          <a:stretch>
            <a:fillRect/>
          </a:stretch>
        </p:blipFill>
        <p:spPr>
          <a:xfrm>
            <a:off x="10622030" y="139678"/>
            <a:ext cx="377031" cy="381000"/>
          </a:xfrm>
          <a:prstGeom prst="rect">
            <a:avLst/>
          </a:prstGeom>
        </p:spPr>
      </p:pic>
      <p:pic>
        <p:nvPicPr>
          <p:cNvPr id="4" name="Image 1" descr="preencoded.png"/>
          <p:cNvPicPr>
            <a:picLocks noChangeAspect="1"/>
          </p:cNvPicPr>
          <p:nvPr/>
        </p:nvPicPr>
        <p:blipFill>
          <a:blip r:embed="rId4"/>
          <a:stretch>
            <a:fillRect/>
          </a:stretch>
        </p:blipFill>
        <p:spPr>
          <a:xfrm>
            <a:off x="11100595" y="139678"/>
            <a:ext cx="381000" cy="381000"/>
          </a:xfrm>
          <a:prstGeom prst="rect">
            <a:avLst/>
          </a:prstGeom>
        </p:spPr>
      </p:pic>
      <p:pic>
        <p:nvPicPr>
          <p:cNvPr id="5" name="Image 2" descr="preencoded.png"/>
          <p:cNvPicPr>
            <a:picLocks noChangeAspect="1"/>
          </p:cNvPicPr>
          <p:nvPr/>
        </p:nvPicPr>
        <p:blipFill>
          <a:blip r:embed="rId5"/>
          <a:stretch>
            <a:fillRect/>
          </a:stretch>
        </p:blipFill>
        <p:spPr>
          <a:xfrm>
            <a:off x="11583128" y="139678"/>
            <a:ext cx="354873" cy="381000"/>
          </a:xfrm>
          <a:prstGeom prst="rect">
            <a:avLst/>
          </a:prstGeom>
        </p:spPr>
      </p:pic>
      <p:sp>
        <p:nvSpPr>
          <p:cNvPr id="6" name="Shape 1"/>
          <p:cNvSpPr/>
          <p:nvPr/>
        </p:nvSpPr>
        <p:spPr>
          <a:xfrm>
            <a:off x="0" y="717462"/>
            <a:ext cx="12192001" cy="57106"/>
          </a:xfrm>
          <a:prstGeom prst="rect">
            <a:avLst/>
          </a:prstGeom>
          <a:solidFill>
            <a:srgbClr val="28D2C3"/>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 name="Shape 2"/>
          <p:cNvSpPr/>
          <p:nvPr/>
        </p:nvSpPr>
        <p:spPr>
          <a:xfrm>
            <a:off x="635000" y="1232408"/>
            <a:ext cx="2095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 name="Text 3"/>
          <p:cNvSpPr/>
          <p:nvPr/>
        </p:nvSpPr>
        <p:spPr>
          <a:xfrm>
            <a:off x="635000" y="972785"/>
            <a:ext cx="2158365"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Ingeniero</a:t>
            </a:r>
            <a:endParaRPr lang="en-US" sz="1200" kern="1200" dirty="0">
              <a:solidFill>
                <a:prstClr val="black"/>
              </a:solidFill>
              <a:latin typeface="Calibri" panose="020F0502020204030204"/>
              <a:ea typeface="+mn-ea"/>
              <a:cs typeface="+mn-cs"/>
            </a:endParaRPr>
          </a:p>
        </p:txBody>
      </p:sp>
      <p:sp>
        <p:nvSpPr>
          <p:cNvPr id="9" name="Shape 4"/>
          <p:cNvSpPr/>
          <p:nvPr/>
        </p:nvSpPr>
        <p:spPr>
          <a:xfrm>
            <a:off x="2730500" y="1232408"/>
            <a:ext cx="12065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 name="Text 5"/>
          <p:cNvSpPr/>
          <p:nvPr/>
        </p:nvSpPr>
        <p:spPr>
          <a:xfrm>
            <a:off x="2730500" y="972785"/>
            <a:ext cx="12573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Nivel actual</a:t>
            </a:r>
            <a:endParaRPr lang="en-US" sz="1200" kern="1200" dirty="0">
              <a:solidFill>
                <a:prstClr val="black"/>
              </a:solidFill>
              <a:latin typeface="Calibri" panose="020F0502020204030204"/>
              <a:ea typeface="+mn-ea"/>
              <a:cs typeface="+mn-cs"/>
            </a:endParaRPr>
          </a:p>
        </p:txBody>
      </p:sp>
      <p:sp>
        <p:nvSpPr>
          <p:cNvPr id="11" name="Shape 6"/>
          <p:cNvSpPr/>
          <p:nvPr/>
        </p:nvSpPr>
        <p:spPr>
          <a:xfrm>
            <a:off x="3937000" y="1232408"/>
            <a:ext cx="1651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2" name="Text 7"/>
          <p:cNvSpPr/>
          <p:nvPr/>
        </p:nvSpPr>
        <p:spPr>
          <a:xfrm>
            <a:off x="3937000" y="972785"/>
            <a:ext cx="1701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Supervisor</a:t>
            </a:r>
            <a:endParaRPr lang="en-US" sz="1200" kern="1200" dirty="0">
              <a:solidFill>
                <a:prstClr val="black"/>
              </a:solidFill>
              <a:latin typeface="Calibri" panose="020F0502020204030204"/>
              <a:ea typeface="+mn-ea"/>
              <a:cs typeface="+mn-cs"/>
            </a:endParaRPr>
          </a:p>
        </p:txBody>
      </p:sp>
      <p:sp>
        <p:nvSpPr>
          <p:cNvPr id="13" name="Shape 8"/>
          <p:cNvSpPr/>
          <p:nvPr/>
        </p:nvSpPr>
        <p:spPr>
          <a:xfrm>
            <a:off x="5588001" y="1232408"/>
            <a:ext cx="1270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4" name="Text 9"/>
          <p:cNvSpPr/>
          <p:nvPr/>
        </p:nvSpPr>
        <p:spPr>
          <a:xfrm>
            <a:off x="5588001" y="972785"/>
            <a:ext cx="132080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Próximo nivel</a:t>
            </a:r>
            <a:endParaRPr lang="en-US" sz="1200" kern="1200" dirty="0">
              <a:solidFill>
                <a:prstClr val="black"/>
              </a:solidFill>
              <a:latin typeface="Calibri" panose="020F0502020204030204"/>
              <a:ea typeface="+mn-ea"/>
              <a:cs typeface="+mn-cs"/>
            </a:endParaRPr>
          </a:p>
        </p:txBody>
      </p:sp>
      <p:sp>
        <p:nvSpPr>
          <p:cNvPr id="15" name="Shape 10"/>
          <p:cNvSpPr/>
          <p:nvPr/>
        </p:nvSpPr>
        <p:spPr>
          <a:xfrm>
            <a:off x="6858000" y="1232408"/>
            <a:ext cx="2794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6" name="Text 11"/>
          <p:cNvSpPr/>
          <p:nvPr/>
        </p:nvSpPr>
        <p:spPr>
          <a:xfrm>
            <a:off x="6858000" y="972785"/>
            <a:ext cx="287782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Para subir necesita</a:t>
            </a:r>
            <a:endParaRPr lang="en-US" sz="1200" kern="1200" dirty="0">
              <a:solidFill>
                <a:prstClr val="black"/>
              </a:solidFill>
              <a:latin typeface="Calibri" panose="020F0502020204030204"/>
              <a:ea typeface="+mn-ea"/>
              <a:cs typeface="+mn-cs"/>
            </a:endParaRPr>
          </a:p>
        </p:txBody>
      </p:sp>
      <p:sp>
        <p:nvSpPr>
          <p:cNvPr id="17" name="Shape 12"/>
          <p:cNvSpPr/>
          <p:nvPr/>
        </p:nvSpPr>
        <p:spPr>
          <a:xfrm>
            <a:off x="9652001" y="1232408"/>
            <a:ext cx="1905000" cy="7055"/>
          </a:xfrm>
          <a:prstGeom prst="rect">
            <a:avLst/>
          </a:prstGeom>
          <a:solidFill>
            <a:srgbClr val="373C4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8" name="Text 13"/>
          <p:cNvSpPr/>
          <p:nvPr/>
        </p:nvSpPr>
        <p:spPr>
          <a:xfrm>
            <a:off x="9652001" y="972785"/>
            <a:ext cx="1962150" cy="208823"/>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6B707C"/>
                </a:solidFill>
                <a:latin typeface="Figtree" pitchFamily="34" charset="0"/>
                <a:ea typeface="Figtree" pitchFamily="34" charset="-122"/>
                <a:cs typeface="Figtree" pitchFamily="34" charset="-120"/>
              </a:rPr>
              <a:t>Al subir</a:t>
            </a:r>
            <a:endParaRPr lang="en-US" sz="1200" kern="1200" dirty="0">
              <a:solidFill>
                <a:prstClr val="black"/>
              </a:solidFill>
              <a:latin typeface="Calibri" panose="020F0502020204030204"/>
              <a:ea typeface="+mn-ea"/>
              <a:cs typeface="+mn-cs"/>
            </a:endParaRPr>
          </a:p>
        </p:txBody>
      </p:sp>
      <p:sp>
        <p:nvSpPr>
          <p:cNvPr id="19" name="Shape 14"/>
          <p:cNvSpPr/>
          <p:nvPr/>
        </p:nvSpPr>
        <p:spPr>
          <a:xfrm>
            <a:off x="635000" y="172122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0" name="Text 15"/>
          <p:cNvSpPr/>
          <p:nvPr/>
        </p:nvSpPr>
        <p:spPr>
          <a:xfrm>
            <a:off x="635000" y="1436313"/>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Ignacio Miranda</a:t>
            </a:r>
            <a:endParaRPr lang="en-US" sz="1200" kern="1200" dirty="0">
              <a:solidFill>
                <a:prstClr val="black"/>
              </a:solidFill>
              <a:latin typeface="Calibri" panose="020F0502020204030204"/>
              <a:ea typeface="+mn-ea"/>
              <a:cs typeface="+mn-cs"/>
            </a:endParaRPr>
          </a:p>
        </p:txBody>
      </p:sp>
      <p:sp>
        <p:nvSpPr>
          <p:cNvPr id="21" name="Shape 16"/>
          <p:cNvSpPr/>
          <p:nvPr/>
        </p:nvSpPr>
        <p:spPr>
          <a:xfrm>
            <a:off x="2730500" y="172122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2" name="Shape 17"/>
          <p:cNvSpPr/>
          <p:nvPr/>
        </p:nvSpPr>
        <p:spPr>
          <a:xfrm>
            <a:off x="2730500" y="1417285"/>
            <a:ext cx="669727" cy="221368"/>
          </a:xfrm>
          <a:prstGeom prst="rect">
            <a:avLst/>
          </a:prstGeom>
          <a:solidFill>
            <a:srgbClr val="C9CBFB"/>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3" name="Text 18"/>
          <p:cNvSpPr/>
          <p:nvPr/>
        </p:nvSpPr>
        <p:spPr>
          <a:xfrm>
            <a:off x="2806701" y="1436335"/>
            <a:ext cx="584299"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1E2190"/>
                </a:solidFill>
                <a:latin typeface="Figtree" pitchFamily="34" charset="0"/>
                <a:ea typeface="Figtree" pitchFamily="34" charset="-122"/>
                <a:cs typeface="Figtree" pitchFamily="34" charset="-120"/>
              </a:rPr>
              <a:t>Trainee</a:t>
            </a:r>
            <a:endParaRPr lang="en-US" sz="1200" kern="1200" dirty="0">
              <a:solidFill>
                <a:prstClr val="black"/>
              </a:solidFill>
              <a:latin typeface="Calibri" panose="020F0502020204030204"/>
              <a:ea typeface="+mn-ea"/>
              <a:cs typeface="+mn-cs"/>
            </a:endParaRPr>
          </a:p>
        </p:txBody>
      </p:sp>
      <p:sp>
        <p:nvSpPr>
          <p:cNvPr id="24" name="Shape 19"/>
          <p:cNvSpPr/>
          <p:nvPr/>
        </p:nvSpPr>
        <p:spPr>
          <a:xfrm>
            <a:off x="3937000" y="172122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5" name="Text 20"/>
          <p:cNvSpPr/>
          <p:nvPr/>
        </p:nvSpPr>
        <p:spPr>
          <a:xfrm>
            <a:off x="3937000" y="1436313"/>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26" name="Shape 21"/>
          <p:cNvSpPr/>
          <p:nvPr/>
        </p:nvSpPr>
        <p:spPr>
          <a:xfrm>
            <a:off x="5588001" y="172122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7" name="Text 22"/>
          <p:cNvSpPr/>
          <p:nvPr/>
        </p:nvSpPr>
        <p:spPr>
          <a:xfrm>
            <a:off x="5588001" y="1436313"/>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28" name="Shape 23"/>
          <p:cNvSpPr/>
          <p:nvPr/>
        </p:nvSpPr>
        <p:spPr>
          <a:xfrm>
            <a:off x="6858000" y="181647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29" name="Text 24"/>
          <p:cNvSpPr/>
          <p:nvPr/>
        </p:nvSpPr>
        <p:spPr>
          <a:xfrm>
            <a:off x="6858000" y="1341063"/>
            <a:ext cx="2877820" cy="3992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Indefinido · ≥ 8 meses · prod. ≥ 1,4 · challenge Junior</a:t>
            </a:r>
            <a:endParaRPr lang="en-US" sz="1200" kern="1200" dirty="0">
              <a:solidFill>
                <a:prstClr val="black"/>
              </a:solidFill>
              <a:latin typeface="Calibri" panose="020F0502020204030204"/>
              <a:ea typeface="+mn-ea"/>
              <a:cs typeface="+mn-cs"/>
            </a:endParaRPr>
          </a:p>
        </p:txBody>
      </p:sp>
      <p:sp>
        <p:nvSpPr>
          <p:cNvPr id="30" name="Shape 25"/>
          <p:cNvSpPr/>
          <p:nvPr/>
        </p:nvSpPr>
        <p:spPr>
          <a:xfrm>
            <a:off x="9652001" y="1812948"/>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1" name="Text 26"/>
          <p:cNvSpPr/>
          <p:nvPr/>
        </p:nvSpPr>
        <p:spPr>
          <a:xfrm>
            <a:off x="9652001" y="1344591"/>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$1,35–1,5 MM · bono $400 mil</a:t>
            </a:r>
            <a:endParaRPr lang="en-US" sz="1200" kern="1200" dirty="0">
              <a:solidFill>
                <a:prstClr val="black"/>
              </a:solidFill>
              <a:latin typeface="Calibri" panose="020F0502020204030204"/>
              <a:ea typeface="+mn-ea"/>
              <a:cs typeface="+mn-cs"/>
            </a:endParaRPr>
          </a:p>
        </p:txBody>
      </p:sp>
      <p:sp>
        <p:nvSpPr>
          <p:cNvPr id="32" name="Shape 27"/>
          <p:cNvSpPr/>
          <p:nvPr/>
        </p:nvSpPr>
        <p:spPr>
          <a:xfrm>
            <a:off x="635000" y="2305293"/>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3" name="Text 28"/>
          <p:cNvSpPr/>
          <p:nvPr/>
        </p:nvSpPr>
        <p:spPr>
          <a:xfrm>
            <a:off x="635000" y="2020381"/>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Ignacio Muñoz</a:t>
            </a:r>
            <a:endParaRPr lang="en-US" sz="1200" kern="1200" dirty="0">
              <a:solidFill>
                <a:prstClr val="black"/>
              </a:solidFill>
              <a:latin typeface="Calibri" panose="020F0502020204030204"/>
              <a:ea typeface="+mn-ea"/>
              <a:cs typeface="+mn-cs"/>
            </a:endParaRPr>
          </a:p>
        </p:txBody>
      </p:sp>
      <p:sp>
        <p:nvSpPr>
          <p:cNvPr id="34" name="Shape 29"/>
          <p:cNvSpPr/>
          <p:nvPr/>
        </p:nvSpPr>
        <p:spPr>
          <a:xfrm>
            <a:off x="2730500" y="2305293"/>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5" name="Shape 30"/>
          <p:cNvSpPr/>
          <p:nvPr/>
        </p:nvSpPr>
        <p:spPr>
          <a:xfrm>
            <a:off x="2730501" y="2001353"/>
            <a:ext cx="595643" cy="221368"/>
          </a:xfrm>
          <a:prstGeom prst="rect">
            <a:avLst/>
          </a:prstGeom>
          <a:solidFill>
            <a:srgbClr val="8F93F6"/>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6" name="Text 31"/>
          <p:cNvSpPr/>
          <p:nvPr/>
        </p:nvSpPr>
        <p:spPr>
          <a:xfrm>
            <a:off x="2806701" y="2020403"/>
            <a:ext cx="502807"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Junior</a:t>
            </a:r>
            <a:endParaRPr lang="en-US" sz="1200" kern="1200" dirty="0">
              <a:solidFill>
                <a:prstClr val="black"/>
              </a:solidFill>
              <a:latin typeface="Calibri" panose="020F0502020204030204"/>
              <a:ea typeface="+mn-ea"/>
              <a:cs typeface="+mn-cs"/>
            </a:endParaRPr>
          </a:p>
        </p:txBody>
      </p:sp>
      <p:sp>
        <p:nvSpPr>
          <p:cNvPr id="37" name="Shape 32"/>
          <p:cNvSpPr/>
          <p:nvPr/>
        </p:nvSpPr>
        <p:spPr>
          <a:xfrm>
            <a:off x="3937000" y="2305293"/>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38" name="Text 33"/>
          <p:cNvSpPr/>
          <p:nvPr/>
        </p:nvSpPr>
        <p:spPr>
          <a:xfrm>
            <a:off x="3937000" y="2020381"/>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39" name="Shape 34"/>
          <p:cNvSpPr/>
          <p:nvPr/>
        </p:nvSpPr>
        <p:spPr>
          <a:xfrm>
            <a:off x="5588001" y="2305293"/>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0" name="Text 35"/>
          <p:cNvSpPr/>
          <p:nvPr/>
        </p:nvSpPr>
        <p:spPr>
          <a:xfrm>
            <a:off x="5588001" y="2020381"/>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41" name="Shape 36"/>
          <p:cNvSpPr/>
          <p:nvPr/>
        </p:nvSpPr>
        <p:spPr>
          <a:xfrm>
            <a:off x="6858000" y="2400543"/>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2" name="Text 37"/>
          <p:cNvSpPr/>
          <p:nvPr/>
        </p:nvSpPr>
        <p:spPr>
          <a:xfrm>
            <a:off x="6858000" y="1925131"/>
            <a:ext cx="2877820" cy="3992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12 meses · prod. ≥ 1,6 · challenge Intermedio</a:t>
            </a:r>
            <a:endParaRPr lang="en-US" sz="1200" kern="1200" dirty="0">
              <a:solidFill>
                <a:prstClr val="black"/>
              </a:solidFill>
              <a:latin typeface="Calibri" panose="020F0502020204030204"/>
              <a:ea typeface="+mn-ea"/>
              <a:cs typeface="+mn-cs"/>
            </a:endParaRPr>
          </a:p>
        </p:txBody>
      </p:sp>
      <p:sp>
        <p:nvSpPr>
          <p:cNvPr id="43" name="Shape 38"/>
          <p:cNvSpPr/>
          <p:nvPr/>
        </p:nvSpPr>
        <p:spPr>
          <a:xfrm>
            <a:off x="9652001" y="2397015"/>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4" name="Text 39"/>
          <p:cNvSpPr/>
          <p:nvPr/>
        </p:nvSpPr>
        <p:spPr>
          <a:xfrm>
            <a:off x="9652001" y="1928658"/>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$1,55–1,8 MM · bono $400 mil</a:t>
            </a:r>
            <a:endParaRPr lang="en-US" sz="1200" kern="1200" dirty="0">
              <a:solidFill>
                <a:prstClr val="black"/>
              </a:solidFill>
              <a:latin typeface="Calibri" panose="020F0502020204030204"/>
              <a:ea typeface="+mn-ea"/>
              <a:cs typeface="+mn-cs"/>
            </a:endParaRPr>
          </a:p>
        </p:txBody>
      </p:sp>
      <p:sp>
        <p:nvSpPr>
          <p:cNvPr id="45" name="Shape 40"/>
          <p:cNvSpPr/>
          <p:nvPr/>
        </p:nvSpPr>
        <p:spPr>
          <a:xfrm>
            <a:off x="635000" y="2889361"/>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6" name="Text 41"/>
          <p:cNvSpPr/>
          <p:nvPr/>
        </p:nvSpPr>
        <p:spPr>
          <a:xfrm>
            <a:off x="635000" y="2604448"/>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Paulo Esteves</a:t>
            </a:r>
            <a:endParaRPr lang="en-US" sz="1200" kern="1200" dirty="0">
              <a:solidFill>
                <a:prstClr val="black"/>
              </a:solidFill>
              <a:latin typeface="Calibri" panose="020F0502020204030204"/>
              <a:ea typeface="+mn-ea"/>
              <a:cs typeface="+mn-cs"/>
            </a:endParaRPr>
          </a:p>
        </p:txBody>
      </p:sp>
      <p:sp>
        <p:nvSpPr>
          <p:cNvPr id="47" name="Shape 42"/>
          <p:cNvSpPr/>
          <p:nvPr/>
        </p:nvSpPr>
        <p:spPr>
          <a:xfrm>
            <a:off x="2730500" y="2889361"/>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8" name="Shape 43"/>
          <p:cNvSpPr/>
          <p:nvPr/>
        </p:nvSpPr>
        <p:spPr>
          <a:xfrm>
            <a:off x="2730501" y="2585420"/>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49" name="Text 44"/>
          <p:cNvSpPr/>
          <p:nvPr/>
        </p:nvSpPr>
        <p:spPr>
          <a:xfrm>
            <a:off x="2806700" y="2604470"/>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50" name="Shape 45"/>
          <p:cNvSpPr/>
          <p:nvPr/>
        </p:nvSpPr>
        <p:spPr>
          <a:xfrm>
            <a:off x="3937000" y="2889361"/>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1" name="Text 46"/>
          <p:cNvSpPr/>
          <p:nvPr/>
        </p:nvSpPr>
        <p:spPr>
          <a:xfrm>
            <a:off x="3937000" y="2604448"/>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52" name="Shape 47"/>
          <p:cNvSpPr/>
          <p:nvPr/>
        </p:nvSpPr>
        <p:spPr>
          <a:xfrm>
            <a:off x="5588001" y="2889361"/>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3" name="Text 48"/>
          <p:cNvSpPr/>
          <p:nvPr/>
        </p:nvSpPr>
        <p:spPr>
          <a:xfrm>
            <a:off x="5588001" y="2604448"/>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54" name="Shape 49"/>
          <p:cNvSpPr/>
          <p:nvPr/>
        </p:nvSpPr>
        <p:spPr>
          <a:xfrm>
            <a:off x="6858000" y="2984611"/>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5" name="Text 50"/>
          <p:cNvSpPr/>
          <p:nvPr/>
        </p:nvSpPr>
        <p:spPr>
          <a:xfrm>
            <a:off x="6858000" y="2509198"/>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56" name="Shape 51"/>
          <p:cNvSpPr/>
          <p:nvPr/>
        </p:nvSpPr>
        <p:spPr>
          <a:xfrm>
            <a:off x="9652001" y="2981083"/>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7" name="Text 52"/>
          <p:cNvSpPr/>
          <p:nvPr/>
        </p:nvSpPr>
        <p:spPr>
          <a:xfrm>
            <a:off x="9652001" y="2512726"/>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58" name="Shape 53"/>
          <p:cNvSpPr/>
          <p:nvPr/>
        </p:nvSpPr>
        <p:spPr>
          <a:xfrm>
            <a:off x="635000" y="3473429"/>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59" name="Text 54"/>
          <p:cNvSpPr/>
          <p:nvPr/>
        </p:nvSpPr>
        <p:spPr>
          <a:xfrm>
            <a:off x="635000" y="3188516"/>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Maximiliano Gutierrez</a:t>
            </a:r>
            <a:endParaRPr lang="en-US" sz="1200" kern="1200" dirty="0">
              <a:solidFill>
                <a:prstClr val="black"/>
              </a:solidFill>
              <a:latin typeface="Calibri" panose="020F0502020204030204"/>
              <a:ea typeface="+mn-ea"/>
              <a:cs typeface="+mn-cs"/>
            </a:endParaRPr>
          </a:p>
        </p:txBody>
      </p:sp>
      <p:sp>
        <p:nvSpPr>
          <p:cNvPr id="60" name="Shape 55"/>
          <p:cNvSpPr/>
          <p:nvPr/>
        </p:nvSpPr>
        <p:spPr>
          <a:xfrm>
            <a:off x="2730500" y="3473429"/>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1" name="Shape 56"/>
          <p:cNvSpPr/>
          <p:nvPr/>
        </p:nvSpPr>
        <p:spPr>
          <a:xfrm>
            <a:off x="2730501" y="3169488"/>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2" name="Text 57"/>
          <p:cNvSpPr/>
          <p:nvPr/>
        </p:nvSpPr>
        <p:spPr>
          <a:xfrm>
            <a:off x="2806700" y="3188538"/>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63" name="Shape 58"/>
          <p:cNvSpPr/>
          <p:nvPr/>
        </p:nvSpPr>
        <p:spPr>
          <a:xfrm>
            <a:off x="3937000" y="3473429"/>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4" name="Text 59"/>
          <p:cNvSpPr/>
          <p:nvPr/>
        </p:nvSpPr>
        <p:spPr>
          <a:xfrm>
            <a:off x="3937000" y="3188516"/>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65" name="Shape 60"/>
          <p:cNvSpPr/>
          <p:nvPr/>
        </p:nvSpPr>
        <p:spPr>
          <a:xfrm>
            <a:off x="5588001" y="3473429"/>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6" name="Text 61"/>
          <p:cNvSpPr/>
          <p:nvPr/>
        </p:nvSpPr>
        <p:spPr>
          <a:xfrm>
            <a:off x="5588001" y="3188516"/>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67" name="Shape 62"/>
          <p:cNvSpPr/>
          <p:nvPr/>
        </p:nvSpPr>
        <p:spPr>
          <a:xfrm>
            <a:off x="6858000" y="3568679"/>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68" name="Text 63"/>
          <p:cNvSpPr/>
          <p:nvPr/>
        </p:nvSpPr>
        <p:spPr>
          <a:xfrm>
            <a:off x="6858000" y="3093266"/>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69" name="Shape 64"/>
          <p:cNvSpPr/>
          <p:nvPr/>
        </p:nvSpPr>
        <p:spPr>
          <a:xfrm>
            <a:off x="9652001" y="3565151"/>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0" name="Text 65"/>
          <p:cNvSpPr/>
          <p:nvPr/>
        </p:nvSpPr>
        <p:spPr>
          <a:xfrm>
            <a:off x="9652001" y="3096794"/>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71" name="Shape 66"/>
          <p:cNvSpPr/>
          <p:nvPr/>
        </p:nvSpPr>
        <p:spPr>
          <a:xfrm>
            <a:off x="635000" y="4057497"/>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2" name="Text 67"/>
          <p:cNvSpPr/>
          <p:nvPr/>
        </p:nvSpPr>
        <p:spPr>
          <a:xfrm>
            <a:off x="635000" y="3772584"/>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Mario Montenegro</a:t>
            </a:r>
            <a:endParaRPr lang="en-US" sz="1200" kern="1200" dirty="0">
              <a:solidFill>
                <a:prstClr val="black"/>
              </a:solidFill>
              <a:latin typeface="Calibri" panose="020F0502020204030204"/>
              <a:ea typeface="+mn-ea"/>
              <a:cs typeface="+mn-cs"/>
            </a:endParaRPr>
          </a:p>
        </p:txBody>
      </p:sp>
      <p:sp>
        <p:nvSpPr>
          <p:cNvPr id="73" name="Shape 68"/>
          <p:cNvSpPr/>
          <p:nvPr/>
        </p:nvSpPr>
        <p:spPr>
          <a:xfrm>
            <a:off x="2730500" y="4057497"/>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4" name="Shape 69"/>
          <p:cNvSpPr/>
          <p:nvPr/>
        </p:nvSpPr>
        <p:spPr>
          <a:xfrm>
            <a:off x="2730501" y="3753556"/>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5" name="Text 70"/>
          <p:cNvSpPr/>
          <p:nvPr/>
        </p:nvSpPr>
        <p:spPr>
          <a:xfrm>
            <a:off x="2806700" y="3772606"/>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76" name="Shape 71"/>
          <p:cNvSpPr/>
          <p:nvPr/>
        </p:nvSpPr>
        <p:spPr>
          <a:xfrm>
            <a:off x="3937000" y="4057497"/>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7" name="Text 72"/>
          <p:cNvSpPr/>
          <p:nvPr/>
        </p:nvSpPr>
        <p:spPr>
          <a:xfrm>
            <a:off x="3937000" y="3772584"/>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Jonathan Sumoza</a:t>
            </a:r>
            <a:endParaRPr lang="en-US" sz="1200" kern="1200" dirty="0">
              <a:solidFill>
                <a:prstClr val="black"/>
              </a:solidFill>
              <a:latin typeface="Calibri" panose="020F0502020204030204"/>
              <a:ea typeface="+mn-ea"/>
              <a:cs typeface="+mn-cs"/>
            </a:endParaRPr>
          </a:p>
        </p:txBody>
      </p:sp>
      <p:sp>
        <p:nvSpPr>
          <p:cNvPr id="78" name="Shape 73"/>
          <p:cNvSpPr/>
          <p:nvPr/>
        </p:nvSpPr>
        <p:spPr>
          <a:xfrm>
            <a:off x="5588001" y="4057497"/>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79" name="Text 74"/>
          <p:cNvSpPr/>
          <p:nvPr/>
        </p:nvSpPr>
        <p:spPr>
          <a:xfrm>
            <a:off x="5588001" y="3772584"/>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80" name="Shape 75"/>
          <p:cNvSpPr/>
          <p:nvPr/>
        </p:nvSpPr>
        <p:spPr>
          <a:xfrm>
            <a:off x="6858000" y="4152747"/>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1" name="Text 76"/>
          <p:cNvSpPr/>
          <p:nvPr/>
        </p:nvSpPr>
        <p:spPr>
          <a:xfrm>
            <a:off x="6858000" y="3677334"/>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82" name="Shape 77"/>
          <p:cNvSpPr/>
          <p:nvPr/>
        </p:nvSpPr>
        <p:spPr>
          <a:xfrm>
            <a:off x="9652001" y="4149219"/>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3" name="Text 78"/>
          <p:cNvSpPr/>
          <p:nvPr/>
        </p:nvSpPr>
        <p:spPr>
          <a:xfrm>
            <a:off x="9652001" y="3680862"/>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84" name="Shape 79"/>
          <p:cNvSpPr/>
          <p:nvPr/>
        </p:nvSpPr>
        <p:spPr>
          <a:xfrm>
            <a:off x="635000" y="4641565"/>
            <a:ext cx="2095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5" name="Text 80"/>
          <p:cNvSpPr/>
          <p:nvPr/>
        </p:nvSpPr>
        <p:spPr>
          <a:xfrm>
            <a:off x="635000" y="4356651"/>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Camila Castro</a:t>
            </a:r>
            <a:endParaRPr lang="en-US" sz="1200" kern="1200" dirty="0">
              <a:solidFill>
                <a:prstClr val="black"/>
              </a:solidFill>
              <a:latin typeface="Calibri" panose="020F0502020204030204"/>
              <a:ea typeface="+mn-ea"/>
              <a:cs typeface="+mn-cs"/>
            </a:endParaRPr>
          </a:p>
        </p:txBody>
      </p:sp>
      <p:sp>
        <p:nvSpPr>
          <p:cNvPr id="86" name="Shape 81"/>
          <p:cNvSpPr/>
          <p:nvPr/>
        </p:nvSpPr>
        <p:spPr>
          <a:xfrm>
            <a:off x="2730500" y="4641565"/>
            <a:ext cx="12065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7" name="Shape 82"/>
          <p:cNvSpPr/>
          <p:nvPr/>
        </p:nvSpPr>
        <p:spPr>
          <a:xfrm>
            <a:off x="2730501" y="4337623"/>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88" name="Text 83"/>
          <p:cNvSpPr/>
          <p:nvPr/>
        </p:nvSpPr>
        <p:spPr>
          <a:xfrm>
            <a:off x="2806700" y="4356673"/>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89" name="Shape 84"/>
          <p:cNvSpPr/>
          <p:nvPr/>
        </p:nvSpPr>
        <p:spPr>
          <a:xfrm>
            <a:off x="3937000" y="4641565"/>
            <a:ext cx="1651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0" name="Text 85"/>
          <p:cNvSpPr/>
          <p:nvPr/>
        </p:nvSpPr>
        <p:spPr>
          <a:xfrm>
            <a:off x="3937000" y="4356651"/>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91" name="Shape 86"/>
          <p:cNvSpPr/>
          <p:nvPr/>
        </p:nvSpPr>
        <p:spPr>
          <a:xfrm>
            <a:off x="5588001" y="4641565"/>
            <a:ext cx="1270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2" name="Text 87"/>
          <p:cNvSpPr/>
          <p:nvPr/>
        </p:nvSpPr>
        <p:spPr>
          <a:xfrm>
            <a:off x="5588001" y="4356651"/>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93" name="Shape 88"/>
          <p:cNvSpPr/>
          <p:nvPr/>
        </p:nvSpPr>
        <p:spPr>
          <a:xfrm>
            <a:off x="6858000" y="4736815"/>
            <a:ext cx="2794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4" name="Text 89"/>
          <p:cNvSpPr/>
          <p:nvPr/>
        </p:nvSpPr>
        <p:spPr>
          <a:xfrm>
            <a:off x="6858000" y="4261401"/>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95" name="Shape 90"/>
          <p:cNvSpPr/>
          <p:nvPr/>
        </p:nvSpPr>
        <p:spPr>
          <a:xfrm>
            <a:off x="9652001" y="4733287"/>
            <a:ext cx="1905000" cy="7055"/>
          </a:xfrm>
          <a:prstGeom prst="rect">
            <a:avLst/>
          </a:prstGeom>
          <a:solidFill>
            <a:srgbClr val="E3E5EA"/>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6" name="Text 91"/>
          <p:cNvSpPr/>
          <p:nvPr/>
        </p:nvSpPr>
        <p:spPr>
          <a:xfrm>
            <a:off x="9652001" y="4264930"/>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97" name="Text 92"/>
          <p:cNvSpPr/>
          <p:nvPr/>
        </p:nvSpPr>
        <p:spPr>
          <a:xfrm>
            <a:off x="635000" y="4940719"/>
            <a:ext cx="2158365"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Andrés Labado</a:t>
            </a:r>
            <a:endParaRPr lang="en-US" sz="1200" kern="1200" dirty="0">
              <a:solidFill>
                <a:prstClr val="black"/>
              </a:solidFill>
              <a:latin typeface="Calibri" panose="020F0502020204030204"/>
              <a:ea typeface="+mn-ea"/>
              <a:cs typeface="+mn-cs"/>
            </a:endParaRPr>
          </a:p>
        </p:txBody>
      </p:sp>
      <p:sp>
        <p:nvSpPr>
          <p:cNvPr id="98" name="Shape 93"/>
          <p:cNvSpPr/>
          <p:nvPr/>
        </p:nvSpPr>
        <p:spPr>
          <a:xfrm>
            <a:off x="2730501" y="4921691"/>
            <a:ext cx="921191" cy="221368"/>
          </a:xfrm>
          <a:prstGeom prst="rect">
            <a:avLst/>
          </a:prstGeom>
          <a:solidFill>
            <a:srgbClr val="282DF0"/>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99" name="Text 94"/>
          <p:cNvSpPr/>
          <p:nvPr/>
        </p:nvSpPr>
        <p:spPr>
          <a:xfrm>
            <a:off x="2806700" y="4940741"/>
            <a:ext cx="860910" cy="208668"/>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FFFFFF"/>
                </a:solidFill>
                <a:latin typeface="Figtree" pitchFamily="34" charset="0"/>
                <a:ea typeface="Figtree" pitchFamily="34" charset="-122"/>
                <a:cs typeface="Figtree" pitchFamily="34" charset="-120"/>
              </a:rPr>
              <a:t>Intermedio</a:t>
            </a:r>
            <a:endParaRPr lang="en-US" sz="1200" kern="1200" dirty="0">
              <a:solidFill>
                <a:prstClr val="black"/>
              </a:solidFill>
              <a:latin typeface="Calibri" panose="020F0502020204030204"/>
              <a:ea typeface="+mn-ea"/>
              <a:cs typeface="+mn-cs"/>
            </a:endParaRPr>
          </a:p>
        </p:txBody>
      </p:sp>
      <p:sp>
        <p:nvSpPr>
          <p:cNvPr id="100" name="Text 95"/>
          <p:cNvSpPr/>
          <p:nvPr/>
        </p:nvSpPr>
        <p:spPr>
          <a:xfrm>
            <a:off x="3937000" y="4940719"/>
            <a:ext cx="1701800" cy="208712"/>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Cristian Rohr</a:t>
            </a:r>
            <a:endParaRPr lang="en-US" sz="1200" kern="1200" dirty="0">
              <a:solidFill>
                <a:prstClr val="black"/>
              </a:solidFill>
              <a:latin typeface="Calibri" panose="020F0502020204030204"/>
              <a:ea typeface="+mn-ea"/>
              <a:cs typeface="+mn-cs"/>
            </a:endParaRPr>
          </a:p>
        </p:txBody>
      </p:sp>
      <p:sp>
        <p:nvSpPr>
          <p:cNvPr id="101" name="Text 96"/>
          <p:cNvSpPr/>
          <p:nvPr/>
        </p:nvSpPr>
        <p:spPr>
          <a:xfrm>
            <a:off x="5588001" y="4940719"/>
            <a:ext cx="1320800" cy="208712"/>
          </a:xfrm>
          <a:prstGeom prst="rect">
            <a:avLst/>
          </a:prstGeom>
          <a:noFill/>
          <a:ln/>
        </p:spPr>
        <p:txBody>
          <a:bodyPr wrap="squar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Senior</a:t>
            </a:r>
            <a:endParaRPr lang="en-US" sz="1200" kern="1200" dirty="0">
              <a:solidFill>
                <a:prstClr val="black"/>
              </a:solidFill>
              <a:latin typeface="Calibri" panose="020F0502020204030204"/>
              <a:ea typeface="+mn-ea"/>
              <a:cs typeface="+mn-cs"/>
            </a:endParaRPr>
          </a:p>
        </p:txBody>
      </p:sp>
      <p:sp>
        <p:nvSpPr>
          <p:cNvPr id="102" name="Text 97"/>
          <p:cNvSpPr/>
          <p:nvPr/>
        </p:nvSpPr>
        <p:spPr>
          <a:xfrm>
            <a:off x="6858000" y="4845469"/>
            <a:ext cx="2877820" cy="399212"/>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 18 meses · prod. ≥ 1,8 · challenge Senior</a:t>
            </a:r>
            <a:endParaRPr lang="en-US" sz="1200" kern="1200" dirty="0">
              <a:solidFill>
                <a:prstClr val="black"/>
              </a:solidFill>
              <a:latin typeface="Calibri" panose="020F0502020204030204"/>
              <a:ea typeface="+mn-ea"/>
              <a:cs typeface="+mn-cs"/>
            </a:endParaRPr>
          </a:p>
        </p:txBody>
      </p:sp>
      <p:sp>
        <p:nvSpPr>
          <p:cNvPr id="103" name="Text 98"/>
          <p:cNvSpPr/>
          <p:nvPr/>
        </p:nvSpPr>
        <p:spPr>
          <a:xfrm>
            <a:off x="9652001" y="4848998"/>
            <a:ext cx="1962150" cy="392157"/>
          </a:xfrm>
          <a:prstGeom prst="rect">
            <a:avLst/>
          </a:prstGeom>
          <a:noFill/>
          <a:ln/>
        </p:spPr>
        <p:txBody>
          <a:bodyPr wrap="square" lIns="16933" tIns="16933" rIns="16933" bIns="16933" rtlCol="0" anchor="t">
            <a:normAutofit/>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$1,85–2,5 MM · bono $500 mil</a:t>
            </a:r>
            <a:endParaRPr lang="en-US" sz="1200" kern="1200" dirty="0">
              <a:solidFill>
                <a:prstClr val="black"/>
              </a:solidFill>
              <a:latin typeface="Calibri" panose="020F0502020204030204"/>
              <a:ea typeface="+mn-ea"/>
              <a:cs typeface="+mn-cs"/>
            </a:endParaRPr>
          </a:p>
        </p:txBody>
      </p:sp>
      <p:sp>
        <p:nvSpPr>
          <p:cNvPr id="104" name="Shape 99"/>
          <p:cNvSpPr/>
          <p:nvPr/>
        </p:nvSpPr>
        <p:spPr>
          <a:xfrm>
            <a:off x="635000" y="5473237"/>
            <a:ext cx="10922001" cy="393568"/>
          </a:xfrm>
          <a:prstGeom prst="rect">
            <a:avLst/>
          </a:prstGeom>
          <a:solidFill>
            <a:srgbClr val="F2F3F5"/>
          </a:solidFill>
          <a:ln/>
        </p:spPr>
        <p:txBody>
          <a:bodyPr/>
          <a:lstStyle/>
          <a:p>
            <a:pPr defTabSz="609630">
              <a:buClrTx/>
            </a:pPr>
            <a:endParaRPr lang="es-CL" sz="1200" kern="1200">
              <a:solidFill>
                <a:prstClr val="black"/>
              </a:solidFill>
              <a:latin typeface="Calibri" panose="020F0502020204030204"/>
              <a:ea typeface="+mn-ea"/>
              <a:cs typeface="+mn-cs"/>
            </a:endParaRPr>
          </a:p>
        </p:txBody>
      </p:sp>
      <p:sp>
        <p:nvSpPr>
          <p:cNvPr id="105" name="Text 100"/>
          <p:cNvSpPr/>
          <p:nvPr/>
        </p:nvSpPr>
        <p:spPr>
          <a:xfrm>
            <a:off x="812712" y="5578300"/>
            <a:ext cx="1522754" cy="208845"/>
          </a:xfrm>
          <a:prstGeom prst="rect">
            <a:avLst/>
          </a:prstGeom>
          <a:noFill/>
          <a:ln/>
        </p:spPr>
        <p:txBody>
          <a:bodyPr wrap="none" lIns="16933" tIns="16933" rIns="16933" bIns="16933" rtlCol="0" anchor="t">
            <a:normAutofit lnSpcReduction="10000"/>
          </a:bodyPr>
          <a:lstStyle/>
          <a:p>
            <a:pPr defTabSz="609630">
              <a:buClrTx/>
            </a:pPr>
            <a:r>
              <a:rPr lang="en-US" sz="1200" b="1" kern="1200" dirty="0">
                <a:solidFill>
                  <a:srgbClr val="373C46"/>
                </a:solidFill>
                <a:latin typeface="Figtree" pitchFamily="34" charset="0"/>
                <a:ea typeface="Figtree" pitchFamily="34" charset="-122"/>
                <a:cs typeface="Figtree" pitchFamily="34" charset="-120"/>
              </a:rPr>
              <a:t>En todos los niveles</a:t>
            </a:r>
            <a:endParaRPr lang="en-US" sz="1200" kern="1200" dirty="0">
              <a:solidFill>
                <a:prstClr val="black"/>
              </a:solidFill>
              <a:latin typeface="Calibri" panose="020F0502020204030204"/>
              <a:ea typeface="+mn-ea"/>
              <a:cs typeface="+mn-cs"/>
            </a:endParaRPr>
          </a:p>
        </p:txBody>
      </p:sp>
      <p:sp>
        <p:nvSpPr>
          <p:cNvPr id="106" name="Text 101"/>
          <p:cNvSpPr/>
          <p:nvPr/>
        </p:nvSpPr>
        <p:spPr>
          <a:xfrm>
            <a:off x="2374746" y="5574771"/>
            <a:ext cx="2635746"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Desempeño ≥ acorde a lo esperado</a:t>
            </a:r>
            <a:endParaRPr lang="en-US" sz="1200" kern="1200" dirty="0">
              <a:solidFill>
                <a:prstClr val="black"/>
              </a:solidFill>
              <a:latin typeface="Calibri" panose="020F0502020204030204"/>
              <a:ea typeface="+mn-ea"/>
              <a:cs typeface="+mn-cs"/>
            </a:endParaRPr>
          </a:p>
        </p:txBody>
      </p:sp>
      <p:sp>
        <p:nvSpPr>
          <p:cNvPr id="107" name="Text 102"/>
          <p:cNvSpPr/>
          <p:nvPr/>
        </p:nvSpPr>
        <p:spPr>
          <a:xfrm>
            <a:off x="4948591" y="5574771"/>
            <a:ext cx="1289800"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Formación ≥ 95%</a:t>
            </a:r>
            <a:endParaRPr lang="en-US" sz="1200" kern="1200" dirty="0">
              <a:solidFill>
                <a:prstClr val="black"/>
              </a:solidFill>
              <a:latin typeface="Calibri" panose="020F0502020204030204"/>
              <a:ea typeface="+mn-ea"/>
              <a:cs typeface="+mn-cs"/>
            </a:endParaRPr>
          </a:p>
        </p:txBody>
      </p:sp>
      <p:sp>
        <p:nvSpPr>
          <p:cNvPr id="108" name="Text 103"/>
          <p:cNvSpPr/>
          <p:nvPr/>
        </p:nvSpPr>
        <p:spPr>
          <a:xfrm>
            <a:off x="6298848" y="5574771"/>
            <a:ext cx="1302533"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teórica ≥ 80%</a:t>
            </a:r>
            <a:endParaRPr lang="en-US" sz="1200" kern="1200" dirty="0">
              <a:solidFill>
                <a:prstClr val="black"/>
              </a:solidFill>
              <a:latin typeface="Calibri" panose="020F0502020204030204"/>
              <a:ea typeface="+mn-ea"/>
              <a:cs typeface="+mn-cs"/>
            </a:endParaRPr>
          </a:p>
        </p:txBody>
      </p:sp>
      <p:sp>
        <p:nvSpPr>
          <p:cNvPr id="109" name="Text 104"/>
          <p:cNvSpPr/>
          <p:nvPr/>
        </p:nvSpPr>
        <p:spPr>
          <a:xfrm>
            <a:off x="7660680" y="5574771"/>
            <a:ext cx="2599609" cy="215900"/>
          </a:xfrm>
          <a:prstGeom prst="rect">
            <a:avLst/>
          </a:prstGeom>
          <a:noFill/>
          <a:ln/>
        </p:spPr>
        <p:txBody>
          <a:bodyPr wrap="non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Ev. práctica ≥ 90% (Trainee ≥ 80%)</a:t>
            </a:r>
            <a:endParaRPr lang="en-US" sz="1200" kern="1200" dirty="0">
              <a:solidFill>
                <a:prstClr val="black"/>
              </a:solidFill>
              <a:latin typeface="Calibri" panose="020F0502020204030204"/>
              <a:ea typeface="+mn-ea"/>
              <a:cs typeface="+mn-cs"/>
            </a:endParaRPr>
          </a:p>
        </p:txBody>
      </p:sp>
      <p:sp>
        <p:nvSpPr>
          <p:cNvPr id="110" name="Text 105"/>
          <p:cNvSpPr/>
          <p:nvPr/>
        </p:nvSpPr>
        <p:spPr>
          <a:xfrm>
            <a:off x="635000" y="6019161"/>
            <a:ext cx="12014201"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6B707C"/>
                </a:solidFill>
                <a:latin typeface="Figtree" pitchFamily="34" charset="0"/>
                <a:ea typeface="Figtree" pitchFamily="34" charset="-122"/>
                <a:cs typeface="Figtree" pitchFamily="34" charset="-120"/>
              </a:rPr>
              <a:t>Hoy no hay ingenieros en nivel Senior. El avance individual se completa con los datos de cada ingeniero.</a:t>
            </a:r>
            <a:endParaRPr lang="en-US" sz="1200" kern="1200" dirty="0">
              <a:solidFill>
                <a:prstClr val="black"/>
              </a:solidFill>
              <a:latin typeface="Calibri" panose="020F0502020204030204"/>
              <a:ea typeface="+mn-ea"/>
              <a:cs typeface="+mn-cs"/>
            </a:endParaRPr>
          </a:p>
        </p:txBody>
      </p:sp>
      <p:pic>
        <p:nvPicPr>
          <p:cNvPr id="111" name="Image 3" descr="preencoded.png"/>
          <p:cNvPicPr>
            <a:picLocks noChangeAspect="1"/>
          </p:cNvPicPr>
          <p:nvPr/>
        </p:nvPicPr>
        <p:blipFill>
          <a:blip r:embed="rId6"/>
          <a:stretch>
            <a:fillRect/>
          </a:stretch>
        </p:blipFill>
        <p:spPr>
          <a:xfrm>
            <a:off x="279356" y="6477111"/>
            <a:ext cx="884590" cy="165034"/>
          </a:xfrm>
          <a:prstGeom prst="rect">
            <a:avLst/>
          </a:prstGeom>
        </p:spPr>
      </p:pic>
      <p:pic>
        <p:nvPicPr>
          <p:cNvPr id="112" name="Image 4" descr="preencoded.png"/>
          <p:cNvPicPr>
            <a:picLocks noChangeAspect="1"/>
          </p:cNvPicPr>
          <p:nvPr/>
        </p:nvPicPr>
        <p:blipFill>
          <a:blip r:embed="rId7"/>
          <a:stretch>
            <a:fillRect/>
          </a:stretch>
        </p:blipFill>
        <p:spPr>
          <a:xfrm>
            <a:off x="1316302" y="6492985"/>
            <a:ext cx="789451" cy="133284"/>
          </a:xfrm>
          <a:prstGeom prst="rect">
            <a:avLst/>
          </a:prstGeom>
        </p:spPr>
      </p:pic>
      <p:pic>
        <p:nvPicPr>
          <p:cNvPr id="113" name="Image 5" descr="preencoded.png"/>
          <p:cNvPicPr>
            <a:picLocks noChangeAspect="1"/>
          </p:cNvPicPr>
          <p:nvPr/>
        </p:nvPicPr>
        <p:blipFill>
          <a:blip r:embed="rId8"/>
          <a:stretch>
            <a:fillRect/>
          </a:stretch>
        </p:blipFill>
        <p:spPr>
          <a:xfrm>
            <a:off x="2258109" y="6496073"/>
            <a:ext cx="549121" cy="127000"/>
          </a:xfrm>
          <a:prstGeom prst="rect">
            <a:avLst/>
          </a:prstGeom>
        </p:spPr>
      </p:pic>
      <p:sp>
        <p:nvSpPr>
          <p:cNvPr id="114" name="Text 106"/>
          <p:cNvSpPr/>
          <p:nvPr/>
        </p:nvSpPr>
        <p:spPr>
          <a:xfrm>
            <a:off x="11778920" y="6484056"/>
            <a:ext cx="133703" cy="208845"/>
          </a:xfrm>
          <a:prstGeom prst="rect">
            <a:avLst/>
          </a:prstGeom>
          <a:noFill/>
          <a:ln/>
        </p:spPr>
        <p:txBody>
          <a:bodyPr wrap="square" lIns="16933" tIns="16933" rIns="16933" bIns="16933" rtlCol="0" anchor="t">
            <a:normAutofit lnSpcReduction="10000"/>
          </a:bodyPr>
          <a:lstStyle/>
          <a:p>
            <a:pPr defTabSz="609630">
              <a:buClrTx/>
            </a:pPr>
            <a:r>
              <a:rPr lang="en-US" sz="1200" kern="1200" dirty="0">
                <a:solidFill>
                  <a:srgbClr val="373C46"/>
                </a:solidFill>
                <a:latin typeface="Figtree" pitchFamily="34" charset="0"/>
                <a:ea typeface="Figtree" pitchFamily="34" charset="-122"/>
                <a:cs typeface="Figtree" pitchFamily="34" charset="-120"/>
              </a:rPr>
              <a:t>3</a:t>
            </a:r>
            <a:endParaRPr lang="en-US" sz="1200" kern="1200" dirty="0">
              <a:solidFill>
                <a:prstClr val="black"/>
              </a:solidFill>
              <a:latin typeface="Calibri" panose="020F0502020204030204"/>
              <a:ea typeface="+mn-ea"/>
              <a:cs typeface="+mn-cs"/>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673"/>
        <p:cNvGrpSpPr/>
        <p:nvPr/>
      </p:nvGrpSpPr>
      <p:grpSpPr>
        <a:xfrm>
          <a:off x="0" y="0"/>
          <a:ext cx="0" cy="0"/>
          <a:chOff x="0" y="0"/>
          <a:chExt cx="0" cy="0"/>
        </a:xfrm>
      </p:grpSpPr>
      <p:sp>
        <p:nvSpPr>
          <p:cNvPr id="674" name="Google Shape;674;p57"/>
          <p:cNvSpPr/>
          <p:nvPr/>
        </p:nvSpPr>
        <p:spPr>
          <a:xfrm>
            <a:off x="274320" y="45720"/>
            <a:ext cx="1164031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303640"/>
              </a:buClr>
              <a:buSzPts val="1700"/>
              <a:buFont typeface="Calibri"/>
              <a:buNone/>
            </a:pPr>
            <a:r>
              <a:rPr lang="es-CL" sz="1700" b="1">
                <a:solidFill>
                  <a:srgbClr val="303640"/>
                </a:solidFill>
                <a:latin typeface="Calibri"/>
                <a:ea typeface="Calibri"/>
                <a:cs typeface="Calibri"/>
                <a:sym typeface="Calibri"/>
              </a:rPr>
              <a:t>Flujo de Atención al Cliente — Servicio Técnico</a:t>
            </a:r>
            <a:endParaRPr sz="1700">
              <a:solidFill>
                <a:schemeClr val="dk1"/>
              </a:solidFill>
              <a:latin typeface="Arial"/>
              <a:ea typeface="Arial"/>
              <a:cs typeface="Arial"/>
              <a:sym typeface="Arial"/>
            </a:endParaRPr>
          </a:p>
        </p:txBody>
      </p:sp>
      <p:sp>
        <p:nvSpPr>
          <p:cNvPr id="675" name="Google Shape;675;p57"/>
          <p:cNvSpPr/>
          <p:nvPr/>
        </p:nvSpPr>
        <p:spPr>
          <a:xfrm>
            <a:off x="3657600" y="374904"/>
            <a:ext cx="182880" cy="137160"/>
          </a:xfrm>
          <a:prstGeom prst="roundRect">
            <a:avLst>
              <a:gd name="adj" fmla="val 26667"/>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6" name="Google Shape;676;p57"/>
          <p:cNvSpPr/>
          <p:nvPr/>
        </p:nvSpPr>
        <p:spPr>
          <a:xfrm>
            <a:off x="3877056" y="329184"/>
            <a:ext cx="5486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Paso</a:t>
            </a:r>
            <a:endParaRPr sz="750">
              <a:solidFill>
                <a:schemeClr val="dk1"/>
              </a:solidFill>
              <a:latin typeface="Arial"/>
              <a:ea typeface="Arial"/>
              <a:cs typeface="Arial"/>
              <a:sym typeface="Arial"/>
            </a:endParaRPr>
          </a:p>
        </p:txBody>
      </p:sp>
      <p:sp>
        <p:nvSpPr>
          <p:cNvPr id="677" name="Google Shape;677;p57"/>
          <p:cNvSpPr/>
          <p:nvPr/>
        </p:nvSpPr>
        <p:spPr>
          <a:xfrm>
            <a:off x="4572000" y="338328"/>
            <a:ext cx="201168" cy="201168"/>
          </a:xfrm>
          <a:prstGeom prst="diamond">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78" name="Google Shape;678;p57"/>
          <p:cNvSpPr/>
          <p:nvPr/>
        </p:nvSpPr>
        <p:spPr>
          <a:xfrm>
            <a:off x="4809744" y="329184"/>
            <a:ext cx="73152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Decisión</a:t>
            </a:r>
            <a:endParaRPr sz="750">
              <a:solidFill>
                <a:schemeClr val="dk1"/>
              </a:solidFill>
              <a:latin typeface="Arial"/>
              <a:ea typeface="Arial"/>
              <a:cs typeface="Arial"/>
              <a:sym typeface="Arial"/>
            </a:endParaRPr>
          </a:p>
        </p:txBody>
      </p:sp>
      <p:sp>
        <p:nvSpPr>
          <p:cNvPr id="679" name="Google Shape;679;p57"/>
          <p:cNvSpPr/>
          <p:nvPr/>
        </p:nvSpPr>
        <p:spPr>
          <a:xfrm>
            <a:off x="5669280" y="374904"/>
            <a:ext cx="274320" cy="137160"/>
          </a:xfrm>
          <a:prstGeom prst="roundRect">
            <a:avLst>
              <a:gd name="adj" fmla="val 46667"/>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0" name="Google Shape;680;p57"/>
          <p:cNvSpPr/>
          <p:nvPr/>
        </p:nvSpPr>
        <p:spPr>
          <a:xfrm>
            <a:off x="5989320" y="329184"/>
            <a:ext cx="1920240"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2A2E36"/>
              </a:buClr>
              <a:buSzPts val="750"/>
              <a:buFont typeface="Calibri"/>
              <a:buNone/>
            </a:pPr>
            <a:r>
              <a:rPr lang="es-CL" sz="750">
                <a:solidFill>
                  <a:srgbClr val="2A2E36"/>
                </a:solidFill>
                <a:latin typeface="Calibri"/>
                <a:ea typeface="Calibri"/>
                <a:cs typeface="Calibri"/>
                <a:sym typeface="Calibri"/>
              </a:rPr>
              <a:t>SLA / tiempo de respuesta</a:t>
            </a:r>
            <a:endParaRPr sz="750">
              <a:solidFill>
                <a:schemeClr val="dk1"/>
              </a:solidFill>
              <a:latin typeface="Arial"/>
              <a:ea typeface="Arial"/>
              <a:cs typeface="Arial"/>
              <a:sym typeface="Arial"/>
            </a:endParaRPr>
          </a:p>
        </p:txBody>
      </p:sp>
      <p:sp>
        <p:nvSpPr>
          <p:cNvPr id="681" name="Google Shape;681;p57"/>
          <p:cNvSpPr/>
          <p:nvPr/>
        </p:nvSpPr>
        <p:spPr>
          <a:xfrm>
            <a:off x="274320" y="768096"/>
            <a:ext cx="91440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2" name="Google Shape;682;p57"/>
          <p:cNvSpPr/>
          <p:nvPr/>
        </p:nvSpPr>
        <p:spPr>
          <a:xfrm>
            <a:off x="274320" y="768096"/>
            <a:ext cx="914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INICIO</a:t>
            </a:r>
            <a:endParaRPr sz="900">
              <a:solidFill>
                <a:schemeClr val="dk1"/>
              </a:solidFill>
              <a:latin typeface="Arial"/>
              <a:ea typeface="Arial"/>
              <a:cs typeface="Arial"/>
              <a:sym typeface="Arial"/>
            </a:endParaRPr>
          </a:p>
        </p:txBody>
      </p:sp>
      <p:cxnSp>
        <p:nvCxnSpPr>
          <p:cNvPr id="683" name="Google Shape;683;p57"/>
          <p:cNvCxnSpPr/>
          <p:nvPr/>
        </p:nvCxnSpPr>
        <p:spPr>
          <a:xfrm>
            <a:off x="1188720" y="996696"/>
            <a:ext cx="182880" cy="0"/>
          </a:xfrm>
          <a:prstGeom prst="straightConnector1">
            <a:avLst/>
          </a:prstGeom>
          <a:noFill/>
          <a:ln w="19050" cap="flat" cmpd="sng">
            <a:solidFill>
              <a:srgbClr val="303640"/>
            </a:solidFill>
            <a:prstDash val="solid"/>
            <a:round/>
            <a:headEnd type="none" w="sm" len="sm"/>
            <a:tailEnd type="triangle" w="med" len="med"/>
          </a:ln>
        </p:spPr>
      </p:cxnSp>
      <p:sp>
        <p:nvSpPr>
          <p:cNvPr id="684" name="Google Shape;684;p57"/>
          <p:cNvSpPr/>
          <p:nvPr/>
        </p:nvSpPr>
        <p:spPr>
          <a:xfrm>
            <a:off x="1371600" y="658368"/>
            <a:ext cx="2286000" cy="475488"/>
          </a:xfrm>
          <a:prstGeom prst="roundRect">
            <a:avLst>
              <a:gd name="adj" fmla="val 6316"/>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5" name="Google Shape;685;p57"/>
          <p:cNvSpPr/>
          <p:nvPr/>
        </p:nvSpPr>
        <p:spPr>
          <a:xfrm>
            <a:off x="1463040" y="704088"/>
            <a:ext cx="2103120" cy="7772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1. Recepción de requerimiento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Asistente recibe el caso en Salesforce (mail/fono) y asigna Coordinador.</a:t>
            </a:r>
            <a:endParaRPr sz="840">
              <a:solidFill>
                <a:schemeClr val="dk1"/>
              </a:solidFill>
              <a:latin typeface="Arial"/>
              <a:ea typeface="Arial"/>
              <a:cs typeface="Arial"/>
              <a:sym typeface="Arial"/>
            </a:endParaRPr>
          </a:p>
        </p:txBody>
      </p:sp>
      <p:sp>
        <p:nvSpPr>
          <p:cNvPr id="686" name="Google Shape;686;p57"/>
          <p:cNvSpPr/>
          <p:nvPr/>
        </p:nvSpPr>
        <p:spPr>
          <a:xfrm>
            <a:off x="2971800" y="411480"/>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87" name="Google Shape;687;p57"/>
          <p:cNvSpPr/>
          <p:nvPr/>
        </p:nvSpPr>
        <p:spPr>
          <a:xfrm>
            <a:off x="2971800" y="411480"/>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60 min</a:t>
            </a:r>
            <a:endParaRPr sz="760">
              <a:solidFill>
                <a:schemeClr val="dk1"/>
              </a:solidFill>
              <a:latin typeface="Arial"/>
              <a:ea typeface="Arial"/>
              <a:cs typeface="Arial"/>
              <a:sym typeface="Arial"/>
            </a:endParaRPr>
          </a:p>
        </p:txBody>
      </p:sp>
      <p:cxnSp>
        <p:nvCxnSpPr>
          <p:cNvPr id="688" name="Google Shape;688;p57"/>
          <p:cNvCxnSpPr/>
          <p:nvPr/>
        </p:nvCxnSpPr>
        <p:spPr>
          <a:xfrm>
            <a:off x="3657600" y="996696"/>
            <a:ext cx="182880" cy="0"/>
          </a:xfrm>
          <a:prstGeom prst="straightConnector1">
            <a:avLst/>
          </a:prstGeom>
          <a:noFill/>
          <a:ln w="19050" cap="flat" cmpd="sng">
            <a:solidFill>
              <a:srgbClr val="303640"/>
            </a:solidFill>
            <a:prstDash val="solid"/>
            <a:round/>
            <a:headEnd type="none" w="sm" len="sm"/>
            <a:tailEnd type="triangle" w="med" len="med"/>
          </a:ln>
        </p:spPr>
      </p:cxnSp>
      <p:sp>
        <p:nvSpPr>
          <p:cNvPr id="689" name="Google Shape;689;p57"/>
          <p:cNvSpPr/>
          <p:nvPr/>
        </p:nvSpPr>
        <p:spPr>
          <a:xfrm>
            <a:off x="3840480" y="566928"/>
            <a:ext cx="1554480" cy="96012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0" name="Google Shape;690;p57"/>
          <p:cNvSpPr/>
          <p:nvPr/>
        </p:nvSpPr>
        <p:spPr>
          <a:xfrm>
            <a:off x="3895344" y="621792"/>
            <a:ext cx="1444752" cy="85039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¿Solicitud de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visita técnica?</a:t>
            </a:r>
            <a:endParaRPr sz="760">
              <a:solidFill>
                <a:schemeClr val="dk1"/>
              </a:solidFill>
              <a:latin typeface="Arial"/>
              <a:ea typeface="Arial"/>
              <a:cs typeface="Arial"/>
              <a:sym typeface="Arial"/>
            </a:endParaRPr>
          </a:p>
        </p:txBody>
      </p:sp>
      <p:cxnSp>
        <p:nvCxnSpPr>
          <p:cNvPr id="691" name="Google Shape;691;p57"/>
          <p:cNvCxnSpPr/>
          <p:nvPr/>
        </p:nvCxnSpPr>
        <p:spPr>
          <a:xfrm>
            <a:off x="5120640" y="1042416"/>
            <a:ext cx="3383280" cy="0"/>
          </a:xfrm>
          <a:prstGeom prst="straightConnector1">
            <a:avLst/>
          </a:prstGeom>
          <a:noFill/>
          <a:ln w="19050" cap="flat" cmpd="sng">
            <a:solidFill>
              <a:srgbClr val="303640"/>
            </a:solidFill>
            <a:prstDash val="solid"/>
            <a:round/>
            <a:headEnd type="none" w="sm" len="sm"/>
            <a:tailEnd type="none" w="sm" len="sm"/>
          </a:ln>
        </p:spPr>
      </p:cxnSp>
      <p:cxnSp>
        <p:nvCxnSpPr>
          <p:cNvPr id="692" name="Google Shape;692;p57"/>
          <p:cNvCxnSpPr/>
          <p:nvPr/>
        </p:nvCxnSpPr>
        <p:spPr>
          <a:xfrm>
            <a:off x="8503920" y="1042416"/>
            <a:ext cx="0" cy="768096"/>
          </a:xfrm>
          <a:prstGeom prst="straightConnector1">
            <a:avLst/>
          </a:prstGeom>
          <a:noFill/>
          <a:ln w="19050" cap="flat" cmpd="sng">
            <a:solidFill>
              <a:srgbClr val="303640"/>
            </a:solidFill>
            <a:prstDash val="solid"/>
            <a:round/>
            <a:headEnd type="none" w="sm" len="sm"/>
            <a:tailEnd type="triangle" w="med" len="med"/>
          </a:ln>
        </p:spPr>
      </p:cxnSp>
      <p:sp>
        <p:nvSpPr>
          <p:cNvPr id="693" name="Google Shape;693;p57"/>
          <p:cNvSpPr/>
          <p:nvPr/>
        </p:nvSpPr>
        <p:spPr>
          <a:xfrm>
            <a:off x="8275320" y="1307592"/>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4" name="Google Shape;694;p57"/>
          <p:cNvSpPr/>
          <p:nvPr/>
        </p:nvSpPr>
        <p:spPr>
          <a:xfrm>
            <a:off x="8275320" y="1307592"/>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SÍ</a:t>
            </a:r>
            <a:endParaRPr sz="850">
              <a:solidFill>
                <a:schemeClr val="dk1"/>
              </a:solidFill>
              <a:latin typeface="Arial"/>
              <a:ea typeface="Arial"/>
              <a:cs typeface="Arial"/>
              <a:sym typeface="Arial"/>
            </a:endParaRPr>
          </a:p>
        </p:txBody>
      </p:sp>
      <p:cxnSp>
        <p:nvCxnSpPr>
          <p:cNvPr id="695" name="Google Shape;695;p57"/>
          <p:cNvCxnSpPr/>
          <p:nvPr/>
        </p:nvCxnSpPr>
        <p:spPr>
          <a:xfrm>
            <a:off x="960120" y="1225296"/>
            <a:ext cx="2880360" cy="0"/>
          </a:xfrm>
          <a:prstGeom prst="straightConnector1">
            <a:avLst/>
          </a:prstGeom>
          <a:noFill/>
          <a:ln w="19050" cap="flat" cmpd="sng">
            <a:solidFill>
              <a:srgbClr val="303640"/>
            </a:solidFill>
            <a:prstDash val="solid"/>
            <a:round/>
            <a:headEnd type="none" w="sm" len="sm"/>
            <a:tailEnd type="none" w="sm" len="sm"/>
          </a:ln>
        </p:spPr>
      </p:cxnSp>
      <p:cxnSp>
        <p:nvCxnSpPr>
          <p:cNvPr id="696" name="Google Shape;696;p57"/>
          <p:cNvCxnSpPr/>
          <p:nvPr/>
        </p:nvCxnSpPr>
        <p:spPr>
          <a:xfrm>
            <a:off x="960120" y="1225296"/>
            <a:ext cx="0" cy="3090672"/>
          </a:xfrm>
          <a:prstGeom prst="straightConnector1">
            <a:avLst/>
          </a:prstGeom>
          <a:noFill/>
          <a:ln w="19050" cap="flat" cmpd="sng">
            <a:solidFill>
              <a:srgbClr val="303640"/>
            </a:solidFill>
            <a:prstDash val="solid"/>
            <a:round/>
            <a:headEnd type="none" w="sm" len="sm"/>
            <a:tailEnd type="triangle" w="med" len="med"/>
          </a:ln>
        </p:spPr>
      </p:cxnSp>
      <p:sp>
        <p:nvSpPr>
          <p:cNvPr id="697" name="Google Shape;697;p57"/>
          <p:cNvSpPr/>
          <p:nvPr/>
        </p:nvSpPr>
        <p:spPr>
          <a:xfrm>
            <a:off x="749808" y="1371600"/>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698" name="Google Shape;698;p57"/>
          <p:cNvSpPr/>
          <p:nvPr/>
        </p:nvSpPr>
        <p:spPr>
          <a:xfrm>
            <a:off x="749808" y="1371600"/>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
        <p:nvSpPr>
          <p:cNvPr id="699" name="Google Shape;699;p57"/>
          <p:cNvSpPr/>
          <p:nvPr/>
        </p:nvSpPr>
        <p:spPr>
          <a:xfrm>
            <a:off x="4023360" y="1810512"/>
            <a:ext cx="7863840" cy="237744"/>
          </a:xfrm>
          <a:prstGeom prst="roundRect">
            <a:avLst>
              <a:gd name="adj" fmla="val 23077"/>
            </a:avLst>
          </a:prstGeom>
          <a:solidFill>
            <a:srgbClr val="3036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0" name="Google Shape;700;p57"/>
          <p:cNvSpPr/>
          <p:nvPr/>
        </p:nvSpPr>
        <p:spPr>
          <a:xfrm>
            <a:off x="4023360" y="1810512"/>
            <a:ext cx="786384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50"/>
              <a:buFont typeface="Calibri"/>
              <a:buNone/>
            </a:pPr>
            <a:r>
              <a:rPr lang="es-CL" sz="850" b="1">
                <a:solidFill>
                  <a:srgbClr val="FFFFFF"/>
                </a:solidFill>
                <a:latin typeface="Calibri"/>
                <a:ea typeface="Calibri"/>
                <a:cs typeface="Calibri"/>
                <a:sym typeface="Calibri"/>
              </a:rPr>
              <a:t>CAMINO A  ·  Visita técnica</a:t>
            </a:r>
            <a:endParaRPr sz="850">
              <a:solidFill>
                <a:schemeClr val="dk1"/>
              </a:solidFill>
              <a:latin typeface="Arial"/>
              <a:ea typeface="Arial"/>
              <a:cs typeface="Arial"/>
              <a:sym typeface="Arial"/>
            </a:endParaRPr>
          </a:p>
        </p:txBody>
      </p:sp>
      <p:sp>
        <p:nvSpPr>
          <p:cNvPr id="701" name="Google Shape;701;p57"/>
          <p:cNvSpPr/>
          <p:nvPr/>
        </p:nvSpPr>
        <p:spPr>
          <a:xfrm>
            <a:off x="4133088" y="2340864"/>
            <a:ext cx="146304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2" name="Google Shape;702;p57"/>
          <p:cNvSpPr/>
          <p:nvPr/>
        </p:nvSpPr>
        <p:spPr>
          <a:xfrm>
            <a:off x="4187952" y="2395728"/>
            <a:ext cx="135331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¿Contrato /</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Garantía?</a:t>
            </a:r>
            <a:endParaRPr sz="760">
              <a:solidFill>
                <a:schemeClr val="dk1"/>
              </a:solidFill>
              <a:latin typeface="Arial"/>
              <a:ea typeface="Arial"/>
              <a:cs typeface="Arial"/>
              <a:sym typeface="Arial"/>
            </a:endParaRPr>
          </a:p>
        </p:txBody>
      </p:sp>
      <p:cxnSp>
        <p:nvCxnSpPr>
          <p:cNvPr id="703" name="Google Shape;703;p57"/>
          <p:cNvCxnSpPr/>
          <p:nvPr/>
        </p:nvCxnSpPr>
        <p:spPr>
          <a:xfrm>
            <a:off x="5596128" y="2715768"/>
            <a:ext cx="301752" cy="0"/>
          </a:xfrm>
          <a:prstGeom prst="straightConnector1">
            <a:avLst/>
          </a:prstGeom>
          <a:noFill/>
          <a:ln w="19050" cap="flat" cmpd="sng">
            <a:solidFill>
              <a:srgbClr val="303640"/>
            </a:solidFill>
            <a:prstDash val="solid"/>
            <a:round/>
            <a:headEnd type="none" w="sm" len="sm"/>
            <a:tailEnd type="triangle" w="med" len="med"/>
          </a:ln>
        </p:spPr>
      </p:cxnSp>
      <p:sp>
        <p:nvSpPr>
          <p:cNvPr id="704" name="Google Shape;704;p57"/>
          <p:cNvSpPr/>
          <p:nvPr/>
        </p:nvSpPr>
        <p:spPr>
          <a:xfrm>
            <a:off x="589788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5" name="Google Shape;705;p57"/>
          <p:cNvSpPr/>
          <p:nvPr/>
        </p:nvSpPr>
        <p:spPr>
          <a:xfrm>
            <a:off x="598932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2. Asignación</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Coordinador contacta y programa la visita.</a:t>
            </a:r>
            <a:endParaRPr sz="840">
              <a:solidFill>
                <a:schemeClr val="dk1"/>
              </a:solidFill>
              <a:latin typeface="Arial"/>
              <a:ea typeface="Arial"/>
              <a:cs typeface="Arial"/>
              <a:sym typeface="Arial"/>
            </a:endParaRPr>
          </a:p>
        </p:txBody>
      </p:sp>
      <p:sp>
        <p:nvSpPr>
          <p:cNvPr id="706" name="Google Shape;706;p57"/>
          <p:cNvSpPr/>
          <p:nvPr/>
        </p:nvSpPr>
        <p:spPr>
          <a:xfrm>
            <a:off x="6603797" y="2112264"/>
            <a:ext cx="985723"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07" name="Google Shape;707;p57"/>
          <p:cNvSpPr/>
          <p:nvPr/>
        </p:nvSpPr>
        <p:spPr>
          <a:xfrm>
            <a:off x="6603797" y="2112264"/>
            <a:ext cx="985723"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Según contrato</a:t>
            </a:r>
            <a:endParaRPr sz="760">
              <a:solidFill>
                <a:schemeClr val="dk1"/>
              </a:solidFill>
              <a:latin typeface="Arial"/>
              <a:ea typeface="Arial"/>
              <a:cs typeface="Arial"/>
              <a:sym typeface="Arial"/>
            </a:endParaRPr>
          </a:p>
        </p:txBody>
      </p:sp>
      <p:cxnSp>
        <p:nvCxnSpPr>
          <p:cNvPr id="708" name="Google Shape;708;p57"/>
          <p:cNvCxnSpPr/>
          <p:nvPr/>
        </p:nvCxnSpPr>
        <p:spPr>
          <a:xfrm>
            <a:off x="7589520" y="2715768"/>
            <a:ext cx="182880" cy="0"/>
          </a:xfrm>
          <a:prstGeom prst="straightConnector1">
            <a:avLst/>
          </a:prstGeom>
          <a:noFill/>
          <a:ln w="19050" cap="flat" cmpd="sng">
            <a:solidFill>
              <a:srgbClr val="303640"/>
            </a:solidFill>
            <a:prstDash val="solid"/>
            <a:round/>
            <a:headEnd type="none" w="sm" len="sm"/>
            <a:tailEnd type="triangle" w="med" len="med"/>
          </a:ln>
        </p:spPr>
      </p:cxnSp>
      <p:sp>
        <p:nvSpPr>
          <p:cNvPr id="709" name="Google Shape;709;p57"/>
          <p:cNvSpPr/>
          <p:nvPr/>
        </p:nvSpPr>
        <p:spPr>
          <a:xfrm>
            <a:off x="777240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0" name="Google Shape;710;p57"/>
          <p:cNvSpPr/>
          <p:nvPr/>
        </p:nvSpPr>
        <p:spPr>
          <a:xfrm>
            <a:off x="786384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3. Agendamiento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Consola de despachador Field Service.</a:t>
            </a:r>
            <a:endParaRPr sz="840">
              <a:solidFill>
                <a:schemeClr val="dk1"/>
              </a:solidFill>
              <a:latin typeface="Arial"/>
              <a:ea typeface="Arial"/>
              <a:cs typeface="Arial"/>
              <a:sym typeface="Arial"/>
            </a:endParaRPr>
          </a:p>
        </p:txBody>
      </p:sp>
      <p:sp>
        <p:nvSpPr>
          <p:cNvPr id="711" name="Google Shape;711;p57"/>
          <p:cNvSpPr/>
          <p:nvPr/>
        </p:nvSpPr>
        <p:spPr>
          <a:xfrm>
            <a:off x="8097926" y="2112264"/>
            <a:ext cx="1366114"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2" name="Google Shape;712;p57"/>
          <p:cNvSpPr/>
          <p:nvPr/>
        </p:nvSpPr>
        <p:spPr>
          <a:xfrm>
            <a:off x="8097926" y="2112264"/>
            <a:ext cx="1366114"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Contrato · si no, 96 h</a:t>
            </a:r>
            <a:endParaRPr sz="760">
              <a:solidFill>
                <a:schemeClr val="dk1"/>
              </a:solidFill>
              <a:latin typeface="Arial"/>
              <a:ea typeface="Arial"/>
              <a:cs typeface="Arial"/>
              <a:sym typeface="Arial"/>
            </a:endParaRPr>
          </a:p>
        </p:txBody>
      </p:sp>
      <p:cxnSp>
        <p:nvCxnSpPr>
          <p:cNvPr id="713" name="Google Shape;713;p57"/>
          <p:cNvCxnSpPr/>
          <p:nvPr/>
        </p:nvCxnSpPr>
        <p:spPr>
          <a:xfrm>
            <a:off x="9464040" y="2715768"/>
            <a:ext cx="182880" cy="0"/>
          </a:xfrm>
          <a:prstGeom prst="straightConnector1">
            <a:avLst/>
          </a:prstGeom>
          <a:noFill/>
          <a:ln w="19050" cap="flat" cmpd="sng">
            <a:solidFill>
              <a:srgbClr val="303640"/>
            </a:solidFill>
            <a:prstDash val="solid"/>
            <a:round/>
            <a:headEnd type="none" w="sm" len="sm"/>
            <a:tailEnd type="triangle" w="med" len="med"/>
          </a:ln>
        </p:spPr>
      </p:cxnSp>
      <p:sp>
        <p:nvSpPr>
          <p:cNvPr id="714" name="Google Shape;714;p57"/>
          <p:cNvSpPr/>
          <p:nvPr/>
        </p:nvSpPr>
        <p:spPr>
          <a:xfrm>
            <a:off x="9646920" y="2359152"/>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5" name="Google Shape;715;p57"/>
          <p:cNvSpPr/>
          <p:nvPr/>
        </p:nvSpPr>
        <p:spPr>
          <a:xfrm>
            <a:off x="9738360" y="2404872"/>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4. Correo con OT y fecha</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envía la Orden de Trabajo y la fecha al cliente.</a:t>
            </a:r>
            <a:endParaRPr sz="840">
              <a:solidFill>
                <a:schemeClr val="dk1"/>
              </a:solidFill>
              <a:latin typeface="Arial"/>
              <a:ea typeface="Arial"/>
              <a:cs typeface="Arial"/>
              <a:sym typeface="Arial"/>
            </a:endParaRPr>
          </a:p>
        </p:txBody>
      </p:sp>
      <p:cxnSp>
        <p:nvCxnSpPr>
          <p:cNvPr id="716" name="Google Shape;716;p57"/>
          <p:cNvCxnSpPr/>
          <p:nvPr/>
        </p:nvCxnSpPr>
        <p:spPr>
          <a:xfrm>
            <a:off x="10492740" y="3072384"/>
            <a:ext cx="0" cy="347472"/>
          </a:xfrm>
          <a:prstGeom prst="straightConnector1">
            <a:avLst/>
          </a:prstGeom>
          <a:noFill/>
          <a:ln w="19050" cap="flat" cmpd="sng">
            <a:solidFill>
              <a:srgbClr val="303640"/>
            </a:solidFill>
            <a:prstDash val="solid"/>
            <a:round/>
            <a:headEnd type="none" w="sm" len="sm"/>
            <a:tailEnd type="triangle" w="med" len="med"/>
          </a:ln>
        </p:spPr>
      </p:cxnSp>
      <p:sp>
        <p:nvSpPr>
          <p:cNvPr id="717" name="Google Shape;717;p57"/>
          <p:cNvSpPr/>
          <p:nvPr/>
        </p:nvSpPr>
        <p:spPr>
          <a:xfrm>
            <a:off x="964692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18" name="Google Shape;718;p57"/>
          <p:cNvSpPr/>
          <p:nvPr/>
        </p:nvSpPr>
        <p:spPr>
          <a:xfrm>
            <a:off x="973836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5. 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cierra el caso y se notifica al cliente.</a:t>
            </a:r>
            <a:endParaRPr sz="840">
              <a:solidFill>
                <a:schemeClr val="dk1"/>
              </a:solidFill>
              <a:latin typeface="Arial"/>
              <a:ea typeface="Arial"/>
              <a:cs typeface="Arial"/>
              <a:sym typeface="Arial"/>
            </a:endParaRPr>
          </a:p>
        </p:txBody>
      </p:sp>
      <p:sp>
        <p:nvSpPr>
          <p:cNvPr id="719" name="Google Shape;719;p57"/>
          <p:cNvSpPr/>
          <p:nvPr/>
        </p:nvSpPr>
        <p:spPr>
          <a:xfrm>
            <a:off x="10652760" y="3172968"/>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0" name="Google Shape;720;p57"/>
          <p:cNvSpPr/>
          <p:nvPr/>
        </p:nvSpPr>
        <p:spPr>
          <a:xfrm>
            <a:off x="10652760" y="3172968"/>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3 días</a:t>
            </a:r>
            <a:endParaRPr sz="760">
              <a:solidFill>
                <a:schemeClr val="dk1"/>
              </a:solidFill>
              <a:latin typeface="Arial"/>
              <a:ea typeface="Arial"/>
              <a:cs typeface="Arial"/>
              <a:sym typeface="Arial"/>
            </a:endParaRPr>
          </a:p>
        </p:txBody>
      </p:sp>
      <p:cxnSp>
        <p:nvCxnSpPr>
          <p:cNvPr id="721" name="Google Shape;721;p57"/>
          <p:cNvCxnSpPr/>
          <p:nvPr/>
        </p:nvCxnSpPr>
        <p:spPr>
          <a:xfrm>
            <a:off x="9464040" y="3776472"/>
            <a:ext cx="182880" cy="0"/>
          </a:xfrm>
          <a:prstGeom prst="straightConnector1">
            <a:avLst/>
          </a:prstGeom>
          <a:noFill/>
          <a:ln w="19050" cap="flat" cmpd="sng">
            <a:solidFill>
              <a:srgbClr val="303640"/>
            </a:solidFill>
            <a:prstDash val="solid"/>
            <a:round/>
            <a:headEnd type="triangle" w="med" len="med"/>
            <a:tailEnd type="none" w="sm" len="sm"/>
          </a:ln>
        </p:spPr>
      </p:cxnSp>
      <p:sp>
        <p:nvSpPr>
          <p:cNvPr id="722" name="Google Shape;722;p57"/>
          <p:cNvSpPr/>
          <p:nvPr/>
        </p:nvSpPr>
        <p:spPr>
          <a:xfrm>
            <a:off x="777240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3" name="Google Shape;723;p57"/>
          <p:cNvSpPr/>
          <p:nvPr/>
        </p:nvSpPr>
        <p:spPr>
          <a:xfrm>
            <a:off x="786384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6. Gestión de Recursos</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Pasajes, hospedaje, vehículos y viáticos.</a:t>
            </a:r>
            <a:endParaRPr sz="840">
              <a:solidFill>
                <a:schemeClr val="dk1"/>
              </a:solidFill>
              <a:latin typeface="Arial"/>
              <a:ea typeface="Arial"/>
              <a:cs typeface="Arial"/>
              <a:sym typeface="Arial"/>
            </a:endParaRPr>
          </a:p>
        </p:txBody>
      </p:sp>
      <p:cxnSp>
        <p:nvCxnSpPr>
          <p:cNvPr id="724" name="Google Shape;724;p57"/>
          <p:cNvCxnSpPr/>
          <p:nvPr/>
        </p:nvCxnSpPr>
        <p:spPr>
          <a:xfrm>
            <a:off x="7589520" y="3776472"/>
            <a:ext cx="182880" cy="0"/>
          </a:xfrm>
          <a:prstGeom prst="straightConnector1">
            <a:avLst/>
          </a:prstGeom>
          <a:noFill/>
          <a:ln w="19050" cap="flat" cmpd="sng">
            <a:solidFill>
              <a:srgbClr val="303640"/>
            </a:solidFill>
            <a:prstDash val="solid"/>
            <a:round/>
            <a:headEnd type="triangle" w="med" len="med"/>
            <a:tailEnd type="none" w="sm" len="sm"/>
          </a:ln>
        </p:spPr>
      </p:cxnSp>
      <p:sp>
        <p:nvSpPr>
          <p:cNvPr id="725" name="Google Shape;725;p57"/>
          <p:cNvSpPr/>
          <p:nvPr/>
        </p:nvSpPr>
        <p:spPr>
          <a:xfrm>
            <a:off x="5897880" y="3419856"/>
            <a:ext cx="1691640"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6" name="Google Shape;726;p57"/>
          <p:cNvSpPr/>
          <p:nvPr/>
        </p:nvSpPr>
        <p:spPr>
          <a:xfrm>
            <a:off x="5989320" y="3465576"/>
            <a:ext cx="1508760"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7. Planificación y Ejecución</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Ejecución del servicio técnico en terreno.</a:t>
            </a:r>
            <a:endParaRPr sz="840">
              <a:solidFill>
                <a:schemeClr val="dk1"/>
              </a:solidFill>
              <a:latin typeface="Arial"/>
              <a:ea typeface="Arial"/>
              <a:cs typeface="Arial"/>
              <a:sym typeface="Arial"/>
            </a:endParaRPr>
          </a:p>
        </p:txBody>
      </p:sp>
      <p:cxnSp>
        <p:nvCxnSpPr>
          <p:cNvPr id="727" name="Google Shape;727;p57"/>
          <p:cNvCxnSpPr/>
          <p:nvPr/>
        </p:nvCxnSpPr>
        <p:spPr>
          <a:xfrm>
            <a:off x="5596128" y="3776472"/>
            <a:ext cx="301752" cy="0"/>
          </a:xfrm>
          <a:prstGeom prst="straightConnector1">
            <a:avLst/>
          </a:prstGeom>
          <a:noFill/>
          <a:ln w="19050" cap="flat" cmpd="sng">
            <a:solidFill>
              <a:srgbClr val="303640"/>
            </a:solidFill>
            <a:prstDash val="solid"/>
            <a:round/>
            <a:headEnd type="triangle" w="med" len="med"/>
            <a:tailEnd type="none" w="sm" len="sm"/>
          </a:ln>
        </p:spPr>
      </p:cxnSp>
      <p:sp>
        <p:nvSpPr>
          <p:cNvPr id="728" name="Google Shape;728;p57"/>
          <p:cNvSpPr/>
          <p:nvPr/>
        </p:nvSpPr>
        <p:spPr>
          <a:xfrm>
            <a:off x="4023360" y="3419856"/>
            <a:ext cx="1572768" cy="713232"/>
          </a:xfrm>
          <a:prstGeom prst="roundRect">
            <a:avLst>
              <a:gd name="adj" fmla="val 7692"/>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29" name="Google Shape;729;p57"/>
          <p:cNvSpPr/>
          <p:nvPr/>
        </p:nvSpPr>
        <p:spPr>
          <a:xfrm>
            <a:off x="4114800" y="3465576"/>
            <a:ext cx="1389888" cy="621792"/>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8. Revisión y Cierre</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Revisión, facturación y cierre administrativo.</a:t>
            </a:r>
            <a:endParaRPr sz="840">
              <a:solidFill>
                <a:schemeClr val="dk1"/>
              </a:solidFill>
              <a:latin typeface="Arial"/>
              <a:ea typeface="Arial"/>
              <a:cs typeface="Arial"/>
              <a:sym typeface="Arial"/>
            </a:endParaRPr>
          </a:p>
        </p:txBody>
      </p:sp>
      <p:cxnSp>
        <p:nvCxnSpPr>
          <p:cNvPr id="730" name="Google Shape;730;p57"/>
          <p:cNvCxnSpPr/>
          <p:nvPr/>
        </p:nvCxnSpPr>
        <p:spPr>
          <a:xfrm>
            <a:off x="2148840" y="3776472"/>
            <a:ext cx="1874520" cy="0"/>
          </a:xfrm>
          <a:prstGeom prst="straightConnector1">
            <a:avLst/>
          </a:prstGeom>
          <a:noFill/>
          <a:ln w="19050" cap="flat" cmpd="sng">
            <a:solidFill>
              <a:srgbClr val="303640"/>
            </a:solidFill>
            <a:prstDash val="solid"/>
            <a:round/>
            <a:headEnd type="triangle" w="med" len="med"/>
            <a:tailEnd type="none" w="sm" len="sm"/>
          </a:ln>
        </p:spPr>
      </p:cxnSp>
      <p:sp>
        <p:nvSpPr>
          <p:cNvPr id="731" name="Google Shape;731;p57"/>
          <p:cNvSpPr/>
          <p:nvPr/>
        </p:nvSpPr>
        <p:spPr>
          <a:xfrm>
            <a:off x="1188720" y="3547872"/>
            <a:ext cx="91440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2" name="Google Shape;732;p57"/>
          <p:cNvSpPr/>
          <p:nvPr/>
        </p:nvSpPr>
        <p:spPr>
          <a:xfrm>
            <a:off x="1188720" y="3547872"/>
            <a:ext cx="91440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sp>
        <p:nvSpPr>
          <p:cNvPr id="733" name="Google Shape;733;p57"/>
          <p:cNvSpPr/>
          <p:nvPr/>
        </p:nvSpPr>
        <p:spPr>
          <a:xfrm>
            <a:off x="274320" y="4315968"/>
            <a:ext cx="7955280" cy="237744"/>
          </a:xfrm>
          <a:prstGeom prst="roundRect">
            <a:avLst>
              <a:gd name="adj" fmla="val 23077"/>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4" name="Google Shape;734;p57"/>
          <p:cNvSpPr/>
          <p:nvPr/>
        </p:nvSpPr>
        <p:spPr>
          <a:xfrm>
            <a:off x="274320" y="4315968"/>
            <a:ext cx="7955280"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CAMINO B  ·  Solicitud de cotización</a:t>
            </a:r>
            <a:endParaRPr sz="850">
              <a:solidFill>
                <a:schemeClr val="dk1"/>
              </a:solidFill>
              <a:latin typeface="Arial"/>
              <a:ea typeface="Arial"/>
              <a:cs typeface="Arial"/>
              <a:sym typeface="Arial"/>
            </a:endParaRPr>
          </a:p>
        </p:txBody>
      </p:sp>
      <p:sp>
        <p:nvSpPr>
          <p:cNvPr id="735" name="Google Shape;735;p57"/>
          <p:cNvSpPr/>
          <p:nvPr/>
        </p:nvSpPr>
        <p:spPr>
          <a:xfrm>
            <a:off x="274320" y="4818888"/>
            <a:ext cx="141732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6" name="Google Shape;736;p57"/>
          <p:cNvSpPr/>
          <p:nvPr/>
        </p:nvSpPr>
        <p:spPr>
          <a:xfrm>
            <a:off x="329184" y="4873752"/>
            <a:ext cx="130759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¿Solicitud de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cotización?</a:t>
            </a:r>
            <a:endParaRPr sz="760">
              <a:solidFill>
                <a:schemeClr val="dk1"/>
              </a:solidFill>
              <a:latin typeface="Arial"/>
              <a:ea typeface="Arial"/>
              <a:cs typeface="Arial"/>
              <a:sym typeface="Arial"/>
            </a:endParaRPr>
          </a:p>
        </p:txBody>
      </p:sp>
      <p:cxnSp>
        <p:nvCxnSpPr>
          <p:cNvPr id="737" name="Google Shape;737;p57"/>
          <p:cNvCxnSpPr/>
          <p:nvPr/>
        </p:nvCxnSpPr>
        <p:spPr>
          <a:xfrm>
            <a:off x="169164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38" name="Google Shape;738;p57"/>
          <p:cNvSpPr/>
          <p:nvPr/>
        </p:nvSpPr>
        <p:spPr>
          <a:xfrm>
            <a:off x="1874520" y="4864608"/>
            <a:ext cx="192024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39" name="Google Shape;739;p57"/>
          <p:cNvSpPr/>
          <p:nvPr/>
        </p:nvSpPr>
        <p:spPr>
          <a:xfrm>
            <a:off x="1965960" y="4910328"/>
            <a:ext cx="173736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Generar oportunidad</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Cotización en Salesforce enviada al cliente.</a:t>
            </a:r>
            <a:endParaRPr sz="840">
              <a:solidFill>
                <a:schemeClr val="dk1"/>
              </a:solidFill>
              <a:latin typeface="Arial"/>
              <a:ea typeface="Arial"/>
              <a:cs typeface="Arial"/>
              <a:sym typeface="Arial"/>
            </a:endParaRPr>
          </a:p>
        </p:txBody>
      </p:sp>
      <p:sp>
        <p:nvSpPr>
          <p:cNvPr id="740" name="Google Shape;740;p57"/>
          <p:cNvSpPr/>
          <p:nvPr/>
        </p:nvSpPr>
        <p:spPr>
          <a:xfrm>
            <a:off x="3108960" y="4617720"/>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1" name="Google Shape;741;p57"/>
          <p:cNvSpPr/>
          <p:nvPr/>
        </p:nvSpPr>
        <p:spPr>
          <a:xfrm>
            <a:off x="3108960" y="4617720"/>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24 h</a:t>
            </a:r>
            <a:endParaRPr sz="760">
              <a:solidFill>
                <a:schemeClr val="dk1"/>
              </a:solidFill>
              <a:latin typeface="Arial"/>
              <a:ea typeface="Arial"/>
              <a:cs typeface="Arial"/>
              <a:sym typeface="Arial"/>
            </a:endParaRPr>
          </a:p>
        </p:txBody>
      </p:sp>
      <p:cxnSp>
        <p:nvCxnSpPr>
          <p:cNvPr id="742" name="Google Shape;742;p57"/>
          <p:cNvCxnSpPr/>
          <p:nvPr/>
        </p:nvCxnSpPr>
        <p:spPr>
          <a:xfrm>
            <a:off x="379476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43" name="Google Shape;743;p57"/>
          <p:cNvSpPr/>
          <p:nvPr/>
        </p:nvSpPr>
        <p:spPr>
          <a:xfrm>
            <a:off x="3977640" y="4818888"/>
            <a:ext cx="1371600" cy="822960"/>
          </a:xfrm>
          <a:prstGeom prst="diamond">
            <a:avLst/>
          </a:prstGeom>
          <a:solidFill>
            <a:srgbClr val="303640"/>
          </a:solidFill>
          <a:ln w="15875"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4" name="Google Shape;744;p57"/>
          <p:cNvSpPr/>
          <p:nvPr/>
        </p:nvSpPr>
        <p:spPr>
          <a:xfrm>
            <a:off x="4032504" y="4873752"/>
            <a:ext cx="1261872" cy="713232"/>
          </a:xfrm>
          <a:prstGeom prst="rect">
            <a:avLst/>
          </a:prstGeom>
          <a:noFill/>
          <a:ln>
            <a:noFill/>
          </a:ln>
        </p:spPr>
        <p:txBody>
          <a:bodyPr spcFirstLastPara="1" wrap="square" lIns="0" tIns="0" rIns="0" bIns="0" anchor="ctr" anchorCtr="0">
            <a:noAutofit/>
          </a:bodyPr>
          <a:lstStyle/>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¿Cliente</a:t>
            </a:r>
            <a:endParaRPr sz="760">
              <a:solidFill>
                <a:schemeClr val="dk1"/>
              </a:solidFill>
              <a:latin typeface="Arial"/>
              <a:ea typeface="Arial"/>
              <a:cs typeface="Arial"/>
              <a:sym typeface="Arial"/>
            </a:endParaRPr>
          </a:p>
          <a:p>
            <a:pPr marL="0" marR="0" lvl="0" indent="0" algn="ctr" rtl="0">
              <a:lnSpc>
                <a:spcPct val="92000"/>
              </a:lnSpc>
              <a:spcBef>
                <a:spcPts val="0"/>
              </a:spcBef>
              <a:spcAft>
                <a:spcPts val="0"/>
              </a:spcAft>
              <a:buClr>
                <a:srgbClr val="FFFFFF"/>
              </a:buClr>
              <a:buSzPts val="760"/>
              <a:buFont typeface="Calibri"/>
              <a:buNone/>
            </a:pPr>
            <a:r>
              <a:rPr lang="es-CL" sz="760" b="1">
                <a:solidFill>
                  <a:srgbClr val="FFFFFF"/>
                </a:solidFill>
                <a:latin typeface="Calibri"/>
                <a:ea typeface="Calibri"/>
                <a:cs typeface="Calibri"/>
                <a:sym typeface="Calibri"/>
              </a:rPr>
              <a:t>acepta?</a:t>
            </a:r>
            <a:endParaRPr sz="760">
              <a:solidFill>
                <a:schemeClr val="dk1"/>
              </a:solidFill>
              <a:latin typeface="Arial"/>
              <a:ea typeface="Arial"/>
              <a:cs typeface="Arial"/>
              <a:sym typeface="Arial"/>
            </a:endParaRPr>
          </a:p>
        </p:txBody>
      </p:sp>
      <p:cxnSp>
        <p:nvCxnSpPr>
          <p:cNvPr id="745" name="Google Shape;745;p57"/>
          <p:cNvCxnSpPr/>
          <p:nvPr/>
        </p:nvCxnSpPr>
        <p:spPr>
          <a:xfrm>
            <a:off x="5349240" y="5184648"/>
            <a:ext cx="182880" cy="0"/>
          </a:xfrm>
          <a:prstGeom prst="straightConnector1">
            <a:avLst/>
          </a:prstGeom>
          <a:noFill/>
          <a:ln w="19050" cap="flat" cmpd="sng">
            <a:solidFill>
              <a:srgbClr val="303640"/>
            </a:solidFill>
            <a:prstDash val="solid"/>
            <a:round/>
            <a:headEnd type="none" w="sm" len="sm"/>
            <a:tailEnd type="triangle" w="med" len="med"/>
          </a:ln>
        </p:spPr>
      </p:cxnSp>
      <p:sp>
        <p:nvSpPr>
          <p:cNvPr id="746" name="Google Shape;746;p57"/>
          <p:cNvSpPr/>
          <p:nvPr/>
        </p:nvSpPr>
        <p:spPr>
          <a:xfrm>
            <a:off x="5532120" y="4864608"/>
            <a:ext cx="2148840" cy="640080"/>
          </a:xfrm>
          <a:prstGeom prst="roundRect">
            <a:avLst>
              <a:gd name="adj" fmla="val 8571"/>
            </a:avLst>
          </a:prstGeom>
          <a:solidFill>
            <a:srgbClr val="EAFBFB"/>
          </a:solidFill>
          <a:ln w="15875" cap="flat" cmpd="sng">
            <a:solidFill>
              <a:srgbClr val="3AD1D1"/>
            </a:solidFill>
            <a:prstDash val="dash"/>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47" name="Google Shape;747;p57"/>
          <p:cNvSpPr/>
          <p:nvPr/>
        </p:nvSpPr>
        <p:spPr>
          <a:xfrm>
            <a:off x="5669280" y="4864608"/>
            <a:ext cx="1874520" cy="64008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20242C"/>
              </a:buClr>
              <a:buSzPts val="760"/>
              <a:buFont typeface="Calibri"/>
              <a:buNone/>
            </a:pPr>
            <a:r>
              <a:rPr lang="es-CL" sz="760" b="1" i="1">
                <a:solidFill>
                  <a:srgbClr val="20242C"/>
                </a:solidFill>
                <a:latin typeface="Calibri"/>
                <a:ea typeface="Calibri"/>
                <a:cs typeface="Calibri"/>
                <a:sym typeface="Calibri"/>
              </a:rPr>
              <a:t>↳ Continúa en Camino A</a:t>
            </a:r>
            <a:endParaRPr sz="760">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20242C"/>
              </a:buClr>
              <a:buSzPts val="760"/>
              <a:buFont typeface="Calibri"/>
              <a:buNone/>
            </a:pPr>
            <a:r>
              <a:rPr lang="es-CL" sz="760" b="1" i="1">
                <a:solidFill>
                  <a:srgbClr val="20242C"/>
                </a:solidFill>
                <a:latin typeface="Calibri"/>
                <a:ea typeface="Calibri"/>
                <a:cs typeface="Calibri"/>
                <a:sym typeface="Calibri"/>
              </a:rPr>
              <a:t>2. Asignación</a:t>
            </a:r>
            <a:endParaRPr sz="760">
              <a:solidFill>
                <a:schemeClr val="dk1"/>
              </a:solidFill>
              <a:latin typeface="Arial"/>
              <a:ea typeface="Arial"/>
              <a:cs typeface="Arial"/>
              <a:sym typeface="Arial"/>
            </a:endParaRPr>
          </a:p>
        </p:txBody>
      </p:sp>
      <p:cxnSp>
        <p:nvCxnSpPr>
          <p:cNvPr id="748" name="Google Shape;748;p57"/>
          <p:cNvCxnSpPr/>
          <p:nvPr/>
        </p:nvCxnSpPr>
        <p:spPr>
          <a:xfrm>
            <a:off x="982980" y="5641848"/>
            <a:ext cx="0" cy="210312"/>
          </a:xfrm>
          <a:prstGeom prst="straightConnector1">
            <a:avLst/>
          </a:prstGeom>
          <a:noFill/>
          <a:ln w="19050" cap="flat" cmpd="sng">
            <a:solidFill>
              <a:srgbClr val="303640"/>
            </a:solidFill>
            <a:prstDash val="solid"/>
            <a:round/>
            <a:headEnd type="none" w="sm" len="sm"/>
            <a:tailEnd type="triangle" w="med" len="med"/>
          </a:ln>
        </p:spPr>
      </p:cxnSp>
      <p:sp>
        <p:nvSpPr>
          <p:cNvPr id="749" name="Google Shape;749;p57"/>
          <p:cNvSpPr/>
          <p:nvPr/>
        </p:nvSpPr>
        <p:spPr>
          <a:xfrm>
            <a:off x="274320" y="5852160"/>
            <a:ext cx="178308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0" name="Google Shape;750;p57"/>
          <p:cNvSpPr/>
          <p:nvPr/>
        </p:nvSpPr>
        <p:spPr>
          <a:xfrm>
            <a:off x="365760" y="5897880"/>
            <a:ext cx="160020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notifica el cierre al cliente.</a:t>
            </a:r>
            <a:endParaRPr sz="840">
              <a:solidFill>
                <a:schemeClr val="dk1"/>
              </a:solidFill>
              <a:latin typeface="Arial"/>
              <a:ea typeface="Arial"/>
              <a:cs typeface="Arial"/>
              <a:sym typeface="Arial"/>
            </a:endParaRPr>
          </a:p>
        </p:txBody>
      </p:sp>
      <p:cxnSp>
        <p:nvCxnSpPr>
          <p:cNvPr id="751" name="Google Shape;751;p57"/>
          <p:cNvCxnSpPr/>
          <p:nvPr/>
        </p:nvCxnSpPr>
        <p:spPr>
          <a:xfrm>
            <a:off x="205740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52" name="Google Shape;752;p57"/>
          <p:cNvSpPr/>
          <p:nvPr/>
        </p:nvSpPr>
        <p:spPr>
          <a:xfrm>
            <a:off x="2240280" y="5943600"/>
            <a:ext cx="86868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3" name="Google Shape;753;p57"/>
          <p:cNvSpPr/>
          <p:nvPr/>
        </p:nvSpPr>
        <p:spPr>
          <a:xfrm>
            <a:off x="2240280" y="5943600"/>
            <a:ext cx="8686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cxnSp>
        <p:nvCxnSpPr>
          <p:cNvPr id="754" name="Google Shape;754;p57"/>
          <p:cNvCxnSpPr/>
          <p:nvPr/>
        </p:nvCxnSpPr>
        <p:spPr>
          <a:xfrm>
            <a:off x="4663440" y="5641848"/>
            <a:ext cx="0" cy="210312"/>
          </a:xfrm>
          <a:prstGeom prst="straightConnector1">
            <a:avLst/>
          </a:prstGeom>
          <a:noFill/>
          <a:ln w="19050" cap="flat" cmpd="sng">
            <a:solidFill>
              <a:srgbClr val="303640"/>
            </a:solidFill>
            <a:prstDash val="solid"/>
            <a:round/>
            <a:headEnd type="none" w="sm" len="sm"/>
            <a:tailEnd type="triangle" w="med" len="med"/>
          </a:ln>
        </p:spPr>
      </p:cxnSp>
      <p:sp>
        <p:nvSpPr>
          <p:cNvPr id="755" name="Google Shape;755;p57"/>
          <p:cNvSpPr/>
          <p:nvPr/>
        </p:nvSpPr>
        <p:spPr>
          <a:xfrm>
            <a:off x="3794760" y="5852160"/>
            <a:ext cx="169164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6" name="Google Shape;756;p57"/>
          <p:cNvSpPr/>
          <p:nvPr/>
        </p:nvSpPr>
        <p:spPr>
          <a:xfrm>
            <a:off x="3886200" y="5897880"/>
            <a:ext cx="150876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Oportunidad perdida</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cierra la oportunidad en Salesforce.</a:t>
            </a:r>
            <a:endParaRPr sz="840">
              <a:solidFill>
                <a:schemeClr val="dk1"/>
              </a:solidFill>
              <a:latin typeface="Arial"/>
              <a:ea typeface="Arial"/>
              <a:cs typeface="Arial"/>
              <a:sym typeface="Arial"/>
            </a:endParaRPr>
          </a:p>
        </p:txBody>
      </p:sp>
      <p:cxnSp>
        <p:nvCxnSpPr>
          <p:cNvPr id="757" name="Google Shape;757;p57"/>
          <p:cNvCxnSpPr/>
          <p:nvPr/>
        </p:nvCxnSpPr>
        <p:spPr>
          <a:xfrm>
            <a:off x="548640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58" name="Google Shape;758;p57"/>
          <p:cNvSpPr/>
          <p:nvPr/>
        </p:nvSpPr>
        <p:spPr>
          <a:xfrm>
            <a:off x="5669280" y="5852160"/>
            <a:ext cx="1783080" cy="640080"/>
          </a:xfrm>
          <a:prstGeom prst="roundRect">
            <a:avLst>
              <a:gd name="adj" fmla="val 8571"/>
            </a:avLst>
          </a:prstGeom>
          <a:solidFill>
            <a:srgbClr val="F3F5F6"/>
          </a:solidFill>
          <a:ln w="12700" cap="flat" cmpd="sng">
            <a:solidFill>
              <a:srgbClr val="303640"/>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59" name="Google Shape;759;p57"/>
          <p:cNvSpPr/>
          <p:nvPr/>
        </p:nvSpPr>
        <p:spPr>
          <a:xfrm>
            <a:off x="5760720" y="5897880"/>
            <a:ext cx="1600200" cy="5486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2A2E36"/>
              </a:buClr>
              <a:buSzPts val="839"/>
              <a:buFont typeface="Calibri"/>
              <a:buNone/>
            </a:pPr>
            <a:r>
              <a:rPr lang="es-CL" sz="840" b="1">
                <a:solidFill>
                  <a:srgbClr val="2A2E36"/>
                </a:solidFill>
                <a:latin typeface="Calibri"/>
                <a:ea typeface="Calibri"/>
                <a:cs typeface="Calibri"/>
                <a:sym typeface="Calibri"/>
              </a:rPr>
              <a:t>Cierre de caso</a:t>
            </a:r>
            <a:endParaRPr sz="84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6B7178"/>
              </a:buClr>
              <a:buSzPts val="700"/>
              <a:buFont typeface="Calibri"/>
              <a:buNone/>
            </a:pPr>
            <a:r>
              <a:rPr lang="es-CL" sz="700">
                <a:solidFill>
                  <a:srgbClr val="6B7178"/>
                </a:solidFill>
                <a:latin typeface="Calibri"/>
                <a:ea typeface="Calibri"/>
                <a:cs typeface="Calibri"/>
                <a:sym typeface="Calibri"/>
              </a:rPr>
              <a:t>Se notifica el cierre al cliente.</a:t>
            </a:r>
            <a:endParaRPr sz="840">
              <a:solidFill>
                <a:schemeClr val="dk1"/>
              </a:solidFill>
              <a:latin typeface="Arial"/>
              <a:ea typeface="Arial"/>
              <a:cs typeface="Arial"/>
              <a:sym typeface="Arial"/>
            </a:endParaRPr>
          </a:p>
        </p:txBody>
      </p:sp>
      <p:sp>
        <p:nvSpPr>
          <p:cNvPr id="760" name="Google Shape;760;p57"/>
          <p:cNvSpPr/>
          <p:nvPr/>
        </p:nvSpPr>
        <p:spPr>
          <a:xfrm>
            <a:off x="6766560" y="5605272"/>
            <a:ext cx="685800" cy="201168"/>
          </a:xfrm>
          <a:prstGeom prst="roundRect">
            <a:avLst>
              <a:gd name="adj" fmla="val 54545"/>
            </a:avLst>
          </a:prstGeom>
          <a:solidFill>
            <a:srgbClr val="3AD1D1"/>
          </a:solidFill>
          <a:ln w="1270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1" name="Google Shape;761;p57"/>
          <p:cNvSpPr/>
          <p:nvPr/>
        </p:nvSpPr>
        <p:spPr>
          <a:xfrm>
            <a:off x="6766560" y="5605272"/>
            <a:ext cx="685800"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760"/>
              <a:buFont typeface="Calibri"/>
              <a:buNone/>
            </a:pPr>
            <a:r>
              <a:rPr lang="es-CL" sz="760" b="1">
                <a:solidFill>
                  <a:srgbClr val="20242C"/>
                </a:solidFill>
                <a:latin typeface="Calibri"/>
                <a:ea typeface="Calibri"/>
                <a:cs typeface="Calibri"/>
                <a:sym typeface="Calibri"/>
              </a:rPr>
              <a:t>3 días</a:t>
            </a:r>
            <a:endParaRPr sz="760">
              <a:solidFill>
                <a:schemeClr val="dk1"/>
              </a:solidFill>
              <a:latin typeface="Arial"/>
              <a:ea typeface="Arial"/>
              <a:cs typeface="Arial"/>
              <a:sym typeface="Arial"/>
            </a:endParaRPr>
          </a:p>
        </p:txBody>
      </p:sp>
      <p:cxnSp>
        <p:nvCxnSpPr>
          <p:cNvPr id="762" name="Google Shape;762;p57"/>
          <p:cNvCxnSpPr/>
          <p:nvPr/>
        </p:nvCxnSpPr>
        <p:spPr>
          <a:xfrm>
            <a:off x="7452360" y="6172200"/>
            <a:ext cx="182880" cy="0"/>
          </a:xfrm>
          <a:prstGeom prst="straightConnector1">
            <a:avLst/>
          </a:prstGeom>
          <a:noFill/>
          <a:ln w="19050" cap="flat" cmpd="sng">
            <a:solidFill>
              <a:srgbClr val="303640"/>
            </a:solidFill>
            <a:prstDash val="solid"/>
            <a:round/>
            <a:headEnd type="none" w="sm" len="sm"/>
            <a:tailEnd type="triangle" w="med" len="med"/>
          </a:ln>
        </p:spPr>
      </p:cxnSp>
      <p:sp>
        <p:nvSpPr>
          <p:cNvPr id="763" name="Google Shape;763;p57"/>
          <p:cNvSpPr/>
          <p:nvPr/>
        </p:nvSpPr>
        <p:spPr>
          <a:xfrm>
            <a:off x="7635240" y="5943600"/>
            <a:ext cx="868680" cy="457200"/>
          </a:xfrm>
          <a:prstGeom prst="ellipse">
            <a:avLst/>
          </a:prstGeom>
          <a:solidFill>
            <a:srgbClr val="303640"/>
          </a:solidFill>
          <a:ln w="13950" cap="flat" cmpd="sng">
            <a:solidFill>
              <a:srgbClr val="FFFFFF"/>
            </a:solidFill>
            <a:prstDash val="solid"/>
            <a:round/>
            <a:headEnd type="none" w="sm" len="sm"/>
            <a:tailEnd type="none" w="sm" len="sm"/>
          </a:ln>
          <a:effectLst>
            <a:outerShdw blurRad="50800" dist="19050" dir="5400000" algn="bl" rotWithShape="0">
              <a:srgbClr val="000000">
                <a:alpha val="14902"/>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4" name="Google Shape;764;p57"/>
          <p:cNvSpPr/>
          <p:nvPr/>
        </p:nvSpPr>
        <p:spPr>
          <a:xfrm>
            <a:off x="7635240" y="5943600"/>
            <a:ext cx="868680"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Calibri"/>
              <a:buNone/>
            </a:pPr>
            <a:r>
              <a:rPr lang="es-CL" sz="900" b="1">
                <a:solidFill>
                  <a:srgbClr val="FFFFFF"/>
                </a:solidFill>
                <a:latin typeface="Calibri"/>
                <a:ea typeface="Calibri"/>
                <a:cs typeface="Calibri"/>
                <a:sym typeface="Calibri"/>
              </a:rPr>
              <a:t>FIN</a:t>
            </a:r>
            <a:endParaRPr sz="900">
              <a:solidFill>
                <a:schemeClr val="dk1"/>
              </a:solidFill>
              <a:latin typeface="Arial"/>
              <a:ea typeface="Arial"/>
              <a:cs typeface="Arial"/>
              <a:sym typeface="Arial"/>
            </a:endParaRPr>
          </a:p>
        </p:txBody>
      </p:sp>
      <p:cxnSp>
        <p:nvCxnSpPr>
          <p:cNvPr id="765" name="Google Shape;765;p57"/>
          <p:cNvCxnSpPr/>
          <p:nvPr/>
        </p:nvCxnSpPr>
        <p:spPr>
          <a:xfrm rot="10800000" flipH="1">
            <a:off x="960120" y="2730489"/>
            <a:ext cx="3172968" cy="21855"/>
          </a:xfrm>
          <a:prstGeom prst="straightConnector1">
            <a:avLst/>
          </a:prstGeom>
          <a:noFill/>
          <a:ln w="19050" cap="flat" cmpd="sng">
            <a:solidFill>
              <a:srgbClr val="303640"/>
            </a:solidFill>
            <a:prstDash val="solid"/>
            <a:round/>
            <a:headEnd type="none" w="sm" len="sm"/>
            <a:tailEnd type="none" w="sm" len="sm"/>
          </a:ln>
        </p:spPr>
      </p:cxnSp>
      <p:sp>
        <p:nvSpPr>
          <p:cNvPr id="766" name="Google Shape;766;p57"/>
          <p:cNvSpPr/>
          <p:nvPr/>
        </p:nvSpPr>
        <p:spPr>
          <a:xfrm>
            <a:off x="1781355" y="2606040"/>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7" name="Google Shape;767;p57"/>
          <p:cNvSpPr/>
          <p:nvPr/>
        </p:nvSpPr>
        <p:spPr>
          <a:xfrm>
            <a:off x="1781355" y="2606040"/>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
        <p:nvSpPr>
          <p:cNvPr id="768" name="Google Shape;768;p57"/>
          <p:cNvSpPr/>
          <p:nvPr/>
        </p:nvSpPr>
        <p:spPr>
          <a:xfrm>
            <a:off x="5417734" y="2596609"/>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69" name="Google Shape;769;p57"/>
          <p:cNvSpPr/>
          <p:nvPr/>
        </p:nvSpPr>
        <p:spPr>
          <a:xfrm>
            <a:off x="5417734" y="2596609"/>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SÍ</a:t>
            </a:r>
            <a:endParaRPr sz="850">
              <a:solidFill>
                <a:schemeClr val="dk1"/>
              </a:solidFill>
              <a:latin typeface="Arial"/>
              <a:ea typeface="Arial"/>
              <a:cs typeface="Arial"/>
              <a:sym typeface="Arial"/>
            </a:endParaRPr>
          </a:p>
        </p:txBody>
      </p:sp>
      <p:sp>
        <p:nvSpPr>
          <p:cNvPr id="770" name="Google Shape;770;p57"/>
          <p:cNvSpPr/>
          <p:nvPr/>
        </p:nvSpPr>
        <p:spPr>
          <a:xfrm>
            <a:off x="4480560" y="5514868"/>
            <a:ext cx="365760" cy="219456"/>
          </a:xfrm>
          <a:prstGeom prst="roundRect">
            <a:avLst>
              <a:gd name="adj" fmla="val 25000"/>
            </a:avLst>
          </a:prstGeom>
          <a:solidFill>
            <a:srgbClr val="3AD1D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771" name="Google Shape;771;p57"/>
          <p:cNvSpPr/>
          <p:nvPr/>
        </p:nvSpPr>
        <p:spPr>
          <a:xfrm>
            <a:off x="4480560" y="5514868"/>
            <a:ext cx="365760" cy="21945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20242C"/>
              </a:buClr>
              <a:buSzPts val="850"/>
              <a:buFont typeface="Calibri"/>
              <a:buNone/>
            </a:pPr>
            <a:r>
              <a:rPr lang="es-CL" sz="850" b="1">
                <a:solidFill>
                  <a:srgbClr val="20242C"/>
                </a:solidFill>
                <a:latin typeface="Calibri"/>
                <a:ea typeface="Calibri"/>
                <a:cs typeface="Calibri"/>
                <a:sym typeface="Calibri"/>
              </a:rPr>
              <a:t>NO</a:t>
            </a:r>
            <a:endParaRPr sz="850">
              <a:solidFill>
                <a:schemeClr val="dk1"/>
              </a:solidFill>
              <a:latin typeface="Arial"/>
              <a:ea typeface="Arial"/>
              <a:cs typeface="Arial"/>
              <a:sym typeface="Arial"/>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sp>
        <p:nvSpPr>
          <p:cNvPr id="776" name="Google Shape;776;p58"/>
          <p:cNvSpPr txBox="1"/>
          <p:nvPr/>
        </p:nvSpPr>
        <p:spPr>
          <a:xfrm>
            <a:off x="397024" y="274439"/>
            <a:ext cx="10081120" cy="34624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33448D"/>
              </a:buClr>
              <a:buSzPts val="2250"/>
              <a:buFont typeface="Calibri"/>
              <a:buNone/>
            </a:pPr>
            <a:r>
              <a:rPr lang="es-CL" sz="2250" b="1" i="0" u="none" strike="noStrike" cap="none">
                <a:solidFill>
                  <a:srgbClr val="33448D"/>
                </a:solidFill>
                <a:latin typeface="Calibri"/>
                <a:ea typeface="Calibri"/>
                <a:cs typeface="Calibri"/>
                <a:sym typeface="Calibri"/>
              </a:rPr>
              <a:t>Segmentación Clientes TECSERVICE</a:t>
            </a:r>
            <a:endParaRPr/>
          </a:p>
        </p:txBody>
      </p:sp>
      <p:pic>
        <p:nvPicPr>
          <p:cNvPr id="777" name="Google Shape;777;p58"/>
          <p:cNvPicPr preferRelativeResize="0"/>
          <p:nvPr/>
        </p:nvPicPr>
        <p:blipFill rotWithShape="1">
          <a:blip r:embed="rId3">
            <a:alphaModFix/>
          </a:blip>
          <a:srcRect r="73077"/>
          <a:stretch/>
        </p:blipFill>
        <p:spPr>
          <a:xfrm>
            <a:off x="10776520" y="37422"/>
            <a:ext cx="504056" cy="584616"/>
          </a:xfrm>
          <a:prstGeom prst="rect">
            <a:avLst/>
          </a:prstGeom>
          <a:noFill/>
          <a:ln>
            <a:noFill/>
          </a:ln>
        </p:spPr>
      </p:pic>
      <p:sp>
        <p:nvSpPr>
          <p:cNvPr id="778" name="Google Shape;778;p58"/>
          <p:cNvSpPr/>
          <p:nvPr/>
        </p:nvSpPr>
        <p:spPr>
          <a:xfrm>
            <a:off x="767408" y="1196752"/>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Tamaño</a:t>
            </a:r>
            <a:endParaRPr sz="1600" b="1" i="0" u="none" strike="noStrike" cap="none">
              <a:solidFill>
                <a:srgbClr val="FFFFFF"/>
              </a:solidFill>
              <a:latin typeface="Arial"/>
              <a:ea typeface="Arial"/>
              <a:cs typeface="Arial"/>
              <a:sym typeface="Arial"/>
            </a:endParaRPr>
          </a:p>
        </p:txBody>
      </p:sp>
      <p:sp>
        <p:nvSpPr>
          <p:cNvPr id="779" name="Google Shape;779;p58"/>
          <p:cNvSpPr/>
          <p:nvPr/>
        </p:nvSpPr>
        <p:spPr>
          <a:xfrm>
            <a:off x="767408" y="2708920"/>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Importancia</a:t>
            </a:r>
            <a:endParaRPr sz="1600" b="1" i="0" u="none" strike="noStrike" cap="none">
              <a:solidFill>
                <a:srgbClr val="FFFFFF"/>
              </a:solidFill>
              <a:latin typeface="Arial"/>
              <a:ea typeface="Arial"/>
              <a:cs typeface="Arial"/>
              <a:sym typeface="Arial"/>
            </a:endParaRPr>
          </a:p>
        </p:txBody>
      </p:sp>
      <p:sp>
        <p:nvSpPr>
          <p:cNvPr id="780" name="Google Shape;780;p58"/>
          <p:cNvSpPr/>
          <p:nvPr/>
        </p:nvSpPr>
        <p:spPr>
          <a:xfrm>
            <a:off x="767408" y="4221088"/>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Complejidad</a:t>
            </a:r>
            <a:endParaRPr sz="1600" b="1" i="0" u="none" strike="noStrike" cap="none">
              <a:solidFill>
                <a:srgbClr val="FFFFFF"/>
              </a:solidFill>
              <a:latin typeface="Arial"/>
              <a:ea typeface="Arial"/>
              <a:cs typeface="Arial"/>
              <a:sym typeface="Arial"/>
            </a:endParaRPr>
          </a:p>
        </p:txBody>
      </p:sp>
      <p:sp>
        <p:nvSpPr>
          <p:cNvPr id="781" name="Google Shape;781;p58"/>
          <p:cNvSpPr/>
          <p:nvPr/>
        </p:nvSpPr>
        <p:spPr>
          <a:xfrm>
            <a:off x="767408" y="5733256"/>
            <a:ext cx="1296144" cy="576064"/>
          </a:xfrm>
          <a:prstGeom prst="rect">
            <a:avLst/>
          </a:prstGeom>
          <a:solidFill>
            <a:schemeClr val="accent1"/>
          </a:solid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FFFF"/>
              </a:buClr>
              <a:buSzPts val="1400"/>
              <a:buFont typeface="Arial"/>
              <a:buNone/>
            </a:pPr>
            <a:r>
              <a:rPr lang="es-CL" sz="1400" b="1" i="0" u="none" strike="noStrike" cap="none">
                <a:solidFill>
                  <a:srgbClr val="FFFFFF"/>
                </a:solidFill>
                <a:latin typeface="Arial"/>
                <a:ea typeface="Arial"/>
                <a:cs typeface="Arial"/>
                <a:sym typeface="Arial"/>
              </a:rPr>
              <a:t>Potencial</a:t>
            </a:r>
            <a:endParaRPr sz="1600" b="1" i="0" u="none" strike="noStrike" cap="none">
              <a:solidFill>
                <a:srgbClr val="FFFFFF"/>
              </a:solidFill>
              <a:latin typeface="Arial"/>
              <a:ea typeface="Arial"/>
              <a:cs typeface="Arial"/>
              <a:sym typeface="Arial"/>
            </a:endParaRPr>
          </a:p>
        </p:txBody>
      </p:sp>
      <p:sp>
        <p:nvSpPr>
          <p:cNvPr id="782" name="Google Shape;782;p58"/>
          <p:cNvSpPr/>
          <p:nvPr/>
        </p:nvSpPr>
        <p:spPr>
          <a:xfrm>
            <a:off x="263352" y="6381328"/>
            <a:ext cx="1296144" cy="288032"/>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282DF0"/>
              </a:solidFill>
              <a:latin typeface="Arial"/>
              <a:ea typeface="Arial"/>
              <a:cs typeface="Arial"/>
              <a:sym typeface="Arial"/>
            </a:endParaRPr>
          </a:p>
        </p:txBody>
      </p:sp>
      <p:sp>
        <p:nvSpPr>
          <p:cNvPr id="783" name="Google Shape;783;p58"/>
          <p:cNvSpPr/>
          <p:nvPr/>
        </p:nvSpPr>
        <p:spPr>
          <a:xfrm>
            <a:off x="2078902" y="1196752"/>
            <a:ext cx="1528769"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$M/Margen</a:t>
            </a:r>
            <a:endParaRPr/>
          </a:p>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Base Instalada</a:t>
            </a:r>
            <a:endParaRPr/>
          </a:p>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 Visitas</a:t>
            </a:r>
            <a:endParaRPr sz="1200" b="0" i="0" u="none" strike="noStrike" cap="none">
              <a:solidFill>
                <a:srgbClr val="373C46"/>
              </a:solidFill>
              <a:latin typeface="Arial"/>
              <a:ea typeface="Arial"/>
              <a:cs typeface="Arial"/>
              <a:sym typeface="Arial"/>
            </a:endParaRPr>
          </a:p>
        </p:txBody>
      </p:sp>
      <p:sp>
        <p:nvSpPr>
          <p:cNvPr id="784" name="Google Shape;784;p58"/>
          <p:cNvSpPr/>
          <p:nvPr/>
        </p:nvSpPr>
        <p:spPr>
          <a:xfrm>
            <a:off x="2150910" y="2708920"/>
            <a:ext cx="1528769"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Referencia en el Mercado</a:t>
            </a:r>
            <a:endParaRPr sz="1200" b="0" i="0" u="none" strike="noStrike" cap="none">
              <a:solidFill>
                <a:srgbClr val="373C46"/>
              </a:solidFill>
              <a:latin typeface="Arial"/>
              <a:ea typeface="Arial"/>
              <a:cs typeface="Arial"/>
              <a:sym typeface="Arial"/>
            </a:endParaRPr>
          </a:p>
        </p:txBody>
      </p:sp>
      <p:sp>
        <p:nvSpPr>
          <p:cNvPr id="785" name="Google Shape;785;p58"/>
          <p:cNvSpPr/>
          <p:nvPr/>
        </p:nvSpPr>
        <p:spPr>
          <a:xfrm>
            <a:off x="2150910" y="4221088"/>
            <a:ext cx="1920761"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Equipamiento / Proceso Complejo (# Cirugías)</a:t>
            </a:r>
            <a:endParaRPr sz="1200" b="0" i="0" u="none" strike="noStrike" cap="none">
              <a:solidFill>
                <a:srgbClr val="373C46"/>
              </a:solidFill>
              <a:latin typeface="Arial"/>
              <a:ea typeface="Arial"/>
              <a:cs typeface="Arial"/>
              <a:sym typeface="Arial"/>
            </a:endParaRPr>
          </a:p>
        </p:txBody>
      </p:sp>
      <p:sp>
        <p:nvSpPr>
          <p:cNvPr id="786" name="Google Shape;786;p58"/>
          <p:cNvSpPr/>
          <p:nvPr/>
        </p:nvSpPr>
        <p:spPr>
          <a:xfrm>
            <a:off x="2150910" y="5742198"/>
            <a:ext cx="1920761" cy="792088"/>
          </a:xfrm>
          <a:prstGeom prst="rect">
            <a:avLst/>
          </a:prstGeom>
          <a:solidFill>
            <a:schemeClr val="dk1"/>
          </a:solidFill>
          <a:ln w="19050" cap="flat" cmpd="sng">
            <a:solidFill>
              <a:schemeClr val="dk1"/>
            </a:solidFill>
            <a:prstDash val="solid"/>
            <a:miter lim="8000"/>
            <a:headEnd type="none" w="sm" len="sm"/>
            <a:tailEnd type="none" w="sm" len="sm"/>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373C46"/>
              </a:buClr>
              <a:buSzPts val="1200"/>
              <a:buFont typeface="Noto Sans Symbols"/>
              <a:buChar char="▪"/>
            </a:pPr>
            <a:r>
              <a:rPr lang="es-CL" sz="1200" b="0" i="0" u="none" strike="noStrike" cap="none">
                <a:solidFill>
                  <a:srgbClr val="373C46"/>
                </a:solidFill>
                <a:latin typeface="Arial"/>
                <a:ea typeface="Arial"/>
                <a:cs typeface="Arial"/>
                <a:sym typeface="Arial"/>
              </a:rPr>
              <a:t>Negocios Futuros (Pipeline)</a:t>
            </a:r>
            <a:endParaRPr sz="1200" b="0" i="0" u="none" strike="noStrike" cap="none">
              <a:solidFill>
                <a:srgbClr val="373C46"/>
              </a:solidFill>
              <a:latin typeface="Arial"/>
              <a:ea typeface="Arial"/>
              <a:cs typeface="Arial"/>
              <a:sym typeface="Arial"/>
            </a:endParaRPr>
          </a:p>
        </p:txBody>
      </p:sp>
      <p:sp>
        <p:nvSpPr>
          <p:cNvPr id="787" name="Google Shape;787;p58"/>
          <p:cNvSpPr/>
          <p:nvPr/>
        </p:nvSpPr>
        <p:spPr>
          <a:xfrm rot="5400000">
            <a:off x="1930833" y="3531523"/>
            <a:ext cx="4536504" cy="216024"/>
          </a:xfrm>
          <a:prstGeom prst="triangle">
            <a:avLst>
              <a:gd name="adj" fmla="val 50000"/>
            </a:avLst>
          </a:prstGeom>
          <a:solidFill>
            <a:srgbClr val="D8D8D8"/>
          </a:solid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282DF0"/>
              </a:solidFill>
              <a:latin typeface="Arial"/>
              <a:ea typeface="Arial"/>
              <a:cs typeface="Arial"/>
              <a:sym typeface="Arial"/>
            </a:endParaRPr>
          </a:p>
        </p:txBody>
      </p:sp>
      <p:pic>
        <p:nvPicPr>
          <p:cNvPr id="788" name="Google Shape;788;p58"/>
          <p:cNvPicPr preferRelativeResize="0"/>
          <p:nvPr/>
        </p:nvPicPr>
        <p:blipFill rotWithShape="1">
          <a:blip r:embed="rId4">
            <a:alphaModFix/>
          </a:blip>
          <a:srcRect r="22241"/>
          <a:stretch/>
        </p:blipFill>
        <p:spPr>
          <a:xfrm>
            <a:off x="4440201" y="1007246"/>
            <a:ext cx="7516688" cy="3501874"/>
          </a:xfrm>
          <a:prstGeom prst="rect">
            <a:avLst/>
          </a:prstGeom>
          <a:noFill/>
          <a:ln>
            <a:noFill/>
          </a:ln>
        </p:spPr>
      </p:pic>
      <p:pic>
        <p:nvPicPr>
          <p:cNvPr id="789" name="Google Shape;789;p58"/>
          <p:cNvPicPr preferRelativeResize="0"/>
          <p:nvPr/>
        </p:nvPicPr>
        <p:blipFill rotWithShape="1">
          <a:blip r:embed="rId5">
            <a:alphaModFix/>
          </a:blip>
          <a:srcRect/>
          <a:stretch/>
        </p:blipFill>
        <p:spPr>
          <a:xfrm>
            <a:off x="4440201" y="4652714"/>
            <a:ext cx="7384622" cy="1250760"/>
          </a:xfrm>
          <a:prstGeom prst="rect">
            <a:avLst/>
          </a:prstGeom>
          <a:noFill/>
          <a:ln>
            <a:noFill/>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793"/>
        <p:cNvGrpSpPr/>
        <p:nvPr/>
      </p:nvGrpSpPr>
      <p:grpSpPr>
        <a:xfrm>
          <a:off x="0" y="0"/>
          <a:ext cx="0" cy="0"/>
          <a:chOff x="0" y="0"/>
          <a:chExt cx="0" cy="0"/>
        </a:xfrm>
      </p:grpSpPr>
      <p:sp>
        <p:nvSpPr>
          <p:cNvPr id="794" name="Google Shape;794;p59"/>
          <p:cNvSpPr txBox="1">
            <a:spLocks noGrp="1"/>
          </p:cNvSpPr>
          <p:nvPr>
            <p:ph type="title"/>
          </p:nvPr>
        </p:nvSpPr>
        <p:spPr>
          <a:xfrm>
            <a:off x="330200" y="227185"/>
            <a:ext cx="3042920" cy="3159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lt1"/>
              </a:buClr>
              <a:buSzPts val="1600"/>
              <a:buFont typeface="Play"/>
              <a:buNone/>
            </a:pPr>
            <a:endParaRPr/>
          </a:p>
        </p:txBody>
      </p:sp>
      <p:sp>
        <p:nvSpPr>
          <p:cNvPr id="795" name="Google Shape;795;p59"/>
          <p:cNvSpPr txBox="1">
            <a:spLocks noGrp="1"/>
          </p:cNvSpPr>
          <p:nvPr>
            <p:ph type="body" idx="1"/>
          </p:nvPr>
        </p:nvSpPr>
        <p:spPr>
          <a:xfrm>
            <a:off x="330200" y="1117123"/>
            <a:ext cx="11557000" cy="4838541"/>
          </a:xfrm>
          <a:prstGeom prst="rect">
            <a:avLst/>
          </a:prstGeom>
          <a:noFill/>
          <a:ln>
            <a:noFill/>
          </a:ln>
        </p:spPr>
        <p:txBody>
          <a:bodyPr spcFirstLastPara="1" wrap="square" lIns="91425" tIns="45700" rIns="91425" bIns="45700" anchor="t" anchorCtr="0">
            <a:normAutofit/>
          </a:bodyPr>
          <a:lstStyle/>
          <a:p>
            <a:pPr marL="228600" lvl="0" indent="-127000" algn="l" rtl="0">
              <a:lnSpc>
                <a:spcPct val="90000"/>
              </a:lnSpc>
              <a:spcBef>
                <a:spcPts val="0"/>
              </a:spcBef>
              <a:spcAft>
                <a:spcPts val="0"/>
              </a:spcAft>
              <a:buClr>
                <a:schemeClr val="lt2"/>
              </a:buClr>
              <a:buSzPts val="1600"/>
              <a:buNone/>
            </a:pPr>
            <a:endParaRPr/>
          </a:p>
        </p:txBody>
      </p:sp>
      <p:sp>
        <p:nvSpPr>
          <p:cNvPr id="796" name="Google Shape;796;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s-CL"/>
              <a:t>87</a:t>
            </a:fld>
            <a:endParaRPr/>
          </a:p>
        </p:txBody>
      </p:sp>
      <p:sp>
        <p:nvSpPr>
          <p:cNvPr id="797" name="Google Shape;797;p59"/>
          <p:cNvSpPr txBox="1"/>
          <p:nvPr/>
        </p:nvSpPr>
        <p:spPr>
          <a:xfrm>
            <a:off x="393700" y="182711"/>
            <a:ext cx="11430000" cy="41971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33448D"/>
              </a:buClr>
              <a:buSzPts val="2700"/>
              <a:buFont typeface="Roboto"/>
              <a:buNone/>
            </a:pPr>
            <a:r>
              <a:rPr lang="es-CL" sz="2700" b="1" i="0" u="none" strike="noStrike" cap="none">
                <a:solidFill>
                  <a:srgbClr val="33448D"/>
                </a:solidFill>
                <a:latin typeface="Roboto"/>
                <a:ea typeface="Roboto"/>
                <a:cs typeface="Roboto"/>
                <a:sym typeface="Roboto"/>
              </a:rPr>
              <a:t>Lógica Ciudades Satelites - Hub</a:t>
            </a:r>
            <a:endParaRPr sz="2700" b="0" i="0" u="none" strike="noStrike" cap="none">
              <a:solidFill>
                <a:srgbClr val="FFFFFF"/>
              </a:solidFill>
              <a:latin typeface="Roboto"/>
              <a:ea typeface="Roboto"/>
              <a:cs typeface="Roboto"/>
              <a:sym typeface="Roboto"/>
            </a:endParaRPr>
          </a:p>
        </p:txBody>
      </p:sp>
      <p:sp>
        <p:nvSpPr>
          <p:cNvPr id="798" name="Google Shape;798;p59"/>
          <p:cNvSpPr/>
          <p:nvPr/>
        </p:nvSpPr>
        <p:spPr>
          <a:xfrm>
            <a:off x="10345949" y="5272208"/>
            <a:ext cx="1777041" cy="448580"/>
          </a:xfrm>
          <a:prstGeom prst="rect">
            <a:avLst/>
          </a:prstGeom>
          <a:noFill/>
          <a:ln>
            <a:noFill/>
          </a:ln>
        </p:spPr>
        <p:txBody>
          <a:bodyPr spcFirstLastPara="1" wrap="square" lIns="91425" tIns="45700" rIns="91425" bIns="45700" anchor="ctr" anchorCtr="0">
            <a:noAutofit/>
          </a:bodyPr>
          <a:lstStyle/>
          <a:p>
            <a:pPr marL="171450" marR="0" lvl="0" indent="-171450" algn="l" rtl="0">
              <a:spcBef>
                <a:spcPts val="0"/>
              </a:spcBef>
              <a:spcAft>
                <a:spcPts val="0"/>
              </a:spcAft>
              <a:buClr>
                <a:schemeClr val="lt2"/>
              </a:buClr>
              <a:buSzPts val="1050"/>
              <a:buFont typeface="Arial"/>
              <a:buChar char="•"/>
            </a:pPr>
            <a:r>
              <a:rPr lang="es-CL" sz="1050">
                <a:solidFill>
                  <a:schemeClr val="lt2"/>
                </a:solidFill>
                <a:latin typeface="Roboto"/>
                <a:ea typeface="Roboto"/>
                <a:cs typeface="Roboto"/>
                <a:sym typeface="Roboto"/>
              </a:rPr>
              <a:t>-</a:t>
            </a:r>
            <a:endParaRPr sz="1050">
              <a:solidFill>
                <a:schemeClr val="lt2"/>
              </a:solidFill>
              <a:latin typeface="Roboto"/>
              <a:ea typeface="Roboto"/>
              <a:cs typeface="Roboto"/>
              <a:sym typeface="Roboto"/>
            </a:endParaRPr>
          </a:p>
        </p:txBody>
      </p:sp>
      <p:pic>
        <p:nvPicPr>
          <p:cNvPr id="799" name="Google Shape;799;p59"/>
          <p:cNvPicPr preferRelativeResize="0"/>
          <p:nvPr/>
        </p:nvPicPr>
        <p:blipFill rotWithShape="1">
          <a:blip r:embed="rId3">
            <a:alphaModFix/>
          </a:blip>
          <a:srcRect/>
          <a:stretch/>
        </p:blipFill>
        <p:spPr>
          <a:xfrm>
            <a:off x="117656" y="883246"/>
            <a:ext cx="2675710" cy="5351418"/>
          </a:xfrm>
          <a:prstGeom prst="rect">
            <a:avLst/>
          </a:prstGeom>
          <a:noFill/>
          <a:ln>
            <a:noFill/>
          </a:ln>
        </p:spPr>
      </p:pic>
      <p:sp>
        <p:nvSpPr>
          <p:cNvPr id="800" name="Google Shape;800;p59"/>
          <p:cNvSpPr/>
          <p:nvPr/>
        </p:nvSpPr>
        <p:spPr>
          <a:xfrm>
            <a:off x="1461506" y="4023360"/>
            <a:ext cx="539932" cy="1697428"/>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1" name="Google Shape;801;p59"/>
          <p:cNvSpPr/>
          <p:nvPr/>
        </p:nvSpPr>
        <p:spPr>
          <a:xfrm>
            <a:off x="1461589" y="3352800"/>
            <a:ext cx="539932" cy="670560"/>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802" name="Google Shape;802;p59"/>
          <p:cNvSpPr/>
          <p:nvPr/>
        </p:nvSpPr>
        <p:spPr>
          <a:xfrm>
            <a:off x="1461589" y="865994"/>
            <a:ext cx="539932" cy="2496872"/>
          </a:xfrm>
          <a:prstGeom prst="rect">
            <a:avLst/>
          </a:prstGeom>
          <a:noFill/>
          <a:ln w="19050" cap="flat" cmpd="sng">
            <a:solidFill>
              <a:srgbClr val="105852"/>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aphicFrame>
        <p:nvGraphicFramePr>
          <p:cNvPr id="803" name="Google Shape;803;p59"/>
          <p:cNvGraphicFramePr/>
          <p:nvPr/>
        </p:nvGraphicFramePr>
        <p:xfrm>
          <a:off x="3225801" y="855928"/>
          <a:ext cx="8704950" cy="5378650"/>
        </p:xfrm>
        <a:graphic>
          <a:graphicData uri="http://schemas.openxmlformats.org/drawingml/2006/table">
            <a:tbl>
              <a:tblPr firstRow="1" bandRow="1">
                <a:noFill/>
                <a:tableStyleId>{C37305D2-9BBB-409F-AAFB-F33DB949016B}</a:tableStyleId>
              </a:tblPr>
              <a:tblGrid>
                <a:gridCol w="2114950">
                  <a:extLst>
                    <a:ext uri="{9D8B030D-6E8A-4147-A177-3AD203B41FA5}">
                      <a16:colId xmlns:a16="http://schemas.microsoft.com/office/drawing/2014/main" val="20000"/>
                    </a:ext>
                  </a:extLst>
                </a:gridCol>
                <a:gridCol w="3688350">
                  <a:extLst>
                    <a:ext uri="{9D8B030D-6E8A-4147-A177-3AD203B41FA5}">
                      <a16:colId xmlns:a16="http://schemas.microsoft.com/office/drawing/2014/main" val="20001"/>
                    </a:ext>
                  </a:extLst>
                </a:gridCol>
                <a:gridCol w="2901650">
                  <a:extLst>
                    <a:ext uri="{9D8B030D-6E8A-4147-A177-3AD203B41FA5}">
                      <a16:colId xmlns:a16="http://schemas.microsoft.com/office/drawing/2014/main" val="20002"/>
                    </a:ext>
                  </a:extLst>
                </a:gridCol>
              </a:tblGrid>
              <a:tr h="368925">
                <a:tc>
                  <a:txBody>
                    <a:bodyPr/>
                    <a:lstStyle/>
                    <a:p>
                      <a:pPr marL="0" marR="0" lvl="0" indent="0" algn="l" rtl="0">
                        <a:spcBef>
                          <a:spcPts val="0"/>
                        </a:spcBef>
                        <a:spcAft>
                          <a:spcPts val="0"/>
                        </a:spcAft>
                        <a:buNone/>
                      </a:pPr>
                      <a:r>
                        <a:rPr lang="es-CL" sz="1000" u="none" strike="noStrike" cap="none">
                          <a:solidFill>
                            <a:schemeClr val="dk1"/>
                          </a:solidFill>
                        </a:rPr>
                        <a:t>Región</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s-CL" sz="1000">
                          <a:solidFill>
                            <a:schemeClr val="dk1"/>
                          </a:solidFill>
                        </a:rPr>
                        <a:t>Región que presta Servicios (Camionetas/Bodegas/Coordinación/Jefatura)</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tc>
                  <a:txBody>
                    <a:bodyPr/>
                    <a:lstStyle/>
                    <a:p>
                      <a:pPr marL="0" marR="0" lvl="0" indent="0" algn="l" rtl="0">
                        <a:spcBef>
                          <a:spcPts val="0"/>
                        </a:spcBef>
                        <a:spcAft>
                          <a:spcPts val="0"/>
                        </a:spcAft>
                        <a:buNone/>
                      </a:pPr>
                      <a:r>
                        <a:rPr lang="es-CL" sz="1000">
                          <a:solidFill>
                            <a:schemeClr val="dk1"/>
                          </a:solidFill>
                        </a:rPr>
                        <a:t>Tipo de Ciudad (Hub / Satélite / Receptora)</a:t>
                      </a:r>
                      <a:endParaRPr sz="100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2"/>
                    </a:solidFill>
                  </a:tcPr>
                </a:tc>
                <a:extLst>
                  <a:ext uri="{0D108BD9-81ED-4DB2-BD59-A6C34878D82A}">
                    <a16:rowId xmlns:a16="http://schemas.microsoft.com/office/drawing/2014/main" val="10000"/>
                  </a:ext>
                </a:extLst>
              </a:tr>
              <a:tr h="311400">
                <a:tc>
                  <a:txBody>
                    <a:bodyPr/>
                    <a:lstStyle/>
                    <a:p>
                      <a:pPr marL="0" marR="0" lvl="0" indent="0" algn="l" rtl="0">
                        <a:spcBef>
                          <a:spcPts val="0"/>
                        </a:spcBef>
                        <a:spcAft>
                          <a:spcPts val="0"/>
                        </a:spcAft>
                        <a:buNone/>
                      </a:pPr>
                      <a:r>
                        <a:rPr lang="es-CL" sz="1000" b="0">
                          <a:solidFill>
                            <a:schemeClr val="lt2"/>
                          </a:solidFill>
                        </a:rPr>
                        <a:t>Arica y Parinacota – XV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Receptora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1"/>
                  </a:ext>
                </a:extLst>
              </a:tr>
              <a:tr h="311400">
                <a:tc>
                  <a:txBody>
                    <a:bodyPr/>
                    <a:lstStyle/>
                    <a:p>
                      <a:pPr marL="0" marR="0" lvl="0" indent="0" algn="l" rtl="0">
                        <a:spcBef>
                          <a:spcPts val="0"/>
                        </a:spcBef>
                        <a:spcAft>
                          <a:spcPts val="0"/>
                        </a:spcAft>
                        <a:buNone/>
                      </a:pPr>
                      <a:r>
                        <a:rPr lang="es-CL" sz="1000" b="0">
                          <a:solidFill>
                            <a:schemeClr val="lt2"/>
                          </a:solidFill>
                        </a:rPr>
                        <a:t>Tarapacá – 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Receptora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2"/>
                  </a:ext>
                </a:extLst>
              </a:tr>
              <a:tr h="311400">
                <a:tc>
                  <a:txBody>
                    <a:bodyPr/>
                    <a:lstStyle/>
                    <a:p>
                      <a:pPr marL="0" marR="0" lvl="0" indent="0" algn="l" rtl="0">
                        <a:spcBef>
                          <a:spcPts val="0"/>
                        </a:spcBef>
                        <a:spcAft>
                          <a:spcPts val="0"/>
                        </a:spcAft>
                        <a:buNone/>
                      </a:pPr>
                      <a:r>
                        <a:rPr lang="es-CL" sz="1000" b="0">
                          <a:solidFill>
                            <a:schemeClr val="lt2"/>
                          </a:solidFill>
                        </a:rPr>
                        <a:t>Antofagasta – 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3"/>
                  </a:ext>
                </a:extLst>
              </a:tr>
              <a:tr h="311400">
                <a:tc>
                  <a:txBody>
                    <a:bodyPr/>
                    <a:lstStyle/>
                    <a:p>
                      <a:pPr marL="0" marR="0" lvl="0" indent="0" algn="l" rtl="0">
                        <a:spcBef>
                          <a:spcPts val="0"/>
                        </a:spcBef>
                        <a:spcAft>
                          <a:spcPts val="0"/>
                        </a:spcAft>
                        <a:buNone/>
                      </a:pPr>
                      <a:r>
                        <a:rPr lang="es-CL" sz="1000" b="0">
                          <a:solidFill>
                            <a:schemeClr val="lt2"/>
                          </a:solidFill>
                        </a:rPr>
                        <a:t>Atacama – III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4"/>
                  </a:ext>
                </a:extLst>
              </a:tr>
              <a:tr h="311400">
                <a:tc>
                  <a:txBody>
                    <a:bodyPr/>
                    <a:lstStyle/>
                    <a:p>
                      <a:pPr marL="0" marR="0" lvl="0" indent="0" algn="l" rtl="0">
                        <a:spcBef>
                          <a:spcPts val="0"/>
                        </a:spcBef>
                        <a:spcAft>
                          <a:spcPts val="0"/>
                        </a:spcAft>
                        <a:buNone/>
                      </a:pPr>
                      <a:r>
                        <a:rPr lang="es-CL" sz="1000" b="0">
                          <a:solidFill>
                            <a:schemeClr val="lt2"/>
                          </a:solidFill>
                        </a:rPr>
                        <a:t>Coquimbo – IV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5"/>
                  </a:ext>
                </a:extLst>
              </a:tr>
              <a:tr h="311400">
                <a:tc>
                  <a:txBody>
                    <a:bodyPr/>
                    <a:lstStyle/>
                    <a:p>
                      <a:pPr marL="0" marR="0" lvl="0" indent="0" algn="l" rtl="0">
                        <a:spcBef>
                          <a:spcPts val="0"/>
                        </a:spcBef>
                        <a:spcAft>
                          <a:spcPts val="0"/>
                        </a:spcAft>
                        <a:buNone/>
                      </a:pPr>
                      <a:r>
                        <a:rPr lang="es-CL" sz="1000" b="0">
                          <a:solidFill>
                            <a:schemeClr val="lt2"/>
                          </a:solidFill>
                        </a:rPr>
                        <a:t>Valparaíso – 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6"/>
                  </a:ext>
                </a:extLst>
              </a:tr>
              <a:tr h="311400">
                <a:tc>
                  <a:txBody>
                    <a:bodyPr/>
                    <a:lstStyle/>
                    <a:p>
                      <a:pPr marL="0" marR="0" lvl="0" indent="0" algn="l" rtl="0">
                        <a:spcBef>
                          <a:spcPts val="0"/>
                        </a:spcBef>
                        <a:spcAft>
                          <a:spcPts val="0"/>
                        </a:spcAft>
                        <a:buNone/>
                      </a:pPr>
                      <a:r>
                        <a:rPr lang="es-CL" sz="1000" b="0">
                          <a:solidFill>
                            <a:schemeClr val="dk1"/>
                          </a:solidFill>
                        </a:rPr>
                        <a:t>Metropolitana de Santiago – RM</a:t>
                      </a:r>
                      <a:endParaRPr sz="1000" b="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tc>
                  <a:txBody>
                    <a:bodyPr/>
                    <a:lstStyle/>
                    <a:p>
                      <a:pPr marL="0" marR="0" lvl="0" indent="0" algn="l" rtl="0">
                        <a:spcBef>
                          <a:spcPts val="0"/>
                        </a:spcBef>
                        <a:spcAft>
                          <a:spcPts val="0"/>
                        </a:spcAft>
                        <a:buNone/>
                      </a:pPr>
                      <a:r>
                        <a:rPr lang="es-CL" sz="1000" b="0">
                          <a:solidFill>
                            <a:schemeClr val="dk1"/>
                          </a:solidFill>
                        </a:rPr>
                        <a:t>RM</a:t>
                      </a:r>
                      <a:endParaRPr sz="1000" b="0">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tc>
                  <a:txBody>
                    <a:bodyPr/>
                    <a:lstStyle/>
                    <a:p>
                      <a:pPr marL="0" marR="0" lvl="0" indent="0" algn="l" rtl="0">
                        <a:spcBef>
                          <a:spcPts val="0"/>
                        </a:spcBef>
                        <a:spcAft>
                          <a:spcPts val="0"/>
                        </a:spcAft>
                        <a:buNone/>
                      </a:pPr>
                      <a:r>
                        <a:rPr lang="es-CL" sz="1000" b="1">
                          <a:solidFill>
                            <a:schemeClr val="dk1"/>
                          </a:solidFill>
                        </a:rPr>
                        <a:t>Hub</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accent4"/>
                    </a:solidFill>
                  </a:tcPr>
                </a:tc>
                <a:extLst>
                  <a:ext uri="{0D108BD9-81ED-4DB2-BD59-A6C34878D82A}">
                    <a16:rowId xmlns:a16="http://schemas.microsoft.com/office/drawing/2014/main" val="10007"/>
                  </a:ext>
                </a:extLst>
              </a:tr>
              <a:tr h="311400">
                <a:tc>
                  <a:txBody>
                    <a:bodyPr/>
                    <a:lstStyle/>
                    <a:p>
                      <a:pPr marL="0" marR="0" lvl="0" indent="0" algn="l" rtl="0">
                        <a:spcBef>
                          <a:spcPts val="0"/>
                        </a:spcBef>
                        <a:spcAft>
                          <a:spcPts val="0"/>
                        </a:spcAft>
                        <a:buNone/>
                      </a:pPr>
                      <a:r>
                        <a:rPr lang="es-CL" sz="1000" b="0">
                          <a:solidFill>
                            <a:schemeClr val="lt2"/>
                          </a:solidFill>
                        </a:rPr>
                        <a:t>O’Higgins – VI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8"/>
                  </a:ext>
                </a:extLst>
              </a:tr>
              <a:tr h="311400">
                <a:tc>
                  <a:txBody>
                    <a:bodyPr/>
                    <a:lstStyle/>
                    <a:p>
                      <a:pPr marL="0" marR="0" lvl="0" indent="0" algn="l" rtl="0">
                        <a:spcBef>
                          <a:spcPts val="0"/>
                        </a:spcBef>
                        <a:spcAft>
                          <a:spcPts val="0"/>
                        </a:spcAft>
                        <a:buNone/>
                      </a:pPr>
                      <a:r>
                        <a:rPr lang="es-CL" sz="1000" b="0">
                          <a:solidFill>
                            <a:schemeClr val="lt2"/>
                          </a:solidFill>
                        </a:rPr>
                        <a:t>Maule – VII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09"/>
                  </a:ext>
                </a:extLst>
              </a:tr>
              <a:tr h="311400">
                <a:tc>
                  <a:txBody>
                    <a:bodyPr/>
                    <a:lstStyle/>
                    <a:p>
                      <a:pPr marL="0" marR="0" lvl="0" indent="0" algn="l" rtl="0">
                        <a:spcBef>
                          <a:spcPts val="0"/>
                        </a:spcBef>
                        <a:spcAft>
                          <a:spcPts val="0"/>
                        </a:spcAft>
                        <a:buNone/>
                      </a:pPr>
                      <a:r>
                        <a:rPr lang="es-CL" sz="1000" b="0">
                          <a:solidFill>
                            <a:schemeClr val="lt2"/>
                          </a:solidFill>
                        </a:rPr>
                        <a:t>Ñuble – XVI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VIII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spcBef>
                          <a:spcPts val="0"/>
                        </a:spcBef>
                        <a:spcAft>
                          <a:spcPts val="0"/>
                        </a:spcAft>
                        <a:buNone/>
                      </a:pPr>
                      <a:r>
                        <a:rPr lang="es-CL" sz="1000" b="0">
                          <a:solidFill>
                            <a:schemeClr val="lt2"/>
                          </a:solidFill>
                        </a:rPr>
                        <a:t>Receptora – VIII y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0"/>
                  </a:ext>
                </a:extLst>
              </a:tr>
              <a:tr h="311400">
                <a:tc>
                  <a:txBody>
                    <a:bodyPr/>
                    <a:lstStyle/>
                    <a:p>
                      <a:pPr marL="0" marR="0" lvl="0" indent="0" algn="l" rtl="0">
                        <a:spcBef>
                          <a:spcPts val="0"/>
                        </a:spcBef>
                        <a:spcAft>
                          <a:spcPts val="0"/>
                        </a:spcAft>
                        <a:buNone/>
                      </a:pPr>
                      <a:r>
                        <a:rPr lang="es-CL" sz="1000" b="1">
                          <a:solidFill>
                            <a:schemeClr val="dk1"/>
                          </a:solidFill>
                        </a:rPr>
                        <a:t>Bio Bio – VIII</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VIII</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Satélite</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11"/>
                  </a:ext>
                </a:extLst>
              </a:tr>
              <a:tr h="311400">
                <a:tc>
                  <a:txBody>
                    <a:bodyPr/>
                    <a:lstStyle/>
                    <a:p>
                      <a:pPr marL="0" marR="0" lvl="0" indent="0" algn="l" rtl="0">
                        <a:spcBef>
                          <a:spcPts val="0"/>
                        </a:spcBef>
                        <a:spcAft>
                          <a:spcPts val="0"/>
                        </a:spcAft>
                        <a:buNone/>
                      </a:pPr>
                      <a:r>
                        <a:rPr lang="es-CL" sz="1000" b="0">
                          <a:solidFill>
                            <a:schemeClr val="lt2"/>
                          </a:solidFill>
                        </a:rPr>
                        <a:t>La Araucanía – IX</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VIII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VIII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2"/>
                  </a:ext>
                </a:extLst>
              </a:tr>
              <a:tr h="311400">
                <a:tc>
                  <a:txBody>
                    <a:bodyPr/>
                    <a:lstStyle/>
                    <a:p>
                      <a:pPr marL="0" marR="0" lvl="0" indent="0" algn="l" rtl="0">
                        <a:spcBef>
                          <a:spcPts val="0"/>
                        </a:spcBef>
                        <a:spcAft>
                          <a:spcPts val="0"/>
                        </a:spcAft>
                        <a:buNone/>
                      </a:pPr>
                      <a:r>
                        <a:rPr lang="es-CL" sz="1000" b="0">
                          <a:solidFill>
                            <a:schemeClr val="lt2"/>
                          </a:solidFill>
                        </a:rPr>
                        <a:t>Los Ríos – XIV</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3"/>
                  </a:ext>
                </a:extLst>
              </a:tr>
              <a:tr h="311400">
                <a:tc>
                  <a:txBody>
                    <a:bodyPr/>
                    <a:lstStyle/>
                    <a:p>
                      <a:pPr marL="0" marR="0" lvl="0" indent="0" algn="l" rtl="0">
                        <a:spcBef>
                          <a:spcPts val="0"/>
                        </a:spcBef>
                        <a:spcAft>
                          <a:spcPts val="0"/>
                        </a:spcAft>
                        <a:buNone/>
                      </a:pPr>
                      <a:r>
                        <a:rPr lang="es-CL" sz="1000" b="1">
                          <a:solidFill>
                            <a:schemeClr val="dk1"/>
                          </a:solidFill>
                        </a:rPr>
                        <a:t>Los Lagos - X</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r>
                        <a:rPr lang="es-CL" sz="1000" b="1">
                          <a:solidFill>
                            <a:schemeClr val="dk1"/>
                          </a:solidFill>
                        </a:rPr>
                        <a:t>X</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1000"/>
                        <a:buFont typeface="Arial"/>
                        <a:buNone/>
                      </a:pPr>
                      <a:r>
                        <a:rPr lang="es-CL" sz="1000" b="1">
                          <a:solidFill>
                            <a:schemeClr val="dk1"/>
                          </a:solidFill>
                        </a:rPr>
                        <a:t>Satélite</a:t>
                      </a:r>
                      <a:endParaRPr sz="1000" b="1">
                        <a:solidFill>
                          <a:schemeClr val="dk1"/>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solidFill>
                      <a:schemeClr val="lt1"/>
                    </a:solidFill>
                  </a:tcPr>
                </a:tc>
                <a:extLst>
                  <a:ext uri="{0D108BD9-81ED-4DB2-BD59-A6C34878D82A}">
                    <a16:rowId xmlns:a16="http://schemas.microsoft.com/office/drawing/2014/main" val="10014"/>
                  </a:ext>
                </a:extLst>
              </a:tr>
              <a:tr h="311400">
                <a:tc>
                  <a:txBody>
                    <a:bodyPr/>
                    <a:lstStyle/>
                    <a:p>
                      <a:pPr marL="0" marR="0" lvl="0" indent="0" algn="l" rtl="0">
                        <a:spcBef>
                          <a:spcPts val="0"/>
                        </a:spcBef>
                        <a:spcAft>
                          <a:spcPts val="0"/>
                        </a:spcAft>
                        <a:buNone/>
                      </a:pPr>
                      <a:r>
                        <a:rPr lang="es-CL" sz="1000" b="0">
                          <a:solidFill>
                            <a:schemeClr val="lt2"/>
                          </a:solidFill>
                        </a:rPr>
                        <a:t>Aysén – XI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5"/>
                  </a:ext>
                </a:extLst>
              </a:tr>
              <a:tr h="311400">
                <a:tc>
                  <a:txBody>
                    <a:bodyPr/>
                    <a:lstStyle/>
                    <a:p>
                      <a:pPr marL="0" marR="0" lvl="0" indent="0" algn="l" rtl="0">
                        <a:spcBef>
                          <a:spcPts val="0"/>
                        </a:spcBef>
                        <a:spcAft>
                          <a:spcPts val="0"/>
                        </a:spcAft>
                        <a:buNone/>
                      </a:pPr>
                      <a:r>
                        <a:rPr lang="es-CL" sz="1000" b="0">
                          <a:solidFill>
                            <a:schemeClr val="lt2"/>
                          </a:solidFill>
                        </a:rPr>
                        <a:t>Magallanes - XII</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lt2"/>
                        </a:buClr>
                        <a:buSzPts val="1000"/>
                        <a:buFont typeface="Arial"/>
                        <a:buNone/>
                      </a:pPr>
                      <a:r>
                        <a:rPr lang="es-CL" sz="1000" b="0">
                          <a:solidFill>
                            <a:schemeClr val="lt2"/>
                          </a:solidFill>
                        </a:rPr>
                        <a:t>(Camionetas – Bodega: X ; Coordinación – Jefatura : RM)</a:t>
                      </a:r>
                      <a:endParaRPr sz="1000" b="0">
                        <a:solidFill>
                          <a:schemeClr val="lt2"/>
                        </a:solidFil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373C46"/>
                        </a:buClr>
                        <a:buSzPts val="1000"/>
                        <a:buFont typeface="Arial"/>
                        <a:buNone/>
                      </a:pPr>
                      <a:r>
                        <a:rPr lang="es-CL" sz="1000" b="0" i="0" u="none" strike="noStrike" cap="none">
                          <a:solidFill>
                            <a:srgbClr val="373C46"/>
                          </a:solidFill>
                          <a:latin typeface="Arial"/>
                          <a:ea typeface="Arial"/>
                          <a:cs typeface="Arial"/>
                          <a:sym typeface="Arial"/>
                        </a:rPr>
                        <a:t>Receptora – X y RM</a:t>
                      </a:r>
                      <a:endParaRPr sz="1000" b="0" i="0" u="none" strike="noStrike" cap="none">
                        <a:solidFill>
                          <a:srgbClr val="373C46"/>
                        </a:solidFill>
                        <a:latin typeface="Arial"/>
                        <a:ea typeface="Arial"/>
                        <a:cs typeface="Arial"/>
                        <a:sym typeface="Arial"/>
                      </a:endParaRPr>
                    </a:p>
                  </a:txBody>
                  <a:tcPr marL="91450" marR="91450" marT="45725" marB="45725" anchor="ctr">
                    <a:lnL w="12700" cap="flat" cmpd="sng">
                      <a:solidFill>
                        <a:schemeClr val="lt2"/>
                      </a:solidFill>
                      <a:prstDash val="solid"/>
                      <a:round/>
                      <a:headEnd type="none" w="sm" len="sm"/>
                      <a:tailEnd type="none" w="sm" len="sm"/>
                    </a:lnL>
                    <a:lnR w="12700" cap="flat" cmpd="sng">
                      <a:solidFill>
                        <a:schemeClr val="lt2"/>
                      </a:solidFill>
                      <a:prstDash val="solid"/>
                      <a:round/>
                      <a:headEnd type="none" w="sm" len="sm"/>
                      <a:tailEnd type="none" w="sm" len="sm"/>
                    </a:lnR>
                    <a:lnT w="12700" cap="flat" cmpd="sng">
                      <a:solidFill>
                        <a:schemeClr val="lt2"/>
                      </a:solidFill>
                      <a:prstDash val="solid"/>
                      <a:round/>
                      <a:headEnd type="none" w="sm" len="sm"/>
                      <a:tailEnd type="none" w="sm" len="sm"/>
                    </a:lnT>
                    <a:lnB w="12700" cap="flat" cmpd="sng">
                      <a:solidFill>
                        <a:schemeClr val="lt2"/>
                      </a:solidFill>
                      <a:prstDash val="solid"/>
                      <a:round/>
                      <a:headEnd type="none" w="sm" len="sm"/>
                      <a:tailEnd type="none" w="sm" len="sm"/>
                    </a:lnB>
                  </a:tcPr>
                </a:tc>
                <a:extLst>
                  <a:ext uri="{0D108BD9-81ED-4DB2-BD59-A6C34878D82A}">
                    <a16:rowId xmlns:a16="http://schemas.microsoft.com/office/drawing/2014/main" val="10016"/>
                  </a:ext>
                </a:extLst>
              </a:tr>
            </a:tbl>
          </a:graphicData>
        </a:graphic>
      </p:graphicFrame>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8"/>
        <p:cNvGrpSpPr/>
        <p:nvPr/>
      </p:nvGrpSpPr>
      <p:grpSpPr>
        <a:xfrm>
          <a:off x="0" y="0"/>
          <a:ext cx="0" cy="0"/>
          <a:chOff x="0" y="0"/>
          <a:chExt cx="0" cy="0"/>
        </a:xfrm>
      </p:grpSpPr>
      <p:sp>
        <p:nvSpPr>
          <p:cNvPr id="809" name="Google Shape;809;p60"/>
          <p:cNvSpPr/>
          <p:nvPr/>
        </p:nvSpPr>
        <p:spPr>
          <a:xfrm>
            <a:off x="330200" y="127000"/>
            <a:ext cx="9779000" cy="279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500" b="1">
                <a:solidFill>
                  <a:srgbClr val="373C46"/>
                </a:solidFill>
                <a:latin typeface="Quattrocento Sans"/>
                <a:ea typeface="Quattrocento Sans"/>
                <a:cs typeface="Quattrocento Sans"/>
                <a:sym typeface="Quattrocento Sans"/>
              </a:rPr>
              <a:t>Arquitectura de sistemas actual (AS IS)</a:t>
            </a:r>
            <a:endParaRPr sz="1500">
              <a:solidFill>
                <a:srgbClr val="000000"/>
              </a:solidFill>
              <a:latin typeface="Calibri"/>
              <a:ea typeface="Calibri"/>
              <a:cs typeface="Calibri"/>
              <a:sym typeface="Calibri"/>
            </a:endParaRPr>
          </a:p>
        </p:txBody>
      </p:sp>
      <p:sp>
        <p:nvSpPr>
          <p:cNvPr id="810" name="Google Shape;810;p60"/>
          <p:cNvSpPr/>
          <p:nvPr/>
        </p:nvSpPr>
        <p:spPr>
          <a:xfrm>
            <a:off x="330200" y="431800"/>
            <a:ext cx="9779000"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50">
                <a:solidFill>
                  <a:srgbClr val="6E7480"/>
                </a:solidFill>
                <a:latin typeface="Quattrocento Sans"/>
                <a:ea typeface="Quattrocento Sans"/>
                <a:cs typeface="Quattrocento Sans"/>
                <a:sym typeface="Quattrocento Sans"/>
              </a:rPr>
              <a:t>Qué información se aloja en cada plataforma y cómo se conectan entre sí</a:t>
            </a:r>
            <a:endParaRPr sz="750">
              <a:solidFill>
                <a:srgbClr val="000000"/>
              </a:solidFill>
              <a:latin typeface="Calibri"/>
              <a:ea typeface="Calibri"/>
              <a:cs typeface="Calibri"/>
              <a:sym typeface="Calibri"/>
            </a:endParaRPr>
          </a:p>
        </p:txBody>
      </p:sp>
      <p:sp>
        <p:nvSpPr>
          <p:cNvPr id="811" name="Google Shape;811;p60"/>
          <p:cNvSpPr/>
          <p:nvPr/>
        </p:nvSpPr>
        <p:spPr>
          <a:xfrm>
            <a:off x="0" y="717550"/>
            <a:ext cx="12192000" cy="50800"/>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12" name="Google Shape;812;p60" descr="preencoded.png"/>
          <p:cNvPicPr preferRelativeResize="0"/>
          <p:nvPr/>
        </p:nvPicPr>
        <p:blipFill rotWithShape="1">
          <a:blip r:embed="rId3">
            <a:alphaModFix/>
          </a:blip>
          <a:srcRect/>
          <a:stretch/>
        </p:blipFill>
        <p:spPr>
          <a:xfrm>
            <a:off x="10813554" y="139700"/>
            <a:ext cx="289818" cy="279400"/>
          </a:xfrm>
          <a:prstGeom prst="rect">
            <a:avLst/>
          </a:prstGeom>
          <a:noFill/>
          <a:ln>
            <a:noFill/>
          </a:ln>
        </p:spPr>
      </p:pic>
      <p:pic>
        <p:nvPicPr>
          <p:cNvPr id="813" name="Google Shape;813;p60" descr="preencoded.png"/>
          <p:cNvPicPr preferRelativeResize="0"/>
          <p:nvPr/>
        </p:nvPicPr>
        <p:blipFill rotWithShape="1">
          <a:blip r:embed="rId4">
            <a:alphaModFix/>
          </a:blip>
          <a:srcRect/>
          <a:stretch/>
        </p:blipFill>
        <p:spPr>
          <a:xfrm>
            <a:off x="11217672" y="139700"/>
            <a:ext cx="278309" cy="279400"/>
          </a:xfrm>
          <a:prstGeom prst="rect">
            <a:avLst/>
          </a:prstGeom>
          <a:noFill/>
          <a:ln>
            <a:noFill/>
          </a:ln>
        </p:spPr>
      </p:pic>
      <p:pic>
        <p:nvPicPr>
          <p:cNvPr id="814" name="Google Shape;814;p60" descr="preencoded.png"/>
          <p:cNvPicPr preferRelativeResize="0"/>
          <p:nvPr/>
        </p:nvPicPr>
        <p:blipFill rotWithShape="1">
          <a:blip r:embed="rId5">
            <a:alphaModFix/>
          </a:blip>
          <a:srcRect/>
          <a:stretch/>
        </p:blipFill>
        <p:spPr>
          <a:xfrm>
            <a:off x="11610281" y="139700"/>
            <a:ext cx="251519" cy="279400"/>
          </a:xfrm>
          <a:prstGeom prst="rect">
            <a:avLst/>
          </a:prstGeom>
          <a:noFill/>
          <a:ln>
            <a:noFill/>
          </a:ln>
        </p:spPr>
      </p:pic>
      <p:sp>
        <p:nvSpPr>
          <p:cNvPr id="815" name="Google Shape;815;p60"/>
          <p:cNvSpPr/>
          <p:nvPr/>
        </p:nvSpPr>
        <p:spPr>
          <a:xfrm>
            <a:off x="330200" y="952500"/>
            <a:ext cx="941578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CAPA DE APLICACIONES DE NEGOCIO</a:t>
            </a:r>
            <a:endParaRPr sz="675">
              <a:solidFill>
                <a:srgbClr val="000000"/>
              </a:solidFill>
              <a:latin typeface="Calibri"/>
              <a:ea typeface="Calibri"/>
              <a:cs typeface="Calibri"/>
              <a:sym typeface="Calibri"/>
            </a:endParaRPr>
          </a:p>
        </p:txBody>
      </p:sp>
      <p:sp>
        <p:nvSpPr>
          <p:cNvPr id="816" name="Google Shape;816;p60"/>
          <p:cNvSpPr/>
          <p:nvPr/>
        </p:nvSpPr>
        <p:spPr>
          <a:xfrm>
            <a:off x="330200" y="1155700"/>
            <a:ext cx="5487095" cy="2927350"/>
          </a:xfrm>
          <a:prstGeom prst="roundRect">
            <a:avLst>
              <a:gd name="adj" fmla="val 3037"/>
            </a:avLst>
          </a:prstGeom>
          <a:solidFill>
            <a:srgbClr val="FBFBFF"/>
          </a:solidFill>
          <a:ln w="9525" cap="flat" cmpd="sng">
            <a:solidFill>
              <a:srgbClr val="C9CBF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60"/>
          <p:cNvSpPr/>
          <p:nvPr/>
        </p:nvSpPr>
        <p:spPr>
          <a:xfrm>
            <a:off x="463550" y="1292225"/>
            <a:ext cx="50800" cy="50800"/>
          </a:xfrm>
          <a:prstGeom prst="ellipse">
            <a:avLst/>
          </a:prstGeom>
          <a:solidFill>
            <a:srgbClr val="282D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60"/>
          <p:cNvSpPr/>
          <p:nvPr/>
        </p:nvSpPr>
        <p:spPr>
          <a:xfrm>
            <a:off x="577850" y="1263650"/>
            <a:ext cx="2915037"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b="1">
                <a:solidFill>
                  <a:srgbClr val="282DF0"/>
                </a:solidFill>
                <a:latin typeface="Quattrocento Sans"/>
                <a:ea typeface="Quattrocento Sans"/>
                <a:cs typeface="Quattrocento Sans"/>
                <a:sym typeface="Quattrocento Sans"/>
              </a:rPr>
              <a:t>PLATAFORMA SALESFORCE · UNA SOLA BASE DE DATOS</a:t>
            </a:r>
            <a:endParaRPr sz="650">
              <a:solidFill>
                <a:srgbClr val="000000"/>
              </a:solidFill>
              <a:latin typeface="Calibri"/>
              <a:ea typeface="Calibri"/>
              <a:cs typeface="Calibri"/>
              <a:sym typeface="Calibri"/>
            </a:endParaRPr>
          </a:p>
        </p:txBody>
      </p:sp>
      <p:sp>
        <p:nvSpPr>
          <p:cNvPr id="819" name="Google Shape;819;p60"/>
          <p:cNvSpPr/>
          <p:nvPr/>
        </p:nvSpPr>
        <p:spPr>
          <a:xfrm>
            <a:off x="438151" y="1447800"/>
            <a:ext cx="2584747" cy="2343150"/>
          </a:xfrm>
          <a:prstGeom prst="roundRect">
            <a:avLst>
              <a:gd name="adj" fmla="val 271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60" descr="preencoded.png"/>
          <p:cNvSpPr/>
          <p:nvPr/>
        </p:nvSpPr>
        <p:spPr>
          <a:xfrm>
            <a:off x="571500" y="1619250"/>
            <a:ext cx="417215" cy="292100"/>
          </a:xfrm>
          <a:prstGeom prst="rect">
            <a:avLst/>
          </a:prstGeom>
          <a:noFill/>
          <a:ln>
            <a:noFill/>
          </a:ln>
        </p:spPr>
        <p:txBody>
          <a:bodyPr/>
          <a:lstStyle/>
          <a:p>
            <a:endParaRPr lang="es-CL"/>
          </a:p>
        </p:txBody>
      </p:sp>
      <p:sp>
        <p:nvSpPr>
          <p:cNvPr id="821" name="Google Shape;821;p60"/>
          <p:cNvSpPr/>
          <p:nvPr/>
        </p:nvSpPr>
        <p:spPr>
          <a:xfrm>
            <a:off x="571500" y="2025650"/>
            <a:ext cx="2549853"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Salesforce CRM</a:t>
            </a:r>
            <a:endParaRPr sz="1000">
              <a:solidFill>
                <a:srgbClr val="000000"/>
              </a:solidFill>
              <a:latin typeface="Calibri"/>
              <a:ea typeface="Calibri"/>
              <a:cs typeface="Calibri"/>
              <a:sym typeface="Calibri"/>
            </a:endParaRPr>
          </a:p>
        </p:txBody>
      </p:sp>
      <p:sp>
        <p:nvSpPr>
          <p:cNvPr id="822" name="Google Shape;822;p60"/>
          <p:cNvSpPr/>
          <p:nvPr/>
        </p:nvSpPr>
        <p:spPr>
          <a:xfrm>
            <a:off x="571500" y="2216150"/>
            <a:ext cx="2549853"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comercial</a:t>
            </a:r>
            <a:endParaRPr sz="650">
              <a:solidFill>
                <a:srgbClr val="000000"/>
              </a:solidFill>
              <a:latin typeface="Calibri"/>
              <a:ea typeface="Calibri"/>
              <a:cs typeface="Calibri"/>
              <a:sym typeface="Calibri"/>
            </a:endParaRPr>
          </a:p>
        </p:txBody>
      </p:sp>
      <p:sp>
        <p:nvSpPr>
          <p:cNvPr id="823" name="Google Shape;823;p60"/>
          <p:cNvSpPr/>
          <p:nvPr/>
        </p:nvSpPr>
        <p:spPr>
          <a:xfrm>
            <a:off x="571500" y="2425700"/>
            <a:ext cx="2549853"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24" name="Google Shape;824;p60"/>
          <p:cNvSpPr/>
          <p:nvPr/>
        </p:nvSpPr>
        <p:spPr>
          <a:xfrm>
            <a:off x="571500" y="2590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Ficha de clientes</a:t>
            </a:r>
            <a:endParaRPr sz="725">
              <a:solidFill>
                <a:srgbClr val="000000"/>
              </a:solidFill>
              <a:latin typeface="Calibri"/>
              <a:ea typeface="Calibri"/>
              <a:cs typeface="Calibri"/>
              <a:sym typeface="Calibri"/>
            </a:endParaRPr>
          </a:p>
        </p:txBody>
      </p:sp>
      <p:sp>
        <p:nvSpPr>
          <p:cNvPr id="825" name="Google Shape;825;p60"/>
          <p:cNvSpPr/>
          <p:nvPr/>
        </p:nvSpPr>
        <p:spPr>
          <a:xfrm>
            <a:off x="571500" y="2781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Equipos instalados</a:t>
            </a:r>
            <a:endParaRPr sz="725">
              <a:solidFill>
                <a:srgbClr val="000000"/>
              </a:solidFill>
              <a:latin typeface="Calibri"/>
              <a:ea typeface="Calibri"/>
              <a:cs typeface="Calibri"/>
              <a:sym typeface="Calibri"/>
            </a:endParaRPr>
          </a:p>
        </p:txBody>
      </p:sp>
      <p:sp>
        <p:nvSpPr>
          <p:cNvPr id="826" name="Google Shape;826;p60"/>
          <p:cNvSpPr/>
          <p:nvPr/>
        </p:nvSpPr>
        <p:spPr>
          <a:xfrm>
            <a:off x="571500" y="2971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Contratos</a:t>
            </a:r>
            <a:endParaRPr sz="725">
              <a:solidFill>
                <a:srgbClr val="000000"/>
              </a:solidFill>
              <a:latin typeface="Calibri"/>
              <a:ea typeface="Calibri"/>
              <a:cs typeface="Calibri"/>
              <a:sym typeface="Calibri"/>
            </a:endParaRPr>
          </a:p>
        </p:txBody>
      </p:sp>
      <p:sp>
        <p:nvSpPr>
          <p:cNvPr id="827" name="Google Shape;827;p60"/>
          <p:cNvSpPr/>
          <p:nvPr/>
        </p:nvSpPr>
        <p:spPr>
          <a:xfrm>
            <a:off x="571500" y="3162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Casos de servicio</a:t>
            </a:r>
            <a:endParaRPr sz="725">
              <a:solidFill>
                <a:srgbClr val="000000"/>
              </a:solidFill>
              <a:latin typeface="Calibri"/>
              <a:ea typeface="Calibri"/>
              <a:cs typeface="Calibri"/>
              <a:sym typeface="Calibri"/>
            </a:endParaRPr>
          </a:p>
        </p:txBody>
      </p:sp>
      <p:sp>
        <p:nvSpPr>
          <p:cNvPr id="828" name="Google Shape;828;p60"/>
          <p:cNvSpPr/>
          <p:nvPr/>
        </p:nvSpPr>
        <p:spPr>
          <a:xfrm>
            <a:off x="571500" y="33528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Solicitudes de facturación</a:t>
            </a:r>
            <a:endParaRPr sz="725">
              <a:solidFill>
                <a:srgbClr val="000000"/>
              </a:solidFill>
              <a:latin typeface="Calibri"/>
              <a:ea typeface="Calibri"/>
              <a:cs typeface="Calibri"/>
              <a:sym typeface="Calibri"/>
            </a:endParaRPr>
          </a:p>
        </p:txBody>
      </p:sp>
      <p:sp>
        <p:nvSpPr>
          <p:cNvPr id="829" name="Google Shape;829;p60"/>
          <p:cNvSpPr/>
          <p:nvPr/>
        </p:nvSpPr>
        <p:spPr>
          <a:xfrm>
            <a:off x="571500" y="3543300"/>
            <a:ext cx="254985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Gestión comercial</a:t>
            </a:r>
            <a:endParaRPr sz="725">
              <a:solidFill>
                <a:srgbClr val="000000"/>
              </a:solidFill>
              <a:latin typeface="Calibri"/>
              <a:ea typeface="Calibri"/>
              <a:cs typeface="Calibri"/>
              <a:sym typeface="Calibri"/>
            </a:endParaRPr>
          </a:p>
        </p:txBody>
      </p:sp>
      <p:sp>
        <p:nvSpPr>
          <p:cNvPr id="830" name="Google Shape;830;p60"/>
          <p:cNvSpPr/>
          <p:nvPr/>
        </p:nvSpPr>
        <p:spPr>
          <a:xfrm>
            <a:off x="3124497" y="1447800"/>
            <a:ext cx="2584847" cy="2343150"/>
          </a:xfrm>
          <a:prstGeom prst="roundRect">
            <a:avLst>
              <a:gd name="adj" fmla="val 271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1" name="Google Shape;831;p60" descr="preencoded.png"/>
          <p:cNvPicPr preferRelativeResize="0"/>
          <p:nvPr/>
        </p:nvPicPr>
        <p:blipFill rotWithShape="1">
          <a:blip r:embed="rId6">
            <a:alphaModFix/>
          </a:blip>
          <a:srcRect/>
          <a:stretch/>
        </p:blipFill>
        <p:spPr>
          <a:xfrm>
            <a:off x="3257848" y="1638300"/>
            <a:ext cx="841077" cy="254000"/>
          </a:xfrm>
          <a:prstGeom prst="rect">
            <a:avLst/>
          </a:prstGeom>
          <a:noFill/>
          <a:ln>
            <a:noFill/>
          </a:ln>
        </p:spPr>
      </p:pic>
      <p:sp>
        <p:nvSpPr>
          <p:cNvPr id="832" name="Google Shape;832;p60"/>
          <p:cNvSpPr/>
          <p:nvPr/>
        </p:nvSpPr>
        <p:spPr>
          <a:xfrm>
            <a:off x="3257848" y="2025650"/>
            <a:ext cx="2549961"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Field Service</a:t>
            </a:r>
            <a:endParaRPr sz="1000">
              <a:solidFill>
                <a:srgbClr val="000000"/>
              </a:solidFill>
              <a:latin typeface="Calibri"/>
              <a:ea typeface="Calibri"/>
              <a:cs typeface="Calibri"/>
              <a:sym typeface="Calibri"/>
            </a:endParaRPr>
          </a:p>
        </p:txBody>
      </p:sp>
      <p:sp>
        <p:nvSpPr>
          <p:cNvPr id="833" name="Google Shape;833;p60"/>
          <p:cNvSpPr/>
          <p:nvPr/>
        </p:nvSpPr>
        <p:spPr>
          <a:xfrm>
            <a:off x="3257848" y="2216150"/>
            <a:ext cx="2549961"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de servicio técnico</a:t>
            </a:r>
            <a:endParaRPr sz="650">
              <a:solidFill>
                <a:srgbClr val="000000"/>
              </a:solidFill>
              <a:latin typeface="Calibri"/>
              <a:ea typeface="Calibri"/>
              <a:cs typeface="Calibri"/>
              <a:sym typeface="Calibri"/>
            </a:endParaRPr>
          </a:p>
        </p:txBody>
      </p:sp>
      <p:sp>
        <p:nvSpPr>
          <p:cNvPr id="834" name="Google Shape;834;p60"/>
          <p:cNvSpPr/>
          <p:nvPr/>
        </p:nvSpPr>
        <p:spPr>
          <a:xfrm>
            <a:off x="3257848" y="2425700"/>
            <a:ext cx="2549961"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35" name="Google Shape;835;p60"/>
          <p:cNvSpPr/>
          <p:nvPr/>
        </p:nvSpPr>
        <p:spPr>
          <a:xfrm>
            <a:off x="3257848" y="2590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Órdenes de trabajo (OT)</a:t>
            </a:r>
            <a:endParaRPr sz="725">
              <a:solidFill>
                <a:srgbClr val="000000"/>
              </a:solidFill>
              <a:latin typeface="Calibri"/>
              <a:ea typeface="Calibri"/>
              <a:cs typeface="Calibri"/>
              <a:sym typeface="Calibri"/>
            </a:endParaRPr>
          </a:p>
        </p:txBody>
      </p:sp>
      <p:sp>
        <p:nvSpPr>
          <p:cNvPr id="836" name="Google Shape;836;p60"/>
          <p:cNvSpPr/>
          <p:nvPr/>
        </p:nvSpPr>
        <p:spPr>
          <a:xfrm>
            <a:off x="3257848" y="2781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Agenda y visitas</a:t>
            </a:r>
            <a:endParaRPr sz="725">
              <a:solidFill>
                <a:srgbClr val="000000"/>
              </a:solidFill>
              <a:latin typeface="Calibri"/>
              <a:ea typeface="Calibri"/>
              <a:cs typeface="Calibri"/>
              <a:sym typeface="Calibri"/>
            </a:endParaRPr>
          </a:p>
        </p:txBody>
      </p:sp>
      <p:sp>
        <p:nvSpPr>
          <p:cNvPr id="837" name="Google Shape;837;p60"/>
          <p:cNvSpPr/>
          <p:nvPr/>
        </p:nvSpPr>
        <p:spPr>
          <a:xfrm>
            <a:off x="3257848" y="2971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Planificación de técnicos</a:t>
            </a:r>
            <a:endParaRPr sz="725">
              <a:solidFill>
                <a:srgbClr val="000000"/>
              </a:solidFill>
              <a:latin typeface="Calibri"/>
              <a:ea typeface="Calibri"/>
              <a:cs typeface="Calibri"/>
              <a:sym typeface="Calibri"/>
            </a:endParaRPr>
          </a:p>
        </p:txBody>
      </p:sp>
      <p:sp>
        <p:nvSpPr>
          <p:cNvPr id="838" name="Google Shape;838;p60"/>
          <p:cNvSpPr/>
          <p:nvPr/>
        </p:nvSpPr>
        <p:spPr>
          <a:xfrm>
            <a:off x="3257848" y="3162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Repuestos utilizados</a:t>
            </a:r>
            <a:endParaRPr sz="725">
              <a:solidFill>
                <a:srgbClr val="000000"/>
              </a:solidFill>
              <a:latin typeface="Calibri"/>
              <a:ea typeface="Calibri"/>
              <a:cs typeface="Calibri"/>
              <a:sym typeface="Calibri"/>
            </a:endParaRPr>
          </a:p>
        </p:txBody>
      </p:sp>
      <p:sp>
        <p:nvSpPr>
          <p:cNvPr id="839" name="Google Shape;839;p60"/>
          <p:cNvSpPr/>
          <p:nvPr/>
        </p:nvSpPr>
        <p:spPr>
          <a:xfrm>
            <a:off x="3257848" y="33528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Registro de actividades</a:t>
            </a:r>
            <a:endParaRPr sz="725">
              <a:solidFill>
                <a:srgbClr val="000000"/>
              </a:solidFill>
              <a:latin typeface="Calibri"/>
              <a:ea typeface="Calibri"/>
              <a:cs typeface="Calibri"/>
              <a:sym typeface="Calibri"/>
            </a:endParaRPr>
          </a:p>
        </p:txBody>
      </p:sp>
      <p:sp>
        <p:nvSpPr>
          <p:cNvPr id="840" name="Google Shape;840;p60"/>
          <p:cNvSpPr/>
          <p:nvPr/>
        </p:nvSpPr>
        <p:spPr>
          <a:xfrm>
            <a:off x="3257848" y="3543300"/>
            <a:ext cx="2549961"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Cierre técnico</a:t>
            </a:r>
            <a:endParaRPr sz="725">
              <a:solidFill>
                <a:srgbClr val="000000"/>
              </a:solidFill>
              <a:latin typeface="Calibri"/>
              <a:ea typeface="Calibri"/>
              <a:cs typeface="Calibri"/>
              <a:sym typeface="Calibri"/>
            </a:endParaRPr>
          </a:p>
        </p:txBody>
      </p:sp>
      <p:sp>
        <p:nvSpPr>
          <p:cNvPr id="841" name="Google Shape;841;p60"/>
          <p:cNvSpPr/>
          <p:nvPr/>
        </p:nvSpPr>
        <p:spPr>
          <a:xfrm>
            <a:off x="463550" y="3867150"/>
            <a:ext cx="5747514"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55606E"/>
                </a:solidFill>
                <a:latin typeface="Quattrocento Sans"/>
                <a:ea typeface="Quattrocento Sans"/>
                <a:cs typeface="Quattrocento Sans"/>
                <a:sym typeface="Quattrocento Sans"/>
              </a:rPr>
              <a:t>Integración nativa: ambas aplicaciones comparten datos sin interfaces.</a:t>
            </a:r>
            <a:endParaRPr sz="650">
              <a:solidFill>
                <a:srgbClr val="000000"/>
              </a:solidFill>
              <a:latin typeface="Calibri"/>
              <a:ea typeface="Calibri"/>
              <a:cs typeface="Calibri"/>
              <a:sym typeface="Calibri"/>
            </a:endParaRPr>
          </a:p>
        </p:txBody>
      </p:sp>
      <p:sp>
        <p:nvSpPr>
          <p:cNvPr id="842" name="Google Shape;842;p60"/>
          <p:cNvSpPr/>
          <p:nvPr/>
        </p:nvSpPr>
        <p:spPr>
          <a:xfrm>
            <a:off x="5956995" y="1155700"/>
            <a:ext cx="2933005" cy="2927350"/>
          </a:xfrm>
          <a:prstGeom prst="roundRect">
            <a:avLst>
              <a:gd name="adj" fmla="val 3037"/>
            </a:avLst>
          </a:prstGeom>
          <a:solidFill>
            <a:srgbClr val="F8F9FA"/>
          </a:solidFill>
          <a:ln w="9525" cap="flat" cmpd="sng">
            <a:solidFill>
              <a:srgbClr val="B9C2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60"/>
          <p:cNvSpPr/>
          <p:nvPr/>
        </p:nvSpPr>
        <p:spPr>
          <a:xfrm>
            <a:off x="6090345" y="1292225"/>
            <a:ext cx="50800" cy="50800"/>
          </a:xfrm>
          <a:prstGeom prst="ellipse">
            <a:avLst/>
          </a:prstGeom>
          <a:solidFill>
            <a:srgbClr val="5A647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60"/>
          <p:cNvSpPr/>
          <p:nvPr/>
        </p:nvSpPr>
        <p:spPr>
          <a:xfrm>
            <a:off x="6204645" y="1263650"/>
            <a:ext cx="943521"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b="1">
                <a:solidFill>
                  <a:srgbClr val="5A6472"/>
                </a:solidFill>
                <a:latin typeface="Quattrocento Sans"/>
                <a:ea typeface="Quattrocento Sans"/>
                <a:cs typeface="Quattrocento Sans"/>
                <a:sym typeface="Quattrocento Sans"/>
              </a:rPr>
              <a:t>PLATAFORMA ERP</a:t>
            </a:r>
            <a:endParaRPr sz="650">
              <a:solidFill>
                <a:srgbClr val="000000"/>
              </a:solidFill>
              <a:latin typeface="Calibri"/>
              <a:ea typeface="Calibri"/>
              <a:cs typeface="Calibri"/>
              <a:sym typeface="Calibri"/>
            </a:endParaRPr>
          </a:p>
        </p:txBody>
      </p:sp>
      <p:sp>
        <p:nvSpPr>
          <p:cNvPr id="845" name="Google Shape;845;p60"/>
          <p:cNvSpPr/>
          <p:nvPr/>
        </p:nvSpPr>
        <p:spPr>
          <a:xfrm>
            <a:off x="6064945" y="1447800"/>
            <a:ext cx="2717105" cy="2152650"/>
          </a:xfrm>
          <a:prstGeom prst="roundRect">
            <a:avLst>
              <a:gd name="adj" fmla="val 2950"/>
            </a:avLst>
          </a:prstGeom>
          <a:solidFill>
            <a:srgbClr val="FFFFFF"/>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60" descr="preencoded.png"/>
          <p:cNvSpPr/>
          <p:nvPr/>
        </p:nvSpPr>
        <p:spPr>
          <a:xfrm>
            <a:off x="6198295" y="1612900"/>
            <a:ext cx="615355" cy="304800"/>
          </a:xfrm>
          <a:prstGeom prst="rect">
            <a:avLst/>
          </a:prstGeom>
          <a:noFill/>
          <a:ln>
            <a:noFill/>
          </a:ln>
        </p:spPr>
        <p:txBody>
          <a:bodyPr/>
          <a:lstStyle/>
          <a:p>
            <a:endParaRPr lang="es-CL"/>
          </a:p>
        </p:txBody>
      </p:sp>
      <p:sp>
        <p:nvSpPr>
          <p:cNvPr id="847" name="Google Shape;847;p60"/>
          <p:cNvSpPr/>
          <p:nvPr/>
        </p:nvSpPr>
        <p:spPr>
          <a:xfrm>
            <a:off x="6198295" y="2025650"/>
            <a:ext cx="2695446" cy="1968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1000" b="1">
                <a:solidFill>
                  <a:srgbClr val="373C46"/>
                </a:solidFill>
                <a:latin typeface="Quattrocento Sans"/>
                <a:ea typeface="Quattrocento Sans"/>
                <a:cs typeface="Quattrocento Sans"/>
                <a:sym typeface="Quattrocento Sans"/>
              </a:rPr>
              <a:t>SAP</a:t>
            </a:r>
            <a:endParaRPr sz="1000">
              <a:solidFill>
                <a:srgbClr val="000000"/>
              </a:solidFill>
              <a:latin typeface="Calibri"/>
              <a:ea typeface="Calibri"/>
              <a:cs typeface="Calibri"/>
              <a:sym typeface="Calibri"/>
            </a:endParaRPr>
          </a:p>
        </p:txBody>
      </p:sp>
      <p:sp>
        <p:nvSpPr>
          <p:cNvPr id="848" name="Google Shape;848;p60"/>
          <p:cNvSpPr/>
          <p:nvPr/>
        </p:nvSpPr>
        <p:spPr>
          <a:xfrm>
            <a:off x="6198295" y="2216150"/>
            <a:ext cx="2695446"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6E7480"/>
                </a:solidFill>
                <a:latin typeface="Quattrocento Sans"/>
                <a:ea typeface="Quattrocento Sans"/>
                <a:cs typeface="Quattrocento Sans"/>
                <a:sym typeface="Quattrocento Sans"/>
              </a:rPr>
              <a:t>Sistema de registro financiero y administrativo</a:t>
            </a:r>
            <a:endParaRPr sz="650">
              <a:solidFill>
                <a:srgbClr val="000000"/>
              </a:solidFill>
              <a:latin typeface="Calibri"/>
              <a:ea typeface="Calibri"/>
              <a:cs typeface="Calibri"/>
              <a:sym typeface="Calibri"/>
            </a:endParaRPr>
          </a:p>
        </p:txBody>
      </p:sp>
      <p:sp>
        <p:nvSpPr>
          <p:cNvPr id="849" name="Google Shape;849;p60"/>
          <p:cNvSpPr/>
          <p:nvPr/>
        </p:nvSpPr>
        <p:spPr>
          <a:xfrm>
            <a:off x="6198295" y="2425700"/>
            <a:ext cx="2695446" cy="1270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00" b="1">
                <a:solidFill>
                  <a:srgbClr val="5A6472"/>
                </a:solidFill>
                <a:latin typeface="Quattrocento Sans"/>
                <a:ea typeface="Quattrocento Sans"/>
                <a:cs typeface="Quattrocento Sans"/>
                <a:sym typeface="Quattrocento Sans"/>
              </a:rPr>
              <a:t>SE ALOJA AQUÍ</a:t>
            </a:r>
            <a:endParaRPr sz="600">
              <a:solidFill>
                <a:srgbClr val="000000"/>
              </a:solidFill>
              <a:latin typeface="Calibri"/>
              <a:ea typeface="Calibri"/>
              <a:cs typeface="Calibri"/>
              <a:sym typeface="Calibri"/>
            </a:endParaRPr>
          </a:p>
        </p:txBody>
      </p:sp>
      <p:sp>
        <p:nvSpPr>
          <p:cNvPr id="850" name="Google Shape;850;p60"/>
          <p:cNvSpPr/>
          <p:nvPr/>
        </p:nvSpPr>
        <p:spPr>
          <a:xfrm>
            <a:off x="6198295" y="2590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Compras</a:t>
            </a:r>
            <a:endParaRPr sz="725">
              <a:solidFill>
                <a:srgbClr val="000000"/>
              </a:solidFill>
              <a:latin typeface="Calibri"/>
              <a:ea typeface="Calibri"/>
              <a:cs typeface="Calibri"/>
              <a:sym typeface="Calibri"/>
            </a:endParaRPr>
          </a:p>
        </p:txBody>
      </p:sp>
      <p:sp>
        <p:nvSpPr>
          <p:cNvPr id="851" name="Google Shape;851;p60"/>
          <p:cNvSpPr/>
          <p:nvPr/>
        </p:nvSpPr>
        <p:spPr>
          <a:xfrm>
            <a:off x="6198295" y="27813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Inventario</a:t>
            </a:r>
            <a:endParaRPr sz="725">
              <a:solidFill>
                <a:srgbClr val="000000"/>
              </a:solidFill>
              <a:latin typeface="Calibri"/>
              <a:ea typeface="Calibri"/>
              <a:cs typeface="Calibri"/>
              <a:sym typeface="Calibri"/>
            </a:endParaRPr>
          </a:p>
        </p:txBody>
      </p:sp>
      <p:sp>
        <p:nvSpPr>
          <p:cNvPr id="852" name="Google Shape;852;p60"/>
          <p:cNvSpPr/>
          <p:nvPr/>
        </p:nvSpPr>
        <p:spPr>
          <a:xfrm>
            <a:off x="6198295" y="2971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Facturación</a:t>
            </a:r>
            <a:endParaRPr sz="725">
              <a:solidFill>
                <a:srgbClr val="000000"/>
              </a:solidFill>
              <a:latin typeface="Calibri"/>
              <a:ea typeface="Calibri"/>
              <a:cs typeface="Calibri"/>
              <a:sym typeface="Calibri"/>
            </a:endParaRPr>
          </a:p>
        </p:txBody>
      </p:sp>
      <p:sp>
        <p:nvSpPr>
          <p:cNvPr id="853" name="Google Shape;853;p60"/>
          <p:cNvSpPr/>
          <p:nvPr/>
        </p:nvSpPr>
        <p:spPr>
          <a:xfrm>
            <a:off x="6198295" y="31623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Finanzas y contabilidad</a:t>
            </a:r>
            <a:endParaRPr sz="725">
              <a:solidFill>
                <a:srgbClr val="000000"/>
              </a:solidFill>
              <a:latin typeface="Calibri"/>
              <a:ea typeface="Calibri"/>
              <a:cs typeface="Calibri"/>
              <a:sym typeface="Calibri"/>
            </a:endParaRPr>
          </a:p>
        </p:txBody>
      </p:sp>
      <p:sp>
        <p:nvSpPr>
          <p:cNvPr id="854" name="Google Shape;854;p60"/>
          <p:cNvSpPr/>
          <p:nvPr/>
        </p:nvSpPr>
        <p:spPr>
          <a:xfrm>
            <a:off x="6198295" y="3352800"/>
            <a:ext cx="2695446"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55606E"/>
                </a:solidFill>
                <a:latin typeface="Quattrocento Sans"/>
                <a:ea typeface="Quattrocento Sans"/>
                <a:cs typeface="Quattrocento Sans"/>
                <a:sym typeface="Quattrocento Sans"/>
              </a:rPr>
              <a:t>Control de gestión</a:t>
            </a:r>
            <a:endParaRPr sz="725">
              <a:solidFill>
                <a:srgbClr val="000000"/>
              </a:solidFill>
              <a:latin typeface="Calibri"/>
              <a:ea typeface="Calibri"/>
              <a:cs typeface="Calibri"/>
              <a:sym typeface="Calibri"/>
            </a:endParaRPr>
          </a:p>
        </p:txBody>
      </p:sp>
      <p:sp>
        <p:nvSpPr>
          <p:cNvPr id="855" name="Google Shape;855;p60"/>
          <p:cNvSpPr/>
          <p:nvPr/>
        </p:nvSpPr>
        <p:spPr>
          <a:xfrm>
            <a:off x="6090345" y="3676650"/>
            <a:ext cx="2938016" cy="1333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50">
                <a:solidFill>
                  <a:srgbClr val="55606E"/>
                </a:solidFill>
                <a:latin typeface="Quattrocento Sans"/>
                <a:ea typeface="Quattrocento Sans"/>
                <a:cs typeface="Quattrocento Sans"/>
                <a:sym typeface="Quattrocento Sans"/>
              </a:rPr>
              <a:t>Fuente única de la información contable y de inventario.</a:t>
            </a:r>
            <a:endParaRPr sz="650">
              <a:solidFill>
                <a:srgbClr val="000000"/>
              </a:solidFill>
              <a:latin typeface="Calibri"/>
              <a:ea typeface="Calibri"/>
              <a:cs typeface="Calibri"/>
              <a:sym typeface="Calibri"/>
            </a:endParaRPr>
          </a:p>
        </p:txBody>
      </p:sp>
      <p:sp>
        <p:nvSpPr>
          <p:cNvPr id="856" name="Google Shape;856;p60"/>
          <p:cNvSpPr/>
          <p:nvPr/>
        </p:nvSpPr>
        <p:spPr>
          <a:xfrm>
            <a:off x="330200" y="4248150"/>
            <a:ext cx="8559800" cy="342900"/>
          </a:xfrm>
          <a:prstGeom prst="roundRect">
            <a:avLst>
              <a:gd name="adj" fmla="val 22222"/>
            </a:avLst>
          </a:prstGeom>
          <a:solidFill>
            <a:srgbClr val="F7F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60"/>
          <p:cNvSpPr/>
          <p:nvPr/>
        </p:nvSpPr>
        <p:spPr>
          <a:xfrm>
            <a:off x="330200" y="4584700"/>
            <a:ext cx="85598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60"/>
          <p:cNvSpPr/>
          <p:nvPr/>
        </p:nvSpPr>
        <p:spPr>
          <a:xfrm>
            <a:off x="330200" y="4248150"/>
            <a:ext cx="85598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60"/>
          <p:cNvSpPr/>
          <p:nvPr/>
        </p:nvSpPr>
        <p:spPr>
          <a:xfrm>
            <a:off x="330200" y="4248150"/>
            <a:ext cx="25400" cy="342900"/>
          </a:xfrm>
          <a:prstGeom prst="rect">
            <a:avLst/>
          </a:prstGeom>
          <a:solidFill>
            <a:srgbClr val="0B6E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60"/>
          <p:cNvSpPr/>
          <p:nvPr/>
        </p:nvSpPr>
        <p:spPr>
          <a:xfrm>
            <a:off x="8883650" y="4248150"/>
            <a:ext cx="6350" cy="34290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60"/>
          <p:cNvSpPr/>
          <p:nvPr/>
        </p:nvSpPr>
        <p:spPr>
          <a:xfrm>
            <a:off x="482600" y="4368800"/>
            <a:ext cx="1640602" cy="127000"/>
          </a:xfrm>
          <a:prstGeom prst="rect">
            <a:avLst/>
          </a:prstGeom>
          <a:noFill/>
          <a:ln>
            <a:noFill/>
          </a:ln>
        </p:spPr>
        <p:txBody>
          <a:bodyPr spcFirstLastPara="1" wrap="square" lIns="16925" tIns="16925" rIns="16925" bIns="16925" anchor="t" anchorCtr="0">
            <a:normAutofit/>
          </a:bodyPr>
          <a:lstStyle/>
          <a:p>
            <a:pPr marL="0" marR="0" lvl="0" indent="0" algn="l" rtl="0">
              <a:lnSpc>
                <a:spcPct val="90000"/>
              </a:lnSpc>
              <a:spcBef>
                <a:spcPts val="0"/>
              </a:spcBef>
              <a:spcAft>
                <a:spcPts val="0"/>
              </a:spcAft>
              <a:buNone/>
            </a:pPr>
            <a:r>
              <a:rPr lang="es-CL" sz="625" b="1">
                <a:solidFill>
                  <a:srgbClr val="0B6E6A"/>
                </a:solidFill>
                <a:latin typeface="Quattrocento Sans"/>
                <a:ea typeface="Quattrocento Sans"/>
                <a:cs typeface="Quattrocento Sans"/>
                <a:sym typeface="Quattrocento Sans"/>
              </a:rPr>
              <a:t>INTERFAZ ENTRE PLATAFORMAS</a:t>
            </a:r>
            <a:endParaRPr sz="625">
              <a:solidFill>
                <a:srgbClr val="000000"/>
              </a:solidFill>
              <a:latin typeface="Calibri"/>
              <a:ea typeface="Calibri"/>
              <a:cs typeface="Calibri"/>
              <a:sym typeface="Calibri"/>
            </a:endParaRPr>
          </a:p>
        </p:txBody>
      </p:sp>
      <p:sp>
        <p:nvSpPr>
          <p:cNvPr id="862" name="Google Shape;862;p60"/>
          <p:cNvSpPr/>
          <p:nvPr/>
        </p:nvSpPr>
        <p:spPr>
          <a:xfrm>
            <a:off x="2075656" y="4356100"/>
            <a:ext cx="7349093" cy="1524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725">
                <a:solidFill>
                  <a:srgbClr val="44505F"/>
                </a:solidFill>
                <a:latin typeface="Quattrocento Sans"/>
                <a:ea typeface="Quattrocento Sans"/>
                <a:cs typeface="Quattrocento Sans"/>
                <a:sym typeface="Quattrocento Sans"/>
              </a:rPr>
              <a:t>Salesforce → SAP: la solicitud de facturación es hoy el único punto de traspaso entre CRM/servicio y el ERP, con actividades manuales de por medio.</a:t>
            </a:r>
            <a:endParaRPr sz="725">
              <a:solidFill>
                <a:srgbClr val="000000"/>
              </a:solidFill>
              <a:latin typeface="Calibri"/>
              <a:ea typeface="Calibri"/>
              <a:cs typeface="Calibri"/>
              <a:sym typeface="Calibri"/>
            </a:endParaRPr>
          </a:p>
        </p:txBody>
      </p:sp>
      <p:sp>
        <p:nvSpPr>
          <p:cNvPr id="863" name="Google Shape;863;p60"/>
          <p:cNvSpPr/>
          <p:nvPr/>
        </p:nvSpPr>
        <p:spPr>
          <a:xfrm>
            <a:off x="330200" y="4756150"/>
            <a:ext cx="941578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CAPA DOCUMENTAL Y COLABORATIVA</a:t>
            </a:r>
            <a:endParaRPr sz="675">
              <a:solidFill>
                <a:srgbClr val="000000"/>
              </a:solidFill>
              <a:latin typeface="Calibri"/>
              <a:ea typeface="Calibri"/>
              <a:cs typeface="Calibri"/>
              <a:sym typeface="Calibri"/>
            </a:endParaRPr>
          </a:p>
        </p:txBody>
      </p:sp>
      <p:sp>
        <p:nvSpPr>
          <p:cNvPr id="864" name="Google Shape;864;p60"/>
          <p:cNvSpPr/>
          <p:nvPr/>
        </p:nvSpPr>
        <p:spPr>
          <a:xfrm>
            <a:off x="330200" y="4959351"/>
            <a:ext cx="2171700" cy="1088231"/>
          </a:xfrm>
          <a:prstGeom prst="roundRect">
            <a:avLst>
              <a:gd name="adj" fmla="val 7002"/>
            </a:avLst>
          </a:prstGeom>
          <a:solidFill>
            <a:srgbClr val="F8F9FA"/>
          </a:solidFill>
          <a:ln w="9525" cap="flat" cmpd="sng">
            <a:solidFill>
              <a:srgbClr val="E2E5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65" name="Google Shape;865;p60" descr="preencoded.png"/>
          <p:cNvPicPr preferRelativeResize="0"/>
          <p:nvPr/>
        </p:nvPicPr>
        <p:blipFill rotWithShape="1">
          <a:blip r:embed="rId7">
            <a:alphaModFix/>
          </a:blip>
          <a:srcRect/>
          <a:stretch/>
        </p:blipFill>
        <p:spPr>
          <a:xfrm>
            <a:off x="463550" y="5080000"/>
            <a:ext cx="295870" cy="330200"/>
          </a:xfrm>
          <a:prstGeom prst="rect">
            <a:avLst/>
          </a:prstGeom>
          <a:noFill/>
          <a:ln>
            <a:noFill/>
          </a:ln>
        </p:spPr>
      </p:pic>
      <p:pic>
        <p:nvPicPr>
          <p:cNvPr id="866" name="Google Shape;866;p60" descr="preencoded.png"/>
          <p:cNvPicPr preferRelativeResize="0"/>
          <p:nvPr/>
        </p:nvPicPr>
        <p:blipFill rotWithShape="1">
          <a:blip r:embed="rId8">
            <a:alphaModFix/>
          </a:blip>
          <a:srcRect/>
          <a:stretch/>
        </p:blipFill>
        <p:spPr>
          <a:xfrm>
            <a:off x="861020" y="5162550"/>
            <a:ext cx="523776" cy="165100"/>
          </a:xfrm>
          <a:prstGeom prst="rect">
            <a:avLst/>
          </a:prstGeom>
          <a:noFill/>
          <a:ln>
            <a:noFill/>
          </a:ln>
        </p:spPr>
      </p:pic>
      <p:sp>
        <p:nvSpPr>
          <p:cNvPr id="867" name="Google Shape;867;p60"/>
          <p:cNvSpPr/>
          <p:nvPr/>
        </p:nvSpPr>
        <p:spPr>
          <a:xfrm>
            <a:off x="463550" y="5499101"/>
            <a:ext cx="1962150" cy="300831"/>
          </a:xfrm>
          <a:prstGeom prst="rect">
            <a:avLst/>
          </a:prstGeom>
          <a:noFill/>
          <a:ln>
            <a:noFill/>
          </a:ln>
        </p:spPr>
        <p:txBody>
          <a:bodyPr spcFirstLastPara="1" wrap="square" lIns="16925" tIns="16925" rIns="16925" bIns="16925" anchor="t" anchorCtr="0">
            <a:normAutofit/>
          </a:bodyPr>
          <a:lstStyle/>
          <a:p>
            <a:pPr marL="0" marR="0" lvl="0" indent="0" algn="l" rtl="0">
              <a:lnSpc>
                <a:spcPct val="114211"/>
              </a:lnSpc>
              <a:spcBef>
                <a:spcPts val="0"/>
              </a:spcBef>
              <a:spcAft>
                <a:spcPts val="0"/>
              </a:spcAft>
              <a:buNone/>
            </a:pPr>
            <a:r>
              <a:rPr lang="es-CL" sz="700">
                <a:solidFill>
                  <a:srgbClr val="55606E"/>
                </a:solidFill>
                <a:latin typeface="Quattrocento Sans"/>
                <a:ea typeface="Quattrocento Sans"/>
                <a:cs typeface="Quattrocento Sans"/>
                <a:sym typeface="Quattrocento Sans"/>
              </a:rPr>
              <a:t>Repositorio corporativo y entorno colaborativo transversal a todas las áreas.</a:t>
            </a:r>
            <a:endParaRPr sz="700">
              <a:solidFill>
                <a:srgbClr val="000000"/>
              </a:solidFill>
              <a:latin typeface="Calibri"/>
              <a:ea typeface="Calibri"/>
              <a:cs typeface="Calibri"/>
              <a:sym typeface="Calibri"/>
            </a:endParaRPr>
          </a:p>
        </p:txBody>
      </p:sp>
      <p:sp>
        <p:nvSpPr>
          <p:cNvPr id="868" name="Google Shape;868;p60"/>
          <p:cNvSpPr/>
          <p:nvPr/>
        </p:nvSpPr>
        <p:spPr>
          <a:xfrm>
            <a:off x="26416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60"/>
          <p:cNvSpPr/>
          <p:nvPr/>
        </p:nvSpPr>
        <p:spPr>
          <a:xfrm>
            <a:off x="26416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60"/>
          <p:cNvSpPr/>
          <p:nvPr/>
        </p:nvSpPr>
        <p:spPr>
          <a:xfrm>
            <a:off x="26416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60"/>
          <p:cNvSpPr/>
          <p:nvPr/>
        </p:nvSpPr>
        <p:spPr>
          <a:xfrm>
            <a:off x="46418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60"/>
          <p:cNvSpPr/>
          <p:nvPr/>
        </p:nvSpPr>
        <p:spPr>
          <a:xfrm>
            <a:off x="27749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Biblioteca documental</a:t>
            </a:r>
            <a:endParaRPr sz="800">
              <a:solidFill>
                <a:srgbClr val="000000"/>
              </a:solidFill>
              <a:latin typeface="Calibri"/>
              <a:ea typeface="Calibri"/>
              <a:cs typeface="Calibri"/>
              <a:sym typeface="Calibri"/>
            </a:endParaRPr>
          </a:p>
        </p:txBody>
      </p:sp>
      <p:sp>
        <p:nvSpPr>
          <p:cNvPr id="873" name="Google Shape;873;p60"/>
          <p:cNvSpPr/>
          <p:nvPr/>
        </p:nvSpPr>
        <p:spPr>
          <a:xfrm>
            <a:off x="27749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Manuales Certificados Contratos Informes</a:t>
            </a:r>
            <a:endParaRPr sz="700">
              <a:solidFill>
                <a:srgbClr val="000000"/>
              </a:solidFill>
              <a:latin typeface="Calibri"/>
              <a:ea typeface="Calibri"/>
              <a:cs typeface="Calibri"/>
              <a:sym typeface="Calibri"/>
            </a:endParaRPr>
          </a:p>
        </p:txBody>
      </p:sp>
      <p:sp>
        <p:nvSpPr>
          <p:cNvPr id="874" name="Google Shape;874;p60"/>
          <p:cNvSpPr/>
          <p:nvPr/>
        </p:nvSpPr>
        <p:spPr>
          <a:xfrm>
            <a:off x="47625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60"/>
          <p:cNvSpPr/>
          <p:nvPr/>
        </p:nvSpPr>
        <p:spPr>
          <a:xfrm>
            <a:off x="47625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60"/>
          <p:cNvSpPr/>
          <p:nvPr/>
        </p:nvSpPr>
        <p:spPr>
          <a:xfrm>
            <a:off x="47625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60"/>
          <p:cNvSpPr/>
          <p:nvPr/>
        </p:nvSpPr>
        <p:spPr>
          <a:xfrm>
            <a:off x="67627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60"/>
          <p:cNvSpPr/>
          <p:nvPr/>
        </p:nvSpPr>
        <p:spPr>
          <a:xfrm>
            <a:off x="48958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Licitaciones y propuestas</a:t>
            </a:r>
            <a:endParaRPr sz="800">
              <a:solidFill>
                <a:srgbClr val="000000"/>
              </a:solidFill>
              <a:latin typeface="Calibri"/>
              <a:ea typeface="Calibri"/>
              <a:cs typeface="Calibri"/>
              <a:sym typeface="Calibri"/>
            </a:endParaRPr>
          </a:p>
        </p:txBody>
      </p:sp>
      <p:sp>
        <p:nvSpPr>
          <p:cNvPr id="879" name="Google Shape;879;p60"/>
          <p:cNvSpPr/>
          <p:nvPr/>
        </p:nvSpPr>
        <p:spPr>
          <a:xfrm>
            <a:off x="48958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Bases Evaluaciones Respuestas Documentación</a:t>
            </a:r>
            <a:endParaRPr sz="700">
              <a:solidFill>
                <a:srgbClr val="000000"/>
              </a:solidFill>
              <a:latin typeface="Calibri"/>
              <a:ea typeface="Calibri"/>
              <a:cs typeface="Calibri"/>
              <a:sym typeface="Calibri"/>
            </a:endParaRPr>
          </a:p>
        </p:txBody>
      </p:sp>
      <p:sp>
        <p:nvSpPr>
          <p:cNvPr id="880" name="Google Shape;880;p60"/>
          <p:cNvSpPr/>
          <p:nvPr/>
        </p:nvSpPr>
        <p:spPr>
          <a:xfrm>
            <a:off x="6883400" y="6041232"/>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60"/>
          <p:cNvSpPr/>
          <p:nvPr/>
        </p:nvSpPr>
        <p:spPr>
          <a:xfrm>
            <a:off x="6883400" y="4959350"/>
            <a:ext cx="2006600" cy="6350"/>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60"/>
          <p:cNvSpPr/>
          <p:nvPr/>
        </p:nvSpPr>
        <p:spPr>
          <a:xfrm>
            <a:off x="6883400" y="4959351"/>
            <a:ext cx="19050" cy="1088231"/>
          </a:xfrm>
          <a:prstGeom prst="rect">
            <a:avLst/>
          </a:prstGeom>
          <a:solidFill>
            <a:srgbClr val="28D2C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60"/>
          <p:cNvSpPr/>
          <p:nvPr/>
        </p:nvSpPr>
        <p:spPr>
          <a:xfrm>
            <a:off x="8883650" y="4959351"/>
            <a:ext cx="6350" cy="1088231"/>
          </a:xfrm>
          <a:prstGeom prst="rect">
            <a:avLst/>
          </a:prstGeom>
          <a:solidFill>
            <a:srgbClr val="E2E5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60"/>
          <p:cNvSpPr/>
          <p:nvPr/>
        </p:nvSpPr>
        <p:spPr>
          <a:xfrm>
            <a:off x="7016750" y="5067300"/>
            <a:ext cx="1927860" cy="1587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00" b="1">
                <a:solidFill>
                  <a:srgbClr val="373C46"/>
                </a:solidFill>
                <a:latin typeface="Quattrocento Sans"/>
                <a:ea typeface="Quattrocento Sans"/>
                <a:cs typeface="Quattrocento Sans"/>
                <a:sym typeface="Quattrocento Sans"/>
              </a:rPr>
              <a:t>Procesos interáreas</a:t>
            </a:r>
            <a:endParaRPr sz="800">
              <a:solidFill>
                <a:srgbClr val="000000"/>
              </a:solidFill>
              <a:latin typeface="Calibri"/>
              <a:ea typeface="Calibri"/>
              <a:cs typeface="Calibri"/>
              <a:sym typeface="Calibri"/>
            </a:endParaRPr>
          </a:p>
        </p:txBody>
      </p:sp>
      <p:sp>
        <p:nvSpPr>
          <p:cNvPr id="885" name="Google Shape;885;p60"/>
          <p:cNvSpPr/>
          <p:nvPr/>
        </p:nvSpPr>
        <p:spPr>
          <a:xfrm>
            <a:off x="7016750" y="5264150"/>
            <a:ext cx="1805178" cy="700881"/>
          </a:xfrm>
          <a:prstGeom prst="rect">
            <a:avLst/>
          </a:prstGeom>
          <a:noFill/>
          <a:ln>
            <a:noFill/>
          </a:ln>
        </p:spPr>
        <p:txBody>
          <a:bodyPr spcFirstLastPara="1" wrap="square" lIns="16925" tIns="16925" rIns="16925" bIns="16925" anchor="t" anchorCtr="0">
            <a:normAutofit/>
          </a:bodyPr>
          <a:lstStyle/>
          <a:p>
            <a:pPr marL="0" marR="0" lvl="0" indent="0" algn="l" rtl="0">
              <a:lnSpc>
                <a:spcPct val="140000"/>
              </a:lnSpc>
              <a:spcBef>
                <a:spcPts val="0"/>
              </a:spcBef>
              <a:spcAft>
                <a:spcPts val="0"/>
              </a:spcAft>
              <a:buNone/>
            </a:pPr>
            <a:r>
              <a:rPr lang="es-CL" sz="700">
                <a:solidFill>
                  <a:srgbClr val="55606E"/>
                </a:solidFill>
                <a:latin typeface="Quattrocento Sans"/>
                <a:ea typeface="Quattrocento Sans"/>
                <a:cs typeface="Quattrocento Sans"/>
                <a:sym typeface="Quattrocento Sans"/>
              </a:rPr>
              <a:t>Proyectos Directorio Procedimientos Colaboración</a:t>
            </a:r>
            <a:endParaRPr sz="700">
              <a:solidFill>
                <a:srgbClr val="000000"/>
              </a:solidFill>
              <a:latin typeface="Calibri"/>
              <a:ea typeface="Calibri"/>
              <a:cs typeface="Calibri"/>
              <a:sym typeface="Calibri"/>
            </a:endParaRPr>
          </a:p>
        </p:txBody>
      </p:sp>
      <p:sp>
        <p:nvSpPr>
          <p:cNvPr id="886" name="Google Shape;886;p60"/>
          <p:cNvSpPr/>
          <p:nvPr/>
        </p:nvSpPr>
        <p:spPr>
          <a:xfrm>
            <a:off x="9118600" y="95250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MENSAJE EJECUTIVO</a:t>
            </a:r>
            <a:endParaRPr sz="675">
              <a:solidFill>
                <a:srgbClr val="000000"/>
              </a:solidFill>
              <a:latin typeface="Calibri"/>
              <a:ea typeface="Calibri"/>
              <a:cs typeface="Calibri"/>
              <a:sym typeface="Calibri"/>
            </a:endParaRPr>
          </a:p>
        </p:txBody>
      </p:sp>
      <p:sp>
        <p:nvSpPr>
          <p:cNvPr id="887" name="Google Shape;887;p60"/>
          <p:cNvSpPr/>
          <p:nvPr/>
        </p:nvSpPr>
        <p:spPr>
          <a:xfrm>
            <a:off x="9118600" y="1155700"/>
            <a:ext cx="2825496" cy="482600"/>
          </a:xfrm>
          <a:prstGeom prst="rect">
            <a:avLst/>
          </a:prstGeom>
          <a:noFill/>
          <a:ln>
            <a:noFill/>
          </a:ln>
        </p:spPr>
        <p:txBody>
          <a:bodyPr spcFirstLastPara="1" wrap="square" lIns="16925" tIns="16925" rIns="16925" bIns="16925" anchor="t" anchorCtr="0">
            <a:normAutofit/>
          </a:bodyPr>
          <a:lstStyle/>
          <a:p>
            <a:pPr marL="0" marR="0" lvl="0" indent="0" algn="l" rtl="0">
              <a:lnSpc>
                <a:spcPct val="120000"/>
              </a:lnSpc>
              <a:spcBef>
                <a:spcPts val="0"/>
              </a:spcBef>
              <a:spcAft>
                <a:spcPts val="0"/>
              </a:spcAft>
              <a:buNone/>
            </a:pPr>
            <a:r>
              <a:rPr lang="es-CL" sz="750">
                <a:solidFill>
                  <a:srgbClr val="44505F"/>
                </a:solidFill>
                <a:latin typeface="Quattrocento Sans"/>
                <a:ea typeface="Quattrocento Sans"/>
                <a:cs typeface="Quattrocento Sans"/>
                <a:sym typeface="Quattrocento Sans"/>
              </a:rPr>
              <a:t>Tres plataformas sostienen la operación: Salesforce (clientes y servicio), SAP (finanzas) y SharePoint / OneDrive (documentos). Cada dato tiene un único lugar donde vive.</a:t>
            </a:r>
            <a:endParaRPr sz="750">
              <a:solidFill>
                <a:srgbClr val="000000"/>
              </a:solidFill>
              <a:latin typeface="Calibri"/>
              <a:ea typeface="Calibri"/>
              <a:cs typeface="Calibri"/>
              <a:sym typeface="Calibri"/>
            </a:endParaRPr>
          </a:p>
        </p:txBody>
      </p:sp>
      <p:sp>
        <p:nvSpPr>
          <p:cNvPr id="888" name="Google Shape;888;p60"/>
          <p:cNvSpPr/>
          <p:nvPr/>
        </p:nvSpPr>
        <p:spPr>
          <a:xfrm>
            <a:off x="9118600" y="180340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FORTALEZAS ACTUALES</a:t>
            </a:r>
            <a:endParaRPr sz="675">
              <a:solidFill>
                <a:srgbClr val="000000"/>
              </a:solidFill>
              <a:latin typeface="Calibri"/>
              <a:ea typeface="Calibri"/>
              <a:cs typeface="Calibri"/>
              <a:sym typeface="Calibri"/>
            </a:endParaRPr>
          </a:p>
        </p:txBody>
      </p:sp>
      <p:sp>
        <p:nvSpPr>
          <p:cNvPr id="889" name="Google Shape;889;p60"/>
          <p:cNvSpPr/>
          <p:nvPr/>
        </p:nvSpPr>
        <p:spPr>
          <a:xfrm>
            <a:off x="9118600" y="2019301"/>
            <a:ext cx="2743200" cy="384175"/>
          </a:xfrm>
          <a:prstGeom prst="roundRect">
            <a:avLst>
              <a:gd name="adj" fmla="val 16529"/>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60"/>
          <p:cNvSpPr/>
          <p:nvPr/>
        </p:nvSpPr>
        <p:spPr>
          <a:xfrm>
            <a:off x="9251951" y="2139951"/>
            <a:ext cx="131663" cy="168275"/>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1" name="Google Shape;891;p60"/>
          <p:cNvSpPr/>
          <p:nvPr/>
        </p:nvSpPr>
        <p:spPr>
          <a:xfrm>
            <a:off x="9396313" y="2139951"/>
            <a:ext cx="2380139" cy="168275"/>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Estandarización del proceso comercial y de servicio.</a:t>
            </a:r>
            <a:endParaRPr sz="750">
              <a:solidFill>
                <a:srgbClr val="000000"/>
              </a:solidFill>
              <a:latin typeface="Calibri"/>
              <a:ea typeface="Calibri"/>
              <a:cs typeface="Calibri"/>
              <a:sym typeface="Calibri"/>
            </a:endParaRPr>
          </a:p>
        </p:txBody>
      </p:sp>
      <p:sp>
        <p:nvSpPr>
          <p:cNvPr id="892" name="Google Shape;892;p60"/>
          <p:cNvSpPr/>
          <p:nvPr/>
        </p:nvSpPr>
        <p:spPr>
          <a:xfrm>
            <a:off x="9118600" y="2505076"/>
            <a:ext cx="2743200" cy="527050"/>
          </a:xfrm>
          <a:prstGeom prst="roundRect">
            <a:avLst>
              <a:gd name="adj" fmla="val 12048"/>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60"/>
          <p:cNvSpPr/>
          <p:nvPr/>
        </p:nvSpPr>
        <p:spPr>
          <a:xfrm>
            <a:off x="9251951" y="2625726"/>
            <a:ext cx="131663" cy="3111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4" name="Google Shape;894;p60"/>
          <p:cNvSpPr/>
          <p:nvPr/>
        </p:nvSpPr>
        <p:spPr>
          <a:xfrm>
            <a:off x="9396314" y="2625726"/>
            <a:ext cx="2402101" cy="311150"/>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Trazabilidad desde la creación del caso hasta la solicitud de facturación.</a:t>
            </a:r>
            <a:endParaRPr sz="750">
              <a:solidFill>
                <a:srgbClr val="000000"/>
              </a:solidFill>
              <a:latin typeface="Calibri"/>
              <a:ea typeface="Calibri"/>
              <a:cs typeface="Calibri"/>
              <a:sym typeface="Calibri"/>
            </a:endParaRPr>
          </a:p>
        </p:txBody>
      </p:sp>
      <p:sp>
        <p:nvSpPr>
          <p:cNvPr id="895" name="Google Shape;895;p60"/>
          <p:cNvSpPr/>
          <p:nvPr/>
        </p:nvSpPr>
        <p:spPr>
          <a:xfrm>
            <a:off x="9118600" y="3133726"/>
            <a:ext cx="2743200" cy="384175"/>
          </a:xfrm>
          <a:prstGeom prst="roundRect">
            <a:avLst>
              <a:gd name="adj" fmla="val 16529"/>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60"/>
          <p:cNvSpPr/>
          <p:nvPr/>
        </p:nvSpPr>
        <p:spPr>
          <a:xfrm>
            <a:off x="9251951" y="3254376"/>
            <a:ext cx="131663" cy="168275"/>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897" name="Google Shape;897;p60"/>
          <p:cNvSpPr/>
          <p:nvPr/>
        </p:nvSpPr>
        <p:spPr>
          <a:xfrm>
            <a:off x="9396314" y="3254376"/>
            <a:ext cx="2161421" cy="168275"/>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Gestión centralizada de OT y recursos técnicos.</a:t>
            </a:r>
            <a:endParaRPr sz="750">
              <a:solidFill>
                <a:srgbClr val="000000"/>
              </a:solidFill>
              <a:latin typeface="Calibri"/>
              <a:ea typeface="Calibri"/>
              <a:cs typeface="Calibri"/>
              <a:sym typeface="Calibri"/>
            </a:endParaRPr>
          </a:p>
        </p:txBody>
      </p:sp>
      <p:sp>
        <p:nvSpPr>
          <p:cNvPr id="898" name="Google Shape;898;p60"/>
          <p:cNvSpPr/>
          <p:nvPr/>
        </p:nvSpPr>
        <p:spPr>
          <a:xfrm>
            <a:off x="9118600" y="3619500"/>
            <a:ext cx="2743200" cy="527050"/>
          </a:xfrm>
          <a:prstGeom prst="roundRect">
            <a:avLst>
              <a:gd name="adj" fmla="val 12048"/>
            </a:avLst>
          </a:prstGeom>
          <a:solidFill>
            <a:srgbClr val="F7FCFC"/>
          </a:solidFill>
          <a:ln w="9525" cap="flat" cmpd="sng">
            <a:solidFill>
              <a:srgbClr val="CDEDEA"/>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60"/>
          <p:cNvSpPr/>
          <p:nvPr/>
        </p:nvSpPr>
        <p:spPr>
          <a:xfrm>
            <a:off x="9251951" y="3740150"/>
            <a:ext cx="131663" cy="31115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0B6E6A"/>
                </a:solidFill>
                <a:latin typeface="Quattrocento Sans"/>
                <a:ea typeface="Quattrocento Sans"/>
                <a:cs typeface="Quattrocento Sans"/>
                <a:sym typeface="Quattrocento Sans"/>
              </a:rPr>
              <a:t>✓</a:t>
            </a:r>
            <a:endParaRPr sz="850">
              <a:solidFill>
                <a:srgbClr val="000000"/>
              </a:solidFill>
              <a:latin typeface="Calibri"/>
              <a:ea typeface="Calibri"/>
              <a:cs typeface="Calibri"/>
              <a:sym typeface="Calibri"/>
            </a:endParaRPr>
          </a:p>
        </p:txBody>
      </p:sp>
      <p:sp>
        <p:nvSpPr>
          <p:cNvPr id="900" name="Google Shape;900;p60"/>
          <p:cNvSpPr/>
          <p:nvPr/>
        </p:nvSpPr>
        <p:spPr>
          <a:xfrm>
            <a:off x="9396314" y="3740150"/>
            <a:ext cx="2402101" cy="311150"/>
          </a:xfrm>
          <a:prstGeom prst="rect">
            <a:avLst/>
          </a:prstGeom>
          <a:noFill/>
          <a:ln>
            <a:noFill/>
          </a:ln>
        </p:spPr>
        <p:txBody>
          <a:bodyPr spcFirstLastPara="1" wrap="square" lIns="16925" tIns="16925" rIns="16925" bIns="16925" anchor="t" anchorCtr="0">
            <a:normAutofit/>
          </a:bodyPr>
          <a:lstStyle/>
          <a:p>
            <a:pPr marL="0" marR="0" lvl="0" indent="0" algn="l" rtl="0">
              <a:lnSpc>
                <a:spcPct val="112500"/>
              </a:lnSpc>
              <a:spcBef>
                <a:spcPts val="0"/>
              </a:spcBef>
              <a:spcAft>
                <a:spcPts val="0"/>
              </a:spcAft>
              <a:buNone/>
            </a:pPr>
            <a:r>
              <a:rPr lang="es-CL" sz="750">
                <a:solidFill>
                  <a:srgbClr val="44505F"/>
                </a:solidFill>
                <a:latin typeface="Quattrocento Sans"/>
                <a:ea typeface="Quattrocento Sans"/>
                <a:cs typeface="Quattrocento Sans"/>
                <a:sym typeface="Quattrocento Sans"/>
              </a:rPr>
              <a:t>Plataforma colaborativa para trabajo transversal entre áreas.</a:t>
            </a:r>
            <a:endParaRPr sz="750">
              <a:solidFill>
                <a:srgbClr val="000000"/>
              </a:solidFill>
              <a:latin typeface="Calibri"/>
              <a:ea typeface="Calibri"/>
              <a:cs typeface="Calibri"/>
              <a:sym typeface="Calibri"/>
            </a:endParaRPr>
          </a:p>
        </p:txBody>
      </p:sp>
      <p:sp>
        <p:nvSpPr>
          <p:cNvPr id="901" name="Google Shape;901;p60"/>
          <p:cNvSpPr/>
          <p:nvPr/>
        </p:nvSpPr>
        <p:spPr>
          <a:xfrm>
            <a:off x="9118600" y="4362450"/>
            <a:ext cx="3017520" cy="1397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675" b="1">
                <a:solidFill>
                  <a:srgbClr val="6E7480"/>
                </a:solidFill>
                <a:latin typeface="Quattrocento Sans"/>
                <a:ea typeface="Quattrocento Sans"/>
                <a:cs typeface="Quattrocento Sans"/>
                <a:sym typeface="Quattrocento Sans"/>
              </a:rPr>
              <a:t>DESAFÍO FUTURO</a:t>
            </a:r>
            <a:endParaRPr sz="675">
              <a:solidFill>
                <a:srgbClr val="000000"/>
              </a:solidFill>
              <a:latin typeface="Calibri"/>
              <a:ea typeface="Calibri"/>
              <a:cs typeface="Calibri"/>
              <a:sym typeface="Calibri"/>
            </a:endParaRPr>
          </a:p>
        </p:txBody>
      </p:sp>
      <p:sp>
        <p:nvSpPr>
          <p:cNvPr id="902" name="Google Shape;902;p60"/>
          <p:cNvSpPr/>
          <p:nvPr/>
        </p:nvSpPr>
        <p:spPr>
          <a:xfrm>
            <a:off x="9118600" y="4578350"/>
            <a:ext cx="2743200" cy="1117600"/>
          </a:xfrm>
          <a:prstGeom prst="roundRect">
            <a:avLst>
              <a:gd name="adj" fmla="val 6818"/>
            </a:avLst>
          </a:prstGeom>
          <a:solidFill>
            <a:srgbClr val="373C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60"/>
          <p:cNvSpPr/>
          <p:nvPr/>
        </p:nvSpPr>
        <p:spPr>
          <a:xfrm>
            <a:off x="9283700" y="4730750"/>
            <a:ext cx="2654300" cy="165100"/>
          </a:xfrm>
          <a:prstGeom prst="rect">
            <a:avLst/>
          </a:prstGeom>
          <a:noFill/>
          <a:ln>
            <a:noFill/>
          </a:ln>
        </p:spPr>
        <p:txBody>
          <a:bodyPr spcFirstLastPara="1" wrap="square" lIns="16925" tIns="16925" rIns="16925" bIns="16925" anchor="t" anchorCtr="0">
            <a:normAutofit/>
          </a:bodyPr>
          <a:lstStyle/>
          <a:p>
            <a:pPr marL="0" marR="0" lvl="0" indent="0" algn="l" rtl="0">
              <a:spcBef>
                <a:spcPts val="0"/>
              </a:spcBef>
              <a:spcAft>
                <a:spcPts val="0"/>
              </a:spcAft>
              <a:buNone/>
            </a:pPr>
            <a:r>
              <a:rPr lang="es-CL" sz="850" b="1">
                <a:solidFill>
                  <a:srgbClr val="28D2C3"/>
                </a:solidFill>
                <a:latin typeface="Quattrocento Sans"/>
                <a:ea typeface="Quattrocento Sans"/>
                <a:cs typeface="Quattrocento Sans"/>
                <a:sym typeface="Quattrocento Sans"/>
              </a:rPr>
              <a:t>Salesforce + Field Service + SAP</a:t>
            </a:r>
            <a:endParaRPr sz="850">
              <a:solidFill>
                <a:srgbClr val="000000"/>
              </a:solidFill>
              <a:latin typeface="Calibri"/>
              <a:ea typeface="Calibri"/>
              <a:cs typeface="Calibri"/>
              <a:sym typeface="Calibri"/>
            </a:endParaRPr>
          </a:p>
        </p:txBody>
      </p:sp>
      <p:sp>
        <p:nvSpPr>
          <p:cNvPr id="904" name="Google Shape;904;p60"/>
          <p:cNvSpPr/>
          <p:nvPr/>
        </p:nvSpPr>
        <p:spPr>
          <a:xfrm>
            <a:off x="9283700" y="4933950"/>
            <a:ext cx="2485390" cy="635000"/>
          </a:xfrm>
          <a:prstGeom prst="rect">
            <a:avLst/>
          </a:prstGeom>
          <a:noFill/>
          <a:ln>
            <a:noFill/>
          </a:ln>
        </p:spPr>
        <p:txBody>
          <a:bodyPr spcFirstLastPara="1" wrap="square" lIns="16925" tIns="16925" rIns="16925" bIns="16925" anchor="t" anchorCtr="0">
            <a:normAutofit/>
          </a:bodyPr>
          <a:lstStyle/>
          <a:p>
            <a:pPr marL="0" marR="0" lvl="0" indent="0" algn="l" rtl="0">
              <a:lnSpc>
                <a:spcPct val="120000"/>
              </a:lnSpc>
              <a:spcBef>
                <a:spcPts val="0"/>
              </a:spcBef>
              <a:spcAft>
                <a:spcPts val="0"/>
              </a:spcAft>
              <a:buNone/>
            </a:pPr>
            <a:r>
              <a:rPr lang="es-CL" sz="750">
                <a:solidFill>
                  <a:srgbClr val="E3E6EA"/>
                </a:solidFill>
                <a:latin typeface="Quattrocento Sans"/>
                <a:ea typeface="Quattrocento Sans"/>
                <a:cs typeface="Quattrocento Sans"/>
                <a:sym typeface="Quattrocento Sans"/>
              </a:rPr>
              <a:t>Profundizar la integración entre las tres plataformas, reduciendo actividades manuales, mejorando la visibilidad gerencial y permitiendo un crecimiento escalable de la organización.</a:t>
            </a:r>
            <a:endParaRPr sz="750">
              <a:solidFill>
                <a:srgbClr val="000000"/>
              </a:solidFill>
              <a:latin typeface="Calibri"/>
              <a:ea typeface="Calibri"/>
              <a:cs typeface="Calibri"/>
              <a:sym typeface="Calibri"/>
            </a:endParaRPr>
          </a:p>
        </p:txBody>
      </p:sp>
      <p:pic>
        <p:nvPicPr>
          <p:cNvPr id="905" name="Google Shape;905;p60" descr="preencoded.png"/>
          <p:cNvPicPr preferRelativeResize="0"/>
          <p:nvPr/>
        </p:nvPicPr>
        <p:blipFill rotWithShape="1">
          <a:blip r:embed="rId9">
            <a:alphaModFix/>
          </a:blip>
          <a:srcRect/>
          <a:stretch/>
        </p:blipFill>
        <p:spPr>
          <a:xfrm>
            <a:off x="330200" y="6502400"/>
            <a:ext cx="819051" cy="190500"/>
          </a:xfrm>
          <a:prstGeom prst="rect">
            <a:avLst/>
          </a:prstGeom>
          <a:noFill/>
          <a:ln>
            <a:noFill/>
          </a:ln>
        </p:spPr>
      </p:pic>
      <p:pic>
        <p:nvPicPr>
          <p:cNvPr id="906" name="Google Shape;906;p60" descr="preencoded.png"/>
          <p:cNvPicPr preferRelativeResize="0"/>
          <p:nvPr/>
        </p:nvPicPr>
        <p:blipFill rotWithShape="1">
          <a:blip r:embed="rId10">
            <a:alphaModFix/>
          </a:blip>
          <a:srcRect/>
          <a:stretch/>
        </p:blipFill>
        <p:spPr>
          <a:xfrm>
            <a:off x="1339751" y="6515100"/>
            <a:ext cx="820142" cy="165100"/>
          </a:xfrm>
          <a:prstGeom prst="rect">
            <a:avLst/>
          </a:prstGeom>
          <a:noFill/>
          <a:ln>
            <a:noFill/>
          </a:ln>
        </p:spPr>
      </p:pic>
      <p:pic>
        <p:nvPicPr>
          <p:cNvPr id="907" name="Google Shape;907;p60" descr="preencoded.png"/>
          <p:cNvPicPr preferRelativeResize="0"/>
          <p:nvPr/>
        </p:nvPicPr>
        <p:blipFill rotWithShape="1">
          <a:blip r:embed="rId11">
            <a:alphaModFix/>
          </a:blip>
          <a:srcRect/>
          <a:stretch/>
        </p:blipFill>
        <p:spPr>
          <a:xfrm>
            <a:off x="2350393" y="6515100"/>
            <a:ext cx="597991" cy="165100"/>
          </a:xfrm>
          <a:prstGeom prst="rect">
            <a:avLst/>
          </a:prstGeom>
          <a:noFill/>
          <a:ln>
            <a:noFill/>
          </a:ln>
        </p:spPr>
      </p:pic>
    </p:spTree>
  </p:cSld>
  <p:clrMapOvr>
    <a:masterClrMapping/>
  </p:clrMapOvr>
</p:sld>
</file>

<file path=ppt/theme/theme1.xml><?xml version="1.0" encoding="utf-8"?>
<a:theme xmlns:a="http://schemas.openxmlformats.org/drawingml/2006/main" name="12_Blank">
  <a:themeElements>
    <a:clrScheme name="Custom 1">
      <a:dk1>
        <a:srgbClr val="33448D"/>
      </a:dk1>
      <a:lt1>
        <a:srgbClr val="FFFFFF"/>
      </a:lt1>
      <a:dk2>
        <a:srgbClr val="33448D"/>
      </a:dk2>
      <a:lt2>
        <a:srgbClr val="FFFFFF"/>
      </a:lt2>
      <a:accent1>
        <a:srgbClr val="B6BFDF"/>
      </a:accent1>
      <a:accent2>
        <a:srgbClr val="33448D"/>
      </a:accent2>
      <a:accent3>
        <a:srgbClr val="7686BA"/>
      </a:accent3>
      <a:accent4>
        <a:srgbClr val="8F9A28"/>
      </a:accent4>
      <a:accent5>
        <a:srgbClr val="4BACC6"/>
      </a:accent5>
      <a:accent6>
        <a:srgbClr val="808080"/>
      </a:accent6>
      <a:hlink>
        <a:srgbClr val="7686BA"/>
      </a:hlink>
      <a:folHlink>
        <a:srgbClr val="BDCB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plate Presentación Directorio">
  <a:themeElements>
    <a:clrScheme name="GEMCO S.A">
      <a:dk1>
        <a:srgbClr val="FFFFFF"/>
      </a:dk1>
      <a:lt1>
        <a:srgbClr val="282DF0"/>
      </a:lt1>
      <a:dk2>
        <a:srgbClr val="FFFFFF"/>
      </a:dk2>
      <a:lt2>
        <a:srgbClr val="373C46"/>
      </a:lt2>
      <a:accent1>
        <a:srgbClr val="28D2C3"/>
      </a:accent1>
      <a:accent2>
        <a:srgbClr val="373C46"/>
      </a:accent2>
      <a:accent3>
        <a:srgbClr val="282DF0"/>
      </a:accent3>
      <a:accent4>
        <a:srgbClr val="D20101"/>
      </a:accent4>
      <a:accent5>
        <a:srgbClr val="FF8425"/>
      </a:accent5>
      <a:accent6>
        <a:srgbClr val="0070C0"/>
      </a:accent6>
      <a:hlink>
        <a:srgbClr val="4D94D8"/>
      </a:hlink>
      <a:folHlink>
        <a:srgbClr val="FFFF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4C69FAA-C6C8-4DC7-AE72-DAE9C6D23E29}">
  <we:reference id="WA200010725" version="1.0.0.1" store="Omex" storeType="OMEX"/>
  <we:alternateReferences>
    <we:reference id="WA200010725" version="1.0.0.1" store="WA200010725" storeType="OMEX"/>
  </we:alternateReferences>
  <we:properties>
    <we:property name="claude.fileId" value="&quot;9a3538e1-4a6f-4f31-9b4f-b4fc6b482e6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973</TotalTime>
  <Words>18516</Words>
  <Application>Microsoft Office PowerPoint</Application>
  <PresentationFormat>Panorámica</PresentationFormat>
  <Paragraphs>5729</Paragraphs>
  <Slides>88</Slides>
  <Notes>88</Notes>
  <HiddenSlides>0</HiddenSlides>
  <MMClips>0</MMClips>
  <ScaleCrop>false</ScaleCrop>
  <HeadingPairs>
    <vt:vector size="6" baseType="variant">
      <vt:variant>
        <vt:lpstr>Fuentes usadas</vt:lpstr>
      </vt:variant>
      <vt:variant>
        <vt:i4>9</vt:i4>
      </vt:variant>
      <vt:variant>
        <vt:lpstr>Tema</vt:lpstr>
      </vt:variant>
      <vt:variant>
        <vt:i4>4</vt:i4>
      </vt:variant>
      <vt:variant>
        <vt:lpstr>Títulos de diapositiva</vt:lpstr>
      </vt:variant>
      <vt:variant>
        <vt:i4>88</vt:i4>
      </vt:variant>
    </vt:vector>
  </HeadingPairs>
  <TitlesOfParts>
    <vt:vector size="101" baseType="lpstr">
      <vt:lpstr>Calibri</vt:lpstr>
      <vt:lpstr>Aptos Narrow</vt:lpstr>
      <vt:lpstr>Roboto</vt:lpstr>
      <vt:lpstr>Noto Sans Symbols</vt:lpstr>
      <vt:lpstr>Play</vt:lpstr>
      <vt:lpstr>Quattrocento Sans</vt:lpstr>
      <vt:lpstr>Arial</vt:lpstr>
      <vt:lpstr>Aptos</vt:lpstr>
      <vt:lpstr>Figtree</vt:lpstr>
      <vt:lpstr>12_Blank</vt:lpstr>
      <vt:lpstr>Template Presentación Directorio</vt:lpstr>
      <vt:lpstr>Office Theme</vt:lpstr>
      <vt:lpstr>1_Office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Cristian Valenzuela</dc:creator>
  <cp:lastModifiedBy>Cristóbal Muñoz A.</cp:lastModifiedBy>
  <cp:revision>41</cp:revision>
  <dcterms:created xsi:type="dcterms:W3CDTF">2026-09-12T02:09:26Z</dcterms:created>
  <dcterms:modified xsi:type="dcterms:W3CDTF">2026-10-24T03:02:55Z</dcterms:modified>
</cp:coreProperties>
</file>