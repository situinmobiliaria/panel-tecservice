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slideLayouts/slideLayout27.xml" ContentType="application/vnd.openxmlformats-officedocument.presentationml.slideLayout+xml"/>
  <Override PartName="/ppt/theme/theme3.xml" ContentType="application/vnd.openxmlformats-officedocument.theme+xml"/>
  <Override PartName="/ppt/slideLayouts/slideLayout28.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54" r:id="rId2"/>
    <p:sldMasterId id="2147483676" r:id="rId3"/>
    <p:sldMasterId id="2147483678" r:id="rId4"/>
  </p:sldMasterIdLst>
  <p:notesMasterIdLst>
    <p:notesMasterId r:id="rId86"/>
  </p:notesMasterIdLst>
  <p:sldIdLst>
    <p:sldId id="256" r:id="rId5"/>
    <p:sldId id="257" r:id="rId6"/>
    <p:sldId id="328" r:id="rId7"/>
    <p:sldId id="340" r:id="rId8"/>
    <p:sldId id="259" r:id="rId9"/>
    <p:sldId id="329" r:id="rId10"/>
    <p:sldId id="261" r:id="rId11"/>
    <p:sldId id="262" r:id="rId12"/>
    <p:sldId id="263" r:id="rId13"/>
    <p:sldId id="264" r:id="rId14"/>
    <p:sldId id="265" r:id="rId15"/>
    <p:sldId id="266" r:id="rId16"/>
    <p:sldId id="330" r:id="rId17"/>
    <p:sldId id="268" r:id="rId18"/>
    <p:sldId id="269" r:id="rId19"/>
    <p:sldId id="331" r:id="rId20"/>
    <p:sldId id="271" r:id="rId21"/>
    <p:sldId id="272" r:id="rId22"/>
    <p:sldId id="273" r:id="rId23"/>
    <p:sldId id="274" r:id="rId24"/>
    <p:sldId id="275" r:id="rId25"/>
    <p:sldId id="276" r:id="rId26"/>
    <p:sldId id="277" r:id="rId27"/>
    <p:sldId id="332" r:id="rId28"/>
    <p:sldId id="345" r:id="rId29"/>
    <p:sldId id="279" r:id="rId30"/>
    <p:sldId id="280" r:id="rId31"/>
    <p:sldId id="281" r:id="rId32"/>
    <p:sldId id="333" r:id="rId33"/>
    <p:sldId id="283" r:id="rId34"/>
    <p:sldId id="284" r:id="rId35"/>
    <p:sldId id="334" r:id="rId36"/>
    <p:sldId id="286" r:id="rId37"/>
    <p:sldId id="287" r:id="rId38"/>
    <p:sldId id="288" r:id="rId39"/>
    <p:sldId id="289" r:id="rId40"/>
    <p:sldId id="335" r:id="rId41"/>
    <p:sldId id="316" r:id="rId42"/>
    <p:sldId id="336" r:id="rId43"/>
    <p:sldId id="290" r:id="rId44"/>
    <p:sldId id="291" r:id="rId45"/>
    <p:sldId id="292" r:id="rId46"/>
    <p:sldId id="318" r:id="rId47"/>
    <p:sldId id="319" r:id="rId48"/>
    <p:sldId id="320" r:id="rId49"/>
    <p:sldId id="321" r:id="rId50"/>
    <p:sldId id="322" r:id="rId51"/>
    <p:sldId id="323" r:id="rId52"/>
    <p:sldId id="324" r:id="rId53"/>
    <p:sldId id="326" r:id="rId54"/>
    <p:sldId id="338" r:id="rId55"/>
    <p:sldId id="339" r:id="rId56"/>
    <p:sldId id="258" r:id="rId57"/>
    <p:sldId id="337" r:id="rId58"/>
    <p:sldId id="310" r:id="rId59"/>
    <p:sldId id="327" r:id="rId60"/>
    <p:sldId id="293" r:id="rId61"/>
    <p:sldId id="294" r:id="rId62"/>
    <p:sldId id="295" r:id="rId63"/>
    <p:sldId id="296" r:id="rId64"/>
    <p:sldId id="297" r:id="rId65"/>
    <p:sldId id="298" r:id="rId66"/>
    <p:sldId id="299" r:id="rId67"/>
    <p:sldId id="300" r:id="rId68"/>
    <p:sldId id="301" r:id="rId69"/>
    <p:sldId id="302" r:id="rId70"/>
    <p:sldId id="303" r:id="rId71"/>
    <p:sldId id="304" r:id="rId72"/>
    <p:sldId id="305" r:id="rId73"/>
    <p:sldId id="306" r:id="rId74"/>
    <p:sldId id="307" r:id="rId75"/>
    <p:sldId id="308" r:id="rId76"/>
    <p:sldId id="309" r:id="rId77"/>
    <p:sldId id="311" r:id="rId78"/>
    <p:sldId id="341" r:id="rId79"/>
    <p:sldId id="342" r:id="rId80"/>
    <p:sldId id="343" r:id="rId81"/>
    <p:sldId id="312" r:id="rId82"/>
    <p:sldId id="313" r:id="rId83"/>
    <p:sldId id="314" r:id="rId84"/>
    <p:sldId id="315" r:id="rId85"/>
  </p:sldIdLst>
  <p:sldSz cx="12192000" cy="6858000"/>
  <p:notesSz cx="6858000" cy="12192000"/>
  <p:embeddedFontLst>
    <p:embeddedFont>
      <p:font typeface="Play" panose="020B0604020202020204" charset="0"/>
      <p:regular r:id="rId87"/>
      <p:bold r:id="rId88"/>
    </p:embeddedFont>
    <p:embeddedFont>
      <p:font typeface="Quattrocento Sans" panose="020B0502050000020003" pitchFamily="34" charset="0"/>
      <p:regular r:id="rId89"/>
      <p:bold r:id="rId90"/>
    </p:embeddedFont>
    <p:embeddedFont>
      <p:font typeface="Roboto" panose="02000000000000000000" pitchFamily="2" charset="0"/>
      <p:regular r:id="rId91"/>
      <p:bold r:id="rId92"/>
      <p:italic r:id="rId9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88" userDrawn="1">
          <p15:clr>
            <a:srgbClr val="A4A3A4"/>
          </p15:clr>
        </p15:guide>
        <p15:guide id="2" pos="3840" userDrawn="1">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94" roundtripDataSignature="AMtx7mihcEJ+ppHuWwxQ5NLDVvr/Gil7B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D38E6D1-A539-F964-4718-8C765525FBC0}" v="11" dt="2026-09-28T20:22:11.815"/>
  </p1510:revLst>
</p1510:revInfo>
</file>

<file path=ppt/tableStyles.xml><?xml version="1.0" encoding="utf-8"?>
<a:tblStyleLst xmlns:a="http://schemas.openxmlformats.org/drawingml/2006/main" def="{13D43741-7D58-4360-86AC-F6E32FA5FF39}">
  <a:tblStyle styleId="{13D43741-7D58-4360-86AC-F6E32FA5FF39}"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C37305D2-9BBB-409F-AAFB-F33DB949016B}" styleName="Table_1">
    <a:wholeTbl>
      <a:tcTxStyle b="off" i="off">
        <a:font>
          <a:latin typeface="Aptos (cuerpo)"/>
          <a:ea typeface="Aptos (cuerpo)"/>
          <a:cs typeface="Aptos (cuerpo)"/>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F7F4"/>
          </a:solidFill>
        </a:fill>
      </a:tcStyle>
    </a:wholeTbl>
    <a:band1H>
      <a:tcTxStyle/>
      <a:tcStyle>
        <a:tcBdr/>
        <a:fill>
          <a:solidFill>
            <a:srgbClr val="CBEEE9"/>
          </a:solidFill>
        </a:fill>
      </a:tcStyle>
    </a:band1H>
    <a:band2H>
      <a:tcTxStyle/>
      <a:tcStyle>
        <a:tcBdr/>
      </a:tcStyle>
    </a:band2H>
    <a:band1V>
      <a:tcTxStyle/>
      <a:tcStyle>
        <a:tcBdr/>
        <a:fill>
          <a:solidFill>
            <a:srgbClr val="CBEEE9"/>
          </a:solidFill>
        </a:fill>
      </a:tcStyle>
    </a:band1V>
    <a:band2V>
      <a:tcTxStyle/>
      <a:tcStyle>
        <a:tcBdr/>
      </a:tcStyle>
    </a:band2V>
    <a:lastCol>
      <a:tcTxStyle b="on" i="off">
        <a:font>
          <a:latin typeface="Aptos (cuerpo)"/>
          <a:ea typeface="Aptos (cuerpo)"/>
          <a:cs typeface="Aptos (cuerpo)"/>
        </a:font>
        <a:schemeClr val="lt1"/>
      </a:tcTxStyle>
      <a:tcStyle>
        <a:tcBdr/>
        <a:fill>
          <a:solidFill>
            <a:schemeClr val="accent1"/>
          </a:solidFill>
        </a:fill>
      </a:tcStyle>
    </a:lastCol>
    <a:firstCol>
      <a:tcTxStyle b="on" i="off">
        <a:font>
          <a:latin typeface="Aptos (cuerpo)"/>
          <a:ea typeface="Aptos (cuerpo)"/>
          <a:cs typeface="Aptos (cuerpo)"/>
        </a:font>
        <a:schemeClr val="lt1"/>
      </a:tcTxStyle>
      <a:tcStyle>
        <a:tcBdr/>
        <a:fill>
          <a:solidFill>
            <a:schemeClr val="accent1"/>
          </a:solidFill>
        </a:fill>
      </a:tcStyle>
    </a:firstCol>
    <a:lastRow>
      <a:tcTxStyle b="on" i="off">
        <a:font>
          <a:latin typeface="Aptos (cuerpo)"/>
          <a:ea typeface="Aptos (cuerpo)"/>
          <a:cs typeface="Aptos (cuerpo)"/>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Aptos (cuerpo)"/>
          <a:ea typeface="Aptos (cuerpo)"/>
          <a:cs typeface="Aptos (cuerpo)"/>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540" autoAdjust="0"/>
  </p:normalViewPr>
  <p:slideViewPr>
    <p:cSldViewPr showGuides="1">
      <p:cViewPr varScale="1">
        <p:scale>
          <a:sx n="64" d="100"/>
          <a:sy n="64" d="100"/>
        </p:scale>
        <p:origin x="954" y="78"/>
      </p:cViewPr>
      <p:guideLst>
        <p:guide orient="horz" pos="2188"/>
        <p:guide pos="3840"/>
      </p:guideLst>
    </p:cSldViewPr>
  </p:slideViewPr>
  <p:notesTextViewPr>
    <p:cViewPr>
      <p:scale>
        <a:sx n="1" d="1"/>
        <a:sy n="1" d="1"/>
      </p:scale>
      <p:origin x="0" y="0"/>
    </p:cViewPr>
  </p:notesTextViewPr>
  <p:gridSpacing cx="45000" cy="450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font" Target="fonts/font3.fntdata"/><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5" Type="http://schemas.openxmlformats.org/officeDocument/2006/relationships/slide" Target="slides/slide1.xml"/><Relationship Id="rId90" Type="http://schemas.openxmlformats.org/officeDocument/2006/relationships/font" Target="fonts/font4.fntdata"/><Relationship Id="rId95" Type="http://schemas.openxmlformats.org/officeDocument/2006/relationships/presProps" Target="presProps.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font" Target="fonts/font2.fntdata"/><Relationship Id="rId91" Type="http://schemas.openxmlformats.org/officeDocument/2006/relationships/font" Target="fonts/font5.fntdata"/><Relationship Id="rId9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notesMaster" Target="notesMasters/notesMaster1.xml"/><Relationship Id="rId94" Type="http://customschemas.google.com/relationships/presentationmetadata" Target="metadata"/><Relationship Id="rId99" Type="http://schemas.microsoft.com/office/2015/10/relationships/revisionInfo" Target="revisionInfo.xml"/><Relationship Id="rId4" Type="http://schemas.openxmlformats.org/officeDocument/2006/relationships/slideMaster" Target="slideMasters/slideMaster4.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theme" Target="theme/theme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font" Target="fonts/font6.fntdata"/><Relationship Id="rId2" Type="http://schemas.openxmlformats.org/officeDocument/2006/relationships/slideMaster" Target="slideMasters/slideMaster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font" Target="fonts/font1.fntdata"/><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font" Target="fonts/font7.fntdata"/><Relationship Id="rId9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r>
              <a:rPr lang="es-CL"/>
              <a:t>Gráfico Gemco</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barChart>
        <c:barDir val="col"/>
        <c:grouping val="clustered"/>
        <c:varyColors val="0"/>
        <c:ser>
          <c:idx val="0"/>
          <c:order val="0"/>
          <c:tx>
            <c:strRef>
              <c:f>Hoja1!$B$1</c:f>
              <c:strCache>
                <c:ptCount val="1"/>
                <c:pt idx="0">
                  <c:v>Serie 1</c:v>
                </c:pt>
              </c:strCache>
            </c:strRef>
          </c:tx>
          <c:spPr>
            <a:solidFill>
              <a:srgbClr val="282DF0"/>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3849-4E66-B826-A582A488FD53}"/>
            </c:ext>
          </c:extLst>
        </c:ser>
        <c:ser>
          <c:idx val="1"/>
          <c:order val="1"/>
          <c:tx>
            <c:strRef>
              <c:f>Hoja1!$C$1</c:f>
              <c:strCache>
                <c:ptCount val="1"/>
                <c:pt idx="0">
                  <c:v>Serie 2</c:v>
                </c:pt>
              </c:strCache>
            </c:strRef>
          </c:tx>
          <c:spPr>
            <a:solidFill>
              <a:srgbClr val="373C4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3849-4E66-B826-A582A488FD53}"/>
            </c:ext>
          </c:extLst>
        </c:ser>
        <c:ser>
          <c:idx val="2"/>
          <c:order val="2"/>
          <c:tx>
            <c:strRef>
              <c:f>Hoja1!$D$1</c:f>
              <c:strCache>
                <c:ptCount val="1"/>
                <c:pt idx="0">
                  <c:v>Serie 3</c:v>
                </c:pt>
              </c:strCache>
            </c:strRef>
          </c:tx>
          <c:spPr>
            <a:solidFill>
              <a:srgbClr val="28D2C3"/>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3849-4E66-B826-A582A488FD53}"/>
            </c:ext>
          </c:extLst>
        </c:ser>
        <c:dLbls>
          <c:showLegendKey val="0"/>
          <c:showVal val="0"/>
          <c:showCatName val="0"/>
          <c:showSerName val="0"/>
          <c:showPercent val="0"/>
          <c:showBubbleSize val="0"/>
        </c:dLbls>
        <c:gapWidth val="219"/>
        <c:overlap val="-27"/>
        <c:axId val="1719917312"/>
        <c:axId val="1719917792"/>
      </c:barChart>
      <c:catAx>
        <c:axId val="17199173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719917792"/>
        <c:crosses val="autoZero"/>
        <c:auto val="1"/>
        <c:lblAlgn val="ctr"/>
        <c:lblOffset val="100"/>
        <c:noMultiLvlLbl val="0"/>
      </c:catAx>
      <c:valAx>
        <c:axId val="17199177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7199173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pieChart>
        <c:varyColors val="1"/>
        <c:ser>
          <c:idx val="0"/>
          <c:order val="0"/>
          <c:tx>
            <c:strRef>
              <c:f>Hoja1!$B$1</c:f>
              <c:strCache>
                <c:ptCount val="1"/>
                <c:pt idx="0">
                  <c:v>Ventas</c:v>
                </c:pt>
              </c:strCache>
            </c:strRef>
          </c:tx>
          <c:dPt>
            <c:idx val="0"/>
            <c:bubble3D val="0"/>
            <c:spPr>
              <a:solidFill>
                <a:srgbClr val="282DF0"/>
              </a:solidFill>
              <a:ln w="19050">
                <a:solidFill>
                  <a:schemeClr val="lt1"/>
                </a:solidFill>
              </a:ln>
              <a:effectLst/>
            </c:spPr>
            <c:extLst>
              <c:ext xmlns:c16="http://schemas.microsoft.com/office/drawing/2014/chart" uri="{C3380CC4-5D6E-409C-BE32-E72D297353CC}">
                <c16:uniqueId val="{00000001-AB62-473A-BA36-3736C0486B52}"/>
              </c:ext>
            </c:extLst>
          </c:dPt>
          <c:dPt>
            <c:idx val="1"/>
            <c:bubble3D val="0"/>
            <c:spPr>
              <a:solidFill>
                <a:srgbClr val="28D2C3"/>
              </a:solidFill>
              <a:ln w="19050">
                <a:solidFill>
                  <a:schemeClr val="lt1"/>
                </a:solidFill>
              </a:ln>
              <a:effectLst/>
            </c:spPr>
            <c:extLst>
              <c:ext xmlns:c16="http://schemas.microsoft.com/office/drawing/2014/chart" uri="{C3380CC4-5D6E-409C-BE32-E72D297353CC}">
                <c16:uniqueId val="{00000003-AB62-473A-BA36-3736C0486B52}"/>
              </c:ext>
            </c:extLst>
          </c:dPt>
          <c:dPt>
            <c:idx val="2"/>
            <c:bubble3D val="0"/>
            <c:spPr>
              <a:solidFill>
                <a:srgbClr val="373C46"/>
              </a:solidFill>
              <a:ln w="19050">
                <a:solidFill>
                  <a:schemeClr val="lt1"/>
                </a:solidFill>
              </a:ln>
              <a:effectLst/>
            </c:spPr>
            <c:extLst>
              <c:ext xmlns:c16="http://schemas.microsoft.com/office/drawing/2014/chart" uri="{C3380CC4-5D6E-409C-BE32-E72D297353CC}">
                <c16:uniqueId val="{00000005-AB62-473A-BA36-3736C0486B52}"/>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AB62-473A-BA36-3736C0486B52}"/>
              </c:ext>
            </c:extLst>
          </c:dPt>
          <c:cat>
            <c:strRef>
              <c:f>Hoja1!$A$2:$A$5</c:f>
              <c:strCache>
                <c:ptCount val="4"/>
                <c:pt idx="0">
                  <c:v>1er trim.</c:v>
                </c:pt>
                <c:pt idx="1">
                  <c:v>2º trim.</c:v>
                </c:pt>
                <c:pt idx="2">
                  <c:v>3er trim.</c:v>
                </c:pt>
                <c:pt idx="3">
                  <c:v>4º trim.</c:v>
                </c:pt>
              </c:strCache>
            </c:strRef>
          </c:cat>
          <c:val>
            <c:numRef>
              <c:f>Hoja1!$B$2:$B$5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AB62-473A-BA36-3736C0486B52}"/>
            </c:ext>
          </c:extLst>
        </c:ser>
        <c:dLbls>
          <c:showLegendKey val="0"/>
          <c:showVal val="0"/>
          <c:showCatName val="0"/>
          <c:showSerName val="0"/>
          <c:showPercent val="0"/>
          <c:showBubbleSize val="0"/>
          <c:showLeaderLines val="1"/>
        </c:dLbls>
        <c:firstSliceAng val="0"/>
      </c:pieChart>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barChart>
        <c:barDir val="bar"/>
        <c:grouping val="stacked"/>
        <c:varyColors val="0"/>
        <c:ser>
          <c:idx val="0"/>
          <c:order val="0"/>
          <c:tx>
            <c:strRef>
              <c:f>Hoja1!$B$1</c:f>
              <c:strCache>
                <c:ptCount val="1"/>
                <c:pt idx="0">
                  <c:v>Serie 1</c:v>
                </c:pt>
              </c:strCache>
            </c:strRef>
          </c:tx>
          <c:spPr>
            <a:solidFill>
              <a:srgbClr val="28D2C3"/>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82CB-4E37-BA0C-4D62EFF16F45}"/>
            </c:ext>
          </c:extLst>
        </c:ser>
        <c:ser>
          <c:idx val="1"/>
          <c:order val="1"/>
          <c:tx>
            <c:strRef>
              <c:f>Hoja1!$C$1</c:f>
              <c:strCache>
                <c:ptCount val="1"/>
                <c:pt idx="0">
                  <c:v>Serie 2</c:v>
                </c:pt>
              </c:strCache>
            </c:strRef>
          </c:tx>
          <c:spPr>
            <a:solidFill>
              <a:srgbClr val="282DF0"/>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82CB-4E37-BA0C-4D62EFF16F45}"/>
            </c:ext>
          </c:extLst>
        </c:ser>
        <c:ser>
          <c:idx val="2"/>
          <c:order val="2"/>
          <c:tx>
            <c:strRef>
              <c:f>Hoja1!$D$1</c:f>
              <c:strCache>
                <c:ptCount val="1"/>
                <c:pt idx="0">
                  <c:v>Serie 3</c:v>
                </c:pt>
              </c:strCache>
            </c:strRef>
          </c:tx>
          <c:spPr>
            <a:solidFill>
              <a:srgbClr val="373C4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82CB-4E37-BA0C-4D62EFF16F45}"/>
            </c:ext>
          </c:extLst>
        </c:ser>
        <c:dLbls>
          <c:showLegendKey val="0"/>
          <c:showVal val="0"/>
          <c:showCatName val="0"/>
          <c:showSerName val="0"/>
          <c:showPercent val="0"/>
          <c:showBubbleSize val="0"/>
        </c:dLbls>
        <c:gapWidth val="150"/>
        <c:overlap val="100"/>
        <c:axId val="1896206448"/>
        <c:axId val="1896199728"/>
      </c:barChart>
      <c:catAx>
        <c:axId val="1896206448"/>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896199728"/>
        <c:crosses val="autoZero"/>
        <c:auto val="1"/>
        <c:lblAlgn val="ctr"/>
        <c:lblOffset val="100"/>
        <c:noMultiLvlLbl val="0"/>
      </c:catAx>
      <c:valAx>
        <c:axId val="1896199728"/>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896206448"/>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r>
              <a:rPr lang="es-CL"/>
              <a:t>Gráfico</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barChart>
        <c:barDir val="col"/>
        <c:grouping val="clustered"/>
        <c:varyColors val="0"/>
        <c:ser>
          <c:idx val="0"/>
          <c:order val="0"/>
          <c:tx>
            <c:strRef>
              <c:f>Hoja1!$B$1</c:f>
              <c:strCache>
                <c:ptCount val="1"/>
                <c:pt idx="0">
                  <c:v>Serie 1</c:v>
                </c:pt>
              </c:strCache>
            </c:strRef>
          </c:tx>
          <c:spPr>
            <a:solidFill>
              <a:srgbClr val="28D2C3"/>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28CB-42D1-B328-14618D802797}"/>
            </c:ext>
          </c:extLst>
        </c:ser>
        <c:ser>
          <c:idx val="1"/>
          <c:order val="1"/>
          <c:tx>
            <c:strRef>
              <c:f>Hoja1!$C$1</c:f>
              <c:strCache>
                <c:ptCount val="1"/>
                <c:pt idx="0">
                  <c:v>Serie 2</c:v>
                </c:pt>
              </c:strCache>
            </c:strRef>
          </c:tx>
          <c:spPr>
            <a:solidFill>
              <a:srgbClr val="D30101"/>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28CB-42D1-B328-14618D802797}"/>
            </c:ext>
          </c:extLst>
        </c:ser>
        <c:ser>
          <c:idx val="2"/>
          <c:order val="2"/>
          <c:tx>
            <c:strRef>
              <c:f>Hoja1!$D$1</c:f>
              <c:strCache>
                <c:ptCount val="1"/>
                <c:pt idx="0">
                  <c:v>Serie 3</c:v>
                </c:pt>
              </c:strCache>
            </c:strRef>
          </c:tx>
          <c:spPr>
            <a:solidFill>
              <a:srgbClr val="373C4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28CB-42D1-B328-14618D802797}"/>
            </c:ext>
          </c:extLst>
        </c:ser>
        <c:dLbls>
          <c:showLegendKey val="0"/>
          <c:showVal val="0"/>
          <c:showCatName val="0"/>
          <c:showSerName val="0"/>
          <c:showPercent val="0"/>
          <c:showBubbleSize val="0"/>
        </c:dLbls>
        <c:gapWidth val="219"/>
        <c:overlap val="-27"/>
        <c:axId val="1719917312"/>
        <c:axId val="1719917792"/>
      </c:barChart>
      <c:catAx>
        <c:axId val="17199173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719917792"/>
        <c:crosses val="autoZero"/>
        <c:auto val="1"/>
        <c:lblAlgn val="ctr"/>
        <c:lblOffset val="100"/>
        <c:noMultiLvlLbl val="0"/>
      </c:catAx>
      <c:valAx>
        <c:axId val="17199177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7199173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pieChart>
        <c:varyColors val="1"/>
        <c:ser>
          <c:idx val="0"/>
          <c:order val="0"/>
          <c:tx>
            <c:strRef>
              <c:f>Hoja1!$B$1</c:f>
              <c:strCache>
                <c:ptCount val="1"/>
                <c:pt idx="0">
                  <c:v>Ventas</c:v>
                </c:pt>
              </c:strCache>
            </c:strRef>
          </c:tx>
          <c:dPt>
            <c:idx val="0"/>
            <c:bubble3D val="0"/>
            <c:spPr>
              <a:solidFill>
                <a:srgbClr val="D30101"/>
              </a:solidFill>
              <a:ln w="19050">
                <a:solidFill>
                  <a:schemeClr val="lt1"/>
                </a:solidFill>
              </a:ln>
              <a:effectLst/>
            </c:spPr>
            <c:extLst>
              <c:ext xmlns:c16="http://schemas.microsoft.com/office/drawing/2014/chart" uri="{C3380CC4-5D6E-409C-BE32-E72D297353CC}">
                <c16:uniqueId val="{00000001-6021-469B-96CA-FF6A0E02D9DD}"/>
              </c:ext>
            </c:extLst>
          </c:dPt>
          <c:dPt>
            <c:idx val="1"/>
            <c:bubble3D val="0"/>
            <c:spPr>
              <a:solidFill>
                <a:srgbClr val="28D2C3"/>
              </a:solidFill>
              <a:ln w="19050">
                <a:solidFill>
                  <a:schemeClr val="lt1"/>
                </a:solidFill>
              </a:ln>
              <a:effectLst/>
            </c:spPr>
            <c:extLst>
              <c:ext xmlns:c16="http://schemas.microsoft.com/office/drawing/2014/chart" uri="{C3380CC4-5D6E-409C-BE32-E72D297353CC}">
                <c16:uniqueId val="{00000003-6021-469B-96CA-FF6A0E02D9DD}"/>
              </c:ext>
            </c:extLst>
          </c:dPt>
          <c:dPt>
            <c:idx val="2"/>
            <c:bubble3D val="0"/>
            <c:spPr>
              <a:solidFill>
                <a:srgbClr val="373C46"/>
              </a:solidFill>
              <a:ln w="19050">
                <a:solidFill>
                  <a:schemeClr val="lt1"/>
                </a:solidFill>
              </a:ln>
              <a:effectLst/>
            </c:spPr>
            <c:extLst>
              <c:ext xmlns:c16="http://schemas.microsoft.com/office/drawing/2014/chart" uri="{C3380CC4-5D6E-409C-BE32-E72D297353CC}">
                <c16:uniqueId val="{00000005-6021-469B-96CA-FF6A0E02D9DD}"/>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6021-469B-96CA-FF6A0E02D9DD}"/>
              </c:ext>
            </c:extLst>
          </c:dPt>
          <c:cat>
            <c:strRef>
              <c:f>Hoja1!$A$2:$A$5</c:f>
              <c:strCache>
                <c:ptCount val="4"/>
                <c:pt idx="0">
                  <c:v>1er trim.</c:v>
                </c:pt>
                <c:pt idx="1">
                  <c:v>2º trim.</c:v>
                </c:pt>
                <c:pt idx="2">
                  <c:v>3er trim.</c:v>
                </c:pt>
                <c:pt idx="3">
                  <c:v>4º trim.</c:v>
                </c:pt>
              </c:strCache>
            </c:strRef>
          </c:cat>
          <c:val>
            <c:numRef>
              <c:f>Hoja1!$B$2:$B$5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021-469B-96CA-FF6A0E02D9DD}"/>
            </c:ext>
          </c:extLst>
        </c:ser>
        <c:dLbls>
          <c:showLegendKey val="0"/>
          <c:showVal val="0"/>
          <c:showCatName val="0"/>
          <c:showSerName val="0"/>
          <c:showPercent val="0"/>
          <c:showBubbleSize val="0"/>
          <c:showLeaderLines val="1"/>
        </c:dLbls>
        <c:firstSliceAng val="0"/>
      </c:pieChart>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barChart>
        <c:barDir val="bar"/>
        <c:grouping val="stacked"/>
        <c:varyColors val="0"/>
        <c:ser>
          <c:idx val="0"/>
          <c:order val="0"/>
          <c:tx>
            <c:strRef>
              <c:f>Hoja1!$B$1</c:f>
              <c:strCache>
                <c:ptCount val="1"/>
                <c:pt idx="0">
                  <c:v>Serie 1</c:v>
                </c:pt>
              </c:strCache>
            </c:strRef>
          </c:tx>
          <c:spPr>
            <a:solidFill>
              <a:srgbClr val="D30101"/>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883E-41BC-A883-1154F4D5240C}"/>
            </c:ext>
          </c:extLst>
        </c:ser>
        <c:ser>
          <c:idx val="1"/>
          <c:order val="1"/>
          <c:tx>
            <c:strRef>
              <c:f>Hoja1!$C$1</c:f>
              <c:strCache>
                <c:ptCount val="1"/>
                <c:pt idx="0">
                  <c:v>Serie 2</c:v>
                </c:pt>
              </c:strCache>
            </c:strRef>
          </c:tx>
          <c:spPr>
            <a:solidFill>
              <a:srgbClr val="28D2C3"/>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883E-41BC-A883-1154F4D5240C}"/>
            </c:ext>
          </c:extLst>
        </c:ser>
        <c:ser>
          <c:idx val="2"/>
          <c:order val="2"/>
          <c:tx>
            <c:strRef>
              <c:f>Hoja1!$D$1</c:f>
              <c:strCache>
                <c:ptCount val="1"/>
                <c:pt idx="0">
                  <c:v>Serie 3</c:v>
                </c:pt>
              </c:strCache>
            </c:strRef>
          </c:tx>
          <c:spPr>
            <a:solidFill>
              <a:srgbClr val="373C4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883E-41BC-A883-1154F4D5240C}"/>
            </c:ext>
          </c:extLst>
        </c:ser>
        <c:dLbls>
          <c:showLegendKey val="0"/>
          <c:showVal val="0"/>
          <c:showCatName val="0"/>
          <c:showSerName val="0"/>
          <c:showPercent val="0"/>
          <c:showBubbleSize val="0"/>
        </c:dLbls>
        <c:gapWidth val="150"/>
        <c:overlap val="100"/>
        <c:axId val="1890469792"/>
        <c:axId val="1890462112"/>
      </c:barChart>
      <c:catAx>
        <c:axId val="1890469792"/>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890462112"/>
        <c:crosses val="autoZero"/>
        <c:auto val="1"/>
        <c:lblAlgn val="ctr"/>
        <c:lblOffset val="100"/>
        <c:noMultiLvlLbl val="0"/>
      </c:catAx>
      <c:valAx>
        <c:axId val="1890462112"/>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89046979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r>
              <a:rPr lang="es-CL"/>
              <a:t>Gráfico MMQ</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barChart>
        <c:barDir val="col"/>
        <c:grouping val="clustered"/>
        <c:varyColors val="0"/>
        <c:ser>
          <c:idx val="0"/>
          <c:order val="0"/>
          <c:tx>
            <c:strRef>
              <c:f>Hoja1!$B$1</c:f>
              <c:strCache>
                <c:ptCount val="1"/>
                <c:pt idx="0">
                  <c:v>Serie 1</c:v>
                </c:pt>
              </c:strCache>
            </c:strRef>
          </c:tx>
          <c:spPr>
            <a:solidFill>
              <a:srgbClr val="0074BF"/>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C5E-4810-97DA-E5C595CFB7D6}"/>
            </c:ext>
          </c:extLst>
        </c:ser>
        <c:ser>
          <c:idx val="1"/>
          <c:order val="1"/>
          <c:tx>
            <c:strRef>
              <c:f>Hoja1!$C$1</c:f>
              <c:strCache>
                <c:ptCount val="1"/>
                <c:pt idx="0">
                  <c:v>Serie 2</c:v>
                </c:pt>
              </c:strCache>
            </c:strRef>
          </c:tx>
          <c:spPr>
            <a:solidFill>
              <a:srgbClr val="373C4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C5E-4810-97DA-E5C595CFB7D6}"/>
            </c:ext>
          </c:extLst>
        </c:ser>
        <c:ser>
          <c:idx val="2"/>
          <c:order val="2"/>
          <c:tx>
            <c:strRef>
              <c:f>Hoja1!$D$1</c:f>
              <c:strCache>
                <c:ptCount val="1"/>
                <c:pt idx="0">
                  <c:v>Serie 3</c:v>
                </c:pt>
              </c:strCache>
            </c:strRef>
          </c:tx>
          <c:spPr>
            <a:solidFill>
              <a:srgbClr val="FF701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4C5E-4810-97DA-E5C595CFB7D6}"/>
            </c:ext>
          </c:extLst>
        </c:ser>
        <c:dLbls>
          <c:showLegendKey val="0"/>
          <c:showVal val="0"/>
          <c:showCatName val="0"/>
          <c:showSerName val="0"/>
          <c:showPercent val="0"/>
          <c:showBubbleSize val="0"/>
        </c:dLbls>
        <c:gapWidth val="219"/>
        <c:overlap val="-27"/>
        <c:axId val="1719917312"/>
        <c:axId val="1719917792"/>
      </c:barChart>
      <c:catAx>
        <c:axId val="17199173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719917792"/>
        <c:crosses val="autoZero"/>
        <c:auto val="1"/>
        <c:lblAlgn val="ctr"/>
        <c:lblOffset val="100"/>
        <c:noMultiLvlLbl val="0"/>
      </c:catAx>
      <c:valAx>
        <c:axId val="17199177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7199173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pieChart>
        <c:varyColors val="1"/>
        <c:ser>
          <c:idx val="0"/>
          <c:order val="0"/>
          <c:tx>
            <c:strRef>
              <c:f>Hoja1!$B$1</c:f>
              <c:strCache>
                <c:ptCount val="1"/>
                <c:pt idx="0">
                  <c:v>Ventas</c:v>
                </c:pt>
              </c:strCache>
            </c:strRef>
          </c:tx>
          <c:dPt>
            <c:idx val="0"/>
            <c:bubble3D val="0"/>
            <c:spPr>
              <a:solidFill>
                <a:srgbClr val="FF7016"/>
              </a:solidFill>
              <a:ln w="19050">
                <a:solidFill>
                  <a:schemeClr val="lt1"/>
                </a:solidFill>
              </a:ln>
              <a:effectLst/>
            </c:spPr>
            <c:extLst>
              <c:ext xmlns:c16="http://schemas.microsoft.com/office/drawing/2014/chart" uri="{C3380CC4-5D6E-409C-BE32-E72D297353CC}">
                <c16:uniqueId val="{00000001-1981-4F7B-88A8-9F40F24EFCB7}"/>
              </c:ext>
            </c:extLst>
          </c:dPt>
          <c:dPt>
            <c:idx val="1"/>
            <c:bubble3D val="0"/>
            <c:spPr>
              <a:solidFill>
                <a:srgbClr val="0074BF"/>
              </a:solidFill>
              <a:ln w="19050">
                <a:solidFill>
                  <a:schemeClr val="lt1"/>
                </a:solidFill>
              </a:ln>
              <a:effectLst/>
            </c:spPr>
            <c:extLst>
              <c:ext xmlns:c16="http://schemas.microsoft.com/office/drawing/2014/chart" uri="{C3380CC4-5D6E-409C-BE32-E72D297353CC}">
                <c16:uniqueId val="{00000003-1981-4F7B-88A8-9F40F24EFCB7}"/>
              </c:ext>
            </c:extLst>
          </c:dPt>
          <c:dPt>
            <c:idx val="2"/>
            <c:bubble3D val="0"/>
            <c:spPr>
              <a:solidFill>
                <a:srgbClr val="373C46"/>
              </a:solidFill>
              <a:ln w="19050">
                <a:solidFill>
                  <a:schemeClr val="lt1"/>
                </a:solidFill>
              </a:ln>
              <a:effectLst/>
            </c:spPr>
            <c:extLst>
              <c:ext xmlns:c16="http://schemas.microsoft.com/office/drawing/2014/chart" uri="{C3380CC4-5D6E-409C-BE32-E72D297353CC}">
                <c16:uniqueId val="{00000005-1981-4F7B-88A8-9F40F24EFCB7}"/>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1981-4F7B-88A8-9F40F24EFCB7}"/>
              </c:ext>
            </c:extLst>
          </c:dPt>
          <c:cat>
            <c:strRef>
              <c:f>Hoja1!$A$2:$A$5</c:f>
              <c:strCache>
                <c:ptCount val="4"/>
                <c:pt idx="0">
                  <c:v>1er trim.</c:v>
                </c:pt>
                <c:pt idx="1">
                  <c:v>2º trim.</c:v>
                </c:pt>
                <c:pt idx="2">
                  <c:v>3er trim.</c:v>
                </c:pt>
                <c:pt idx="3">
                  <c:v>4º trim.</c:v>
                </c:pt>
              </c:strCache>
            </c:strRef>
          </c:cat>
          <c:val>
            <c:numRef>
              <c:f>Hoja1!$B$2:$B$5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1981-4F7B-88A8-9F40F24EFCB7}"/>
            </c:ext>
          </c:extLst>
        </c:ser>
        <c:dLbls>
          <c:showLegendKey val="0"/>
          <c:showVal val="0"/>
          <c:showCatName val="0"/>
          <c:showSerName val="0"/>
          <c:showPercent val="0"/>
          <c:showBubbleSize val="0"/>
          <c:showLeaderLines val="1"/>
        </c:dLbls>
        <c:firstSliceAng val="0"/>
      </c:pieChart>
      <c:spPr>
        <a:noFill/>
        <a:ln>
          <a:noFill/>
        </a:ln>
        <a:effectLst/>
      </c:spPr>
    </c:plotArea>
    <c:legend>
      <c:legendPos val="b"/>
      <c:legendEntry>
        <c:idx val="3"/>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bg2"/>
              </a:solidFill>
              <a:latin typeface="+mn-lt"/>
              <a:ea typeface="+mn-ea"/>
              <a:cs typeface="+mn-cs"/>
            </a:defRPr>
          </a:pPr>
          <a:endParaRPr lang="es-CL"/>
        </a:p>
      </c:txPr>
    </c:title>
    <c:autoTitleDeleted val="0"/>
    <c:plotArea>
      <c:layout/>
      <c:barChart>
        <c:barDir val="bar"/>
        <c:grouping val="stacked"/>
        <c:varyColors val="0"/>
        <c:ser>
          <c:idx val="0"/>
          <c:order val="0"/>
          <c:tx>
            <c:strRef>
              <c:f>Hoja1!$B$1</c:f>
              <c:strCache>
                <c:ptCount val="1"/>
                <c:pt idx="0">
                  <c:v>Serie 1</c:v>
                </c:pt>
              </c:strCache>
            </c:strRef>
          </c:tx>
          <c:spPr>
            <a:solidFill>
              <a:srgbClr val="FF701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EEBB-4D85-9960-93046E19B42E}"/>
            </c:ext>
          </c:extLst>
        </c:ser>
        <c:ser>
          <c:idx val="1"/>
          <c:order val="1"/>
          <c:tx>
            <c:strRef>
              <c:f>Hoja1!$C$1</c:f>
              <c:strCache>
                <c:ptCount val="1"/>
                <c:pt idx="0">
                  <c:v>Serie 2</c:v>
                </c:pt>
              </c:strCache>
            </c:strRef>
          </c:tx>
          <c:spPr>
            <a:solidFill>
              <a:srgbClr val="373C46"/>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EEBB-4D85-9960-93046E19B42E}"/>
            </c:ext>
          </c:extLst>
        </c:ser>
        <c:ser>
          <c:idx val="2"/>
          <c:order val="2"/>
          <c:tx>
            <c:strRef>
              <c:f>Hoja1!$D$1</c:f>
              <c:strCache>
                <c:ptCount val="1"/>
                <c:pt idx="0">
                  <c:v>Serie 3</c:v>
                </c:pt>
              </c:strCache>
            </c:strRef>
          </c:tx>
          <c:spPr>
            <a:solidFill>
              <a:srgbClr val="0074BF"/>
            </a:solidFill>
            <a:ln>
              <a:noFill/>
            </a:ln>
            <a:effectLst/>
          </c:spPr>
          <c:invertIfNegative val="0"/>
          <c:cat>
            <c:strRef>
              <c:f>Hoja1!$A$2:$A$5</c:f>
              <c:strCache>
                <c:ptCount val="4"/>
                <c:pt idx="0">
                  <c:v>Categoría 1</c:v>
                </c:pt>
                <c:pt idx="1">
                  <c:v>Categoría 2</c:v>
                </c:pt>
                <c:pt idx="2">
                  <c:v>Categoría 3</c:v>
                </c:pt>
                <c:pt idx="3">
                  <c:v>Categoría 4</c:v>
                </c:pt>
              </c:strCache>
            </c:strRef>
          </c:cat>
          <c:val>
            <c:numRef>
              <c:f>Hoja1!$D$2:$D$5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EEBB-4D85-9960-93046E19B42E}"/>
            </c:ext>
          </c:extLst>
        </c:ser>
        <c:dLbls>
          <c:showLegendKey val="0"/>
          <c:showVal val="0"/>
          <c:showCatName val="0"/>
          <c:showSerName val="0"/>
          <c:showPercent val="0"/>
          <c:showBubbleSize val="0"/>
        </c:dLbls>
        <c:gapWidth val="150"/>
        <c:overlap val="100"/>
        <c:axId val="1890447712"/>
        <c:axId val="1890444832"/>
      </c:barChart>
      <c:catAx>
        <c:axId val="1890447712"/>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890444832"/>
        <c:crosses val="autoZero"/>
        <c:auto val="1"/>
        <c:lblAlgn val="ctr"/>
        <c:lblOffset val="100"/>
        <c:noMultiLvlLbl val="0"/>
      </c:catAx>
      <c:valAx>
        <c:axId val="1890444832"/>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crossAx val="18904477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bg2"/>
              </a:solidFill>
              <a:latin typeface="+mn-lt"/>
              <a:ea typeface="+mn-ea"/>
              <a:cs typeface="+mn-cs"/>
            </a:defRPr>
          </a:pPr>
          <a:endParaRPr lang="es-C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chemeClr val="bg2"/>
          </a:solidFill>
        </a:defRPr>
      </a:pPr>
      <a:endParaRPr lang="es-C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914400"/>
            <a:ext cx="4572225" cy="4572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5791200"/>
            <a:ext cx="5486400" cy="54864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0" name="Google Shape;210;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211" name="Google Shape;211;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s-CL" sz="1200" b="0" i="0" u="none" strike="noStrike" cap="none">
                <a:solidFill>
                  <a:srgbClr val="000000"/>
                </a:solidFill>
                <a:latin typeface="Calibri"/>
                <a:ea typeface="Calibri"/>
                <a:cs typeface="Calibri"/>
                <a:sym typeface="Calibri"/>
              </a:rPr>
              <a:t>1</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2: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E59A421F-4CA2-E1A1-9DA2-72155C5B2230}"/>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2051CA14-26EF-F3C9-0A8E-4B54FF726CA7}"/>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0BB64A1D-6677-25EA-F54A-6E1F52E1FBDC}"/>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99684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901CC8C9-3BBE-A303-D516-02AF57A53CF3}"/>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3229FA16-45CE-4F90-A0DC-A41C16A3AD40}"/>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9F3E5F29-4E15-64C8-2F90-823F82EAAA7D}"/>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802938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p4: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3" name="Google Shape;233;p4: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8F1DD641-7095-D9DC-B95B-67530045BA18}"/>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1E657416-B473-1D6E-838D-349D792C75E4}"/>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0A407143-9587-137E-94DC-57210FAD99DB}"/>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679654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p6: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6" name="Google Shape;246;p6: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p7: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3" name="Google Shape;253;p7: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p8: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0" name="Google Shape;260;p8: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9: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7" name="Google Shape;267;p9: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0: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9" name="Google Shape;279;p10: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p11: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6" name="Google Shape;286;p11: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DF812BA8-8D1C-6CBC-D932-8F59A8C5B7A7}"/>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1E091DAA-B098-7C5A-A182-36729EEAA438}"/>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E611C7AA-5802-3FB1-4504-5CB07EB26745}"/>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12199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p13: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9" name="Google Shape;299;p13: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14: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6" name="Google Shape;306;p14: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2D4F856A-CE99-7485-A0B7-8FD7B4290A1E}"/>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49798AB8-413A-3F2C-7F96-5702B44E09A3}"/>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F6FE5AA7-DC92-D325-2CE7-A9D520B12300}"/>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81538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p16:notes"/>
          <p:cNvSpPr>
            <a:spLocks noGrp="1" noRot="1" noChangeAspect="1"/>
          </p:cNvSpPr>
          <p:nvPr>
            <p:ph type="sldImg" idx="2"/>
          </p:nvPr>
        </p:nvSpPr>
        <p:spPr>
          <a:xfrm>
            <a:off x="-228600" y="1524000"/>
            <a:ext cx="7315200" cy="41148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19" name="Google Shape;319;p16:notes"/>
          <p:cNvSpPr txBox="1">
            <a:spLocks noGrp="1"/>
          </p:cNvSpPr>
          <p:nvPr>
            <p:ph type="body" idx="1"/>
          </p:nvPr>
        </p:nvSpPr>
        <p:spPr>
          <a:xfrm>
            <a:off x="685800" y="5867400"/>
            <a:ext cx="5486400" cy="48006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p17: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6" name="Google Shape;326;p17: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p18: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2" name="Google Shape;332;p18: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p19: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8" name="Google Shape;338;p19: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20: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46" name="Google Shape;346;p20: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1"/>
        <p:cNvGrpSpPr/>
        <p:nvPr/>
      </p:nvGrpSpPr>
      <p:grpSpPr>
        <a:xfrm>
          <a:off x="0" y="0"/>
          <a:ext cx="0" cy="0"/>
          <a:chOff x="0" y="0"/>
          <a:chExt cx="0" cy="0"/>
        </a:xfrm>
      </p:grpSpPr>
      <p:sp>
        <p:nvSpPr>
          <p:cNvPr id="352" name="Google Shape;352;p21: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3" name="Google Shape;353;p21: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p22: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9" name="Google Shape;359;p22: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139CA8C5-7832-719D-4525-A04BD67ABA1B}"/>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95E48C49-D6A2-6231-ACBC-6B79FC984FA9}"/>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F5A4FFDF-8D6C-E6D3-CC6E-380480A9BDE0}"/>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158515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1">
          <a:extLst>
            <a:ext uri="{FF2B5EF4-FFF2-40B4-BE49-F238E27FC236}">
              <a16:creationId xmlns:a16="http://schemas.microsoft.com/office/drawing/2014/main" id="{9B254619-6DCD-9132-125E-CD575829F047}"/>
            </a:ext>
          </a:extLst>
        </p:cNvPr>
        <p:cNvGrpSpPr/>
        <p:nvPr/>
      </p:nvGrpSpPr>
      <p:grpSpPr>
        <a:xfrm>
          <a:off x="0" y="0"/>
          <a:ext cx="0" cy="0"/>
          <a:chOff x="0" y="0"/>
          <a:chExt cx="0" cy="0"/>
        </a:xfrm>
      </p:grpSpPr>
      <p:sp>
        <p:nvSpPr>
          <p:cNvPr id="372" name="Google Shape;372;p24:notes">
            <a:extLst>
              <a:ext uri="{FF2B5EF4-FFF2-40B4-BE49-F238E27FC236}">
                <a16:creationId xmlns:a16="http://schemas.microsoft.com/office/drawing/2014/main" id="{B6039DC2-D822-FF10-70A0-74AA1E2A1A98}"/>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3" name="Google Shape;373;p24:notes">
            <a:extLst>
              <a:ext uri="{FF2B5EF4-FFF2-40B4-BE49-F238E27FC236}">
                <a16:creationId xmlns:a16="http://schemas.microsoft.com/office/drawing/2014/main" id="{2D9F2CA5-7842-21B0-99C0-660FFEBCBFE4}"/>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010489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1"/>
        <p:cNvGrpSpPr/>
        <p:nvPr/>
      </p:nvGrpSpPr>
      <p:grpSpPr>
        <a:xfrm>
          <a:off x="0" y="0"/>
          <a:ext cx="0" cy="0"/>
          <a:chOff x="0" y="0"/>
          <a:chExt cx="0" cy="0"/>
        </a:xfrm>
      </p:grpSpPr>
      <p:sp>
        <p:nvSpPr>
          <p:cNvPr id="372" name="Google Shape;372;p24: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3" name="Google Shape;373;p24: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p25: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0" name="Google Shape;380;p25: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p26: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9" name="Google Shape;389;p26: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B3FE2F9C-C37B-D809-F0A7-B9EDC9561C7B}"/>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F26668F6-455A-E2AE-B96A-EE4B159D6109}"/>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65244A88-E7C8-1E08-7C90-7BB8648CFD83}"/>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189408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p28: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3" name="Google Shape;403;p28: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7"/>
        <p:cNvGrpSpPr/>
        <p:nvPr/>
      </p:nvGrpSpPr>
      <p:grpSpPr>
        <a:xfrm>
          <a:off x="0" y="0"/>
          <a:ext cx="0" cy="0"/>
          <a:chOff x="0" y="0"/>
          <a:chExt cx="0" cy="0"/>
        </a:xfrm>
      </p:grpSpPr>
      <p:sp>
        <p:nvSpPr>
          <p:cNvPr id="408" name="Google Shape;408;p29: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9" name="Google Shape;409;p29: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C264797E-343C-EFAC-E5E4-7144913B32B3}"/>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C8C2F813-C534-59D2-72DD-5024AA38AEA2}"/>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93CADE64-C5C5-C88F-E7FF-1A6929F28C3F}"/>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383728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0"/>
        <p:cNvGrpSpPr/>
        <p:nvPr/>
      </p:nvGrpSpPr>
      <p:grpSpPr>
        <a:xfrm>
          <a:off x="0" y="0"/>
          <a:ext cx="0" cy="0"/>
          <a:chOff x="0" y="0"/>
          <a:chExt cx="0" cy="0"/>
        </a:xfrm>
      </p:grpSpPr>
      <p:sp>
        <p:nvSpPr>
          <p:cNvPr id="421" name="Google Shape;421;p31: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2" name="Google Shape;422;p31: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8"/>
        <p:cNvGrpSpPr/>
        <p:nvPr/>
      </p:nvGrpSpPr>
      <p:grpSpPr>
        <a:xfrm>
          <a:off x="0" y="0"/>
          <a:ext cx="0" cy="0"/>
          <a:chOff x="0" y="0"/>
          <a:chExt cx="0" cy="0"/>
        </a:xfrm>
      </p:grpSpPr>
      <p:sp>
        <p:nvSpPr>
          <p:cNvPr id="429" name="Google Shape;429;p32: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0" name="Google Shape;430;p32: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p33: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6" name="Google Shape;436;p33: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p3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42" name="Google Shape;442;p3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443" name="Google Shape;443;p3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s-CL" sz="1200" b="0" i="0" u="none" strike="noStrike" cap="none">
                <a:solidFill>
                  <a:srgbClr val="000000"/>
                </a:solidFill>
                <a:latin typeface="Calibri"/>
                <a:ea typeface="Calibri"/>
                <a:cs typeface="Calibri"/>
                <a:sym typeface="Calibri"/>
              </a:rPr>
              <a:t>36</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1C1C0580-06A1-D21B-6BAF-47B6D45BFE79}"/>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F14091CE-3F58-99B0-737A-8368A51EDE29}"/>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CA807973-82CF-CEC7-5A8E-69431D90A9AC}"/>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839337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a:extLst>
            <a:ext uri="{FF2B5EF4-FFF2-40B4-BE49-F238E27FC236}">
              <a16:creationId xmlns:a16="http://schemas.microsoft.com/office/drawing/2014/main" id="{3369F362-F4C6-12B7-ECD1-D308B4865564}"/>
            </a:ext>
          </a:extLst>
        </p:cNvPr>
        <p:cNvGrpSpPr/>
        <p:nvPr/>
      </p:nvGrpSpPr>
      <p:grpSpPr>
        <a:xfrm>
          <a:off x="0" y="0"/>
          <a:ext cx="0" cy="0"/>
          <a:chOff x="0" y="0"/>
          <a:chExt cx="0" cy="0"/>
        </a:xfrm>
      </p:grpSpPr>
      <p:sp>
        <p:nvSpPr>
          <p:cNvPr id="451" name="Google Shape;451;p35:notes">
            <a:extLst>
              <a:ext uri="{FF2B5EF4-FFF2-40B4-BE49-F238E27FC236}">
                <a16:creationId xmlns:a16="http://schemas.microsoft.com/office/drawing/2014/main" id="{CCC00660-C0B5-16F5-DBB0-0BEC2816AD1F}"/>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2" name="Google Shape;452;p35:notes">
            <a:extLst>
              <a:ext uri="{FF2B5EF4-FFF2-40B4-BE49-F238E27FC236}">
                <a16:creationId xmlns:a16="http://schemas.microsoft.com/office/drawing/2014/main" id="{F2BBD5C8-1637-4A7F-AFAC-5C519EE45217}"/>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2199062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a:extLst>
            <a:ext uri="{FF2B5EF4-FFF2-40B4-BE49-F238E27FC236}">
              <a16:creationId xmlns:a16="http://schemas.microsoft.com/office/drawing/2014/main" id="{902A4361-7816-9769-1B48-A43D40355D7F}"/>
            </a:ext>
          </a:extLst>
        </p:cNvPr>
        <p:cNvGrpSpPr/>
        <p:nvPr/>
      </p:nvGrpSpPr>
      <p:grpSpPr>
        <a:xfrm>
          <a:off x="0" y="0"/>
          <a:ext cx="0" cy="0"/>
          <a:chOff x="0" y="0"/>
          <a:chExt cx="0" cy="0"/>
        </a:xfrm>
      </p:grpSpPr>
      <p:sp>
        <p:nvSpPr>
          <p:cNvPr id="219" name="Google Shape;219;p2:notes">
            <a:extLst>
              <a:ext uri="{FF2B5EF4-FFF2-40B4-BE49-F238E27FC236}">
                <a16:creationId xmlns:a16="http://schemas.microsoft.com/office/drawing/2014/main" id="{FC72461D-B107-E55D-3125-DE745FFA81C3}"/>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0" name="Google Shape;220;p2:notes">
            <a:extLst>
              <a:ext uri="{FF2B5EF4-FFF2-40B4-BE49-F238E27FC236}">
                <a16:creationId xmlns:a16="http://schemas.microsoft.com/office/drawing/2014/main" id="{F454DDC4-8FCB-58B3-49DB-E95E74B3ACAD}"/>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773744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p35: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2" name="Google Shape;452;p35: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p36: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7" name="Google Shape;467;p36: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p37: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0" name="Google Shape;480;p37: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a:extLst>
            <a:ext uri="{FF2B5EF4-FFF2-40B4-BE49-F238E27FC236}">
              <a16:creationId xmlns:a16="http://schemas.microsoft.com/office/drawing/2014/main" id="{4D19BCD7-460F-C3A9-42ED-1B4C9B701CCB}"/>
            </a:ext>
          </a:extLst>
        </p:cNvPr>
        <p:cNvGrpSpPr/>
        <p:nvPr/>
      </p:nvGrpSpPr>
      <p:grpSpPr>
        <a:xfrm>
          <a:off x="0" y="0"/>
          <a:ext cx="0" cy="0"/>
          <a:chOff x="0" y="0"/>
          <a:chExt cx="0" cy="0"/>
        </a:xfrm>
      </p:grpSpPr>
      <p:sp>
        <p:nvSpPr>
          <p:cNvPr id="451" name="Google Shape;451;p35:notes">
            <a:extLst>
              <a:ext uri="{FF2B5EF4-FFF2-40B4-BE49-F238E27FC236}">
                <a16:creationId xmlns:a16="http://schemas.microsoft.com/office/drawing/2014/main" id="{E0E8FF5D-C204-8CCD-E5ED-A6FEB001C944}"/>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2" name="Google Shape;452;p35:notes">
            <a:extLst>
              <a:ext uri="{FF2B5EF4-FFF2-40B4-BE49-F238E27FC236}">
                <a16:creationId xmlns:a16="http://schemas.microsoft.com/office/drawing/2014/main" id="{5E240E1C-F265-B7A7-FF9E-9D04E7CF070F}"/>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116750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a:extLst>
            <a:ext uri="{FF2B5EF4-FFF2-40B4-BE49-F238E27FC236}">
              <a16:creationId xmlns:a16="http://schemas.microsoft.com/office/drawing/2014/main" id="{C3475810-034E-1D38-8066-83DD8B76F0EF}"/>
            </a:ext>
          </a:extLst>
        </p:cNvPr>
        <p:cNvGrpSpPr/>
        <p:nvPr/>
      </p:nvGrpSpPr>
      <p:grpSpPr>
        <a:xfrm>
          <a:off x="0" y="0"/>
          <a:ext cx="0" cy="0"/>
          <a:chOff x="0" y="0"/>
          <a:chExt cx="0" cy="0"/>
        </a:xfrm>
      </p:grpSpPr>
      <p:sp>
        <p:nvSpPr>
          <p:cNvPr id="451" name="Google Shape;451;p35:notes">
            <a:extLst>
              <a:ext uri="{FF2B5EF4-FFF2-40B4-BE49-F238E27FC236}">
                <a16:creationId xmlns:a16="http://schemas.microsoft.com/office/drawing/2014/main" id="{304EA81B-82B8-BEBE-742D-70E1EF542AAF}"/>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2" name="Google Shape;452;p35:notes">
            <a:extLst>
              <a:ext uri="{FF2B5EF4-FFF2-40B4-BE49-F238E27FC236}">
                <a16:creationId xmlns:a16="http://schemas.microsoft.com/office/drawing/2014/main" id="{45E7B4B2-E67D-583F-3610-853AE2F8D407}"/>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12678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9A040A0C-4AE3-D3B3-B9C9-8320050ECE8C}"/>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82122D5A-581F-8EB0-7229-976151816302}"/>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AD0DD008-DFDF-44D6-6687-246DDAB2F931}"/>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9476074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33E40192-3A1D-4366-84BE-08D1B996CD9D}"/>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B139E11E-E640-58D2-8319-DBE811A48E2E}"/>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679EBFEA-B961-64B5-3BF8-631C10C31501}"/>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04123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A81DE44A-C7F4-1F95-7671-83DC70C7A442}"/>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CF94DC9C-4FD9-7F7E-59A5-569518E6BE32}"/>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45E7E4B9-351F-DF7F-11BF-D25EC20E5ED6}"/>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6285394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a:extLst>
            <a:ext uri="{FF2B5EF4-FFF2-40B4-BE49-F238E27FC236}">
              <a16:creationId xmlns:a16="http://schemas.microsoft.com/office/drawing/2014/main" id="{62CC34D9-0734-5C9E-D62E-7A46C7CD3A91}"/>
            </a:ext>
          </a:extLst>
        </p:cNvPr>
        <p:cNvGrpSpPr/>
        <p:nvPr/>
      </p:nvGrpSpPr>
      <p:grpSpPr>
        <a:xfrm>
          <a:off x="0" y="0"/>
          <a:ext cx="0" cy="0"/>
          <a:chOff x="0" y="0"/>
          <a:chExt cx="0" cy="0"/>
        </a:xfrm>
      </p:grpSpPr>
      <p:sp>
        <p:nvSpPr>
          <p:cNvPr id="451" name="Google Shape;451;p35:notes">
            <a:extLst>
              <a:ext uri="{FF2B5EF4-FFF2-40B4-BE49-F238E27FC236}">
                <a16:creationId xmlns:a16="http://schemas.microsoft.com/office/drawing/2014/main" id="{ADB0B909-218B-A01F-CA15-2F15C8FB3226}"/>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2" name="Google Shape;452;p35:notes">
            <a:extLst>
              <a:ext uri="{FF2B5EF4-FFF2-40B4-BE49-F238E27FC236}">
                <a16:creationId xmlns:a16="http://schemas.microsoft.com/office/drawing/2014/main" id="{28C4D9A6-7C76-A681-ED4C-7B1DA49AFF5E}"/>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936864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38172DA3-DFD9-E168-517B-C3E6192E80B5}"/>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230230BB-F85E-DA70-A891-1467EC19F124}"/>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89725F19-BA93-F179-574E-F3EC21CBC44F}"/>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371900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5CBBBD0C-C0C6-EBEF-82F6-FA149EDA0C6E}"/>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13BD9216-1A83-001B-C379-B7980F592219}"/>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A76B1CF5-E37B-AABE-B3DF-66AD1FE739A2}"/>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7152061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6703C874-2927-EA1F-A6D3-2F8D188C71A9}"/>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F818EB23-DA8A-A1F4-A2D3-1D733B8E0851}"/>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3A3FF3B6-6B2C-A851-4EAA-3760BCE2CA4F}"/>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313774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35000" y="914400"/>
            <a:ext cx="8128000" cy="4572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35000" y="914400"/>
            <a:ext cx="8128000" cy="4572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a:extLst>
            <a:ext uri="{FF2B5EF4-FFF2-40B4-BE49-F238E27FC236}">
              <a16:creationId xmlns:a16="http://schemas.microsoft.com/office/drawing/2014/main" id="{F6E491FB-393E-FB99-89BC-A07EBA17E703}"/>
            </a:ext>
          </a:extLst>
        </p:cNvPr>
        <p:cNvGrpSpPr/>
        <p:nvPr/>
      </p:nvGrpSpPr>
      <p:grpSpPr>
        <a:xfrm>
          <a:off x="0" y="0"/>
          <a:ext cx="0" cy="0"/>
          <a:chOff x="0" y="0"/>
          <a:chExt cx="0" cy="0"/>
        </a:xfrm>
      </p:grpSpPr>
      <p:sp>
        <p:nvSpPr>
          <p:cNvPr id="511" name="Google Shape;511;p41:notes">
            <a:extLst>
              <a:ext uri="{FF2B5EF4-FFF2-40B4-BE49-F238E27FC236}">
                <a16:creationId xmlns:a16="http://schemas.microsoft.com/office/drawing/2014/main" id="{76D2F70E-4E83-C183-AC5A-40560FC86C67}"/>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a:extLst>
              <a:ext uri="{FF2B5EF4-FFF2-40B4-BE49-F238E27FC236}">
                <a16:creationId xmlns:a16="http://schemas.microsoft.com/office/drawing/2014/main" id="{8A38DE57-A197-6686-41DF-F9782C82BF3A}"/>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649568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p5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4" name="Google Shape;624;p5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625" name="Google Shape;625;p5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rgbClr val="000000"/>
              </a:buClr>
              <a:buSzPts val="1200"/>
              <a:buFont typeface="Calibri"/>
              <a:buNone/>
            </a:pPr>
            <a:fld id="{00000000-1234-1234-1234-123412341234}" type="slidenum">
              <a:rPr lang="es-CL" sz="1200" b="0" i="0" u="none" strike="noStrike" cap="none">
                <a:solidFill>
                  <a:srgbClr val="000000"/>
                </a:solidFill>
                <a:latin typeface="Calibri"/>
                <a:ea typeface="Calibri"/>
                <a:cs typeface="Calibri"/>
                <a:sym typeface="Calibri"/>
              </a:rPr>
              <a:t>55</a:t>
            </a:fld>
            <a:endParaRPr sz="1200" b="0" i="0" u="none" strike="noStrike" cap="none">
              <a:solidFill>
                <a:srgbClr val="000000"/>
              </a:solidFill>
              <a:latin typeface="Calibri"/>
              <a:ea typeface="Calibri"/>
              <a:cs typeface="Calibri"/>
              <a:sym typeface="Calibri"/>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a:extLst>
            <a:ext uri="{FF2B5EF4-FFF2-40B4-BE49-F238E27FC236}">
              <a16:creationId xmlns:a16="http://schemas.microsoft.com/office/drawing/2014/main" id="{F4E92A06-1476-0A30-0482-AD4253CFB62F}"/>
            </a:ext>
          </a:extLst>
        </p:cNvPr>
        <p:cNvGrpSpPr/>
        <p:nvPr/>
      </p:nvGrpSpPr>
      <p:grpSpPr>
        <a:xfrm>
          <a:off x="0" y="0"/>
          <a:ext cx="0" cy="0"/>
          <a:chOff x="0" y="0"/>
          <a:chExt cx="0" cy="0"/>
        </a:xfrm>
      </p:grpSpPr>
      <p:sp>
        <p:nvSpPr>
          <p:cNvPr id="486" name="Google Shape;486;p38:notes">
            <a:extLst>
              <a:ext uri="{FF2B5EF4-FFF2-40B4-BE49-F238E27FC236}">
                <a16:creationId xmlns:a16="http://schemas.microsoft.com/office/drawing/2014/main" id="{F6495F03-0AC8-88A5-2EB7-45FAE1723BD8}"/>
              </a:ext>
            </a:extLst>
          </p:cNvPr>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7" name="Google Shape;487;p38:notes">
            <a:extLst>
              <a:ext uri="{FF2B5EF4-FFF2-40B4-BE49-F238E27FC236}">
                <a16:creationId xmlns:a16="http://schemas.microsoft.com/office/drawing/2014/main" id="{82B99D5C-99E9-7214-FAC7-7DE6D32E4EC2}"/>
              </a:ext>
            </a:extLst>
          </p:cNvPr>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6905212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p38: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7" name="Google Shape;487;p38: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4"/>
        <p:cNvGrpSpPr/>
        <p:nvPr/>
      </p:nvGrpSpPr>
      <p:grpSpPr>
        <a:xfrm>
          <a:off x="0" y="0"/>
          <a:ext cx="0" cy="0"/>
          <a:chOff x="0" y="0"/>
          <a:chExt cx="0" cy="0"/>
        </a:xfrm>
      </p:grpSpPr>
      <p:sp>
        <p:nvSpPr>
          <p:cNvPr id="495" name="Google Shape;495;p39: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96" name="Google Shape;496;p39: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40: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04" name="Google Shape;504;p40: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p:cNvGrpSpPr/>
        <p:nvPr/>
      </p:nvGrpSpPr>
      <p:grpSpPr>
        <a:xfrm>
          <a:off x="0" y="0"/>
          <a:ext cx="0" cy="0"/>
          <a:chOff x="0" y="0"/>
          <a:chExt cx="0" cy="0"/>
        </a:xfrm>
      </p:grpSpPr>
      <p:sp>
        <p:nvSpPr>
          <p:cNvPr id="511" name="Google Shape;511;p41: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2" name="Google Shape;512;p41: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p:cNvGrpSpPr/>
        <p:nvPr/>
      </p:nvGrpSpPr>
      <p:grpSpPr>
        <a:xfrm>
          <a:off x="0" y="0"/>
          <a:ext cx="0" cy="0"/>
          <a:chOff x="0" y="0"/>
          <a:chExt cx="0" cy="0"/>
        </a:xfrm>
      </p:grpSpPr>
      <p:sp>
        <p:nvSpPr>
          <p:cNvPr id="519" name="Google Shape;519;p42: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0" name="Google Shape;520;p42: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6"/>
        <p:cNvGrpSpPr/>
        <p:nvPr/>
      </p:nvGrpSpPr>
      <p:grpSpPr>
        <a:xfrm>
          <a:off x="0" y="0"/>
          <a:ext cx="0" cy="0"/>
          <a:chOff x="0" y="0"/>
          <a:chExt cx="0" cy="0"/>
        </a:xfrm>
      </p:grpSpPr>
      <p:sp>
        <p:nvSpPr>
          <p:cNvPr id="527" name="Google Shape;527;p43: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8" name="Google Shape;528;p43: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
        <p:cNvGrpSpPr/>
        <p:nvPr/>
      </p:nvGrpSpPr>
      <p:grpSpPr>
        <a:xfrm>
          <a:off x="0" y="0"/>
          <a:ext cx="0" cy="0"/>
          <a:chOff x="0" y="0"/>
          <a:chExt cx="0" cy="0"/>
        </a:xfrm>
      </p:grpSpPr>
      <p:sp>
        <p:nvSpPr>
          <p:cNvPr id="535" name="Google Shape;535;p44: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6" name="Google Shape;536;p44: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2"/>
        <p:cNvGrpSpPr/>
        <p:nvPr/>
      </p:nvGrpSpPr>
      <p:grpSpPr>
        <a:xfrm>
          <a:off x="0" y="0"/>
          <a:ext cx="0" cy="0"/>
          <a:chOff x="0" y="0"/>
          <a:chExt cx="0" cy="0"/>
        </a:xfrm>
      </p:grpSpPr>
      <p:sp>
        <p:nvSpPr>
          <p:cNvPr id="543" name="Google Shape;543;p45: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4" name="Google Shape;544;p45: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0"/>
        <p:cNvGrpSpPr/>
        <p:nvPr/>
      </p:nvGrpSpPr>
      <p:grpSpPr>
        <a:xfrm>
          <a:off x="0" y="0"/>
          <a:ext cx="0" cy="0"/>
          <a:chOff x="0" y="0"/>
          <a:chExt cx="0" cy="0"/>
        </a:xfrm>
      </p:grpSpPr>
      <p:sp>
        <p:nvSpPr>
          <p:cNvPr id="551" name="Google Shape;551;p46: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52" name="Google Shape;552;p46: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8"/>
        <p:cNvGrpSpPr/>
        <p:nvPr/>
      </p:nvGrpSpPr>
      <p:grpSpPr>
        <a:xfrm>
          <a:off x="0" y="0"/>
          <a:ext cx="0" cy="0"/>
          <a:chOff x="0" y="0"/>
          <a:chExt cx="0" cy="0"/>
        </a:xfrm>
      </p:grpSpPr>
      <p:sp>
        <p:nvSpPr>
          <p:cNvPr id="559" name="Google Shape;559;p47: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60" name="Google Shape;560;p47: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6"/>
        <p:cNvGrpSpPr/>
        <p:nvPr/>
      </p:nvGrpSpPr>
      <p:grpSpPr>
        <a:xfrm>
          <a:off x="0" y="0"/>
          <a:ext cx="0" cy="0"/>
          <a:chOff x="0" y="0"/>
          <a:chExt cx="0" cy="0"/>
        </a:xfrm>
      </p:grpSpPr>
      <p:sp>
        <p:nvSpPr>
          <p:cNvPr id="567" name="Google Shape;567;p48: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68" name="Google Shape;568;p48: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p49: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76" name="Google Shape;576;p49: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2"/>
        <p:cNvGrpSpPr/>
        <p:nvPr/>
      </p:nvGrpSpPr>
      <p:grpSpPr>
        <a:xfrm>
          <a:off x="0" y="0"/>
          <a:ext cx="0" cy="0"/>
          <a:chOff x="0" y="0"/>
          <a:chExt cx="0" cy="0"/>
        </a:xfrm>
      </p:grpSpPr>
      <p:sp>
        <p:nvSpPr>
          <p:cNvPr id="583" name="Google Shape;583;p50: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84" name="Google Shape;584;p50: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0"/>
        <p:cNvGrpSpPr/>
        <p:nvPr/>
      </p:nvGrpSpPr>
      <p:grpSpPr>
        <a:xfrm>
          <a:off x="0" y="0"/>
          <a:ext cx="0" cy="0"/>
          <a:chOff x="0" y="0"/>
          <a:chExt cx="0" cy="0"/>
        </a:xfrm>
      </p:grpSpPr>
      <p:sp>
        <p:nvSpPr>
          <p:cNvPr id="591" name="Google Shape;591;p51: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92" name="Google Shape;592;p51: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8"/>
        <p:cNvGrpSpPr/>
        <p:nvPr/>
      </p:nvGrpSpPr>
      <p:grpSpPr>
        <a:xfrm>
          <a:off x="0" y="0"/>
          <a:ext cx="0" cy="0"/>
          <a:chOff x="0" y="0"/>
          <a:chExt cx="0" cy="0"/>
        </a:xfrm>
      </p:grpSpPr>
      <p:sp>
        <p:nvSpPr>
          <p:cNvPr id="599" name="Google Shape;599;p52: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00" name="Google Shape;600;p52: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p53: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08" name="Google Shape;608;p53: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p54: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16" name="Google Shape;616;p54: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2"/>
        <p:cNvGrpSpPr/>
        <p:nvPr/>
      </p:nvGrpSpPr>
      <p:grpSpPr>
        <a:xfrm>
          <a:off x="0" y="0"/>
          <a:ext cx="0" cy="0"/>
          <a:chOff x="0" y="0"/>
          <a:chExt cx="0" cy="0"/>
        </a:xfrm>
      </p:grpSpPr>
      <p:sp>
        <p:nvSpPr>
          <p:cNvPr id="633" name="Google Shape;633;p56: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34" name="Google Shape;634;p56:notes"/>
          <p:cNvSpPr>
            <a:spLocks noGrp="1" noRot="1" noChangeAspect="1"/>
          </p:cNvSpPr>
          <p:nvPr>
            <p:ph type="sldImg" idx="2"/>
          </p:nvPr>
        </p:nvSpPr>
        <p:spPr>
          <a:xfrm>
            <a:off x="1143225" y="914400"/>
            <a:ext cx="4572225"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35000" y="914400"/>
            <a:ext cx="8128000" cy="4572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35000" y="914400"/>
            <a:ext cx="8128000" cy="4572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35000" y="914400"/>
            <a:ext cx="8128000" cy="4572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9"/>
        <p:cNvGrpSpPr/>
        <p:nvPr/>
      </p:nvGrpSpPr>
      <p:grpSpPr>
        <a:xfrm>
          <a:off x="0" y="0"/>
          <a:ext cx="0" cy="0"/>
          <a:chOff x="0" y="0"/>
          <a:chExt cx="0" cy="0"/>
        </a:xfrm>
      </p:grpSpPr>
      <p:sp>
        <p:nvSpPr>
          <p:cNvPr id="670" name="Google Shape;670;p5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1" name="Google Shape;671;p5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672" name="Google Shape;672;p5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s-CL" sz="1800">
                <a:solidFill>
                  <a:schemeClr val="dk1"/>
                </a:solidFill>
                <a:latin typeface="Calibri"/>
                <a:ea typeface="Calibri"/>
                <a:cs typeface="Calibri"/>
                <a:sym typeface="Calibri"/>
              </a:rPr>
              <a:t>78</a:t>
            </a:fld>
            <a:endParaRPr sz="1800">
              <a:solidFill>
                <a:schemeClr val="dk1"/>
              </a:solidFill>
              <a:latin typeface="Calibri"/>
              <a:ea typeface="Calibri"/>
              <a:cs typeface="Calibri"/>
              <a:sym typeface="Calibri"/>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2"/>
        <p:cNvGrpSpPr/>
        <p:nvPr/>
      </p:nvGrpSpPr>
      <p:grpSpPr>
        <a:xfrm>
          <a:off x="0" y="0"/>
          <a:ext cx="0" cy="0"/>
          <a:chOff x="0" y="0"/>
          <a:chExt cx="0" cy="0"/>
        </a:xfrm>
      </p:grpSpPr>
      <p:sp>
        <p:nvSpPr>
          <p:cNvPr id="773" name="Google Shape;773;p58: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74" name="Google Shape;774;p58:notes"/>
          <p:cNvSpPr>
            <a:spLocks noGrp="1" noRot="1" noChangeAspect="1"/>
          </p:cNvSpPr>
          <p:nvPr>
            <p:ph type="sldImg" idx="2"/>
          </p:nvPr>
        </p:nvSpPr>
        <p:spPr>
          <a:xfrm>
            <a:off x="1143225" y="914400"/>
            <a:ext cx="4572225"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0"/>
        <p:cNvGrpSpPr/>
        <p:nvPr/>
      </p:nvGrpSpPr>
      <p:grpSpPr>
        <a:xfrm>
          <a:off x="0" y="0"/>
          <a:ext cx="0" cy="0"/>
          <a:chOff x="0" y="0"/>
          <a:chExt cx="0" cy="0"/>
        </a:xfrm>
      </p:grpSpPr>
      <p:sp>
        <p:nvSpPr>
          <p:cNvPr id="791" name="Google Shape;791;p59:notes"/>
          <p:cNvSpPr txBox="1">
            <a:spLocks noGrp="1"/>
          </p:cNvSpPr>
          <p:nvPr>
            <p:ph type="body" idx="1"/>
          </p:nvPr>
        </p:nvSpPr>
        <p:spPr>
          <a:xfrm>
            <a:off x="685800" y="5791200"/>
            <a:ext cx="5486400" cy="5486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92" name="Google Shape;792;p59:notes"/>
          <p:cNvSpPr>
            <a:spLocks noGrp="1" noRot="1" noChangeAspect="1"/>
          </p:cNvSpPr>
          <p:nvPr>
            <p:ph type="sldImg" idx="2"/>
          </p:nvPr>
        </p:nvSpPr>
        <p:spPr>
          <a:xfrm>
            <a:off x="-635000" y="914400"/>
            <a:ext cx="8128000" cy="4572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p6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6" name="Google Shape;806;p6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807" name="Google Shape;807;p6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Calibri"/>
              <a:buNone/>
            </a:pPr>
            <a:fld id="{00000000-1234-1234-1234-123412341234}" type="slidenum">
              <a:rPr lang="es-CL" sz="1800" b="0" i="0" u="none" strike="noStrike" cap="none">
                <a:solidFill>
                  <a:srgbClr val="000000"/>
                </a:solidFill>
                <a:latin typeface="Calibri"/>
                <a:ea typeface="Calibri"/>
                <a:cs typeface="Calibri"/>
                <a:sym typeface="Calibri"/>
              </a:rPr>
              <a:t>81</a:t>
            </a:fld>
            <a:endParaRPr sz="1800" b="0" i="0" u="none" strike="noStrike" cap="none">
              <a:solidFill>
                <a:srgbClr val="000000"/>
              </a:solidFill>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 Id="rId4" Type="http://schemas.openxmlformats.org/officeDocument/2006/relationships/image" Target="../media/image5.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Master" Target="../slideMasters/slideMaster2.xml"/><Relationship Id="rId4"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png"/><Relationship Id="rId1" Type="http://schemas.openxmlformats.org/officeDocument/2006/relationships/slideMaster" Target="../slideMasters/slideMaster2.xml"/><Relationship Id="rId4" Type="http://schemas.openxmlformats.org/officeDocument/2006/relationships/image" Target="../media/image10.pn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8.png"/><Relationship Id="rId2" Type="http://schemas.openxmlformats.org/officeDocument/2006/relationships/image" Target="../media/image14.png"/><Relationship Id="rId1" Type="http://schemas.openxmlformats.org/officeDocument/2006/relationships/slideMaster" Target="../slideMasters/slideMaster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4.png"/><Relationship Id="rId1" Type="http://schemas.openxmlformats.org/officeDocument/2006/relationships/slideMaster" Target="../slideMasters/slideMaster2.xml"/><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Master" Target="../slideMasters/slideMaster2.xml"/><Relationship Id="rId4" Type="http://schemas.openxmlformats.org/officeDocument/2006/relationships/image" Target="../media/image21.png"/></Relationships>
</file>

<file path=ppt/slideLayouts/_rels/slideLayout1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Master" Target="../slideMasters/slideMaster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chart" Target="../charts/chart3.xml"/></Relationships>
</file>

<file path=ppt/slideLayouts/_rels/slideLayout1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image" Target="../media/image13.png"/><Relationship Id="rId1" Type="http://schemas.openxmlformats.org/officeDocument/2006/relationships/slideMaster" Target="../slideMasters/slideMaster2.xml"/><Relationship Id="rId6" Type="http://schemas.openxmlformats.org/officeDocument/2006/relationships/image" Target="../media/image12.png"/><Relationship Id="rId5" Type="http://schemas.openxmlformats.org/officeDocument/2006/relationships/chart" Target="../charts/chart6.xml"/><Relationship Id="rId4" Type="http://schemas.openxmlformats.org/officeDocument/2006/relationships/chart" Target="../charts/chart5.xml"/></Relationships>
</file>

<file path=ppt/slideLayouts/_rels/slideLayout17.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Master" Target="../slideMasters/slideMaster2.xml"/><Relationship Id="rId6" Type="http://schemas.openxmlformats.org/officeDocument/2006/relationships/image" Target="../media/image14.png"/><Relationship Id="rId5" Type="http://schemas.openxmlformats.org/officeDocument/2006/relationships/image" Target="../media/image15.png"/><Relationship Id="rId4" Type="http://schemas.openxmlformats.org/officeDocument/2006/relationships/chart" Target="../charts/chart9.xml"/></Relationships>
</file>

<file path=ppt/slideLayouts/_rels/slideLayout18.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Master" Target="../slideMasters/slideMaster2.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Master" Target="../slideMasters/slideMaster2.xml"/><Relationship Id="rId4" Type="http://schemas.openxmlformats.org/officeDocument/2006/relationships/image" Target="../media/image24.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Master" Target="../slideMasters/slideMaster2.xml"/><Relationship Id="rId4" Type="http://schemas.openxmlformats.org/officeDocument/2006/relationships/image" Target="../media/image32.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5.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1_Diapositiva de título">
  <p:cSld name="1_Diapositiva de título">
    <p:spTree>
      <p:nvGrpSpPr>
        <p:cNvPr id="1" name="Shape 11"/>
        <p:cNvGrpSpPr/>
        <p:nvPr/>
      </p:nvGrpSpPr>
      <p:grpSpPr>
        <a:xfrm>
          <a:off x="0" y="0"/>
          <a:ext cx="0" cy="0"/>
          <a:chOff x="0" y="0"/>
          <a:chExt cx="0" cy="0"/>
        </a:xfrm>
      </p:grpSpPr>
      <p:sp>
        <p:nvSpPr>
          <p:cNvPr id="12" name="Google Shape;12;p62"/>
          <p:cNvSpPr/>
          <p:nvPr/>
        </p:nvSpPr>
        <p:spPr>
          <a:xfrm>
            <a:off x="0" y="4034798"/>
            <a:ext cx="12192000" cy="299652"/>
          </a:xfrm>
          <a:prstGeom prst="rect">
            <a:avLst/>
          </a:prstGeom>
          <a:solidFill>
            <a:srgbClr val="2C73BB"/>
          </a:solidFill>
          <a:ln>
            <a:noFill/>
          </a:ln>
        </p:spPr>
        <p:txBody>
          <a:bodyPr spcFirstLastPara="1" wrap="square" lIns="93125" tIns="46550" rIns="93125" bIns="46550" anchor="t" anchorCtr="0">
            <a:noAutofit/>
          </a:bodyPr>
          <a:lstStyle/>
          <a:p>
            <a:pPr marL="0" marR="0" lvl="0" indent="0" algn="l" rtl="0">
              <a:spcBef>
                <a:spcPts val="0"/>
              </a:spcBef>
              <a:spcAft>
                <a:spcPts val="0"/>
              </a:spcAft>
              <a:buNone/>
            </a:pPr>
            <a:endParaRPr sz="1600" b="0" i="0" u="none" strike="noStrike" cap="none">
              <a:solidFill>
                <a:srgbClr val="33448D"/>
              </a:solidFill>
              <a:latin typeface="Arial"/>
              <a:ea typeface="Arial"/>
              <a:cs typeface="Arial"/>
              <a:sym typeface="Arial"/>
            </a:endParaRPr>
          </a:p>
        </p:txBody>
      </p:sp>
      <p:sp>
        <p:nvSpPr>
          <p:cNvPr id="13" name="Google Shape;13;p62"/>
          <p:cNvSpPr/>
          <p:nvPr/>
        </p:nvSpPr>
        <p:spPr>
          <a:xfrm>
            <a:off x="0" y="4316626"/>
            <a:ext cx="12192000" cy="115001"/>
          </a:xfrm>
          <a:prstGeom prst="rect">
            <a:avLst/>
          </a:prstGeom>
          <a:solidFill>
            <a:srgbClr val="47ADCF"/>
          </a:solidFill>
          <a:ln>
            <a:noFill/>
          </a:ln>
        </p:spPr>
        <p:txBody>
          <a:bodyPr spcFirstLastPara="1" wrap="square" lIns="93125" tIns="46550" rIns="93125" bIns="46550" anchor="t" anchorCtr="0">
            <a:noAutofit/>
          </a:bodyPr>
          <a:lstStyle/>
          <a:p>
            <a:pPr marL="0" marR="0" lvl="0" indent="0" algn="l" rtl="0">
              <a:spcBef>
                <a:spcPts val="0"/>
              </a:spcBef>
              <a:spcAft>
                <a:spcPts val="0"/>
              </a:spcAft>
              <a:buNone/>
            </a:pPr>
            <a:endParaRPr sz="1600" b="0" i="0" u="none" strike="noStrike" cap="none">
              <a:solidFill>
                <a:srgbClr val="33448D"/>
              </a:solidFill>
              <a:latin typeface="Arial"/>
              <a:ea typeface="Arial"/>
              <a:cs typeface="Arial"/>
              <a:sym typeface="Arial"/>
            </a:endParaRPr>
          </a:p>
        </p:txBody>
      </p:sp>
      <p:sp>
        <p:nvSpPr>
          <p:cNvPr id="14" name="Google Shape;14;p62"/>
          <p:cNvSpPr/>
          <p:nvPr/>
        </p:nvSpPr>
        <p:spPr>
          <a:xfrm>
            <a:off x="0" y="6696026"/>
            <a:ext cx="12192000" cy="161974"/>
          </a:xfrm>
          <a:prstGeom prst="rect">
            <a:avLst/>
          </a:prstGeom>
          <a:solidFill>
            <a:srgbClr val="51A83D"/>
          </a:solidFill>
          <a:ln>
            <a:noFill/>
          </a:ln>
        </p:spPr>
        <p:txBody>
          <a:bodyPr spcFirstLastPara="1" wrap="square" lIns="93125" tIns="46550" rIns="93125" bIns="46550" anchor="t" anchorCtr="0">
            <a:noAutofit/>
          </a:bodyPr>
          <a:lstStyle/>
          <a:p>
            <a:pPr marL="0" marR="0" lvl="0" indent="0" algn="l" rtl="0">
              <a:spcBef>
                <a:spcPts val="0"/>
              </a:spcBef>
              <a:spcAft>
                <a:spcPts val="0"/>
              </a:spcAft>
              <a:buNone/>
            </a:pPr>
            <a:endParaRPr sz="1600" b="0" i="0" u="none" strike="noStrike" cap="none">
              <a:solidFill>
                <a:srgbClr val="33448D"/>
              </a:solidFill>
              <a:latin typeface="Arial"/>
              <a:ea typeface="Arial"/>
              <a:cs typeface="Arial"/>
              <a:sym typeface="Arial"/>
            </a:endParaRPr>
          </a:p>
        </p:txBody>
      </p:sp>
      <p:sp>
        <p:nvSpPr>
          <p:cNvPr id="15" name="Google Shape;15;p62"/>
          <p:cNvSpPr txBox="1">
            <a:spLocks noGrp="1"/>
          </p:cNvSpPr>
          <p:nvPr>
            <p:ph type="ctrTitle"/>
          </p:nvPr>
        </p:nvSpPr>
        <p:spPr>
          <a:xfrm>
            <a:off x="304554" y="1164614"/>
            <a:ext cx="9211492" cy="702104"/>
          </a:xfrm>
          <a:prstGeom prst="rect">
            <a:avLst/>
          </a:prstGeom>
          <a:solidFill>
            <a:schemeClr val="lt2">
              <a:alpha val="74118"/>
            </a:schemeClr>
          </a:solidFill>
          <a:ln>
            <a:noFill/>
          </a:ln>
        </p:spPr>
        <p:txBody>
          <a:bodyPr spcFirstLastPara="1" wrap="square" lIns="73325" tIns="73325" rIns="73325" bIns="73325" anchor="t" anchorCtr="0">
            <a:spAutoFit/>
          </a:bodyPr>
          <a:lstStyle>
            <a:lvl1pPr lvl="0" algn="l">
              <a:spcBef>
                <a:spcPts val="0"/>
              </a:spcBef>
              <a:spcAft>
                <a:spcPts val="0"/>
              </a:spcAft>
              <a:buSzPts val="1400"/>
              <a:buNone/>
              <a:defRPr sz="3600" b="0">
                <a:latin typeface="Calibri"/>
                <a:ea typeface="Calibri"/>
                <a:cs typeface="Calibri"/>
                <a:sym typeface="Calibri"/>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62"/>
          <p:cNvSpPr txBox="1">
            <a:spLocks noGrp="1"/>
          </p:cNvSpPr>
          <p:nvPr>
            <p:ph type="subTitle" idx="1"/>
          </p:nvPr>
        </p:nvSpPr>
        <p:spPr>
          <a:xfrm>
            <a:off x="961120" y="5044946"/>
            <a:ext cx="6714779" cy="246221"/>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600">
                <a:latin typeface="Calibri"/>
                <a:ea typeface="Calibri"/>
                <a:cs typeface="Calibri"/>
                <a:sym typeface="Calibri"/>
              </a:defRPr>
            </a:lvl1pPr>
            <a:lvl2pPr lvl="1" algn="l">
              <a:spcBef>
                <a:spcPts val="0"/>
              </a:spcBef>
              <a:spcAft>
                <a:spcPts val="0"/>
              </a:spcAft>
              <a:buSzPts val="2250"/>
              <a:buChar char="▪"/>
              <a:defRPr/>
            </a:lvl2pPr>
            <a:lvl3pPr lvl="2" algn="l">
              <a:spcBef>
                <a:spcPts val="0"/>
              </a:spcBef>
              <a:spcAft>
                <a:spcPts val="0"/>
              </a:spcAft>
              <a:buSzPts val="2160"/>
              <a:buChar char="–"/>
              <a:defRPr/>
            </a:lvl3pPr>
            <a:lvl4pPr lvl="3" algn="l">
              <a:spcBef>
                <a:spcPts val="0"/>
              </a:spcBef>
              <a:spcAft>
                <a:spcPts val="0"/>
              </a:spcAft>
              <a:buSzPts val="2160"/>
              <a:buChar char="▫"/>
              <a:defRPr/>
            </a:lvl4pPr>
            <a:lvl5pPr lvl="4" algn="l">
              <a:spcBef>
                <a:spcPts val="0"/>
              </a:spcBef>
              <a:spcAft>
                <a:spcPts val="0"/>
              </a:spcAft>
              <a:buSzPts val="1602"/>
              <a:buChar char="-"/>
              <a:defRPr/>
            </a:lvl5pPr>
            <a:lvl6pPr lvl="5" algn="l">
              <a:spcBef>
                <a:spcPts val="0"/>
              </a:spcBef>
              <a:spcAft>
                <a:spcPts val="0"/>
              </a:spcAft>
              <a:buSzPts val="1602"/>
              <a:buChar char="-"/>
              <a:defRPr/>
            </a:lvl6pPr>
            <a:lvl7pPr lvl="6" algn="l">
              <a:spcBef>
                <a:spcPts val="0"/>
              </a:spcBef>
              <a:spcAft>
                <a:spcPts val="0"/>
              </a:spcAft>
              <a:buSzPts val="1602"/>
              <a:buChar char="-"/>
              <a:defRPr/>
            </a:lvl7pPr>
            <a:lvl8pPr lvl="7" algn="l">
              <a:spcBef>
                <a:spcPts val="0"/>
              </a:spcBef>
              <a:spcAft>
                <a:spcPts val="0"/>
              </a:spcAft>
              <a:buSzPts val="1602"/>
              <a:buChar char="-"/>
              <a:defRPr/>
            </a:lvl8pPr>
            <a:lvl9pPr lvl="8" algn="l">
              <a:spcBef>
                <a:spcPts val="0"/>
              </a:spcBef>
              <a:spcAft>
                <a:spcPts val="0"/>
              </a:spcAft>
              <a:buSzPts val="1602"/>
              <a:buChar char="-"/>
              <a:defRPr/>
            </a:lvl9pPr>
          </a:lstStyle>
          <a:p>
            <a:endParaRPr/>
          </a:p>
        </p:txBody>
      </p:sp>
      <p:pic>
        <p:nvPicPr>
          <p:cNvPr id="17" name="Google Shape;17;p62"/>
          <p:cNvPicPr preferRelativeResize="0"/>
          <p:nvPr/>
        </p:nvPicPr>
        <p:blipFill rotWithShape="1">
          <a:blip r:embed="rId2">
            <a:alphaModFix/>
          </a:blip>
          <a:srcRect/>
          <a:stretch/>
        </p:blipFill>
        <p:spPr>
          <a:xfrm>
            <a:off x="10032438" y="2787731"/>
            <a:ext cx="1863983" cy="1235586"/>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Diapositiva de título">
  <p:cSld name="Diapositiva de título">
    <p:spTree>
      <p:nvGrpSpPr>
        <p:cNvPr id="1" name="Shape 18"/>
        <p:cNvGrpSpPr/>
        <p:nvPr/>
      </p:nvGrpSpPr>
      <p:grpSpPr>
        <a:xfrm>
          <a:off x="0" y="0"/>
          <a:ext cx="0" cy="0"/>
          <a:chOff x="0" y="0"/>
          <a:chExt cx="0" cy="0"/>
        </a:xfrm>
      </p:grpSpPr>
      <p:sp>
        <p:nvSpPr>
          <p:cNvPr id="19" name="Google Shape;19;p87"/>
          <p:cNvSpPr/>
          <p:nvPr/>
        </p:nvSpPr>
        <p:spPr>
          <a:xfrm>
            <a:off x="0" y="4034798"/>
            <a:ext cx="12192000" cy="299652"/>
          </a:xfrm>
          <a:prstGeom prst="rect">
            <a:avLst/>
          </a:prstGeom>
          <a:solidFill>
            <a:srgbClr val="2C73BB"/>
          </a:solidFill>
          <a:ln>
            <a:noFill/>
          </a:ln>
        </p:spPr>
        <p:txBody>
          <a:bodyPr spcFirstLastPara="1" wrap="square" lIns="93125" tIns="46550" rIns="93125" bIns="46550" anchor="t" anchorCtr="0">
            <a:noAutofit/>
          </a:bodyPr>
          <a:lstStyle/>
          <a:p>
            <a:pPr marL="0" marR="0" lvl="0" indent="0" algn="l" rtl="0">
              <a:spcBef>
                <a:spcPts val="0"/>
              </a:spcBef>
              <a:spcAft>
                <a:spcPts val="0"/>
              </a:spcAft>
              <a:buNone/>
            </a:pPr>
            <a:endParaRPr sz="1600">
              <a:solidFill>
                <a:srgbClr val="33448D"/>
              </a:solidFill>
              <a:latin typeface="Arial"/>
              <a:ea typeface="Arial"/>
              <a:cs typeface="Arial"/>
              <a:sym typeface="Arial"/>
            </a:endParaRPr>
          </a:p>
        </p:txBody>
      </p:sp>
      <p:sp>
        <p:nvSpPr>
          <p:cNvPr id="20" name="Google Shape;20;p87"/>
          <p:cNvSpPr/>
          <p:nvPr/>
        </p:nvSpPr>
        <p:spPr>
          <a:xfrm>
            <a:off x="0" y="4316626"/>
            <a:ext cx="12192000" cy="115001"/>
          </a:xfrm>
          <a:prstGeom prst="rect">
            <a:avLst/>
          </a:prstGeom>
          <a:solidFill>
            <a:srgbClr val="47ADCF"/>
          </a:solidFill>
          <a:ln>
            <a:noFill/>
          </a:ln>
        </p:spPr>
        <p:txBody>
          <a:bodyPr spcFirstLastPara="1" wrap="square" lIns="93125" tIns="46550" rIns="93125" bIns="46550" anchor="t" anchorCtr="0">
            <a:noAutofit/>
          </a:bodyPr>
          <a:lstStyle/>
          <a:p>
            <a:pPr marL="0" marR="0" lvl="0" indent="0" algn="l" rtl="0">
              <a:spcBef>
                <a:spcPts val="0"/>
              </a:spcBef>
              <a:spcAft>
                <a:spcPts val="0"/>
              </a:spcAft>
              <a:buNone/>
            </a:pPr>
            <a:endParaRPr sz="1600">
              <a:solidFill>
                <a:srgbClr val="33448D"/>
              </a:solidFill>
              <a:latin typeface="Arial"/>
              <a:ea typeface="Arial"/>
              <a:cs typeface="Arial"/>
              <a:sym typeface="Arial"/>
            </a:endParaRPr>
          </a:p>
        </p:txBody>
      </p:sp>
      <p:sp>
        <p:nvSpPr>
          <p:cNvPr id="21" name="Google Shape;21;p87"/>
          <p:cNvSpPr/>
          <p:nvPr/>
        </p:nvSpPr>
        <p:spPr>
          <a:xfrm>
            <a:off x="0" y="6696026"/>
            <a:ext cx="12192000" cy="161974"/>
          </a:xfrm>
          <a:prstGeom prst="rect">
            <a:avLst/>
          </a:prstGeom>
          <a:solidFill>
            <a:srgbClr val="51A83D"/>
          </a:solidFill>
          <a:ln>
            <a:noFill/>
          </a:ln>
        </p:spPr>
        <p:txBody>
          <a:bodyPr spcFirstLastPara="1" wrap="square" lIns="93125" tIns="46550" rIns="93125" bIns="46550" anchor="t" anchorCtr="0">
            <a:noAutofit/>
          </a:bodyPr>
          <a:lstStyle/>
          <a:p>
            <a:pPr marL="0" marR="0" lvl="0" indent="0" algn="l" rtl="0">
              <a:spcBef>
                <a:spcPts val="0"/>
              </a:spcBef>
              <a:spcAft>
                <a:spcPts val="0"/>
              </a:spcAft>
              <a:buNone/>
            </a:pPr>
            <a:endParaRPr sz="1600">
              <a:solidFill>
                <a:srgbClr val="33448D"/>
              </a:solidFill>
              <a:latin typeface="Arial"/>
              <a:ea typeface="Arial"/>
              <a:cs typeface="Arial"/>
              <a:sym typeface="Arial"/>
            </a:endParaRPr>
          </a:p>
        </p:txBody>
      </p:sp>
      <p:pic>
        <p:nvPicPr>
          <p:cNvPr id="22" name="Google Shape;22;p87"/>
          <p:cNvPicPr preferRelativeResize="0"/>
          <p:nvPr/>
        </p:nvPicPr>
        <p:blipFill rotWithShape="1">
          <a:blip r:embed="rId2">
            <a:alphaModFix/>
          </a:blip>
          <a:srcRect/>
          <a:stretch/>
        </p:blipFill>
        <p:spPr>
          <a:xfrm>
            <a:off x="2376597" y="5048676"/>
            <a:ext cx="2223747" cy="766810"/>
          </a:xfrm>
          <a:prstGeom prst="rect">
            <a:avLst/>
          </a:prstGeom>
          <a:noFill/>
          <a:ln>
            <a:noFill/>
          </a:ln>
        </p:spPr>
      </p:pic>
      <p:pic>
        <p:nvPicPr>
          <p:cNvPr id="23" name="Google Shape;23;p87"/>
          <p:cNvPicPr preferRelativeResize="0"/>
          <p:nvPr/>
        </p:nvPicPr>
        <p:blipFill rotWithShape="1">
          <a:blip r:embed="rId3">
            <a:alphaModFix/>
          </a:blip>
          <a:srcRect/>
          <a:stretch/>
        </p:blipFill>
        <p:spPr>
          <a:xfrm>
            <a:off x="7752184" y="5188802"/>
            <a:ext cx="1744452" cy="486559"/>
          </a:xfrm>
          <a:prstGeom prst="rect">
            <a:avLst/>
          </a:prstGeom>
          <a:noFill/>
          <a:ln>
            <a:noFill/>
          </a:ln>
        </p:spPr>
      </p:pic>
      <p:pic>
        <p:nvPicPr>
          <p:cNvPr id="24" name="Google Shape;24;p87"/>
          <p:cNvPicPr preferRelativeResize="0"/>
          <p:nvPr/>
        </p:nvPicPr>
        <p:blipFill rotWithShape="1">
          <a:blip r:embed="rId4">
            <a:alphaModFix/>
          </a:blip>
          <a:srcRect/>
          <a:stretch/>
        </p:blipFill>
        <p:spPr>
          <a:xfrm>
            <a:off x="5441133" y="4906988"/>
            <a:ext cx="1470262" cy="1050187"/>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spTree>
      <p:nvGrpSpPr>
        <p:cNvPr id="1" name="Shape 25"/>
        <p:cNvGrpSpPr/>
        <p:nvPr/>
      </p:nvGrpSpPr>
      <p:grpSpPr>
        <a:xfrm>
          <a:off x="0" y="0"/>
          <a:ext cx="0" cy="0"/>
          <a:chOff x="0" y="0"/>
          <a:chExt cx="0" cy="0"/>
        </a:xfrm>
      </p:grpSpPr>
      <p:sp>
        <p:nvSpPr>
          <p:cNvPr id="26" name="Google Shape;26;p88"/>
          <p:cNvSpPr txBox="1">
            <a:spLocks noGrp="1"/>
          </p:cNvSpPr>
          <p:nvPr>
            <p:ph type="title"/>
          </p:nvPr>
        </p:nvSpPr>
        <p:spPr>
          <a:xfrm>
            <a:off x="551384" y="302459"/>
            <a:ext cx="10081120" cy="246221"/>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88"/>
          <p:cNvSpPr txBox="1"/>
          <p:nvPr/>
        </p:nvSpPr>
        <p:spPr>
          <a:xfrm>
            <a:off x="11443317" y="506027"/>
            <a:ext cx="0" cy="0"/>
          </a:xfrm>
          <a:prstGeom prst="rect">
            <a:avLst/>
          </a:prstGeom>
          <a:solidFill>
            <a:schemeClr val="lt1"/>
          </a:solidFill>
          <a:ln w="9525" cap="flat" cmpd="sng">
            <a:solidFill>
              <a:schemeClr val="accent1"/>
            </a:solidFill>
            <a:prstDash val="solid"/>
            <a:miter lim="8000"/>
            <a:headEnd type="none" w="sm" len="sm"/>
            <a:tailEnd type="none" w="sm" len="sm"/>
          </a:ln>
        </p:spPr>
        <p:txBody>
          <a:bodyPr spcFirstLastPara="1" wrap="square" lIns="72000" tIns="72000" rIns="72000" bIns="72000" anchor="t" anchorCtr="0">
            <a:noAutofit/>
          </a:bodyPr>
          <a:lstStyle/>
          <a:p>
            <a:pPr marL="1587" marR="0" lvl="0" indent="0" algn="l" rtl="0">
              <a:spcBef>
                <a:spcPts val="0"/>
              </a:spcBef>
              <a:spcAft>
                <a:spcPts val="0"/>
              </a:spcAft>
              <a:buClr>
                <a:schemeClr val="dk1"/>
              </a:buClr>
              <a:buSzPts val="1200"/>
              <a:buFont typeface="Arial"/>
              <a:buNone/>
            </a:pPr>
            <a:endParaRPr sz="1200">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ólo el título">
  <p:cSld name="Sólo el título">
    <p:spTree>
      <p:nvGrpSpPr>
        <p:cNvPr id="1" name="Shape 28"/>
        <p:cNvGrpSpPr/>
        <p:nvPr/>
      </p:nvGrpSpPr>
      <p:grpSpPr>
        <a:xfrm>
          <a:off x="0" y="0"/>
          <a:ext cx="0" cy="0"/>
          <a:chOff x="0" y="0"/>
          <a:chExt cx="0" cy="0"/>
        </a:xfrm>
      </p:grpSpPr>
      <p:sp>
        <p:nvSpPr>
          <p:cNvPr id="29" name="Google Shape;29;p89"/>
          <p:cNvSpPr txBox="1">
            <a:spLocks noGrp="1"/>
          </p:cNvSpPr>
          <p:nvPr>
            <p:ph type="title"/>
          </p:nvPr>
        </p:nvSpPr>
        <p:spPr>
          <a:xfrm>
            <a:off x="551384" y="302459"/>
            <a:ext cx="10081120" cy="246221"/>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30"/>
        <p:cNvGrpSpPr/>
        <p:nvPr/>
      </p:nvGrpSpPr>
      <p:grpSpPr>
        <a:xfrm>
          <a:off x="0" y="0"/>
          <a:ext cx="0" cy="0"/>
          <a:chOff x="0" y="0"/>
          <a:chExt cx="0" cy="0"/>
        </a:xfrm>
      </p:grpSpPr>
      <p:sp>
        <p:nvSpPr>
          <p:cNvPr id="31" name="Google Shape;31;p90"/>
          <p:cNvSpPr txBox="1">
            <a:spLocks noGrp="1"/>
          </p:cNvSpPr>
          <p:nvPr>
            <p:ph type="title"/>
          </p:nvPr>
        </p:nvSpPr>
        <p:spPr>
          <a:xfrm>
            <a:off x="551384" y="302459"/>
            <a:ext cx="10081120" cy="246221"/>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90"/>
          <p:cNvSpPr txBox="1">
            <a:spLocks noGrp="1"/>
          </p:cNvSpPr>
          <p:nvPr>
            <p:ph type="body" idx="1"/>
          </p:nvPr>
        </p:nvSpPr>
        <p:spPr>
          <a:xfrm>
            <a:off x="719403" y="1694212"/>
            <a:ext cx="5853024" cy="1354217"/>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371475" algn="l">
              <a:spcBef>
                <a:spcPts val="0"/>
              </a:spcBef>
              <a:spcAft>
                <a:spcPts val="0"/>
              </a:spcAft>
              <a:buSzPts val="2250"/>
              <a:buChar char="▪"/>
              <a:defRPr/>
            </a:lvl2pPr>
            <a:lvl3pPr marL="1371600" lvl="2" indent="-365760" algn="l">
              <a:spcBef>
                <a:spcPts val="0"/>
              </a:spcBef>
              <a:spcAft>
                <a:spcPts val="0"/>
              </a:spcAft>
              <a:buSzPts val="2160"/>
              <a:buChar char="–"/>
              <a:defRPr/>
            </a:lvl3pPr>
            <a:lvl4pPr marL="1828800" lvl="3" indent="-365760" algn="l">
              <a:spcBef>
                <a:spcPts val="0"/>
              </a:spcBef>
              <a:spcAft>
                <a:spcPts val="0"/>
              </a:spcAft>
              <a:buSzPts val="2160"/>
              <a:buChar char="▫"/>
              <a:defRPr/>
            </a:lvl4pPr>
            <a:lvl5pPr marL="2286000" lvl="4" indent="-330327" algn="l">
              <a:spcBef>
                <a:spcPts val="0"/>
              </a:spcBef>
              <a:spcAft>
                <a:spcPts val="0"/>
              </a:spcAft>
              <a:buSzPts val="1602"/>
              <a:buChar char="-"/>
              <a:defRPr/>
            </a:lvl5pPr>
            <a:lvl6pPr marL="2743200" lvl="5" indent="-330327" algn="l">
              <a:spcBef>
                <a:spcPts val="0"/>
              </a:spcBef>
              <a:spcAft>
                <a:spcPts val="0"/>
              </a:spcAft>
              <a:buSzPts val="1602"/>
              <a:buChar char="-"/>
              <a:defRPr/>
            </a:lvl6pPr>
            <a:lvl7pPr marL="3200400" lvl="6" indent="-330327" algn="l">
              <a:spcBef>
                <a:spcPts val="0"/>
              </a:spcBef>
              <a:spcAft>
                <a:spcPts val="0"/>
              </a:spcAft>
              <a:buSzPts val="1602"/>
              <a:buChar char="-"/>
              <a:defRPr/>
            </a:lvl7pPr>
            <a:lvl8pPr marL="3657600" lvl="7" indent="-330327" algn="l">
              <a:spcBef>
                <a:spcPts val="0"/>
              </a:spcBef>
              <a:spcAft>
                <a:spcPts val="0"/>
              </a:spcAft>
              <a:buSzPts val="1602"/>
              <a:buChar char="-"/>
              <a:defRPr/>
            </a:lvl8pPr>
            <a:lvl9pPr marL="4114800" lvl="8" indent="-330327" algn="l">
              <a:spcBef>
                <a:spcPts val="0"/>
              </a:spcBef>
              <a:spcAft>
                <a:spcPts val="0"/>
              </a:spcAft>
              <a:buSzPts val="1602"/>
              <a:buChar char="-"/>
              <a:defRPr/>
            </a:lvl9pPr>
          </a:lstStyle>
          <a:p>
            <a:endParaRPr/>
          </a:p>
        </p:txBody>
      </p:sp>
      <p:sp>
        <p:nvSpPr>
          <p:cNvPr id="33" name="Google Shape;33;p90"/>
          <p:cNvSpPr txBox="1">
            <a:spLocks noGrp="1"/>
          </p:cNvSpPr>
          <p:nvPr>
            <p:ph type="dt" idx="10"/>
          </p:nvPr>
        </p:nvSpPr>
        <p:spPr>
          <a:xfrm>
            <a:off x="609600" y="6356351"/>
            <a:ext cx="28448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4" name="Google Shape;34;p90"/>
          <p:cNvSpPr txBox="1">
            <a:spLocks noGrp="1"/>
          </p:cNvSpPr>
          <p:nvPr>
            <p:ph type="ftr" idx="11"/>
          </p:nvPr>
        </p:nvSpPr>
        <p:spPr>
          <a:xfrm>
            <a:off x="4165600" y="6356351"/>
            <a:ext cx="3860800" cy="365125"/>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800">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5" name="Google Shape;35;p90"/>
          <p:cNvSpPr txBox="1">
            <a:spLocks noGrp="1"/>
          </p:cNvSpPr>
          <p:nvPr>
            <p:ph type="sldNum" idx="12"/>
          </p:nvPr>
        </p:nvSpPr>
        <p:spPr>
          <a:xfrm>
            <a:off x="8737600" y="6356351"/>
            <a:ext cx="2844800" cy="365125"/>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800">
                <a:solidFill>
                  <a:srgbClr val="33448D"/>
                </a:solidFill>
                <a:latin typeface="Arial"/>
                <a:ea typeface="Arial"/>
                <a:cs typeface="Arial"/>
                <a:sym typeface="Arial"/>
              </a:defRPr>
            </a:lvl1pPr>
            <a:lvl2pPr marL="0" marR="0" lvl="1" indent="0" algn="l" rtl="0">
              <a:spcBef>
                <a:spcPts val="0"/>
              </a:spcBef>
              <a:buNone/>
              <a:defRPr sz="1800">
                <a:solidFill>
                  <a:srgbClr val="33448D"/>
                </a:solidFill>
                <a:latin typeface="Arial"/>
                <a:ea typeface="Arial"/>
                <a:cs typeface="Arial"/>
                <a:sym typeface="Arial"/>
              </a:defRPr>
            </a:lvl2pPr>
            <a:lvl3pPr marL="0" marR="0" lvl="2" indent="0" algn="l" rtl="0">
              <a:spcBef>
                <a:spcPts val="0"/>
              </a:spcBef>
              <a:buNone/>
              <a:defRPr sz="1800">
                <a:solidFill>
                  <a:srgbClr val="33448D"/>
                </a:solidFill>
                <a:latin typeface="Arial"/>
                <a:ea typeface="Arial"/>
                <a:cs typeface="Arial"/>
                <a:sym typeface="Arial"/>
              </a:defRPr>
            </a:lvl3pPr>
            <a:lvl4pPr marL="0" marR="0" lvl="3" indent="0" algn="l" rtl="0">
              <a:spcBef>
                <a:spcPts val="0"/>
              </a:spcBef>
              <a:buNone/>
              <a:defRPr sz="1800">
                <a:solidFill>
                  <a:srgbClr val="33448D"/>
                </a:solidFill>
                <a:latin typeface="Arial"/>
                <a:ea typeface="Arial"/>
                <a:cs typeface="Arial"/>
                <a:sym typeface="Arial"/>
              </a:defRPr>
            </a:lvl4pPr>
            <a:lvl5pPr marL="0" marR="0" lvl="4" indent="0" algn="l" rtl="0">
              <a:spcBef>
                <a:spcPts val="0"/>
              </a:spcBef>
              <a:buNone/>
              <a:defRPr sz="1800">
                <a:solidFill>
                  <a:srgbClr val="33448D"/>
                </a:solidFill>
                <a:latin typeface="Arial"/>
                <a:ea typeface="Arial"/>
                <a:cs typeface="Arial"/>
                <a:sym typeface="Arial"/>
              </a:defRPr>
            </a:lvl5pPr>
            <a:lvl6pPr marL="0" marR="0" lvl="5" indent="0" algn="l" rtl="0">
              <a:spcBef>
                <a:spcPts val="0"/>
              </a:spcBef>
              <a:buNone/>
              <a:defRPr sz="1800">
                <a:solidFill>
                  <a:srgbClr val="33448D"/>
                </a:solidFill>
                <a:latin typeface="Arial"/>
                <a:ea typeface="Arial"/>
                <a:cs typeface="Arial"/>
                <a:sym typeface="Arial"/>
              </a:defRPr>
            </a:lvl6pPr>
            <a:lvl7pPr marL="0" marR="0" lvl="6" indent="0" algn="l" rtl="0">
              <a:spcBef>
                <a:spcPts val="0"/>
              </a:spcBef>
              <a:buNone/>
              <a:defRPr sz="1800">
                <a:solidFill>
                  <a:srgbClr val="33448D"/>
                </a:solidFill>
                <a:latin typeface="Arial"/>
                <a:ea typeface="Arial"/>
                <a:cs typeface="Arial"/>
                <a:sym typeface="Arial"/>
              </a:defRPr>
            </a:lvl7pPr>
            <a:lvl8pPr marL="0" marR="0" lvl="7" indent="0" algn="l" rtl="0">
              <a:spcBef>
                <a:spcPts val="0"/>
              </a:spcBef>
              <a:buNone/>
              <a:defRPr sz="1800">
                <a:solidFill>
                  <a:srgbClr val="33448D"/>
                </a:solidFill>
                <a:latin typeface="Arial"/>
                <a:ea typeface="Arial"/>
                <a:cs typeface="Arial"/>
                <a:sym typeface="Arial"/>
              </a:defRPr>
            </a:lvl8pPr>
            <a:lvl9pPr marL="0" marR="0" lvl="8" indent="0" algn="l" rtl="0">
              <a:spcBef>
                <a:spcPts val="0"/>
              </a:spcBef>
              <a:buNone/>
              <a:defRPr sz="1800">
                <a:solidFill>
                  <a:srgbClr val="33448D"/>
                </a:solidFill>
                <a:latin typeface="Arial"/>
                <a:ea typeface="Arial"/>
                <a:cs typeface="Arial"/>
                <a:sym typeface="Arial"/>
              </a:defRPr>
            </a:lvl9pPr>
          </a:lstStyle>
          <a:p>
            <a:pPr marL="0" lvl="0" indent="0" algn="l" rtl="0">
              <a:spcBef>
                <a:spcPts val="0"/>
              </a:spcBef>
              <a:spcAft>
                <a:spcPts val="0"/>
              </a:spcAft>
              <a:buNone/>
            </a:pPr>
            <a:fld id="{00000000-1234-1234-1234-123412341234}" type="slidenum">
              <a:rPr lang="es-CL"/>
              <a:t>‹Nº›</a:t>
            </a:fld>
            <a:endParaRPr/>
          </a:p>
        </p:txBody>
      </p:sp>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ítulo y objetos" type="obj">
  <p:cSld name="OBJECT">
    <p:bg>
      <p:bgPr>
        <a:solidFill>
          <a:schemeClr val="dk1"/>
        </a:solidFill>
        <a:effectLst/>
      </p:bgPr>
    </p:bg>
    <p:spTree>
      <p:nvGrpSpPr>
        <p:cNvPr id="1" name="Shape 42"/>
        <p:cNvGrpSpPr/>
        <p:nvPr/>
      </p:nvGrpSpPr>
      <p:grpSpPr>
        <a:xfrm>
          <a:off x="0" y="0"/>
          <a:ext cx="0" cy="0"/>
          <a:chOff x="0" y="0"/>
          <a:chExt cx="0" cy="0"/>
        </a:xfrm>
      </p:grpSpPr>
      <p:sp>
        <p:nvSpPr>
          <p:cNvPr id="43" name="Google Shape;43;p64"/>
          <p:cNvSpPr txBox="1">
            <a:spLocks noGrp="1"/>
          </p:cNvSpPr>
          <p:nvPr>
            <p:ph type="title"/>
          </p:nvPr>
        </p:nvSpPr>
        <p:spPr>
          <a:xfrm>
            <a:off x="330200" y="227185"/>
            <a:ext cx="3042920" cy="315912"/>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lt1"/>
              </a:buClr>
              <a:buSzPts val="1600"/>
              <a:buFont typeface="Play"/>
              <a:buNone/>
              <a:defRPr sz="1600" b="1">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64"/>
          <p:cNvSpPr txBox="1">
            <a:spLocks noGrp="1"/>
          </p:cNvSpPr>
          <p:nvPr>
            <p:ph type="body" idx="1"/>
          </p:nvPr>
        </p:nvSpPr>
        <p:spPr>
          <a:xfrm>
            <a:off x="330200" y="1117123"/>
            <a:ext cx="11557000" cy="4838541"/>
          </a:xfrm>
          <a:prstGeom prst="rect">
            <a:avLst/>
          </a:prstGeom>
          <a:noFill/>
          <a:ln>
            <a:noFill/>
          </a:ln>
        </p:spPr>
        <p:txBody>
          <a:bodyPr spcFirstLastPara="1" wrap="square" lIns="91425" tIns="45700" rIns="91425" bIns="45700" anchor="t" anchorCtr="0">
            <a:normAutofit/>
          </a:bodyPr>
          <a:lstStyle>
            <a:lvl1pPr marL="457200" lvl="0" indent="-330200" algn="l">
              <a:lnSpc>
                <a:spcPct val="90000"/>
              </a:lnSpc>
              <a:spcBef>
                <a:spcPts val="1000"/>
              </a:spcBef>
              <a:spcAft>
                <a:spcPts val="0"/>
              </a:spcAft>
              <a:buClr>
                <a:schemeClr val="lt2"/>
              </a:buClr>
              <a:buSzPts val="1600"/>
              <a:buChar char="•"/>
              <a:defRPr>
                <a:solidFill>
                  <a:schemeClr val="lt2"/>
                </a:solidFill>
              </a:defRPr>
            </a:lvl1pPr>
            <a:lvl2pPr marL="914400" lvl="1" indent="-317500" algn="l">
              <a:lnSpc>
                <a:spcPct val="90000"/>
              </a:lnSpc>
              <a:spcBef>
                <a:spcPts val="500"/>
              </a:spcBef>
              <a:spcAft>
                <a:spcPts val="0"/>
              </a:spcAft>
              <a:buClr>
                <a:schemeClr val="lt2"/>
              </a:buClr>
              <a:buSzPts val="1400"/>
              <a:buChar char="•"/>
              <a:defRPr>
                <a:solidFill>
                  <a:schemeClr val="lt2"/>
                </a:solidFill>
              </a:defRPr>
            </a:lvl2pPr>
            <a:lvl3pPr marL="1371600" lvl="2" indent="-317500" algn="l">
              <a:lnSpc>
                <a:spcPct val="90000"/>
              </a:lnSpc>
              <a:spcBef>
                <a:spcPts val="500"/>
              </a:spcBef>
              <a:spcAft>
                <a:spcPts val="0"/>
              </a:spcAft>
              <a:buClr>
                <a:schemeClr val="lt2"/>
              </a:buClr>
              <a:buSzPts val="1400"/>
              <a:buChar char="•"/>
              <a:defRPr>
                <a:solidFill>
                  <a:schemeClr val="lt2"/>
                </a:solidFill>
              </a:defRPr>
            </a:lvl3pPr>
            <a:lvl4pPr marL="1828800" lvl="3" indent="-317500" algn="l">
              <a:lnSpc>
                <a:spcPct val="90000"/>
              </a:lnSpc>
              <a:spcBef>
                <a:spcPts val="500"/>
              </a:spcBef>
              <a:spcAft>
                <a:spcPts val="0"/>
              </a:spcAft>
              <a:buClr>
                <a:schemeClr val="lt2"/>
              </a:buClr>
              <a:buSzPts val="1400"/>
              <a:buChar char="•"/>
              <a:defRPr>
                <a:solidFill>
                  <a:schemeClr val="lt2"/>
                </a:solidFill>
              </a:defRPr>
            </a:lvl4pPr>
            <a:lvl5pPr marL="2286000" lvl="4" indent="-317500" algn="l">
              <a:lnSpc>
                <a:spcPct val="90000"/>
              </a:lnSpc>
              <a:spcBef>
                <a:spcPts val="500"/>
              </a:spcBef>
              <a:spcAft>
                <a:spcPts val="0"/>
              </a:spcAft>
              <a:buClr>
                <a:schemeClr val="lt2"/>
              </a:buClr>
              <a:buSzPts val="1400"/>
              <a:buChar char="•"/>
              <a:defRPr>
                <a:solidFill>
                  <a:schemeClr val="l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5" name="Google Shape;45;p6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b="0" i="0" u="none" strike="noStrike" cap="none">
                <a:solidFill>
                  <a:schemeClr val="lt1"/>
                </a:solidFill>
                <a:latin typeface="Arial"/>
                <a:ea typeface="Arial"/>
                <a:cs typeface="Arial"/>
                <a:sym typeface="Arial"/>
              </a:defRPr>
            </a:lvl1pPr>
            <a:lvl2pPr marL="0" lvl="1" indent="0" algn="r">
              <a:spcBef>
                <a:spcPts val="0"/>
              </a:spcBef>
              <a:buNone/>
              <a:defRPr sz="1200" b="0" i="0" u="none" strike="noStrike" cap="none">
                <a:solidFill>
                  <a:schemeClr val="lt1"/>
                </a:solidFill>
                <a:latin typeface="Arial"/>
                <a:ea typeface="Arial"/>
                <a:cs typeface="Arial"/>
                <a:sym typeface="Arial"/>
              </a:defRPr>
            </a:lvl2pPr>
            <a:lvl3pPr marL="0" lvl="2" indent="0" algn="r">
              <a:spcBef>
                <a:spcPts val="0"/>
              </a:spcBef>
              <a:buNone/>
              <a:defRPr sz="1200" b="0" i="0" u="none" strike="noStrike" cap="none">
                <a:solidFill>
                  <a:schemeClr val="lt1"/>
                </a:solidFill>
                <a:latin typeface="Arial"/>
                <a:ea typeface="Arial"/>
                <a:cs typeface="Arial"/>
                <a:sym typeface="Arial"/>
              </a:defRPr>
            </a:lvl3pPr>
            <a:lvl4pPr marL="0" lvl="3" indent="0" algn="r">
              <a:spcBef>
                <a:spcPts val="0"/>
              </a:spcBef>
              <a:buNone/>
              <a:defRPr sz="1200" b="0" i="0" u="none" strike="noStrike" cap="none">
                <a:solidFill>
                  <a:schemeClr val="lt1"/>
                </a:solidFill>
                <a:latin typeface="Arial"/>
                <a:ea typeface="Arial"/>
                <a:cs typeface="Arial"/>
                <a:sym typeface="Arial"/>
              </a:defRPr>
            </a:lvl4pPr>
            <a:lvl5pPr marL="0" lvl="4" indent="0" algn="r">
              <a:spcBef>
                <a:spcPts val="0"/>
              </a:spcBef>
              <a:buNone/>
              <a:defRPr sz="1200" b="0" i="0" u="none" strike="noStrike" cap="none">
                <a:solidFill>
                  <a:schemeClr val="lt1"/>
                </a:solidFill>
                <a:latin typeface="Arial"/>
                <a:ea typeface="Arial"/>
                <a:cs typeface="Arial"/>
                <a:sym typeface="Arial"/>
              </a:defRPr>
            </a:lvl5pPr>
            <a:lvl6pPr marL="0" lvl="5" indent="0" algn="r">
              <a:spcBef>
                <a:spcPts val="0"/>
              </a:spcBef>
              <a:buNone/>
              <a:defRPr sz="1200" b="0" i="0" u="none" strike="noStrike" cap="none">
                <a:solidFill>
                  <a:schemeClr val="lt1"/>
                </a:solidFill>
                <a:latin typeface="Arial"/>
                <a:ea typeface="Arial"/>
                <a:cs typeface="Arial"/>
                <a:sym typeface="Arial"/>
              </a:defRPr>
            </a:lvl6pPr>
            <a:lvl7pPr marL="0" lvl="6" indent="0" algn="r">
              <a:spcBef>
                <a:spcPts val="0"/>
              </a:spcBef>
              <a:buNone/>
              <a:defRPr sz="1200" b="0" i="0" u="none" strike="noStrike" cap="none">
                <a:solidFill>
                  <a:schemeClr val="lt1"/>
                </a:solidFill>
                <a:latin typeface="Arial"/>
                <a:ea typeface="Arial"/>
                <a:cs typeface="Arial"/>
                <a:sym typeface="Arial"/>
              </a:defRPr>
            </a:lvl7pPr>
            <a:lvl8pPr marL="0" lvl="7" indent="0" algn="r">
              <a:spcBef>
                <a:spcPts val="0"/>
              </a:spcBef>
              <a:buNone/>
              <a:defRPr sz="1200" b="0" i="0" u="none" strike="noStrike" cap="none">
                <a:solidFill>
                  <a:schemeClr val="lt1"/>
                </a:solidFill>
                <a:latin typeface="Arial"/>
                <a:ea typeface="Arial"/>
                <a:cs typeface="Arial"/>
                <a:sym typeface="Arial"/>
              </a:defRPr>
            </a:lvl8pPr>
            <a:lvl9pPr marL="0" lvl="8" indent="0" algn="r">
              <a:spcBef>
                <a:spcPts val="0"/>
              </a:spcBef>
              <a:buNone/>
              <a:defRPr sz="1200" b="0" i="0" u="none" strike="noStrike" cap="none">
                <a:solidFill>
                  <a:schemeClr val="lt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
        <p:nvSpPr>
          <p:cNvPr id="46" name="Google Shape;46;p64"/>
          <p:cNvSpPr/>
          <p:nvPr/>
        </p:nvSpPr>
        <p:spPr>
          <a:xfrm>
            <a:off x="0" y="716439"/>
            <a:ext cx="12192000" cy="54000"/>
          </a:xfrm>
          <a:prstGeom prst="rect">
            <a:avLst/>
          </a:prstGeom>
          <a:solidFill>
            <a:srgbClr val="28D2C3"/>
          </a:solidFill>
          <a:ln w="19050" cap="flat" cmpd="sng">
            <a:solidFill>
              <a:srgbClr val="28D2C3"/>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2"/>
              </a:solidFill>
              <a:latin typeface="Arial"/>
              <a:ea typeface="Arial"/>
              <a:cs typeface="Arial"/>
              <a:sym typeface="Arial"/>
            </a:endParaRPr>
          </a:p>
        </p:txBody>
      </p:sp>
      <p:pic>
        <p:nvPicPr>
          <p:cNvPr id="47" name="Google Shape;47;p64" descr="Logotipo&#10;&#10;Descripción generada automáticamente con confianza media"/>
          <p:cNvPicPr preferRelativeResize="0"/>
          <p:nvPr/>
        </p:nvPicPr>
        <p:blipFill rotWithShape="1">
          <a:blip r:embed="rId2">
            <a:alphaModFix/>
          </a:blip>
          <a:srcRect/>
          <a:stretch/>
        </p:blipFill>
        <p:spPr>
          <a:xfrm>
            <a:off x="330200" y="6399764"/>
            <a:ext cx="1223729" cy="278296"/>
          </a:xfrm>
          <a:prstGeom prst="rect">
            <a:avLst/>
          </a:prstGeom>
          <a:noFill/>
          <a:ln>
            <a:noFill/>
          </a:ln>
        </p:spPr>
      </p:pic>
      <p:pic>
        <p:nvPicPr>
          <p:cNvPr id="48" name="Google Shape;48;p64" descr="Logotipo&#10;&#10;Descripción generada automáticamente con confianza media"/>
          <p:cNvPicPr preferRelativeResize="0"/>
          <p:nvPr/>
        </p:nvPicPr>
        <p:blipFill rotWithShape="1">
          <a:blip r:embed="rId3">
            <a:alphaModFix/>
          </a:blip>
          <a:srcRect/>
          <a:stretch/>
        </p:blipFill>
        <p:spPr>
          <a:xfrm>
            <a:off x="11415224" y="126683"/>
            <a:ext cx="471976" cy="472749"/>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1_Diapositiva de título" type="title">
  <p:cSld name="TITLE">
    <p:bg>
      <p:bgPr>
        <a:solidFill>
          <a:schemeClr val="dk1"/>
        </a:solidFill>
        <a:effectLst/>
      </p:bgPr>
    </p:bg>
    <p:spTree>
      <p:nvGrpSpPr>
        <p:cNvPr id="1" name="Shape 49"/>
        <p:cNvGrpSpPr/>
        <p:nvPr/>
      </p:nvGrpSpPr>
      <p:grpSpPr>
        <a:xfrm>
          <a:off x="0" y="0"/>
          <a:ext cx="0" cy="0"/>
          <a:chOff x="0" y="0"/>
          <a:chExt cx="0" cy="0"/>
        </a:xfrm>
      </p:grpSpPr>
      <p:sp>
        <p:nvSpPr>
          <p:cNvPr id="50" name="Google Shape;50;p65"/>
          <p:cNvSpPr txBox="1">
            <a:spLocks noGrp="1"/>
          </p:cNvSpPr>
          <p:nvPr>
            <p:ph type="ctrTitle"/>
          </p:nvPr>
        </p:nvSpPr>
        <p:spPr>
          <a:xfrm>
            <a:off x="838200" y="1887763"/>
            <a:ext cx="4091609" cy="129208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lt2"/>
              </a:buClr>
              <a:buSzPts val="4400"/>
              <a:buFont typeface="Play"/>
              <a:buNone/>
              <a:defRPr sz="4400" b="1">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65"/>
          <p:cNvSpPr txBox="1">
            <a:spLocks noGrp="1"/>
          </p:cNvSpPr>
          <p:nvPr>
            <p:ph type="subTitle" idx="1"/>
          </p:nvPr>
        </p:nvSpPr>
        <p:spPr>
          <a:xfrm>
            <a:off x="838200" y="3300756"/>
            <a:ext cx="9144000" cy="304040"/>
          </a:xfrm>
          <a:prstGeom prst="rect">
            <a:avLst/>
          </a:prstGeom>
          <a:noFill/>
          <a:ln>
            <a:noFill/>
          </a:ln>
        </p:spPr>
        <p:txBody>
          <a:bodyPr spcFirstLastPara="1" wrap="square" lIns="91425" tIns="45700" rIns="91425" bIns="45700" anchor="t" anchorCtr="0">
            <a:normAutofit/>
          </a:bodyPr>
          <a:lstStyle>
            <a:lvl1pPr lvl="0" algn="l">
              <a:lnSpc>
                <a:spcPct val="90000"/>
              </a:lnSpc>
              <a:spcBef>
                <a:spcPts val="1000"/>
              </a:spcBef>
              <a:spcAft>
                <a:spcPts val="0"/>
              </a:spcAft>
              <a:buClr>
                <a:schemeClr val="lt2"/>
              </a:buClr>
              <a:buSzPts val="1600"/>
              <a:buNone/>
              <a:defRPr sz="1600" i="1">
                <a:solidFill>
                  <a:schemeClr val="lt2"/>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52" name="Google Shape;52;p65"/>
          <p:cNvSpPr txBox="1">
            <a:spLocks noGrp="1"/>
          </p:cNvSpPr>
          <p:nvPr>
            <p:ph type="dt" idx="10"/>
          </p:nvPr>
        </p:nvSpPr>
        <p:spPr>
          <a:xfrm>
            <a:off x="9585434" y="5080092"/>
            <a:ext cx="1263869" cy="44288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solidFill>
                  <a:schemeClr val="lt2"/>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6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lt2"/>
                </a:solidFill>
                <a:latin typeface="Arial"/>
                <a:ea typeface="Arial"/>
                <a:cs typeface="Arial"/>
                <a:sym typeface="Arial"/>
              </a:defRPr>
            </a:lvl1pPr>
            <a:lvl2pPr marL="0" lvl="1" indent="0" algn="r">
              <a:spcBef>
                <a:spcPts val="0"/>
              </a:spcBef>
              <a:buNone/>
              <a:defRPr sz="1200">
                <a:solidFill>
                  <a:schemeClr val="lt2"/>
                </a:solidFill>
                <a:latin typeface="Arial"/>
                <a:ea typeface="Arial"/>
                <a:cs typeface="Arial"/>
                <a:sym typeface="Arial"/>
              </a:defRPr>
            </a:lvl2pPr>
            <a:lvl3pPr marL="0" lvl="2" indent="0" algn="r">
              <a:spcBef>
                <a:spcPts val="0"/>
              </a:spcBef>
              <a:buNone/>
              <a:defRPr sz="1200">
                <a:solidFill>
                  <a:schemeClr val="lt2"/>
                </a:solidFill>
                <a:latin typeface="Arial"/>
                <a:ea typeface="Arial"/>
                <a:cs typeface="Arial"/>
                <a:sym typeface="Arial"/>
              </a:defRPr>
            </a:lvl3pPr>
            <a:lvl4pPr marL="0" lvl="3" indent="0" algn="r">
              <a:spcBef>
                <a:spcPts val="0"/>
              </a:spcBef>
              <a:buNone/>
              <a:defRPr sz="1200">
                <a:solidFill>
                  <a:schemeClr val="lt2"/>
                </a:solidFill>
                <a:latin typeface="Arial"/>
                <a:ea typeface="Arial"/>
                <a:cs typeface="Arial"/>
                <a:sym typeface="Arial"/>
              </a:defRPr>
            </a:lvl4pPr>
            <a:lvl5pPr marL="0" lvl="4" indent="0" algn="r">
              <a:spcBef>
                <a:spcPts val="0"/>
              </a:spcBef>
              <a:buNone/>
              <a:defRPr sz="1200">
                <a:solidFill>
                  <a:schemeClr val="lt2"/>
                </a:solidFill>
                <a:latin typeface="Arial"/>
                <a:ea typeface="Arial"/>
                <a:cs typeface="Arial"/>
                <a:sym typeface="Arial"/>
              </a:defRPr>
            </a:lvl5pPr>
            <a:lvl6pPr marL="0" lvl="5" indent="0" algn="r">
              <a:spcBef>
                <a:spcPts val="0"/>
              </a:spcBef>
              <a:buNone/>
              <a:defRPr sz="1200">
                <a:solidFill>
                  <a:schemeClr val="lt2"/>
                </a:solidFill>
                <a:latin typeface="Arial"/>
                <a:ea typeface="Arial"/>
                <a:cs typeface="Arial"/>
                <a:sym typeface="Arial"/>
              </a:defRPr>
            </a:lvl6pPr>
            <a:lvl7pPr marL="0" lvl="6" indent="0" algn="r">
              <a:spcBef>
                <a:spcPts val="0"/>
              </a:spcBef>
              <a:buNone/>
              <a:defRPr sz="1200">
                <a:solidFill>
                  <a:schemeClr val="lt2"/>
                </a:solidFill>
                <a:latin typeface="Arial"/>
                <a:ea typeface="Arial"/>
                <a:cs typeface="Arial"/>
                <a:sym typeface="Arial"/>
              </a:defRPr>
            </a:lvl7pPr>
            <a:lvl8pPr marL="0" lvl="7" indent="0" algn="r">
              <a:spcBef>
                <a:spcPts val="0"/>
              </a:spcBef>
              <a:buNone/>
              <a:defRPr sz="1200">
                <a:solidFill>
                  <a:schemeClr val="lt2"/>
                </a:solidFill>
                <a:latin typeface="Arial"/>
                <a:ea typeface="Arial"/>
                <a:cs typeface="Arial"/>
                <a:sym typeface="Arial"/>
              </a:defRPr>
            </a:lvl8pPr>
            <a:lvl9pPr marL="0" lvl="8" indent="0" algn="r">
              <a:spcBef>
                <a:spcPts val="0"/>
              </a:spcBef>
              <a:buNone/>
              <a:defRPr sz="1200">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
        <p:nvSpPr>
          <p:cNvPr id="54" name="Google Shape;54;p65"/>
          <p:cNvSpPr/>
          <p:nvPr/>
        </p:nvSpPr>
        <p:spPr>
          <a:xfrm>
            <a:off x="0" y="3875730"/>
            <a:ext cx="12192000" cy="933428"/>
          </a:xfrm>
          <a:prstGeom prst="rect">
            <a:avLst/>
          </a:prstGeom>
          <a:solidFill>
            <a:schemeClr val="lt1"/>
          </a:solidFill>
          <a:ln w="19050" cap="flat" cmpd="sng">
            <a:solidFill>
              <a:schemeClr val="accent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pic>
        <p:nvPicPr>
          <p:cNvPr id="55" name="Google Shape;55;p65" descr="Logotipo&#10;&#10;Descripción generada automáticamente"/>
          <p:cNvPicPr preferRelativeResize="0"/>
          <p:nvPr/>
        </p:nvPicPr>
        <p:blipFill rotWithShape="1">
          <a:blip r:embed="rId2">
            <a:alphaModFix/>
          </a:blip>
          <a:srcRect/>
          <a:stretch/>
        </p:blipFill>
        <p:spPr>
          <a:xfrm>
            <a:off x="7346822" y="4068265"/>
            <a:ext cx="1890650" cy="607897"/>
          </a:xfrm>
          <a:prstGeom prst="rect">
            <a:avLst/>
          </a:prstGeom>
          <a:noFill/>
          <a:ln>
            <a:noFill/>
          </a:ln>
        </p:spPr>
      </p:pic>
      <p:pic>
        <p:nvPicPr>
          <p:cNvPr id="56" name="Google Shape;56;p65" descr="Logotipo&#10;&#10;Descripción generada automáticamente"/>
          <p:cNvPicPr preferRelativeResize="0"/>
          <p:nvPr/>
        </p:nvPicPr>
        <p:blipFill rotWithShape="1">
          <a:blip r:embed="rId3">
            <a:alphaModFix/>
          </a:blip>
          <a:srcRect/>
          <a:stretch/>
        </p:blipFill>
        <p:spPr>
          <a:xfrm>
            <a:off x="5304548" y="4127570"/>
            <a:ext cx="1295949" cy="489287"/>
          </a:xfrm>
          <a:prstGeom prst="rect">
            <a:avLst/>
          </a:prstGeom>
          <a:noFill/>
          <a:ln>
            <a:noFill/>
          </a:ln>
        </p:spPr>
      </p:pic>
      <p:pic>
        <p:nvPicPr>
          <p:cNvPr id="57" name="Google Shape;57;p65" descr="Logotipo&#10;&#10;Descripción generada automáticamente con confianza media"/>
          <p:cNvPicPr preferRelativeResize="0"/>
          <p:nvPr/>
        </p:nvPicPr>
        <p:blipFill rotWithShape="1">
          <a:blip r:embed="rId4">
            <a:alphaModFix/>
          </a:blip>
          <a:srcRect/>
          <a:stretch/>
        </p:blipFill>
        <p:spPr>
          <a:xfrm>
            <a:off x="2672984" y="4068265"/>
            <a:ext cx="1736849" cy="607897"/>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58"/>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Diapositiva de título">
  <p:cSld name="Diapositiva de título">
    <p:spTree>
      <p:nvGrpSpPr>
        <p:cNvPr id="1" name="Shape 59"/>
        <p:cNvGrpSpPr/>
        <p:nvPr/>
      </p:nvGrpSpPr>
      <p:grpSpPr>
        <a:xfrm>
          <a:off x="0" y="0"/>
          <a:ext cx="0" cy="0"/>
          <a:chOff x="0" y="0"/>
          <a:chExt cx="0" cy="0"/>
        </a:xfrm>
      </p:grpSpPr>
      <p:sp>
        <p:nvSpPr>
          <p:cNvPr id="60" name="Google Shape;60;p69"/>
          <p:cNvSpPr txBox="1">
            <a:spLocks noGrp="1"/>
          </p:cNvSpPr>
          <p:nvPr>
            <p:ph type="ctrTitle"/>
          </p:nvPr>
        </p:nvSpPr>
        <p:spPr>
          <a:xfrm>
            <a:off x="838200" y="1887763"/>
            <a:ext cx="4091609" cy="129208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4400"/>
              <a:buFont typeface="Play"/>
              <a:buNone/>
              <a:defRPr sz="44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1" name="Google Shape;61;p69"/>
          <p:cNvSpPr txBox="1">
            <a:spLocks noGrp="1"/>
          </p:cNvSpPr>
          <p:nvPr>
            <p:ph type="subTitle" idx="1"/>
          </p:nvPr>
        </p:nvSpPr>
        <p:spPr>
          <a:xfrm>
            <a:off x="838200" y="3381857"/>
            <a:ext cx="9144000" cy="304040"/>
          </a:xfrm>
          <a:prstGeom prst="rect">
            <a:avLst/>
          </a:prstGeom>
          <a:noFill/>
          <a:ln>
            <a:noFill/>
          </a:ln>
        </p:spPr>
        <p:txBody>
          <a:bodyPr spcFirstLastPara="1" wrap="square" lIns="91425" tIns="45700" rIns="91425" bIns="45700" anchor="t" anchorCtr="0">
            <a:normAutofit/>
          </a:bodyPr>
          <a:lstStyle>
            <a:lvl1pPr lvl="0" algn="l">
              <a:lnSpc>
                <a:spcPct val="90000"/>
              </a:lnSpc>
              <a:spcBef>
                <a:spcPts val="1000"/>
              </a:spcBef>
              <a:spcAft>
                <a:spcPts val="0"/>
              </a:spcAft>
              <a:buClr>
                <a:schemeClr val="dk1"/>
              </a:buClr>
              <a:buSzPts val="1600"/>
              <a:buNone/>
              <a:defRPr sz="1600" i="1"/>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62" name="Google Shape;62;p69"/>
          <p:cNvSpPr txBox="1">
            <a:spLocks noGrp="1"/>
          </p:cNvSpPr>
          <p:nvPr>
            <p:ph type="dt" idx="10"/>
          </p:nvPr>
        </p:nvSpPr>
        <p:spPr>
          <a:xfrm>
            <a:off x="838200" y="44409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6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dk1"/>
                </a:solidFill>
                <a:latin typeface="Arial"/>
                <a:ea typeface="Arial"/>
                <a:cs typeface="Arial"/>
                <a:sym typeface="Arial"/>
              </a:defRPr>
            </a:lvl1pPr>
            <a:lvl2pPr marL="0" lvl="1" indent="0" algn="r">
              <a:spcBef>
                <a:spcPts val="0"/>
              </a:spcBef>
              <a:buNone/>
              <a:defRPr sz="1200">
                <a:solidFill>
                  <a:schemeClr val="dk1"/>
                </a:solidFill>
                <a:latin typeface="Arial"/>
                <a:ea typeface="Arial"/>
                <a:cs typeface="Arial"/>
                <a:sym typeface="Arial"/>
              </a:defRPr>
            </a:lvl2pPr>
            <a:lvl3pPr marL="0" lvl="2" indent="0" algn="r">
              <a:spcBef>
                <a:spcPts val="0"/>
              </a:spcBef>
              <a:buNone/>
              <a:defRPr sz="1200">
                <a:solidFill>
                  <a:schemeClr val="dk1"/>
                </a:solidFill>
                <a:latin typeface="Arial"/>
                <a:ea typeface="Arial"/>
                <a:cs typeface="Arial"/>
                <a:sym typeface="Arial"/>
              </a:defRPr>
            </a:lvl3pPr>
            <a:lvl4pPr marL="0" lvl="3" indent="0" algn="r">
              <a:spcBef>
                <a:spcPts val="0"/>
              </a:spcBef>
              <a:buNone/>
              <a:defRPr sz="1200">
                <a:solidFill>
                  <a:schemeClr val="dk1"/>
                </a:solidFill>
                <a:latin typeface="Arial"/>
                <a:ea typeface="Arial"/>
                <a:cs typeface="Arial"/>
                <a:sym typeface="Arial"/>
              </a:defRPr>
            </a:lvl4pPr>
            <a:lvl5pPr marL="0" lvl="4" indent="0" algn="r">
              <a:spcBef>
                <a:spcPts val="0"/>
              </a:spcBef>
              <a:buNone/>
              <a:defRPr sz="1200">
                <a:solidFill>
                  <a:schemeClr val="dk1"/>
                </a:solidFill>
                <a:latin typeface="Arial"/>
                <a:ea typeface="Arial"/>
                <a:cs typeface="Arial"/>
                <a:sym typeface="Arial"/>
              </a:defRPr>
            </a:lvl5pPr>
            <a:lvl6pPr marL="0" lvl="5" indent="0" algn="r">
              <a:spcBef>
                <a:spcPts val="0"/>
              </a:spcBef>
              <a:buNone/>
              <a:defRPr sz="1200">
                <a:solidFill>
                  <a:schemeClr val="dk1"/>
                </a:solidFill>
                <a:latin typeface="Arial"/>
                <a:ea typeface="Arial"/>
                <a:cs typeface="Arial"/>
                <a:sym typeface="Arial"/>
              </a:defRPr>
            </a:lvl6pPr>
            <a:lvl7pPr marL="0" lvl="6" indent="0" algn="r">
              <a:spcBef>
                <a:spcPts val="0"/>
              </a:spcBef>
              <a:buNone/>
              <a:defRPr sz="1200">
                <a:solidFill>
                  <a:schemeClr val="dk1"/>
                </a:solidFill>
                <a:latin typeface="Arial"/>
                <a:ea typeface="Arial"/>
                <a:cs typeface="Arial"/>
                <a:sym typeface="Arial"/>
              </a:defRPr>
            </a:lvl7pPr>
            <a:lvl8pPr marL="0" lvl="7" indent="0" algn="r">
              <a:spcBef>
                <a:spcPts val="0"/>
              </a:spcBef>
              <a:buNone/>
              <a:defRPr sz="1200">
                <a:solidFill>
                  <a:schemeClr val="dk1"/>
                </a:solidFill>
                <a:latin typeface="Arial"/>
                <a:ea typeface="Arial"/>
                <a:cs typeface="Arial"/>
                <a:sym typeface="Arial"/>
              </a:defRPr>
            </a:lvl8pPr>
            <a:lvl9pPr marL="0" lvl="8" indent="0" algn="r">
              <a:spcBef>
                <a:spcPts val="0"/>
              </a:spcBef>
              <a:buNone/>
              <a:defRPr sz="1200">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
        <p:nvSpPr>
          <p:cNvPr id="64" name="Google Shape;64;p69"/>
          <p:cNvSpPr/>
          <p:nvPr/>
        </p:nvSpPr>
        <p:spPr>
          <a:xfrm>
            <a:off x="0" y="3875730"/>
            <a:ext cx="12192000" cy="365125"/>
          </a:xfrm>
          <a:prstGeom prst="rect">
            <a:avLst/>
          </a:prstGeom>
          <a:solidFill>
            <a:schemeClr val="dk2"/>
          </a:solidFill>
          <a:ln w="19050" cap="flat" cmpd="sng">
            <a:solidFill>
              <a:schemeClr val="dk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pic>
        <p:nvPicPr>
          <p:cNvPr id="65" name="Google Shape;65;p69" descr="Logotipo&#10;&#10;Descripción generada automáticamente"/>
          <p:cNvPicPr preferRelativeResize="0"/>
          <p:nvPr/>
        </p:nvPicPr>
        <p:blipFill rotWithShape="1">
          <a:blip r:embed="rId2">
            <a:alphaModFix/>
          </a:blip>
          <a:srcRect/>
          <a:stretch/>
        </p:blipFill>
        <p:spPr>
          <a:xfrm>
            <a:off x="7315291" y="5315205"/>
            <a:ext cx="1890650" cy="607897"/>
          </a:xfrm>
          <a:prstGeom prst="rect">
            <a:avLst/>
          </a:prstGeom>
          <a:noFill/>
          <a:ln>
            <a:noFill/>
          </a:ln>
        </p:spPr>
      </p:pic>
      <p:pic>
        <p:nvPicPr>
          <p:cNvPr id="66" name="Google Shape;66;p69" descr="Logotipo&#10;&#10;Descripción generada automáticamente"/>
          <p:cNvPicPr preferRelativeResize="0"/>
          <p:nvPr/>
        </p:nvPicPr>
        <p:blipFill rotWithShape="1">
          <a:blip r:embed="rId3">
            <a:alphaModFix/>
          </a:blip>
          <a:srcRect/>
          <a:stretch/>
        </p:blipFill>
        <p:spPr>
          <a:xfrm>
            <a:off x="5136382" y="5350936"/>
            <a:ext cx="1420828" cy="536435"/>
          </a:xfrm>
          <a:prstGeom prst="rect">
            <a:avLst/>
          </a:prstGeom>
          <a:noFill/>
          <a:ln>
            <a:noFill/>
          </a:ln>
        </p:spPr>
      </p:pic>
      <p:pic>
        <p:nvPicPr>
          <p:cNvPr id="67" name="Google Shape;67;p69" descr="Logotipo&#10;&#10;Descripción generada automáticamente con confianza media"/>
          <p:cNvPicPr preferRelativeResize="0"/>
          <p:nvPr/>
        </p:nvPicPr>
        <p:blipFill rotWithShape="1">
          <a:blip r:embed="rId4">
            <a:alphaModFix/>
          </a:blip>
          <a:srcRect/>
          <a:stretch/>
        </p:blipFill>
        <p:spPr>
          <a:xfrm>
            <a:off x="2641453" y="5315205"/>
            <a:ext cx="1736849" cy="607897"/>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1_Título y objetos">
  <p:cSld name="1_Título y objetos">
    <p:bg>
      <p:bgPr>
        <a:solidFill>
          <a:schemeClr val="dk1"/>
        </a:solidFill>
        <a:effectLst/>
      </p:bgPr>
    </p:bg>
    <p:spTree>
      <p:nvGrpSpPr>
        <p:cNvPr id="1" name="Shape 68"/>
        <p:cNvGrpSpPr/>
        <p:nvPr/>
      </p:nvGrpSpPr>
      <p:grpSpPr>
        <a:xfrm>
          <a:off x="0" y="0"/>
          <a:ext cx="0" cy="0"/>
          <a:chOff x="0" y="0"/>
          <a:chExt cx="0" cy="0"/>
        </a:xfrm>
      </p:grpSpPr>
      <p:pic>
        <p:nvPicPr>
          <p:cNvPr id="69" name="Google Shape;69;p70" descr="Logotipo&#10;&#10;Descripción generada automáticamente"/>
          <p:cNvPicPr preferRelativeResize="0"/>
          <p:nvPr/>
        </p:nvPicPr>
        <p:blipFill rotWithShape="1">
          <a:blip r:embed="rId2">
            <a:alphaModFix/>
          </a:blip>
          <a:srcRect/>
          <a:stretch/>
        </p:blipFill>
        <p:spPr>
          <a:xfrm>
            <a:off x="11415224" y="148488"/>
            <a:ext cx="444782" cy="429137"/>
          </a:xfrm>
          <a:prstGeom prst="rect">
            <a:avLst/>
          </a:prstGeom>
          <a:noFill/>
          <a:ln>
            <a:noFill/>
          </a:ln>
        </p:spPr>
      </p:pic>
      <p:pic>
        <p:nvPicPr>
          <p:cNvPr id="70" name="Google Shape;70;p70" descr="Logotipo&#10;&#10;Descripción generada automáticamente"/>
          <p:cNvPicPr preferRelativeResize="0"/>
          <p:nvPr/>
        </p:nvPicPr>
        <p:blipFill rotWithShape="1">
          <a:blip r:embed="rId3">
            <a:alphaModFix/>
          </a:blip>
          <a:srcRect/>
          <a:stretch/>
        </p:blipFill>
        <p:spPr>
          <a:xfrm>
            <a:off x="330200" y="6399764"/>
            <a:ext cx="1473330" cy="278296"/>
          </a:xfrm>
          <a:prstGeom prst="rect">
            <a:avLst/>
          </a:prstGeom>
          <a:noFill/>
          <a:ln>
            <a:noFill/>
          </a:ln>
        </p:spPr>
      </p:pic>
      <p:sp>
        <p:nvSpPr>
          <p:cNvPr id="71" name="Google Shape;71;p70"/>
          <p:cNvSpPr txBox="1">
            <a:spLocks noGrp="1"/>
          </p:cNvSpPr>
          <p:nvPr>
            <p:ph type="title"/>
          </p:nvPr>
        </p:nvSpPr>
        <p:spPr>
          <a:xfrm>
            <a:off x="330200" y="126683"/>
            <a:ext cx="3042920" cy="315912"/>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accent2"/>
              </a:buClr>
              <a:buSzPts val="1600"/>
              <a:buFont typeface="Play"/>
              <a:buNone/>
              <a:defRPr sz="1600" b="1">
                <a:solidFill>
                  <a:schemeClr val="accen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70"/>
          <p:cNvSpPr txBox="1">
            <a:spLocks noGrp="1"/>
          </p:cNvSpPr>
          <p:nvPr>
            <p:ph type="body" idx="1"/>
          </p:nvPr>
        </p:nvSpPr>
        <p:spPr>
          <a:xfrm>
            <a:off x="330200" y="1117123"/>
            <a:ext cx="11557000" cy="4838541"/>
          </a:xfrm>
          <a:prstGeom prst="rect">
            <a:avLst/>
          </a:prstGeom>
          <a:noFill/>
          <a:ln>
            <a:noFill/>
          </a:ln>
        </p:spPr>
        <p:txBody>
          <a:bodyPr spcFirstLastPara="1" wrap="square" lIns="91425" tIns="45700" rIns="91425" bIns="45700" anchor="t" anchorCtr="0">
            <a:normAutofit/>
          </a:bodyPr>
          <a:lstStyle>
            <a:lvl1pPr marL="457200" lvl="0" indent="-330200" algn="l">
              <a:lnSpc>
                <a:spcPct val="90000"/>
              </a:lnSpc>
              <a:spcBef>
                <a:spcPts val="1000"/>
              </a:spcBef>
              <a:spcAft>
                <a:spcPts val="0"/>
              </a:spcAft>
              <a:buClr>
                <a:schemeClr val="accent2"/>
              </a:buClr>
              <a:buSzPts val="1600"/>
              <a:buChar char="•"/>
              <a:defRPr>
                <a:solidFill>
                  <a:schemeClr val="accent2"/>
                </a:solidFill>
              </a:defRPr>
            </a:lvl1pPr>
            <a:lvl2pPr marL="914400" lvl="1" indent="-317500" algn="l">
              <a:lnSpc>
                <a:spcPct val="90000"/>
              </a:lnSpc>
              <a:spcBef>
                <a:spcPts val="500"/>
              </a:spcBef>
              <a:spcAft>
                <a:spcPts val="0"/>
              </a:spcAft>
              <a:buClr>
                <a:schemeClr val="accent2"/>
              </a:buClr>
              <a:buSzPts val="1400"/>
              <a:buChar char="•"/>
              <a:defRPr>
                <a:solidFill>
                  <a:schemeClr val="accent2"/>
                </a:solidFill>
              </a:defRPr>
            </a:lvl2pPr>
            <a:lvl3pPr marL="1371600" lvl="2" indent="-317500" algn="l">
              <a:lnSpc>
                <a:spcPct val="90000"/>
              </a:lnSpc>
              <a:spcBef>
                <a:spcPts val="500"/>
              </a:spcBef>
              <a:spcAft>
                <a:spcPts val="0"/>
              </a:spcAft>
              <a:buClr>
                <a:schemeClr val="accent2"/>
              </a:buClr>
              <a:buSzPts val="1400"/>
              <a:buChar char="•"/>
              <a:defRPr>
                <a:solidFill>
                  <a:schemeClr val="accent2"/>
                </a:solidFill>
              </a:defRPr>
            </a:lvl3pPr>
            <a:lvl4pPr marL="1828800" lvl="3" indent="-317500" algn="l">
              <a:lnSpc>
                <a:spcPct val="90000"/>
              </a:lnSpc>
              <a:spcBef>
                <a:spcPts val="500"/>
              </a:spcBef>
              <a:spcAft>
                <a:spcPts val="0"/>
              </a:spcAft>
              <a:buClr>
                <a:schemeClr val="accent2"/>
              </a:buClr>
              <a:buSzPts val="1400"/>
              <a:buChar char="•"/>
              <a:defRPr>
                <a:solidFill>
                  <a:schemeClr val="accent2"/>
                </a:solidFill>
              </a:defRPr>
            </a:lvl4pPr>
            <a:lvl5pPr marL="2286000" lvl="4" indent="-317500" algn="l">
              <a:lnSpc>
                <a:spcPct val="90000"/>
              </a:lnSpc>
              <a:spcBef>
                <a:spcPts val="500"/>
              </a:spcBef>
              <a:spcAft>
                <a:spcPts val="0"/>
              </a:spcAft>
              <a:buClr>
                <a:schemeClr val="accent2"/>
              </a:buClr>
              <a:buSzPts val="1400"/>
              <a:buChar char="•"/>
              <a:defRPr>
                <a:solidFill>
                  <a:schemeClr val="accen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3" name="Google Shape;73;p7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accent2"/>
                </a:solidFill>
                <a:latin typeface="Arial"/>
                <a:ea typeface="Arial"/>
                <a:cs typeface="Arial"/>
                <a:sym typeface="Arial"/>
              </a:defRPr>
            </a:lvl1pPr>
            <a:lvl2pPr marL="0" lvl="1" indent="0" algn="r">
              <a:spcBef>
                <a:spcPts val="0"/>
              </a:spcBef>
              <a:buNone/>
              <a:defRPr sz="1200">
                <a:solidFill>
                  <a:schemeClr val="accent2"/>
                </a:solidFill>
                <a:latin typeface="Arial"/>
                <a:ea typeface="Arial"/>
                <a:cs typeface="Arial"/>
                <a:sym typeface="Arial"/>
              </a:defRPr>
            </a:lvl2pPr>
            <a:lvl3pPr marL="0" lvl="2" indent="0" algn="r">
              <a:spcBef>
                <a:spcPts val="0"/>
              </a:spcBef>
              <a:buNone/>
              <a:defRPr sz="1200">
                <a:solidFill>
                  <a:schemeClr val="accent2"/>
                </a:solidFill>
                <a:latin typeface="Arial"/>
                <a:ea typeface="Arial"/>
                <a:cs typeface="Arial"/>
                <a:sym typeface="Arial"/>
              </a:defRPr>
            </a:lvl3pPr>
            <a:lvl4pPr marL="0" lvl="3" indent="0" algn="r">
              <a:spcBef>
                <a:spcPts val="0"/>
              </a:spcBef>
              <a:buNone/>
              <a:defRPr sz="1200">
                <a:solidFill>
                  <a:schemeClr val="accent2"/>
                </a:solidFill>
                <a:latin typeface="Arial"/>
                <a:ea typeface="Arial"/>
                <a:cs typeface="Arial"/>
                <a:sym typeface="Arial"/>
              </a:defRPr>
            </a:lvl4pPr>
            <a:lvl5pPr marL="0" lvl="4" indent="0" algn="r">
              <a:spcBef>
                <a:spcPts val="0"/>
              </a:spcBef>
              <a:buNone/>
              <a:defRPr sz="1200">
                <a:solidFill>
                  <a:schemeClr val="accent2"/>
                </a:solidFill>
                <a:latin typeface="Arial"/>
                <a:ea typeface="Arial"/>
                <a:cs typeface="Arial"/>
                <a:sym typeface="Arial"/>
              </a:defRPr>
            </a:lvl5pPr>
            <a:lvl6pPr marL="0" lvl="5" indent="0" algn="r">
              <a:spcBef>
                <a:spcPts val="0"/>
              </a:spcBef>
              <a:buNone/>
              <a:defRPr sz="1200">
                <a:solidFill>
                  <a:schemeClr val="accent2"/>
                </a:solidFill>
                <a:latin typeface="Arial"/>
                <a:ea typeface="Arial"/>
                <a:cs typeface="Arial"/>
                <a:sym typeface="Arial"/>
              </a:defRPr>
            </a:lvl6pPr>
            <a:lvl7pPr marL="0" lvl="6" indent="0" algn="r">
              <a:spcBef>
                <a:spcPts val="0"/>
              </a:spcBef>
              <a:buNone/>
              <a:defRPr sz="1200">
                <a:solidFill>
                  <a:schemeClr val="accent2"/>
                </a:solidFill>
                <a:latin typeface="Arial"/>
                <a:ea typeface="Arial"/>
                <a:cs typeface="Arial"/>
                <a:sym typeface="Arial"/>
              </a:defRPr>
            </a:lvl7pPr>
            <a:lvl8pPr marL="0" lvl="7" indent="0" algn="r">
              <a:spcBef>
                <a:spcPts val="0"/>
              </a:spcBef>
              <a:buNone/>
              <a:defRPr sz="1200">
                <a:solidFill>
                  <a:schemeClr val="accent2"/>
                </a:solidFill>
                <a:latin typeface="Arial"/>
                <a:ea typeface="Arial"/>
                <a:cs typeface="Arial"/>
                <a:sym typeface="Arial"/>
              </a:defRPr>
            </a:lvl8pPr>
            <a:lvl9pPr marL="0" lvl="8" indent="0" algn="r">
              <a:spcBef>
                <a:spcPts val="0"/>
              </a:spcBef>
              <a:buNone/>
              <a:defRPr sz="1200">
                <a:solidFill>
                  <a:schemeClr val="accen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
        <p:nvSpPr>
          <p:cNvPr id="74" name="Google Shape;74;p70"/>
          <p:cNvSpPr/>
          <p:nvPr/>
        </p:nvSpPr>
        <p:spPr>
          <a:xfrm>
            <a:off x="0" y="716439"/>
            <a:ext cx="12192000" cy="54000"/>
          </a:xfrm>
          <a:prstGeom prst="rect">
            <a:avLst/>
          </a:prstGeom>
          <a:solidFill>
            <a:schemeClr val="accent4"/>
          </a:solidFill>
          <a:ln w="19050" cap="flat" cmpd="sng">
            <a:solidFill>
              <a:schemeClr val="accent4"/>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2_Título y objetos">
  <p:cSld name="2_Título y objetos">
    <p:bg>
      <p:bgPr>
        <a:solidFill>
          <a:schemeClr val="dk1"/>
        </a:solidFill>
        <a:effectLst/>
      </p:bgPr>
    </p:bg>
    <p:spTree>
      <p:nvGrpSpPr>
        <p:cNvPr id="1" name="Shape 75"/>
        <p:cNvGrpSpPr/>
        <p:nvPr/>
      </p:nvGrpSpPr>
      <p:grpSpPr>
        <a:xfrm>
          <a:off x="0" y="0"/>
          <a:ext cx="0" cy="0"/>
          <a:chOff x="0" y="0"/>
          <a:chExt cx="0" cy="0"/>
        </a:xfrm>
      </p:grpSpPr>
      <p:pic>
        <p:nvPicPr>
          <p:cNvPr id="76" name="Google Shape;76;p71" descr="Interfaz de usuario gráfica, Logotipo&#10;&#10;Descripción generada automáticamente"/>
          <p:cNvPicPr preferRelativeResize="0"/>
          <p:nvPr/>
        </p:nvPicPr>
        <p:blipFill rotWithShape="1">
          <a:blip r:embed="rId2">
            <a:alphaModFix/>
          </a:blip>
          <a:srcRect/>
          <a:stretch/>
        </p:blipFill>
        <p:spPr>
          <a:xfrm>
            <a:off x="11415225" y="102371"/>
            <a:ext cx="471976" cy="503746"/>
          </a:xfrm>
          <a:prstGeom prst="rect">
            <a:avLst/>
          </a:prstGeom>
          <a:noFill/>
          <a:ln>
            <a:noFill/>
          </a:ln>
        </p:spPr>
      </p:pic>
      <p:sp>
        <p:nvSpPr>
          <p:cNvPr id="77" name="Google Shape;77;p71"/>
          <p:cNvSpPr txBox="1">
            <a:spLocks noGrp="1"/>
          </p:cNvSpPr>
          <p:nvPr>
            <p:ph type="title"/>
          </p:nvPr>
        </p:nvSpPr>
        <p:spPr>
          <a:xfrm>
            <a:off x="330200" y="126683"/>
            <a:ext cx="3042920" cy="315912"/>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accent6"/>
              </a:buClr>
              <a:buSzPts val="1600"/>
              <a:buFont typeface="Play"/>
              <a:buNone/>
              <a:defRPr sz="1600" b="1">
                <a:solidFill>
                  <a:schemeClr val="accent6"/>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8" name="Google Shape;78;p71"/>
          <p:cNvSpPr txBox="1">
            <a:spLocks noGrp="1"/>
          </p:cNvSpPr>
          <p:nvPr>
            <p:ph type="body" idx="1"/>
          </p:nvPr>
        </p:nvSpPr>
        <p:spPr>
          <a:xfrm>
            <a:off x="330200" y="1117123"/>
            <a:ext cx="11557000" cy="4838541"/>
          </a:xfrm>
          <a:prstGeom prst="rect">
            <a:avLst/>
          </a:prstGeom>
          <a:noFill/>
          <a:ln>
            <a:noFill/>
          </a:ln>
        </p:spPr>
        <p:txBody>
          <a:bodyPr spcFirstLastPara="1" wrap="square" lIns="91425" tIns="45700" rIns="91425" bIns="45700" anchor="t" anchorCtr="0">
            <a:normAutofit/>
          </a:bodyPr>
          <a:lstStyle>
            <a:lvl1pPr marL="457200" lvl="0" indent="-330200" algn="l">
              <a:lnSpc>
                <a:spcPct val="90000"/>
              </a:lnSpc>
              <a:spcBef>
                <a:spcPts val="1000"/>
              </a:spcBef>
              <a:spcAft>
                <a:spcPts val="0"/>
              </a:spcAft>
              <a:buClr>
                <a:schemeClr val="accent2"/>
              </a:buClr>
              <a:buSzPts val="1600"/>
              <a:buChar char="•"/>
              <a:defRPr>
                <a:solidFill>
                  <a:schemeClr val="accent2"/>
                </a:solidFill>
              </a:defRPr>
            </a:lvl1pPr>
            <a:lvl2pPr marL="914400" lvl="1" indent="-317500" algn="l">
              <a:lnSpc>
                <a:spcPct val="90000"/>
              </a:lnSpc>
              <a:spcBef>
                <a:spcPts val="500"/>
              </a:spcBef>
              <a:spcAft>
                <a:spcPts val="0"/>
              </a:spcAft>
              <a:buClr>
                <a:schemeClr val="accent2"/>
              </a:buClr>
              <a:buSzPts val="1400"/>
              <a:buChar char="•"/>
              <a:defRPr>
                <a:solidFill>
                  <a:schemeClr val="accent2"/>
                </a:solidFill>
              </a:defRPr>
            </a:lvl2pPr>
            <a:lvl3pPr marL="1371600" lvl="2" indent="-317500" algn="l">
              <a:lnSpc>
                <a:spcPct val="90000"/>
              </a:lnSpc>
              <a:spcBef>
                <a:spcPts val="500"/>
              </a:spcBef>
              <a:spcAft>
                <a:spcPts val="0"/>
              </a:spcAft>
              <a:buClr>
                <a:schemeClr val="accent2"/>
              </a:buClr>
              <a:buSzPts val="1400"/>
              <a:buChar char="•"/>
              <a:defRPr>
                <a:solidFill>
                  <a:schemeClr val="accent2"/>
                </a:solidFill>
              </a:defRPr>
            </a:lvl3pPr>
            <a:lvl4pPr marL="1828800" lvl="3" indent="-317500" algn="l">
              <a:lnSpc>
                <a:spcPct val="90000"/>
              </a:lnSpc>
              <a:spcBef>
                <a:spcPts val="500"/>
              </a:spcBef>
              <a:spcAft>
                <a:spcPts val="0"/>
              </a:spcAft>
              <a:buClr>
                <a:schemeClr val="accent2"/>
              </a:buClr>
              <a:buSzPts val="1400"/>
              <a:buChar char="•"/>
              <a:defRPr>
                <a:solidFill>
                  <a:schemeClr val="accent2"/>
                </a:solidFill>
              </a:defRPr>
            </a:lvl4pPr>
            <a:lvl5pPr marL="2286000" lvl="4" indent="-317500" algn="l">
              <a:lnSpc>
                <a:spcPct val="90000"/>
              </a:lnSpc>
              <a:spcBef>
                <a:spcPts val="500"/>
              </a:spcBef>
              <a:spcAft>
                <a:spcPts val="0"/>
              </a:spcAft>
              <a:buClr>
                <a:schemeClr val="accent2"/>
              </a:buClr>
              <a:buSzPts val="1400"/>
              <a:buChar char="•"/>
              <a:defRPr>
                <a:solidFill>
                  <a:schemeClr val="accen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9" name="Google Shape;79;p7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accent2"/>
                </a:solidFill>
                <a:latin typeface="Arial"/>
                <a:ea typeface="Arial"/>
                <a:cs typeface="Arial"/>
                <a:sym typeface="Arial"/>
              </a:defRPr>
            </a:lvl1pPr>
            <a:lvl2pPr marL="0" lvl="1" indent="0" algn="r">
              <a:spcBef>
                <a:spcPts val="0"/>
              </a:spcBef>
              <a:buNone/>
              <a:defRPr sz="1200">
                <a:solidFill>
                  <a:schemeClr val="accent2"/>
                </a:solidFill>
                <a:latin typeface="Arial"/>
                <a:ea typeface="Arial"/>
                <a:cs typeface="Arial"/>
                <a:sym typeface="Arial"/>
              </a:defRPr>
            </a:lvl2pPr>
            <a:lvl3pPr marL="0" lvl="2" indent="0" algn="r">
              <a:spcBef>
                <a:spcPts val="0"/>
              </a:spcBef>
              <a:buNone/>
              <a:defRPr sz="1200">
                <a:solidFill>
                  <a:schemeClr val="accent2"/>
                </a:solidFill>
                <a:latin typeface="Arial"/>
                <a:ea typeface="Arial"/>
                <a:cs typeface="Arial"/>
                <a:sym typeface="Arial"/>
              </a:defRPr>
            </a:lvl3pPr>
            <a:lvl4pPr marL="0" lvl="3" indent="0" algn="r">
              <a:spcBef>
                <a:spcPts val="0"/>
              </a:spcBef>
              <a:buNone/>
              <a:defRPr sz="1200">
                <a:solidFill>
                  <a:schemeClr val="accent2"/>
                </a:solidFill>
                <a:latin typeface="Arial"/>
                <a:ea typeface="Arial"/>
                <a:cs typeface="Arial"/>
                <a:sym typeface="Arial"/>
              </a:defRPr>
            </a:lvl4pPr>
            <a:lvl5pPr marL="0" lvl="4" indent="0" algn="r">
              <a:spcBef>
                <a:spcPts val="0"/>
              </a:spcBef>
              <a:buNone/>
              <a:defRPr sz="1200">
                <a:solidFill>
                  <a:schemeClr val="accent2"/>
                </a:solidFill>
                <a:latin typeface="Arial"/>
                <a:ea typeface="Arial"/>
                <a:cs typeface="Arial"/>
                <a:sym typeface="Arial"/>
              </a:defRPr>
            </a:lvl5pPr>
            <a:lvl6pPr marL="0" lvl="5" indent="0" algn="r">
              <a:spcBef>
                <a:spcPts val="0"/>
              </a:spcBef>
              <a:buNone/>
              <a:defRPr sz="1200">
                <a:solidFill>
                  <a:schemeClr val="accent2"/>
                </a:solidFill>
                <a:latin typeface="Arial"/>
                <a:ea typeface="Arial"/>
                <a:cs typeface="Arial"/>
                <a:sym typeface="Arial"/>
              </a:defRPr>
            </a:lvl6pPr>
            <a:lvl7pPr marL="0" lvl="6" indent="0" algn="r">
              <a:spcBef>
                <a:spcPts val="0"/>
              </a:spcBef>
              <a:buNone/>
              <a:defRPr sz="1200">
                <a:solidFill>
                  <a:schemeClr val="accent2"/>
                </a:solidFill>
                <a:latin typeface="Arial"/>
                <a:ea typeface="Arial"/>
                <a:cs typeface="Arial"/>
                <a:sym typeface="Arial"/>
              </a:defRPr>
            </a:lvl7pPr>
            <a:lvl8pPr marL="0" lvl="7" indent="0" algn="r">
              <a:spcBef>
                <a:spcPts val="0"/>
              </a:spcBef>
              <a:buNone/>
              <a:defRPr sz="1200">
                <a:solidFill>
                  <a:schemeClr val="accent2"/>
                </a:solidFill>
                <a:latin typeface="Arial"/>
                <a:ea typeface="Arial"/>
                <a:cs typeface="Arial"/>
                <a:sym typeface="Arial"/>
              </a:defRPr>
            </a:lvl8pPr>
            <a:lvl9pPr marL="0" lvl="8" indent="0" algn="r">
              <a:spcBef>
                <a:spcPts val="0"/>
              </a:spcBef>
              <a:buNone/>
              <a:defRPr sz="1200">
                <a:solidFill>
                  <a:schemeClr val="accen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
        <p:nvSpPr>
          <p:cNvPr id="80" name="Google Shape;80;p71"/>
          <p:cNvSpPr/>
          <p:nvPr/>
        </p:nvSpPr>
        <p:spPr>
          <a:xfrm>
            <a:off x="0" y="716439"/>
            <a:ext cx="12192000" cy="54000"/>
          </a:xfrm>
          <a:prstGeom prst="rect">
            <a:avLst/>
          </a:prstGeom>
          <a:solidFill>
            <a:schemeClr val="accent5"/>
          </a:solidFill>
          <a:ln w="19050" cap="flat" cmpd="sng">
            <a:solidFill>
              <a:schemeClr val="accent5"/>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pic>
        <p:nvPicPr>
          <p:cNvPr id="81" name="Google Shape;81;p71" descr="Interfaz de usuario gráfica, Logotipo&#10;&#10;Descripción generada automáticamente"/>
          <p:cNvPicPr preferRelativeResize="0"/>
          <p:nvPr/>
        </p:nvPicPr>
        <p:blipFill rotWithShape="1">
          <a:blip r:embed="rId3">
            <a:alphaModFix/>
          </a:blip>
          <a:srcRect/>
          <a:stretch/>
        </p:blipFill>
        <p:spPr>
          <a:xfrm>
            <a:off x="351220" y="6369269"/>
            <a:ext cx="1057873" cy="30879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3_Título y objetos">
  <p:cSld name="3_Título y objetos">
    <p:bg>
      <p:bgPr>
        <a:solidFill>
          <a:schemeClr val="dk1"/>
        </a:solidFill>
        <a:effectLst/>
      </p:bgPr>
    </p:bg>
    <p:spTree>
      <p:nvGrpSpPr>
        <p:cNvPr id="1" name="Shape 82"/>
        <p:cNvGrpSpPr/>
        <p:nvPr/>
      </p:nvGrpSpPr>
      <p:grpSpPr>
        <a:xfrm>
          <a:off x="0" y="0"/>
          <a:ext cx="0" cy="0"/>
          <a:chOff x="0" y="0"/>
          <a:chExt cx="0" cy="0"/>
        </a:xfrm>
      </p:grpSpPr>
      <p:pic>
        <p:nvPicPr>
          <p:cNvPr id="83" name="Google Shape;83;p72" descr="Interfaz de usuario gráfica, Logotipo&#10;&#10;Descripción generada automáticamente"/>
          <p:cNvPicPr preferRelativeResize="0"/>
          <p:nvPr/>
        </p:nvPicPr>
        <p:blipFill rotWithShape="1">
          <a:blip r:embed="rId2">
            <a:alphaModFix/>
          </a:blip>
          <a:srcRect/>
          <a:stretch/>
        </p:blipFill>
        <p:spPr>
          <a:xfrm>
            <a:off x="11442419" y="75771"/>
            <a:ext cx="471976" cy="503746"/>
          </a:xfrm>
          <a:prstGeom prst="rect">
            <a:avLst/>
          </a:prstGeom>
          <a:noFill/>
          <a:ln>
            <a:noFill/>
          </a:ln>
        </p:spPr>
      </p:pic>
      <p:sp>
        <p:nvSpPr>
          <p:cNvPr id="84" name="Google Shape;84;p72"/>
          <p:cNvSpPr txBox="1">
            <a:spLocks noGrp="1"/>
          </p:cNvSpPr>
          <p:nvPr>
            <p:ph type="title"/>
          </p:nvPr>
        </p:nvSpPr>
        <p:spPr>
          <a:xfrm>
            <a:off x="330200" y="126683"/>
            <a:ext cx="3042920" cy="315912"/>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lt2"/>
              </a:buClr>
              <a:buSzPts val="1600"/>
              <a:buFont typeface="Play"/>
              <a:buNone/>
              <a:defRPr sz="1600" b="1">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5" name="Google Shape;85;p72"/>
          <p:cNvSpPr txBox="1">
            <a:spLocks noGrp="1"/>
          </p:cNvSpPr>
          <p:nvPr>
            <p:ph type="body" idx="1"/>
          </p:nvPr>
        </p:nvSpPr>
        <p:spPr>
          <a:xfrm>
            <a:off x="330200" y="1117123"/>
            <a:ext cx="11557000" cy="4838541"/>
          </a:xfrm>
          <a:prstGeom prst="rect">
            <a:avLst/>
          </a:prstGeom>
          <a:noFill/>
          <a:ln>
            <a:noFill/>
          </a:ln>
        </p:spPr>
        <p:txBody>
          <a:bodyPr spcFirstLastPara="1" wrap="square" lIns="91425" tIns="45700" rIns="91425" bIns="45700" anchor="t" anchorCtr="0">
            <a:normAutofit/>
          </a:bodyPr>
          <a:lstStyle>
            <a:lvl1pPr marL="457200" lvl="0" indent="-330200" algn="l">
              <a:lnSpc>
                <a:spcPct val="90000"/>
              </a:lnSpc>
              <a:spcBef>
                <a:spcPts val="1000"/>
              </a:spcBef>
              <a:spcAft>
                <a:spcPts val="0"/>
              </a:spcAft>
              <a:buClr>
                <a:schemeClr val="accent2"/>
              </a:buClr>
              <a:buSzPts val="1600"/>
              <a:buChar char="•"/>
              <a:defRPr>
                <a:solidFill>
                  <a:schemeClr val="accent2"/>
                </a:solidFill>
              </a:defRPr>
            </a:lvl1pPr>
            <a:lvl2pPr marL="914400" lvl="1" indent="-317500" algn="l">
              <a:lnSpc>
                <a:spcPct val="90000"/>
              </a:lnSpc>
              <a:spcBef>
                <a:spcPts val="500"/>
              </a:spcBef>
              <a:spcAft>
                <a:spcPts val="0"/>
              </a:spcAft>
              <a:buClr>
                <a:schemeClr val="accent2"/>
              </a:buClr>
              <a:buSzPts val="1400"/>
              <a:buChar char="•"/>
              <a:defRPr>
                <a:solidFill>
                  <a:schemeClr val="accent2"/>
                </a:solidFill>
              </a:defRPr>
            </a:lvl2pPr>
            <a:lvl3pPr marL="1371600" lvl="2" indent="-317500" algn="l">
              <a:lnSpc>
                <a:spcPct val="90000"/>
              </a:lnSpc>
              <a:spcBef>
                <a:spcPts val="500"/>
              </a:spcBef>
              <a:spcAft>
                <a:spcPts val="0"/>
              </a:spcAft>
              <a:buClr>
                <a:schemeClr val="accent2"/>
              </a:buClr>
              <a:buSzPts val="1400"/>
              <a:buChar char="•"/>
              <a:defRPr>
                <a:solidFill>
                  <a:schemeClr val="accent2"/>
                </a:solidFill>
              </a:defRPr>
            </a:lvl3pPr>
            <a:lvl4pPr marL="1828800" lvl="3" indent="-317500" algn="l">
              <a:lnSpc>
                <a:spcPct val="90000"/>
              </a:lnSpc>
              <a:spcBef>
                <a:spcPts val="500"/>
              </a:spcBef>
              <a:spcAft>
                <a:spcPts val="0"/>
              </a:spcAft>
              <a:buClr>
                <a:schemeClr val="accent2"/>
              </a:buClr>
              <a:buSzPts val="1400"/>
              <a:buChar char="•"/>
              <a:defRPr>
                <a:solidFill>
                  <a:schemeClr val="accent2"/>
                </a:solidFill>
              </a:defRPr>
            </a:lvl4pPr>
            <a:lvl5pPr marL="2286000" lvl="4" indent="-317500" algn="l">
              <a:lnSpc>
                <a:spcPct val="90000"/>
              </a:lnSpc>
              <a:spcBef>
                <a:spcPts val="500"/>
              </a:spcBef>
              <a:spcAft>
                <a:spcPts val="0"/>
              </a:spcAft>
              <a:buClr>
                <a:schemeClr val="accent2"/>
              </a:buClr>
              <a:buSzPts val="1400"/>
              <a:buChar char="•"/>
              <a:defRPr>
                <a:solidFill>
                  <a:schemeClr val="accen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6" name="Google Shape;86;p7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accent2"/>
                </a:solidFill>
                <a:latin typeface="Arial"/>
                <a:ea typeface="Arial"/>
                <a:cs typeface="Arial"/>
                <a:sym typeface="Arial"/>
              </a:defRPr>
            </a:lvl1pPr>
            <a:lvl2pPr marL="0" lvl="1" indent="0" algn="r">
              <a:spcBef>
                <a:spcPts val="0"/>
              </a:spcBef>
              <a:buNone/>
              <a:defRPr sz="1200">
                <a:solidFill>
                  <a:schemeClr val="accent2"/>
                </a:solidFill>
                <a:latin typeface="Arial"/>
                <a:ea typeface="Arial"/>
                <a:cs typeface="Arial"/>
                <a:sym typeface="Arial"/>
              </a:defRPr>
            </a:lvl2pPr>
            <a:lvl3pPr marL="0" lvl="2" indent="0" algn="r">
              <a:spcBef>
                <a:spcPts val="0"/>
              </a:spcBef>
              <a:buNone/>
              <a:defRPr sz="1200">
                <a:solidFill>
                  <a:schemeClr val="accent2"/>
                </a:solidFill>
                <a:latin typeface="Arial"/>
                <a:ea typeface="Arial"/>
                <a:cs typeface="Arial"/>
                <a:sym typeface="Arial"/>
              </a:defRPr>
            </a:lvl3pPr>
            <a:lvl4pPr marL="0" lvl="3" indent="0" algn="r">
              <a:spcBef>
                <a:spcPts val="0"/>
              </a:spcBef>
              <a:buNone/>
              <a:defRPr sz="1200">
                <a:solidFill>
                  <a:schemeClr val="accent2"/>
                </a:solidFill>
                <a:latin typeface="Arial"/>
                <a:ea typeface="Arial"/>
                <a:cs typeface="Arial"/>
                <a:sym typeface="Arial"/>
              </a:defRPr>
            </a:lvl4pPr>
            <a:lvl5pPr marL="0" lvl="4" indent="0" algn="r">
              <a:spcBef>
                <a:spcPts val="0"/>
              </a:spcBef>
              <a:buNone/>
              <a:defRPr sz="1200">
                <a:solidFill>
                  <a:schemeClr val="accent2"/>
                </a:solidFill>
                <a:latin typeface="Arial"/>
                <a:ea typeface="Arial"/>
                <a:cs typeface="Arial"/>
                <a:sym typeface="Arial"/>
              </a:defRPr>
            </a:lvl5pPr>
            <a:lvl6pPr marL="0" lvl="5" indent="0" algn="r">
              <a:spcBef>
                <a:spcPts val="0"/>
              </a:spcBef>
              <a:buNone/>
              <a:defRPr sz="1200">
                <a:solidFill>
                  <a:schemeClr val="accent2"/>
                </a:solidFill>
                <a:latin typeface="Arial"/>
                <a:ea typeface="Arial"/>
                <a:cs typeface="Arial"/>
                <a:sym typeface="Arial"/>
              </a:defRPr>
            </a:lvl6pPr>
            <a:lvl7pPr marL="0" lvl="6" indent="0" algn="r">
              <a:spcBef>
                <a:spcPts val="0"/>
              </a:spcBef>
              <a:buNone/>
              <a:defRPr sz="1200">
                <a:solidFill>
                  <a:schemeClr val="accent2"/>
                </a:solidFill>
                <a:latin typeface="Arial"/>
                <a:ea typeface="Arial"/>
                <a:cs typeface="Arial"/>
                <a:sym typeface="Arial"/>
              </a:defRPr>
            </a:lvl7pPr>
            <a:lvl8pPr marL="0" lvl="7" indent="0" algn="r">
              <a:spcBef>
                <a:spcPts val="0"/>
              </a:spcBef>
              <a:buNone/>
              <a:defRPr sz="1200">
                <a:solidFill>
                  <a:schemeClr val="accent2"/>
                </a:solidFill>
                <a:latin typeface="Arial"/>
                <a:ea typeface="Arial"/>
                <a:cs typeface="Arial"/>
                <a:sym typeface="Arial"/>
              </a:defRPr>
            </a:lvl8pPr>
            <a:lvl9pPr marL="0" lvl="8" indent="0" algn="r">
              <a:spcBef>
                <a:spcPts val="0"/>
              </a:spcBef>
              <a:buNone/>
              <a:defRPr sz="1200">
                <a:solidFill>
                  <a:schemeClr val="accen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
        <p:nvSpPr>
          <p:cNvPr id="87" name="Google Shape;87;p72"/>
          <p:cNvSpPr/>
          <p:nvPr/>
        </p:nvSpPr>
        <p:spPr>
          <a:xfrm>
            <a:off x="0" y="716439"/>
            <a:ext cx="12192000" cy="54000"/>
          </a:xfrm>
          <a:prstGeom prst="rect">
            <a:avLst/>
          </a:prstGeom>
          <a:solidFill>
            <a:schemeClr val="accent1"/>
          </a:solid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1"/>
              </a:solidFill>
              <a:latin typeface="Arial"/>
              <a:ea typeface="Arial"/>
              <a:cs typeface="Arial"/>
              <a:sym typeface="Arial"/>
            </a:endParaRPr>
          </a:p>
        </p:txBody>
      </p:sp>
      <p:pic>
        <p:nvPicPr>
          <p:cNvPr id="88" name="Google Shape;88;p72" descr="Logotipo&#10;&#10;Descripción generada automáticamente"/>
          <p:cNvPicPr preferRelativeResize="0"/>
          <p:nvPr/>
        </p:nvPicPr>
        <p:blipFill rotWithShape="1">
          <a:blip r:embed="rId3">
            <a:alphaModFix/>
          </a:blip>
          <a:srcRect/>
          <a:stretch/>
        </p:blipFill>
        <p:spPr>
          <a:xfrm>
            <a:off x="10970443" y="133379"/>
            <a:ext cx="444782" cy="429137"/>
          </a:xfrm>
          <a:prstGeom prst="rect">
            <a:avLst/>
          </a:prstGeom>
          <a:noFill/>
          <a:ln>
            <a:noFill/>
          </a:ln>
        </p:spPr>
      </p:pic>
      <p:pic>
        <p:nvPicPr>
          <p:cNvPr id="89" name="Google Shape;89;p72" descr="Logotipo&#10;&#10;Descripción generada automáticamente con confianza media"/>
          <p:cNvPicPr preferRelativeResize="0"/>
          <p:nvPr/>
        </p:nvPicPr>
        <p:blipFill rotWithShape="1">
          <a:blip r:embed="rId4">
            <a:alphaModFix/>
          </a:blip>
          <a:srcRect/>
          <a:stretch/>
        </p:blipFill>
        <p:spPr>
          <a:xfrm>
            <a:off x="10510092" y="102371"/>
            <a:ext cx="471976" cy="472749"/>
          </a:xfrm>
          <a:prstGeom prst="rect">
            <a:avLst/>
          </a:prstGeom>
          <a:noFill/>
          <a:ln>
            <a:noFill/>
          </a:ln>
        </p:spPr>
      </p:pic>
      <p:grpSp>
        <p:nvGrpSpPr>
          <p:cNvPr id="90" name="Google Shape;90;p72"/>
          <p:cNvGrpSpPr/>
          <p:nvPr/>
        </p:nvGrpSpPr>
        <p:grpSpPr>
          <a:xfrm>
            <a:off x="330200" y="6416593"/>
            <a:ext cx="3814681" cy="304882"/>
            <a:chOff x="717990" y="3332097"/>
            <a:chExt cx="10730146" cy="876191"/>
          </a:xfrm>
        </p:grpSpPr>
        <p:pic>
          <p:nvPicPr>
            <p:cNvPr id="91" name="Google Shape;91;p72" descr="Interfaz de usuario gráfica, Logotipo&#10;&#10;Descripción generada automáticamente"/>
            <p:cNvPicPr preferRelativeResize="0"/>
            <p:nvPr/>
          </p:nvPicPr>
          <p:blipFill rotWithShape="1">
            <a:blip r:embed="rId5">
              <a:alphaModFix/>
            </a:blip>
            <a:srcRect/>
            <a:stretch/>
          </p:blipFill>
          <p:spPr>
            <a:xfrm>
              <a:off x="8654758" y="3386689"/>
              <a:ext cx="2793378" cy="772817"/>
            </a:xfrm>
            <a:prstGeom prst="rect">
              <a:avLst/>
            </a:prstGeom>
            <a:noFill/>
            <a:ln>
              <a:noFill/>
            </a:ln>
          </p:spPr>
        </p:pic>
        <p:pic>
          <p:nvPicPr>
            <p:cNvPr id="92" name="Google Shape;92;p72" descr="Logotipo&#10;&#10;Descripción generada automáticamente"/>
            <p:cNvPicPr preferRelativeResize="0"/>
            <p:nvPr/>
          </p:nvPicPr>
          <p:blipFill rotWithShape="1">
            <a:blip r:embed="rId6">
              <a:alphaModFix/>
            </a:blip>
            <a:srcRect l="24752" t="40142" r="19087" b="39788"/>
            <a:stretch/>
          </p:blipFill>
          <p:spPr>
            <a:xfrm>
              <a:off x="4295868" y="3332097"/>
              <a:ext cx="4358890" cy="876191"/>
            </a:xfrm>
            <a:prstGeom prst="rect">
              <a:avLst/>
            </a:prstGeom>
            <a:noFill/>
            <a:ln>
              <a:noFill/>
            </a:ln>
          </p:spPr>
        </p:pic>
        <p:pic>
          <p:nvPicPr>
            <p:cNvPr id="93" name="Google Shape;93;p72" descr="Logotipo&#10;&#10;Descripción generada automáticamente con confianza media"/>
            <p:cNvPicPr preferRelativeResize="0"/>
            <p:nvPr/>
          </p:nvPicPr>
          <p:blipFill rotWithShape="1">
            <a:blip r:embed="rId7">
              <a:alphaModFix/>
            </a:blip>
            <a:srcRect/>
            <a:stretch/>
          </p:blipFill>
          <p:spPr>
            <a:xfrm>
              <a:off x="717990" y="3383785"/>
              <a:ext cx="3321748" cy="772817"/>
            </a:xfrm>
            <a:prstGeom prst="rect">
              <a:avLst/>
            </a:prstGeom>
            <a:noFill/>
            <a:ln>
              <a:noFill/>
            </a:ln>
          </p:spPr>
        </p:pic>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4_Título y objetos">
  <p:cSld name="4_Título y objetos">
    <p:bg>
      <p:bgPr>
        <a:solidFill>
          <a:schemeClr val="dk1"/>
        </a:solidFill>
        <a:effectLst/>
      </p:bgPr>
    </p:bg>
    <p:spTree>
      <p:nvGrpSpPr>
        <p:cNvPr id="1" name="Shape 94"/>
        <p:cNvGrpSpPr/>
        <p:nvPr/>
      </p:nvGrpSpPr>
      <p:grpSpPr>
        <a:xfrm>
          <a:off x="0" y="0"/>
          <a:ext cx="0" cy="0"/>
          <a:chOff x="0" y="0"/>
          <a:chExt cx="0" cy="0"/>
        </a:xfrm>
      </p:grpSpPr>
      <p:pic>
        <p:nvPicPr>
          <p:cNvPr id="95" name="Google Shape;95;p73" descr="Interfaz de usuario gráfica, Logotipo&#10;&#10;Descripción generada automáticamente"/>
          <p:cNvPicPr preferRelativeResize="0"/>
          <p:nvPr/>
        </p:nvPicPr>
        <p:blipFill rotWithShape="1">
          <a:blip r:embed="rId2">
            <a:alphaModFix/>
          </a:blip>
          <a:srcRect/>
          <a:stretch/>
        </p:blipFill>
        <p:spPr>
          <a:xfrm>
            <a:off x="11442419" y="75771"/>
            <a:ext cx="471976" cy="503746"/>
          </a:xfrm>
          <a:prstGeom prst="rect">
            <a:avLst/>
          </a:prstGeom>
          <a:noFill/>
          <a:ln>
            <a:noFill/>
          </a:ln>
        </p:spPr>
      </p:pic>
      <p:sp>
        <p:nvSpPr>
          <p:cNvPr id="96" name="Google Shape;96;p73"/>
          <p:cNvSpPr txBox="1">
            <a:spLocks noGrp="1"/>
          </p:cNvSpPr>
          <p:nvPr>
            <p:ph type="title"/>
          </p:nvPr>
        </p:nvSpPr>
        <p:spPr>
          <a:xfrm>
            <a:off x="330200" y="126683"/>
            <a:ext cx="3042920" cy="315912"/>
          </a:xfrm>
          <a:prstGeom prst="rect">
            <a:avLst/>
          </a:prstGeom>
          <a:noFill/>
          <a:ln>
            <a:noFill/>
          </a:ln>
        </p:spPr>
        <p:txBody>
          <a:bodyPr spcFirstLastPara="1" wrap="square" lIns="91425" tIns="45700" rIns="91425" bIns="45700" anchor="ctr" anchorCtr="0">
            <a:noAutofit/>
          </a:bodyPr>
          <a:lstStyle>
            <a:lvl1pPr lvl="0" algn="l">
              <a:lnSpc>
                <a:spcPct val="90000"/>
              </a:lnSpc>
              <a:spcBef>
                <a:spcPts val="0"/>
              </a:spcBef>
              <a:spcAft>
                <a:spcPts val="0"/>
              </a:spcAft>
              <a:buClr>
                <a:schemeClr val="lt2"/>
              </a:buClr>
              <a:buSzPts val="1600"/>
              <a:buFont typeface="Play"/>
              <a:buNone/>
              <a:defRPr sz="1600" b="1">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7" name="Google Shape;97;p73"/>
          <p:cNvSpPr txBox="1">
            <a:spLocks noGrp="1"/>
          </p:cNvSpPr>
          <p:nvPr>
            <p:ph type="body" idx="1"/>
          </p:nvPr>
        </p:nvSpPr>
        <p:spPr>
          <a:xfrm>
            <a:off x="330200" y="1117123"/>
            <a:ext cx="11557000" cy="4838541"/>
          </a:xfrm>
          <a:prstGeom prst="rect">
            <a:avLst/>
          </a:prstGeom>
          <a:noFill/>
          <a:ln>
            <a:noFill/>
          </a:ln>
        </p:spPr>
        <p:txBody>
          <a:bodyPr spcFirstLastPara="1" wrap="square" lIns="91425" tIns="45700" rIns="91425" bIns="45700" anchor="t" anchorCtr="0">
            <a:normAutofit/>
          </a:bodyPr>
          <a:lstStyle>
            <a:lvl1pPr marL="457200" lvl="0" indent="-330200" algn="l">
              <a:lnSpc>
                <a:spcPct val="90000"/>
              </a:lnSpc>
              <a:spcBef>
                <a:spcPts val="1000"/>
              </a:spcBef>
              <a:spcAft>
                <a:spcPts val="0"/>
              </a:spcAft>
              <a:buClr>
                <a:schemeClr val="accent2"/>
              </a:buClr>
              <a:buSzPts val="1600"/>
              <a:buChar char="•"/>
              <a:defRPr>
                <a:solidFill>
                  <a:schemeClr val="accent2"/>
                </a:solidFill>
              </a:defRPr>
            </a:lvl1pPr>
            <a:lvl2pPr marL="914400" lvl="1" indent="-317500" algn="l">
              <a:lnSpc>
                <a:spcPct val="90000"/>
              </a:lnSpc>
              <a:spcBef>
                <a:spcPts val="500"/>
              </a:spcBef>
              <a:spcAft>
                <a:spcPts val="0"/>
              </a:spcAft>
              <a:buClr>
                <a:schemeClr val="accent2"/>
              </a:buClr>
              <a:buSzPts val="1400"/>
              <a:buChar char="•"/>
              <a:defRPr>
                <a:solidFill>
                  <a:schemeClr val="accent2"/>
                </a:solidFill>
              </a:defRPr>
            </a:lvl2pPr>
            <a:lvl3pPr marL="1371600" lvl="2" indent="-317500" algn="l">
              <a:lnSpc>
                <a:spcPct val="90000"/>
              </a:lnSpc>
              <a:spcBef>
                <a:spcPts val="500"/>
              </a:spcBef>
              <a:spcAft>
                <a:spcPts val="0"/>
              </a:spcAft>
              <a:buClr>
                <a:schemeClr val="accent2"/>
              </a:buClr>
              <a:buSzPts val="1400"/>
              <a:buChar char="•"/>
              <a:defRPr>
                <a:solidFill>
                  <a:schemeClr val="accent2"/>
                </a:solidFill>
              </a:defRPr>
            </a:lvl3pPr>
            <a:lvl4pPr marL="1828800" lvl="3" indent="-317500" algn="l">
              <a:lnSpc>
                <a:spcPct val="90000"/>
              </a:lnSpc>
              <a:spcBef>
                <a:spcPts val="500"/>
              </a:spcBef>
              <a:spcAft>
                <a:spcPts val="0"/>
              </a:spcAft>
              <a:buClr>
                <a:schemeClr val="accent2"/>
              </a:buClr>
              <a:buSzPts val="1400"/>
              <a:buChar char="•"/>
              <a:defRPr>
                <a:solidFill>
                  <a:schemeClr val="accent2"/>
                </a:solidFill>
              </a:defRPr>
            </a:lvl4pPr>
            <a:lvl5pPr marL="2286000" lvl="4" indent="-317500" algn="l">
              <a:lnSpc>
                <a:spcPct val="90000"/>
              </a:lnSpc>
              <a:spcBef>
                <a:spcPts val="500"/>
              </a:spcBef>
              <a:spcAft>
                <a:spcPts val="0"/>
              </a:spcAft>
              <a:buClr>
                <a:schemeClr val="accent2"/>
              </a:buClr>
              <a:buSzPts val="1400"/>
              <a:buChar char="•"/>
              <a:defRPr>
                <a:solidFill>
                  <a:schemeClr val="accent2"/>
                </a:solidFill>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8" name="Google Shape;98;p7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accent2"/>
                </a:solidFill>
                <a:latin typeface="Arial"/>
                <a:ea typeface="Arial"/>
                <a:cs typeface="Arial"/>
                <a:sym typeface="Arial"/>
              </a:defRPr>
            </a:lvl1pPr>
            <a:lvl2pPr marL="0" lvl="1" indent="0" algn="r">
              <a:spcBef>
                <a:spcPts val="0"/>
              </a:spcBef>
              <a:buNone/>
              <a:defRPr sz="1200">
                <a:solidFill>
                  <a:schemeClr val="accent2"/>
                </a:solidFill>
                <a:latin typeface="Arial"/>
                <a:ea typeface="Arial"/>
                <a:cs typeface="Arial"/>
                <a:sym typeface="Arial"/>
              </a:defRPr>
            </a:lvl2pPr>
            <a:lvl3pPr marL="0" lvl="2" indent="0" algn="r">
              <a:spcBef>
                <a:spcPts val="0"/>
              </a:spcBef>
              <a:buNone/>
              <a:defRPr sz="1200">
                <a:solidFill>
                  <a:schemeClr val="accent2"/>
                </a:solidFill>
                <a:latin typeface="Arial"/>
                <a:ea typeface="Arial"/>
                <a:cs typeface="Arial"/>
                <a:sym typeface="Arial"/>
              </a:defRPr>
            </a:lvl3pPr>
            <a:lvl4pPr marL="0" lvl="3" indent="0" algn="r">
              <a:spcBef>
                <a:spcPts val="0"/>
              </a:spcBef>
              <a:buNone/>
              <a:defRPr sz="1200">
                <a:solidFill>
                  <a:schemeClr val="accent2"/>
                </a:solidFill>
                <a:latin typeface="Arial"/>
                <a:ea typeface="Arial"/>
                <a:cs typeface="Arial"/>
                <a:sym typeface="Arial"/>
              </a:defRPr>
            </a:lvl4pPr>
            <a:lvl5pPr marL="0" lvl="4" indent="0" algn="r">
              <a:spcBef>
                <a:spcPts val="0"/>
              </a:spcBef>
              <a:buNone/>
              <a:defRPr sz="1200">
                <a:solidFill>
                  <a:schemeClr val="accent2"/>
                </a:solidFill>
                <a:latin typeface="Arial"/>
                <a:ea typeface="Arial"/>
                <a:cs typeface="Arial"/>
                <a:sym typeface="Arial"/>
              </a:defRPr>
            </a:lvl5pPr>
            <a:lvl6pPr marL="0" lvl="5" indent="0" algn="r">
              <a:spcBef>
                <a:spcPts val="0"/>
              </a:spcBef>
              <a:buNone/>
              <a:defRPr sz="1200">
                <a:solidFill>
                  <a:schemeClr val="accent2"/>
                </a:solidFill>
                <a:latin typeface="Arial"/>
                <a:ea typeface="Arial"/>
                <a:cs typeface="Arial"/>
                <a:sym typeface="Arial"/>
              </a:defRPr>
            </a:lvl6pPr>
            <a:lvl7pPr marL="0" lvl="6" indent="0" algn="r">
              <a:spcBef>
                <a:spcPts val="0"/>
              </a:spcBef>
              <a:buNone/>
              <a:defRPr sz="1200">
                <a:solidFill>
                  <a:schemeClr val="accent2"/>
                </a:solidFill>
                <a:latin typeface="Arial"/>
                <a:ea typeface="Arial"/>
                <a:cs typeface="Arial"/>
                <a:sym typeface="Arial"/>
              </a:defRPr>
            </a:lvl7pPr>
            <a:lvl8pPr marL="0" lvl="7" indent="0" algn="r">
              <a:spcBef>
                <a:spcPts val="0"/>
              </a:spcBef>
              <a:buNone/>
              <a:defRPr sz="1200">
                <a:solidFill>
                  <a:schemeClr val="accent2"/>
                </a:solidFill>
                <a:latin typeface="Arial"/>
                <a:ea typeface="Arial"/>
                <a:cs typeface="Arial"/>
                <a:sym typeface="Arial"/>
              </a:defRPr>
            </a:lvl8pPr>
            <a:lvl9pPr marL="0" lvl="8" indent="0" algn="r">
              <a:spcBef>
                <a:spcPts val="0"/>
              </a:spcBef>
              <a:buNone/>
              <a:defRPr sz="1200">
                <a:solidFill>
                  <a:schemeClr val="accen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
        <p:nvSpPr>
          <p:cNvPr id="99" name="Google Shape;99;p73"/>
          <p:cNvSpPr/>
          <p:nvPr/>
        </p:nvSpPr>
        <p:spPr>
          <a:xfrm>
            <a:off x="0" y="716439"/>
            <a:ext cx="12192000" cy="54000"/>
          </a:xfrm>
          <a:prstGeom prst="rect">
            <a:avLst/>
          </a:prstGeom>
          <a:solidFill>
            <a:schemeClr val="accent1"/>
          </a:solid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1"/>
              </a:solidFill>
              <a:latin typeface="Arial"/>
              <a:ea typeface="Arial"/>
              <a:cs typeface="Arial"/>
              <a:sym typeface="Arial"/>
            </a:endParaRPr>
          </a:p>
        </p:txBody>
      </p:sp>
      <p:pic>
        <p:nvPicPr>
          <p:cNvPr id="100" name="Google Shape;100;p73" descr="Logotipo&#10;&#10;Descripción generada automáticamente"/>
          <p:cNvPicPr preferRelativeResize="0"/>
          <p:nvPr/>
        </p:nvPicPr>
        <p:blipFill rotWithShape="1">
          <a:blip r:embed="rId3">
            <a:alphaModFix/>
          </a:blip>
          <a:srcRect/>
          <a:stretch/>
        </p:blipFill>
        <p:spPr>
          <a:xfrm>
            <a:off x="10970443" y="133379"/>
            <a:ext cx="444782" cy="429137"/>
          </a:xfrm>
          <a:prstGeom prst="rect">
            <a:avLst/>
          </a:prstGeom>
          <a:noFill/>
          <a:ln>
            <a:noFill/>
          </a:ln>
        </p:spPr>
      </p:pic>
      <p:pic>
        <p:nvPicPr>
          <p:cNvPr id="101" name="Google Shape;101;p73" descr="Logotipo&#10;&#10;Descripción generada automáticamente con confianza media"/>
          <p:cNvPicPr preferRelativeResize="0"/>
          <p:nvPr/>
        </p:nvPicPr>
        <p:blipFill rotWithShape="1">
          <a:blip r:embed="rId4">
            <a:alphaModFix/>
          </a:blip>
          <a:srcRect/>
          <a:stretch/>
        </p:blipFill>
        <p:spPr>
          <a:xfrm>
            <a:off x="10510092" y="102371"/>
            <a:ext cx="471976" cy="472749"/>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omparación">
  <p:cSld name="Comparación">
    <p:bg>
      <p:bgPr>
        <a:solidFill>
          <a:schemeClr val="dk1"/>
        </a:solidFill>
        <a:effectLst/>
      </p:bgPr>
    </p:bg>
    <p:spTree>
      <p:nvGrpSpPr>
        <p:cNvPr id="1" name="Shape 102"/>
        <p:cNvGrpSpPr/>
        <p:nvPr/>
      </p:nvGrpSpPr>
      <p:grpSpPr>
        <a:xfrm>
          <a:off x="0" y="0"/>
          <a:ext cx="0" cy="0"/>
          <a:chOff x="0" y="0"/>
          <a:chExt cx="0" cy="0"/>
        </a:xfrm>
      </p:grpSpPr>
      <p:sp>
        <p:nvSpPr>
          <p:cNvPr id="103" name="Google Shape;103;p74"/>
          <p:cNvSpPr txBox="1">
            <a:spLocks noGrp="1"/>
          </p:cNvSpPr>
          <p:nvPr>
            <p:ph type="title"/>
          </p:nvPr>
        </p:nvSpPr>
        <p:spPr>
          <a:xfrm>
            <a:off x="839788" y="365126"/>
            <a:ext cx="10515600" cy="60508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2"/>
              </a:buClr>
              <a:buSzPts val="3000"/>
              <a:buFont typeface="Play"/>
              <a:buNone/>
              <a:defRPr sz="300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4" name="Google Shape;104;p74"/>
          <p:cNvSpPr txBox="1"/>
          <p:nvPr/>
        </p:nvSpPr>
        <p:spPr>
          <a:xfrm>
            <a:off x="964587" y="1390362"/>
            <a:ext cx="3634500"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Colores Gráficos Gemco:</a:t>
            </a:r>
            <a:endParaRPr sz="1800">
              <a:solidFill>
                <a:schemeClr val="lt2"/>
              </a:solidFill>
              <a:latin typeface="Arial"/>
              <a:ea typeface="Arial"/>
              <a:cs typeface="Arial"/>
              <a:sym typeface="Arial"/>
            </a:endParaRPr>
          </a:p>
        </p:txBody>
      </p:sp>
      <p:sp>
        <p:nvSpPr>
          <p:cNvPr id="105" name="Google Shape;105;p74"/>
          <p:cNvSpPr/>
          <p:nvPr/>
        </p:nvSpPr>
        <p:spPr>
          <a:xfrm>
            <a:off x="1051673" y="1909103"/>
            <a:ext cx="1382486" cy="1175657"/>
          </a:xfrm>
          <a:prstGeom prst="roundRect">
            <a:avLst>
              <a:gd name="adj" fmla="val 16667"/>
            </a:avLst>
          </a:prstGeom>
          <a:solidFill>
            <a:srgbClr val="282DF0"/>
          </a:solidFill>
          <a:ln w="19050" cap="flat" cmpd="sng">
            <a:solidFill>
              <a:srgbClr val="282DF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06" name="Google Shape;106;p74"/>
          <p:cNvSpPr/>
          <p:nvPr/>
        </p:nvSpPr>
        <p:spPr>
          <a:xfrm>
            <a:off x="2655987" y="1909102"/>
            <a:ext cx="1382486" cy="1175657"/>
          </a:xfrm>
          <a:prstGeom prst="roundRect">
            <a:avLst>
              <a:gd name="adj" fmla="val 16667"/>
            </a:avLst>
          </a:prstGeom>
          <a:solidFill>
            <a:srgbClr val="28D2C3"/>
          </a:solidFill>
          <a:ln w="19050" cap="flat" cmpd="sng">
            <a:solidFill>
              <a:srgbClr val="28D2C3"/>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07" name="Google Shape;107;p74"/>
          <p:cNvSpPr/>
          <p:nvPr/>
        </p:nvSpPr>
        <p:spPr>
          <a:xfrm>
            <a:off x="4260301" y="1909102"/>
            <a:ext cx="1382486" cy="1175657"/>
          </a:xfrm>
          <a:prstGeom prst="roundRect">
            <a:avLst>
              <a:gd name="adj" fmla="val 16667"/>
            </a:avLst>
          </a:prstGeom>
          <a:solidFill>
            <a:srgbClr val="373C46"/>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08" name="Google Shape;108;p74"/>
          <p:cNvSpPr txBox="1"/>
          <p:nvPr/>
        </p:nvSpPr>
        <p:spPr>
          <a:xfrm>
            <a:off x="1051673" y="3212898"/>
            <a:ext cx="1088572"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40 45 240 </a:t>
            </a:r>
            <a:endParaRPr sz="1800">
              <a:solidFill>
                <a:schemeClr val="lt2"/>
              </a:solidFill>
              <a:latin typeface="Arial"/>
              <a:ea typeface="Arial"/>
              <a:cs typeface="Arial"/>
              <a:sym typeface="Arial"/>
            </a:endParaRPr>
          </a:p>
        </p:txBody>
      </p:sp>
      <p:sp>
        <p:nvSpPr>
          <p:cNvPr id="109" name="Google Shape;109;p74"/>
          <p:cNvSpPr txBox="1"/>
          <p:nvPr/>
        </p:nvSpPr>
        <p:spPr>
          <a:xfrm>
            <a:off x="2655987" y="3212898"/>
            <a:ext cx="1269514"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40 210  195 </a:t>
            </a:r>
            <a:endParaRPr sz="1800">
              <a:solidFill>
                <a:schemeClr val="lt2"/>
              </a:solidFill>
              <a:latin typeface="Arial"/>
              <a:ea typeface="Arial"/>
              <a:cs typeface="Arial"/>
              <a:sym typeface="Arial"/>
            </a:endParaRPr>
          </a:p>
        </p:txBody>
      </p:sp>
      <p:sp>
        <p:nvSpPr>
          <p:cNvPr id="110" name="Google Shape;110;p74"/>
          <p:cNvSpPr txBox="1"/>
          <p:nvPr/>
        </p:nvSpPr>
        <p:spPr>
          <a:xfrm>
            <a:off x="4260301" y="3212898"/>
            <a:ext cx="1088572"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55 60 70 </a:t>
            </a:r>
            <a:endParaRPr sz="1800">
              <a:solidFill>
                <a:schemeClr val="lt2"/>
              </a:solidFill>
              <a:latin typeface="Arial"/>
              <a:ea typeface="Arial"/>
              <a:cs typeface="Arial"/>
              <a:sym typeface="Arial"/>
            </a:endParaRPr>
          </a:p>
        </p:txBody>
      </p:sp>
      <p:sp>
        <p:nvSpPr>
          <p:cNvPr id="111" name="Google Shape;111;p74"/>
          <p:cNvSpPr txBox="1"/>
          <p:nvPr/>
        </p:nvSpPr>
        <p:spPr>
          <a:xfrm>
            <a:off x="964587" y="3719039"/>
            <a:ext cx="3634500"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Colores Gráficos MMQ:</a:t>
            </a:r>
            <a:endParaRPr sz="1800">
              <a:solidFill>
                <a:schemeClr val="lt2"/>
              </a:solidFill>
              <a:latin typeface="Arial"/>
              <a:ea typeface="Arial"/>
              <a:cs typeface="Arial"/>
              <a:sym typeface="Arial"/>
            </a:endParaRPr>
          </a:p>
        </p:txBody>
      </p:sp>
      <p:sp>
        <p:nvSpPr>
          <p:cNvPr id="112" name="Google Shape;112;p74"/>
          <p:cNvSpPr/>
          <p:nvPr/>
        </p:nvSpPr>
        <p:spPr>
          <a:xfrm>
            <a:off x="1051673" y="4237780"/>
            <a:ext cx="1382486" cy="1175657"/>
          </a:xfrm>
          <a:prstGeom prst="roundRect">
            <a:avLst>
              <a:gd name="adj" fmla="val 16667"/>
            </a:avLst>
          </a:prstGeom>
          <a:solidFill>
            <a:srgbClr val="0074BF"/>
          </a:solidFill>
          <a:ln w="19050" cap="flat" cmpd="sng">
            <a:solidFill>
              <a:srgbClr val="0074B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13" name="Google Shape;113;p74"/>
          <p:cNvSpPr/>
          <p:nvPr/>
        </p:nvSpPr>
        <p:spPr>
          <a:xfrm>
            <a:off x="2655987" y="4237779"/>
            <a:ext cx="1382486" cy="1175657"/>
          </a:xfrm>
          <a:prstGeom prst="roundRect">
            <a:avLst>
              <a:gd name="adj" fmla="val 16667"/>
            </a:avLst>
          </a:prstGeom>
          <a:solidFill>
            <a:srgbClr val="FF7016"/>
          </a:solidFill>
          <a:ln w="19050" cap="flat" cmpd="sng">
            <a:solidFill>
              <a:srgbClr val="FF701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14" name="Google Shape;114;p74"/>
          <p:cNvSpPr/>
          <p:nvPr/>
        </p:nvSpPr>
        <p:spPr>
          <a:xfrm>
            <a:off x="4260301" y="4237779"/>
            <a:ext cx="1382486" cy="1175657"/>
          </a:xfrm>
          <a:prstGeom prst="roundRect">
            <a:avLst>
              <a:gd name="adj" fmla="val 16667"/>
            </a:avLst>
          </a:prstGeom>
          <a:solidFill>
            <a:srgbClr val="373C46"/>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15" name="Google Shape;115;p74"/>
          <p:cNvSpPr txBox="1"/>
          <p:nvPr/>
        </p:nvSpPr>
        <p:spPr>
          <a:xfrm>
            <a:off x="1051673" y="5541576"/>
            <a:ext cx="1269514"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0  116 191</a:t>
            </a:r>
            <a:endParaRPr sz="1800">
              <a:solidFill>
                <a:schemeClr val="lt2"/>
              </a:solidFill>
              <a:latin typeface="Arial"/>
              <a:ea typeface="Arial"/>
              <a:cs typeface="Arial"/>
              <a:sym typeface="Arial"/>
            </a:endParaRPr>
          </a:p>
        </p:txBody>
      </p:sp>
      <p:sp>
        <p:nvSpPr>
          <p:cNvPr id="116" name="Google Shape;116;p74"/>
          <p:cNvSpPr txBox="1"/>
          <p:nvPr/>
        </p:nvSpPr>
        <p:spPr>
          <a:xfrm>
            <a:off x="2655987" y="5541575"/>
            <a:ext cx="1269514"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255 132 37 </a:t>
            </a:r>
            <a:endParaRPr sz="1800">
              <a:solidFill>
                <a:schemeClr val="lt2"/>
              </a:solidFill>
              <a:latin typeface="Arial"/>
              <a:ea typeface="Arial"/>
              <a:cs typeface="Arial"/>
              <a:sym typeface="Arial"/>
            </a:endParaRPr>
          </a:p>
        </p:txBody>
      </p:sp>
      <p:sp>
        <p:nvSpPr>
          <p:cNvPr id="117" name="Google Shape;117;p74"/>
          <p:cNvSpPr txBox="1"/>
          <p:nvPr/>
        </p:nvSpPr>
        <p:spPr>
          <a:xfrm>
            <a:off x="4260301" y="5541575"/>
            <a:ext cx="1088572"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55 60 70 </a:t>
            </a:r>
            <a:endParaRPr sz="1800">
              <a:solidFill>
                <a:schemeClr val="lt2"/>
              </a:solidFill>
              <a:latin typeface="Arial"/>
              <a:ea typeface="Arial"/>
              <a:cs typeface="Arial"/>
              <a:sym typeface="Arial"/>
            </a:endParaRPr>
          </a:p>
        </p:txBody>
      </p:sp>
      <p:sp>
        <p:nvSpPr>
          <p:cNvPr id="118" name="Google Shape;118;p74"/>
          <p:cNvSpPr txBox="1"/>
          <p:nvPr/>
        </p:nvSpPr>
        <p:spPr>
          <a:xfrm>
            <a:off x="6638829" y="2738541"/>
            <a:ext cx="3634500"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Colores Gráficos Incardia:</a:t>
            </a:r>
            <a:endParaRPr sz="1800">
              <a:solidFill>
                <a:schemeClr val="lt2"/>
              </a:solidFill>
              <a:latin typeface="Arial"/>
              <a:ea typeface="Arial"/>
              <a:cs typeface="Arial"/>
              <a:sym typeface="Arial"/>
            </a:endParaRPr>
          </a:p>
        </p:txBody>
      </p:sp>
      <p:sp>
        <p:nvSpPr>
          <p:cNvPr id="119" name="Google Shape;119;p74"/>
          <p:cNvSpPr/>
          <p:nvPr/>
        </p:nvSpPr>
        <p:spPr>
          <a:xfrm>
            <a:off x="6725915" y="3257282"/>
            <a:ext cx="1382486" cy="1175657"/>
          </a:xfrm>
          <a:prstGeom prst="roundRect">
            <a:avLst>
              <a:gd name="adj" fmla="val 16667"/>
            </a:avLst>
          </a:prstGeom>
          <a:solidFill>
            <a:srgbClr val="D30101"/>
          </a:solidFill>
          <a:ln w="19050" cap="flat" cmpd="sng">
            <a:solidFill>
              <a:srgbClr val="D3010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20" name="Google Shape;120;p74"/>
          <p:cNvSpPr/>
          <p:nvPr/>
        </p:nvSpPr>
        <p:spPr>
          <a:xfrm>
            <a:off x="8330229" y="3257281"/>
            <a:ext cx="1382486" cy="1175657"/>
          </a:xfrm>
          <a:prstGeom prst="roundRect">
            <a:avLst>
              <a:gd name="adj" fmla="val 16667"/>
            </a:avLst>
          </a:prstGeom>
          <a:solidFill>
            <a:srgbClr val="28D2C3"/>
          </a:solidFill>
          <a:ln w="19050" cap="flat" cmpd="sng">
            <a:solidFill>
              <a:srgbClr val="28D2C3"/>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21" name="Google Shape;121;p74"/>
          <p:cNvSpPr/>
          <p:nvPr/>
        </p:nvSpPr>
        <p:spPr>
          <a:xfrm>
            <a:off x="9972902" y="3257281"/>
            <a:ext cx="1382486" cy="1175657"/>
          </a:xfrm>
          <a:prstGeom prst="roundRect">
            <a:avLst>
              <a:gd name="adj" fmla="val 16667"/>
            </a:avLst>
          </a:prstGeom>
          <a:solidFill>
            <a:srgbClr val="373C46"/>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2"/>
              </a:solidFill>
              <a:latin typeface="Arial"/>
              <a:ea typeface="Arial"/>
              <a:cs typeface="Arial"/>
              <a:sym typeface="Arial"/>
            </a:endParaRPr>
          </a:p>
        </p:txBody>
      </p:sp>
      <p:sp>
        <p:nvSpPr>
          <p:cNvPr id="122" name="Google Shape;122;p74"/>
          <p:cNvSpPr txBox="1"/>
          <p:nvPr/>
        </p:nvSpPr>
        <p:spPr>
          <a:xfrm>
            <a:off x="6725915" y="4561077"/>
            <a:ext cx="1088572"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None/>
            </a:pPr>
            <a:r>
              <a:rPr lang="es-CL" sz="1050">
                <a:solidFill>
                  <a:schemeClr val="lt2"/>
                </a:solidFill>
                <a:highlight>
                  <a:srgbClr val="FFFFFF"/>
                </a:highlight>
                <a:latin typeface="Arial"/>
                <a:ea typeface="Arial"/>
                <a:cs typeface="Arial"/>
                <a:sym typeface="Arial"/>
              </a:rPr>
              <a:t>RGB : 210 01 01</a:t>
            </a:r>
            <a:endParaRPr sz="1800">
              <a:solidFill>
                <a:schemeClr val="lt2"/>
              </a:solidFill>
              <a:latin typeface="Arial"/>
              <a:ea typeface="Arial"/>
              <a:cs typeface="Arial"/>
              <a:sym typeface="Arial"/>
            </a:endParaRPr>
          </a:p>
        </p:txBody>
      </p:sp>
      <p:sp>
        <p:nvSpPr>
          <p:cNvPr id="123" name="Google Shape;123;p74"/>
          <p:cNvSpPr txBox="1"/>
          <p:nvPr/>
        </p:nvSpPr>
        <p:spPr>
          <a:xfrm>
            <a:off x="8330229" y="4561077"/>
            <a:ext cx="1269514"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40 210  195 </a:t>
            </a:r>
            <a:endParaRPr sz="1800">
              <a:solidFill>
                <a:schemeClr val="lt2"/>
              </a:solidFill>
              <a:latin typeface="Arial"/>
              <a:ea typeface="Arial"/>
              <a:cs typeface="Arial"/>
              <a:sym typeface="Arial"/>
            </a:endParaRPr>
          </a:p>
        </p:txBody>
      </p:sp>
      <p:sp>
        <p:nvSpPr>
          <p:cNvPr id="124" name="Google Shape;124;p74"/>
          <p:cNvSpPr txBox="1"/>
          <p:nvPr/>
        </p:nvSpPr>
        <p:spPr>
          <a:xfrm>
            <a:off x="9934543" y="4561077"/>
            <a:ext cx="1088572" cy="346218"/>
          </a:xfrm>
          <a:prstGeom prst="rect">
            <a:avLst/>
          </a:prstGeom>
          <a:noFill/>
          <a:ln>
            <a:noFill/>
          </a:ln>
        </p:spPr>
        <p:txBody>
          <a:bodyPr spcFirstLastPara="1" wrap="square" lIns="91425" tIns="91425" rIns="91425" bIns="91425" anchor="t" anchorCtr="0">
            <a:spAutoFit/>
          </a:bodyPr>
          <a:lstStyle/>
          <a:p>
            <a:pPr marL="0" marR="0" lvl="0" indent="0" algn="l" rtl="0">
              <a:spcBef>
                <a:spcPts val="0"/>
              </a:spcBef>
              <a:spcAft>
                <a:spcPts val="0"/>
              </a:spcAft>
              <a:buClr>
                <a:schemeClr val="lt2"/>
              </a:buClr>
              <a:buSzPts val="1050"/>
              <a:buFont typeface="Arial"/>
              <a:buNone/>
            </a:pPr>
            <a:r>
              <a:rPr lang="es-CL" sz="1050">
                <a:solidFill>
                  <a:schemeClr val="lt2"/>
                </a:solidFill>
                <a:highlight>
                  <a:srgbClr val="FFFFFF"/>
                </a:highlight>
                <a:latin typeface="Arial"/>
                <a:ea typeface="Arial"/>
                <a:cs typeface="Arial"/>
                <a:sym typeface="Arial"/>
              </a:rPr>
              <a:t>RGB : 55 60 70 </a:t>
            </a:r>
            <a:endParaRPr sz="1800">
              <a:solidFill>
                <a:schemeClr val="lt2"/>
              </a:solidFill>
              <a:latin typeface="Arial"/>
              <a:ea typeface="Arial"/>
              <a:cs typeface="Arial"/>
              <a:sym typeface="Arial"/>
            </a:endParaRPr>
          </a:p>
        </p:txBody>
      </p:sp>
      <p:pic>
        <p:nvPicPr>
          <p:cNvPr id="125" name="Google Shape;125;p74" descr="Interfaz de usuario gráfica, Logotipo&#10;&#10;Descripción generada automáticamente"/>
          <p:cNvPicPr preferRelativeResize="0"/>
          <p:nvPr/>
        </p:nvPicPr>
        <p:blipFill rotWithShape="1">
          <a:blip r:embed="rId2">
            <a:alphaModFix/>
          </a:blip>
          <a:srcRect/>
          <a:stretch/>
        </p:blipFill>
        <p:spPr>
          <a:xfrm>
            <a:off x="8373335" y="6159751"/>
            <a:ext cx="1105337" cy="305803"/>
          </a:xfrm>
          <a:prstGeom prst="rect">
            <a:avLst/>
          </a:prstGeom>
          <a:noFill/>
          <a:ln>
            <a:noFill/>
          </a:ln>
        </p:spPr>
      </p:pic>
      <p:pic>
        <p:nvPicPr>
          <p:cNvPr id="126" name="Google Shape;126;p74" descr="Logotipo&#10;&#10;Descripción generada automáticamente"/>
          <p:cNvPicPr preferRelativeResize="0"/>
          <p:nvPr/>
        </p:nvPicPr>
        <p:blipFill rotWithShape="1">
          <a:blip r:embed="rId3">
            <a:alphaModFix/>
          </a:blip>
          <a:srcRect/>
          <a:stretch/>
        </p:blipFill>
        <p:spPr>
          <a:xfrm>
            <a:off x="9478672" y="6132431"/>
            <a:ext cx="1793138" cy="360443"/>
          </a:xfrm>
          <a:prstGeom prst="rect">
            <a:avLst/>
          </a:prstGeom>
          <a:noFill/>
          <a:ln>
            <a:noFill/>
          </a:ln>
        </p:spPr>
      </p:pic>
      <p:pic>
        <p:nvPicPr>
          <p:cNvPr id="127" name="Google Shape;127;p74" descr="Logotipo&#10;&#10;Descripción generada automáticamente con confianza media"/>
          <p:cNvPicPr preferRelativeResize="0"/>
          <p:nvPr/>
        </p:nvPicPr>
        <p:blipFill rotWithShape="1">
          <a:blip r:embed="rId4">
            <a:alphaModFix/>
          </a:blip>
          <a:srcRect/>
          <a:stretch/>
        </p:blipFill>
        <p:spPr>
          <a:xfrm>
            <a:off x="6955017" y="6158486"/>
            <a:ext cx="1325283" cy="308332"/>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1_Comparación">
  <p:cSld name="1_Comparación">
    <p:bg>
      <p:bgPr>
        <a:solidFill>
          <a:schemeClr val="dk1"/>
        </a:solidFill>
        <a:effectLst/>
      </p:bgPr>
    </p:bg>
    <p:spTree>
      <p:nvGrpSpPr>
        <p:cNvPr id="1" name="Shape 128"/>
        <p:cNvGrpSpPr/>
        <p:nvPr/>
      </p:nvGrpSpPr>
      <p:grpSpPr>
        <a:xfrm>
          <a:off x="0" y="0"/>
          <a:ext cx="0" cy="0"/>
          <a:chOff x="0" y="0"/>
          <a:chExt cx="0" cy="0"/>
        </a:xfrm>
      </p:grpSpPr>
      <p:sp>
        <p:nvSpPr>
          <p:cNvPr id="129" name="Google Shape;129;p75"/>
          <p:cNvSpPr txBox="1">
            <a:spLocks noGrp="1"/>
          </p:cNvSpPr>
          <p:nvPr>
            <p:ph type="title"/>
          </p:nvPr>
        </p:nvSpPr>
        <p:spPr>
          <a:xfrm>
            <a:off x="839788" y="365126"/>
            <a:ext cx="10515600" cy="60508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2"/>
              </a:buClr>
              <a:buSzPts val="3000"/>
              <a:buFont typeface="Play"/>
              <a:buNone/>
              <a:defRPr sz="3000" b="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graphicFrame>
        <p:nvGraphicFramePr>
          <p:cNvPr id="130" name="Google Shape;130;p75"/>
          <p:cNvGraphicFramePr/>
          <p:nvPr/>
        </p:nvGraphicFramePr>
        <p:xfrm>
          <a:off x="1469306" y="1726333"/>
          <a:ext cx="4064000" cy="208300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31" name="Google Shape;131;p75"/>
          <p:cNvGraphicFramePr/>
          <p:nvPr/>
        </p:nvGraphicFramePr>
        <p:xfrm>
          <a:off x="6976714" y="1536195"/>
          <a:ext cx="4064000" cy="227314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2" name="Google Shape;132;p75"/>
          <p:cNvGraphicFramePr/>
          <p:nvPr/>
        </p:nvGraphicFramePr>
        <p:xfrm>
          <a:off x="3922751" y="4210952"/>
          <a:ext cx="4569522" cy="2339673"/>
        </p:xfrm>
        <a:graphic>
          <a:graphicData uri="http://schemas.openxmlformats.org/drawingml/2006/chart">
            <c:chart xmlns:c="http://schemas.openxmlformats.org/drawingml/2006/chart" xmlns:r="http://schemas.openxmlformats.org/officeDocument/2006/relationships" r:id="rId4"/>
          </a:graphicData>
        </a:graphic>
      </p:graphicFrame>
      <p:pic>
        <p:nvPicPr>
          <p:cNvPr id="133" name="Google Shape;133;p75" descr="Logotipo&#10;&#10;Descripción generada automáticamente con confianza media"/>
          <p:cNvPicPr preferRelativeResize="0"/>
          <p:nvPr/>
        </p:nvPicPr>
        <p:blipFill rotWithShape="1">
          <a:blip r:embed="rId5">
            <a:alphaModFix/>
          </a:blip>
          <a:srcRect/>
          <a:stretch/>
        </p:blipFill>
        <p:spPr>
          <a:xfrm>
            <a:off x="330200" y="6399764"/>
            <a:ext cx="1223729" cy="278296"/>
          </a:xfrm>
          <a:prstGeom prst="rect">
            <a:avLst/>
          </a:prstGeom>
          <a:noFill/>
          <a:ln>
            <a:noFill/>
          </a:ln>
        </p:spPr>
      </p:pic>
      <p:pic>
        <p:nvPicPr>
          <p:cNvPr id="134" name="Google Shape;134;p75" descr="Logotipo&#10;&#10;Descripción generada automáticamente con confianza media"/>
          <p:cNvPicPr preferRelativeResize="0"/>
          <p:nvPr/>
        </p:nvPicPr>
        <p:blipFill rotWithShape="1">
          <a:blip r:embed="rId6">
            <a:alphaModFix/>
          </a:blip>
          <a:srcRect/>
          <a:stretch/>
        </p:blipFill>
        <p:spPr>
          <a:xfrm>
            <a:off x="11415224" y="126683"/>
            <a:ext cx="471976" cy="472749"/>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2_Comparación">
  <p:cSld name="2_Comparación">
    <p:bg>
      <p:bgPr>
        <a:solidFill>
          <a:schemeClr val="dk1"/>
        </a:solidFill>
        <a:effectLst/>
      </p:bgPr>
    </p:bg>
    <p:spTree>
      <p:nvGrpSpPr>
        <p:cNvPr id="1" name="Shape 135"/>
        <p:cNvGrpSpPr/>
        <p:nvPr/>
      </p:nvGrpSpPr>
      <p:grpSpPr>
        <a:xfrm>
          <a:off x="0" y="0"/>
          <a:ext cx="0" cy="0"/>
          <a:chOff x="0" y="0"/>
          <a:chExt cx="0" cy="0"/>
        </a:xfrm>
      </p:grpSpPr>
      <p:sp>
        <p:nvSpPr>
          <p:cNvPr id="136" name="Google Shape;136;p76"/>
          <p:cNvSpPr txBox="1">
            <a:spLocks noGrp="1"/>
          </p:cNvSpPr>
          <p:nvPr>
            <p:ph type="title"/>
          </p:nvPr>
        </p:nvSpPr>
        <p:spPr>
          <a:xfrm>
            <a:off x="839788" y="365126"/>
            <a:ext cx="10515600" cy="60508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2"/>
              </a:buClr>
              <a:buSzPts val="3000"/>
              <a:buFont typeface="Play"/>
              <a:buNone/>
              <a:defRPr sz="3000" b="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137" name="Google Shape;137;p76" descr="Logotipo&#10;&#10;Descripción generada automáticamente"/>
          <p:cNvPicPr preferRelativeResize="0"/>
          <p:nvPr/>
        </p:nvPicPr>
        <p:blipFill rotWithShape="1">
          <a:blip r:embed="rId2">
            <a:alphaModFix/>
          </a:blip>
          <a:srcRect/>
          <a:stretch/>
        </p:blipFill>
        <p:spPr>
          <a:xfrm>
            <a:off x="330200" y="6399764"/>
            <a:ext cx="1473330" cy="278296"/>
          </a:xfrm>
          <a:prstGeom prst="rect">
            <a:avLst/>
          </a:prstGeom>
          <a:noFill/>
          <a:ln>
            <a:noFill/>
          </a:ln>
        </p:spPr>
      </p:pic>
      <p:graphicFrame>
        <p:nvGraphicFramePr>
          <p:cNvPr id="138" name="Google Shape;138;p76"/>
          <p:cNvGraphicFramePr/>
          <p:nvPr/>
        </p:nvGraphicFramePr>
        <p:xfrm>
          <a:off x="1580198" y="1750491"/>
          <a:ext cx="4243659" cy="227657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9" name="Google Shape;139;p76"/>
          <p:cNvGraphicFramePr/>
          <p:nvPr/>
        </p:nvGraphicFramePr>
        <p:xfrm>
          <a:off x="7457688" y="1750491"/>
          <a:ext cx="3108712" cy="2056987"/>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0" name="Google Shape;140;p76"/>
          <p:cNvGraphicFramePr/>
          <p:nvPr/>
        </p:nvGraphicFramePr>
        <p:xfrm>
          <a:off x="4304988" y="4082519"/>
          <a:ext cx="4539788" cy="2480733"/>
        </p:xfrm>
        <a:graphic>
          <a:graphicData uri="http://schemas.openxmlformats.org/drawingml/2006/chart">
            <c:chart xmlns:c="http://schemas.openxmlformats.org/drawingml/2006/chart" xmlns:r="http://schemas.openxmlformats.org/officeDocument/2006/relationships" r:id="rId5"/>
          </a:graphicData>
        </a:graphic>
      </p:graphicFrame>
      <p:pic>
        <p:nvPicPr>
          <p:cNvPr id="141" name="Google Shape;141;p76" descr="Logotipo&#10;&#10;Descripción generada automáticamente"/>
          <p:cNvPicPr preferRelativeResize="0"/>
          <p:nvPr/>
        </p:nvPicPr>
        <p:blipFill rotWithShape="1">
          <a:blip r:embed="rId6">
            <a:alphaModFix/>
          </a:blip>
          <a:srcRect/>
          <a:stretch/>
        </p:blipFill>
        <p:spPr>
          <a:xfrm>
            <a:off x="11415224" y="148488"/>
            <a:ext cx="444782" cy="429137"/>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3_Comparación">
  <p:cSld name="3_Comparación">
    <p:bg>
      <p:bgPr>
        <a:solidFill>
          <a:schemeClr val="dk1"/>
        </a:solidFill>
        <a:effectLst/>
      </p:bgPr>
    </p:bg>
    <p:spTree>
      <p:nvGrpSpPr>
        <p:cNvPr id="1" name="Shape 142"/>
        <p:cNvGrpSpPr/>
        <p:nvPr/>
      </p:nvGrpSpPr>
      <p:grpSpPr>
        <a:xfrm>
          <a:off x="0" y="0"/>
          <a:ext cx="0" cy="0"/>
          <a:chOff x="0" y="0"/>
          <a:chExt cx="0" cy="0"/>
        </a:xfrm>
      </p:grpSpPr>
      <p:sp>
        <p:nvSpPr>
          <p:cNvPr id="143" name="Google Shape;143;p77"/>
          <p:cNvSpPr txBox="1">
            <a:spLocks noGrp="1"/>
          </p:cNvSpPr>
          <p:nvPr>
            <p:ph type="title"/>
          </p:nvPr>
        </p:nvSpPr>
        <p:spPr>
          <a:xfrm>
            <a:off x="839788" y="365126"/>
            <a:ext cx="10515600" cy="60508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2"/>
              </a:buClr>
              <a:buSzPts val="3000"/>
              <a:buFont typeface="Play"/>
              <a:buNone/>
              <a:defRPr sz="3000" b="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graphicFrame>
        <p:nvGraphicFramePr>
          <p:cNvPr id="144" name="Google Shape;144;p77"/>
          <p:cNvGraphicFramePr/>
          <p:nvPr/>
        </p:nvGraphicFramePr>
        <p:xfrm>
          <a:off x="1867032" y="1684103"/>
          <a:ext cx="4228968" cy="229292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5" name="Google Shape;145;p77"/>
          <p:cNvGraphicFramePr/>
          <p:nvPr/>
        </p:nvGraphicFramePr>
        <p:xfrm>
          <a:off x="7772399" y="1760303"/>
          <a:ext cx="2301487" cy="221672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6" name="Google Shape;146;p77"/>
          <p:cNvGraphicFramePr/>
          <p:nvPr/>
        </p:nvGraphicFramePr>
        <p:xfrm>
          <a:off x="3816195" y="4103271"/>
          <a:ext cx="4993268" cy="2415759"/>
        </p:xfrm>
        <a:graphic>
          <a:graphicData uri="http://schemas.openxmlformats.org/drawingml/2006/chart">
            <c:chart xmlns:c="http://schemas.openxmlformats.org/drawingml/2006/chart" xmlns:r="http://schemas.openxmlformats.org/officeDocument/2006/relationships" r:id="rId4"/>
          </a:graphicData>
        </a:graphic>
      </p:graphicFrame>
      <p:pic>
        <p:nvPicPr>
          <p:cNvPr id="147" name="Google Shape;147;p77" descr="Interfaz de usuario gráfica, Logotipo&#10;&#10;Descripción generada automáticamente"/>
          <p:cNvPicPr preferRelativeResize="0"/>
          <p:nvPr/>
        </p:nvPicPr>
        <p:blipFill rotWithShape="1">
          <a:blip r:embed="rId5">
            <a:alphaModFix/>
          </a:blip>
          <a:srcRect/>
          <a:stretch/>
        </p:blipFill>
        <p:spPr>
          <a:xfrm>
            <a:off x="351220" y="6369269"/>
            <a:ext cx="1057873" cy="308790"/>
          </a:xfrm>
          <a:prstGeom prst="rect">
            <a:avLst/>
          </a:prstGeom>
          <a:noFill/>
          <a:ln>
            <a:noFill/>
          </a:ln>
        </p:spPr>
      </p:pic>
      <p:pic>
        <p:nvPicPr>
          <p:cNvPr id="148" name="Google Shape;148;p77" descr="Interfaz de usuario gráfica, Logotipo&#10;&#10;Descripción generada automáticamente"/>
          <p:cNvPicPr preferRelativeResize="0"/>
          <p:nvPr/>
        </p:nvPicPr>
        <p:blipFill rotWithShape="1">
          <a:blip r:embed="rId6">
            <a:alphaModFix/>
          </a:blip>
          <a:srcRect/>
          <a:stretch/>
        </p:blipFill>
        <p:spPr>
          <a:xfrm>
            <a:off x="11415225" y="102371"/>
            <a:ext cx="471976" cy="503746"/>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4_Comparación">
  <p:cSld name="4_Comparación">
    <p:bg>
      <p:bgPr>
        <a:solidFill>
          <a:schemeClr val="dk1"/>
        </a:solidFill>
        <a:effectLst/>
      </p:bgPr>
    </p:bg>
    <p:spTree>
      <p:nvGrpSpPr>
        <p:cNvPr id="1" name="Shape 149"/>
        <p:cNvGrpSpPr/>
        <p:nvPr/>
      </p:nvGrpSpPr>
      <p:grpSpPr>
        <a:xfrm>
          <a:off x="0" y="0"/>
          <a:ext cx="0" cy="0"/>
          <a:chOff x="0" y="0"/>
          <a:chExt cx="0" cy="0"/>
        </a:xfrm>
      </p:grpSpPr>
      <p:sp>
        <p:nvSpPr>
          <p:cNvPr id="150" name="Google Shape;150;p78"/>
          <p:cNvSpPr/>
          <p:nvPr/>
        </p:nvSpPr>
        <p:spPr>
          <a:xfrm>
            <a:off x="-10510" y="1179213"/>
            <a:ext cx="12192000" cy="1574816"/>
          </a:xfrm>
          <a:prstGeom prst="rect">
            <a:avLst/>
          </a:prstGeom>
          <a:solidFill>
            <a:schemeClr val="accent1"/>
          </a:solid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51" name="Google Shape;151;p78"/>
          <p:cNvSpPr txBox="1">
            <a:spLocks noGrp="1"/>
          </p:cNvSpPr>
          <p:nvPr>
            <p:ph type="title"/>
          </p:nvPr>
        </p:nvSpPr>
        <p:spPr>
          <a:xfrm>
            <a:off x="839788" y="365126"/>
            <a:ext cx="10515600" cy="60508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2"/>
              </a:buClr>
              <a:buSzPts val="3000"/>
              <a:buFont typeface="Play"/>
              <a:buNone/>
              <a:defRPr sz="3000" b="0">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152" name="Google Shape;152;p78" descr="Logotipo&#10;&#10;Descripción generada automáticamente"/>
          <p:cNvPicPr preferRelativeResize="0"/>
          <p:nvPr/>
        </p:nvPicPr>
        <p:blipFill rotWithShape="1">
          <a:blip r:embed="rId2">
            <a:alphaModFix/>
          </a:blip>
          <a:srcRect/>
          <a:stretch/>
        </p:blipFill>
        <p:spPr>
          <a:xfrm>
            <a:off x="4471612" y="1311120"/>
            <a:ext cx="4142322" cy="1331873"/>
          </a:xfrm>
          <a:prstGeom prst="rect">
            <a:avLst/>
          </a:prstGeom>
          <a:noFill/>
          <a:ln>
            <a:noFill/>
          </a:ln>
        </p:spPr>
      </p:pic>
      <p:pic>
        <p:nvPicPr>
          <p:cNvPr id="153" name="Google Shape;153;p78" descr="Logotipo&#10;&#10;Descripción generada automáticamente"/>
          <p:cNvPicPr preferRelativeResize="0"/>
          <p:nvPr/>
        </p:nvPicPr>
        <p:blipFill rotWithShape="1">
          <a:blip r:embed="rId3">
            <a:alphaModFix/>
          </a:blip>
          <a:srcRect/>
          <a:stretch/>
        </p:blipFill>
        <p:spPr>
          <a:xfrm>
            <a:off x="8915958" y="1480479"/>
            <a:ext cx="2630517" cy="993154"/>
          </a:xfrm>
          <a:prstGeom prst="rect">
            <a:avLst/>
          </a:prstGeom>
          <a:noFill/>
          <a:ln>
            <a:noFill/>
          </a:ln>
        </p:spPr>
      </p:pic>
      <p:pic>
        <p:nvPicPr>
          <p:cNvPr id="154" name="Google Shape;154;p78" descr="Logotipo&#10;&#10;Descripción generada automáticamente con confianza media"/>
          <p:cNvPicPr preferRelativeResize="0"/>
          <p:nvPr/>
        </p:nvPicPr>
        <p:blipFill rotWithShape="1">
          <a:blip r:embed="rId4">
            <a:alphaModFix/>
          </a:blip>
          <a:srcRect/>
          <a:stretch/>
        </p:blipFill>
        <p:spPr>
          <a:xfrm>
            <a:off x="909799" y="1410689"/>
            <a:ext cx="3314381" cy="1160033"/>
          </a:xfrm>
          <a:prstGeom prst="rect">
            <a:avLst/>
          </a:prstGeom>
          <a:noFill/>
          <a:ln>
            <a:noFill/>
          </a:ln>
        </p:spPr>
      </p:pic>
      <p:pic>
        <p:nvPicPr>
          <p:cNvPr id="155" name="Google Shape;155;p78" descr="Interfaz de usuario gráfica, Logotipo&#10;&#10;Descripción generada automáticamente"/>
          <p:cNvPicPr preferRelativeResize="0"/>
          <p:nvPr/>
        </p:nvPicPr>
        <p:blipFill rotWithShape="1">
          <a:blip r:embed="rId5">
            <a:alphaModFix/>
          </a:blip>
          <a:srcRect/>
          <a:stretch/>
        </p:blipFill>
        <p:spPr>
          <a:xfrm>
            <a:off x="8907005" y="3092179"/>
            <a:ext cx="2528249" cy="699466"/>
          </a:xfrm>
          <a:prstGeom prst="rect">
            <a:avLst/>
          </a:prstGeom>
          <a:noFill/>
          <a:ln>
            <a:noFill/>
          </a:ln>
        </p:spPr>
      </p:pic>
      <p:pic>
        <p:nvPicPr>
          <p:cNvPr id="156" name="Google Shape;156;p78" descr="Logotipo&#10;&#10;Descripción generada automáticamente"/>
          <p:cNvPicPr preferRelativeResize="0"/>
          <p:nvPr/>
        </p:nvPicPr>
        <p:blipFill rotWithShape="1">
          <a:blip r:embed="rId6">
            <a:alphaModFix/>
          </a:blip>
          <a:srcRect/>
          <a:stretch/>
        </p:blipFill>
        <p:spPr>
          <a:xfrm>
            <a:off x="4548115" y="3047398"/>
            <a:ext cx="3945173" cy="793029"/>
          </a:xfrm>
          <a:prstGeom prst="rect">
            <a:avLst/>
          </a:prstGeom>
          <a:noFill/>
          <a:ln>
            <a:noFill/>
          </a:ln>
        </p:spPr>
      </p:pic>
      <p:pic>
        <p:nvPicPr>
          <p:cNvPr id="157" name="Google Shape;157;p78" descr="Logotipo&#10;&#10;Descripción generada automáticamente con confianza media"/>
          <p:cNvPicPr preferRelativeResize="0"/>
          <p:nvPr/>
        </p:nvPicPr>
        <p:blipFill rotWithShape="1">
          <a:blip r:embed="rId7">
            <a:alphaModFix/>
          </a:blip>
          <a:srcRect/>
          <a:stretch/>
        </p:blipFill>
        <p:spPr>
          <a:xfrm>
            <a:off x="970237" y="3089275"/>
            <a:ext cx="3006470" cy="699466"/>
          </a:xfrm>
          <a:prstGeom prst="rect">
            <a:avLst/>
          </a:prstGeom>
          <a:noFill/>
          <a:ln>
            <a:noFill/>
          </a:ln>
        </p:spPr>
      </p:pic>
      <p:sp>
        <p:nvSpPr>
          <p:cNvPr id="158" name="Google Shape;158;p78"/>
          <p:cNvSpPr/>
          <p:nvPr/>
        </p:nvSpPr>
        <p:spPr>
          <a:xfrm>
            <a:off x="-10510" y="4175673"/>
            <a:ext cx="12192000" cy="1371207"/>
          </a:xfrm>
          <a:prstGeom prst="rect">
            <a:avLst/>
          </a:prstGeom>
          <a:solidFill>
            <a:schemeClr val="accent1"/>
          </a:solid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pic>
        <p:nvPicPr>
          <p:cNvPr id="159" name="Google Shape;159;p78" descr="Logotipo&#10;&#10;Descripción generada automáticamente con confianza media"/>
          <p:cNvPicPr preferRelativeResize="0"/>
          <p:nvPr/>
        </p:nvPicPr>
        <p:blipFill rotWithShape="1">
          <a:blip r:embed="rId8">
            <a:alphaModFix/>
          </a:blip>
          <a:srcRect/>
          <a:stretch/>
        </p:blipFill>
        <p:spPr>
          <a:xfrm>
            <a:off x="1731618" y="4293580"/>
            <a:ext cx="1670742" cy="1195598"/>
          </a:xfrm>
          <a:prstGeom prst="rect">
            <a:avLst/>
          </a:prstGeom>
          <a:noFill/>
          <a:ln>
            <a:noFill/>
          </a:ln>
        </p:spPr>
      </p:pic>
      <p:pic>
        <p:nvPicPr>
          <p:cNvPr id="160" name="Google Shape;160;p78" descr="Logotipo&#10;&#10;Descripción generada automáticamente con confianza media"/>
          <p:cNvPicPr preferRelativeResize="0"/>
          <p:nvPr/>
        </p:nvPicPr>
        <p:blipFill rotWithShape="1">
          <a:blip r:embed="rId8">
            <a:alphaModFix/>
          </a:blip>
          <a:srcRect/>
          <a:stretch/>
        </p:blipFill>
        <p:spPr>
          <a:xfrm>
            <a:off x="5563731" y="4293580"/>
            <a:ext cx="1670742" cy="1195598"/>
          </a:xfrm>
          <a:prstGeom prst="rect">
            <a:avLst/>
          </a:prstGeom>
          <a:noFill/>
          <a:ln>
            <a:noFill/>
          </a:ln>
        </p:spPr>
      </p:pic>
      <p:pic>
        <p:nvPicPr>
          <p:cNvPr id="161" name="Google Shape;161;p78" descr="Logotipo&#10;&#10;Descripción generada automáticamente con confianza media"/>
          <p:cNvPicPr preferRelativeResize="0"/>
          <p:nvPr/>
        </p:nvPicPr>
        <p:blipFill rotWithShape="1">
          <a:blip r:embed="rId8">
            <a:alphaModFix/>
          </a:blip>
          <a:srcRect/>
          <a:stretch/>
        </p:blipFill>
        <p:spPr>
          <a:xfrm>
            <a:off x="9395845" y="4276628"/>
            <a:ext cx="1670742" cy="1195598"/>
          </a:xfrm>
          <a:prstGeom prst="rect">
            <a:avLst/>
          </a:prstGeom>
          <a:noFill/>
          <a:ln>
            <a:noFill/>
          </a:ln>
        </p:spPr>
      </p:pic>
      <p:pic>
        <p:nvPicPr>
          <p:cNvPr id="162" name="Google Shape;162;p78" descr="Logotipo&#10;&#10;Descripción generada automáticamente con confianza media"/>
          <p:cNvPicPr preferRelativeResize="0"/>
          <p:nvPr/>
        </p:nvPicPr>
        <p:blipFill rotWithShape="1">
          <a:blip r:embed="rId9">
            <a:alphaModFix/>
          </a:blip>
          <a:srcRect/>
          <a:stretch/>
        </p:blipFill>
        <p:spPr>
          <a:xfrm>
            <a:off x="1731618" y="5562353"/>
            <a:ext cx="1346858" cy="1406171"/>
          </a:xfrm>
          <a:prstGeom prst="rect">
            <a:avLst/>
          </a:prstGeom>
          <a:noFill/>
          <a:ln>
            <a:noFill/>
          </a:ln>
        </p:spPr>
      </p:pic>
      <p:pic>
        <p:nvPicPr>
          <p:cNvPr id="163" name="Google Shape;163;p78" descr="Logotipo&#10;&#10;Descripción generada automáticamente"/>
          <p:cNvPicPr preferRelativeResize="0"/>
          <p:nvPr/>
        </p:nvPicPr>
        <p:blipFill rotWithShape="1">
          <a:blip r:embed="rId10">
            <a:alphaModFix/>
          </a:blip>
          <a:srcRect/>
          <a:stretch/>
        </p:blipFill>
        <p:spPr>
          <a:xfrm>
            <a:off x="5353837" y="5472226"/>
            <a:ext cx="2090530" cy="1549901"/>
          </a:xfrm>
          <a:prstGeom prst="rect">
            <a:avLst/>
          </a:prstGeom>
          <a:noFill/>
          <a:ln>
            <a:noFill/>
          </a:ln>
        </p:spPr>
      </p:pic>
      <p:pic>
        <p:nvPicPr>
          <p:cNvPr id="164" name="Google Shape;164;p78" descr="Interfaz de usuario gráfica, Logotipo&#10;&#10;Descripción generada automáticamente"/>
          <p:cNvPicPr preferRelativeResize="0"/>
          <p:nvPr/>
        </p:nvPicPr>
        <p:blipFill rotWithShape="1">
          <a:blip r:embed="rId11">
            <a:alphaModFix/>
          </a:blip>
          <a:srcRect/>
          <a:stretch/>
        </p:blipFill>
        <p:spPr>
          <a:xfrm>
            <a:off x="9395845" y="5393708"/>
            <a:ext cx="1670742" cy="1574816"/>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2_Diapositiva de título">
  <p:cSld name="2_Diapositiva de título">
    <p:spTree>
      <p:nvGrpSpPr>
        <p:cNvPr id="1" name="Shape 165"/>
        <p:cNvGrpSpPr/>
        <p:nvPr/>
      </p:nvGrpSpPr>
      <p:grpSpPr>
        <a:xfrm>
          <a:off x="0" y="0"/>
          <a:ext cx="0" cy="0"/>
          <a:chOff x="0" y="0"/>
          <a:chExt cx="0" cy="0"/>
        </a:xfrm>
      </p:grpSpPr>
      <p:pic>
        <p:nvPicPr>
          <p:cNvPr id="166" name="Google Shape;166;p79" descr="Logotipo&#10;&#10;Descripción generada automáticamente"/>
          <p:cNvPicPr preferRelativeResize="0"/>
          <p:nvPr/>
        </p:nvPicPr>
        <p:blipFill rotWithShape="1">
          <a:blip r:embed="rId2">
            <a:alphaModFix/>
          </a:blip>
          <a:srcRect/>
          <a:stretch/>
        </p:blipFill>
        <p:spPr>
          <a:xfrm>
            <a:off x="4387529" y="2919202"/>
            <a:ext cx="4142322" cy="1331873"/>
          </a:xfrm>
          <a:prstGeom prst="rect">
            <a:avLst/>
          </a:prstGeom>
          <a:noFill/>
          <a:ln>
            <a:noFill/>
          </a:ln>
        </p:spPr>
      </p:pic>
      <p:pic>
        <p:nvPicPr>
          <p:cNvPr id="167" name="Google Shape;167;p79" descr="Logotipo&#10;&#10;Descripción generada automáticamente"/>
          <p:cNvPicPr preferRelativeResize="0"/>
          <p:nvPr/>
        </p:nvPicPr>
        <p:blipFill rotWithShape="1">
          <a:blip r:embed="rId3">
            <a:alphaModFix/>
          </a:blip>
          <a:srcRect/>
          <a:stretch/>
        </p:blipFill>
        <p:spPr>
          <a:xfrm>
            <a:off x="8831875" y="3088561"/>
            <a:ext cx="2630517" cy="993154"/>
          </a:xfrm>
          <a:prstGeom prst="rect">
            <a:avLst/>
          </a:prstGeom>
          <a:noFill/>
          <a:ln>
            <a:noFill/>
          </a:ln>
        </p:spPr>
      </p:pic>
      <p:pic>
        <p:nvPicPr>
          <p:cNvPr id="168" name="Google Shape;168;p79" descr="Logotipo&#10;&#10;Descripción generada automáticamente con confianza media"/>
          <p:cNvPicPr preferRelativeResize="0"/>
          <p:nvPr/>
        </p:nvPicPr>
        <p:blipFill rotWithShape="1">
          <a:blip r:embed="rId4">
            <a:alphaModFix/>
          </a:blip>
          <a:srcRect/>
          <a:stretch/>
        </p:blipFill>
        <p:spPr>
          <a:xfrm>
            <a:off x="825716" y="3018771"/>
            <a:ext cx="3314381" cy="1160033"/>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3_Diapositiva de título">
  <p:cSld name="3_Diapositiva de título">
    <p:bg>
      <p:bgPr>
        <a:solidFill>
          <a:schemeClr val="dk1"/>
        </a:solidFill>
        <a:effectLst/>
      </p:bgPr>
    </p:bg>
    <p:spTree>
      <p:nvGrpSpPr>
        <p:cNvPr id="1" name="Shape 169"/>
        <p:cNvGrpSpPr/>
        <p:nvPr/>
      </p:nvGrpSpPr>
      <p:grpSpPr>
        <a:xfrm>
          <a:off x="0" y="0"/>
          <a:ext cx="0" cy="0"/>
          <a:chOff x="0" y="0"/>
          <a:chExt cx="0" cy="0"/>
        </a:xfrm>
      </p:grpSpPr>
      <p:pic>
        <p:nvPicPr>
          <p:cNvPr id="170" name="Google Shape;170;p80" descr="Interfaz de usuario gráfica, Logotipo&#10;&#10;Descripción generada automáticamente"/>
          <p:cNvPicPr preferRelativeResize="0"/>
          <p:nvPr/>
        </p:nvPicPr>
        <p:blipFill rotWithShape="1">
          <a:blip r:embed="rId2">
            <a:alphaModFix/>
          </a:blip>
          <a:srcRect/>
          <a:stretch/>
        </p:blipFill>
        <p:spPr>
          <a:xfrm>
            <a:off x="8654758" y="3386689"/>
            <a:ext cx="2793378" cy="772817"/>
          </a:xfrm>
          <a:prstGeom prst="rect">
            <a:avLst/>
          </a:prstGeom>
          <a:noFill/>
          <a:ln>
            <a:noFill/>
          </a:ln>
        </p:spPr>
      </p:pic>
      <p:pic>
        <p:nvPicPr>
          <p:cNvPr id="171" name="Google Shape;171;p80" descr="Logotipo&#10;&#10;Descripción generada automáticamente"/>
          <p:cNvPicPr preferRelativeResize="0"/>
          <p:nvPr/>
        </p:nvPicPr>
        <p:blipFill rotWithShape="1">
          <a:blip r:embed="rId3">
            <a:alphaModFix/>
          </a:blip>
          <a:srcRect/>
          <a:stretch/>
        </p:blipFill>
        <p:spPr>
          <a:xfrm>
            <a:off x="4295868" y="3332097"/>
            <a:ext cx="4358890" cy="876191"/>
          </a:xfrm>
          <a:prstGeom prst="rect">
            <a:avLst/>
          </a:prstGeom>
          <a:noFill/>
          <a:ln>
            <a:noFill/>
          </a:ln>
        </p:spPr>
      </p:pic>
      <p:pic>
        <p:nvPicPr>
          <p:cNvPr id="172" name="Google Shape;172;p80" descr="Logotipo&#10;&#10;Descripción generada automáticamente con confianza media"/>
          <p:cNvPicPr preferRelativeResize="0"/>
          <p:nvPr/>
        </p:nvPicPr>
        <p:blipFill rotWithShape="1">
          <a:blip r:embed="rId4">
            <a:alphaModFix/>
          </a:blip>
          <a:srcRect/>
          <a:stretch/>
        </p:blipFill>
        <p:spPr>
          <a:xfrm>
            <a:off x="717990" y="3383785"/>
            <a:ext cx="3321748" cy="772817"/>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173"/>
        <p:cNvGrpSpPr/>
        <p:nvPr/>
      </p:nvGrpSpPr>
      <p:grpSpPr>
        <a:xfrm>
          <a:off x="0" y="0"/>
          <a:ext cx="0" cy="0"/>
          <a:chOff x="0" y="0"/>
          <a:chExt cx="0" cy="0"/>
        </a:xfrm>
      </p:grpSpPr>
      <p:sp>
        <p:nvSpPr>
          <p:cNvPr id="174" name="Google Shape;174;p81"/>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5" name="Google Shape;175;p81"/>
          <p:cNvSpPr>
            <a:spLocks noGrp="1"/>
          </p:cNvSpPr>
          <p:nvPr>
            <p:ph type="pic" idx="2"/>
          </p:nvPr>
        </p:nvSpPr>
        <p:spPr>
          <a:xfrm>
            <a:off x="5183188" y="987425"/>
            <a:ext cx="6172200" cy="4873625"/>
          </a:xfrm>
          <a:prstGeom prst="rect">
            <a:avLst/>
          </a:prstGeom>
          <a:noFill/>
          <a:ln>
            <a:noFill/>
          </a:ln>
        </p:spPr>
      </p:sp>
      <p:sp>
        <p:nvSpPr>
          <p:cNvPr id="176" name="Google Shape;176;p81"/>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77" name="Google Shape;177;p8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L"/>
              <a:t>‹Nº›</a:t>
            </a:fld>
            <a:endParaRPr/>
          </a:p>
        </p:txBody>
      </p:sp>
      <p:pic>
        <p:nvPicPr>
          <p:cNvPr id="178" name="Google Shape;178;p81" descr="Logotipo&#10;&#10;Descripción generada automáticamente con confianza media"/>
          <p:cNvPicPr preferRelativeResize="0"/>
          <p:nvPr/>
        </p:nvPicPr>
        <p:blipFill rotWithShape="1">
          <a:blip r:embed="rId2">
            <a:alphaModFix/>
          </a:blip>
          <a:srcRect/>
          <a:stretch/>
        </p:blipFill>
        <p:spPr>
          <a:xfrm>
            <a:off x="11399520" y="126683"/>
            <a:ext cx="576281" cy="500244"/>
          </a:xfrm>
          <a:prstGeom prst="rect">
            <a:avLst/>
          </a:prstGeom>
          <a:noFill/>
          <a:ln>
            <a:noFill/>
          </a:ln>
        </p:spPr>
      </p:pic>
      <p:pic>
        <p:nvPicPr>
          <p:cNvPr id="179" name="Google Shape;179;p81" descr="Logotipo&#10;&#10;Descripción generada automáticamente con confianza media"/>
          <p:cNvPicPr preferRelativeResize="0"/>
          <p:nvPr/>
        </p:nvPicPr>
        <p:blipFill rotWithShape="1">
          <a:blip r:embed="rId3">
            <a:alphaModFix/>
          </a:blip>
          <a:srcRect l="17151" t="29551" r="17156" b="29573"/>
          <a:stretch/>
        </p:blipFill>
        <p:spPr>
          <a:xfrm>
            <a:off x="717120" y="6156100"/>
            <a:ext cx="1398284" cy="489399"/>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1_Imagen con título">
  <p:cSld name="1_Imagen con título">
    <p:bg>
      <p:bgPr>
        <a:solidFill>
          <a:schemeClr val="accent1"/>
        </a:solidFill>
        <a:effectLst/>
      </p:bgPr>
    </p:bg>
    <p:spTree>
      <p:nvGrpSpPr>
        <p:cNvPr id="1" name="Shape 180"/>
        <p:cNvGrpSpPr/>
        <p:nvPr/>
      </p:nvGrpSpPr>
      <p:grpSpPr>
        <a:xfrm>
          <a:off x="0" y="0"/>
          <a:ext cx="0" cy="0"/>
          <a:chOff x="0" y="0"/>
          <a:chExt cx="0" cy="0"/>
        </a:xfrm>
      </p:grpSpPr>
      <p:pic>
        <p:nvPicPr>
          <p:cNvPr id="181" name="Google Shape;181;p82" descr="Logotipo&#10;&#10;Descripción generada automáticamente con confianza media"/>
          <p:cNvPicPr preferRelativeResize="0"/>
          <p:nvPr/>
        </p:nvPicPr>
        <p:blipFill rotWithShape="1">
          <a:blip r:embed="rId2">
            <a:alphaModFix/>
          </a:blip>
          <a:srcRect/>
          <a:stretch/>
        </p:blipFill>
        <p:spPr>
          <a:xfrm>
            <a:off x="11399520" y="126683"/>
            <a:ext cx="576281" cy="500244"/>
          </a:xfrm>
          <a:prstGeom prst="rect">
            <a:avLst/>
          </a:prstGeom>
          <a:noFill/>
          <a:ln>
            <a:noFill/>
          </a:ln>
        </p:spPr>
      </p:pic>
      <p:sp>
        <p:nvSpPr>
          <p:cNvPr id="182" name="Google Shape;182;p8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lt2"/>
              </a:buClr>
              <a:buSzPts val="3200"/>
              <a:buFont typeface="Play"/>
              <a:buNone/>
              <a:defRPr sz="3200" b="1">
                <a:solidFill>
                  <a:schemeClr val="lt2"/>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3" name="Google Shape;183;p82"/>
          <p:cNvSpPr>
            <a:spLocks noGrp="1"/>
          </p:cNvSpPr>
          <p:nvPr>
            <p:ph type="pic" idx="2"/>
          </p:nvPr>
        </p:nvSpPr>
        <p:spPr>
          <a:xfrm>
            <a:off x="5183188" y="987425"/>
            <a:ext cx="6172200" cy="4873625"/>
          </a:xfrm>
          <a:prstGeom prst="rect">
            <a:avLst/>
          </a:prstGeom>
          <a:noFill/>
          <a:ln>
            <a:noFill/>
          </a:ln>
        </p:spPr>
      </p:sp>
      <p:sp>
        <p:nvSpPr>
          <p:cNvPr id="184" name="Google Shape;184;p82"/>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lt2"/>
              </a:buClr>
              <a:buSzPts val="1600"/>
              <a:buNone/>
              <a:defRPr sz="1600">
                <a:solidFill>
                  <a:schemeClr val="lt2"/>
                </a:solidFill>
              </a:defRPr>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85" name="Google Shape;185;p8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dk1"/>
                </a:solidFill>
                <a:latin typeface="Arial"/>
                <a:ea typeface="Arial"/>
                <a:cs typeface="Arial"/>
                <a:sym typeface="Arial"/>
              </a:defRPr>
            </a:lvl1pPr>
            <a:lvl2pPr marL="0" lvl="1" indent="0" algn="r">
              <a:spcBef>
                <a:spcPts val="0"/>
              </a:spcBef>
              <a:buNone/>
              <a:defRPr sz="1200">
                <a:solidFill>
                  <a:schemeClr val="dk1"/>
                </a:solidFill>
                <a:latin typeface="Arial"/>
                <a:ea typeface="Arial"/>
                <a:cs typeface="Arial"/>
                <a:sym typeface="Arial"/>
              </a:defRPr>
            </a:lvl2pPr>
            <a:lvl3pPr marL="0" lvl="2" indent="0" algn="r">
              <a:spcBef>
                <a:spcPts val="0"/>
              </a:spcBef>
              <a:buNone/>
              <a:defRPr sz="1200">
                <a:solidFill>
                  <a:schemeClr val="dk1"/>
                </a:solidFill>
                <a:latin typeface="Arial"/>
                <a:ea typeface="Arial"/>
                <a:cs typeface="Arial"/>
                <a:sym typeface="Arial"/>
              </a:defRPr>
            </a:lvl3pPr>
            <a:lvl4pPr marL="0" lvl="3" indent="0" algn="r">
              <a:spcBef>
                <a:spcPts val="0"/>
              </a:spcBef>
              <a:buNone/>
              <a:defRPr sz="1200">
                <a:solidFill>
                  <a:schemeClr val="dk1"/>
                </a:solidFill>
                <a:latin typeface="Arial"/>
                <a:ea typeface="Arial"/>
                <a:cs typeface="Arial"/>
                <a:sym typeface="Arial"/>
              </a:defRPr>
            </a:lvl4pPr>
            <a:lvl5pPr marL="0" lvl="4" indent="0" algn="r">
              <a:spcBef>
                <a:spcPts val="0"/>
              </a:spcBef>
              <a:buNone/>
              <a:defRPr sz="1200">
                <a:solidFill>
                  <a:schemeClr val="dk1"/>
                </a:solidFill>
                <a:latin typeface="Arial"/>
                <a:ea typeface="Arial"/>
                <a:cs typeface="Arial"/>
                <a:sym typeface="Arial"/>
              </a:defRPr>
            </a:lvl5pPr>
            <a:lvl6pPr marL="0" lvl="5" indent="0" algn="r">
              <a:spcBef>
                <a:spcPts val="0"/>
              </a:spcBef>
              <a:buNone/>
              <a:defRPr sz="1200">
                <a:solidFill>
                  <a:schemeClr val="dk1"/>
                </a:solidFill>
                <a:latin typeface="Arial"/>
                <a:ea typeface="Arial"/>
                <a:cs typeface="Arial"/>
                <a:sym typeface="Arial"/>
              </a:defRPr>
            </a:lvl6pPr>
            <a:lvl7pPr marL="0" lvl="6" indent="0" algn="r">
              <a:spcBef>
                <a:spcPts val="0"/>
              </a:spcBef>
              <a:buNone/>
              <a:defRPr sz="1200">
                <a:solidFill>
                  <a:schemeClr val="dk1"/>
                </a:solidFill>
                <a:latin typeface="Arial"/>
                <a:ea typeface="Arial"/>
                <a:cs typeface="Arial"/>
                <a:sym typeface="Arial"/>
              </a:defRPr>
            </a:lvl7pPr>
            <a:lvl8pPr marL="0" lvl="7" indent="0" algn="r">
              <a:spcBef>
                <a:spcPts val="0"/>
              </a:spcBef>
              <a:buNone/>
              <a:defRPr sz="1200">
                <a:solidFill>
                  <a:schemeClr val="dk1"/>
                </a:solidFill>
                <a:latin typeface="Arial"/>
                <a:ea typeface="Arial"/>
                <a:cs typeface="Arial"/>
                <a:sym typeface="Arial"/>
              </a:defRPr>
            </a:lvl8pPr>
            <a:lvl9pPr marL="0" lvl="8" indent="0" algn="r">
              <a:spcBef>
                <a:spcPts val="0"/>
              </a:spcBef>
              <a:buNone/>
              <a:defRPr sz="1200">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pic>
        <p:nvPicPr>
          <p:cNvPr id="186" name="Google Shape;186;p82" descr="Logotipo&#10;&#10;Descripción generada automáticamente con confianza media"/>
          <p:cNvPicPr preferRelativeResize="0"/>
          <p:nvPr/>
        </p:nvPicPr>
        <p:blipFill rotWithShape="1">
          <a:blip r:embed="rId3">
            <a:alphaModFix/>
          </a:blip>
          <a:srcRect l="17151" t="29551" r="17156" b="29573"/>
          <a:stretch/>
        </p:blipFill>
        <p:spPr>
          <a:xfrm>
            <a:off x="717120" y="6156100"/>
            <a:ext cx="1398284" cy="489399"/>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2_Imagen con título">
  <p:cSld name="2_Imagen con título">
    <p:bg>
      <p:bgPr>
        <a:solidFill>
          <a:schemeClr val="accent4"/>
        </a:solidFill>
        <a:effectLst/>
      </p:bgPr>
    </p:bg>
    <p:spTree>
      <p:nvGrpSpPr>
        <p:cNvPr id="1" name="Shape 187"/>
        <p:cNvGrpSpPr/>
        <p:nvPr/>
      </p:nvGrpSpPr>
      <p:grpSpPr>
        <a:xfrm>
          <a:off x="0" y="0"/>
          <a:ext cx="0" cy="0"/>
          <a:chOff x="0" y="0"/>
          <a:chExt cx="0" cy="0"/>
        </a:xfrm>
      </p:grpSpPr>
      <p:pic>
        <p:nvPicPr>
          <p:cNvPr id="188" name="Google Shape;188;p83" descr="Logotipo&#10;&#10;Descripción generada automáticamente"/>
          <p:cNvPicPr preferRelativeResize="0"/>
          <p:nvPr/>
        </p:nvPicPr>
        <p:blipFill rotWithShape="1">
          <a:blip r:embed="rId2">
            <a:alphaModFix/>
          </a:blip>
          <a:srcRect/>
          <a:stretch/>
        </p:blipFill>
        <p:spPr>
          <a:xfrm>
            <a:off x="674921" y="6113578"/>
            <a:ext cx="1890650" cy="607897"/>
          </a:xfrm>
          <a:prstGeom prst="rect">
            <a:avLst/>
          </a:prstGeom>
          <a:noFill/>
          <a:ln>
            <a:noFill/>
          </a:ln>
        </p:spPr>
      </p:pic>
      <p:pic>
        <p:nvPicPr>
          <p:cNvPr id="189" name="Google Shape;189;p83" descr="Logotipo&#10;&#10;Descripción generada automáticamente con confianza media"/>
          <p:cNvPicPr preferRelativeResize="0"/>
          <p:nvPr/>
        </p:nvPicPr>
        <p:blipFill rotWithShape="1">
          <a:blip r:embed="rId3">
            <a:alphaModFix/>
          </a:blip>
          <a:srcRect/>
          <a:stretch/>
        </p:blipFill>
        <p:spPr>
          <a:xfrm>
            <a:off x="11399520" y="126683"/>
            <a:ext cx="576281" cy="500244"/>
          </a:xfrm>
          <a:prstGeom prst="rect">
            <a:avLst/>
          </a:prstGeom>
          <a:noFill/>
          <a:ln>
            <a:noFill/>
          </a:ln>
        </p:spPr>
      </p:pic>
      <p:sp>
        <p:nvSpPr>
          <p:cNvPr id="190" name="Google Shape;190;p8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b="1">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1" name="Google Shape;191;p83"/>
          <p:cNvSpPr>
            <a:spLocks noGrp="1"/>
          </p:cNvSpPr>
          <p:nvPr>
            <p:ph type="pic" idx="2"/>
          </p:nvPr>
        </p:nvSpPr>
        <p:spPr>
          <a:xfrm>
            <a:off x="5183188" y="987425"/>
            <a:ext cx="6172200" cy="4873625"/>
          </a:xfrm>
          <a:prstGeom prst="rect">
            <a:avLst/>
          </a:prstGeom>
          <a:noFill/>
          <a:ln>
            <a:noFill/>
          </a:ln>
        </p:spPr>
      </p:sp>
      <p:sp>
        <p:nvSpPr>
          <p:cNvPr id="192" name="Google Shape;192;p8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solidFill>
                  <a:schemeClr val="dk1"/>
                </a:solidFill>
              </a:defRPr>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93" name="Google Shape;193;p8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dk1"/>
                </a:solidFill>
                <a:latin typeface="Arial"/>
                <a:ea typeface="Arial"/>
                <a:cs typeface="Arial"/>
                <a:sym typeface="Arial"/>
              </a:defRPr>
            </a:lvl1pPr>
            <a:lvl2pPr marL="0" lvl="1" indent="0" algn="r">
              <a:spcBef>
                <a:spcPts val="0"/>
              </a:spcBef>
              <a:buNone/>
              <a:defRPr sz="1200">
                <a:solidFill>
                  <a:schemeClr val="dk1"/>
                </a:solidFill>
                <a:latin typeface="Arial"/>
                <a:ea typeface="Arial"/>
                <a:cs typeface="Arial"/>
                <a:sym typeface="Arial"/>
              </a:defRPr>
            </a:lvl2pPr>
            <a:lvl3pPr marL="0" lvl="2" indent="0" algn="r">
              <a:spcBef>
                <a:spcPts val="0"/>
              </a:spcBef>
              <a:buNone/>
              <a:defRPr sz="1200">
                <a:solidFill>
                  <a:schemeClr val="dk1"/>
                </a:solidFill>
                <a:latin typeface="Arial"/>
                <a:ea typeface="Arial"/>
                <a:cs typeface="Arial"/>
                <a:sym typeface="Arial"/>
              </a:defRPr>
            </a:lvl3pPr>
            <a:lvl4pPr marL="0" lvl="3" indent="0" algn="r">
              <a:spcBef>
                <a:spcPts val="0"/>
              </a:spcBef>
              <a:buNone/>
              <a:defRPr sz="1200">
                <a:solidFill>
                  <a:schemeClr val="dk1"/>
                </a:solidFill>
                <a:latin typeface="Arial"/>
                <a:ea typeface="Arial"/>
                <a:cs typeface="Arial"/>
                <a:sym typeface="Arial"/>
              </a:defRPr>
            </a:lvl4pPr>
            <a:lvl5pPr marL="0" lvl="4" indent="0" algn="r">
              <a:spcBef>
                <a:spcPts val="0"/>
              </a:spcBef>
              <a:buNone/>
              <a:defRPr sz="1200">
                <a:solidFill>
                  <a:schemeClr val="dk1"/>
                </a:solidFill>
                <a:latin typeface="Arial"/>
                <a:ea typeface="Arial"/>
                <a:cs typeface="Arial"/>
                <a:sym typeface="Arial"/>
              </a:defRPr>
            </a:lvl5pPr>
            <a:lvl6pPr marL="0" lvl="5" indent="0" algn="r">
              <a:spcBef>
                <a:spcPts val="0"/>
              </a:spcBef>
              <a:buNone/>
              <a:defRPr sz="1200">
                <a:solidFill>
                  <a:schemeClr val="dk1"/>
                </a:solidFill>
                <a:latin typeface="Arial"/>
                <a:ea typeface="Arial"/>
                <a:cs typeface="Arial"/>
                <a:sym typeface="Arial"/>
              </a:defRPr>
            </a:lvl6pPr>
            <a:lvl7pPr marL="0" lvl="6" indent="0" algn="r">
              <a:spcBef>
                <a:spcPts val="0"/>
              </a:spcBef>
              <a:buNone/>
              <a:defRPr sz="1200">
                <a:solidFill>
                  <a:schemeClr val="dk1"/>
                </a:solidFill>
                <a:latin typeface="Arial"/>
                <a:ea typeface="Arial"/>
                <a:cs typeface="Arial"/>
                <a:sym typeface="Arial"/>
              </a:defRPr>
            </a:lvl7pPr>
            <a:lvl8pPr marL="0" lvl="7" indent="0" algn="r">
              <a:spcBef>
                <a:spcPts val="0"/>
              </a:spcBef>
              <a:buNone/>
              <a:defRPr sz="1200">
                <a:solidFill>
                  <a:schemeClr val="dk1"/>
                </a:solidFill>
                <a:latin typeface="Arial"/>
                <a:ea typeface="Arial"/>
                <a:cs typeface="Arial"/>
                <a:sym typeface="Arial"/>
              </a:defRPr>
            </a:lvl8pPr>
            <a:lvl9pPr marL="0" lvl="8" indent="0" algn="r">
              <a:spcBef>
                <a:spcPts val="0"/>
              </a:spcBef>
              <a:buNone/>
              <a:defRPr sz="1200">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3_Imagen con título">
  <p:cSld name="3_Imagen con título">
    <p:bg>
      <p:bgPr>
        <a:solidFill>
          <a:schemeClr val="accent5"/>
        </a:solidFill>
        <a:effectLst/>
      </p:bgPr>
    </p:bg>
    <p:spTree>
      <p:nvGrpSpPr>
        <p:cNvPr id="1" name="Shape 194"/>
        <p:cNvGrpSpPr/>
        <p:nvPr/>
      </p:nvGrpSpPr>
      <p:grpSpPr>
        <a:xfrm>
          <a:off x="0" y="0"/>
          <a:ext cx="0" cy="0"/>
          <a:chOff x="0" y="0"/>
          <a:chExt cx="0" cy="0"/>
        </a:xfrm>
      </p:grpSpPr>
      <p:pic>
        <p:nvPicPr>
          <p:cNvPr id="195" name="Google Shape;195;p84" descr="Logotipo&#10;&#10;Descripción generada automáticamente"/>
          <p:cNvPicPr preferRelativeResize="0"/>
          <p:nvPr/>
        </p:nvPicPr>
        <p:blipFill rotWithShape="1">
          <a:blip r:embed="rId2">
            <a:alphaModFix/>
          </a:blip>
          <a:srcRect/>
          <a:stretch/>
        </p:blipFill>
        <p:spPr>
          <a:xfrm>
            <a:off x="717120" y="6119502"/>
            <a:ext cx="1275453" cy="481548"/>
          </a:xfrm>
          <a:prstGeom prst="rect">
            <a:avLst/>
          </a:prstGeom>
          <a:noFill/>
          <a:ln>
            <a:noFill/>
          </a:ln>
        </p:spPr>
      </p:pic>
      <p:pic>
        <p:nvPicPr>
          <p:cNvPr id="196" name="Google Shape;196;p84" descr="Logotipo&#10;&#10;Descripción generada automáticamente con confianza media"/>
          <p:cNvPicPr preferRelativeResize="0"/>
          <p:nvPr/>
        </p:nvPicPr>
        <p:blipFill rotWithShape="1">
          <a:blip r:embed="rId3">
            <a:alphaModFix/>
          </a:blip>
          <a:srcRect/>
          <a:stretch/>
        </p:blipFill>
        <p:spPr>
          <a:xfrm>
            <a:off x="11399520" y="126683"/>
            <a:ext cx="576281" cy="500244"/>
          </a:xfrm>
          <a:prstGeom prst="rect">
            <a:avLst/>
          </a:prstGeom>
          <a:noFill/>
          <a:ln>
            <a:noFill/>
          </a:ln>
        </p:spPr>
      </p:pic>
      <p:sp>
        <p:nvSpPr>
          <p:cNvPr id="197" name="Google Shape;197;p84"/>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Play"/>
              <a:buNone/>
              <a:defRPr sz="3200" b="1">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8" name="Google Shape;198;p84"/>
          <p:cNvSpPr>
            <a:spLocks noGrp="1"/>
          </p:cNvSpPr>
          <p:nvPr>
            <p:ph type="pic" idx="2"/>
          </p:nvPr>
        </p:nvSpPr>
        <p:spPr>
          <a:xfrm>
            <a:off x="5183188" y="987425"/>
            <a:ext cx="6172200" cy="4873625"/>
          </a:xfrm>
          <a:prstGeom prst="rect">
            <a:avLst/>
          </a:prstGeom>
          <a:noFill/>
          <a:ln>
            <a:noFill/>
          </a:ln>
        </p:spPr>
      </p:sp>
      <p:sp>
        <p:nvSpPr>
          <p:cNvPr id="199" name="Google Shape;199;p84"/>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solidFill>
                  <a:schemeClr val="dk1"/>
                </a:solidFill>
              </a:defRPr>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200" name="Google Shape;200;p8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chemeClr val="dk1"/>
                </a:solidFill>
                <a:latin typeface="Arial"/>
                <a:ea typeface="Arial"/>
                <a:cs typeface="Arial"/>
                <a:sym typeface="Arial"/>
              </a:defRPr>
            </a:lvl1pPr>
            <a:lvl2pPr marL="0" lvl="1" indent="0" algn="r">
              <a:spcBef>
                <a:spcPts val="0"/>
              </a:spcBef>
              <a:buNone/>
              <a:defRPr sz="1200">
                <a:solidFill>
                  <a:schemeClr val="dk1"/>
                </a:solidFill>
                <a:latin typeface="Arial"/>
                <a:ea typeface="Arial"/>
                <a:cs typeface="Arial"/>
                <a:sym typeface="Arial"/>
              </a:defRPr>
            </a:lvl2pPr>
            <a:lvl3pPr marL="0" lvl="2" indent="0" algn="r">
              <a:spcBef>
                <a:spcPts val="0"/>
              </a:spcBef>
              <a:buNone/>
              <a:defRPr sz="1200">
                <a:solidFill>
                  <a:schemeClr val="dk1"/>
                </a:solidFill>
                <a:latin typeface="Arial"/>
                <a:ea typeface="Arial"/>
                <a:cs typeface="Arial"/>
                <a:sym typeface="Arial"/>
              </a:defRPr>
            </a:lvl3pPr>
            <a:lvl4pPr marL="0" lvl="3" indent="0" algn="r">
              <a:spcBef>
                <a:spcPts val="0"/>
              </a:spcBef>
              <a:buNone/>
              <a:defRPr sz="1200">
                <a:solidFill>
                  <a:schemeClr val="dk1"/>
                </a:solidFill>
                <a:latin typeface="Arial"/>
                <a:ea typeface="Arial"/>
                <a:cs typeface="Arial"/>
                <a:sym typeface="Arial"/>
              </a:defRPr>
            </a:lvl4pPr>
            <a:lvl5pPr marL="0" lvl="4" indent="0" algn="r">
              <a:spcBef>
                <a:spcPts val="0"/>
              </a:spcBef>
              <a:buNone/>
              <a:defRPr sz="1200">
                <a:solidFill>
                  <a:schemeClr val="dk1"/>
                </a:solidFill>
                <a:latin typeface="Arial"/>
                <a:ea typeface="Arial"/>
                <a:cs typeface="Arial"/>
                <a:sym typeface="Arial"/>
              </a:defRPr>
            </a:lvl5pPr>
            <a:lvl6pPr marL="0" lvl="5" indent="0" algn="r">
              <a:spcBef>
                <a:spcPts val="0"/>
              </a:spcBef>
              <a:buNone/>
              <a:defRPr sz="1200">
                <a:solidFill>
                  <a:schemeClr val="dk1"/>
                </a:solidFill>
                <a:latin typeface="Arial"/>
                <a:ea typeface="Arial"/>
                <a:cs typeface="Arial"/>
                <a:sym typeface="Arial"/>
              </a:defRPr>
            </a:lvl6pPr>
            <a:lvl7pPr marL="0" lvl="6" indent="0" algn="r">
              <a:spcBef>
                <a:spcPts val="0"/>
              </a:spcBef>
              <a:buNone/>
              <a:defRPr sz="1200">
                <a:solidFill>
                  <a:schemeClr val="dk1"/>
                </a:solidFill>
                <a:latin typeface="Arial"/>
                <a:ea typeface="Arial"/>
                <a:cs typeface="Arial"/>
                <a:sym typeface="Arial"/>
              </a:defRPr>
            </a:lvl7pPr>
            <a:lvl8pPr marL="0" lvl="7" indent="0" algn="r">
              <a:spcBef>
                <a:spcPts val="0"/>
              </a:spcBef>
              <a:buNone/>
              <a:defRPr sz="1200">
                <a:solidFill>
                  <a:schemeClr val="dk1"/>
                </a:solidFill>
                <a:latin typeface="Arial"/>
                <a:ea typeface="Arial"/>
                <a:cs typeface="Arial"/>
                <a:sym typeface="Arial"/>
              </a:defRPr>
            </a:lvl8pPr>
            <a:lvl9pPr marL="0" lvl="8" indent="0" algn="r">
              <a:spcBef>
                <a:spcPts val="0"/>
              </a:spcBef>
              <a:buNone/>
              <a:defRPr sz="1200">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ólo el título">
  <p:cSld name="Sólo el título">
    <p:spTree>
      <p:nvGrpSpPr>
        <p:cNvPr id="1" name="Shape 201"/>
        <p:cNvGrpSpPr/>
        <p:nvPr/>
      </p:nvGrpSpPr>
      <p:grpSpPr>
        <a:xfrm>
          <a:off x="0" y="0"/>
          <a:ext cx="0" cy="0"/>
          <a:chOff x="0" y="0"/>
          <a:chExt cx="0" cy="0"/>
        </a:xfrm>
      </p:grpSpPr>
      <p:sp>
        <p:nvSpPr>
          <p:cNvPr id="202" name="Google Shape;202;p85"/>
          <p:cNvSpPr txBox="1">
            <a:spLocks noGrp="1"/>
          </p:cNvSpPr>
          <p:nvPr>
            <p:ph type="title"/>
          </p:nvPr>
        </p:nvSpPr>
        <p:spPr>
          <a:xfrm>
            <a:off x="551384" y="302459"/>
            <a:ext cx="10081120" cy="24622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spTree>
      <p:nvGrpSpPr>
        <p:cNvPr id="1" name="Shape 203"/>
        <p:cNvGrpSpPr/>
        <p:nvPr/>
      </p:nvGrpSpPr>
      <p:grpSpPr>
        <a:xfrm>
          <a:off x="0" y="0"/>
          <a:ext cx="0" cy="0"/>
          <a:chOff x="0" y="0"/>
          <a:chExt cx="0" cy="0"/>
        </a:xfrm>
      </p:grpSpPr>
      <p:sp>
        <p:nvSpPr>
          <p:cNvPr id="204" name="Google Shape;204;p8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5" name="Google Shape;205;p86"/>
          <p:cNvSpPr txBox="1"/>
          <p:nvPr/>
        </p:nvSpPr>
        <p:spPr>
          <a:xfrm>
            <a:off x="11443317" y="506027"/>
            <a:ext cx="0" cy="0"/>
          </a:xfrm>
          <a:prstGeom prst="rect">
            <a:avLst/>
          </a:prstGeom>
          <a:solidFill>
            <a:schemeClr val="lt1"/>
          </a:solidFill>
          <a:ln w="9525" cap="flat" cmpd="sng">
            <a:solidFill>
              <a:schemeClr val="accent1"/>
            </a:solidFill>
            <a:prstDash val="solid"/>
            <a:miter lim="8000"/>
            <a:headEnd type="none" w="sm" len="sm"/>
            <a:tailEnd type="none" w="sm" len="sm"/>
          </a:ln>
        </p:spPr>
        <p:txBody>
          <a:bodyPr spcFirstLastPara="1" wrap="square" lIns="72000" tIns="72000" rIns="72000" bIns="72000" anchor="t" anchorCtr="0">
            <a:noAutofit/>
          </a:bodyPr>
          <a:lstStyle/>
          <a:p>
            <a:pPr marL="1587" marR="0" lvl="0" indent="0" algn="l" rtl="0">
              <a:spcBef>
                <a:spcPts val="0"/>
              </a:spcBef>
              <a:spcAft>
                <a:spcPts val="0"/>
              </a:spcAft>
              <a:buClr>
                <a:schemeClr val="dk1"/>
              </a:buClr>
              <a:buSzPts val="1200"/>
              <a:buFont typeface="Arial"/>
              <a:buNone/>
            </a:pPr>
            <a:endParaRPr sz="1200">
              <a:solidFill>
                <a:schemeClr val="dk1"/>
              </a:solidFill>
              <a:latin typeface="Arial"/>
              <a:ea typeface="Arial"/>
              <a:cs typeface="Arial"/>
              <a:sym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207"/>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190263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3.xml"/><Relationship Id="rId13" Type="http://schemas.openxmlformats.org/officeDocument/2006/relationships/slideLayout" Target="../slideLayouts/slideLayout18.xml"/><Relationship Id="rId18" Type="http://schemas.openxmlformats.org/officeDocument/2006/relationships/slideLayout" Target="../slideLayouts/slideLayout23.xml"/><Relationship Id="rId3" Type="http://schemas.openxmlformats.org/officeDocument/2006/relationships/slideLayout" Target="../slideLayouts/slideLayout8.xml"/><Relationship Id="rId21" Type="http://schemas.openxmlformats.org/officeDocument/2006/relationships/slideLayout" Target="../slideLayouts/slideLayout26.xml"/><Relationship Id="rId7" Type="http://schemas.openxmlformats.org/officeDocument/2006/relationships/slideLayout" Target="../slideLayouts/slideLayout12.xml"/><Relationship Id="rId12" Type="http://schemas.openxmlformats.org/officeDocument/2006/relationships/slideLayout" Target="../slideLayouts/slideLayout17.xml"/><Relationship Id="rId17" Type="http://schemas.openxmlformats.org/officeDocument/2006/relationships/slideLayout" Target="../slideLayouts/slideLayout22.xml"/><Relationship Id="rId2" Type="http://schemas.openxmlformats.org/officeDocument/2006/relationships/slideLayout" Target="../slideLayouts/slideLayout7.xml"/><Relationship Id="rId16" Type="http://schemas.openxmlformats.org/officeDocument/2006/relationships/slideLayout" Target="../slideLayouts/slideLayout21.xml"/><Relationship Id="rId20" Type="http://schemas.openxmlformats.org/officeDocument/2006/relationships/slideLayout" Target="../slideLayouts/slideLayout25.xml"/><Relationship Id="rId1" Type="http://schemas.openxmlformats.org/officeDocument/2006/relationships/slideLayout" Target="../slideLayouts/slideLayout6.xml"/><Relationship Id="rId6" Type="http://schemas.openxmlformats.org/officeDocument/2006/relationships/slideLayout" Target="../slideLayouts/slideLayout11.xml"/><Relationship Id="rId11" Type="http://schemas.openxmlformats.org/officeDocument/2006/relationships/slideLayout" Target="../slideLayouts/slideLayout16.xml"/><Relationship Id="rId5" Type="http://schemas.openxmlformats.org/officeDocument/2006/relationships/slideLayout" Target="../slideLayouts/slideLayout10.xml"/><Relationship Id="rId15" Type="http://schemas.openxmlformats.org/officeDocument/2006/relationships/slideLayout" Target="../slideLayouts/slideLayout20.xml"/><Relationship Id="rId10" Type="http://schemas.openxmlformats.org/officeDocument/2006/relationships/slideLayout" Target="../slideLayouts/slideLayout15.xml"/><Relationship Id="rId19" Type="http://schemas.openxmlformats.org/officeDocument/2006/relationships/slideLayout" Target="../slideLayouts/slideLayout24.xml"/><Relationship Id="rId4" Type="http://schemas.openxmlformats.org/officeDocument/2006/relationships/slideLayout" Target="../slideLayouts/slideLayout9.xml"/><Relationship Id="rId9" Type="http://schemas.openxmlformats.org/officeDocument/2006/relationships/slideLayout" Target="../slideLayouts/slideLayout14.xml"/><Relationship Id="rId14" Type="http://schemas.openxmlformats.org/officeDocument/2006/relationships/slideLayout" Target="../slideLayouts/slideLayout19.xml"/><Relationship Id="rId2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27.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61"/>
          <p:cNvSpPr txBox="1">
            <a:spLocks noGrp="1"/>
          </p:cNvSpPr>
          <p:nvPr>
            <p:ph type="body" idx="1"/>
          </p:nvPr>
        </p:nvSpPr>
        <p:spPr>
          <a:xfrm>
            <a:off x="719403" y="1694212"/>
            <a:ext cx="5853024" cy="984885"/>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1600" b="0" i="0" u="none" strike="noStrike" cap="none">
                <a:solidFill>
                  <a:schemeClr val="dk1"/>
                </a:solidFill>
                <a:latin typeface="Arial"/>
                <a:ea typeface="Arial"/>
                <a:cs typeface="Arial"/>
                <a:sym typeface="Arial"/>
              </a:defRPr>
            </a:lvl1pPr>
            <a:lvl2pPr marL="914400" marR="0" lvl="1" indent="-355600" algn="l" rtl="0">
              <a:spcBef>
                <a:spcPts val="0"/>
              </a:spcBef>
              <a:spcAft>
                <a:spcPts val="0"/>
              </a:spcAft>
              <a:buClr>
                <a:schemeClr val="dk2"/>
              </a:buClr>
              <a:buSzPts val="2000"/>
              <a:buFont typeface="Arial"/>
              <a:buChar char="▪"/>
              <a:defRPr sz="1600" b="0" i="0" u="none" strike="noStrike" cap="none">
                <a:solidFill>
                  <a:schemeClr val="dk1"/>
                </a:solidFill>
                <a:latin typeface="Calibri"/>
                <a:ea typeface="Calibri"/>
                <a:cs typeface="Calibri"/>
                <a:sym typeface="Calibri"/>
              </a:defRPr>
            </a:lvl2pPr>
            <a:lvl3pPr marL="1371600" marR="0" lvl="2" indent="-350520" algn="l" rtl="0">
              <a:spcBef>
                <a:spcPts val="0"/>
              </a:spcBef>
              <a:spcAft>
                <a:spcPts val="0"/>
              </a:spcAft>
              <a:buClr>
                <a:schemeClr val="dk2"/>
              </a:buClr>
              <a:buSzPts val="1920"/>
              <a:buFont typeface="Arial"/>
              <a:buChar char="–"/>
              <a:defRPr sz="1600" b="0" i="0" u="none" strike="noStrike" cap="none">
                <a:solidFill>
                  <a:schemeClr val="dk1"/>
                </a:solidFill>
                <a:latin typeface="Calibri"/>
                <a:ea typeface="Calibri"/>
                <a:cs typeface="Calibri"/>
                <a:sym typeface="Calibri"/>
              </a:defRPr>
            </a:lvl3pPr>
            <a:lvl4pPr marL="1828800" marR="0" lvl="3" indent="-350520" algn="l" rtl="0">
              <a:spcBef>
                <a:spcPts val="0"/>
              </a:spcBef>
              <a:spcAft>
                <a:spcPts val="0"/>
              </a:spcAft>
              <a:buClr>
                <a:schemeClr val="dk2"/>
              </a:buClr>
              <a:buSzPts val="1920"/>
              <a:buFont typeface="Arial"/>
              <a:buChar char="▫"/>
              <a:defRPr sz="1600" b="0" i="0" u="none" strike="noStrike" cap="none">
                <a:solidFill>
                  <a:schemeClr val="dk1"/>
                </a:solidFill>
                <a:latin typeface="Calibri"/>
                <a:ea typeface="Calibri"/>
                <a:cs typeface="Calibri"/>
                <a:sym typeface="Calibri"/>
              </a:defRPr>
            </a:lvl4pPr>
            <a:lvl5pPr marL="2286000" marR="0" lvl="4" indent="-319024" algn="l" rtl="0">
              <a:spcBef>
                <a:spcPts val="0"/>
              </a:spcBef>
              <a:spcAft>
                <a:spcPts val="0"/>
              </a:spcAft>
              <a:buClr>
                <a:schemeClr val="dk2"/>
              </a:buClr>
              <a:buSzPts val="1424"/>
              <a:buFont typeface="Arial"/>
              <a:buChar char="-"/>
              <a:defRPr sz="1600" b="0" i="0" u="none" strike="noStrike" cap="none">
                <a:solidFill>
                  <a:schemeClr val="dk1"/>
                </a:solidFill>
                <a:latin typeface="Calibri"/>
                <a:ea typeface="Calibri"/>
                <a:cs typeface="Calibri"/>
                <a:sym typeface="Calibri"/>
              </a:defRPr>
            </a:lvl5pPr>
            <a:lvl6pPr marL="2743200" marR="0" lvl="5" indent="-319024" algn="l" rtl="0">
              <a:spcBef>
                <a:spcPts val="0"/>
              </a:spcBef>
              <a:spcAft>
                <a:spcPts val="0"/>
              </a:spcAft>
              <a:buClr>
                <a:schemeClr val="dk2"/>
              </a:buClr>
              <a:buSzPts val="1424"/>
              <a:buFont typeface="Arial"/>
              <a:buChar char="-"/>
              <a:defRPr sz="1600" b="0" i="0" u="none" strike="noStrike" cap="none">
                <a:solidFill>
                  <a:schemeClr val="dk1"/>
                </a:solidFill>
                <a:latin typeface="Arial"/>
                <a:ea typeface="Arial"/>
                <a:cs typeface="Arial"/>
                <a:sym typeface="Arial"/>
              </a:defRPr>
            </a:lvl6pPr>
            <a:lvl7pPr marL="3200400" marR="0" lvl="6" indent="-319024" algn="l" rtl="0">
              <a:spcBef>
                <a:spcPts val="0"/>
              </a:spcBef>
              <a:spcAft>
                <a:spcPts val="0"/>
              </a:spcAft>
              <a:buClr>
                <a:schemeClr val="dk2"/>
              </a:buClr>
              <a:buSzPts val="1424"/>
              <a:buFont typeface="Arial"/>
              <a:buChar char="-"/>
              <a:defRPr sz="1600" b="0" i="0" u="none" strike="noStrike" cap="none">
                <a:solidFill>
                  <a:schemeClr val="dk1"/>
                </a:solidFill>
                <a:latin typeface="Arial"/>
                <a:ea typeface="Arial"/>
                <a:cs typeface="Arial"/>
                <a:sym typeface="Arial"/>
              </a:defRPr>
            </a:lvl7pPr>
            <a:lvl8pPr marL="3657600" marR="0" lvl="7" indent="-319024" algn="l" rtl="0">
              <a:spcBef>
                <a:spcPts val="0"/>
              </a:spcBef>
              <a:spcAft>
                <a:spcPts val="0"/>
              </a:spcAft>
              <a:buClr>
                <a:schemeClr val="dk2"/>
              </a:buClr>
              <a:buSzPts val="1424"/>
              <a:buFont typeface="Arial"/>
              <a:buChar char="-"/>
              <a:defRPr sz="1600" b="0" i="0" u="none" strike="noStrike" cap="none">
                <a:solidFill>
                  <a:schemeClr val="dk1"/>
                </a:solidFill>
                <a:latin typeface="Arial"/>
                <a:ea typeface="Arial"/>
                <a:cs typeface="Arial"/>
                <a:sym typeface="Arial"/>
              </a:defRPr>
            </a:lvl8pPr>
            <a:lvl9pPr marL="4114800" marR="0" lvl="8" indent="-319024" algn="l" rtl="0">
              <a:spcBef>
                <a:spcPts val="0"/>
              </a:spcBef>
              <a:spcAft>
                <a:spcPts val="0"/>
              </a:spcAft>
              <a:buClr>
                <a:schemeClr val="dk2"/>
              </a:buClr>
              <a:buSzPts val="1424"/>
              <a:buFont typeface="Arial"/>
              <a:buChar char="-"/>
              <a:defRPr sz="1600" b="0" i="0" u="none" strike="noStrike" cap="none">
                <a:solidFill>
                  <a:schemeClr val="dk1"/>
                </a:solidFill>
                <a:latin typeface="Arial"/>
                <a:ea typeface="Arial"/>
                <a:cs typeface="Arial"/>
                <a:sym typeface="Arial"/>
              </a:defRPr>
            </a:lvl9pPr>
          </a:lstStyle>
          <a:p>
            <a:endParaRPr/>
          </a:p>
        </p:txBody>
      </p:sp>
      <p:sp>
        <p:nvSpPr>
          <p:cNvPr id="7" name="Google Shape;7;p61"/>
          <p:cNvSpPr txBox="1">
            <a:spLocks noGrp="1"/>
          </p:cNvSpPr>
          <p:nvPr>
            <p:ph type="title"/>
          </p:nvPr>
        </p:nvSpPr>
        <p:spPr>
          <a:xfrm>
            <a:off x="551384" y="302459"/>
            <a:ext cx="10081120" cy="246221"/>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1600" b="1" i="0" u="none" strike="noStrike" cap="none">
                <a:solidFill>
                  <a:schemeClr val="dk2"/>
                </a:solidFill>
                <a:latin typeface="Calibri"/>
                <a:ea typeface="Calibri"/>
                <a:cs typeface="Calibri"/>
                <a:sym typeface="Calibri"/>
              </a:defRPr>
            </a:lvl1pPr>
            <a:lvl2pPr marR="0" lvl="1" algn="l" rtl="0">
              <a:spcBef>
                <a:spcPts val="0"/>
              </a:spcBef>
              <a:spcAft>
                <a:spcPts val="0"/>
              </a:spcAft>
              <a:buSzPts val="1400"/>
              <a:buNone/>
              <a:defRPr sz="1900" b="1" i="0" u="none" strike="noStrike" cap="none">
                <a:solidFill>
                  <a:schemeClr val="dk2"/>
                </a:solidFill>
                <a:latin typeface="Arial"/>
                <a:ea typeface="Arial"/>
                <a:cs typeface="Arial"/>
                <a:sym typeface="Arial"/>
              </a:defRPr>
            </a:lvl2pPr>
            <a:lvl3pPr marR="0" lvl="2" algn="l" rtl="0">
              <a:spcBef>
                <a:spcPts val="0"/>
              </a:spcBef>
              <a:spcAft>
                <a:spcPts val="0"/>
              </a:spcAft>
              <a:buSzPts val="1400"/>
              <a:buNone/>
              <a:defRPr sz="1900" b="1" i="0" u="none" strike="noStrike" cap="none">
                <a:solidFill>
                  <a:schemeClr val="dk2"/>
                </a:solidFill>
                <a:latin typeface="Arial"/>
                <a:ea typeface="Arial"/>
                <a:cs typeface="Arial"/>
                <a:sym typeface="Arial"/>
              </a:defRPr>
            </a:lvl3pPr>
            <a:lvl4pPr marR="0" lvl="3" algn="l" rtl="0">
              <a:spcBef>
                <a:spcPts val="0"/>
              </a:spcBef>
              <a:spcAft>
                <a:spcPts val="0"/>
              </a:spcAft>
              <a:buSzPts val="1400"/>
              <a:buNone/>
              <a:defRPr sz="1900" b="1" i="0" u="none" strike="noStrike" cap="none">
                <a:solidFill>
                  <a:schemeClr val="dk2"/>
                </a:solidFill>
                <a:latin typeface="Arial"/>
                <a:ea typeface="Arial"/>
                <a:cs typeface="Arial"/>
                <a:sym typeface="Arial"/>
              </a:defRPr>
            </a:lvl4pPr>
            <a:lvl5pPr marR="0" lvl="4" algn="l" rtl="0">
              <a:spcBef>
                <a:spcPts val="0"/>
              </a:spcBef>
              <a:spcAft>
                <a:spcPts val="0"/>
              </a:spcAft>
              <a:buSzPts val="1400"/>
              <a:buNone/>
              <a:defRPr sz="1900" b="1" i="0" u="none" strike="noStrike" cap="none">
                <a:solidFill>
                  <a:schemeClr val="dk2"/>
                </a:solidFill>
                <a:latin typeface="Arial"/>
                <a:ea typeface="Arial"/>
                <a:cs typeface="Arial"/>
                <a:sym typeface="Arial"/>
              </a:defRPr>
            </a:lvl5pPr>
            <a:lvl6pPr marR="0" lvl="5" algn="l" rtl="0">
              <a:spcBef>
                <a:spcPts val="0"/>
              </a:spcBef>
              <a:spcAft>
                <a:spcPts val="0"/>
              </a:spcAft>
              <a:buSzPts val="1400"/>
              <a:buNone/>
              <a:defRPr sz="1900" b="1" i="0" u="none" strike="noStrike" cap="none">
                <a:solidFill>
                  <a:schemeClr val="dk2"/>
                </a:solidFill>
                <a:latin typeface="Arial"/>
                <a:ea typeface="Arial"/>
                <a:cs typeface="Arial"/>
                <a:sym typeface="Arial"/>
              </a:defRPr>
            </a:lvl6pPr>
            <a:lvl7pPr marR="0" lvl="6" algn="l" rtl="0">
              <a:spcBef>
                <a:spcPts val="0"/>
              </a:spcBef>
              <a:spcAft>
                <a:spcPts val="0"/>
              </a:spcAft>
              <a:buSzPts val="1400"/>
              <a:buNone/>
              <a:defRPr sz="1900" b="1" i="0" u="none" strike="noStrike" cap="none">
                <a:solidFill>
                  <a:schemeClr val="dk2"/>
                </a:solidFill>
                <a:latin typeface="Arial"/>
                <a:ea typeface="Arial"/>
                <a:cs typeface="Arial"/>
                <a:sym typeface="Arial"/>
              </a:defRPr>
            </a:lvl7pPr>
            <a:lvl8pPr marR="0" lvl="7" algn="l" rtl="0">
              <a:spcBef>
                <a:spcPts val="0"/>
              </a:spcBef>
              <a:spcAft>
                <a:spcPts val="0"/>
              </a:spcAft>
              <a:buSzPts val="1400"/>
              <a:buNone/>
              <a:defRPr sz="1900" b="1" i="0" u="none" strike="noStrike" cap="none">
                <a:solidFill>
                  <a:schemeClr val="dk2"/>
                </a:solidFill>
                <a:latin typeface="Arial"/>
                <a:ea typeface="Arial"/>
                <a:cs typeface="Arial"/>
                <a:sym typeface="Arial"/>
              </a:defRPr>
            </a:lvl8pPr>
            <a:lvl9pPr marR="0" lvl="8" algn="l" rtl="0">
              <a:spcBef>
                <a:spcPts val="0"/>
              </a:spcBef>
              <a:spcAft>
                <a:spcPts val="0"/>
              </a:spcAft>
              <a:buSzPts val="1400"/>
              <a:buNone/>
              <a:defRPr sz="1900" b="1" i="0" u="none" strike="noStrike" cap="none">
                <a:solidFill>
                  <a:schemeClr val="dk2"/>
                </a:solidFill>
                <a:latin typeface="Arial"/>
                <a:ea typeface="Arial"/>
                <a:cs typeface="Arial"/>
                <a:sym typeface="Arial"/>
              </a:defRPr>
            </a:lvl9pPr>
          </a:lstStyle>
          <a:p>
            <a:endParaRPr/>
          </a:p>
        </p:txBody>
      </p:sp>
      <p:sp>
        <p:nvSpPr>
          <p:cNvPr id="8" name="Google Shape;8;p61"/>
          <p:cNvSpPr txBox="1"/>
          <p:nvPr/>
        </p:nvSpPr>
        <p:spPr>
          <a:xfrm>
            <a:off x="11716644" y="6566446"/>
            <a:ext cx="284012" cy="155496"/>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fld id="{00000000-1234-1234-1234-123412341234}" type="slidenum">
              <a:rPr lang="es-CL" sz="1000" b="0" i="0" u="none" strike="noStrike" cap="none">
                <a:solidFill>
                  <a:srgbClr val="33448D"/>
                </a:solidFill>
                <a:latin typeface="Arial"/>
                <a:ea typeface="Arial"/>
                <a:cs typeface="Arial"/>
                <a:sym typeface="Arial"/>
              </a:rPr>
              <a:t>‹Nº›</a:t>
            </a:fld>
            <a:endParaRPr sz="1000" b="0" i="0" u="none" strike="noStrike" cap="none">
              <a:solidFill>
                <a:srgbClr val="33448D"/>
              </a:solidFill>
              <a:latin typeface="Arial"/>
              <a:ea typeface="Arial"/>
              <a:cs typeface="Arial"/>
              <a:sym typeface="Arial"/>
            </a:endParaRPr>
          </a:p>
        </p:txBody>
      </p:sp>
      <p:sp>
        <p:nvSpPr>
          <p:cNvPr id="9" name="Google Shape;9;p61"/>
          <p:cNvSpPr/>
          <p:nvPr/>
        </p:nvSpPr>
        <p:spPr>
          <a:xfrm>
            <a:off x="0" y="831533"/>
            <a:ext cx="12192000" cy="46648"/>
          </a:xfrm>
          <a:prstGeom prst="roundRect">
            <a:avLst>
              <a:gd name="adj" fmla="val 11644"/>
            </a:avLst>
          </a:prstGeom>
          <a:solidFill>
            <a:srgbClr val="2C73BB"/>
          </a:solidFill>
          <a:ln>
            <a:noFill/>
          </a:ln>
        </p:spPr>
        <p:txBody>
          <a:bodyPr spcFirstLastPara="1" wrap="square" lIns="93125" tIns="46550" rIns="93125" bIns="46550" anchor="ctr" anchorCtr="0">
            <a:noAutofit/>
          </a:bodyPr>
          <a:lstStyle/>
          <a:p>
            <a:pPr marL="0" marR="0" lvl="0" indent="0" algn="ctr" rtl="0">
              <a:spcBef>
                <a:spcPts val="0"/>
              </a:spcBef>
              <a:spcAft>
                <a:spcPts val="0"/>
              </a:spcAft>
              <a:buNone/>
            </a:pPr>
            <a:endParaRPr sz="1800" b="0" i="0" u="none" strike="noStrike" cap="none">
              <a:solidFill>
                <a:srgbClr val="000000"/>
              </a:solidFill>
              <a:latin typeface="Arial"/>
              <a:ea typeface="Arial"/>
              <a:cs typeface="Arial"/>
              <a:sym typeface="Arial"/>
            </a:endParaRPr>
          </a:p>
        </p:txBody>
      </p:sp>
      <p:pic>
        <p:nvPicPr>
          <p:cNvPr id="10" name="Google Shape;10;p61"/>
          <p:cNvPicPr preferRelativeResize="0"/>
          <p:nvPr/>
        </p:nvPicPr>
        <p:blipFill rotWithShape="1">
          <a:blip r:embed="rId7">
            <a:alphaModFix/>
          </a:blip>
          <a:srcRect/>
          <a:stretch/>
        </p:blipFill>
        <p:spPr>
          <a:xfrm>
            <a:off x="11208568" y="111753"/>
            <a:ext cx="876400" cy="580943"/>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6"/>
        <p:cNvGrpSpPr/>
        <p:nvPr/>
      </p:nvGrpSpPr>
      <p:grpSpPr>
        <a:xfrm>
          <a:off x="0" y="0"/>
          <a:ext cx="0" cy="0"/>
          <a:chOff x="0" y="0"/>
          <a:chExt cx="0" cy="0"/>
        </a:xfrm>
      </p:grpSpPr>
      <p:sp>
        <p:nvSpPr>
          <p:cNvPr id="37" name="Google Shape;37;p6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000"/>
              <a:buFont typeface="Play"/>
              <a:buNone/>
              <a:defRPr sz="4000" b="0" i="0" u="none" strike="noStrike" cap="non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8" name="Google Shape;38;p6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330200" algn="l" rtl="0">
              <a:lnSpc>
                <a:spcPct val="90000"/>
              </a:lnSpc>
              <a:spcBef>
                <a:spcPts val="1000"/>
              </a:spcBef>
              <a:spcAft>
                <a:spcPts val="0"/>
              </a:spcAft>
              <a:buClr>
                <a:schemeClr val="dk1"/>
              </a:buClr>
              <a:buSzPts val="1600"/>
              <a:buFont typeface="Arial"/>
              <a:buChar char="•"/>
              <a:defRPr sz="1600" b="0" i="0" u="none" strike="noStrike" cap="none">
                <a:solidFill>
                  <a:schemeClr val="dk1"/>
                </a:solidFill>
                <a:latin typeface="Arial"/>
                <a:ea typeface="Arial"/>
                <a:cs typeface="Arial"/>
                <a:sym typeface="Arial"/>
              </a:defRPr>
            </a:lvl1pPr>
            <a:lvl2pPr marL="914400" marR="0" lvl="1" indent="-317500" algn="l" rtl="0">
              <a:lnSpc>
                <a:spcPct val="90000"/>
              </a:lnSpc>
              <a:spcBef>
                <a:spcPts val="5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2pPr>
            <a:lvl3pPr marL="1371600" marR="0" lvl="2" indent="-317500" algn="l" rtl="0">
              <a:lnSpc>
                <a:spcPct val="90000"/>
              </a:lnSpc>
              <a:spcBef>
                <a:spcPts val="5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3pPr>
            <a:lvl4pPr marL="1828800" marR="0" lvl="3" indent="-317500" algn="l" rtl="0">
              <a:lnSpc>
                <a:spcPct val="90000"/>
              </a:lnSpc>
              <a:spcBef>
                <a:spcPts val="5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4pPr>
            <a:lvl5pPr marL="2286000" marR="0" lvl="4" indent="-317500" algn="l" rtl="0">
              <a:lnSpc>
                <a:spcPct val="90000"/>
              </a:lnSpc>
              <a:spcBef>
                <a:spcPts val="500"/>
              </a:spcBef>
              <a:spcAft>
                <a:spcPts val="0"/>
              </a:spcAft>
              <a:buClr>
                <a:schemeClr val="dk1"/>
              </a:buClr>
              <a:buSzPts val="1400"/>
              <a:buFont typeface="Arial"/>
              <a:buChar char="•"/>
              <a:defRPr sz="1400" b="0" i="0" u="none" strike="noStrike" cap="none">
                <a:solidFill>
                  <a:schemeClr val="dk1"/>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39" name="Google Shape;39;p6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0" name="Google Shape;40;p6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1" name="Google Shape;41;p6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chemeClr val="dk1"/>
                </a:solidFill>
                <a:latin typeface="Arial"/>
                <a:ea typeface="Arial"/>
                <a:cs typeface="Arial"/>
                <a:sym typeface="Arial"/>
              </a:defRPr>
            </a:lvl1pPr>
            <a:lvl2pPr marL="0" marR="0" lvl="1" indent="0" algn="r" rtl="0">
              <a:spcBef>
                <a:spcPts val="0"/>
              </a:spcBef>
              <a:buNone/>
              <a:defRPr sz="1200" b="0" i="0" u="none" strike="noStrike" cap="none">
                <a:solidFill>
                  <a:schemeClr val="dk1"/>
                </a:solidFill>
                <a:latin typeface="Arial"/>
                <a:ea typeface="Arial"/>
                <a:cs typeface="Arial"/>
                <a:sym typeface="Arial"/>
              </a:defRPr>
            </a:lvl2pPr>
            <a:lvl3pPr marL="0" marR="0" lvl="2" indent="0" algn="r" rtl="0">
              <a:spcBef>
                <a:spcPts val="0"/>
              </a:spcBef>
              <a:buNone/>
              <a:defRPr sz="1200" b="0" i="0" u="none" strike="noStrike" cap="none">
                <a:solidFill>
                  <a:schemeClr val="dk1"/>
                </a:solidFill>
                <a:latin typeface="Arial"/>
                <a:ea typeface="Arial"/>
                <a:cs typeface="Arial"/>
                <a:sym typeface="Arial"/>
              </a:defRPr>
            </a:lvl3pPr>
            <a:lvl4pPr marL="0" marR="0" lvl="3" indent="0" algn="r" rtl="0">
              <a:spcBef>
                <a:spcPts val="0"/>
              </a:spcBef>
              <a:buNone/>
              <a:defRPr sz="1200" b="0" i="0" u="none" strike="noStrike" cap="none">
                <a:solidFill>
                  <a:schemeClr val="dk1"/>
                </a:solidFill>
                <a:latin typeface="Arial"/>
                <a:ea typeface="Arial"/>
                <a:cs typeface="Arial"/>
                <a:sym typeface="Arial"/>
              </a:defRPr>
            </a:lvl4pPr>
            <a:lvl5pPr marL="0" marR="0" lvl="4" indent="0" algn="r" rtl="0">
              <a:spcBef>
                <a:spcPts val="0"/>
              </a:spcBef>
              <a:buNone/>
              <a:defRPr sz="1200" b="0" i="0" u="none" strike="noStrike" cap="none">
                <a:solidFill>
                  <a:schemeClr val="dk1"/>
                </a:solidFill>
                <a:latin typeface="Arial"/>
                <a:ea typeface="Arial"/>
                <a:cs typeface="Arial"/>
                <a:sym typeface="Arial"/>
              </a:defRPr>
            </a:lvl5pPr>
            <a:lvl6pPr marL="0" marR="0" lvl="5" indent="0" algn="r" rtl="0">
              <a:spcBef>
                <a:spcPts val="0"/>
              </a:spcBef>
              <a:buNone/>
              <a:defRPr sz="1200" b="0" i="0" u="none" strike="noStrike" cap="none">
                <a:solidFill>
                  <a:schemeClr val="dk1"/>
                </a:solidFill>
                <a:latin typeface="Arial"/>
                <a:ea typeface="Arial"/>
                <a:cs typeface="Arial"/>
                <a:sym typeface="Arial"/>
              </a:defRPr>
            </a:lvl6pPr>
            <a:lvl7pPr marL="0" marR="0" lvl="6" indent="0" algn="r" rtl="0">
              <a:spcBef>
                <a:spcPts val="0"/>
              </a:spcBef>
              <a:buNone/>
              <a:defRPr sz="1200" b="0" i="0" u="none" strike="noStrike" cap="none">
                <a:solidFill>
                  <a:schemeClr val="dk1"/>
                </a:solidFill>
                <a:latin typeface="Arial"/>
                <a:ea typeface="Arial"/>
                <a:cs typeface="Arial"/>
                <a:sym typeface="Arial"/>
              </a:defRPr>
            </a:lvl7pPr>
            <a:lvl8pPr marL="0" marR="0" lvl="7" indent="0" algn="r" rtl="0">
              <a:spcBef>
                <a:spcPts val="0"/>
              </a:spcBef>
              <a:buNone/>
              <a:defRPr sz="1200" b="0" i="0" u="none" strike="noStrike" cap="none">
                <a:solidFill>
                  <a:schemeClr val="dk1"/>
                </a:solidFill>
                <a:latin typeface="Arial"/>
                <a:ea typeface="Arial"/>
                <a:cs typeface="Arial"/>
                <a:sym typeface="Arial"/>
              </a:defRPr>
            </a:lvl8pPr>
            <a:lvl9pPr marL="0" marR="0" lvl="8" indent="0" algn="r" rtl="0">
              <a:spcBef>
                <a:spcPts val="0"/>
              </a:spcBef>
              <a:buNone/>
              <a:defRPr sz="1200" b="0" i="0" u="none" strike="noStrike" cap="none">
                <a:solidFill>
                  <a:schemeClr val="dk1"/>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s-CL"/>
              <a:t>‹Nº›</a:t>
            </a:fld>
            <a:endParaRPr/>
          </a:p>
        </p:txBody>
      </p:sp>
    </p:spTree>
  </p:cSld>
  <p:clrMap bg1="lt1" tx1="dk1" bg2="dk2" tx2="lt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 id="2147483659" r:id="rId5"/>
    <p:sldLayoutId id="2147483660" r:id="rId6"/>
    <p:sldLayoutId id="2147483661" r:id="rId7"/>
    <p:sldLayoutId id="2147483662" r:id="rId8"/>
    <p:sldLayoutId id="2147483663" r:id="rId9"/>
    <p:sldLayoutId id="2147483664" r:id="rId10"/>
    <p:sldLayoutId id="2147483665" r:id="rId11"/>
    <p:sldLayoutId id="2147483666" r:id="rId12"/>
    <p:sldLayoutId id="2147483667" r:id="rId13"/>
    <p:sldLayoutId id="2147483668" r:id="rId14"/>
    <p:sldLayoutId id="2147483669" r:id="rId15"/>
    <p:sldLayoutId id="2147483670" r:id="rId16"/>
    <p:sldLayoutId id="2147483671" r:id="rId17"/>
    <p:sldLayoutId id="2147483672" r:id="rId18"/>
    <p:sldLayoutId id="2147483673" r:id="rId19"/>
    <p:sldLayoutId id="2147483674" r:id="rId20"/>
    <p:sldLayoutId id="2147483675" r:id="rId2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06"/>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77"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34918260"/>
      </p:ext>
    </p:extLst>
  </p:cSld>
  <p:clrMap bg1="lt1" tx1="dk1" bg2="lt2" tx2="dk2" accent1="accent1" accent2="accent2" accent3="accent3" accent4="accent4" accent5="accent5" accent6="accent6" hlink="hlink" folHlink="folHlink"/>
  <p:sldLayoutIdLst>
    <p:sldLayoutId id="2147483679" r:id="rId1"/>
  </p:sldLayoutIdLst>
  <p:hf sldNum="0" hdr="0" ftr="0" dt="0"/>
  <p:txStyles>
    <p:titleStyle>
      <a:lvl1pPr algn="ctr" defTabSz="609630" rtl="0" eaLnBrk="1" latinLnBrk="0" hangingPunct="1">
        <a:spcBef>
          <a:spcPct val="0"/>
        </a:spcBef>
        <a:buNone/>
        <a:defRPr sz="2933" kern="1200">
          <a:solidFill>
            <a:schemeClr val="tx1"/>
          </a:solidFill>
          <a:latin typeface="+mj-lt"/>
          <a:ea typeface="+mj-ea"/>
          <a:cs typeface="+mj-cs"/>
        </a:defRPr>
      </a:lvl1pPr>
    </p:titleStyle>
    <p:bodyStyle>
      <a:lvl1pPr marL="228611" indent="-228611" algn="l" defTabSz="609630" rtl="0" eaLnBrk="1" latinLnBrk="0" hangingPunct="1">
        <a:spcBef>
          <a:spcPct val="20000"/>
        </a:spcBef>
        <a:buFont typeface="Arial" pitchFamily="34" charset="0"/>
        <a:buChar char="•"/>
        <a:defRPr sz="2133" kern="1200">
          <a:solidFill>
            <a:schemeClr val="tx1"/>
          </a:solidFill>
          <a:latin typeface="+mn-lt"/>
          <a:ea typeface="+mn-ea"/>
          <a:cs typeface="+mn-cs"/>
        </a:defRPr>
      </a:lvl1pPr>
      <a:lvl2pPr marL="495325" indent="-190510" algn="l" defTabSz="609630" rtl="0" eaLnBrk="1" latinLnBrk="0" hangingPunct="1">
        <a:spcBef>
          <a:spcPct val="20000"/>
        </a:spcBef>
        <a:buFont typeface="Arial" pitchFamily="34" charset="0"/>
        <a:buChar char="–"/>
        <a:defRPr sz="1867" kern="1200">
          <a:solidFill>
            <a:schemeClr val="tx1"/>
          </a:solidFill>
          <a:latin typeface="+mn-lt"/>
          <a:ea typeface="+mn-ea"/>
          <a:cs typeface="+mn-cs"/>
        </a:defRPr>
      </a:lvl2pPr>
      <a:lvl3pPr marL="762038" indent="-152408" algn="l" defTabSz="609630" rtl="0" eaLnBrk="1" latinLnBrk="0" hangingPunct="1">
        <a:spcBef>
          <a:spcPct val="20000"/>
        </a:spcBef>
        <a:buFont typeface="Arial" pitchFamily="34" charset="0"/>
        <a:buChar char="•"/>
        <a:defRPr sz="1600" kern="1200">
          <a:solidFill>
            <a:schemeClr val="tx1"/>
          </a:solidFill>
          <a:latin typeface="+mn-lt"/>
          <a:ea typeface="+mn-ea"/>
          <a:cs typeface="+mn-cs"/>
        </a:defRPr>
      </a:lvl3pPr>
      <a:lvl4pPr marL="1066853"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4pPr>
      <a:lvl5pPr marL="137166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5pPr>
      <a:lvl6pPr marL="167648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6pPr>
      <a:lvl7pPr marL="198129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7pPr>
      <a:lvl8pPr marL="228611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8pPr>
      <a:lvl9pPr marL="2590930"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9pPr>
    </p:bodyStyle>
    <p:otherStyle>
      <a:defPPr>
        <a:defRPr lang="en-US"/>
      </a:defPPr>
      <a:lvl1pPr marL="0" algn="l" defTabSz="609630" rtl="0" eaLnBrk="1" latinLnBrk="0" hangingPunct="1">
        <a:defRPr sz="1200" kern="1200">
          <a:solidFill>
            <a:schemeClr val="tx1"/>
          </a:solidFill>
          <a:latin typeface="+mn-lt"/>
          <a:ea typeface="+mn-ea"/>
          <a:cs typeface="+mn-cs"/>
        </a:defRPr>
      </a:lvl1pPr>
      <a:lvl2pPr marL="304815" algn="l" defTabSz="609630" rtl="0" eaLnBrk="1" latinLnBrk="0" hangingPunct="1">
        <a:defRPr sz="1200" kern="1200">
          <a:solidFill>
            <a:schemeClr val="tx1"/>
          </a:solidFill>
          <a:latin typeface="+mn-lt"/>
          <a:ea typeface="+mn-ea"/>
          <a:cs typeface="+mn-cs"/>
        </a:defRPr>
      </a:lvl2pPr>
      <a:lvl3pPr marL="609630" algn="l" defTabSz="609630" rtl="0" eaLnBrk="1" latinLnBrk="0" hangingPunct="1">
        <a:defRPr sz="1200" kern="1200">
          <a:solidFill>
            <a:schemeClr val="tx1"/>
          </a:solidFill>
          <a:latin typeface="+mn-lt"/>
          <a:ea typeface="+mn-ea"/>
          <a:cs typeface="+mn-cs"/>
        </a:defRPr>
      </a:lvl3pPr>
      <a:lvl4pPr marL="914446" algn="l" defTabSz="609630" rtl="0" eaLnBrk="1" latinLnBrk="0" hangingPunct="1">
        <a:defRPr sz="1200" kern="1200">
          <a:solidFill>
            <a:schemeClr val="tx1"/>
          </a:solidFill>
          <a:latin typeface="+mn-lt"/>
          <a:ea typeface="+mn-ea"/>
          <a:cs typeface="+mn-cs"/>
        </a:defRPr>
      </a:lvl4pPr>
      <a:lvl5pPr marL="1219261" algn="l" defTabSz="609630" rtl="0" eaLnBrk="1" latinLnBrk="0" hangingPunct="1">
        <a:defRPr sz="1200" kern="1200">
          <a:solidFill>
            <a:schemeClr val="tx1"/>
          </a:solidFill>
          <a:latin typeface="+mn-lt"/>
          <a:ea typeface="+mn-ea"/>
          <a:cs typeface="+mn-cs"/>
        </a:defRPr>
      </a:lvl5pPr>
      <a:lvl6pPr marL="1524076" algn="l" defTabSz="609630" rtl="0" eaLnBrk="1" latinLnBrk="0" hangingPunct="1">
        <a:defRPr sz="1200" kern="1200">
          <a:solidFill>
            <a:schemeClr val="tx1"/>
          </a:solidFill>
          <a:latin typeface="+mn-lt"/>
          <a:ea typeface="+mn-ea"/>
          <a:cs typeface="+mn-cs"/>
        </a:defRPr>
      </a:lvl6pPr>
      <a:lvl7pPr marL="1828891" algn="l" defTabSz="609630" rtl="0" eaLnBrk="1" latinLnBrk="0" hangingPunct="1">
        <a:defRPr sz="1200" kern="1200">
          <a:solidFill>
            <a:schemeClr val="tx1"/>
          </a:solidFill>
          <a:latin typeface="+mn-lt"/>
          <a:ea typeface="+mn-ea"/>
          <a:cs typeface="+mn-cs"/>
        </a:defRPr>
      </a:lvl7pPr>
      <a:lvl8pPr marL="2133707" algn="l" defTabSz="609630" rtl="0" eaLnBrk="1" latinLnBrk="0" hangingPunct="1">
        <a:defRPr sz="1200" kern="1200">
          <a:solidFill>
            <a:schemeClr val="tx1"/>
          </a:solidFill>
          <a:latin typeface="+mn-lt"/>
          <a:ea typeface="+mn-ea"/>
          <a:cs typeface="+mn-cs"/>
        </a:defRPr>
      </a:lvl8pPr>
      <a:lvl9pPr marL="2438522" algn="l" defTabSz="609630" rtl="0" eaLnBrk="1" latinLnBrk="0" hangingPunct="1">
        <a:defRPr sz="1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2.xml"/><Relationship Id="rId1" Type="http://schemas.openxmlformats.org/officeDocument/2006/relationships/slideLayout" Target="../slideLayouts/slideLayout6.xml"/><Relationship Id="rId4" Type="http://schemas.openxmlformats.org/officeDocument/2006/relationships/image" Target="../media/image44.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7.xml"/><Relationship Id="rId1" Type="http://schemas.openxmlformats.org/officeDocument/2006/relationships/slideLayout" Target="../slideLayouts/slideLayout6.xml"/><Relationship Id="rId5" Type="http://schemas.openxmlformats.org/officeDocument/2006/relationships/image" Target="../media/image49.png"/><Relationship Id="rId4" Type="http://schemas.openxmlformats.org/officeDocument/2006/relationships/image" Target="../media/image48.png"/></Relationships>
</file>

<file path=ppt/slides/_rels/slide1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0.xml"/><Relationship Id="rId1" Type="http://schemas.openxmlformats.org/officeDocument/2006/relationships/slideLayout" Target="../slideLayouts/slideLayout6.xml"/><Relationship Id="rId4" Type="http://schemas.openxmlformats.org/officeDocument/2006/relationships/image" Target="../media/image53.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2.xml"/><Relationship Id="rId1" Type="http://schemas.openxmlformats.org/officeDocument/2006/relationships/slideLayout" Target="../slideLayouts/slideLayout6.xml"/><Relationship Id="rId4" Type="http://schemas.openxmlformats.org/officeDocument/2006/relationships/image" Target="../media/image55.png"/></Relationships>
</file>

<file path=ppt/slides/_rels/slide2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57.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3.xml"/><Relationship Id="rId1" Type="http://schemas.openxmlformats.org/officeDocument/2006/relationships/slideLayout" Target="../slideLayouts/slideLayout6.xml"/><Relationship Id="rId4" Type="http://schemas.openxmlformats.org/officeDocument/2006/relationships/image" Target="../media/image62.png"/></Relationships>
</file>

<file path=ppt/slides/_rels/slide34.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6.xml"/><Relationship Id="rId1" Type="http://schemas.openxmlformats.org/officeDocument/2006/relationships/slideLayout" Target="../slideLayouts/slideLayout7.xml"/><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7.xml"/><Relationship Id="rId1" Type="http://schemas.openxmlformats.org/officeDocument/2006/relationships/slideLayout" Target="../slideLayouts/slideLayout6.xml"/><Relationship Id="rId4" Type="http://schemas.openxmlformats.org/officeDocument/2006/relationships/image" Target="../media/image68.png"/></Relationships>
</file>

<file path=ppt/slides/_rels/slide4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50.xml"/><Relationship Id="rId1" Type="http://schemas.openxmlformats.org/officeDocument/2006/relationships/slideLayout" Target="../slideLayouts/slideLayout6.xml"/><Relationship Id="rId4" Type="http://schemas.openxmlformats.org/officeDocument/2006/relationships/image" Target="../media/image71.png"/></Relationships>
</file>

<file path=ppt/slides/_rels/slide5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2.xml"/><Relationship Id="rId1" Type="http://schemas.openxmlformats.org/officeDocument/2006/relationships/slideLayout" Target="../slideLayouts/slideLayout28.xml"/><Relationship Id="rId4" Type="http://schemas.openxmlformats.org/officeDocument/2006/relationships/image" Target="../media/image74.png"/></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3.xml"/><Relationship Id="rId1" Type="http://schemas.openxmlformats.org/officeDocument/2006/relationships/slideLayout" Target="../slideLayouts/slideLayout28.xml"/><Relationship Id="rId5" Type="http://schemas.openxmlformats.org/officeDocument/2006/relationships/image" Target="../media/image74.png"/><Relationship Id="rId4" Type="http://schemas.openxmlformats.org/officeDocument/2006/relationships/image" Target="../media/image75.svg"/></Relationships>
</file>

<file path=ppt/slides/_rels/slide54.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5.xml"/><Relationship Id="rId1" Type="http://schemas.openxmlformats.org/officeDocument/2006/relationships/slideLayout" Target="../slideLayouts/slideLayout7.xml"/><Relationship Id="rId4" Type="http://schemas.openxmlformats.org/officeDocument/2006/relationships/image" Target="../media/image37.png"/></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77.png"/><Relationship Id="rId7" Type="http://schemas.openxmlformats.org/officeDocument/2006/relationships/image" Target="../media/image81.png"/><Relationship Id="rId2" Type="http://schemas.openxmlformats.org/officeDocument/2006/relationships/notesSlide" Target="../notesSlides/notesSlide75.xml"/><Relationship Id="rId1" Type="http://schemas.openxmlformats.org/officeDocument/2006/relationships/slideLayout" Target="../slideLayouts/slideLayout28.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image" Target="../media/image78.png"/></Relationships>
</file>

<file path=ppt/slides/_rels/slide76.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77.png"/><Relationship Id="rId7" Type="http://schemas.openxmlformats.org/officeDocument/2006/relationships/image" Target="../media/image81.png"/><Relationship Id="rId2" Type="http://schemas.openxmlformats.org/officeDocument/2006/relationships/notesSlide" Target="../notesSlides/notesSlide76.xml"/><Relationship Id="rId1" Type="http://schemas.openxmlformats.org/officeDocument/2006/relationships/slideLayout" Target="../slideLayouts/slideLayout28.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image" Target="../media/image78.png"/></Relationships>
</file>

<file path=ppt/slides/_rels/slide77.xml.rels><?xml version="1.0" encoding="UTF-8" standalone="yes"?>
<Relationships xmlns="http://schemas.openxmlformats.org/package/2006/relationships"><Relationship Id="rId8" Type="http://schemas.openxmlformats.org/officeDocument/2006/relationships/image" Target="../media/image82.png"/><Relationship Id="rId3" Type="http://schemas.openxmlformats.org/officeDocument/2006/relationships/image" Target="../media/image77.png"/><Relationship Id="rId7" Type="http://schemas.openxmlformats.org/officeDocument/2006/relationships/image" Target="../media/image81.png"/><Relationship Id="rId2" Type="http://schemas.openxmlformats.org/officeDocument/2006/relationships/notesSlide" Target="../notesSlides/notesSlide77.xml"/><Relationship Id="rId1" Type="http://schemas.openxmlformats.org/officeDocument/2006/relationships/slideLayout" Target="../slideLayouts/slideLayout28.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image" Target="../media/image78.png"/></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8.xml"/></Relationships>
</file>

<file path=ppt/slides/_rels/slide7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79.xml"/><Relationship Id="rId1" Type="http://schemas.openxmlformats.org/officeDocument/2006/relationships/slideLayout" Target="../slideLayouts/slideLayout6.xml"/><Relationship Id="rId5" Type="http://schemas.openxmlformats.org/officeDocument/2006/relationships/image" Target="../media/image84.png"/><Relationship Id="rId4" Type="http://schemas.openxmlformats.org/officeDocument/2006/relationships/image" Target="../media/image83.png"/></Relationships>
</file>

<file path=ppt/slides/_rels/slide8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8" Type="http://schemas.openxmlformats.org/officeDocument/2006/relationships/image" Target="../media/image91.png"/><Relationship Id="rId3" Type="http://schemas.openxmlformats.org/officeDocument/2006/relationships/image" Target="../media/image86.png"/><Relationship Id="rId7" Type="http://schemas.openxmlformats.org/officeDocument/2006/relationships/image" Target="../media/image90.jpg"/><Relationship Id="rId2" Type="http://schemas.openxmlformats.org/officeDocument/2006/relationships/notesSlide" Target="../notesSlides/notesSlide81.xml"/><Relationship Id="rId1" Type="http://schemas.openxmlformats.org/officeDocument/2006/relationships/slideLayout" Target="../slideLayouts/slideLayout27.xml"/><Relationship Id="rId6" Type="http://schemas.openxmlformats.org/officeDocument/2006/relationships/image" Target="../media/image89.png"/><Relationship Id="rId11" Type="http://schemas.openxmlformats.org/officeDocument/2006/relationships/image" Target="../media/image94.png"/><Relationship Id="rId5" Type="http://schemas.openxmlformats.org/officeDocument/2006/relationships/image" Target="../media/image88.png"/><Relationship Id="rId10" Type="http://schemas.openxmlformats.org/officeDocument/2006/relationships/image" Target="../media/image93.png"/><Relationship Id="rId4" Type="http://schemas.openxmlformats.org/officeDocument/2006/relationships/image" Target="../media/image87.png"/><Relationship Id="rId9" Type="http://schemas.openxmlformats.org/officeDocument/2006/relationships/image" Target="../media/image9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p1"/>
          <p:cNvSpPr txBox="1">
            <a:spLocks noGrp="1"/>
          </p:cNvSpPr>
          <p:nvPr>
            <p:ph type="subTitle" idx="1"/>
          </p:nvPr>
        </p:nvSpPr>
        <p:spPr>
          <a:xfrm>
            <a:off x="928356" y="5044946"/>
            <a:ext cx="5036084" cy="553998"/>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s-CL" sz="2000" b="1" dirty="0">
                <a:solidFill>
                  <a:srgbClr val="192146"/>
                </a:solidFill>
              </a:rPr>
              <a:t>Comité TECSERVICE</a:t>
            </a:r>
            <a:endParaRPr dirty="0"/>
          </a:p>
          <a:p>
            <a:pPr marL="0" lvl="0" indent="0" algn="l" rtl="0">
              <a:spcBef>
                <a:spcPts val="0"/>
              </a:spcBef>
              <a:spcAft>
                <a:spcPts val="0"/>
              </a:spcAft>
              <a:buNone/>
            </a:pPr>
            <a:r>
              <a:rPr lang="es-CL" dirty="0">
                <a:solidFill>
                  <a:srgbClr val="192146"/>
                </a:solidFill>
              </a:rPr>
              <a:t>5 octubre 2026</a:t>
            </a:r>
            <a:endParaRPr dirty="0"/>
          </a:p>
        </p:txBody>
      </p:sp>
      <p:sp>
        <p:nvSpPr>
          <p:cNvPr id="214" name="Google Shape;214;p1"/>
          <p:cNvSpPr/>
          <p:nvPr/>
        </p:nvSpPr>
        <p:spPr>
          <a:xfrm>
            <a:off x="8400256" y="6309320"/>
            <a:ext cx="4427984" cy="251094"/>
          </a:xfrm>
          <a:prstGeom prst="rect">
            <a:avLst/>
          </a:prstGeom>
          <a:noFill/>
          <a:ln>
            <a:noFill/>
          </a:ln>
        </p:spPr>
        <p:txBody>
          <a:bodyPr spcFirstLastPara="1" wrap="square" lIns="0" tIns="0" rIns="0" bIns="0" anchor="b" anchorCtr="0">
            <a:spAutoFit/>
          </a:bodyPr>
          <a:lstStyle/>
          <a:p>
            <a:pPr marL="0" marR="0" lvl="0" indent="0" algn="l" rtl="0">
              <a:lnSpc>
                <a:spcPct val="100000"/>
              </a:lnSpc>
              <a:spcBef>
                <a:spcPts val="0"/>
              </a:spcBef>
              <a:spcAft>
                <a:spcPts val="0"/>
              </a:spcAft>
              <a:buClr>
                <a:srgbClr val="33448D"/>
              </a:buClr>
              <a:buSzPts val="816"/>
              <a:buFont typeface="Calibri"/>
              <a:buNone/>
            </a:pPr>
            <a:r>
              <a:rPr lang="es-CL" sz="816" b="0" i="0" u="none" strike="noStrike" cap="none">
                <a:solidFill>
                  <a:srgbClr val="33448D"/>
                </a:solidFill>
                <a:latin typeface="Calibri"/>
                <a:ea typeface="Calibri"/>
                <a:cs typeface="Calibri"/>
                <a:sym typeface="Calibri"/>
              </a:rPr>
              <a:t>DOCUMENTO CONFIDENCIAL PROPIEDAD DE GEMCO S.A.</a:t>
            </a:r>
            <a:endParaRPr/>
          </a:p>
          <a:p>
            <a:pPr marL="0" marR="0" lvl="0" indent="0" algn="l" rtl="0">
              <a:lnSpc>
                <a:spcPct val="100000"/>
              </a:lnSpc>
              <a:spcBef>
                <a:spcPts val="0"/>
              </a:spcBef>
              <a:spcAft>
                <a:spcPts val="0"/>
              </a:spcAft>
              <a:buClr>
                <a:srgbClr val="33448D"/>
              </a:buClr>
              <a:buSzPts val="816"/>
              <a:buFont typeface="Calibri"/>
              <a:buNone/>
            </a:pPr>
            <a:r>
              <a:rPr lang="es-CL" sz="816" b="0" i="0" u="none" strike="noStrike" cap="none">
                <a:solidFill>
                  <a:srgbClr val="33448D"/>
                </a:solidFill>
                <a:latin typeface="Calibri"/>
                <a:ea typeface="Calibri"/>
                <a:cs typeface="Calibri"/>
                <a:sym typeface="Calibri"/>
              </a:rPr>
              <a:t>Queda prohibido su uso y distribución sin la autorización expresa de GEMCO S.A.</a:t>
            </a:r>
            <a:endParaRPr/>
          </a:p>
        </p:txBody>
      </p:sp>
      <p:pic>
        <p:nvPicPr>
          <p:cNvPr id="215" name="Google Shape;215;p1"/>
          <p:cNvPicPr preferRelativeResize="0"/>
          <p:nvPr/>
        </p:nvPicPr>
        <p:blipFill rotWithShape="1">
          <a:blip r:embed="rId3">
            <a:alphaModFix/>
          </a:blip>
          <a:srcRect t="11037"/>
          <a:stretch/>
        </p:blipFill>
        <p:spPr>
          <a:xfrm>
            <a:off x="10209845" y="2472568"/>
            <a:ext cx="1574786" cy="1490748"/>
          </a:xfrm>
          <a:prstGeom prst="rect">
            <a:avLst/>
          </a:prstGeom>
          <a:noFill/>
          <a:ln>
            <a:noFill/>
          </a:ln>
        </p:spPr>
      </p:pic>
      <p:sp>
        <p:nvSpPr>
          <p:cNvPr id="216" name="Google Shape;216;p1"/>
          <p:cNvSpPr/>
          <p:nvPr/>
        </p:nvSpPr>
        <p:spPr>
          <a:xfrm>
            <a:off x="0" y="6634290"/>
            <a:ext cx="12192000" cy="251094"/>
          </a:xfrm>
          <a:prstGeom prst="rect">
            <a:avLst/>
          </a:prstGeom>
          <a:solidFill>
            <a:srgbClr val="0000F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Arial"/>
              <a:buNone/>
            </a:pPr>
            <a:endParaRPr sz="1800" b="0" i="0" u="none" strike="noStrike" cap="none">
              <a:solidFill>
                <a:srgbClr val="33448D"/>
              </a:solidFill>
              <a:latin typeface="Arial"/>
              <a:ea typeface="Arial"/>
              <a:cs typeface="Arial"/>
              <a:sym typeface="Arial"/>
            </a:endParaRPr>
          </a:p>
        </p:txBody>
      </p:sp>
      <p:pic>
        <p:nvPicPr>
          <p:cNvPr id="217" name="Google Shape;217;p1"/>
          <p:cNvPicPr preferRelativeResize="0"/>
          <p:nvPr/>
        </p:nvPicPr>
        <p:blipFill rotWithShape="1">
          <a:blip r:embed="rId4">
            <a:alphaModFix/>
          </a:blip>
          <a:srcRect/>
          <a:stretch/>
        </p:blipFill>
        <p:spPr>
          <a:xfrm>
            <a:off x="839416" y="2546444"/>
            <a:ext cx="3668216" cy="114544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p2"/>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Garantías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335FC8E7-B8F5-F89D-81A6-1730A638EE00}"/>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18C43288-93FE-68BA-CA33-339ACE5BDBA4}"/>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5CB74DE0-8D84-3C66-BBB2-DD1F99EF1955}"/>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Garantías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E3E1B001-4175-540F-A765-DFD02DFCCA49}"/>
              </a:ext>
            </a:extLst>
          </p:cNvPr>
          <p:cNvSpPr/>
          <p:nvPr/>
        </p:nvSpPr>
        <p:spPr>
          <a:xfrm>
            <a:off x="393700" y="845389"/>
            <a:ext cx="11312345" cy="250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41939534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F8E28980-C901-8F6C-EE21-DBA67BE16729}"/>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4CA09FC5-B87D-CDF9-61FA-03E6F5DBA9C5}"/>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Decisiones Hoy</a:t>
            </a:r>
            <a:endParaRPr sz="2700" b="0" i="0" u="none" strike="noStrike" cap="none" dirty="0">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26E03DF6-C86C-32A7-5DFC-EFE1C95370D6}"/>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MX" sz="1100" b="0" i="0" u="none" strike="noStrike" cap="none" dirty="0">
                <a:solidFill>
                  <a:srgbClr val="373C46"/>
                </a:solidFill>
                <a:latin typeface="Arial"/>
                <a:ea typeface="Arial"/>
                <a:cs typeface="Arial"/>
                <a:sym typeface="Arial"/>
              </a:rPr>
              <a:t>Informe final SCMS Hp Felix Bulnes </a:t>
            </a:r>
          </a:p>
          <a:p>
            <a:pPr marL="171450" marR="0" lvl="0" indent="-171450" algn="l" rtl="0">
              <a:spcBef>
                <a:spcPts val="0"/>
              </a:spcBef>
              <a:spcAft>
                <a:spcPts val="0"/>
              </a:spcAft>
              <a:buClr>
                <a:srgbClr val="373C46"/>
              </a:buClr>
              <a:buSzPts val="1100"/>
              <a:buFont typeface="Arial"/>
              <a:buChar char="•"/>
            </a:pPr>
            <a:endParaRPr lang="es-MX" sz="1100" b="0" i="0" u="none" strike="noStrike" cap="none" dirty="0">
              <a:solidFill>
                <a:srgbClr val="373C46"/>
              </a:solidFill>
              <a:latin typeface="Arial"/>
              <a:ea typeface="Arial"/>
              <a:cs typeface="Arial"/>
              <a:sym typeface="Arial"/>
            </a:endParaRPr>
          </a:p>
          <a:p>
            <a:pPr fontAlgn="t"/>
            <a:r>
              <a:rPr lang="es-CL" sz="1100" dirty="0">
                <a:solidFill>
                  <a:srgbClr val="373C46"/>
                </a:solidFill>
              </a:rPr>
              <a:t>1. Objetivo de la investigación</a:t>
            </a:r>
          </a:p>
          <a:p>
            <a:pPr marL="342900" lvl="0" indent="-342900" fontAlgn="t">
              <a:buFont typeface="Arial" panose="020B0604020202020204" pitchFamily="34" charset="0"/>
              <a:buChar char="•"/>
            </a:pPr>
            <a:r>
              <a:rPr lang="es-CL" sz="1100" dirty="0">
                <a:solidFill>
                  <a:srgbClr val="373C46"/>
                </a:solidFill>
              </a:rPr>
              <a:t>Determinar, en la medida de la evidencia disponible, las posibles causas del siniestro ocurrido el 30 de junio de 2026 en la lavadora </a:t>
            </a:r>
            <a:r>
              <a:rPr lang="es-CL" sz="1100" dirty="0" err="1">
                <a:solidFill>
                  <a:srgbClr val="373C46"/>
                </a:solidFill>
              </a:rPr>
              <a:t>termodesinfectadora</a:t>
            </a:r>
            <a:r>
              <a:rPr lang="es-CL" sz="1100" dirty="0">
                <a:solidFill>
                  <a:srgbClr val="373C46"/>
                </a:solidFill>
              </a:rPr>
              <a:t> </a:t>
            </a:r>
            <a:r>
              <a:rPr lang="es-CL" sz="1100" dirty="0" err="1">
                <a:solidFill>
                  <a:srgbClr val="373C46"/>
                </a:solidFill>
              </a:rPr>
              <a:t>Steelco</a:t>
            </a:r>
            <a:r>
              <a:rPr lang="es-CL" sz="1100" dirty="0">
                <a:solidFill>
                  <a:srgbClr val="373C46"/>
                </a:solidFill>
              </a:rPr>
              <a:t> DS610-2SL-2S ubicada en la Unidad SEDILE del Hospital Félix Bulnes.</a:t>
            </a:r>
          </a:p>
          <a:p>
            <a:pPr marL="342900" lvl="0" indent="-342900" fontAlgn="t">
              <a:buFont typeface="Arial" panose="020B0604020202020204" pitchFamily="34" charset="0"/>
              <a:buChar char="•"/>
            </a:pPr>
            <a:r>
              <a:rPr lang="es-CL" sz="1100" dirty="0">
                <a:solidFill>
                  <a:srgbClr val="373C46"/>
                </a:solidFill>
              </a:rPr>
              <a:t>La investigación incluyó inspección visual, preservación de evidencia, desmontaje de componentes, evaluaciones eléctricas y mecánicas, recuperación de registros operacionales y revisión documental.</a:t>
            </a:r>
          </a:p>
          <a:p>
            <a:pPr marL="171450" marR="0" lvl="0" indent="-171450" algn="l" rtl="0">
              <a:spcBef>
                <a:spcPts val="0"/>
              </a:spcBef>
              <a:spcAft>
                <a:spcPts val="0"/>
              </a:spcAft>
              <a:buClr>
                <a:srgbClr val="373C46"/>
              </a:buClr>
              <a:buSzPts val="1100"/>
              <a:buFont typeface="Arial"/>
              <a:buChar char="•"/>
            </a:pPr>
            <a:endParaRPr lang="es-MX" sz="1100" b="0" i="0" u="none" strike="noStrike" cap="none" dirty="0">
              <a:solidFill>
                <a:srgbClr val="373C46"/>
              </a:solidFill>
              <a:latin typeface="Arial"/>
              <a:ea typeface="Arial"/>
              <a:cs typeface="Arial"/>
              <a:sym typeface="Arial"/>
            </a:endParaRPr>
          </a:p>
          <a:p>
            <a:pPr marR="0" lvl="0" algn="l" rtl="0">
              <a:spcBef>
                <a:spcPts val="0"/>
              </a:spcBef>
              <a:spcAft>
                <a:spcPts val="0"/>
              </a:spcAft>
              <a:buClr>
                <a:srgbClr val="373C46"/>
              </a:buClr>
              <a:buSzPts val="1100"/>
            </a:pPr>
            <a:endParaRPr lang="es-MX" sz="1100" dirty="0">
              <a:solidFill>
                <a:srgbClr val="373C46"/>
              </a:solidFill>
            </a:endParaRPr>
          </a:p>
          <a:p>
            <a:pPr marL="171450" marR="0" lvl="0" indent="-171450" algn="l" rtl="0">
              <a:spcBef>
                <a:spcPts val="0"/>
              </a:spcBef>
              <a:spcAft>
                <a:spcPts val="0"/>
              </a:spcAft>
              <a:buClr>
                <a:srgbClr val="373C46"/>
              </a:buClr>
              <a:buSzPts val="1100"/>
              <a:buFont typeface="Arial"/>
              <a:buChar char="•"/>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Tree>
    <p:extLst>
      <p:ext uri="{BB962C8B-B14F-4D97-AF65-F5344CB8AC3E}">
        <p14:creationId xmlns:p14="http://schemas.microsoft.com/office/powerpoint/2010/main" val="8990779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4"/>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Información Importante Último Comite</a:t>
            </a:r>
            <a:endParaRPr sz="2700" b="0" i="0" u="none" strike="noStrike" cap="none">
              <a:solidFill>
                <a:srgbClr val="FFFFFF"/>
              </a:solidFill>
              <a:latin typeface="Roboto"/>
              <a:ea typeface="Roboto"/>
              <a:cs typeface="Roboto"/>
              <a:sym typeface="Roboto"/>
            </a:endParaRPr>
          </a:p>
        </p:txBody>
      </p:sp>
      <p:sp>
        <p:nvSpPr>
          <p:cNvPr id="236" name="Google Shape;236;p4"/>
          <p:cNvSpPr/>
          <p:nvPr/>
        </p:nvSpPr>
        <p:spPr>
          <a:xfrm>
            <a:off x="393700" y="854015"/>
            <a:ext cx="11070806" cy="558488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br>
              <a:rPr lang="es-CL" sz="1200" b="1" i="0" u="none" strike="noStrike" cap="none" dirty="0">
                <a:solidFill>
                  <a:schemeClr val="lt1"/>
                </a:solidFill>
                <a:latin typeface="Arial"/>
                <a:ea typeface="Arial"/>
                <a:cs typeface="Arial"/>
                <a:sym typeface="Arial"/>
              </a:rPr>
            </a:br>
            <a:r>
              <a:rPr lang="es-CL" sz="1200" b="1" i="0" u="none" strike="noStrike" cap="none" dirty="0">
                <a:solidFill>
                  <a:schemeClr val="lt1"/>
                </a:solidFill>
                <a:latin typeface="Arial"/>
                <a:ea typeface="Arial"/>
                <a:cs typeface="Arial"/>
                <a:sym typeface="Arial"/>
              </a:rPr>
              <a:t>1. </a:t>
            </a:r>
            <a:r>
              <a:rPr lang="es-MX" sz="1200" b="1" dirty="0">
                <a:solidFill>
                  <a:schemeClr val="lt1"/>
                </a:solidFill>
              </a:rPr>
              <a:t>Foco en plan de negocios – Plan RM y </a:t>
            </a:r>
            <a:r>
              <a:rPr lang="es-MX" sz="1200" b="1" dirty="0" err="1">
                <a:solidFill>
                  <a:schemeClr val="lt1"/>
                </a:solidFill>
              </a:rPr>
              <a:t>Valparaiso</a:t>
            </a:r>
            <a:endParaRPr lang="es-MX" sz="1200" b="1" dirty="0">
              <a:solidFill>
                <a:schemeClr val="lt1"/>
              </a:solidFill>
            </a:endParaRPr>
          </a:p>
          <a:p>
            <a:pPr marL="0" marR="0" lvl="0" indent="0" algn="l" rtl="0">
              <a:spcBef>
                <a:spcPts val="0"/>
              </a:spcBef>
              <a:spcAft>
                <a:spcPts val="0"/>
              </a:spcAft>
              <a:buNone/>
            </a:pPr>
            <a:r>
              <a:rPr lang="es-MX" sz="1200" b="1" dirty="0">
                <a:solidFill>
                  <a:schemeClr val="lt1"/>
                </a:solidFill>
                <a:latin typeface="Arial"/>
                <a:ea typeface="Arial"/>
                <a:cs typeface="Arial"/>
                <a:sym typeface="Arial"/>
              </a:rPr>
              <a:t>2. Plan de Acción Bio – Bio ; Status Plan Sur</a:t>
            </a:r>
            <a:br>
              <a:rPr lang="es-CL" sz="1200" dirty="0">
                <a:solidFill>
                  <a:srgbClr val="7F7F7F"/>
                </a:solidFill>
                <a:latin typeface="Arial"/>
                <a:ea typeface="Arial"/>
                <a:cs typeface="Arial"/>
                <a:sym typeface="Arial"/>
              </a:rPr>
            </a:br>
            <a:endParaRPr sz="1200" dirty="0">
              <a:solidFill>
                <a:srgbClr val="7F7F7F"/>
              </a:solidFill>
              <a:latin typeface="Arial"/>
              <a:ea typeface="Arial"/>
              <a:cs typeface="Arial"/>
              <a:sym typeface="Arial"/>
            </a:endParaRPr>
          </a:p>
          <a:p>
            <a:pPr marL="0" marR="0" lvl="0" indent="0" algn="l" rtl="0">
              <a:spcBef>
                <a:spcPts val="0"/>
              </a:spcBef>
              <a:spcAft>
                <a:spcPts val="0"/>
              </a:spcAft>
              <a:buNone/>
            </a:pPr>
            <a:endParaRPr sz="1200" dirty="0">
              <a:solidFill>
                <a:schemeClr val="lt1"/>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F0560562-841D-0614-4996-0C126C5E6DA8}"/>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0E5A4D55-4770-E145-5D42-B0DB6406279E}"/>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97AF97A3-160F-401A-F05A-9C230288BFCF}"/>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Garantías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354A2BD3-B50F-11A5-358B-61911454A6C6}"/>
              </a:ext>
            </a:extLst>
          </p:cNvPr>
          <p:cNvSpPr/>
          <p:nvPr/>
        </p:nvSpPr>
        <p:spPr>
          <a:xfrm>
            <a:off x="393700" y="1134000"/>
            <a:ext cx="11312345" cy="990000"/>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5012690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6"/>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Facturación 4</a:t>
            </a:r>
            <a:r>
              <a:rPr lang="es-CL" sz="2700" b="1" dirty="0">
                <a:solidFill>
                  <a:srgbClr val="33448D"/>
                </a:solidFill>
                <a:latin typeface="Roboto"/>
                <a:ea typeface="Roboto"/>
                <a:cs typeface="Roboto"/>
                <a:sym typeface="Roboto"/>
              </a:rPr>
              <a:t>° </a:t>
            </a:r>
            <a:r>
              <a:rPr lang="es-CL" sz="2700" b="1" i="0" u="none" strike="noStrike" cap="none" dirty="0">
                <a:solidFill>
                  <a:srgbClr val="33448D"/>
                </a:solidFill>
                <a:latin typeface="Roboto"/>
                <a:ea typeface="Roboto"/>
                <a:cs typeface="Roboto"/>
                <a:sym typeface="Roboto"/>
              </a:rPr>
              <a:t>Semana de </a:t>
            </a:r>
            <a:r>
              <a:rPr lang="es-CL" sz="2700" b="1" dirty="0">
                <a:solidFill>
                  <a:srgbClr val="33448D"/>
                </a:solidFill>
                <a:latin typeface="Roboto"/>
                <a:ea typeface="Roboto"/>
                <a:cs typeface="Roboto"/>
                <a:sym typeface="Roboto"/>
              </a:rPr>
              <a:t>Septiembre</a:t>
            </a:r>
            <a:endParaRPr sz="2700" b="0" i="0" u="none" strike="noStrike" cap="none" dirty="0">
              <a:solidFill>
                <a:srgbClr val="FFFFFF"/>
              </a:solidFill>
              <a:latin typeface="Roboto"/>
              <a:ea typeface="Roboto"/>
              <a:cs typeface="Roboto"/>
              <a:sym typeface="Roboto"/>
            </a:endParaRPr>
          </a:p>
        </p:txBody>
      </p:sp>
      <p:sp>
        <p:nvSpPr>
          <p:cNvPr id="249" name="Google Shape;249;p6"/>
          <p:cNvSpPr/>
          <p:nvPr/>
        </p:nvSpPr>
        <p:spPr>
          <a:xfrm>
            <a:off x="198408" y="5141343"/>
            <a:ext cx="11625292" cy="1138687"/>
          </a:xfrm>
          <a:prstGeom prst="rect">
            <a:avLst/>
          </a:prstGeom>
          <a:no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A septiembre se acumulan MM$2.114,8 de facturación, concentrada principalmente en Servicio Técnico (MM$1.857,5)</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Servicio Técnico acumula MM$1.857,5 de facturación, representando 87,8% de la facturación acumulada</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La facturación acumulada alcanza MM$1.888,2, un 30,7% por sobre el mismo período del año anterior, equivalente a MM$443,2 adicionales</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Trazabilidad acumula MM$74,9 y presenta un avance mensual de 4,0% sobre el presupuesto, mientras que Servicio Técnico se encuentra 19,1% bajo presupuesto mensual.</a:t>
            </a:r>
          </a:p>
        </p:txBody>
      </p:sp>
      <p:pic>
        <p:nvPicPr>
          <p:cNvPr id="2" name="Imagen 1">
            <a:extLst>
              <a:ext uri="{FF2B5EF4-FFF2-40B4-BE49-F238E27FC236}">
                <a16:creationId xmlns:a16="http://schemas.microsoft.com/office/drawing/2014/main" id="{41F285B3-FDA0-8324-3BAA-5EC752F0795D}"/>
              </a:ext>
            </a:extLst>
          </p:cNvPr>
          <p:cNvPicPr>
            <a:picLocks noChangeAspect="1"/>
          </p:cNvPicPr>
          <p:nvPr/>
        </p:nvPicPr>
        <p:blipFill>
          <a:blip r:embed="rId3"/>
          <a:stretch>
            <a:fillRect/>
          </a:stretch>
        </p:blipFill>
        <p:spPr>
          <a:xfrm>
            <a:off x="1032225" y="803290"/>
            <a:ext cx="10152950" cy="415943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7"/>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Desglose Garantía</a:t>
            </a:r>
            <a:r>
              <a:rPr lang="es-CL" sz="2700" b="1">
                <a:solidFill>
                  <a:srgbClr val="33448D"/>
                </a:solidFill>
                <a:latin typeface="Roboto"/>
                <a:ea typeface="Roboto"/>
                <a:cs typeface="Roboto"/>
                <a:sym typeface="Roboto"/>
              </a:rPr>
              <a:t>s Vigentes</a:t>
            </a:r>
            <a:endParaRPr sz="2700" b="0" i="0" u="none" strike="noStrike" cap="none">
              <a:solidFill>
                <a:srgbClr val="FFFFFF"/>
              </a:solidFill>
              <a:latin typeface="Roboto"/>
              <a:ea typeface="Roboto"/>
              <a:cs typeface="Roboto"/>
              <a:sym typeface="Roboto"/>
            </a:endParaRPr>
          </a:p>
        </p:txBody>
      </p:sp>
      <p:sp>
        <p:nvSpPr>
          <p:cNvPr id="256" name="Google Shape;256;p7"/>
          <p:cNvSpPr/>
          <p:nvPr/>
        </p:nvSpPr>
        <p:spPr>
          <a:xfrm>
            <a:off x="7496175" y="988142"/>
            <a:ext cx="4530557" cy="5687148"/>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panose="020B0604020202020204" pitchFamily="34" charset="0"/>
              <a:buChar char="•"/>
            </a:pPr>
            <a:r>
              <a:rPr lang="es-MX" sz="1200" dirty="0">
                <a:solidFill>
                  <a:schemeClr val="lt1"/>
                </a:solidFill>
                <a:latin typeface="Arial"/>
                <a:ea typeface="Arial"/>
                <a:cs typeface="Arial"/>
                <a:sym typeface="Arial"/>
              </a:rPr>
              <a:t>La cartera de garantías vigentes alcanza MM$284,6 de ingresos estimados, asociados a 45 contratos, con MM$132,6 de costo estimado y MM$69,4 aún por consumir.</a:t>
            </a:r>
          </a:p>
          <a:p>
            <a:pPr marL="171450" marR="0" lvl="0" indent="-171450" algn="l" rtl="0">
              <a:spcBef>
                <a:spcPts val="0"/>
              </a:spcBef>
              <a:spcAft>
                <a:spcPts val="0"/>
              </a:spcAft>
              <a:buClr>
                <a:schemeClr val="lt1"/>
              </a:buClr>
              <a:buSzPts val="1200"/>
              <a:buFont typeface="Arial" panose="020B0604020202020204" pitchFamily="34" charset="0"/>
              <a:buChar char="•"/>
            </a:pPr>
            <a:r>
              <a:rPr lang="es-MX" sz="1200" dirty="0">
                <a:solidFill>
                  <a:schemeClr val="lt1"/>
                </a:solidFill>
                <a:latin typeface="Arial"/>
                <a:ea typeface="Arial"/>
                <a:cs typeface="Arial"/>
                <a:sym typeface="Arial"/>
              </a:rPr>
              <a:t>El costo estimado representa aproximadamente 47% de los ingresos, dejando un margen estimado cercano al 53%.</a:t>
            </a:r>
          </a:p>
          <a:p>
            <a:pPr marL="171450" marR="0" lvl="0" indent="-171450" algn="l" rtl="0">
              <a:spcBef>
                <a:spcPts val="0"/>
              </a:spcBef>
              <a:spcAft>
                <a:spcPts val="0"/>
              </a:spcAft>
              <a:buClr>
                <a:schemeClr val="lt1"/>
              </a:buClr>
              <a:buSzPts val="1200"/>
              <a:buFont typeface="Arial" panose="020B0604020202020204" pitchFamily="34" charset="0"/>
              <a:buChar char="•"/>
            </a:pPr>
            <a:r>
              <a:rPr lang="es-MX" sz="1200" dirty="0">
                <a:solidFill>
                  <a:schemeClr val="lt1"/>
                </a:solidFill>
                <a:latin typeface="Arial"/>
                <a:ea typeface="Arial"/>
                <a:cs typeface="Arial"/>
                <a:sym typeface="Arial"/>
              </a:rPr>
              <a:t>La cartera presenta una alta concentración en los contratos de mayor monto: los 10 principales reúnen aproximadamente MM$157,5 millones, equivalentes al 55% del monto total.</a:t>
            </a:r>
          </a:p>
          <a:p>
            <a:pPr marL="171450" marR="0" lvl="0" indent="-171450" algn="l" rtl="0">
              <a:spcBef>
                <a:spcPts val="0"/>
              </a:spcBef>
              <a:spcAft>
                <a:spcPts val="0"/>
              </a:spcAft>
              <a:buClr>
                <a:schemeClr val="lt1"/>
              </a:buClr>
              <a:buSzPts val="1200"/>
              <a:buFont typeface="Arial" panose="020B0604020202020204" pitchFamily="34" charset="0"/>
              <a:buChar char="•"/>
            </a:pPr>
            <a:r>
              <a:rPr lang="es-MX" sz="1200" dirty="0">
                <a:solidFill>
                  <a:schemeClr val="lt1"/>
                </a:solidFill>
                <a:latin typeface="Arial"/>
                <a:ea typeface="Arial"/>
                <a:cs typeface="Arial"/>
                <a:sym typeface="Arial"/>
              </a:rPr>
              <a:t>Los contratos presentan distintos niveles de consumo y vigencia, con vencimientos que se extienden hasta 2030; una parte relevante aún mantiene un bajo porcentaje de consumo.</a:t>
            </a:r>
          </a:p>
          <a:p>
            <a:pPr marL="171450" marR="0" lvl="0" indent="-171450" algn="l" rtl="0">
              <a:spcBef>
                <a:spcPts val="0"/>
              </a:spcBef>
              <a:spcAft>
                <a:spcPts val="0"/>
              </a:spcAft>
              <a:buClr>
                <a:schemeClr val="lt1"/>
              </a:buClr>
              <a:buSzPts val="1200"/>
              <a:buFont typeface="Arial" panose="020B0604020202020204" pitchFamily="34" charset="0"/>
              <a:buChar char="•"/>
            </a:pPr>
            <a:r>
              <a:rPr lang="es-MX" sz="1200" dirty="0">
                <a:solidFill>
                  <a:schemeClr val="lt1"/>
                </a:solidFill>
                <a:latin typeface="Arial"/>
                <a:ea typeface="Arial"/>
                <a:cs typeface="Arial"/>
                <a:sym typeface="Arial"/>
              </a:rPr>
              <a:t>Esterilización concentra la mayor parte de la cartera, tanto en número de contratos como en monto, mientras que Dental presenta una participación menor.</a:t>
            </a:r>
          </a:p>
          <a:p>
            <a:pPr marL="171450" marR="0" lvl="0" indent="-171450" algn="l" rtl="0">
              <a:spcBef>
                <a:spcPts val="0"/>
              </a:spcBef>
              <a:spcAft>
                <a:spcPts val="0"/>
              </a:spcAft>
              <a:buClr>
                <a:schemeClr val="lt1"/>
              </a:buClr>
              <a:buSzPts val="1200"/>
              <a:buFont typeface="Arial" panose="020B0604020202020204" pitchFamily="34" charset="0"/>
              <a:buChar char="•"/>
            </a:pPr>
            <a:r>
              <a:rPr lang="es-MX" sz="1200" dirty="0">
                <a:solidFill>
                  <a:schemeClr val="lt1"/>
                </a:solidFill>
                <a:latin typeface="Arial"/>
                <a:ea typeface="Arial"/>
                <a:cs typeface="Arial"/>
                <a:sym typeface="Arial"/>
              </a:rPr>
              <a:t>La cartera mantiene MM$69,4 de costo estimado remanente, lo que representa una base relevante de actividad futura, especialmente en contratos con bajo porcentaje de consumo y mayor plazo restante.</a:t>
            </a:r>
          </a:p>
        </p:txBody>
      </p:sp>
      <p:pic>
        <p:nvPicPr>
          <p:cNvPr id="4" name="Imagen 3">
            <a:extLst>
              <a:ext uri="{FF2B5EF4-FFF2-40B4-BE49-F238E27FC236}">
                <a16:creationId xmlns:a16="http://schemas.microsoft.com/office/drawing/2014/main" id="{C352C534-FDD3-FCE7-BA06-F2A5838A5A14}"/>
              </a:ext>
            </a:extLst>
          </p:cNvPr>
          <p:cNvPicPr>
            <a:picLocks noChangeAspect="1"/>
          </p:cNvPicPr>
          <p:nvPr/>
        </p:nvPicPr>
        <p:blipFill>
          <a:blip r:embed="rId3"/>
          <a:stretch>
            <a:fillRect/>
          </a:stretch>
        </p:blipFill>
        <p:spPr>
          <a:xfrm>
            <a:off x="388910" y="780915"/>
            <a:ext cx="6677833" cy="607708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8"/>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Agrupación por Línea de Negocio </a:t>
            </a:r>
            <a:endParaRPr sz="2700" b="0" i="0" u="none" strike="noStrike" cap="none">
              <a:solidFill>
                <a:srgbClr val="FFFFFF"/>
              </a:solidFill>
              <a:latin typeface="Roboto"/>
              <a:ea typeface="Roboto"/>
              <a:cs typeface="Roboto"/>
              <a:sym typeface="Roboto"/>
            </a:endParaRPr>
          </a:p>
        </p:txBody>
      </p:sp>
      <p:sp>
        <p:nvSpPr>
          <p:cNvPr id="263" name="Google Shape;263;p8"/>
          <p:cNvSpPr/>
          <p:nvPr/>
        </p:nvSpPr>
        <p:spPr>
          <a:xfrm>
            <a:off x="246000" y="2510210"/>
            <a:ext cx="11700000" cy="3695705"/>
          </a:xfrm>
          <a:prstGeom prst="rect">
            <a:avLst/>
          </a:prstGeom>
          <a:no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La esterilización concentra el 80% de los contratos vigentes, con 36 de los 45 contratos de la cartera, versus 9 de Dental.</a:t>
            </a:r>
          </a:p>
          <a:p>
            <a:pPr marL="171450" marR="0" lvl="0" indent="-171450" algn="l" rtl="0">
              <a:spcBef>
                <a:spcPts val="0"/>
              </a:spcBef>
              <a:spcAft>
                <a:spcPts val="0"/>
              </a:spcAft>
              <a:buClr>
                <a:schemeClr val="lt1"/>
              </a:buClr>
              <a:buSzPts val="1400"/>
              <a:buFont typeface="Arial"/>
              <a:buChar char="•"/>
            </a:pPr>
            <a:endParaRPr lang="es-MX" sz="14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Esterilización representa cerca del 90% del costo total estimado, alcanzando MM$118,9, versus MM$13,6 de Dental.</a:t>
            </a:r>
          </a:p>
          <a:p>
            <a:pPr marL="171450" marR="0" lvl="0" indent="-171450" algn="l" rtl="0">
              <a:spcBef>
                <a:spcPts val="0"/>
              </a:spcBef>
              <a:spcAft>
                <a:spcPts val="0"/>
              </a:spcAft>
              <a:buClr>
                <a:schemeClr val="lt1"/>
              </a:buClr>
              <a:buSzPts val="1400"/>
              <a:buFont typeface="Arial"/>
              <a:buChar char="•"/>
            </a:pPr>
            <a:endParaRPr lang="es-MX" sz="14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El costo remanente asciende a MM$69,4, equivalente al 52,3% del costo total estimado, quedando MM$63,2 consumidos.</a:t>
            </a:r>
          </a:p>
          <a:p>
            <a:pPr marL="171450" marR="0" lvl="0" indent="-171450" algn="l" rtl="0">
              <a:spcBef>
                <a:spcPts val="0"/>
              </a:spcBef>
              <a:spcAft>
                <a:spcPts val="0"/>
              </a:spcAft>
              <a:buClr>
                <a:schemeClr val="lt1"/>
              </a:buClr>
              <a:buSzPts val="1400"/>
              <a:buFont typeface="Arial"/>
              <a:buChar char="•"/>
            </a:pPr>
            <a:endParaRPr lang="es-MX" sz="14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A nivel consolidado, se ha consumido 47,6% del costo estimado, manteniéndose 52,4% pendiente de consumir.</a:t>
            </a:r>
          </a:p>
          <a:p>
            <a:pPr marL="171450" marR="0" lvl="0" indent="-171450" algn="l" rtl="0">
              <a:spcBef>
                <a:spcPts val="0"/>
              </a:spcBef>
              <a:spcAft>
                <a:spcPts val="0"/>
              </a:spcAft>
              <a:buClr>
                <a:schemeClr val="lt1"/>
              </a:buClr>
              <a:buSzPts val="1400"/>
              <a:buFont typeface="Arial"/>
              <a:buChar char="•"/>
            </a:pPr>
            <a:endParaRPr lang="es-MX" sz="14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Los contratos de Dental presentan un mayor nivel de avance, con 56,3% consumido, versus 46,6% en Esterilización.</a:t>
            </a:r>
          </a:p>
          <a:p>
            <a:pPr marL="171450" marR="0" lvl="0" indent="-171450" algn="l" rtl="0">
              <a:spcBef>
                <a:spcPts val="0"/>
              </a:spcBef>
              <a:spcAft>
                <a:spcPts val="0"/>
              </a:spcAft>
              <a:buClr>
                <a:schemeClr val="lt1"/>
              </a:buClr>
              <a:buSzPts val="1400"/>
              <a:buFont typeface="Arial"/>
              <a:buChar char="•"/>
            </a:pPr>
            <a:endParaRPr lang="es-MX" sz="14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Esterilización concentra el 91,5% del costo remanente, con MM$63,5, constituyendo la principal exposición futura de la cartera.</a:t>
            </a:r>
          </a:p>
          <a:p>
            <a:pPr marL="171450" marR="0" lvl="0" indent="-171450" algn="l" rtl="0">
              <a:spcBef>
                <a:spcPts val="0"/>
              </a:spcBef>
              <a:spcAft>
                <a:spcPts val="0"/>
              </a:spcAft>
              <a:buClr>
                <a:schemeClr val="lt1"/>
              </a:buClr>
              <a:buSzPts val="1400"/>
              <a:buFont typeface="Arial"/>
              <a:buChar char="•"/>
            </a:pPr>
            <a:endParaRPr lang="es-MX" sz="14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El promedio de días restantes es de 339 días, con una diferencia relevante entre Esterilización (391 días) y Dental (132 días).</a:t>
            </a:r>
          </a:p>
          <a:p>
            <a:pPr marL="171450" marR="0" lvl="0" indent="-171450" algn="l" rtl="0">
              <a:spcBef>
                <a:spcPts val="0"/>
              </a:spcBef>
              <a:spcAft>
                <a:spcPts val="0"/>
              </a:spcAft>
              <a:buClr>
                <a:schemeClr val="lt1"/>
              </a:buClr>
              <a:buSzPts val="1400"/>
              <a:buFont typeface="Arial"/>
              <a:buChar char="•"/>
            </a:pPr>
            <a:endParaRPr lang="es-MX" dirty="0">
              <a:solidFill>
                <a:schemeClr val="lt1"/>
              </a:solidFill>
            </a:endParaRPr>
          </a:p>
          <a:p>
            <a:pPr marL="171450" marR="0" lvl="0" indent="-171450" algn="l" rtl="0">
              <a:spcBef>
                <a:spcPts val="0"/>
              </a:spcBef>
              <a:spcAft>
                <a:spcPts val="0"/>
              </a:spcAft>
              <a:buClr>
                <a:schemeClr val="lt1"/>
              </a:buClr>
              <a:buSzPts val="1400"/>
              <a:buFont typeface="Arial"/>
              <a:buChar char="•"/>
            </a:pPr>
            <a:r>
              <a:rPr lang="es-MX" sz="1400" dirty="0">
                <a:solidFill>
                  <a:schemeClr val="lt1"/>
                </a:solidFill>
                <a:latin typeface="Arial"/>
                <a:ea typeface="Arial"/>
                <a:cs typeface="Arial"/>
                <a:sym typeface="Arial"/>
              </a:rPr>
              <a:t>La cartera presenta una alta concentración en proyectos de Esterilización, que además concentran la mayor parte del costo remanente y del plazo pendiente.</a:t>
            </a:r>
          </a:p>
        </p:txBody>
      </p:sp>
      <p:pic>
        <p:nvPicPr>
          <p:cNvPr id="3" name="Imagen 2">
            <a:extLst>
              <a:ext uri="{FF2B5EF4-FFF2-40B4-BE49-F238E27FC236}">
                <a16:creationId xmlns:a16="http://schemas.microsoft.com/office/drawing/2014/main" id="{ABE202E5-3A7E-9FF4-8B55-8ED2DA9FF4D8}"/>
              </a:ext>
            </a:extLst>
          </p:cNvPr>
          <p:cNvPicPr>
            <a:picLocks noChangeAspect="1"/>
          </p:cNvPicPr>
          <p:nvPr/>
        </p:nvPicPr>
        <p:blipFill>
          <a:blip r:embed="rId3"/>
          <a:srcRect t="15798" r="1014" b="26306"/>
          <a:stretch>
            <a:fillRect/>
          </a:stretch>
        </p:blipFill>
        <p:spPr>
          <a:xfrm>
            <a:off x="0" y="884600"/>
            <a:ext cx="12068300" cy="134343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68"/>
        <p:cNvGrpSpPr/>
        <p:nvPr/>
      </p:nvGrpSpPr>
      <p:grpSpPr>
        <a:xfrm>
          <a:off x="0" y="0"/>
          <a:ext cx="0" cy="0"/>
          <a:chOff x="0" y="0"/>
          <a:chExt cx="0" cy="0"/>
        </a:xfrm>
      </p:grpSpPr>
      <p:sp>
        <p:nvSpPr>
          <p:cNvPr id="269" name="Google Shape;269;p9"/>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Brechas de Facturación</a:t>
            </a:r>
            <a:endParaRPr sz="2700" b="0" i="0" u="none" strike="noStrike" cap="none">
              <a:solidFill>
                <a:srgbClr val="FFFFFF"/>
              </a:solidFill>
              <a:latin typeface="Roboto"/>
              <a:ea typeface="Roboto"/>
              <a:cs typeface="Roboto"/>
              <a:sym typeface="Roboto"/>
            </a:endParaRPr>
          </a:p>
        </p:txBody>
      </p:sp>
      <p:sp>
        <p:nvSpPr>
          <p:cNvPr id="270" name="Google Shape;270;p9"/>
          <p:cNvSpPr/>
          <p:nvPr/>
        </p:nvSpPr>
        <p:spPr>
          <a:xfrm>
            <a:off x="94891" y="3526971"/>
            <a:ext cx="1319839" cy="3148318"/>
          </a:xfrm>
          <a:prstGeom prst="rect">
            <a:avLst/>
          </a:prstGeom>
          <a:solidFill>
            <a:schemeClr val="dk1"/>
          </a:solidFill>
          <a:ln w="19050" cap="flat" cmpd="sng">
            <a:solidFill>
              <a:schemeClr val="l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s-CL" sz="1050" dirty="0">
                <a:solidFill>
                  <a:schemeClr val="lt1"/>
                </a:solidFill>
                <a:latin typeface="Arial"/>
                <a:ea typeface="Arial"/>
                <a:cs typeface="Arial"/>
                <a:sym typeface="Arial"/>
              </a:rPr>
              <a:t>En total MM$18 por facturar, sin embargo, </a:t>
            </a:r>
            <a:r>
              <a:rPr lang="es-CL" sz="1050" b="1" dirty="0">
                <a:solidFill>
                  <a:schemeClr val="lt1"/>
                </a:solidFill>
                <a:latin typeface="Arial"/>
                <a:ea typeface="Arial"/>
                <a:cs typeface="Arial"/>
                <a:sym typeface="Arial"/>
              </a:rPr>
              <a:t>no se ha recibido la documentación pendiente por parte de ciertos hospitales.</a:t>
            </a:r>
            <a:endParaRPr dirty="0"/>
          </a:p>
          <a:p>
            <a:pPr marL="0" marR="0" lvl="0" indent="0" algn="l" rtl="0">
              <a:spcBef>
                <a:spcPts val="0"/>
              </a:spcBef>
              <a:spcAft>
                <a:spcPts val="0"/>
              </a:spcAft>
              <a:buNone/>
            </a:pPr>
            <a:endParaRPr sz="1050" b="1" dirty="0">
              <a:solidFill>
                <a:schemeClr val="lt1"/>
              </a:solidFill>
              <a:latin typeface="Arial"/>
              <a:ea typeface="Arial"/>
              <a:cs typeface="Arial"/>
              <a:sym typeface="Arial"/>
            </a:endParaRPr>
          </a:p>
          <a:p>
            <a:pPr marL="0" marR="0" lvl="0" indent="0" algn="l" rtl="0">
              <a:spcBef>
                <a:spcPts val="0"/>
              </a:spcBef>
              <a:spcAft>
                <a:spcPts val="0"/>
              </a:spcAft>
              <a:buNone/>
            </a:pPr>
            <a:r>
              <a:rPr lang="es-CL" sz="1050" dirty="0">
                <a:solidFill>
                  <a:schemeClr val="lt1"/>
                </a:solidFill>
                <a:latin typeface="Arial"/>
                <a:ea typeface="Arial"/>
                <a:cs typeface="Arial"/>
                <a:sym typeface="Arial"/>
              </a:rPr>
              <a:t>Se concentra fuerte: dos clientes explican el </a:t>
            </a:r>
            <a:r>
              <a:rPr lang="es-CL" sz="1050" dirty="0">
                <a:solidFill>
                  <a:schemeClr val="lt1"/>
                </a:solidFill>
              </a:rPr>
              <a:t>45</a:t>
            </a:r>
            <a:r>
              <a:rPr lang="es-CL" sz="1050" dirty="0">
                <a:solidFill>
                  <a:schemeClr val="lt1"/>
                </a:solidFill>
                <a:latin typeface="Arial"/>
                <a:ea typeface="Arial"/>
                <a:cs typeface="Arial"/>
                <a:sym typeface="Arial"/>
              </a:rPr>
              <a:t>%</a:t>
            </a:r>
            <a:endParaRPr dirty="0"/>
          </a:p>
          <a:p>
            <a:pPr marL="171450" marR="0" lvl="0" indent="-171450" algn="l" rtl="0">
              <a:spcBef>
                <a:spcPts val="0"/>
              </a:spcBef>
              <a:spcAft>
                <a:spcPts val="0"/>
              </a:spcAft>
              <a:buClr>
                <a:schemeClr val="lt1"/>
              </a:buClr>
              <a:buSzPts val="1050"/>
              <a:buFont typeface="Arial"/>
              <a:buChar char="•"/>
            </a:pPr>
            <a:r>
              <a:rPr lang="es-CL" sz="1050" dirty="0">
                <a:solidFill>
                  <a:schemeClr val="lt1"/>
                </a:solidFill>
                <a:latin typeface="Arial"/>
                <a:ea typeface="Arial"/>
                <a:cs typeface="Arial"/>
                <a:sym typeface="Arial"/>
              </a:rPr>
              <a:t>Hospital San José: MM$4,1 (22,7%)</a:t>
            </a:r>
          </a:p>
          <a:p>
            <a:pPr marL="171450" marR="0" lvl="0" indent="-171450" algn="l" rtl="0">
              <a:spcBef>
                <a:spcPts val="0"/>
              </a:spcBef>
              <a:spcAft>
                <a:spcPts val="0"/>
              </a:spcAft>
              <a:buClr>
                <a:schemeClr val="lt1"/>
              </a:buClr>
              <a:buSzPts val="1050"/>
              <a:buFont typeface="Arial"/>
              <a:buChar char="•"/>
            </a:pPr>
            <a:r>
              <a:rPr lang="es-CL" sz="1050" dirty="0">
                <a:solidFill>
                  <a:schemeClr val="lt1"/>
                </a:solidFill>
                <a:latin typeface="Arial"/>
                <a:ea typeface="Arial"/>
                <a:cs typeface="Arial"/>
                <a:sym typeface="Arial"/>
              </a:rPr>
              <a:t>Hospital Base Osorno: MM$4,0 (22,4%)</a:t>
            </a:r>
          </a:p>
        </p:txBody>
      </p:sp>
      <p:sp>
        <p:nvSpPr>
          <p:cNvPr id="271" name="Google Shape;271;p9"/>
          <p:cNvSpPr/>
          <p:nvPr/>
        </p:nvSpPr>
        <p:spPr>
          <a:xfrm>
            <a:off x="1414733" y="3524301"/>
            <a:ext cx="2794410" cy="3134514"/>
          </a:xfrm>
          <a:prstGeom prst="rect">
            <a:avLst/>
          </a:prstGeom>
          <a:solidFill>
            <a:schemeClr val="dk1"/>
          </a:solidFill>
          <a:ln w="19050" cap="flat" cmpd="sng">
            <a:solidFill>
              <a:srgbClr val="FFC00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s-MX" sz="1100" dirty="0">
                <a:solidFill>
                  <a:schemeClr val="lt1"/>
                </a:solidFill>
                <a:latin typeface="Arial"/>
                <a:ea typeface="Arial"/>
                <a:cs typeface="Arial"/>
                <a:sym typeface="Arial"/>
              </a:rPr>
              <a:t>De 18 clientes, se esperaba una facturación de MM$185,1, sin embargo, a la fecha se ha facturado solo MM$138,8 (brecha MM$46,3). Gran parte se explica por efecto de rezago hacia la última semana del mes.</a:t>
            </a:r>
          </a:p>
          <a:p>
            <a:pPr marL="0" marR="0" lvl="0" indent="0" algn="l" rtl="0">
              <a:spcBef>
                <a:spcPts val="0"/>
              </a:spcBef>
              <a:spcAft>
                <a:spcPts val="0"/>
              </a:spcAft>
              <a:buNone/>
            </a:pPr>
            <a:endParaRPr sz="1100" dirty="0">
              <a:solidFill>
                <a:schemeClr val="lt1"/>
              </a:solidFill>
              <a:latin typeface="Arial"/>
              <a:ea typeface="Arial"/>
              <a:cs typeface="Arial"/>
              <a:sym typeface="Arial"/>
            </a:endParaRPr>
          </a:p>
          <a:p>
            <a:pPr marL="0" marR="0" lvl="0" indent="0" algn="l" rtl="0">
              <a:spcBef>
                <a:spcPts val="0"/>
              </a:spcBef>
              <a:spcAft>
                <a:spcPts val="0"/>
              </a:spcAft>
              <a:buNone/>
            </a:pPr>
            <a:r>
              <a:rPr lang="es-CL" sz="1100" dirty="0">
                <a:solidFill>
                  <a:schemeClr val="lt1"/>
                </a:solidFill>
                <a:latin typeface="Arial"/>
                <a:ea typeface="Arial"/>
                <a:cs typeface="Arial"/>
                <a:sym typeface="Arial"/>
              </a:rPr>
              <a:t>Principales clientes:</a:t>
            </a:r>
            <a:endParaRPr sz="1100" dirty="0">
              <a:solidFill>
                <a:schemeClr val="lt1"/>
              </a:solidFill>
              <a:highlight>
                <a:srgbClr val="FFFF00"/>
              </a:highlight>
              <a:latin typeface="Arial"/>
              <a:ea typeface="Arial"/>
              <a:cs typeface="Arial"/>
              <a:sym typeface="Arial"/>
            </a:endParaRPr>
          </a:p>
          <a:p>
            <a:pPr marL="171450" marR="0" lvl="0" indent="-171450" algn="l" rtl="0">
              <a:spcBef>
                <a:spcPts val="0"/>
              </a:spcBef>
              <a:spcAft>
                <a:spcPts val="0"/>
              </a:spcAft>
              <a:buClr>
                <a:schemeClr val="lt1"/>
              </a:buClr>
              <a:buSzPts val="1100"/>
              <a:buFont typeface="Arial"/>
              <a:buChar char="•"/>
            </a:pPr>
            <a:r>
              <a:rPr lang="es-MX" sz="1100" dirty="0">
                <a:solidFill>
                  <a:schemeClr val="lt1"/>
                </a:solidFill>
                <a:latin typeface="Arial"/>
                <a:ea typeface="Arial"/>
                <a:cs typeface="Arial"/>
                <a:sym typeface="Arial"/>
              </a:rPr>
              <a:t>Fundación </a:t>
            </a:r>
            <a:r>
              <a:rPr lang="es-MX" sz="1100" dirty="0" err="1">
                <a:solidFill>
                  <a:schemeClr val="lt1"/>
                </a:solidFill>
                <a:latin typeface="Arial"/>
                <a:ea typeface="Arial"/>
                <a:cs typeface="Arial"/>
                <a:sym typeface="Arial"/>
              </a:rPr>
              <a:t>Anchora</a:t>
            </a:r>
            <a:r>
              <a:rPr lang="es-MX" sz="1100" dirty="0">
                <a:solidFill>
                  <a:schemeClr val="lt1"/>
                </a:solidFill>
                <a:latin typeface="Arial"/>
                <a:ea typeface="Arial"/>
                <a:cs typeface="Arial"/>
                <a:sym typeface="Arial"/>
              </a:rPr>
              <a:t> UC (MM$12,9 vs. MM$2,4 real)</a:t>
            </a:r>
          </a:p>
          <a:p>
            <a:pPr marL="171450" marR="0" lvl="0" indent="-171450" algn="l" rtl="0">
              <a:spcBef>
                <a:spcPts val="0"/>
              </a:spcBef>
              <a:spcAft>
                <a:spcPts val="0"/>
              </a:spcAft>
              <a:buClr>
                <a:schemeClr val="lt1"/>
              </a:buClr>
              <a:buSzPts val="1100"/>
              <a:buFont typeface="Arial"/>
              <a:buChar char="•"/>
            </a:pPr>
            <a:r>
              <a:rPr lang="es-MX" sz="1100" dirty="0">
                <a:solidFill>
                  <a:schemeClr val="lt1"/>
                </a:solidFill>
                <a:latin typeface="Arial"/>
                <a:ea typeface="Arial"/>
                <a:cs typeface="Arial"/>
                <a:sym typeface="Arial"/>
              </a:rPr>
              <a:t>Clínica Indisa (MM$28,8 vs. MM$20,6 real)</a:t>
            </a:r>
          </a:p>
          <a:p>
            <a:pPr marL="171450" marR="0" lvl="0" indent="-171450" algn="l" rtl="0">
              <a:spcBef>
                <a:spcPts val="0"/>
              </a:spcBef>
              <a:spcAft>
                <a:spcPts val="0"/>
              </a:spcAft>
              <a:buClr>
                <a:schemeClr val="lt1"/>
              </a:buClr>
              <a:buSzPts val="1100"/>
              <a:buFont typeface="Arial"/>
              <a:buChar char="•"/>
            </a:pPr>
            <a:r>
              <a:rPr lang="es-MX" sz="1100" dirty="0">
                <a:solidFill>
                  <a:schemeClr val="lt1"/>
                </a:solidFill>
                <a:latin typeface="Arial"/>
                <a:ea typeface="Arial"/>
                <a:cs typeface="Arial"/>
                <a:sym typeface="Arial"/>
              </a:rPr>
              <a:t>Johnson y Johnson (MM$30,4 vs. MM$26,1 real)</a:t>
            </a:r>
          </a:p>
          <a:p>
            <a:pPr marL="171450" marR="0" lvl="0" indent="-171450" algn="l" rtl="0">
              <a:spcBef>
                <a:spcPts val="0"/>
              </a:spcBef>
              <a:spcAft>
                <a:spcPts val="0"/>
              </a:spcAft>
              <a:buClr>
                <a:schemeClr val="lt1"/>
              </a:buClr>
              <a:buSzPts val="1100"/>
              <a:buFont typeface="Arial"/>
              <a:buChar char="•"/>
            </a:pPr>
            <a:r>
              <a:rPr lang="es-MX" sz="1100" dirty="0">
                <a:solidFill>
                  <a:schemeClr val="lt1"/>
                </a:solidFill>
                <a:latin typeface="Arial"/>
                <a:ea typeface="Arial"/>
                <a:cs typeface="Arial"/>
                <a:sym typeface="Arial"/>
              </a:rPr>
              <a:t>Hospital Puerto Octay (MM$3,4 vs. MM$0 real)</a:t>
            </a:r>
          </a:p>
          <a:p>
            <a:pPr marL="171450" marR="0" lvl="0" indent="-171450" algn="l" rtl="0">
              <a:spcBef>
                <a:spcPts val="0"/>
              </a:spcBef>
              <a:spcAft>
                <a:spcPts val="0"/>
              </a:spcAft>
              <a:buClr>
                <a:schemeClr val="lt1"/>
              </a:buClr>
              <a:buSzPts val="1100"/>
              <a:buFont typeface="Arial"/>
              <a:buChar char="•"/>
            </a:pPr>
            <a:r>
              <a:rPr lang="es-MX" sz="1100" dirty="0">
                <a:solidFill>
                  <a:schemeClr val="lt1"/>
                </a:solidFill>
                <a:latin typeface="Arial"/>
                <a:ea typeface="Arial"/>
                <a:cs typeface="Arial"/>
                <a:sym typeface="Arial"/>
              </a:rPr>
              <a:t>Dipreca Fondo Hospital (MM$3,7 vs. MM$0,4 real)</a:t>
            </a:r>
          </a:p>
        </p:txBody>
      </p:sp>
      <p:sp>
        <p:nvSpPr>
          <p:cNvPr id="272" name="Google Shape;272;p9"/>
          <p:cNvSpPr/>
          <p:nvPr/>
        </p:nvSpPr>
        <p:spPr>
          <a:xfrm>
            <a:off x="4209142" y="3524300"/>
            <a:ext cx="7887967" cy="3134515"/>
          </a:xfrm>
          <a:prstGeom prst="rect">
            <a:avLst/>
          </a:prstGeom>
          <a:noFill/>
          <a:ln w="19050" cap="flat" cmpd="sng">
            <a:solidFill>
              <a:schemeClr val="accent4"/>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s-MX" sz="1100" dirty="0">
                <a:solidFill>
                  <a:schemeClr val="lt1"/>
                </a:solidFill>
                <a:latin typeface="Arial"/>
                <a:ea typeface="Arial"/>
                <a:cs typeface="Arial"/>
                <a:sym typeface="Arial"/>
              </a:rPr>
              <a:t>Hay un total de MM$57,1 de repuestos que no tienen stock. Son 164 SKU distintos (190 pares cliente-SKU) en 30 clientes. Los principales clientes en espera son:</a:t>
            </a:r>
          </a:p>
          <a:p>
            <a:pPr marL="0" marR="0" lvl="0" indent="0" algn="l" rtl="0">
              <a:spcBef>
                <a:spcPts val="0"/>
              </a:spcBef>
              <a:spcAft>
                <a:spcPts val="0"/>
              </a:spcAft>
              <a:buNone/>
            </a:pPr>
            <a:endParaRPr lang="es-MX" sz="11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100"/>
              <a:buFont typeface="Arial"/>
              <a:buChar char="•"/>
            </a:pPr>
            <a:r>
              <a:rPr lang="es-MX" sz="1100" dirty="0">
                <a:solidFill>
                  <a:schemeClr val="lt1"/>
                </a:solidFill>
                <a:latin typeface="Arial"/>
                <a:ea typeface="Arial"/>
                <a:cs typeface="Arial"/>
                <a:sym typeface="Arial"/>
              </a:rPr>
              <a:t>Complejo Asistencial Dr. Sótero del Río: 16,4% de la brecha (32 SKU)</a:t>
            </a:r>
          </a:p>
          <a:p>
            <a:pPr marL="171450" marR="0" lvl="0" indent="-171450" algn="l" rtl="0">
              <a:spcBef>
                <a:spcPts val="0"/>
              </a:spcBef>
              <a:spcAft>
                <a:spcPts val="0"/>
              </a:spcAft>
              <a:buClr>
                <a:schemeClr val="lt1"/>
              </a:buClr>
              <a:buSzPts val="1100"/>
              <a:buFont typeface="Arial"/>
              <a:buChar char="•"/>
            </a:pPr>
            <a:r>
              <a:rPr lang="es-MX" sz="1100" dirty="0">
                <a:solidFill>
                  <a:schemeClr val="lt1"/>
                </a:solidFill>
                <a:latin typeface="Arial"/>
                <a:ea typeface="Arial"/>
                <a:cs typeface="Arial"/>
                <a:sym typeface="Arial"/>
              </a:rPr>
              <a:t>Asociación Chilena de Seguridad: 10,7% (4 SKU)</a:t>
            </a:r>
          </a:p>
          <a:p>
            <a:pPr marL="171450" marR="0" lvl="0" indent="-171450" algn="l" rtl="0">
              <a:spcBef>
                <a:spcPts val="0"/>
              </a:spcBef>
              <a:spcAft>
                <a:spcPts val="0"/>
              </a:spcAft>
              <a:buClr>
                <a:schemeClr val="lt1"/>
              </a:buClr>
              <a:buSzPts val="1100"/>
              <a:buFont typeface="Arial"/>
              <a:buChar char="•"/>
            </a:pPr>
            <a:r>
              <a:rPr lang="es-MX" sz="1100" dirty="0">
                <a:solidFill>
                  <a:schemeClr val="lt1"/>
                </a:solidFill>
                <a:latin typeface="Arial"/>
                <a:ea typeface="Arial"/>
                <a:cs typeface="Arial"/>
                <a:sym typeface="Arial"/>
              </a:rPr>
              <a:t>Clínica Andes Salud Chillán: 10,5% (12 SKU)</a:t>
            </a:r>
          </a:p>
          <a:p>
            <a:pPr marL="171450" marR="0" lvl="0" indent="-171450" algn="l" rtl="0">
              <a:spcBef>
                <a:spcPts val="0"/>
              </a:spcBef>
              <a:spcAft>
                <a:spcPts val="0"/>
              </a:spcAft>
              <a:buClr>
                <a:schemeClr val="lt1"/>
              </a:buClr>
              <a:buSzPts val="1100"/>
              <a:buFont typeface="Arial"/>
              <a:buChar char="•"/>
            </a:pPr>
            <a:r>
              <a:rPr lang="es-MX" sz="1100" dirty="0">
                <a:solidFill>
                  <a:schemeClr val="lt1"/>
                </a:solidFill>
                <a:latin typeface="Arial"/>
                <a:ea typeface="Arial"/>
                <a:cs typeface="Arial"/>
                <a:sym typeface="Arial"/>
              </a:rPr>
              <a:t>Insumos y Servicios Médicos: 10,1% (39 SKU)</a:t>
            </a:r>
          </a:p>
          <a:p>
            <a:pPr marL="171450" marR="0" lvl="0" indent="-171450" algn="l" rtl="0">
              <a:spcBef>
                <a:spcPts val="0"/>
              </a:spcBef>
              <a:spcAft>
                <a:spcPts val="0"/>
              </a:spcAft>
              <a:buClr>
                <a:schemeClr val="lt1"/>
              </a:buClr>
              <a:buSzPts val="1100"/>
              <a:buFont typeface="Arial"/>
              <a:buChar char="•"/>
            </a:pPr>
            <a:r>
              <a:rPr lang="es-MX" sz="1100" dirty="0">
                <a:solidFill>
                  <a:schemeClr val="lt1"/>
                </a:solidFill>
                <a:latin typeface="Arial"/>
                <a:ea typeface="Arial"/>
                <a:cs typeface="Arial"/>
                <a:sym typeface="Arial"/>
              </a:rPr>
              <a:t>Soc. Concesionaria Metropolitana de Salud: 8,8% (16 SKU)</a:t>
            </a:r>
          </a:p>
          <a:p>
            <a:pPr marL="0" marR="0" lvl="0" indent="0" algn="l" rtl="0">
              <a:spcBef>
                <a:spcPts val="0"/>
              </a:spcBef>
              <a:spcAft>
                <a:spcPts val="0"/>
              </a:spcAft>
              <a:buNone/>
            </a:pPr>
            <a:endParaRPr sz="1100" dirty="0">
              <a:solidFill>
                <a:schemeClr val="lt1"/>
              </a:solidFill>
              <a:latin typeface="Arial"/>
              <a:ea typeface="Arial"/>
              <a:cs typeface="Arial"/>
              <a:sym typeface="Arial"/>
            </a:endParaRPr>
          </a:p>
          <a:p>
            <a:pPr marL="0" marR="0" lvl="0" indent="0" algn="l" rtl="0">
              <a:spcBef>
                <a:spcPts val="0"/>
              </a:spcBef>
              <a:spcAft>
                <a:spcPts val="0"/>
              </a:spcAft>
              <a:buNone/>
            </a:pPr>
            <a:r>
              <a:rPr lang="es-CL" sz="1100" dirty="0">
                <a:solidFill>
                  <a:schemeClr val="lt1"/>
                </a:solidFill>
                <a:latin typeface="Arial"/>
                <a:ea typeface="Arial"/>
                <a:cs typeface="Arial"/>
                <a:sym typeface="Arial"/>
              </a:rPr>
              <a:t>Cobertura de estos repuestos (valorizada):</a:t>
            </a:r>
            <a:endParaRPr dirty="0"/>
          </a:p>
          <a:p>
            <a:pPr marL="171450" marR="0" lvl="0" indent="-171450" algn="l" rtl="0">
              <a:spcBef>
                <a:spcPts val="0"/>
              </a:spcBef>
              <a:spcAft>
                <a:spcPts val="0"/>
              </a:spcAft>
              <a:buClr>
                <a:schemeClr val="lt1"/>
              </a:buClr>
              <a:buSzPts val="1100"/>
              <a:buFont typeface="Arial"/>
              <a:buChar char="•"/>
            </a:pPr>
            <a:r>
              <a:rPr lang="en-US" sz="1100" dirty="0">
                <a:solidFill>
                  <a:schemeClr val="lt1"/>
                </a:solidFill>
                <a:latin typeface="Arial"/>
                <a:ea typeface="Arial"/>
                <a:cs typeface="Arial"/>
                <a:sym typeface="Arial"/>
              </a:rPr>
              <a:t>36% se </a:t>
            </a:r>
            <a:r>
              <a:rPr lang="en-US" sz="1100" dirty="0" err="1">
                <a:solidFill>
                  <a:schemeClr val="lt1"/>
                </a:solidFill>
                <a:latin typeface="Arial"/>
                <a:ea typeface="Arial"/>
                <a:cs typeface="Arial"/>
                <a:sym typeface="Arial"/>
              </a:rPr>
              <a:t>cubre</a:t>
            </a:r>
            <a:r>
              <a:rPr lang="en-US" sz="1100" dirty="0">
                <a:solidFill>
                  <a:schemeClr val="lt1"/>
                </a:solidFill>
                <a:latin typeface="Arial"/>
                <a:ea typeface="Arial"/>
                <a:cs typeface="Arial"/>
                <a:sym typeface="Arial"/>
              </a:rPr>
              <a:t> </a:t>
            </a:r>
            <a:r>
              <a:rPr lang="en-US" sz="1100" dirty="0" err="1">
                <a:solidFill>
                  <a:schemeClr val="lt1"/>
                </a:solidFill>
                <a:latin typeface="Arial"/>
                <a:ea typeface="Arial"/>
                <a:cs typeface="Arial"/>
                <a:sym typeface="Arial"/>
              </a:rPr>
              <a:t>por</a:t>
            </a:r>
            <a:r>
              <a:rPr lang="en-US" sz="1100" dirty="0">
                <a:solidFill>
                  <a:schemeClr val="lt1"/>
                </a:solidFill>
                <a:latin typeface="Arial"/>
                <a:ea typeface="Arial"/>
                <a:cs typeface="Arial"/>
                <a:sym typeface="Arial"/>
              </a:rPr>
              <a:t> stock </a:t>
            </a:r>
            <a:r>
              <a:rPr lang="en-US" sz="1100" dirty="0" err="1">
                <a:solidFill>
                  <a:schemeClr val="lt1"/>
                </a:solidFill>
                <a:latin typeface="Arial"/>
                <a:ea typeface="Arial"/>
                <a:cs typeface="Arial"/>
                <a:sym typeface="Arial"/>
              </a:rPr>
              <a:t>en</a:t>
            </a:r>
            <a:r>
              <a:rPr lang="en-US" sz="1100" dirty="0">
                <a:solidFill>
                  <a:schemeClr val="lt1"/>
                </a:solidFill>
                <a:latin typeface="Arial"/>
                <a:ea typeface="Arial"/>
                <a:cs typeface="Arial"/>
                <a:sym typeface="Arial"/>
              </a:rPr>
              <a:t> bodega</a:t>
            </a:r>
          </a:p>
          <a:p>
            <a:pPr marL="171450" marR="0" lvl="0" indent="-171450" algn="l" rtl="0">
              <a:spcBef>
                <a:spcPts val="0"/>
              </a:spcBef>
              <a:spcAft>
                <a:spcPts val="0"/>
              </a:spcAft>
              <a:buClr>
                <a:schemeClr val="lt1"/>
              </a:buClr>
              <a:buSzPts val="1100"/>
              <a:buFont typeface="Arial"/>
              <a:buChar char="•"/>
            </a:pPr>
            <a:r>
              <a:rPr lang="en-US" sz="1100" dirty="0">
                <a:solidFill>
                  <a:schemeClr val="lt1"/>
                </a:solidFill>
                <a:latin typeface="Arial"/>
                <a:ea typeface="Arial"/>
                <a:cs typeface="Arial"/>
                <a:sym typeface="Arial"/>
              </a:rPr>
              <a:t>15% se </a:t>
            </a:r>
            <a:r>
              <a:rPr lang="en-US" sz="1100" dirty="0" err="1">
                <a:solidFill>
                  <a:schemeClr val="lt1"/>
                </a:solidFill>
                <a:latin typeface="Arial"/>
                <a:ea typeface="Arial"/>
                <a:cs typeface="Arial"/>
                <a:sym typeface="Arial"/>
              </a:rPr>
              <a:t>cubre</a:t>
            </a:r>
            <a:r>
              <a:rPr lang="en-US" sz="1100" dirty="0">
                <a:solidFill>
                  <a:schemeClr val="lt1"/>
                </a:solidFill>
                <a:latin typeface="Arial"/>
                <a:ea typeface="Arial"/>
                <a:cs typeface="Arial"/>
                <a:sym typeface="Arial"/>
              </a:rPr>
              <a:t> </a:t>
            </a:r>
            <a:r>
              <a:rPr lang="en-US" sz="1100" dirty="0" err="1">
                <a:solidFill>
                  <a:schemeClr val="lt1"/>
                </a:solidFill>
                <a:latin typeface="Arial"/>
                <a:ea typeface="Arial"/>
                <a:cs typeface="Arial"/>
                <a:sym typeface="Arial"/>
              </a:rPr>
              <a:t>por</a:t>
            </a:r>
            <a:r>
              <a:rPr lang="en-US" sz="1100" dirty="0">
                <a:solidFill>
                  <a:schemeClr val="lt1"/>
                </a:solidFill>
                <a:latin typeface="Arial"/>
                <a:ea typeface="Arial"/>
                <a:cs typeface="Arial"/>
                <a:sym typeface="Arial"/>
              </a:rPr>
              <a:t> back order</a:t>
            </a:r>
          </a:p>
          <a:p>
            <a:pPr marL="171450" marR="0" lvl="0" indent="-171450" algn="l" rtl="0">
              <a:spcBef>
                <a:spcPts val="0"/>
              </a:spcBef>
              <a:spcAft>
                <a:spcPts val="0"/>
              </a:spcAft>
              <a:buClr>
                <a:schemeClr val="lt1"/>
              </a:buClr>
              <a:buSzPts val="1100"/>
              <a:buFont typeface="Arial"/>
              <a:buChar char="•"/>
            </a:pPr>
            <a:r>
              <a:rPr lang="en-US" sz="1100" dirty="0">
                <a:solidFill>
                  <a:schemeClr val="lt1"/>
                </a:solidFill>
                <a:latin typeface="Arial"/>
                <a:ea typeface="Arial"/>
                <a:cs typeface="Arial"/>
                <a:sym typeface="Arial"/>
              </a:rPr>
              <a:t>Stock + back order = 51%</a:t>
            </a:r>
          </a:p>
          <a:p>
            <a:pPr marL="0" marR="0" lvl="0" indent="0" algn="l" rtl="0">
              <a:spcBef>
                <a:spcPts val="0"/>
              </a:spcBef>
              <a:spcAft>
                <a:spcPts val="0"/>
              </a:spcAft>
              <a:buNone/>
            </a:pPr>
            <a:endParaRPr sz="1100" dirty="0">
              <a:solidFill>
                <a:schemeClr val="lt1"/>
              </a:solidFill>
              <a:latin typeface="Arial"/>
              <a:ea typeface="Arial"/>
              <a:cs typeface="Arial"/>
              <a:sym typeface="Arial"/>
            </a:endParaRPr>
          </a:p>
          <a:p>
            <a:pPr marL="0" marR="0" lvl="0" indent="0" algn="l" rtl="0">
              <a:spcBef>
                <a:spcPts val="0"/>
              </a:spcBef>
              <a:spcAft>
                <a:spcPts val="0"/>
              </a:spcAft>
              <a:buNone/>
            </a:pPr>
            <a:r>
              <a:rPr lang="es-MX" sz="1100" dirty="0">
                <a:solidFill>
                  <a:schemeClr val="lt1"/>
                </a:solidFill>
                <a:latin typeface="Arial"/>
                <a:ea typeface="Arial"/>
                <a:cs typeface="Arial"/>
                <a:sym typeface="Arial"/>
              </a:rPr>
              <a:t>El restante 49% son MM$27,8 en 76 pares cliente-SKU. Se explica principalmente porque 80 de los 190 pares (42%) no figuran en el maestro de inventario, es decir, son repuestos que nunca se han </a:t>
            </a:r>
            <a:r>
              <a:rPr lang="es-MX" sz="1100" dirty="0" err="1">
                <a:solidFill>
                  <a:schemeClr val="lt1"/>
                </a:solidFill>
                <a:latin typeface="Arial"/>
                <a:ea typeface="Arial"/>
                <a:cs typeface="Arial"/>
                <a:sym typeface="Arial"/>
              </a:rPr>
              <a:t>stockeado</a:t>
            </a:r>
            <a:r>
              <a:rPr lang="es-MX" sz="1100" dirty="0">
                <a:solidFill>
                  <a:schemeClr val="lt1"/>
                </a:solidFill>
                <a:latin typeface="Arial"/>
                <a:ea typeface="Arial"/>
                <a:cs typeface="Arial"/>
                <a:sym typeface="Arial"/>
              </a:rPr>
              <a:t>.</a:t>
            </a:r>
          </a:p>
          <a:p>
            <a:pPr marL="0" marR="0" lvl="0" indent="0" algn="l" rtl="0">
              <a:spcBef>
                <a:spcPts val="0"/>
              </a:spcBef>
              <a:spcAft>
                <a:spcPts val="0"/>
              </a:spcAft>
              <a:buNone/>
            </a:pPr>
            <a:endParaRPr lang="es-MX" sz="1100" dirty="0">
              <a:solidFill>
                <a:schemeClr val="lt1"/>
              </a:solidFill>
              <a:latin typeface="Arial"/>
              <a:ea typeface="Arial"/>
              <a:cs typeface="Arial"/>
              <a:sym typeface="Arial"/>
            </a:endParaRPr>
          </a:p>
        </p:txBody>
      </p:sp>
      <p:sp>
        <p:nvSpPr>
          <p:cNvPr id="273" name="Google Shape;273;p9"/>
          <p:cNvSpPr/>
          <p:nvPr/>
        </p:nvSpPr>
        <p:spPr>
          <a:xfrm>
            <a:off x="94892" y="3353665"/>
            <a:ext cx="1319838" cy="198409"/>
          </a:xfrm>
          <a:prstGeom prst="rect">
            <a:avLst/>
          </a:prstGeom>
          <a:solidFill>
            <a:schemeClr val="lt1"/>
          </a:solidFill>
          <a:ln w="19050" cap="flat" cmpd="sng">
            <a:solidFill>
              <a:schemeClr val="l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s-CL" sz="1100" b="1">
                <a:solidFill>
                  <a:schemeClr val="dk1"/>
                </a:solidFill>
                <a:latin typeface="Arial"/>
                <a:ea typeface="Arial"/>
                <a:cs typeface="Arial"/>
                <a:sym typeface="Arial"/>
              </a:rPr>
              <a:t>Op. X facturar</a:t>
            </a:r>
            <a:endParaRPr sz="1100" b="1">
              <a:solidFill>
                <a:schemeClr val="dk1"/>
              </a:solidFill>
              <a:latin typeface="Arial"/>
              <a:ea typeface="Arial"/>
              <a:cs typeface="Arial"/>
              <a:sym typeface="Arial"/>
            </a:endParaRPr>
          </a:p>
        </p:txBody>
      </p:sp>
      <p:sp>
        <p:nvSpPr>
          <p:cNvPr id="274" name="Google Shape;274;p9"/>
          <p:cNvSpPr/>
          <p:nvPr/>
        </p:nvSpPr>
        <p:spPr>
          <a:xfrm>
            <a:off x="1414733" y="3351025"/>
            <a:ext cx="2794409" cy="220234"/>
          </a:xfrm>
          <a:prstGeom prst="rect">
            <a:avLst/>
          </a:prstGeom>
          <a:solidFill>
            <a:srgbClr val="FFC000"/>
          </a:solidFill>
          <a:ln w="19050" cap="flat" cmpd="sng">
            <a:solidFill>
              <a:srgbClr val="FFC00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s-CL" sz="1100" b="1">
                <a:solidFill>
                  <a:schemeClr val="dk1"/>
                </a:solidFill>
                <a:latin typeface="Arial"/>
                <a:ea typeface="Arial"/>
                <a:cs typeface="Arial"/>
                <a:sym typeface="Arial"/>
              </a:rPr>
              <a:t>Facturaciones bajo contrato</a:t>
            </a:r>
            <a:endParaRPr sz="1100" b="1">
              <a:solidFill>
                <a:schemeClr val="dk1"/>
              </a:solidFill>
              <a:latin typeface="Arial"/>
              <a:ea typeface="Arial"/>
              <a:cs typeface="Arial"/>
              <a:sym typeface="Arial"/>
            </a:endParaRPr>
          </a:p>
        </p:txBody>
      </p:sp>
      <p:sp>
        <p:nvSpPr>
          <p:cNvPr id="275" name="Google Shape;275;p9"/>
          <p:cNvSpPr/>
          <p:nvPr/>
        </p:nvSpPr>
        <p:spPr>
          <a:xfrm>
            <a:off x="4209142" y="3351025"/>
            <a:ext cx="7887967" cy="220233"/>
          </a:xfrm>
          <a:prstGeom prst="rect">
            <a:avLst/>
          </a:prstGeom>
          <a:solidFill>
            <a:schemeClr val="accent4"/>
          </a:solidFill>
          <a:ln w="19050" cap="flat" cmpd="sng">
            <a:solidFill>
              <a:srgbClr val="FF000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s-CL" sz="1100" b="1">
                <a:solidFill>
                  <a:schemeClr val="dk1"/>
                </a:solidFill>
                <a:latin typeface="Arial"/>
                <a:ea typeface="Arial"/>
                <a:cs typeface="Arial"/>
                <a:sym typeface="Arial"/>
              </a:rPr>
              <a:t>Sin Stock de Repuestos</a:t>
            </a:r>
            <a:endParaRPr sz="1100" b="1">
              <a:solidFill>
                <a:schemeClr val="dk1"/>
              </a:solidFill>
              <a:latin typeface="Arial"/>
              <a:ea typeface="Arial"/>
              <a:cs typeface="Arial"/>
              <a:sym typeface="Arial"/>
            </a:endParaRPr>
          </a:p>
        </p:txBody>
      </p:sp>
      <p:pic>
        <p:nvPicPr>
          <p:cNvPr id="3" name="Imagen 2">
            <a:extLst>
              <a:ext uri="{FF2B5EF4-FFF2-40B4-BE49-F238E27FC236}">
                <a16:creationId xmlns:a16="http://schemas.microsoft.com/office/drawing/2014/main" id="{D31D3D9C-9E7B-D0A7-8792-CF9BCDA20D26}"/>
              </a:ext>
            </a:extLst>
          </p:cNvPr>
          <p:cNvPicPr>
            <a:picLocks noChangeAspect="1"/>
          </p:cNvPicPr>
          <p:nvPr/>
        </p:nvPicPr>
        <p:blipFill>
          <a:blip r:embed="rId3"/>
          <a:srcRect t="15947" b="13223"/>
          <a:stretch>
            <a:fillRect/>
          </a:stretch>
        </p:blipFill>
        <p:spPr>
          <a:xfrm>
            <a:off x="0" y="923052"/>
            <a:ext cx="12192000" cy="2340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10"/>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Rotación según brecha sin Stock – Pendientes Bruto</a:t>
            </a:r>
            <a:endParaRPr sz="2700" b="0" i="0" u="none" strike="noStrike" cap="none">
              <a:solidFill>
                <a:srgbClr val="FFFFFF"/>
              </a:solidFill>
              <a:latin typeface="Roboto"/>
              <a:ea typeface="Roboto"/>
              <a:cs typeface="Roboto"/>
              <a:sym typeface="Roboto"/>
            </a:endParaRPr>
          </a:p>
        </p:txBody>
      </p:sp>
      <p:sp>
        <p:nvSpPr>
          <p:cNvPr id="282" name="Google Shape;282;p10"/>
          <p:cNvSpPr/>
          <p:nvPr/>
        </p:nvSpPr>
        <p:spPr>
          <a:xfrm>
            <a:off x="8481000" y="999000"/>
            <a:ext cx="3342700" cy="5676289"/>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stock pendiente alcanza MM$57,1, distribuido en 274 SKU y 30 clientes, manteniéndose una alta concentración en productos de baja rotación.</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76,5% del stock presenta baja rotación, mientras que un 10,9% corresponde a rotación media, un 12,0% a alta rotación y un 0,6% a productos sin rotación.</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Los 3 principales clientes concentran MM$21,5, equivalentes aproximadamente al 38% del stock pendiente, evidenciando una concentración relevante.</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Solo el 22,9% del stock presenta rotación media o alta, manteniéndose un volumen importante de inventario con potencial de gestión para acelerar su salida.</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Complejo Asistencial Dr. Sótero del Río concentra el mayor stock pendiente, con MM$9,3, seguido por Asociación Chilena de Seguridad (MM$6,1) y Clínica Andes Salud Chillán S.A. (MM$6,0).</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Los 10 principales clientes concentran aproximadamente MM$48,2, equivalentes al 84% del stock pendiente, por lo que las acciones de gestión pueden focalizarse principalmente en este grupo.</a:t>
            </a:r>
            <a:endParaRPr lang="es-MX" sz="1200" dirty="0">
              <a:solidFill>
                <a:schemeClr val="lt1"/>
              </a:solidFill>
              <a:latin typeface="Arial"/>
              <a:ea typeface="Arial"/>
              <a:cs typeface="Arial"/>
            </a:endParaRPr>
          </a:p>
        </p:txBody>
      </p:sp>
      <p:pic>
        <p:nvPicPr>
          <p:cNvPr id="3" name="Imagen 2">
            <a:extLst>
              <a:ext uri="{FF2B5EF4-FFF2-40B4-BE49-F238E27FC236}">
                <a16:creationId xmlns:a16="http://schemas.microsoft.com/office/drawing/2014/main" id="{060736D8-95FB-8336-0ADD-49D11E9B48E5}"/>
              </a:ext>
            </a:extLst>
          </p:cNvPr>
          <p:cNvPicPr>
            <a:picLocks noChangeAspect="1"/>
          </p:cNvPicPr>
          <p:nvPr/>
        </p:nvPicPr>
        <p:blipFill>
          <a:blip r:embed="rId3"/>
          <a:srcRect t="8784"/>
          <a:stretch>
            <a:fillRect/>
          </a:stretch>
        </p:blipFill>
        <p:spPr>
          <a:xfrm>
            <a:off x="20754" y="861904"/>
            <a:ext cx="8470328" cy="595047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11"/>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Rotación según brecha sin Stock – Pendientes Neto</a:t>
            </a:r>
            <a:endParaRPr sz="2700" b="0" i="0" u="none" strike="noStrike" cap="none">
              <a:solidFill>
                <a:srgbClr val="FFFFFF"/>
              </a:solidFill>
              <a:latin typeface="Roboto"/>
              <a:ea typeface="Roboto"/>
              <a:cs typeface="Roboto"/>
              <a:sym typeface="Roboto"/>
            </a:endParaRPr>
          </a:p>
        </p:txBody>
      </p:sp>
      <p:pic>
        <p:nvPicPr>
          <p:cNvPr id="4" name="Imagen 3">
            <a:extLst>
              <a:ext uri="{FF2B5EF4-FFF2-40B4-BE49-F238E27FC236}">
                <a16:creationId xmlns:a16="http://schemas.microsoft.com/office/drawing/2014/main" id="{C2E86046-35B1-26C4-B8B4-BA54A917DDF5}"/>
              </a:ext>
            </a:extLst>
          </p:cNvPr>
          <p:cNvPicPr>
            <a:picLocks noChangeAspect="1"/>
          </p:cNvPicPr>
          <p:nvPr/>
        </p:nvPicPr>
        <p:blipFill>
          <a:blip r:embed="rId3"/>
          <a:srcRect t="10630" b="9317"/>
          <a:stretch>
            <a:fillRect/>
          </a:stretch>
        </p:blipFill>
        <p:spPr>
          <a:xfrm>
            <a:off x="1866000" y="999000"/>
            <a:ext cx="9401788" cy="5490000"/>
          </a:xfrm>
          <a:prstGeom prst="rect">
            <a:avLst/>
          </a:prstGeom>
        </p:spPr>
      </p:pic>
      <p:pic>
        <p:nvPicPr>
          <p:cNvPr id="3" name="Imagen 2">
            <a:extLst>
              <a:ext uri="{FF2B5EF4-FFF2-40B4-BE49-F238E27FC236}">
                <a16:creationId xmlns:a16="http://schemas.microsoft.com/office/drawing/2014/main" id="{47C57AC4-A4F5-C521-E1F4-D370F510D73D}"/>
              </a:ext>
            </a:extLst>
          </p:cNvPr>
          <p:cNvPicPr>
            <a:picLocks noChangeAspect="1"/>
          </p:cNvPicPr>
          <p:nvPr/>
        </p:nvPicPr>
        <p:blipFill>
          <a:blip r:embed="rId4"/>
          <a:srcRect t="8784" b="9318"/>
          <a:stretch>
            <a:fillRect/>
          </a:stretch>
        </p:blipFill>
        <p:spPr>
          <a:xfrm>
            <a:off x="1696770" y="935710"/>
            <a:ext cx="10118473" cy="56165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DED96D71-249C-1393-8177-BE2796AC10E6}"/>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6255AEBD-354F-668D-E6B2-5B387B596111}"/>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39EC3EFD-5CFD-A0BE-8A58-C9748B1950B6}"/>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Garantías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26FA9176-4C68-21DE-8E6B-B550A4C697B0}"/>
              </a:ext>
            </a:extLst>
          </p:cNvPr>
          <p:cNvSpPr/>
          <p:nvPr/>
        </p:nvSpPr>
        <p:spPr>
          <a:xfrm>
            <a:off x="393700" y="2143834"/>
            <a:ext cx="11312345" cy="520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7629012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13"/>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EERR TECSERVICE Cierre </a:t>
            </a:r>
            <a:r>
              <a:rPr lang="es-CL" sz="2700" b="1" dirty="0">
                <a:solidFill>
                  <a:srgbClr val="33448D"/>
                </a:solidFill>
                <a:latin typeface="Roboto"/>
                <a:ea typeface="Roboto"/>
                <a:cs typeface="Roboto"/>
                <a:sym typeface="Roboto"/>
              </a:rPr>
              <a:t>Ago-26</a:t>
            </a:r>
            <a:endParaRPr sz="2700" b="0" i="0" u="none" strike="noStrike" cap="none" dirty="0">
              <a:solidFill>
                <a:srgbClr val="FFFFFF"/>
              </a:solidFill>
              <a:latin typeface="Roboto"/>
              <a:ea typeface="Roboto"/>
              <a:cs typeface="Roboto"/>
              <a:sym typeface="Roboto"/>
            </a:endParaRPr>
          </a:p>
        </p:txBody>
      </p:sp>
      <p:sp>
        <p:nvSpPr>
          <p:cNvPr id="302" name="Google Shape;302;p13"/>
          <p:cNvSpPr/>
          <p:nvPr/>
        </p:nvSpPr>
        <p:spPr>
          <a:xfrm>
            <a:off x="7518900" y="923464"/>
            <a:ext cx="4416348" cy="5682343"/>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Los ingresos acumulados alcanzan MM$1.845,7, superando el presupuesto en MM$56,5 (+3,2%).</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EBITDA Directo alcanza MM$542,5, con un margen de 29,4%, superior al 9,2% presupuestado, reflejando una mayor rentabilidad sobre los ingresos.</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Al incorporar GAV Indirecto, el EBITDA Empresa alcanza MM$317,1, MM$301,0 sobre presupuesto (+1.863,9%), con un margen de 17,2%, superior al 0,9% presupuestado.</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resultado del ejercicio alcanza MM$37,7, versus -MM$54,7 presupuestados, evidenciando que, pese al impacto negativo del resultado no operacional, los mayores ingresos y EBITDA se están traduciendo en una mejora del resultado final.</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principal desafío está en mantener la conversión del EBITDA en resultado final, dado que, pese a que ingresos, márgenes operacionales y EBITDA se encuentran sobre presupuesto, el resultado no operacional acumula -MM$136,1 y limita la rentabilidad final.</a:t>
            </a:r>
          </a:p>
        </p:txBody>
      </p:sp>
      <p:pic>
        <p:nvPicPr>
          <p:cNvPr id="3" name="Imagen 2">
            <a:extLst>
              <a:ext uri="{FF2B5EF4-FFF2-40B4-BE49-F238E27FC236}">
                <a16:creationId xmlns:a16="http://schemas.microsoft.com/office/drawing/2014/main" id="{2F58C51C-A5DD-91B7-D91F-8526D7D1E787}"/>
              </a:ext>
            </a:extLst>
          </p:cNvPr>
          <p:cNvPicPr>
            <a:picLocks noChangeAspect="1"/>
          </p:cNvPicPr>
          <p:nvPr/>
        </p:nvPicPr>
        <p:blipFill>
          <a:blip r:embed="rId3"/>
          <a:srcRect t="6692" b="6037"/>
          <a:stretch>
            <a:fillRect/>
          </a:stretch>
        </p:blipFill>
        <p:spPr>
          <a:xfrm>
            <a:off x="156000" y="1134000"/>
            <a:ext cx="7277188" cy="4905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14"/>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EERR Mensualizado</a:t>
            </a:r>
            <a:endParaRPr sz="2700" b="0" i="0" u="none" strike="noStrike" cap="none">
              <a:solidFill>
                <a:srgbClr val="FFFFFF"/>
              </a:solidFill>
              <a:latin typeface="Roboto"/>
              <a:ea typeface="Roboto"/>
              <a:cs typeface="Roboto"/>
              <a:sym typeface="Roboto"/>
            </a:endParaRPr>
          </a:p>
        </p:txBody>
      </p:sp>
      <p:pic>
        <p:nvPicPr>
          <p:cNvPr id="3" name="Imagen 2">
            <a:extLst>
              <a:ext uri="{FF2B5EF4-FFF2-40B4-BE49-F238E27FC236}">
                <a16:creationId xmlns:a16="http://schemas.microsoft.com/office/drawing/2014/main" id="{B6D55FBC-BC86-6A65-086C-57246D67D284}"/>
              </a:ext>
            </a:extLst>
          </p:cNvPr>
          <p:cNvPicPr>
            <a:picLocks noChangeAspect="1"/>
          </p:cNvPicPr>
          <p:nvPr/>
        </p:nvPicPr>
        <p:blipFill>
          <a:blip r:embed="rId3"/>
          <a:srcRect t="3111" b="16406"/>
          <a:stretch>
            <a:fillRect/>
          </a:stretch>
        </p:blipFill>
        <p:spPr>
          <a:xfrm>
            <a:off x="0" y="1089000"/>
            <a:ext cx="12192000" cy="485157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238F64D8-F821-E76F-053F-04A9B119C3DF}"/>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F2599118-DF22-C4F0-1851-B52B1A4C9576}"/>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6235CEA0-DC86-C3E5-B2CC-3E542D415879}"/>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Garantías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F8644B18-6BA9-8C73-6545-7364223F393D}"/>
              </a:ext>
            </a:extLst>
          </p:cNvPr>
          <p:cNvSpPr/>
          <p:nvPr/>
        </p:nvSpPr>
        <p:spPr>
          <a:xfrm>
            <a:off x="393700" y="2683834"/>
            <a:ext cx="11312345" cy="520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40078110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16"/>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 Equipos Detenidos</a:t>
            </a:r>
            <a:endParaRPr sz="2700" b="0" i="0" u="none" strike="noStrike" cap="none">
              <a:solidFill>
                <a:srgbClr val="FFFFFF"/>
              </a:solidFill>
              <a:latin typeface="Roboto"/>
              <a:ea typeface="Roboto"/>
              <a:cs typeface="Roboto"/>
              <a:sym typeface="Roboto"/>
            </a:endParaRPr>
          </a:p>
        </p:txBody>
      </p:sp>
      <p:sp>
        <p:nvSpPr>
          <p:cNvPr id="322" name="Google Shape;322;p16"/>
          <p:cNvSpPr/>
          <p:nvPr/>
        </p:nvSpPr>
        <p:spPr>
          <a:xfrm>
            <a:off x="243307" y="4773168"/>
            <a:ext cx="11948693" cy="1902121"/>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En total hay 42 equipos detenidos, correspondientes a 11 clientes y 8 marcas, con una valorización total de MM$749,6.</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62% de los equipos se encuentra en espera de OC, equivalente a 26 equipos y MM$361,6, siendo la principal concentración dentro del flujo de equipos detenidos.</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STEELCO concentra aproximadamente MM$578,3 del valor de los equipos detenidos, equivalente a cerca del 77% del total, con 17 equipos.</a:t>
            </a:r>
          </a:p>
          <a:p>
            <a:pPr marL="628650" marR="0" lvl="1" indent="-171450" algn="l" rtl="0">
              <a:spcBef>
                <a:spcPts val="0"/>
              </a:spcBef>
              <a:spcAft>
                <a:spcPts val="0"/>
              </a:spcAft>
              <a:buClr>
                <a:schemeClr val="lt1"/>
              </a:buClr>
              <a:buSzPts val="1200"/>
              <a:buFont typeface="Arial"/>
              <a:buChar char="•"/>
            </a:pPr>
            <a:r>
              <a:rPr lang="es-MX" sz="1200" b="0" i="0" u="none" strike="noStrike" cap="none" dirty="0">
                <a:solidFill>
                  <a:schemeClr val="lt1"/>
                </a:solidFill>
                <a:latin typeface="Arial"/>
                <a:ea typeface="Arial"/>
                <a:cs typeface="Arial"/>
                <a:sym typeface="Arial"/>
              </a:rPr>
              <a:t>Sociedad Concesionaria Metropolitana de Salud (6 equipos)</a:t>
            </a:r>
          </a:p>
          <a:p>
            <a:pPr marL="628650" marR="0" lvl="1" indent="-171450" algn="l" rtl="0">
              <a:spcBef>
                <a:spcPts val="0"/>
              </a:spcBef>
              <a:spcAft>
                <a:spcPts val="0"/>
              </a:spcAft>
              <a:buClr>
                <a:schemeClr val="lt1"/>
              </a:buClr>
              <a:buSzPts val="1200"/>
              <a:buFont typeface="Arial"/>
              <a:buChar char="•"/>
            </a:pPr>
            <a:r>
              <a:rPr lang="es-MX" sz="1200" b="0" i="0" u="none" strike="noStrike" cap="none" dirty="0">
                <a:solidFill>
                  <a:schemeClr val="lt1"/>
                </a:solidFill>
                <a:latin typeface="Arial"/>
                <a:ea typeface="Arial"/>
                <a:cs typeface="Arial"/>
                <a:sym typeface="Arial"/>
              </a:rPr>
              <a:t>Sótero del Río (4 equipos)</a:t>
            </a:r>
          </a:p>
          <a:p>
            <a:pPr marL="628650" marR="0" lvl="1" indent="-171450" algn="l" rtl="0">
              <a:spcBef>
                <a:spcPts val="0"/>
              </a:spcBef>
              <a:spcAft>
                <a:spcPts val="0"/>
              </a:spcAft>
              <a:buClr>
                <a:schemeClr val="lt1"/>
              </a:buClr>
              <a:buSzPts val="1200"/>
              <a:buFont typeface="Arial"/>
              <a:buChar char="•"/>
            </a:pPr>
            <a:r>
              <a:rPr lang="es-MX" sz="1200" b="0" i="0" u="none" strike="noStrike" cap="none" dirty="0">
                <a:solidFill>
                  <a:schemeClr val="lt1"/>
                </a:solidFill>
                <a:latin typeface="Arial"/>
                <a:ea typeface="Arial"/>
                <a:cs typeface="Arial"/>
                <a:sym typeface="Arial"/>
              </a:rPr>
              <a:t>Hospital Complejo Asistencial Padre Las Casas (4 equipos)</a:t>
            </a:r>
          </a:p>
          <a:p>
            <a:pPr marL="0" marR="0" lvl="0" indent="0" algn="l" rtl="0">
              <a:spcBef>
                <a:spcPts val="0"/>
              </a:spcBef>
              <a:spcAft>
                <a:spcPts val="0"/>
              </a:spcAft>
              <a:buNone/>
            </a:pPr>
            <a:r>
              <a:rPr lang="es-CL" sz="1200" dirty="0">
                <a:solidFill>
                  <a:schemeClr val="lt1"/>
                </a:solidFill>
                <a:latin typeface="Arial"/>
                <a:ea typeface="Arial"/>
                <a:cs typeface="Arial"/>
                <a:sym typeface="Arial"/>
              </a:rPr>
              <a:t>Los equipos con mayor cantidad de unidades detenidas son:</a:t>
            </a:r>
            <a:endParaRPr dirty="0"/>
          </a:p>
          <a:p>
            <a:pPr marL="628650" marR="0" lvl="1" indent="-171450" algn="l" rtl="0">
              <a:spcBef>
                <a:spcPts val="0"/>
              </a:spcBef>
              <a:spcAft>
                <a:spcPts val="0"/>
              </a:spcAft>
              <a:buClr>
                <a:schemeClr val="lt1"/>
              </a:buClr>
              <a:buSzPts val="1200"/>
              <a:buFont typeface="Arial"/>
              <a:buChar char="•"/>
            </a:pPr>
            <a:r>
              <a:rPr lang="es-CL" sz="1200" b="0" i="0" u="none" strike="noStrike" cap="none" dirty="0">
                <a:solidFill>
                  <a:schemeClr val="lt1"/>
                </a:solidFill>
                <a:latin typeface="Arial"/>
                <a:ea typeface="Arial"/>
                <a:cs typeface="Arial"/>
                <a:sym typeface="Arial"/>
              </a:rPr>
              <a:t>DDC DOLPHIN PULMATIC – 7 equipos (17%)</a:t>
            </a:r>
          </a:p>
          <a:p>
            <a:pPr marL="628650" marR="0" lvl="1" indent="-171450" algn="l" rtl="0">
              <a:spcBef>
                <a:spcPts val="0"/>
              </a:spcBef>
              <a:spcAft>
                <a:spcPts val="0"/>
              </a:spcAft>
              <a:buClr>
                <a:schemeClr val="lt1"/>
              </a:buClr>
              <a:buSzPts val="1200"/>
              <a:buFont typeface="Arial"/>
              <a:buChar char="•"/>
            </a:pPr>
            <a:r>
              <a:rPr lang="es-CL" sz="1200" b="0" i="0" u="none" strike="noStrike" cap="none" dirty="0">
                <a:solidFill>
                  <a:schemeClr val="lt1"/>
                </a:solidFill>
                <a:latin typeface="Arial"/>
                <a:ea typeface="Arial"/>
                <a:cs typeface="Arial"/>
                <a:sym typeface="Arial"/>
              </a:rPr>
              <a:t>BIEN AIR CHIROPRO PLUS – 4 equipos (10%)</a:t>
            </a:r>
          </a:p>
          <a:p>
            <a:pPr marL="628650" marR="0" lvl="1" indent="-171450" algn="l" rtl="0">
              <a:spcBef>
                <a:spcPts val="0"/>
              </a:spcBef>
              <a:spcAft>
                <a:spcPts val="0"/>
              </a:spcAft>
              <a:buClr>
                <a:schemeClr val="lt1"/>
              </a:buClr>
              <a:buSzPts val="1200"/>
              <a:buFont typeface="Arial"/>
              <a:buChar char="•"/>
            </a:pPr>
            <a:r>
              <a:rPr lang="es-CL" sz="1200" b="0" i="0" u="none" strike="noStrike" cap="none" dirty="0">
                <a:solidFill>
                  <a:schemeClr val="lt1"/>
                </a:solidFill>
                <a:latin typeface="Arial"/>
                <a:ea typeface="Arial"/>
                <a:cs typeface="Arial"/>
                <a:sym typeface="Arial"/>
              </a:rPr>
              <a:t>DDC DOLPHIN PULMATIC ULTIMA – 3 equipos (7%)</a:t>
            </a:r>
          </a:p>
        </p:txBody>
      </p:sp>
      <p:pic>
        <p:nvPicPr>
          <p:cNvPr id="323" name="Google Shape;323;p16"/>
          <p:cNvPicPr preferRelativeResize="0"/>
          <p:nvPr/>
        </p:nvPicPr>
        <p:blipFill rotWithShape="1">
          <a:blip r:embed="rId3">
            <a:alphaModFix/>
          </a:blip>
          <a:srcRect t="6627" b="14175"/>
          <a:stretch/>
        </p:blipFill>
        <p:spPr>
          <a:xfrm>
            <a:off x="1048871" y="822467"/>
            <a:ext cx="9690847" cy="3857911"/>
          </a:xfrm>
          <a:prstGeom prst="rect">
            <a:avLst/>
          </a:prstGeom>
          <a:noFill/>
          <a:ln>
            <a:noFill/>
          </a:ln>
        </p:spPr>
      </p:pic>
      <p:pic>
        <p:nvPicPr>
          <p:cNvPr id="3" name="Imagen 2">
            <a:extLst>
              <a:ext uri="{FF2B5EF4-FFF2-40B4-BE49-F238E27FC236}">
                <a16:creationId xmlns:a16="http://schemas.microsoft.com/office/drawing/2014/main" id="{74376114-F1C6-31A7-76EE-4CAF75BDE05C}"/>
              </a:ext>
            </a:extLst>
          </p:cNvPr>
          <p:cNvPicPr>
            <a:picLocks noChangeAspect="1"/>
          </p:cNvPicPr>
          <p:nvPr/>
        </p:nvPicPr>
        <p:blipFill>
          <a:blip r:embed="rId4"/>
          <a:srcRect t="7127" b="15018"/>
          <a:stretch>
            <a:fillRect/>
          </a:stretch>
        </p:blipFill>
        <p:spPr>
          <a:xfrm>
            <a:off x="1146000" y="822466"/>
            <a:ext cx="9690847" cy="3857911"/>
          </a:xfrm>
          <a:prstGeom prst="rect">
            <a:avLst/>
          </a:prstGeom>
        </p:spPr>
      </p:pic>
      <p:pic>
        <p:nvPicPr>
          <p:cNvPr id="4" name="Imagen 3">
            <a:extLst>
              <a:ext uri="{FF2B5EF4-FFF2-40B4-BE49-F238E27FC236}">
                <a16:creationId xmlns:a16="http://schemas.microsoft.com/office/drawing/2014/main" id="{BF27C7BA-EB88-FFBD-B4F9-548EC7EAD14D}"/>
              </a:ext>
            </a:extLst>
          </p:cNvPr>
          <p:cNvPicPr>
            <a:picLocks noChangeAspect="1"/>
          </p:cNvPicPr>
          <p:nvPr/>
        </p:nvPicPr>
        <p:blipFill>
          <a:blip r:embed="rId5"/>
          <a:srcRect t="7242" b="15305"/>
          <a:stretch>
            <a:fillRect/>
          </a:stretch>
        </p:blipFill>
        <p:spPr>
          <a:xfrm>
            <a:off x="977697" y="862274"/>
            <a:ext cx="9859150" cy="381810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17"/>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 Equipos Detenidos – Por Equipo</a:t>
            </a:r>
            <a:endParaRPr sz="2700" b="0" i="0" u="none" strike="noStrike" cap="none">
              <a:solidFill>
                <a:srgbClr val="FFFFFF"/>
              </a:solidFill>
              <a:latin typeface="Roboto"/>
              <a:ea typeface="Roboto"/>
              <a:cs typeface="Roboto"/>
              <a:sym typeface="Roboto"/>
            </a:endParaRPr>
          </a:p>
        </p:txBody>
      </p:sp>
      <p:pic>
        <p:nvPicPr>
          <p:cNvPr id="4" name="Imagen 3">
            <a:extLst>
              <a:ext uri="{FF2B5EF4-FFF2-40B4-BE49-F238E27FC236}">
                <a16:creationId xmlns:a16="http://schemas.microsoft.com/office/drawing/2014/main" id="{55ED4404-7FC4-A7A7-2FE3-84406F1AD171}"/>
              </a:ext>
            </a:extLst>
          </p:cNvPr>
          <p:cNvPicPr>
            <a:picLocks noChangeAspect="1"/>
          </p:cNvPicPr>
          <p:nvPr/>
        </p:nvPicPr>
        <p:blipFill>
          <a:blip r:embed="rId3"/>
          <a:srcRect t="8785" b="6037"/>
          <a:stretch>
            <a:fillRect/>
          </a:stretch>
        </p:blipFill>
        <p:spPr>
          <a:xfrm>
            <a:off x="1214301" y="833709"/>
            <a:ext cx="9336699" cy="558628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18"/>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 Equipos Detenidos – Por Marca</a:t>
            </a:r>
            <a:endParaRPr sz="2700" b="0" i="0" u="none" strike="noStrike" cap="none">
              <a:solidFill>
                <a:srgbClr val="FFFFFF"/>
              </a:solidFill>
              <a:latin typeface="Roboto"/>
              <a:ea typeface="Roboto"/>
              <a:cs typeface="Roboto"/>
              <a:sym typeface="Roboto"/>
            </a:endParaRPr>
          </a:p>
        </p:txBody>
      </p:sp>
      <p:pic>
        <p:nvPicPr>
          <p:cNvPr id="4" name="Imagen 3">
            <a:extLst>
              <a:ext uri="{FF2B5EF4-FFF2-40B4-BE49-F238E27FC236}">
                <a16:creationId xmlns:a16="http://schemas.microsoft.com/office/drawing/2014/main" id="{FD01E9A4-9F80-7802-2D1F-FB084BF516D7}"/>
              </a:ext>
            </a:extLst>
          </p:cNvPr>
          <p:cNvPicPr>
            <a:picLocks noChangeAspect="1"/>
          </p:cNvPicPr>
          <p:nvPr/>
        </p:nvPicPr>
        <p:blipFill>
          <a:blip r:embed="rId3"/>
          <a:stretch>
            <a:fillRect/>
          </a:stretch>
        </p:blipFill>
        <p:spPr>
          <a:xfrm>
            <a:off x="0" y="1531374"/>
            <a:ext cx="12192000" cy="379525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sp>
        <p:nvSpPr>
          <p:cNvPr id="340" name="Google Shape;340;p19"/>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 Equipos Detenidos – Por Cliente</a:t>
            </a:r>
            <a:endParaRPr sz="2700" b="0" i="0" u="none" strike="noStrike" cap="none">
              <a:solidFill>
                <a:srgbClr val="FFFFFF"/>
              </a:solidFill>
              <a:latin typeface="Roboto"/>
              <a:ea typeface="Roboto"/>
              <a:cs typeface="Roboto"/>
              <a:sym typeface="Roboto"/>
            </a:endParaRPr>
          </a:p>
        </p:txBody>
      </p:sp>
      <p:sp>
        <p:nvSpPr>
          <p:cNvPr id="341" name="Google Shape;341;p19"/>
          <p:cNvSpPr txBox="1"/>
          <p:nvPr/>
        </p:nvSpPr>
        <p:spPr>
          <a:xfrm>
            <a:off x="10094614" y="1192319"/>
            <a:ext cx="633742" cy="169277"/>
          </a:xfrm>
          <a:prstGeom prst="rect">
            <a:avLst/>
          </a:prstGeom>
          <a:solidFill>
            <a:schemeClr val="dk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500">
                <a:solidFill>
                  <a:schemeClr val="lt2"/>
                </a:solidFill>
                <a:latin typeface="Arial"/>
                <a:ea typeface="Arial"/>
                <a:cs typeface="Arial"/>
                <a:sym typeface="Arial"/>
              </a:rPr>
              <a:t>401</a:t>
            </a:r>
            <a:endParaRPr sz="500">
              <a:solidFill>
                <a:schemeClr val="lt2"/>
              </a:solidFill>
              <a:latin typeface="Arial"/>
              <a:ea typeface="Arial"/>
              <a:cs typeface="Arial"/>
              <a:sym typeface="Arial"/>
            </a:endParaRPr>
          </a:p>
        </p:txBody>
      </p:sp>
      <p:sp>
        <p:nvSpPr>
          <p:cNvPr id="342" name="Google Shape;342;p19"/>
          <p:cNvSpPr/>
          <p:nvPr/>
        </p:nvSpPr>
        <p:spPr>
          <a:xfrm>
            <a:off x="246000" y="4723232"/>
            <a:ext cx="11700000" cy="1675768"/>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Los 42 equipos detenidos se concentran principalmente en 18 equipos sin cliente asociado, equivalentes al 43% del total.</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Entre los clientes, Sociedad Concesionaria Metropolitana de Salud S.A. concentra 6 equipos, con MM$51,0 valorizados y MM$213,3 de ingresos facturados a la fecha.</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Complejo Asistencial Dr. Sótero del Río registra 4 equipos detenidos, valorizados en MM$116,2, frente a MM$39,0 de ingresos facturados a la fecha.</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Hospital Complejo Asistencial Padre Las Casas e I. Municipalidad de Vicuña mantienen 4 y 3 equipos detenidos, respectivamente, con valorizados de MM$20,6 y MM$18,1.</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total de equipos detenidos alcanza un valorizado de MM$749,6, frente a MM$356,1 de ingresos facturados a la fecha y un contrato anual esperado de MM$387,4.</a:t>
            </a: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La concentración de equipos sin cliente asociado representa MM$233,2 valorizados, equivalentes a aproximadamente 31% del valorizado total, constituyendo el principal grupo pendiente de asignación.</a:t>
            </a:r>
          </a:p>
        </p:txBody>
      </p:sp>
      <p:pic>
        <p:nvPicPr>
          <p:cNvPr id="3" name="Imagen 2">
            <a:extLst>
              <a:ext uri="{FF2B5EF4-FFF2-40B4-BE49-F238E27FC236}">
                <a16:creationId xmlns:a16="http://schemas.microsoft.com/office/drawing/2014/main" id="{6552CEC8-9037-6C9A-B9E0-82DF6CF8551C}"/>
              </a:ext>
            </a:extLst>
          </p:cNvPr>
          <p:cNvPicPr>
            <a:picLocks noChangeAspect="1"/>
          </p:cNvPicPr>
          <p:nvPr/>
        </p:nvPicPr>
        <p:blipFill>
          <a:blip r:embed="rId3"/>
          <a:srcRect t="9837" b="10770"/>
          <a:stretch>
            <a:fillRect/>
          </a:stretch>
        </p:blipFill>
        <p:spPr>
          <a:xfrm>
            <a:off x="12700" y="853231"/>
            <a:ext cx="12192000" cy="3825001"/>
          </a:xfrm>
          <a:prstGeom prst="rect">
            <a:avLst/>
          </a:prstGeom>
        </p:spPr>
      </p:pic>
      <p:pic>
        <p:nvPicPr>
          <p:cNvPr id="4" name="Imagen 3">
            <a:extLst>
              <a:ext uri="{FF2B5EF4-FFF2-40B4-BE49-F238E27FC236}">
                <a16:creationId xmlns:a16="http://schemas.microsoft.com/office/drawing/2014/main" id="{30860E2E-9A4A-959C-66A0-056EE1FB1572}"/>
              </a:ext>
            </a:extLst>
          </p:cNvPr>
          <p:cNvPicPr>
            <a:picLocks noChangeAspect="1"/>
          </p:cNvPicPr>
          <p:nvPr/>
        </p:nvPicPr>
        <p:blipFill>
          <a:blip r:embed="rId4"/>
          <a:srcRect t="11010" b="10081"/>
          <a:stretch>
            <a:fillRect/>
          </a:stretch>
        </p:blipFill>
        <p:spPr>
          <a:xfrm>
            <a:off x="12700" y="807488"/>
            <a:ext cx="12192000" cy="3825002"/>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20"/>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Casos Críticos</a:t>
            </a:r>
            <a:endParaRPr sz="2700" b="0" i="0" u="none" strike="noStrike" cap="none">
              <a:solidFill>
                <a:srgbClr val="FFFFFF"/>
              </a:solidFill>
              <a:latin typeface="Roboto"/>
              <a:ea typeface="Roboto"/>
              <a:cs typeface="Roboto"/>
              <a:sym typeface="Roboto"/>
            </a:endParaRPr>
          </a:p>
        </p:txBody>
      </p:sp>
      <p:sp>
        <p:nvSpPr>
          <p:cNvPr id="349" name="Google Shape;349;p20"/>
          <p:cNvSpPr/>
          <p:nvPr/>
        </p:nvSpPr>
        <p:spPr>
          <a:xfrm>
            <a:off x="155240" y="5665671"/>
            <a:ext cx="11913079" cy="1096508"/>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indent="-171450">
              <a:buClr>
                <a:schemeClr val="lt1"/>
              </a:buClr>
              <a:buSzPts val="1200"/>
              <a:buFont typeface="Arial"/>
              <a:buChar char="•"/>
            </a:pPr>
            <a:r>
              <a:rPr lang="es-MX" sz="1200" dirty="0">
                <a:solidFill>
                  <a:schemeClr val="lt1"/>
                </a:solidFill>
              </a:rPr>
              <a:t>Se registran 7 casos críticos: 4 no operativos, 2 operativos y 1 siniestrado.</a:t>
            </a:r>
          </a:p>
          <a:p>
            <a:pPr marL="171450" indent="-171450">
              <a:buClr>
                <a:schemeClr val="lt1"/>
              </a:buClr>
              <a:buSzPts val="1200"/>
              <a:buFont typeface="Arial"/>
              <a:buChar char="•"/>
            </a:pPr>
            <a:r>
              <a:rPr lang="es-MX" sz="1200" dirty="0">
                <a:solidFill>
                  <a:schemeClr val="lt1"/>
                </a:solidFill>
              </a:rPr>
              <a:t>2 casos se encuentran a la espera de repuestos y 2 continúan en diagnóstico o definición de inversión.</a:t>
            </a:r>
          </a:p>
          <a:p>
            <a:pPr marL="171450" indent="-171450">
              <a:buClr>
                <a:schemeClr val="lt1"/>
              </a:buClr>
              <a:buSzPts val="1200"/>
              <a:buFont typeface="Arial"/>
              <a:buChar char="•"/>
            </a:pPr>
            <a:r>
              <a:rPr lang="es-MX" sz="1200" dirty="0">
                <a:solidFill>
                  <a:schemeClr val="lt1"/>
                </a:solidFill>
              </a:rPr>
              <a:t>Se han realizado MM$46,9 en inversiones asociadas a 2 equipos.</a:t>
            </a:r>
          </a:p>
          <a:p>
            <a:pPr marL="171450" indent="-171450">
              <a:buClr>
                <a:schemeClr val="lt1"/>
              </a:buClr>
              <a:buSzPts val="1200"/>
              <a:buFont typeface="Arial"/>
              <a:buChar char="•"/>
            </a:pPr>
            <a:r>
              <a:rPr lang="es-MX" sz="1200" dirty="0">
                <a:solidFill>
                  <a:schemeClr val="lt1"/>
                </a:solidFill>
              </a:rPr>
              <a:t>El valorizado total de los equipos alcanza MM$239,8, asociado a MM$589,6 de ingresos de clientes.</a:t>
            </a:r>
          </a:p>
          <a:p>
            <a:pPr marL="171450" indent="-171450">
              <a:buClr>
                <a:schemeClr val="lt1"/>
              </a:buClr>
              <a:buSzPts val="1200"/>
              <a:buFont typeface="Arial"/>
              <a:buChar char="•"/>
            </a:pPr>
            <a:r>
              <a:rPr lang="es-MX" sz="1200" dirty="0">
                <a:solidFill>
                  <a:schemeClr val="lt1"/>
                </a:solidFill>
              </a:rPr>
              <a:t>Durante estas dos semanas se han solucionado 4 casos (ISM, C. Sanz, 1 equipo de H. </a:t>
            </a:r>
            <a:r>
              <a:rPr lang="es-MX" sz="1200" dirty="0" err="1">
                <a:solidFill>
                  <a:schemeClr val="lt1"/>
                </a:solidFill>
              </a:rPr>
              <a:t>Tisné</a:t>
            </a:r>
            <a:r>
              <a:rPr lang="es-MX" sz="1200" dirty="0">
                <a:solidFill>
                  <a:schemeClr val="lt1"/>
                </a:solidFill>
              </a:rPr>
              <a:t> y H. San Camilo).</a:t>
            </a:r>
            <a:endParaRPr dirty="0"/>
          </a:p>
        </p:txBody>
      </p:sp>
      <p:graphicFrame>
        <p:nvGraphicFramePr>
          <p:cNvPr id="350" name="Google Shape;350;p20"/>
          <p:cNvGraphicFramePr/>
          <p:nvPr>
            <p:extLst>
              <p:ext uri="{D42A27DB-BD31-4B8C-83A1-F6EECF244321}">
                <p14:modId xmlns:p14="http://schemas.microsoft.com/office/powerpoint/2010/main" val="1539812404"/>
              </p:ext>
            </p:extLst>
          </p:nvPr>
        </p:nvGraphicFramePr>
        <p:xfrm>
          <a:off x="148040" y="1001629"/>
          <a:ext cx="11762100" cy="4491401"/>
        </p:xfrm>
        <a:graphic>
          <a:graphicData uri="http://schemas.openxmlformats.org/drawingml/2006/table">
            <a:tbl>
              <a:tblPr>
                <a:noFill/>
                <a:tableStyleId>{13D43741-7D58-4360-86AC-F6E32FA5FF39}</a:tableStyleId>
              </a:tblPr>
              <a:tblGrid>
                <a:gridCol w="675760">
                  <a:extLst>
                    <a:ext uri="{9D8B030D-6E8A-4147-A177-3AD203B41FA5}">
                      <a16:colId xmlns:a16="http://schemas.microsoft.com/office/drawing/2014/main" val="20000"/>
                    </a:ext>
                  </a:extLst>
                </a:gridCol>
                <a:gridCol w="1170000">
                  <a:extLst>
                    <a:ext uri="{9D8B030D-6E8A-4147-A177-3AD203B41FA5}">
                      <a16:colId xmlns:a16="http://schemas.microsoft.com/office/drawing/2014/main" val="20001"/>
                    </a:ext>
                  </a:extLst>
                </a:gridCol>
                <a:gridCol w="855000">
                  <a:extLst>
                    <a:ext uri="{9D8B030D-6E8A-4147-A177-3AD203B41FA5}">
                      <a16:colId xmlns:a16="http://schemas.microsoft.com/office/drawing/2014/main" val="20002"/>
                    </a:ext>
                  </a:extLst>
                </a:gridCol>
                <a:gridCol w="630000">
                  <a:extLst>
                    <a:ext uri="{9D8B030D-6E8A-4147-A177-3AD203B41FA5}">
                      <a16:colId xmlns:a16="http://schemas.microsoft.com/office/drawing/2014/main" val="20003"/>
                    </a:ext>
                  </a:extLst>
                </a:gridCol>
                <a:gridCol w="450000">
                  <a:extLst>
                    <a:ext uri="{9D8B030D-6E8A-4147-A177-3AD203B41FA5}">
                      <a16:colId xmlns:a16="http://schemas.microsoft.com/office/drawing/2014/main" val="20004"/>
                    </a:ext>
                  </a:extLst>
                </a:gridCol>
                <a:gridCol w="4147200">
                  <a:extLst>
                    <a:ext uri="{9D8B030D-6E8A-4147-A177-3AD203B41FA5}">
                      <a16:colId xmlns:a16="http://schemas.microsoft.com/office/drawing/2014/main" val="20005"/>
                    </a:ext>
                  </a:extLst>
                </a:gridCol>
                <a:gridCol w="1698450">
                  <a:extLst>
                    <a:ext uri="{9D8B030D-6E8A-4147-A177-3AD203B41FA5}">
                      <a16:colId xmlns:a16="http://schemas.microsoft.com/office/drawing/2014/main" val="20006"/>
                    </a:ext>
                  </a:extLst>
                </a:gridCol>
                <a:gridCol w="765000">
                  <a:extLst>
                    <a:ext uri="{9D8B030D-6E8A-4147-A177-3AD203B41FA5}">
                      <a16:colId xmlns:a16="http://schemas.microsoft.com/office/drawing/2014/main" val="20007"/>
                    </a:ext>
                  </a:extLst>
                </a:gridCol>
                <a:gridCol w="720000">
                  <a:extLst>
                    <a:ext uri="{9D8B030D-6E8A-4147-A177-3AD203B41FA5}">
                      <a16:colId xmlns:a16="http://schemas.microsoft.com/office/drawing/2014/main" val="20008"/>
                    </a:ext>
                  </a:extLst>
                </a:gridCol>
                <a:gridCol w="650690">
                  <a:extLst>
                    <a:ext uri="{9D8B030D-6E8A-4147-A177-3AD203B41FA5}">
                      <a16:colId xmlns:a16="http://schemas.microsoft.com/office/drawing/2014/main" val="20009"/>
                    </a:ext>
                  </a:extLst>
                </a:gridCol>
              </a:tblGrid>
              <a:tr h="317081">
                <a:tc>
                  <a:txBody>
                    <a:bodyPr/>
                    <a:lstStyle/>
                    <a:p>
                      <a:pPr marL="0" marR="0" lvl="0" indent="0" algn="l" rtl="0">
                        <a:spcBef>
                          <a:spcPts val="0"/>
                        </a:spcBef>
                        <a:spcAft>
                          <a:spcPts val="0"/>
                        </a:spcAft>
                        <a:buClr>
                          <a:srgbClr val="000000"/>
                        </a:buClr>
                        <a:buSzPts val="700"/>
                        <a:buFont typeface="Arial"/>
                        <a:buNone/>
                      </a:pPr>
                      <a:r>
                        <a:rPr lang="es-CL" sz="650" b="1" i="0" u="none" strike="noStrike" cap="none" dirty="0">
                          <a:solidFill>
                            <a:schemeClr val="tx1"/>
                          </a:solidFill>
                          <a:latin typeface="Arial"/>
                          <a:ea typeface="Arial"/>
                          <a:cs typeface="Arial"/>
                          <a:sym typeface="Arial"/>
                        </a:rPr>
                        <a:t>Cliente</a:t>
                      </a:r>
                      <a:endParaRPr sz="650" dirty="0">
                        <a:solidFill>
                          <a:schemeClr val="tx1"/>
                        </a:solidFill>
                      </a:endParaRPr>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50" b="1" i="0" u="none" strike="noStrike" cap="none" dirty="0">
                          <a:solidFill>
                            <a:schemeClr val="tx1"/>
                          </a:solidFill>
                          <a:latin typeface="Arial"/>
                          <a:ea typeface="Arial"/>
                          <a:cs typeface="Arial"/>
                          <a:sym typeface="Arial"/>
                        </a:rPr>
                        <a:t>Problema</a:t>
                      </a:r>
                      <a:endParaRPr sz="650" dirty="0">
                        <a:solidFill>
                          <a:schemeClr val="tx1"/>
                        </a:solidFill>
                      </a:endParaRPr>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50" b="1" i="0" u="none" strike="noStrike" cap="none">
                          <a:solidFill>
                            <a:schemeClr val="tx1"/>
                          </a:solidFill>
                          <a:latin typeface="Arial"/>
                          <a:ea typeface="Arial"/>
                          <a:cs typeface="Arial"/>
                          <a:sym typeface="Arial"/>
                        </a:rPr>
                        <a:t>ESTADO</a:t>
                      </a:r>
                      <a:endParaRPr sz="650">
                        <a:solidFill>
                          <a:schemeClr val="tx1"/>
                        </a:solidFill>
                      </a:endParaRPr>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50" b="1" i="0" u="none" strike="noStrike" cap="none">
                          <a:solidFill>
                            <a:schemeClr val="tx1"/>
                          </a:solidFill>
                          <a:latin typeface="Arial"/>
                          <a:ea typeface="Arial"/>
                          <a:cs typeface="Arial"/>
                          <a:sym typeface="Arial"/>
                        </a:rPr>
                        <a:t>Fecha de caso</a:t>
                      </a:r>
                      <a:endParaRPr sz="650">
                        <a:solidFill>
                          <a:schemeClr val="tx1"/>
                        </a:solidFill>
                      </a:endParaRPr>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50" b="1" i="0" u="none" strike="noStrike" cap="none">
                          <a:solidFill>
                            <a:schemeClr val="tx1"/>
                          </a:solidFill>
                          <a:latin typeface="Arial"/>
                          <a:ea typeface="Arial"/>
                          <a:cs typeface="Arial"/>
                          <a:sym typeface="Arial"/>
                        </a:rPr>
                        <a:t>Responsable</a:t>
                      </a:r>
                      <a:endParaRPr sz="650">
                        <a:solidFill>
                          <a:schemeClr val="tx1"/>
                        </a:solidFill>
                      </a:endParaRPr>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50" b="1" i="0" u="none" strike="noStrike" cap="none" dirty="0">
                          <a:solidFill>
                            <a:schemeClr val="tx1"/>
                          </a:solidFill>
                          <a:latin typeface="Arial"/>
                          <a:ea typeface="Arial"/>
                          <a:cs typeface="Arial"/>
                          <a:sym typeface="Arial"/>
                        </a:rPr>
                        <a:t>Comentario</a:t>
                      </a:r>
                      <a:endParaRPr sz="650" dirty="0">
                        <a:solidFill>
                          <a:schemeClr val="tx1"/>
                        </a:solidFill>
                      </a:endParaRPr>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50" b="1" i="0" u="none" strike="noStrike" cap="none">
                          <a:solidFill>
                            <a:schemeClr val="tx1"/>
                          </a:solidFill>
                          <a:latin typeface="Arial"/>
                          <a:ea typeface="Arial"/>
                          <a:cs typeface="Arial"/>
                          <a:sym typeface="Arial"/>
                        </a:rPr>
                        <a:t>Acciones</a:t>
                      </a:r>
                      <a:endParaRPr sz="650">
                        <a:solidFill>
                          <a:schemeClr val="tx1"/>
                        </a:solidFill>
                      </a:endParaRPr>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50" b="1" i="0" u="none" strike="noStrike" cap="none">
                          <a:solidFill>
                            <a:schemeClr val="tx1"/>
                          </a:solidFill>
                          <a:latin typeface="Arial"/>
                          <a:ea typeface="Arial"/>
                          <a:cs typeface="Arial"/>
                          <a:sym typeface="Arial"/>
                        </a:rPr>
                        <a:t>Inversión requerida (MM$ )</a:t>
                      </a:r>
                      <a:endParaRPr sz="650">
                        <a:solidFill>
                          <a:schemeClr val="tx1"/>
                        </a:solidFill>
                      </a:endParaRPr>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50" b="1" i="0" u="none" strike="noStrike" cap="none">
                          <a:solidFill>
                            <a:schemeClr val="tx1"/>
                          </a:solidFill>
                          <a:latin typeface="Arial"/>
                          <a:ea typeface="Arial"/>
                          <a:cs typeface="Arial"/>
                          <a:sym typeface="Arial"/>
                        </a:rPr>
                        <a:t>Valorizado Equipo (MM$)</a:t>
                      </a:r>
                      <a:endParaRPr sz="650">
                        <a:solidFill>
                          <a:schemeClr val="tx1"/>
                        </a:solidFill>
                      </a:endParaRPr>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bg1"/>
                    </a:solidFill>
                  </a:tcPr>
                </a:tc>
                <a:tc>
                  <a:txBody>
                    <a:bodyPr/>
                    <a:lstStyle/>
                    <a:p>
                      <a:pPr marL="0" marR="0" lvl="0" indent="0" algn="l" rtl="0">
                        <a:spcBef>
                          <a:spcPts val="0"/>
                        </a:spcBef>
                        <a:spcAft>
                          <a:spcPts val="0"/>
                        </a:spcAft>
                        <a:buClr>
                          <a:srgbClr val="000000"/>
                        </a:buClr>
                        <a:buSzPts val="700"/>
                        <a:buFont typeface="Arial"/>
                        <a:buNone/>
                      </a:pPr>
                      <a:r>
                        <a:rPr lang="es-CL" sz="650" b="1" i="0" u="none" strike="noStrike" cap="none" dirty="0">
                          <a:solidFill>
                            <a:schemeClr val="tx1"/>
                          </a:solidFill>
                          <a:latin typeface="Arial"/>
                          <a:ea typeface="Arial"/>
                          <a:cs typeface="Arial"/>
                          <a:sym typeface="Arial"/>
                        </a:rPr>
                        <a:t>Ingreso Cliente (MM$)</a:t>
                      </a:r>
                      <a:endParaRPr sz="650" dirty="0">
                        <a:solidFill>
                          <a:schemeClr val="tx1"/>
                        </a:solidFill>
                      </a:endParaRPr>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bg1"/>
                    </a:solidFill>
                  </a:tcPr>
                </a:tc>
                <a:extLst>
                  <a:ext uri="{0D108BD9-81ED-4DB2-BD59-A6C34878D82A}">
                    <a16:rowId xmlns:a16="http://schemas.microsoft.com/office/drawing/2014/main" val="10000"/>
                  </a:ext>
                </a:extLst>
              </a:tr>
              <a:tr h="1062274">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HP TISNÉ</a:t>
                      </a:r>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L="0" marR="0" lvl="0" indent="0" algn="l" rtl="0">
                        <a:spcBef>
                          <a:spcPts val="0"/>
                        </a:spcBef>
                        <a:spcAft>
                          <a:spcPts val="0"/>
                        </a:spcAft>
                        <a:buClr>
                          <a:srgbClr val="000000"/>
                        </a:buClr>
                        <a:buSzPts val="700"/>
                        <a:buFont typeface="Arial"/>
                        <a:buNone/>
                      </a:pPr>
                      <a:r>
                        <a:rPr lang="es-MX" sz="650" b="0" i="0" u="none" strike="noStrike" cap="none" dirty="0">
                          <a:solidFill>
                            <a:srgbClr val="000000"/>
                          </a:solidFill>
                          <a:latin typeface="Arial"/>
                          <a:ea typeface="Arial"/>
                          <a:cs typeface="Arial"/>
                          <a:sym typeface="Arial"/>
                        </a:rPr>
                        <a:t>EQUIPO DETENIDO AUTOCLAVE STEELCO VS 8/1 SN 9988</a:t>
                      </a:r>
                      <a:endParaRPr lang="es-MX"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NO OPERATIVO</a:t>
                      </a:r>
                      <a:endParaRPr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a:solidFill>
                            <a:srgbClr val="000000"/>
                          </a:solidFill>
                          <a:latin typeface="Arial"/>
                          <a:ea typeface="Arial"/>
                          <a:cs typeface="Arial"/>
                          <a:sym typeface="Arial"/>
                        </a:rPr>
                        <a:t>28-05-2026</a:t>
                      </a:r>
                      <a:endParaRPr sz="65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a:solidFill>
                            <a:srgbClr val="000000"/>
                          </a:solidFill>
                          <a:latin typeface="Arial"/>
                          <a:ea typeface="Arial"/>
                          <a:cs typeface="Arial"/>
                          <a:sym typeface="Arial"/>
                        </a:rPr>
                        <a:t>Cristian Rohr</a:t>
                      </a:r>
                      <a:endParaRPr sz="650"/>
                    </a:p>
                  </a:txBody>
                  <a:tcPr marL="36000" marR="4600" marT="4600" marB="0"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fontAlgn="b">
                        <a:lnSpc>
                          <a:spcPct val="100000"/>
                        </a:lnSpc>
                        <a:spcBef>
                          <a:spcPts val="0"/>
                        </a:spcBef>
                        <a:spcAft>
                          <a:spcPts val="0"/>
                        </a:spcAft>
                        <a:buClr>
                          <a:srgbClr val="000000"/>
                        </a:buClr>
                        <a:buSzPts val="700"/>
                        <a:buFont typeface="Arial"/>
                        <a:buNone/>
                      </a:pPr>
                      <a:r>
                        <a:rPr lang="es-CL" sz="650" b="0" i="0" u="none" strike="noStrike" cap="none" spc="0" dirty="0">
                          <a:solidFill>
                            <a:srgbClr val="000000"/>
                          </a:solidFill>
                          <a:latin typeface="Arial"/>
                          <a:cs typeface="Arial"/>
                          <a:sym typeface="Arial"/>
                        </a:rPr>
                        <a:t>EQUIPO DETENIDO DESDE MARZO DE 2026 (1RA OT DE SALESFORCE), LA ÚLTIMA VISITA SE REALIZÓ EL 28 DE MAYO, DONDE SE REALIZÓ INSTALACIÓN DE SOFTWARE, EL EQUIPO PERMANECE INOPERATIVO, SE SOLICITÓ NUEVO AYUDA A FÁBRICA PORQUE EL QUE ENVIARON NO SIRVIÓ, CRISTIAN FUE AYER 25 DE JUNIO AL HOSPITAL A RECOPILAR INFORMACIÓN SOLICITADA POR STEELCO Y SE LAS ENVIÓ HACE 2 SEMANAS ¿HAY RESPUESTA?, INTERNAMENTE VEREMOS SI SE PUEDE CAMBIAR LA PANTALLA POR UNA QUE TENEMOS ACÁ DEL MISMO MODELO, EN PARALELO HAY QUE INFORMAR AL CLIENTE ALGUNOS REPUESTOS ESTÁN DESCONTINUADOS, POR LO QUE SI SE PRESENTA UNA FUTURA FALLA Y NO SE TIENE EL  LOS REPUESTOS, . 31-07, EN COORDINACION CON FABRICA STEELCO, CLIENTE INFORMADO EN CORREO DE CRISTIAN ROHR // MARTES 18/08 CRISTIAN ASISTISTIO HACER NUEVAS PRUEBAS // CRISTIAN ASISTE HOY 02/09 PARA NUEVA REVISION // EQUIPO OPERATIVO A MODO DE PRUEBA, SE SOLICITARON 2 REPUESTOS MAS PARA MAS PRUEBAS.</a:t>
                      </a:r>
                    </a:p>
                  </a:txBody>
                  <a:tcPr marL="0" marR="0" marT="0" marB="0"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fontAlgn="b">
                        <a:lnSpc>
                          <a:spcPct val="100000"/>
                        </a:lnSpc>
                        <a:spcBef>
                          <a:spcPts val="0"/>
                        </a:spcBef>
                        <a:spcAft>
                          <a:spcPts val="0"/>
                        </a:spcAft>
                        <a:buClr>
                          <a:srgbClr val="000000"/>
                        </a:buClr>
                        <a:buSzPts val="700"/>
                        <a:buFont typeface="Arial"/>
                        <a:buNone/>
                      </a:pPr>
                      <a:r>
                        <a:rPr lang="es-CL" sz="650" b="0" i="0" u="none" strike="noStrike" cap="none" spc="0" dirty="0">
                          <a:solidFill>
                            <a:srgbClr val="000000"/>
                          </a:solidFill>
                          <a:latin typeface="Arial"/>
                          <a:cs typeface="Arial"/>
                          <a:sym typeface="Arial"/>
                        </a:rPr>
                        <a:t>EQUIPO OPERATIVO A PRUEBA, SE MANTENDRÁ EN PRUEBA LA SEMANA QUE VIENE</a:t>
                      </a:r>
                    </a:p>
                  </a:txBody>
                  <a:tcPr marL="0" marR="0" marT="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61</a:t>
                      </a:r>
                      <a:endParaRPr sz="650" dirty="0"/>
                    </a:p>
                  </a:txBody>
                  <a:tcPr marL="36000" marR="4600" marT="460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61</a:t>
                      </a:r>
                      <a:endParaRPr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50" dirty="0"/>
                        <a:t>$MM 32,1</a:t>
                      </a:r>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442614">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HP BUIN</a:t>
                      </a:r>
                      <a:endParaRPr lang="es-CL"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L="0" marR="0" lvl="0" indent="0" algn="l" rtl="0">
                        <a:spcBef>
                          <a:spcPts val="0"/>
                        </a:spcBef>
                        <a:spcAft>
                          <a:spcPts val="0"/>
                        </a:spcAft>
                        <a:buClr>
                          <a:srgbClr val="000000"/>
                        </a:buClr>
                        <a:buSzPts val="700"/>
                        <a:buFont typeface="Arial"/>
                        <a:buNone/>
                      </a:pPr>
                      <a:r>
                        <a:rPr lang="es-MX" sz="650" b="0" i="0" u="none" strike="noStrike" cap="none" dirty="0">
                          <a:solidFill>
                            <a:srgbClr val="000000"/>
                          </a:solidFill>
                          <a:latin typeface="Arial"/>
                          <a:ea typeface="Arial"/>
                          <a:cs typeface="Arial"/>
                          <a:sym typeface="Arial"/>
                        </a:rPr>
                        <a:t>EQUIPO CON CAMBIO DE PUERTA LAVADORA DESCONTAMINADORA DS500 SN1802012EP166</a:t>
                      </a:r>
                      <a:endParaRPr lang="es-MX"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OPERATIVO</a:t>
                      </a:r>
                      <a:endParaRPr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a:solidFill>
                            <a:srgbClr val="000000"/>
                          </a:solidFill>
                          <a:latin typeface="Arial"/>
                          <a:ea typeface="Arial"/>
                          <a:cs typeface="Arial"/>
                          <a:sym typeface="Arial"/>
                        </a:rPr>
                        <a:t>08-06-2026</a:t>
                      </a:r>
                      <a:endParaRPr sz="65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a:solidFill>
                            <a:srgbClr val="000000"/>
                          </a:solidFill>
                          <a:latin typeface="Arial"/>
                          <a:ea typeface="Arial"/>
                          <a:cs typeface="Arial"/>
                          <a:sym typeface="Arial"/>
                        </a:rPr>
                        <a:t>Cristian/ Jonathan</a:t>
                      </a:r>
                      <a:endParaRPr sz="650"/>
                    </a:p>
                  </a:txBody>
                  <a:tcPr marL="36000" marR="4600" marT="4600" marB="0"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fontAlgn="b">
                        <a:lnSpc>
                          <a:spcPct val="100000"/>
                        </a:lnSpc>
                        <a:spcBef>
                          <a:spcPts val="0"/>
                        </a:spcBef>
                        <a:spcAft>
                          <a:spcPts val="0"/>
                        </a:spcAft>
                        <a:buClr>
                          <a:srgbClr val="000000"/>
                        </a:buClr>
                        <a:buSzPts val="700"/>
                        <a:buFont typeface="Arial"/>
                        <a:buNone/>
                      </a:pPr>
                      <a:r>
                        <a:rPr lang="es-CL" sz="650" b="0" i="0" u="none" strike="noStrike" cap="none" spc="0" dirty="0">
                          <a:solidFill>
                            <a:srgbClr val="000000"/>
                          </a:solidFill>
                          <a:latin typeface="Arial"/>
                          <a:cs typeface="Arial"/>
                          <a:sym typeface="Arial"/>
                        </a:rPr>
                        <a:t>EQUIPO EN ESPERA DE CAMBIO DE PUERTA DESDE HACE MÁS DE UN AÑO ESTIMO, SE LOGRÓ INSTALAR LA PUERTA, PERO CLIENTE REPORTA QUE NO CIERRA COMPLETAMENTE, ASISTIÓ IGNACIO MUÑOS A REVISAR EL DOMINGO 31 DE MAYO Y SOLICITÓ REPUESTOS QUE SERÁN INSTALADOS POR GARANTÍA, FALTA UN REPUESTO, ASISTIÓ JUAN POSTERIORMENTE Y EL EQUIPO ESTÁ OPERATIVO.</a:t>
                      </a:r>
                    </a:p>
                  </a:txBody>
                  <a:tcPr marL="0" marR="0" marT="0" marB="0"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fontAlgn="b">
                        <a:lnSpc>
                          <a:spcPct val="100000"/>
                        </a:lnSpc>
                        <a:spcBef>
                          <a:spcPts val="0"/>
                        </a:spcBef>
                        <a:spcAft>
                          <a:spcPts val="0"/>
                        </a:spcAft>
                        <a:buClr>
                          <a:srgbClr val="000000"/>
                        </a:buClr>
                        <a:buSzPts val="700"/>
                        <a:buFont typeface="Arial"/>
                        <a:buNone/>
                      </a:pPr>
                      <a:r>
                        <a:rPr lang="es-CL" sz="650" b="0" i="0" u="none" strike="noStrike" cap="none" spc="0" dirty="0">
                          <a:solidFill>
                            <a:srgbClr val="000000"/>
                          </a:solidFill>
                          <a:latin typeface="Arial"/>
                          <a:cs typeface="Arial"/>
                          <a:sym typeface="Arial"/>
                        </a:rPr>
                        <a:t>REVISIÓN EXAUSTIVA DE LA IMPORTACIÓN PARA ASEGURAR LA LLEGADA DE REPUESTO FALTANTE, REPUESTO DEBIESE LLEGAR LA SEMANA DE L 07 DE SEPTIEMBRE</a:t>
                      </a:r>
                    </a:p>
                  </a:txBody>
                  <a:tcPr marL="0" marR="0" marT="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a:solidFill>
                            <a:srgbClr val="000000"/>
                          </a:solidFill>
                          <a:latin typeface="Arial"/>
                          <a:ea typeface="Arial"/>
                          <a:cs typeface="Arial"/>
                          <a:sym typeface="Arial"/>
                        </a:rPr>
                        <a:t>0 (Repuesto viene en Camino)</a:t>
                      </a:r>
                      <a:endParaRPr sz="650"/>
                    </a:p>
                  </a:txBody>
                  <a:tcPr marL="36000" marR="4600" marT="460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6,8</a:t>
                      </a:r>
                      <a:endParaRPr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50" dirty="0"/>
                        <a:t>$MM 29.6</a:t>
                      </a:r>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442614">
                <a:tc rowSpan="2">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HP VAN BUREN</a:t>
                      </a:r>
                      <a:endParaRPr lang="es-CL"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EQUIPO CON FALLA RECURRENTE </a:t>
                      </a:r>
                      <a:endParaRPr lang="es-CL"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NO OPERATIVO</a:t>
                      </a:r>
                      <a:endParaRPr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a:solidFill>
                            <a:srgbClr val="000000"/>
                          </a:solidFill>
                          <a:latin typeface="Arial"/>
                          <a:ea typeface="Arial"/>
                          <a:cs typeface="Arial"/>
                          <a:sym typeface="Arial"/>
                        </a:rPr>
                        <a:t>26-03-2026</a:t>
                      </a:r>
                      <a:endParaRPr sz="65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a:solidFill>
                            <a:srgbClr val="000000"/>
                          </a:solidFill>
                          <a:latin typeface="Arial"/>
                          <a:ea typeface="Arial"/>
                          <a:cs typeface="Arial"/>
                          <a:sym typeface="Arial"/>
                        </a:rPr>
                        <a:t>Cristian</a:t>
                      </a:r>
                      <a:endParaRPr sz="650"/>
                    </a:p>
                  </a:txBody>
                  <a:tcPr marL="36000" marR="4600" marT="4600" marB="0"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fontAlgn="b">
                        <a:lnSpc>
                          <a:spcPct val="100000"/>
                        </a:lnSpc>
                        <a:spcBef>
                          <a:spcPts val="0"/>
                        </a:spcBef>
                        <a:spcAft>
                          <a:spcPts val="0"/>
                        </a:spcAft>
                        <a:buClr>
                          <a:srgbClr val="000000"/>
                        </a:buClr>
                        <a:buSzPts val="700"/>
                        <a:buFont typeface="Arial"/>
                        <a:buNone/>
                      </a:pPr>
                      <a:r>
                        <a:rPr lang="es-CL" sz="650" b="0" i="0" u="none" strike="noStrike" cap="none" spc="0" dirty="0">
                          <a:solidFill>
                            <a:srgbClr val="000000"/>
                          </a:solidFill>
                          <a:latin typeface="Arial"/>
                          <a:cs typeface="Arial"/>
                          <a:sym typeface="Arial"/>
                        </a:rPr>
                        <a:t>EQUIPO NO OPERATIVO CON FALLA RECURRENTE LAVADORA DS610 SN1806510LN088 . SE GESTIONO CON JONATHAN PARA RETIRAR EL EQUIPO EL MARTES 18/08 Y TRAERLO A LABORATORIO/09/09 ESTÁ EN DIAGNÓSTICO</a:t>
                      </a:r>
                    </a:p>
                  </a:txBody>
                  <a:tcPr marL="0" marR="0" marT="0" marB="0"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fontAlgn="b">
                        <a:lnSpc>
                          <a:spcPct val="100000"/>
                        </a:lnSpc>
                        <a:spcBef>
                          <a:spcPts val="0"/>
                        </a:spcBef>
                        <a:spcAft>
                          <a:spcPts val="0"/>
                        </a:spcAft>
                        <a:buClr>
                          <a:srgbClr val="000000"/>
                        </a:buClr>
                        <a:buSzPts val="700"/>
                        <a:buFont typeface="Arial"/>
                        <a:buNone/>
                      </a:pPr>
                      <a:r>
                        <a:rPr lang="es-CL" sz="650" b="0" i="0" u="none" strike="noStrike" cap="none" spc="0" dirty="0">
                          <a:solidFill>
                            <a:srgbClr val="000000"/>
                          </a:solidFill>
                          <a:latin typeface="Arial"/>
                          <a:cs typeface="Arial"/>
                          <a:sym typeface="Arial"/>
                        </a:rPr>
                        <a:t>ESTÁ EN DIAGNOSTICO, SE ESPERA SABER QUÉ OCURRE DENTRO DE LOS PRIMEROS DÍAS DE LA SEMANA DEL 14 DE SEPTIEMBRE//LA SEMANA DEL 21 DE SEPTIEMBRE SIGUE EN REVISIÓN</a:t>
                      </a:r>
                    </a:p>
                  </a:txBody>
                  <a:tcPr marL="0" marR="0" marT="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a:solidFill>
                            <a:srgbClr val="000000"/>
                          </a:solidFill>
                          <a:latin typeface="Arial"/>
                          <a:ea typeface="Arial"/>
                          <a:cs typeface="Arial"/>
                          <a:sym typeface="Arial"/>
                        </a:rPr>
                        <a:t>Por Definir - En Diagnóstico</a:t>
                      </a:r>
                      <a:endParaRPr sz="650"/>
                    </a:p>
                  </a:txBody>
                  <a:tcPr marL="36000" marR="4600" marT="460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36,7</a:t>
                      </a:r>
                      <a:endParaRPr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rowSpan="2">
                  <a:txBody>
                    <a:bodyPr/>
                    <a:lstStyle/>
                    <a:p>
                      <a:pPr marL="0" marR="0" lvl="0" indent="0" algn="l" rtl="0">
                        <a:spcBef>
                          <a:spcPts val="0"/>
                        </a:spcBef>
                        <a:spcAft>
                          <a:spcPts val="0"/>
                        </a:spcAft>
                        <a:buClr>
                          <a:srgbClr val="000000"/>
                        </a:buClr>
                        <a:buSzPts val="700"/>
                        <a:buFont typeface="Arial"/>
                        <a:buNone/>
                      </a:pPr>
                      <a:r>
                        <a:rPr lang="es-MX" sz="650" b="0" i="0" u="none" strike="noStrike" cap="none" dirty="0">
                          <a:solidFill>
                            <a:srgbClr val="000000"/>
                          </a:solidFill>
                          <a:latin typeface="Arial"/>
                          <a:ea typeface="Arial"/>
                          <a:cs typeface="Arial"/>
                          <a:sym typeface="Arial"/>
                        </a:rPr>
                        <a:t>$MM 50.5</a:t>
                      </a:r>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r h="265568">
                <a:tc vMerge="1">
                  <a:txBody>
                    <a:bodyPr/>
                    <a:lstStyle/>
                    <a:p>
                      <a:endParaRPr lang="es-CL"/>
                    </a:p>
                  </a:txBody>
                  <a:tcPr/>
                </a:tc>
                <a:tc>
                  <a:txBody>
                    <a:bodyPr/>
                    <a:lstStyle/>
                    <a:p>
                      <a:pPr marL="0" marR="0" lvl="0" indent="0" algn="l" rtl="0">
                        <a:spcBef>
                          <a:spcPts val="0"/>
                        </a:spcBef>
                        <a:spcAft>
                          <a:spcPts val="0"/>
                        </a:spcAft>
                        <a:buClr>
                          <a:srgbClr val="000000"/>
                        </a:buClr>
                        <a:buSzPts val="700"/>
                        <a:buFont typeface="Arial"/>
                        <a:buNone/>
                      </a:pPr>
                      <a:r>
                        <a:rPr lang="es-MX" sz="650" b="0" i="0" u="none" strike="noStrike" cap="none" dirty="0">
                          <a:solidFill>
                            <a:srgbClr val="000000"/>
                          </a:solidFill>
                          <a:latin typeface="Arial"/>
                          <a:ea typeface="Arial"/>
                          <a:cs typeface="Arial"/>
                          <a:sym typeface="Arial"/>
                        </a:rPr>
                        <a:t>AUTOCLAVE MODELO: LVS 2 C/2 EDX 2P SERIE: 9945 </a:t>
                      </a:r>
                      <a:endParaRPr lang="es-MX"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a:solidFill>
                            <a:srgbClr val="000000"/>
                          </a:solidFill>
                          <a:latin typeface="Arial"/>
                          <a:ea typeface="Arial"/>
                          <a:cs typeface="Arial"/>
                          <a:sym typeface="Arial"/>
                        </a:rPr>
                        <a:t>NO OPERATIVO</a:t>
                      </a:r>
                      <a:endParaRPr sz="65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a:solidFill>
                            <a:srgbClr val="000000"/>
                          </a:solidFill>
                          <a:latin typeface="Arial"/>
                          <a:ea typeface="Arial"/>
                          <a:cs typeface="Arial"/>
                          <a:sym typeface="Arial"/>
                        </a:rPr>
                        <a:t>04-08-2026</a:t>
                      </a:r>
                      <a:endParaRPr sz="65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a:solidFill>
                            <a:srgbClr val="000000"/>
                          </a:solidFill>
                          <a:latin typeface="Arial"/>
                          <a:ea typeface="Arial"/>
                          <a:cs typeface="Arial"/>
                          <a:sym typeface="Arial"/>
                        </a:rPr>
                        <a:t>Jonathan</a:t>
                      </a:r>
                      <a:endParaRPr sz="650"/>
                    </a:p>
                  </a:txBody>
                  <a:tcPr marL="36000" marR="4600" marT="4600" marB="0"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fontAlgn="b">
                        <a:lnSpc>
                          <a:spcPct val="100000"/>
                        </a:lnSpc>
                        <a:spcBef>
                          <a:spcPts val="0"/>
                        </a:spcBef>
                        <a:spcAft>
                          <a:spcPts val="0"/>
                        </a:spcAft>
                        <a:buClr>
                          <a:srgbClr val="000000"/>
                        </a:buClr>
                        <a:buSzPts val="700"/>
                        <a:buFont typeface="Arial"/>
                        <a:buNone/>
                      </a:pPr>
                      <a:r>
                        <a:rPr lang="es-CL" sz="650" b="0" i="0" u="none" strike="noStrike" cap="none" spc="0" dirty="0">
                          <a:solidFill>
                            <a:srgbClr val="000000"/>
                          </a:solidFill>
                          <a:latin typeface="Arial"/>
                          <a:cs typeface="Arial"/>
                          <a:sym typeface="Arial"/>
                        </a:rPr>
                        <a:t>EQUIPO DE SEDILE NO OPERTATIVO EN ESPERA DE REPUESTO - DETENIDO DESDE  04/08/2026</a:t>
                      </a:r>
                    </a:p>
                  </a:txBody>
                  <a:tcPr marL="0" marR="0" marT="0" marB="0"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fontAlgn="b">
                        <a:lnSpc>
                          <a:spcPct val="100000"/>
                        </a:lnSpc>
                        <a:spcBef>
                          <a:spcPts val="0"/>
                        </a:spcBef>
                        <a:spcAft>
                          <a:spcPts val="0"/>
                        </a:spcAft>
                        <a:buClr>
                          <a:srgbClr val="000000"/>
                        </a:buClr>
                        <a:buSzPts val="700"/>
                        <a:buFont typeface="Arial"/>
                        <a:buNone/>
                      </a:pPr>
                      <a:r>
                        <a:rPr lang="es-CL" sz="650" b="0" i="0" u="none" strike="noStrike" cap="none" spc="0" dirty="0">
                          <a:solidFill>
                            <a:srgbClr val="000000"/>
                          </a:solidFill>
                          <a:latin typeface="Arial"/>
                          <a:cs typeface="Arial"/>
                          <a:sym typeface="Arial"/>
                        </a:rPr>
                        <a:t>REPUESTO LLEGÓ A CHILE, ESTAMOS A ESPERA DE INGRESO A BODEGA, PARA ENVIAR A CLIENTE Y PROGRAMAR VISITA</a:t>
                      </a:r>
                    </a:p>
                  </a:txBody>
                  <a:tcPr marL="0" marR="0" marT="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a:solidFill>
                            <a:srgbClr val="000000"/>
                          </a:solidFill>
                          <a:latin typeface="Arial"/>
                          <a:ea typeface="Arial"/>
                          <a:cs typeface="Arial"/>
                          <a:sym typeface="Arial"/>
                        </a:rPr>
                        <a:t>0 (Repuesto en Ingreso)</a:t>
                      </a:r>
                      <a:endParaRPr sz="650"/>
                    </a:p>
                  </a:txBody>
                  <a:tcPr marL="36000" marR="4600" marT="460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242424"/>
                        </a:buClr>
                        <a:buSzPts val="700"/>
                        <a:buFont typeface="Arial"/>
                        <a:buNone/>
                      </a:pPr>
                      <a:r>
                        <a:rPr lang="es-CL" sz="650" b="0" i="0" u="none" strike="noStrike" cap="none">
                          <a:solidFill>
                            <a:srgbClr val="242424"/>
                          </a:solidFill>
                          <a:latin typeface="Arial"/>
                          <a:ea typeface="Arial"/>
                          <a:cs typeface="Arial"/>
                          <a:sym typeface="Arial"/>
                        </a:rPr>
                        <a:t>28,6</a:t>
                      </a:r>
                      <a:endParaRPr sz="65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vMerge="1">
                  <a:txBody>
                    <a:bodyPr/>
                    <a:lstStyle/>
                    <a:p>
                      <a:endParaRPr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extLst>
                  <a:ext uri="{0D108BD9-81ED-4DB2-BD59-A6C34878D82A}">
                    <a16:rowId xmlns:a16="http://schemas.microsoft.com/office/drawing/2014/main" val="10004"/>
                  </a:ext>
                </a:extLst>
              </a:tr>
              <a:tr h="269679">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HP BASE DE OSORNO</a:t>
                      </a:r>
                      <a:endParaRPr lang="es-CL"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L="0" marR="0" lvl="0" indent="0" algn="l" rtl="0">
                        <a:spcBef>
                          <a:spcPts val="0"/>
                        </a:spcBef>
                        <a:spcAft>
                          <a:spcPts val="0"/>
                        </a:spcAft>
                        <a:buClr>
                          <a:srgbClr val="000000"/>
                        </a:buClr>
                        <a:buSzPts val="700"/>
                        <a:buFont typeface="Arial"/>
                        <a:buNone/>
                      </a:pPr>
                      <a:r>
                        <a:rPr lang="es-MX" sz="650" b="0" i="0" u="none" strike="noStrike" cap="none" dirty="0">
                          <a:solidFill>
                            <a:srgbClr val="000000"/>
                          </a:solidFill>
                          <a:latin typeface="Arial"/>
                          <a:ea typeface="Arial"/>
                          <a:cs typeface="Arial"/>
                          <a:sym typeface="Arial"/>
                        </a:rPr>
                        <a:t>EQUIPO DETENIDO HACE 2 SEMANA EN ESPERA DE CÓDIGOS Y VALORES</a:t>
                      </a:r>
                      <a:endParaRPr lang="es-MX"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NO OPERATIVO</a:t>
                      </a:r>
                      <a:endParaRPr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04-08-2026</a:t>
                      </a:r>
                      <a:endParaRPr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Cristian</a:t>
                      </a:r>
                      <a:endParaRPr sz="650" dirty="0"/>
                    </a:p>
                  </a:txBody>
                  <a:tcPr marL="36000" marR="4600" marT="4600" marB="0"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fontAlgn="b">
                        <a:lnSpc>
                          <a:spcPct val="100000"/>
                        </a:lnSpc>
                        <a:spcBef>
                          <a:spcPts val="0"/>
                        </a:spcBef>
                        <a:spcAft>
                          <a:spcPts val="0"/>
                        </a:spcAft>
                        <a:buClr>
                          <a:srgbClr val="000000"/>
                        </a:buClr>
                        <a:buSzPts val="700"/>
                        <a:buFont typeface="Arial"/>
                        <a:buNone/>
                      </a:pPr>
                      <a:r>
                        <a:rPr lang="es-CL" sz="650" b="0" i="0" u="none" strike="noStrike" cap="none" spc="0" dirty="0">
                          <a:solidFill>
                            <a:srgbClr val="000000"/>
                          </a:solidFill>
                          <a:latin typeface="Arial"/>
                          <a:cs typeface="Arial"/>
                          <a:sym typeface="Arial"/>
                        </a:rPr>
                        <a:t>EQUIPO DE SEDILES AUTOCLAVE VS/202038-2 SN30014 DE SEDILES DETENIDO POR 2 SEMANAS EN ESPERA DE CÓDIGOSA Y VALORES, YA SE ENVIARON COTIZACIONES Y SOLICITARON LOS REPUESTOS.</a:t>
                      </a:r>
                    </a:p>
                  </a:txBody>
                  <a:tcPr marL="0" marR="0" marT="0" marB="0"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fontAlgn="b">
                        <a:lnSpc>
                          <a:spcPct val="100000"/>
                        </a:lnSpc>
                        <a:spcBef>
                          <a:spcPts val="0"/>
                        </a:spcBef>
                        <a:spcAft>
                          <a:spcPts val="0"/>
                        </a:spcAft>
                        <a:buClr>
                          <a:srgbClr val="000000"/>
                        </a:buClr>
                        <a:buSzPts val="700"/>
                        <a:buFont typeface="Arial"/>
                        <a:buNone/>
                      </a:pPr>
                      <a:r>
                        <a:rPr lang="es-CL" sz="650" b="0" i="0" u="none" strike="noStrike" cap="none" spc="0" dirty="0">
                          <a:solidFill>
                            <a:srgbClr val="000000"/>
                          </a:solidFill>
                          <a:latin typeface="Arial"/>
                          <a:cs typeface="Arial"/>
                          <a:sym typeface="Arial"/>
                        </a:rPr>
                        <a:t>REPUESTO LLEGÓ A CHILE, ESTAMOS A ESPERA DE INGRESO A BODEGA, PARA ENVIAR A CLIENTE Y PROGRAMAR VISITA</a:t>
                      </a:r>
                    </a:p>
                  </a:txBody>
                  <a:tcPr marL="0" marR="0" marT="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a:solidFill>
                            <a:srgbClr val="000000"/>
                          </a:solidFill>
                          <a:latin typeface="Arial"/>
                          <a:ea typeface="Arial"/>
                          <a:cs typeface="Arial"/>
                          <a:sym typeface="Arial"/>
                        </a:rPr>
                        <a:t>0 (Repuesto en Ingreso)</a:t>
                      </a:r>
                      <a:endParaRPr sz="650"/>
                    </a:p>
                  </a:txBody>
                  <a:tcPr marL="36000" marR="4600" marT="460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242424"/>
                        </a:buClr>
                        <a:buSzPts val="700"/>
                        <a:buFont typeface="Arial"/>
                        <a:buNone/>
                      </a:pPr>
                      <a:r>
                        <a:rPr lang="es-CL" sz="650" b="0" i="0" u="none" strike="noStrike" cap="none" dirty="0">
                          <a:solidFill>
                            <a:srgbClr val="242424"/>
                          </a:solidFill>
                          <a:latin typeface="Arial"/>
                          <a:ea typeface="Arial"/>
                          <a:cs typeface="Arial"/>
                          <a:sym typeface="Arial"/>
                        </a:rPr>
                        <a:t>31</a:t>
                      </a:r>
                      <a:endParaRPr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242424"/>
                        </a:buClr>
                        <a:buSzPts val="700"/>
                        <a:buFont typeface="Arial"/>
                        <a:buNone/>
                      </a:pPr>
                      <a:r>
                        <a:rPr lang="es-MX" sz="650" dirty="0"/>
                        <a:t>$MM 73.2</a:t>
                      </a:r>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5"/>
                  </a:ext>
                </a:extLst>
              </a:tr>
              <a:tr h="531137">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HP VICTOR RIOS RUIZ</a:t>
                      </a:r>
                      <a:endParaRPr lang="es-CL"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LAVADORA ULTRASÓNICA MODELO: US 200/2 SERIE: 25A4310JJ033 </a:t>
                      </a:r>
                      <a:endParaRPr lang="es-CL"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a:solidFill>
                            <a:srgbClr val="000000"/>
                          </a:solidFill>
                          <a:latin typeface="Arial"/>
                          <a:ea typeface="Arial"/>
                          <a:cs typeface="Arial"/>
                          <a:sym typeface="Arial"/>
                        </a:rPr>
                        <a:t>OPERATIVO</a:t>
                      </a:r>
                      <a:endParaRPr sz="65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a:solidFill>
                            <a:srgbClr val="000000"/>
                          </a:solidFill>
                          <a:latin typeface="Arial"/>
                          <a:ea typeface="Arial"/>
                          <a:cs typeface="Arial"/>
                          <a:sym typeface="Arial"/>
                        </a:rPr>
                        <a:t>01-07-2026</a:t>
                      </a:r>
                      <a:endParaRPr sz="65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a:solidFill>
                            <a:srgbClr val="000000"/>
                          </a:solidFill>
                          <a:latin typeface="Arial"/>
                          <a:ea typeface="Arial"/>
                          <a:cs typeface="Arial"/>
                          <a:sym typeface="Arial"/>
                        </a:rPr>
                        <a:t>Cristian/ Jonathan</a:t>
                      </a:r>
                      <a:endParaRPr sz="650"/>
                    </a:p>
                  </a:txBody>
                  <a:tcPr marL="36000" marR="4600" marT="4600" marB="0"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fontAlgn="b">
                        <a:lnSpc>
                          <a:spcPct val="100000"/>
                        </a:lnSpc>
                        <a:spcBef>
                          <a:spcPts val="0"/>
                        </a:spcBef>
                        <a:spcAft>
                          <a:spcPts val="0"/>
                        </a:spcAft>
                        <a:buClr>
                          <a:srgbClr val="000000"/>
                        </a:buClr>
                        <a:buSzPts val="700"/>
                        <a:buFont typeface="Arial"/>
                        <a:buNone/>
                      </a:pPr>
                      <a:r>
                        <a:rPr lang="es-CL" sz="650" b="0" i="0" u="none" strike="noStrike" cap="none" spc="0" dirty="0">
                          <a:solidFill>
                            <a:srgbClr val="000000"/>
                          </a:solidFill>
                          <a:latin typeface="Arial"/>
                          <a:cs typeface="Arial"/>
                          <a:sym typeface="Arial"/>
                        </a:rPr>
                        <a:t>EN ESPERA DE REPUESTO RUSELECTRODO (OPERATIVO  UNA SOLA CUBA)  -VISITA PROGRAMADA PARA EL JUVES 27/08</a:t>
                      </a:r>
                    </a:p>
                  </a:txBody>
                  <a:tcPr marL="0" marR="0" marT="0" marB="0"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fontAlgn="b">
                        <a:lnSpc>
                          <a:spcPct val="100000"/>
                        </a:lnSpc>
                        <a:spcBef>
                          <a:spcPts val="0"/>
                        </a:spcBef>
                        <a:spcAft>
                          <a:spcPts val="0"/>
                        </a:spcAft>
                        <a:buClr>
                          <a:srgbClr val="000000"/>
                        </a:buClr>
                        <a:buSzPts val="700"/>
                        <a:buFont typeface="Arial"/>
                        <a:buNone/>
                      </a:pPr>
                      <a:r>
                        <a:rPr lang="es-CL" sz="650" b="0" i="0" u="none" strike="noStrike" cap="none" spc="0" dirty="0">
                          <a:solidFill>
                            <a:srgbClr val="000000"/>
                          </a:solidFill>
                          <a:latin typeface="Arial"/>
                          <a:cs typeface="Arial"/>
                          <a:sym typeface="Arial"/>
                        </a:rPr>
                        <a:t>DADA LA DEMORA DE IMPORTACIÓN, SE MANDARON A FABRICAR ELECTRODOS EN EL MERCADO NACIONAL, CON MUESTRA QUE SACAMOS DE UN EQUIPO DE VENTAS (PREVIA AUTORIZACIÓN DE COMERCIAL) </a:t>
                      </a:r>
                    </a:p>
                  </a:txBody>
                  <a:tcPr marL="0" marR="0" marT="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2 (Inversión realizada)</a:t>
                      </a:r>
                      <a:endParaRPr sz="650" dirty="0"/>
                    </a:p>
                  </a:txBody>
                  <a:tcPr marL="36000" marR="4600" marT="460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21</a:t>
                      </a:r>
                      <a:endParaRPr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50" dirty="0"/>
                        <a:t>&amp;MM 8.6</a:t>
                      </a:r>
                      <a:endParaRPr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6"/>
                  </a:ext>
                </a:extLst>
              </a:tr>
              <a:tr h="269679">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PUERTO AYSEN </a:t>
                      </a:r>
                      <a:endParaRPr lang="es-CL"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LAVADORA ULTRASÓNICA STEELCO US80 SERIE: 1509210I3015</a:t>
                      </a:r>
                      <a:endParaRPr lang="es-CL"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NO OPERATIVO</a:t>
                      </a:r>
                      <a:endParaRPr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22-06-2026</a:t>
                      </a:r>
                      <a:endParaRPr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 </a:t>
                      </a:r>
                      <a:endParaRPr sz="650" dirty="0"/>
                    </a:p>
                  </a:txBody>
                  <a:tcPr marL="36000" marR="4600" marT="4600" marB="0"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fontAlgn="b">
                        <a:lnSpc>
                          <a:spcPct val="100000"/>
                        </a:lnSpc>
                        <a:spcBef>
                          <a:spcPts val="0"/>
                        </a:spcBef>
                        <a:spcAft>
                          <a:spcPts val="0"/>
                        </a:spcAft>
                        <a:buClr>
                          <a:srgbClr val="000000"/>
                        </a:buClr>
                        <a:buSzPts val="700"/>
                        <a:buFont typeface="Arial"/>
                        <a:buNone/>
                      </a:pPr>
                      <a:r>
                        <a:rPr lang="es-CL" sz="650" b="0" i="0" u="none" strike="noStrike" cap="none" spc="0" dirty="0">
                          <a:solidFill>
                            <a:srgbClr val="000000"/>
                          </a:solidFill>
                          <a:latin typeface="Arial"/>
                          <a:cs typeface="Arial"/>
                          <a:sym typeface="Arial"/>
                        </a:rPr>
                        <a:t>EQUIPO LLEGO A BODEGA EL  22/06/2026 ( SE REVISO POR PRIMERA VEZ EL 17/07 09/09 CALEFACTOR QUEMADO INTERNAMENTE </a:t>
                      </a:r>
                    </a:p>
                  </a:txBody>
                  <a:tcPr marL="0" marR="0" marT="0" marB="0"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fontAlgn="b">
                        <a:lnSpc>
                          <a:spcPct val="100000"/>
                        </a:lnSpc>
                        <a:spcBef>
                          <a:spcPts val="0"/>
                        </a:spcBef>
                        <a:spcAft>
                          <a:spcPts val="0"/>
                        </a:spcAft>
                        <a:buClr>
                          <a:srgbClr val="000000"/>
                        </a:buClr>
                        <a:buSzPts val="700"/>
                        <a:buFont typeface="Arial"/>
                        <a:buNone/>
                      </a:pPr>
                      <a:r>
                        <a:rPr lang="es-CL" sz="650" b="0" i="0" u="none" strike="noStrike" cap="none" spc="0" dirty="0">
                          <a:solidFill>
                            <a:srgbClr val="000000"/>
                          </a:solidFill>
                          <a:latin typeface="Arial"/>
                          <a:cs typeface="Arial"/>
                          <a:sym typeface="Arial"/>
                        </a:rPr>
                        <a:t>EQUIPO OPERATIVO A ESPERA DE DESPACHO</a:t>
                      </a:r>
                    </a:p>
                  </a:txBody>
                  <a:tcPr marL="0" marR="0" marT="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Por Definir - En Diagnóstico</a:t>
                      </a:r>
                      <a:endParaRPr sz="650" dirty="0"/>
                    </a:p>
                  </a:txBody>
                  <a:tcPr marL="36000" marR="4600" marT="460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9,8</a:t>
                      </a:r>
                      <a:endParaRPr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50" dirty="0"/>
                        <a:t>$MM 51.1</a:t>
                      </a:r>
                      <a:endParaRPr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7"/>
                  </a:ext>
                </a:extLst>
              </a:tr>
              <a:tr h="354091">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HP FÉLIX BULNES</a:t>
                      </a:r>
                      <a:endParaRPr lang="es-CL"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tx1">
                        <a:lumMod val="85000"/>
                      </a:schemeClr>
                    </a:solidFill>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EQUIPO QUEMADO</a:t>
                      </a:r>
                      <a:endParaRPr lang="es-CL"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a:solidFill>
                            <a:srgbClr val="000000"/>
                          </a:solidFill>
                          <a:latin typeface="Arial"/>
                          <a:ea typeface="Arial"/>
                          <a:cs typeface="Arial"/>
                          <a:sym typeface="Arial"/>
                        </a:rPr>
                        <a:t>SINIESTRADO</a:t>
                      </a:r>
                      <a:endParaRPr sz="65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 </a:t>
                      </a:r>
                      <a:endParaRPr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a:solidFill>
                            <a:srgbClr val="000000"/>
                          </a:solidFill>
                          <a:latin typeface="Arial"/>
                          <a:ea typeface="Arial"/>
                          <a:cs typeface="Arial"/>
                          <a:sym typeface="Arial"/>
                        </a:rPr>
                        <a:t>Alexis Flores</a:t>
                      </a:r>
                      <a:endParaRPr sz="650"/>
                    </a:p>
                  </a:txBody>
                  <a:tcPr marL="36000" marR="4600" marT="4600" marB="0"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fontAlgn="b">
                        <a:lnSpc>
                          <a:spcPct val="100000"/>
                        </a:lnSpc>
                        <a:spcBef>
                          <a:spcPts val="0"/>
                        </a:spcBef>
                        <a:spcAft>
                          <a:spcPts val="0"/>
                        </a:spcAft>
                        <a:buClr>
                          <a:srgbClr val="000000"/>
                        </a:buClr>
                        <a:buSzPts val="700"/>
                        <a:buFont typeface="Arial"/>
                        <a:buNone/>
                      </a:pPr>
                      <a:r>
                        <a:rPr lang="es-CL" sz="650" b="0" i="0" u="none" strike="noStrike" cap="none" spc="0" dirty="0">
                          <a:solidFill>
                            <a:srgbClr val="000000"/>
                          </a:solidFill>
                          <a:latin typeface="Arial"/>
                          <a:cs typeface="Arial"/>
                          <a:sym typeface="Arial"/>
                        </a:rPr>
                        <a:t>LAVADORA DESCONTAMINADORA DS610 - 2SL-2S SN 1706510KT069 SE QUEMA, DESINSTALACIÓN 01-07-2026 OT 68149 (SA-68186), LA CONCESIONARIA SOLICITÓ INVESTIGACIÓN A TERCERO, ALEXIS INDICÓ QUE OFRECEREMOS EQUIPO EN CUANTO SE ACTIVE EL SEGURO, SE DEBE ESPERAR INFORME</a:t>
                      </a:r>
                    </a:p>
                  </a:txBody>
                  <a:tcPr marL="0" marR="0" marT="0" marB="0"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fontAlgn="b">
                        <a:lnSpc>
                          <a:spcPct val="100000"/>
                        </a:lnSpc>
                        <a:spcBef>
                          <a:spcPts val="0"/>
                        </a:spcBef>
                        <a:spcAft>
                          <a:spcPts val="0"/>
                        </a:spcAft>
                        <a:buClr>
                          <a:srgbClr val="000000"/>
                        </a:buClr>
                        <a:buSzPts val="700"/>
                        <a:buFont typeface="Arial"/>
                        <a:buNone/>
                      </a:pPr>
                      <a:r>
                        <a:rPr lang="es-CL" sz="650" b="0" i="0" u="none" strike="noStrike" cap="none" spc="0" dirty="0">
                          <a:solidFill>
                            <a:srgbClr val="000000"/>
                          </a:solidFill>
                          <a:latin typeface="Arial"/>
                          <a:cs typeface="Arial"/>
                          <a:sym typeface="Arial"/>
                        </a:rPr>
                        <a:t>NA</a:t>
                      </a:r>
                    </a:p>
                  </a:txBody>
                  <a:tcPr marL="0" marR="0" marT="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a:solidFill>
                            <a:srgbClr val="000000"/>
                          </a:solidFill>
                          <a:latin typeface="Arial"/>
                          <a:ea typeface="Arial"/>
                          <a:cs typeface="Arial"/>
                          <a:sym typeface="Arial"/>
                        </a:rPr>
                        <a:t>44, 9 (Inversión realizada)</a:t>
                      </a:r>
                      <a:endParaRPr sz="650"/>
                    </a:p>
                  </a:txBody>
                  <a:tcPr marL="36000" marR="4600" marT="4600" marB="0"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44,9</a:t>
                      </a:r>
                      <a:endParaRPr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50" dirty="0"/>
                        <a:t>$MM 344.5</a:t>
                      </a:r>
                      <a:endParaRPr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8"/>
                  </a:ext>
                </a:extLst>
              </a:tr>
              <a:tr h="92634">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TOTAL</a:t>
                      </a:r>
                      <a:endParaRPr lang="es-CL" sz="650" dirty="0"/>
                    </a:p>
                  </a:txBody>
                  <a:tcPr marL="36000" marR="4600" marT="4600" marB="0" anchor="ctr">
                    <a:lnL w="9525"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 </a:t>
                      </a:r>
                      <a:endParaRPr lang="es-CL" sz="650" dirty="0"/>
                    </a:p>
                  </a:txBody>
                  <a:tcPr marL="36000" marR="4600" marT="46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a:solidFill>
                            <a:srgbClr val="000000"/>
                          </a:solidFill>
                          <a:latin typeface="Arial"/>
                          <a:ea typeface="Arial"/>
                          <a:cs typeface="Arial"/>
                          <a:sym typeface="Arial"/>
                        </a:rPr>
                        <a:t> </a:t>
                      </a:r>
                      <a:endParaRPr sz="650"/>
                    </a:p>
                  </a:txBody>
                  <a:tcPr marL="36000" marR="4600" marT="46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a:solidFill>
                            <a:srgbClr val="000000"/>
                          </a:solidFill>
                          <a:latin typeface="Arial"/>
                          <a:ea typeface="Arial"/>
                          <a:cs typeface="Arial"/>
                          <a:sym typeface="Arial"/>
                        </a:rPr>
                        <a:t> </a:t>
                      </a:r>
                      <a:endParaRPr sz="650"/>
                    </a:p>
                  </a:txBody>
                  <a:tcPr marL="36000" marR="4600" marT="46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 </a:t>
                      </a:r>
                      <a:endParaRPr sz="650" dirty="0"/>
                    </a:p>
                  </a:txBody>
                  <a:tcPr marL="36000" marR="4600" marT="46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50" dirty="0"/>
                    </a:p>
                  </a:txBody>
                  <a:tcPr marL="36000" marR="4600" marT="46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endParaRPr sz="650" dirty="0"/>
                    </a:p>
                  </a:txBody>
                  <a:tcPr marL="36000" marR="4600" marT="46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a:solidFill>
                            <a:srgbClr val="000000"/>
                          </a:solidFill>
                          <a:latin typeface="Arial"/>
                          <a:ea typeface="Arial"/>
                          <a:cs typeface="Arial"/>
                          <a:sym typeface="Arial"/>
                        </a:rPr>
                        <a:t>107,9</a:t>
                      </a:r>
                      <a:endParaRPr sz="650"/>
                    </a:p>
                  </a:txBody>
                  <a:tcPr marL="36000" marR="4600" marT="46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650" b="0" i="0" u="none" strike="noStrike" cap="none" dirty="0">
                          <a:solidFill>
                            <a:srgbClr val="000000"/>
                          </a:solidFill>
                          <a:latin typeface="Arial"/>
                          <a:ea typeface="Arial"/>
                          <a:cs typeface="Arial"/>
                          <a:sym typeface="Arial"/>
                        </a:rPr>
                        <a:t>239,8</a:t>
                      </a:r>
                      <a:endParaRPr sz="650" dirty="0"/>
                    </a:p>
                  </a:txBody>
                  <a:tcPr marL="36000" marR="4600" marT="46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tc>
                  <a:txBody>
                    <a:bodyPr/>
                    <a:lstStyle/>
                    <a:p>
                      <a:pPr marL="0" marR="0" lvl="0" indent="0" algn="l" rtl="0">
                        <a:spcBef>
                          <a:spcPts val="0"/>
                        </a:spcBef>
                        <a:spcAft>
                          <a:spcPts val="0"/>
                        </a:spcAft>
                        <a:buClr>
                          <a:srgbClr val="000000"/>
                        </a:buClr>
                        <a:buSzPts val="700"/>
                        <a:buFont typeface="Arial"/>
                        <a:buNone/>
                      </a:pPr>
                      <a:r>
                        <a:rPr lang="es-MX" sz="650" dirty="0"/>
                        <a:t>$MM 589.6</a:t>
                      </a:r>
                      <a:endParaRPr sz="650" dirty="0"/>
                    </a:p>
                  </a:txBody>
                  <a:tcPr marL="36000" marR="4600" marT="4600" marB="0" anchor="ctr">
                    <a:lnL w="9525" cap="flat" cmpd="sng">
                      <a:solidFill>
                        <a:srgbClr val="000000">
                          <a:alpha val="0"/>
                        </a:srgbClr>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54"/>
        <p:cNvGrpSpPr/>
        <p:nvPr/>
      </p:nvGrpSpPr>
      <p:grpSpPr>
        <a:xfrm>
          <a:off x="0" y="0"/>
          <a:ext cx="0" cy="0"/>
          <a:chOff x="0" y="0"/>
          <a:chExt cx="0" cy="0"/>
        </a:xfrm>
      </p:grpSpPr>
      <p:sp>
        <p:nvSpPr>
          <p:cNvPr id="355" name="Google Shape;355;p21"/>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 Equipos Detenidos</a:t>
            </a:r>
            <a:endParaRPr sz="2700" b="0" i="0" u="none" strike="noStrike" cap="none">
              <a:solidFill>
                <a:srgbClr val="FFFFFF"/>
              </a:solidFill>
              <a:latin typeface="Roboto"/>
              <a:ea typeface="Roboto"/>
              <a:cs typeface="Roboto"/>
              <a:sym typeface="Roboto"/>
            </a:endParaRPr>
          </a:p>
        </p:txBody>
      </p:sp>
      <p:pic>
        <p:nvPicPr>
          <p:cNvPr id="5" name="Imagen 4">
            <a:extLst>
              <a:ext uri="{FF2B5EF4-FFF2-40B4-BE49-F238E27FC236}">
                <a16:creationId xmlns:a16="http://schemas.microsoft.com/office/drawing/2014/main" id="{1B575568-227F-5C4A-A691-F7D7FDC30262}"/>
              </a:ext>
            </a:extLst>
          </p:cNvPr>
          <p:cNvPicPr>
            <a:picLocks noChangeAspect="1"/>
          </p:cNvPicPr>
          <p:nvPr/>
        </p:nvPicPr>
        <p:blipFill>
          <a:blip r:embed="rId3"/>
          <a:stretch>
            <a:fillRect/>
          </a:stretch>
        </p:blipFill>
        <p:spPr>
          <a:xfrm>
            <a:off x="0" y="1442884"/>
            <a:ext cx="12192000" cy="3972232"/>
          </a:xfrm>
          <a:prstGeom prst="rect">
            <a:avLst/>
          </a:prstGeom>
        </p:spPr>
      </p:pic>
      <p:pic>
        <p:nvPicPr>
          <p:cNvPr id="3" name="Imagen 2">
            <a:extLst>
              <a:ext uri="{FF2B5EF4-FFF2-40B4-BE49-F238E27FC236}">
                <a16:creationId xmlns:a16="http://schemas.microsoft.com/office/drawing/2014/main" id="{C1FB75AF-59DE-B0AC-3F0E-64D0F4A8EEE8}"/>
              </a:ext>
            </a:extLst>
          </p:cNvPr>
          <p:cNvPicPr>
            <a:picLocks noChangeAspect="1"/>
          </p:cNvPicPr>
          <p:nvPr/>
        </p:nvPicPr>
        <p:blipFill>
          <a:blip r:embed="rId4"/>
          <a:stretch>
            <a:fillRect/>
          </a:stretch>
        </p:blipFill>
        <p:spPr>
          <a:xfrm>
            <a:off x="0" y="1315064"/>
            <a:ext cx="12192000" cy="4227871"/>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sp>
        <p:nvSpPr>
          <p:cNvPr id="361" name="Google Shape;361;p22"/>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Fill Rate</a:t>
            </a:r>
            <a:endParaRPr sz="2700" b="0" i="0" u="none" strike="noStrike" cap="none">
              <a:solidFill>
                <a:srgbClr val="FFFFFF"/>
              </a:solidFill>
              <a:latin typeface="Roboto"/>
              <a:ea typeface="Roboto"/>
              <a:cs typeface="Roboto"/>
              <a:sym typeface="Roboto"/>
            </a:endParaRPr>
          </a:p>
        </p:txBody>
      </p:sp>
      <p:sp>
        <p:nvSpPr>
          <p:cNvPr id="362" name="Google Shape;362;p22"/>
          <p:cNvSpPr/>
          <p:nvPr/>
        </p:nvSpPr>
        <p:spPr>
          <a:xfrm>
            <a:off x="204679" y="5724394"/>
            <a:ext cx="11785759" cy="638689"/>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CL" sz="1200">
                <a:solidFill>
                  <a:schemeClr val="lt1"/>
                </a:solidFill>
                <a:latin typeface="Arial"/>
                <a:ea typeface="Arial"/>
                <a:cs typeface="Arial"/>
                <a:sym typeface="Arial"/>
              </a:rPr>
              <a:t>Stock top 10 clientes y compra requerida para distintos niveles de Fill Rate</a:t>
            </a:r>
            <a:endParaRPr/>
          </a:p>
        </p:txBody>
      </p:sp>
      <p:pic>
        <p:nvPicPr>
          <p:cNvPr id="4" name="Imagen 3">
            <a:extLst>
              <a:ext uri="{FF2B5EF4-FFF2-40B4-BE49-F238E27FC236}">
                <a16:creationId xmlns:a16="http://schemas.microsoft.com/office/drawing/2014/main" id="{EE6C0F18-30BA-F56C-21D4-596CFC55EE18}"/>
              </a:ext>
            </a:extLst>
          </p:cNvPr>
          <p:cNvPicPr>
            <a:picLocks noChangeAspect="1"/>
          </p:cNvPicPr>
          <p:nvPr/>
        </p:nvPicPr>
        <p:blipFill>
          <a:blip r:embed="rId3"/>
          <a:srcRect t="645" b="12424"/>
          <a:stretch>
            <a:fillRect/>
          </a:stretch>
        </p:blipFill>
        <p:spPr>
          <a:xfrm>
            <a:off x="291000" y="913434"/>
            <a:ext cx="11001000" cy="4791638"/>
          </a:xfrm>
          <a:prstGeom prst="rect">
            <a:avLst/>
          </a:prstGeom>
        </p:spPr>
      </p:pic>
      <p:pic>
        <p:nvPicPr>
          <p:cNvPr id="3" name="Imagen 2">
            <a:extLst>
              <a:ext uri="{FF2B5EF4-FFF2-40B4-BE49-F238E27FC236}">
                <a16:creationId xmlns:a16="http://schemas.microsoft.com/office/drawing/2014/main" id="{6A8AD9CD-7A65-34C9-1003-E7BD57F36507}"/>
              </a:ext>
            </a:extLst>
          </p:cNvPr>
          <p:cNvPicPr>
            <a:picLocks noChangeAspect="1"/>
          </p:cNvPicPr>
          <p:nvPr/>
        </p:nvPicPr>
        <p:blipFill>
          <a:blip r:embed="rId4"/>
          <a:srcRect b="11285"/>
          <a:stretch>
            <a:fillRect/>
          </a:stretch>
        </p:blipFill>
        <p:spPr>
          <a:xfrm>
            <a:off x="291000" y="742113"/>
            <a:ext cx="11250000" cy="4951902"/>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60E0CC5A-764C-BD98-0A07-B9158C2B776A}"/>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828AD388-EC03-83FC-6384-26411DCFDAFA}"/>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75B3E588-0B4C-45D3-321B-BA403BF85323}"/>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Contratos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3CC2E225-2E81-CEC3-3793-46BB7CE81D18}"/>
              </a:ext>
            </a:extLst>
          </p:cNvPr>
          <p:cNvSpPr/>
          <p:nvPr/>
        </p:nvSpPr>
        <p:spPr>
          <a:xfrm>
            <a:off x="393700" y="3223834"/>
            <a:ext cx="11312345" cy="520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35987824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4">
          <a:extLst>
            <a:ext uri="{FF2B5EF4-FFF2-40B4-BE49-F238E27FC236}">
              <a16:creationId xmlns:a16="http://schemas.microsoft.com/office/drawing/2014/main" id="{6A179850-4BBC-848D-63D3-21523C9D4814}"/>
            </a:ext>
          </a:extLst>
        </p:cNvPr>
        <p:cNvGrpSpPr/>
        <p:nvPr/>
      </p:nvGrpSpPr>
      <p:grpSpPr>
        <a:xfrm>
          <a:off x="0" y="0"/>
          <a:ext cx="0" cy="0"/>
          <a:chOff x="0" y="0"/>
          <a:chExt cx="0" cy="0"/>
        </a:xfrm>
      </p:grpSpPr>
      <p:sp>
        <p:nvSpPr>
          <p:cNvPr id="375" name="Google Shape;375;p24">
            <a:extLst>
              <a:ext uri="{FF2B5EF4-FFF2-40B4-BE49-F238E27FC236}">
                <a16:creationId xmlns:a16="http://schemas.microsoft.com/office/drawing/2014/main" id="{36290C09-890A-774B-0AB3-98696FD364CE}"/>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MX" sz="2700" b="1" dirty="0">
                <a:solidFill>
                  <a:srgbClr val="33448D"/>
                </a:solidFill>
                <a:latin typeface="Roboto"/>
                <a:ea typeface="Roboto"/>
                <a:cs typeface="Roboto"/>
                <a:sym typeface="Roboto"/>
              </a:rPr>
              <a:t>Composición de Facturación – Contratos vs. Otras Facturaciones</a:t>
            </a:r>
            <a:endParaRPr sz="2700" b="0" i="0" u="none" strike="noStrike" cap="none" dirty="0">
              <a:solidFill>
                <a:srgbClr val="FFFFFF"/>
              </a:solidFill>
              <a:latin typeface="Roboto"/>
              <a:ea typeface="Roboto"/>
              <a:cs typeface="Roboto"/>
              <a:sym typeface="Roboto"/>
            </a:endParaRPr>
          </a:p>
        </p:txBody>
      </p:sp>
      <p:pic>
        <p:nvPicPr>
          <p:cNvPr id="4" name="Imagen 3">
            <a:extLst>
              <a:ext uri="{FF2B5EF4-FFF2-40B4-BE49-F238E27FC236}">
                <a16:creationId xmlns:a16="http://schemas.microsoft.com/office/drawing/2014/main" id="{30B599C6-BDBB-EBB7-AE8B-3973721199E4}"/>
              </a:ext>
            </a:extLst>
          </p:cNvPr>
          <p:cNvPicPr>
            <a:picLocks noChangeAspect="1"/>
          </p:cNvPicPr>
          <p:nvPr/>
        </p:nvPicPr>
        <p:blipFill>
          <a:blip r:embed="rId3"/>
          <a:srcRect t="10609" b="20216"/>
          <a:stretch>
            <a:fillRect/>
          </a:stretch>
        </p:blipFill>
        <p:spPr>
          <a:xfrm>
            <a:off x="-5646" y="909000"/>
            <a:ext cx="12192000" cy="3240000"/>
          </a:xfrm>
          <a:prstGeom prst="rect">
            <a:avLst/>
          </a:prstGeom>
        </p:spPr>
      </p:pic>
      <p:sp>
        <p:nvSpPr>
          <p:cNvPr id="6" name="Google Shape;376;p24">
            <a:extLst>
              <a:ext uri="{FF2B5EF4-FFF2-40B4-BE49-F238E27FC236}">
                <a16:creationId xmlns:a16="http://schemas.microsoft.com/office/drawing/2014/main" id="{CB0CED7D-29EF-B316-EBBF-84EE39FE19FB}"/>
              </a:ext>
            </a:extLst>
          </p:cNvPr>
          <p:cNvSpPr/>
          <p:nvPr/>
        </p:nvSpPr>
        <p:spPr>
          <a:xfrm>
            <a:off x="246000" y="4149001"/>
            <a:ext cx="11700000" cy="2250000"/>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000"/>
              <a:buFont typeface="Arial"/>
              <a:buChar char="•"/>
            </a:pPr>
            <a:r>
              <a:rPr lang="es-MX" sz="1200" dirty="0">
                <a:solidFill>
                  <a:schemeClr val="lt1"/>
                </a:solidFill>
                <a:latin typeface="Arial"/>
                <a:ea typeface="Arial"/>
                <a:cs typeface="Arial"/>
                <a:sym typeface="Arial"/>
              </a:rPr>
              <a:t>La facturación acumulada 2026 alcanza MM$2.114,8, distribuida prácticamente en partes iguales entre contratos (MM$1.070,4; 50,6%) y mantenciones correctivas y otras facturaciones (MM$1.044,3; 49,4%).</a:t>
            </a:r>
          </a:p>
          <a:p>
            <a:pPr marL="171450" marR="0" lvl="0" indent="-171450" algn="l" rtl="0">
              <a:spcBef>
                <a:spcPts val="0"/>
              </a:spcBef>
              <a:spcAft>
                <a:spcPts val="0"/>
              </a:spcAft>
              <a:buClr>
                <a:schemeClr val="lt1"/>
              </a:buClr>
              <a:buSzPts val="1000"/>
              <a:buFont typeface="Arial"/>
              <a:buChar char="•"/>
            </a:pPr>
            <a:r>
              <a:rPr lang="es-MX" sz="1200" dirty="0">
                <a:solidFill>
                  <a:schemeClr val="lt1"/>
                </a:solidFill>
                <a:latin typeface="Arial"/>
                <a:ea typeface="Arial"/>
                <a:cs typeface="Arial"/>
                <a:sym typeface="Arial"/>
              </a:rPr>
              <a:t>Los clientes con contrato concentran MM$1.748,1 de facturación, equivalentes al 82,7% del total, mientras que los clientes sin contrato representan MM$308,0 (14,6%).</a:t>
            </a:r>
          </a:p>
          <a:p>
            <a:pPr marL="171450" marR="0" lvl="0" indent="-171450" algn="l" rtl="0">
              <a:spcBef>
                <a:spcPts val="0"/>
              </a:spcBef>
              <a:spcAft>
                <a:spcPts val="0"/>
              </a:spcAft>
              <a:buClr>
                <a:schemeClr val="lt1"/>
              </a:buClr>
              <a:buSzPts val="1000"/>
              <a:buFont typeface="Arial"/>
              <a:buChar char="•"/>
            </a:pPr>
            <a:r>
              <a:rPr lang="es-MX" sz="1200" dirty="0">
                <a:solidFill>
                  <a:schemeClr val="lt1"/>
                </a:solidFill>
                <a:latin typeface="Arial"/>
                <a:ea typeface="Arial"/>
                <a:cs typeface="Arial"/>
                <a:sym typeface="Arial"/>
              </a:rPr>
              <a:t>Los contratos activos aportan MM$974,9, mientras que la facturación spot de clientes que además mantienen contrato alcanza MM$733,1, mostrando una fuente relevante de ingresos adicionales a los contratos.</a:t>
            </a:r>
          </a:p>
          <a:p>
            <a:pPr marL="171450" marR="0" lvl="0" indent="-171450" algn="l" rtl="0">
              <a:spcBef>
                <a:spcPts val="0"/>
              </a:spcBef>
              <a:spcAft>
                <a:spcPts val="0"/>
              </a:spcAft>
              <a:buClr>
                <a:schemeClr val="lt1"/>
              </a:buClr>
              <a:buSzPts val="1000"/>
              <a:buFont typeface="Arial"/>
              <a:buChar char="•"/>
            </a:pPr>
            <a:r>
              <a:rPr lang="es-MX" sz="1200" dirty="0">
                <a:solidFill>
                  <a:schemeClr val="lt1"/>
                </a:solidFill>
                <a:latin typeface="Arial"/>
                <a:ea typeface="Arial"/>
                <a:cs typeface="Arial"/>
                <a:sym typeface="Arial"/>
              </a:rPr>
              <a:t>Los clientes sin contrato generan MM$212,4 mediante facturación spot y MM$95,5 asociados a contratos vencidos, identificando una oportunidad de conversión hacia relaciones contractuales.</a:t>
            </a:r>
          </a:p>
          <a:p>
            <a:pPr marL="171450" marR="0" lvl="0" indent="-171450" algn="l" rtl="0">
              <a:spcBef>
                <a:spcPts val="0"/>
              </a:spcBef>
              <a:spcAft>
                <a:spcPts val="0"/>
              </a:spcAft>
              <a:buClr>
                <a:schemeClr val="lt1"/>
              </a:buClr>
              <a:buSzPts val="1000"/>
              <a:buFont typeface="Arial"/>
              <a:buChar char="•"/>
            </a:pPr>
            <a:r>
              <a:rPr lang="es-MX" sz="1200" dirty="0">
                <a:solidFill>
                  <a:schemeClr val="lt1"/>
                </a:solidFill>
                <a:latin typeface="Arial"/>
                <a:ea typeface="Arial"/>
                <a:cs typeface="Arial"/>
                <a:sym typeface="Arial"/>
              </a:rPr>
              <a:t>Los clientes nuevos aportan MM$58,7 de facturación durante 2026, equivalentes al 2,8% del total acumulado.</a:t>
            </a:r>
          </a:p>
          <a:p>
            <a:pPr marL="171450" marR="0" lvl="0" indent="-171450" algn="l" rtl="0">
              <a:spcBef>
                <a:spcPts val="0"/>
              </a:spcBef>
              <a:spcAft>
                <a:spcPts val="0"/>
              </a:spcAft>
              <a:buClr>
                <a:schemeClr val="lt1"/>
              </a:buClr>
              <a:buSzPts val="1000"/>
              <a:buFont typeface="Arial"/>
              <a:buChar char="•"/>
            </a:pPr>
            <a:r>
              <a:rPr lang="es-MX" sz="1200" dirty="0">
                <a:solidFill>
                  <a:schemeClr val="lt1"/>
                </a:solidFill>
                <a:latin typeface="Arial"/>
                <a:ea typeface="Arial"/>
                <a:cs typeface="Arial"/>
                <a:sym typeface="Arial"/>
              </a:rPr>
              <a:t>Se identifican 8 clientes perdidos sin facturación actual, que durante 2025 generaron MM$20,2, constituyendo un grupo potencial para acciones de reactivación comercial.</a:t>
            </a:r>
          </a:p>
        </p:txBody>
      </p:sp>
    </p:spTree>
    <p:extLst>
      <p:ext uri="{BB962C8B-B14F-4D97-AF65-F5344CB8AC3E}">
        <p14:creationId xmlns:p14="http://schemas.microsoft.com/office/powerpoint/2010/main" val="7549972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74"/>
        <p:cNvGrpSpPr/>
        <p:nvPr/>
      </p:nvGrpSpPr>
      <p:grpSpPr>
        <a:xfrm>
          <a:off x="0" y="0"/>
          <a:ext cx="0" cy="0"/>
          <a:chOff x="0" y="0"/>
          <a:chExt cx="0" cy="0"/>
        </a:xfrm>
      </p:grpSpPr>
      <p:sp>
        <p:nvSpPr>
          <p:cNvPr id="375" name="Google Shape;375;p24"/>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a:solidFill>
                  <a:srgbClr val="33448D"/>
                </a:solidFill>
                <a:latin typeface="Roboto"/>
                <a:ea typeface="Roboto"/>
                <a:cs typeface="Roboto"/>
                <a:sym typeface="Roboto"/>
              </a:rPr>
              <a:t>Update Contratos – Horizonte 90 días</a:t>
            </a:r>
            <a:endParaRPr sz="2700" b="0" i="0" u="none" strike="noStrike" cap="none">
              <a:solidFill>
                <a:srgbClr val="FFFFFF"/>
              </a:solidFill>
              <a:latin typeface="Roboto"/>
              <a:ea typeface="Roboto"/>
              <a:cs typeface="Roboto"/>
              <a:sym typeface="Roboto"/>
            </a:endParaRPr>
          </a:p>
        </p:txBody>
      </p:sp>
      <p:sp>
        <p:nvSpPr>
          <p:cNvPr id="376" name="Google Shape;376;p24"/>
          <p:cNvSpPr/>
          <p:nvPr/>
        </p:nvSpPr>
        <p:spPr>
          <a:xfrm>
            <a:off x="283354" y="5897358"/>
            <a:ext cx="11625292" cy="862031"/>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40 contratos vencen en el horizonte de 90 días, asociados a 35 clientes y por un monto total de MM$292,3.</a:t>
            </a: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15 contratos ya se encuentran vencidos, por MM$96,6, siendo el principal foco de gestión inmediata.</a:t>
            </a: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Octubre concentra 9 contratos (MM$32,2), noviembre 6 (MM$89,7) y diciembre 10 (MM$70,3).</a:t>
            </a: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Noviembre concentra el mayor monto del período, con MM$89,7, equivalente aproximadamente al 31% del total del horizonte.</a:t>
            </a: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26 contratos corresponden a la cartera comercial, por MM$232,8, mientras que 14 son de garantía, por MM$59,5.</a:t>
            </a:r>
          </a:p>
        </p:txBody>
      </p:sp>
      <p:pic>
        <p:nvPicPr>
          <p:cNvPr id="3" name="Imagen 2">
            <a:extLst>
              <a:ext uri="{FF2B5EF4-FFF2-40B4-BE49-F238E27FC236}">
                <a16:creationId xmlns:a16="http://schemas.microsoft.com/office/drawing/2014/main" id="{4EA5866E-5B9A-50E0-06BE-3C91CCA7A0B8}"/>
              </a:ext>
            </a:extLst>
          </p:cNvPr>
          <p:cNvPicPr>
            <a:picLocks noChangeAspect="1"/>
          </p:cNvPicPr>
          <p:nvPr/>
        </p:nvPicPr>
        <p:blipFill>
          <a:blip r:embed="rId3"/>
          <a:stretch>
            <a:fillRect/>
          </a:stretch>
        </p:blipFill>
        <p:spPr>
          <a:xfrm>
            <a:off x="2136000" y="818677"/>
            <a:ext cx="7605000" cy="5078681"/>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25"/>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a:solidFill>
                  <a:srgbClr val="33448D"/>
                </a:solidFill>
                <a:latin typeface="Roboto"/>
                <a:ea typeface="Roboto"/>
                <a:cs typeface="Roboto"/>
                <a:sym typeface="Roboto"/>
              </a:rPr>
              <a:t>Update Contratos – Horizonte 90 días</a:t>
            </a:r>
            <a:endParaRPr sz="2700" b="0" i="0" u="none" strike="noStrike" cap="none">
              <a:solidFill>
                <a:srgbClr val="FFFFFF"/>
              </a:solidFill>
              <a:latin typeface="Roboto"/>
              <a:ea typeface="Roboto"/>
              <a:cs typeface="Roboto"/>
              <a:sym typeface="Roboto"/>
            </a:endParaRPr>
          </a:p>
        </p:txBody>
      </p:sp>
      <p:sp>
        <p:nvSpPr>
          <p:cNvPr id="383" name="Google Shape;383;p25"/>
          <p:cNvSpPr/>
          <p:nvPr/>
        </p:nvSpPr>
        <p:spPr>
          <a:xfrm>
            <a:off x="393700" y="1035781"/>
            <a:ext cx="11625292" cy="499722"/>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000"/>
              <a:buFont typeface="Arial"/>
              <a:buChar char="•"/>
            </a:pPr>
            <a:r>
              <a:rPr lang="es-CL" sz="1000">
                <a:solidFill>
                  <a:schemeClr val="lt1"/>
                </a:solidFill>
                <a:latin typeface="Arial"/>
                <a:ea typeface="Arial"/>
                <a:cs typeface="Arial"/>
                <a:sym typeface="Arial"/>
              </a:rPr>
              <a:t>De este 14% de la cartera ya el 12% se encuentra en proceso de renovación, puede que haya expirado, sin embargo, todavía el contrato se sigue ejecutando, por ejemplo, </a:t>
            </a:r>
            <a:r>
              <a:rPr lang="es-CL" sz="1000" b="1">
                <a:solidFill>
                  <a:schemeClr val="lt1"/>
                </a:solidFill>
                <a:latin typeface="Arial"/>
                <a:ea typeface="Arial"/>
                <a:cs typeface="Arial"/>
                <a:sym typeface="Arial"/>
              </a:rPr>
              <a:t>Clínica INDISA</a:t>
            </a:r>
            <a:endParaRPr/>
          </a:p>
          <a:p>
            <a:pPr marL="171450" marR="0" lvl="0" indent="-171450" algn="l" rtl="0">
              <a:spcBef>
                <a:spcPts val="0"/>
              </a:spcBef>
              <a:spcAft>
                <a:spcPts val="0"/>
              </a:spcAft>
              <a:buClr>
                <a:schemeClr val="lt1"/>
              </a:buClr>
              <a:buSzPts val="1000"/>
              <a:buFont typeface="Arial"/>
              <a:buChar char="•"/>
            </a:pPr>
            <a:r>
              <a:rPr lang="es-CL" sz="1000" b="1">
                <a:solidFill>
                  <a:schemeClr val="lt1"/>
                </a:solidFill>
                <a:latin typeface="Arial"/>
                <a:ea typeface="Arial"/>
                <a:cs typeface="Arial"/>
                <a:sym typeface="Arial"/>
              </a:rPr>
              <a:t>1 Nuevo contrato durante esta semana H. Luis Calvo Mackenna MM$3,5 anual</a:t>
            </a:r>
            <a:endParaRPr/>
          </a:p>
        </p:txBody>
      </p:sp>
      <p:graphicFrame>
        <p:nvGraphicFramePr>
          <p:cNvPr id="384" name="Google Shape;384;p25"/>
          <p:cNvGraphicFramePr/>
          <p:nvPr>
            <p:extLst>
              <p:ext uri="{D42A27DB-BD31-4B8C-83A1-F6EECF244321}">
                <p14:modId xmlns:p14="http://schemas.microsoft.com/office/powerpoint/2010/main" val="3302718868"/>
              </p:ext>
            </p:extLst>
          </p:nvPr>
        </p:nvGraphicFramePr>
        <p:xfrm>
          <a:off x="393702" y="1641277"/>
          <a:ext cx="11625250" cy="2092930"/>
        </p:xfrm>
        <a:graphic>
          <a:graphicData uri="http://schemas.openxmlformats.org/drawingml/2006/table">
            <a:tbl>
              <a:tblPr>
                <a:noFill/>
                <a:tableStyleId>{13D43741-7D58-4360-86AC-F6E32FA5FF39}</a:tableStyleId>
              </a:tblPr>
              <a:tblGrid>
                <a:gridCol w="2838875">
                  <a:extLst>
                    <a:ext uri="{9D8B030D-6E8A-4147-A177-3AD203B41FA5}">
                      <a16:colId xmlns:a16="http://schemas.microsoft.com/office/drawing/2014/main" val="20000"/>
                    </a:ext>
                  </a:extLst>
                </a:gridCol>
                <a:gridCol w="1618550">
                  <a:extLst>
                    <a:ext uri="{9D8B030D-6E8A-4147-A177-3AD203B41FA5}">
                      <a16:colId xmlns:a16="http://schemas.microsoft.com/office/drawing/2014/main" val="20001"/>
                    </a:ext>
                  </a:extLst>
                </a:gridCol>
                <a:gridCol w="950575">
                  <a:extLst>
                    <a:ext uri="{9D8B030D-6E8A-4147-A177-3AD203B41FA5}">
                      <a16:colId xmlns:a16="http://schemas.microsoft.com/office/drawing/2014/main" val="20002"/>
                    </a:ext>
                  </a:extLst>
                </a:gridCol>
                <a:gridCol w="1079025">
                  <a:extLst>
                    <a:ext uri="{9D8B030D-6E8A-4147-A177-3AD203B41FA5}">
                      <a16:colId xmlns:a16="http://schemas.microsoft.com/office/drawing/2014/main" val="20003"/>
                    </a:ext>
                  </a:extLst>
                </a:gridCol>
                <a:gridCol w="1079025">
                  <a:extLst>
                    <a:ext uri="{9D8B030D-6E8A-4147-A177-3AD203B41FA5}">
                      <a16:colId xmlns:a16="http://schemas.microsoft.com/office/drawing/2014/main" val="20004"/>
                    </a:ext>
                  </a:extLst>
                </a:gridCol>
                <a:gridCol w="950575">
                  <a:extLst>
                    <a:ext uri="{9D8B030D-6E8A-4147-A177-3AD203B41FA5}">
                      <a16:colId xmlns:a16="http://schemas.microsoft.com/office/drawing/2014/main" val="20005"/>
                    </a:ext>
                  </a:extLst>
                </a:gridCol>
                <a:gridCol w="1014800">
                  <a:extLst>
                    <a:ext uri="{9D8B030D-6E8A-4147-A177-3AD203B41FA5}">
                      <a16:colId xmlns:a16="http://schemas.microsoft.com/office/drawing/2014/main" val="20006"/>
                    </a:ext>
                  </a:extLst>
                </a:gridCol>
                <a:gridCol w="1014800">
                  <a:extLst>
                    <a:ext uri="{9D8B030D-6E8A-4147-A177-3AD203B41FA5}">
                      <a16:colId xmlns:a16="http://schemas.microsoft.com/office/drawing/2014/main" val="20007"/>
                    </a:ext>
                  </a:extLst>
                </a:gridCol>
                <a:gridCol w="1079025">
                  <a:extLst>
                    <a:ext uri="{9D8B030D-6E8A-4147-A177-3AD203B41FA5}">
                      <a16:colId xmlns:a16="http://schemas.microsoft.com/office/drawing/2014/main" val="20008"/>
                    </a:ext>
                  </a:extLst>
                </a:gridCol>
              </a:tblGrid>
              <a:tr h="288950">
                <a:tc>
                  <a:txBody>
                    <a:bodyPr/>
                    <a:lstStyle/>
                    <a:p>
                      <a:pPr marL="0" marR="0" lvl="0" indent="0" algn="l"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CLIENTE</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l"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CLASIFICACIÓN (indicada por usuario)</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l"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TIPO CONTRATO</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r"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VALOR TOTAL CONTRATO</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r"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Cartera</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r"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CUOTA MENSUAL</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r"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FECHA VENCIMIENTO</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r"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MES DE VENCIMIENTO</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tc>
                  <a:txBody>
                    <a:bodyPr/>
                    <a:lstStyle/>
                    <a:p>
                      <a:pPr marL="0" marR="0" lvl="0" indent="0" algn="r" rtl="0">
                        <a:spcBef>
                          <a:spcPts val="0"/>
                        </a:spcBef>
                        <a:spcAft>
                          <a:spcPts val="0"/>
                        </a:spcAft>
                        <a:buClr>
                          <a:srgbClr val="FFFFFF"/>
                        </a:buClr>
                        <a:buSzPts val="600"/>
                        <a:buFont typeface="Arial"/>
                        <a:buNone/>
                      </a:pPr>
                      <a:r>
                        <a:rPr lang="es-CL" sz="600" b="1" i="0" u="none" strike="noStrike" cap="none">
                          <a:solidFill>
                            <a:srgbClr val="FFFFFF"/>
                          </a:solidFill>
                          <a:latin typeface="Arial"/>
                          <a:ea typeface="Arial"/>
                          <a:cs typeface="Arial"/>
                          <a:sym typeface="Arial"/>
                        </a:rPr>
                        <a:t>ESTADO EN PANEL (dato actual)</a:t>
                      </a:r>
                      <a:endParaRPr/>
                    </a:p>
                  </a:txBody>
                  <a:tcPr marL="8725" marR="8725" marT="87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002D73"/>
                    </a:solidFill>
                  </a:tcPr>
                </a:tc>
                <a:extLst>
                  <a:ext uri="{0D108BD9-81ED-4DB2-BD59-A6C34878D82A}">
                    <a16:rowId xmlns:a16="http://schemas.microsoft.com/office/drawing/2014/main" val="10000"/>
                  </a:ext>
                </a:extLst>
              </a:tr>
              <a:tr h="201150">
                <a:tc>
                  <a:txBody>
                    <a:bodyPr/>
                    <a:lstStyle/>
                    <a:p>
                      <a:pPr marL="0" marR="0" lvl="0" indent="0" algn="l" rtl="0">
                        <a:spcBef>
                          <a:spcPts val="0"/>
                        </a:spcBef>
                        <a:spcAft>
                          <a:spcPts val="0"/>
                        </a:spcAft>
                        <a:buClr>
                          <a:srgbClr val="000000"/>
                        </a:buClr>
                        <a:buSzPts val="800"/>
                        <a:buFont typeface="Arial"/>
                        <a:buNone/>
                      </a:pPr>
                      <a:r>
                        <a:rPr lang="es-CL" sz="800" b="0" i="0" u="none" strike="noStrike" cap="none">
                          <a:solidFill>
                            <a:srgbClr val="000000"/>
                          </a:solidFill>
                          <a:latin typeface="Arial"/>
                          <a:ea typeface="Arial"/>
                          <a:cs typeface="Arial"/>
                          <a:sym typeface="Arial"/>
                        </a:rPr>
                        <a:t>Hospital Exequiel González Cortés</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R</a:t>
                      </a:r>
                      <a:r>
                        <a:rPr lang="es-CL" sz="700" b="0" i="0" u="none" strike="noStrike" cap="none" dirty="0" err="1">
                          <a:solidFill>
                            <a:srgbClr val="000000"/>
                          </a:solidFill>
                          <a:latin typeface="Arial"/>
                          <a:cs typeface="Arial"/>
                          <a:sym typeface="Arial"/>
                        </a:rPr>
                        <a:t>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Comercial</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34.900.000</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2,68%</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2.908.000</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01/09/2026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Sept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Nuevo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1"/>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HOSPITAL DEL SALVADOR</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Renovado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Comercial</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23.803.992</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1,83%</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5.950.998</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08/03/2027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Marzo 2027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Renovado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2"/>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INSTITUTO DE DIAGNOSTICO S.A. / CLÍNICA INDISA</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R</a:t>
                      </a:r>
                      <a:r>
                        <a:rPr lang="es-CL" sz="700" b="0" i="0" u="none" strike="noStrike" cap="none" dirty="0" err="1">
                          <a:solidFill>
                            <a:srgbClr val="000000"/>
                          </a:solidFill>
                          <a:latin typeface="Arial"/>
                          <a:cs typeface="Arial"/>
                          <a:sym typeface="Arial"/>
                        </a:rPr>
                        <a:t>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23.049.612</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1,77%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2.881.201</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07/08/2026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Agosto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Renovado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3"/>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CLÍNICA BUPA ANTOFAGASTA SA</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R</a:t>
                      </a:r>
                      <a:r>
                        <a:rPr lang="es-CL" sz="700" b="0" i="0" u="none" strike="noStrike" cap="none" dirty="0" err="1">
                          <a:solidFill>
                            <a:srgbClr val="000000"/>
                          </a:solidFill>
                          <a:latin typeface="Arial"/>
                          <a:cs typeface="Arial"/>
                          <a:sym typeface="Arial"/>
                        </a:rPr>
                        <a:t>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5.585.865</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0,43%</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698.233</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31/08/2026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Agosto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Nuevo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4"/>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I. MUNICIPALIDAD DE CONSTITUCION</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En Proceso de Renovación</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4.865.287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0,37%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4.865.287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31/05/2026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Mayo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Perdido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5"/>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HOSPITAL MILITAR DE SANTIAGO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R</a:t>
                      </a:r>
                      <a:r>
                        <a:rPr lang="es-CL" sz="700" b="0" i="0" u="none" strike="noStrike" cap="none" dirty="0" err="1">
                          <a:solidFill>
                            <a:srgbClr val="000000"/>
                          </a:solidFill>
                          <a:latin typeface="Arial"/>
                          <a:cs typeface="Arial"/>
                          <a:sym typeface="Arial"/>
                        </a:rPr>
                        <a:t>enovadoo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Comercial</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4.695.262</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0,36%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782.544</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02/06/2026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Junio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Perdido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6"/>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HOSPITAL DEL SALVADOR</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S</a:t>
                      </a:r>
                      <a:r>
                        <a:rPr lang="es-CL" sz="700" b="0" i="0" u="none" strike="noStrike" cap="none" dirty="0">
                          <a:solidFill>
                            <a:srgbClr val="000000"/>
                          </a:solidFill>
                          <a:latin typeface="Arial"/>
                          <a:cs typeface="Arial"/>
                          <a:sym typeface="Arial"/>
                        </a:rPr>
                        <a:t>e renovara 2027</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4.168.932</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0,32%</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1.389.644</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03/08/2026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Agosto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Renovado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7"/>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I MUNICIPALIDAD DE VICUÑA</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En Proceso de Renovación</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3.932.726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0,30%</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1.966.363</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30/08/2026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Agosto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Nuevo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8"/>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DIPRECA FONDO HOSPITAL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T</a:t>
                      </a:r>
                      <a:r>
                        <a:rPr lang="es-CL" sz="700" b="0" i="0" u="none" strike="noStrike" cap="none" dirty="0" err="1">
                          <a:solidFill>
                            <a:srgbClr val="000000"/>
                          </a:solidFill>
                          <a:latin typeface="Arial"/>
                          <a:cs typeface="Arial"/>
                          <a:sym typeface="Arial"/>
                        </a:rPr>
                        <a:t>rabajando</a:t>
                      </a:r>
                      <a:r>
                        <a:rPr lang="es-CL" sz="700" b="0" i="0" u="none" strike="noStrike" cap="none" dirty="0">
                          <a:solidFill>
                            <a:srgbClr val="000000"/>
                          </a:solidFill>
                          <a:latin typeface="Arial"/>
                          <a:cs typeface="Arial"/>
                          <a:sym typeface="Arial"/>
                        </a:rPr>
                        <a:t> en bases de licitación</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3.671.517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0,28%</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1.223.839</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05/08/2026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Agosto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Perdido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09"/>
                  </a:ext>
                </a:extLst>
              </a:tr>
              <a:tr h="20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HOSPITAL DE ILLAPEL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En Proceso de </a:t>
                      </a:r>
                      <a:r>
                        <a:rPr lang="es-CL" sz="700" b="0" i="0" u="none" strike="noStrike" cap="none" dirty="0" err="1">
                          <a:solidFill>
                            <a:srgbClr val="000000"/>
                          </a:solidFill>
                          <a:latin typeface="Arial"/>
                          <a:ea typeface="Arial"/>
                          <a:cs typeface="Arial"/>
                          <a:sym typeface="Arial"/>
                        </a:rPr>
                        <a:t>Licitacion</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3.429.404</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3.429.404</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31/07/2026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Julio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Perdido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10"/>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I.MUNICIPALIDAD DE CURICO DPTO. SALUD</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R</a:t>
                      </a:r>
                      <a:r>
                        <a:rPr lang="es-CL" sz="700" b="0" i="0" u="none" strike="noStrike" cap="none" dirty="0" err="1">
                          <a:solidFill>
                            <a:srgbClr val="000000"/>
                          </a:solidFill>
                          <a:latin typeface="Arial"/>
                          <a:cs typeface="Arial"/>
                          <a:sym typeface="Arial"/>
                        </a:rPr>
                        <a:t>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2.738.309</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0,21%</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1.369.155</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23/12/2026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Diciembre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Renovado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11"/>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I.MUNICIPALIDAD DE CURICO DPTO. SALUD</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R</a:t>
                      </a:r>
                      <a:r>
                        <a:rPr lang="es-CL" sz="700" b="0" i="0" u="none" strike="noStrike" cap="none" dirty="0" err="1">
                          <a:solidFill>
                            <a:srgbClr val="000000"/>
                          </a:solidFill>
                          <a:latin typeface="Arial"/>
                          <a:cs typeface="Arial"/>
                          <a:sym typeface="Arial"/>
                        </a:rPr>
                        <a:t>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2.729.949</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0,21%</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2.729.949</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31/08/2026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Agosto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Renovado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12"/>
                  </a:ext>
                </a:extLst>
              </a:tr>
              <a:tr h="123425">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CLINICA WLK</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ES" sz="700" b="0" i="0" u="none" strike="noStrike" cap="none" dirty="0">
                          <a:solidFill>
                            <a:srgbClr val="000000"/>
                          </a:solidFill>
                          <a:latin typeface="Arial"/>
                          <a:cs typeface="Arial"/>
                          <a:sym typeface="Arial"/>
                        </a:rPr>
                        <a:t>R</a:t>
                      </a:r>
                      <a:r>
                        <a:rPr lang="es-CL" sz="700" b="0" i="0" u="none" strike="noStrike" cap="none" dirty="0" err="1">
                          <a:solidFill>
                            <a:srgbClr val="000000"/>
                          </a:solidFill>
                          <a:latin typeface="Arial"/>
                          <a:cs typeface="Arial"/>
                          <a:sym typeface="Arial"/>
                        </a:rPr>
                        <a:t>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2.404.630</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0,18%</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801.543</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21/08/2026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Agosto 2026</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Nuevo</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13"/>
                  </a:ext>
                </a:extLst>
              </a:tr>
              <a:tr h="111150">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I.MUNICIPALIDAD DE CURICO DPTO. SALUD</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En Proceso de Renovación</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solidFill>
                      <a:srgbClr val="D6E4F5"/>
                    </a:solidFill>
                  </a:tcPr>
                </a:tc>
                <a:tc>
                  <a:txBody>
                    <a:bodyPr/>
                    <a:lstStyle/>
                    <a:p>
                      <a:pPr marL="0" marR="0" lvl="0" indent="0" algn="l"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Comercial</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1.376.598</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0,11%</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688.299</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30/04/2027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a:solidFill>
                            <a:srgbClr val="000000"/>
                          </a:solidFill>
                          <a:latin typeface="Arial"/>
                          <a:ea typeface="Arial"/>
                          <a:cs typeface="Arial"/>
                          <a:sym typeface="Arial"/>
                        </a:rPr>
                        <a:t>Abril 2027</a:t>
                      </a:r>
                      <a:endParaRPr/>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700"/>
                        <a:buFont typeface="Arial"/>
                        <a:buNone/>
                      </a:pPr>
                      <a:r>
                        <a:rPr lang="es-CL" sz="700" b="0" i="0" u="none" strike="noStrike" cap="none" dirty="0">
                          <a:solidFill>
                            <a:srgbClr val="000000"/>
                          </a:solidFill>
                          <a:latin typeface="Arial"/>
                          <a:ea typeface="Arial"/>
                          <a:cs typeface="Arial"/>
                          <a:sym typeface="Arial"/>
                        </a:rPr>
                        <a:t>Renovado</a:t>
                      </a:r>
                      <a:endParaRPr dirty="0"/>
                    </a:p>
                  </a:txBody>
                  <a:tcPr marL="9525" marR="9525" marT="9525" marB="0" anchor="ctr">
                    <a:lnL w="9525" cap="flat" cmpd="sng">
                      <a:solidFill>
                        <a:srgbClr val="D0D5E5"/>
                      </a:solidFill>
                      <a:prstDash val="solid"/>
                      <a:round/>
                      <a:headEnd type="none" w="sm" len="sm"/>
                      <a:tailEnd type="none" w="sm" len="sm"/>
                    </a:lnL>
                    <a:lnR w="9525" cap="flat" cmpd="sng">
                      <a:solidFill>
                        <a:srgbClr val="D0D5E5"/>
                      </a:solidFill>
                      <a:prstDash val="solid"/>
                      <a:round/>
                      <a:headEnd type="none" w="sm" len="sm"/>
                      <a:tailEnd type="none" w="sm" len="sm"/>
                    </a:lnR>
                    <a:lnT w="9525" cap="flat" cmpd="sng">
                      <a:solidFill>
                        <a:srgbClr val="D0D5E5"/>
                      </a:solidFill>
                      <a:prstDash val="solid"/>
                      <a:round/>
                      <a:headEnd type="none" w="sm" len="sm"/>
                      <a:tailEnd type="none" w="sm" len="sm"/>
                    </a:lnT>
                    <a:lnB w="9525" cap="flat" cmpd="sng">
                      <a:solidFill>
                        <a:srgbClr val="D0D5E5"/>
                      </a:solidFill>
                      <a:prstDash val="solid"/>
                      <a:round/>
                      <a:headEnd type="none" w="sm" len="sm"/>
                      <a:tailEnd type="none" w="sm" len="sm"/>
                    </a:lnB>
                  </a:tcPr>
                </a:tc>
                <a:extLst>
                  <a:ext uri="{0D108BD9-81ED-4DB2-BD59-A6C34878D82A}">
                    <a16:rowId xmlns:a16="http://schemas.microsoft.com/office/drawing/2014/main" val="10014"/>
                  </a:ext>
                </a:extLst>
              </a:tr>
            </a:tbl>
          </a:graphicData>
        </a:graphic>
      </p:graphicFrame>
      <p:sp>
        <p:nvSpPr>
          <p:cNvPr id="385" name="Google Shape;385;p25"/>
          <p:cNvSpPr/>
          <p:nvPr/>
        </p:nvSpPr>
        <p:spPr>
          <a:xfrm>
            <a:off x="300787" y="3840007"/>
            <a:ext cx="11718203" cy="499722"/>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000"/>
              <a:buFont typeface="Arial"/>
              <a:buChar char="•"/>
            </a:pPr>
            <a:r>
              <a:rPr lang="es-CL" sz="1000" b="1">
                <a:solidFill>
                  <a:schemeClr val="lt1"/>
                </a:solidFill>
                <a:latin typeface="Arial"/>
                <a:ea typeface="Arial"/>
                <a:cs typeface="Arial"/>
                <a:sym typeface="Arial"/>
              </a:rPr>
              <a:t>Pendientes por Iniciar Conversaciones</a:t>
            </a:r>
            <a:endParaRPr/>
          </a:p>
        </p:txBody>
      </p:sp>
      <p:graphicFrame>
        <p:nvGraphicFramePr>
          <p:cNvPr id="386" name="Google Shape;386;p25"/>
          <p:cNvGraphicFramePr/>
          <p:nvPr>
            <p:extLst>
              <p:ext uri="{D42A27DB-BD31-4B8C-83A1-F6EECF244321}">
                <p14:modId xmlns:p14="http://schemas.microsoft.com/office/powerpoint/2010/main" val="692468669"/>
              </p:ext>
            </p:extLst>
          </p:nvPr>
        </p:nvGraphicFramePr>
        <p:xfrm>
          <a:off x="300788" y="4445503"/>
          <a:ext cx="11718200" cy="1049085"/>
        </p:xfrm>
        <a:graphic>
          <a:graphicData uri="http://schemas.openxmlformats.org/drawingml/2006/table">
            <a:tbl>
              <a:tblPr>
                <a:noFill/>
                <a:tableStyleId>{13D43741-7D58-4360-86AC-F6E32FA5FF39}</a:tableStyleId>
              </a:tblPr>
              <a:tblGrid>
                <a:gridCol w="9086900">
                  <a:extLst>
                    <a:ext uri="{9D8B030D-6E8A-4147-A177-3AD203B41FA5}">
                      <a16:colId xmlns:a16="http://schemas.microsoft.com/office/drawing/2014/main" val="20000"/>
                    </a:ext>
                  </a:extLst>
                </a:gridCol>
                <a:gridCol w="877100">
                  <a:extLst>
                    <a:ext uri="{9D8B030D-6E8A-4147-A177-3AD203B41FA5}">
                      <a16:colId xmlns:a16="http://schemas.microsoft.com/office/drawing/2014/main" val="20001"/>
                    </a:ext>
                  </a:extLst>
                </a:gridCol>
                <a:gridCol w="877100">
                  <a:extLst>
                    <a:ext uri="{9D8B030D-6E8A-4147-A177-3AD203B41FA5}">
                      <a16:colId xmlns:a16="http://schemas.microsoft.com/office/drawing/2014/main" val="20002"/>
                    </a:ext>
                  </a:extLst>
                </a:gridCol>
                <a:gridCol w="877100">
                  <a:extLst>
                    <a:ext uri="{9D8B030D-6E8A-4147-A177-3AD203B41FA5}">
                      <a16:colId xmlns:a16="http://schemas.microsoft.com/office/drawing/2014/main" val="20003"/>
                    </a:ext>
                  </a:extLst>
                </a:gridCol>
              </a:tblGrid>
              <a:tr h="175575">
                <a:tc>
                  <a:txBody>
                    <a:bodyPr/>
                    <a:lstStyle/>
                    <a:p>
                      <a:pPr marL="0" marR="0" lvl="0" indent="0" algn="l" rtl="0">
                        <a:spcBef>
                          <a:spcPts val="0"/>
                        </a:spcBef>
                        <a:spcAft>
                          <a:spcPts val="0"/>
                        </a:spcAft>
                        <a:buClr>
                          <a:srgbClr val="000000"/>
                        </a:buClr>
                        <a:buSzPts val="900"/>
                        <a:buFont typeface="Arial"/>
                        <a:buNone/>
                      </a:pPr>
                      <a:r>
                        <a:rPr lang="es-CL" sz="900" b="1" i="0" u="none" strike="noStrike" cap="none" dirty="0">
                          <a:solidFill>
                            <a:srgbClr val="000000"/>
                          </a:solidFill>
                          <a:latin typeface="Arial"/>
                          <a:ea typeface="Arial"/>
                          <a:cs typeface="Arial"/>
                          <a:sym typeface="Arial"/>
                        </a:rPr>
                        <a:t>Cliente</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1" i="0" u="none" strike="noStrike" cap="none">
                          <a:solidFill>
                            <a:srgbClr val="000000"/>
                          </a:solidFill>
                          <a:latin typeface="Arial"/>
                          <a:ea typeface="Arial"/>
                          <a:cs typeface="Arial"/>
                          <a:sym typeface="Arial"/>
                        </a:rPr>
                        <a:t>Vcto</a:t>
                      </a:r>
                      <a:endParaRPr sz="900" b="1" i="0" u="none" strike="noStrike" cap="none">
                        <a:solidFill>
                          <a:srgbClr val="000000"/>
                        </a:solidFill>
                        <a:latin typeface="Arial"/>
                        <a:ea typeface="Arial"/>
                        <a:cs typeface="Arial"/>
                        <a:sym typeface="Arial"/>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1" i="0" u="none" strike="noStrike" cap="none">
                          <a:solidFill>
                            <a:srgbClr val="000000"/>
                          </a:solidFill>
                          <a:latin typeface="Arial"/>
                          <a:ea typeface="Arial"/>
                          <a:cs typeface="Arial"/>
                          <a:sym typeface="Arial"/>
                        </a:rPr>
                        <a:t>MM$</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1" i="0" u="none" strike="noStrike" cap="none">
                          <a:solidFill>
                            <a:srgbClr val="000000"/>
                          </a:solidFill>
                          <a:latin typeface="Arial"/>
                          <a:ea typeface="Arial"/>
                          <a:cs typeface="Arial"/>
                          <a:sym typeface="Arial"/>
                        </a:rPr>
                        <a:t>%</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0"/>
                  </a:ext>
                </a:extLst>
              </a:tr>
              <a:tr h="113800">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Hospital San Luis Buin  Renovado</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16-10-26</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2,8</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0,22%</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113800">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Hospital San Luis Buin  Renovado</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16-10-26</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5,3</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0,41%</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113800">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Servicios Clínicos del Desarrollo S.A.</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31-10-26</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4,6</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0,35%</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r h="113800">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Corporación Municipal de Conchalí Por licitar</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31-10-26</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4</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0,31%</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4"/>
                  </a:ext>
                </a:extLst>
              </a:tr>
              <a:tr h="113800">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Hospital de Urgencia Asistencia Pública Dr. Alejandro del Río  Nva licitación</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31-10-26</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5,5</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0,42%</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5"/>
                  </a:ext>
                </a:extLst>
              </a:tr>
              <a:tr h="113800">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Hospital de Puerto Aysén  Bases para licitar</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12-11-26</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32,7</a:t>
                      </a:r>
                      <a:endParaRPr/>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2,52%</a:t>
                      </a:r>
                      <a:endParaRPr dirty="0"/>
                    </a:p>
                  </a:txBody>
                  <a:tcPr marL="8425" marR="8425" marT="8425"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sp>
        <p:nvSpPr>
          <p:cNvPr id="391" name="Google Shape;391;p26"/>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a:solidFill>
                  <a:srgbClr val="33448D"/>
                </a:solidFill>
                <a:latin typeface="Roboto"/>
                <a:ea typeface="Roboto"/>
                <a:cs typeface="Roboto"/>
                <a:sym typeface="Roboto"/>
              </a:rPr>
              <a:t>Contratos Perdidos</a:t>
            </a:r>
            <a:endParaRPr sz="2700" b="0" i="0" u="none" strike="noStrike" cap="none">
              <a:solidFill>
                <a:srgbClr val="FFFFFF"/>
              </a:solidFill>
              <a:latin typeface="Roboto"/>
              <a:ea typeface="Roboto"/>
              <a:cs typeface="Roboto"/>
              <a:sym typeface="Roboto"/>
            </a:endParaRPr>
          </a:p>
        </p:txBody>
      </p:sp>
      <p:sp>
        <p:nvSpPr>
          <p:cNvPr id="392" name="Google Shape;392;p26"/>
          <p:cNvSpPr/>
          <p:nvPr/>
        </p:nvSpPr>
        <p:spPr>
          <a:xfrm>
            <a:off x="393700" y="1035781"/>
            <a:ext cx="11625292" cy="499722"/>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000"/>
              <a:buFont typeface="Arial"/>
              <a:buChar char="•"/>
            </a:pPr>
            <a:r>
              <a:rPr lang="es-CL" sz="1000">
                <a:solidFill>
                  <a:schemeClr val="lt1"/>
                </a:solidFill>
                <a:latin typeface="Arial"/>
                <a:ea typeface="Arial"/>
                <a:cs typeface="Arial"/>
                <a:sym typeface="Arial"/>
              </a:rPr>
              <a:t>Durante el año 2026 no se han renovado 17 contratos (13% de la cartera de contratos), no obstante, la mayoría de los clientes sigue preservando el servicio con TECSERVICE</a:t>
            </a:r>
            <a:endParaRPr/>
          </a:p>
          <a:p>
            <a:pPr marL="171450" marR="0" lvl="0" indent="-171450" algn="l" rtl="0">
              <a:spcBef>
                <a:spcPts val="0"/>
              </a:spcBef>
              <a:spcAft>
                <a:spcPts val="0"/>
              </a:spcAft>
              <a:buClr>
                <a:schemeClr val="lt1"/>
              </a:buClr>
              <a:buSzPts val="1000"/>
              <a:buFont typeface="Arial"/>
              <a:buChar char="•"/>
            </a:pPr>
            <a:r>
              <a:rPr lang="es-CL" sz="1000">
                <a:solidFill>
                  <a:schemeClr val="lt1"/>
                </a:solidFill>
                <a:latin typeface="Arial"/>
                <a:ea typeface="Arial"/>
                <a:cs typeface="Arial"/>
                <a:sym typeface="Arial"/>
              </a:rPr>
              <a:t>Fundación ANCHORA UC indica termino de contratos asociados a equipos determinados pero no cliente</a:t>
            </a:r>
            <a:endParaRPr/>
          </a:p>
        </p:txBody>
      </p:sp>
      <p:graphicFrame>
        <p:nvGraphicFramePr>
          <p:cNvPr id="393" name="Google Shape;393;p26"/>
          <p:cNvGraphicFramePr/>
          <p:nvPr>
            <p:extLst>
              <p:ext uri="{D42A27DB-BD31-4B8C-83A1-F6EECF244321}">
                <p14:modId xmlns:p14="http://schemas.microsoft.com/office/powerpoint/2010/main" val="1331676158"/>
              </p:ext>
            </p:extLst>
          </p:nvPr>
        </p:nvGraphicFramePr>
        <p:xfrm>
          <a:off x="380999" y="1799770"/>
          <a:ext cx="11429975" cy="3081225"/>
        </p:xfrm>
        <a:graphic>
          <a:graphicData uri="http://schemas.openxmlformats.org/drawingml/2006/table">
            <a:tbl>
              <a:tblPr>
                <a:noFill/>
                <a:tableStyleId>{13D43741-7D58-4360-86AC-F6E32FA5FF39}</a:tableStyleId>
              </a:tblPr>
              <a:tblGrid>
                <a:gridCol w="1109500">
                  <a:extLst>
                    <a:ext uri="{9D8B030D-6E8A-4147-A177-3AD203B41FA5}">
                      <a16:colId xmlns:a16="http://schemas.microsoft.com/office/drawing/2014/main" val="20000"/>
                    </a:ext>
                  </a:extLst>
                </a:gridCol>
                <a:gridCol w="2620900">
                  <a:extLst>
                    <a:ext uri="{9D8B030D-6E8A-4147-A177-3AD203B41FA5}">
                      <a16:colId xmlns:a16="http://schemas.microsoft.com/office/drawing/2014/main" val="20001"/>
                    </a:ext>
                  </a:extLst>
                </a:gridCol>
                <a:gridCol w="698900">
                  <a:extLst>
                    <a:ext uri="{9D8B030D-6E8A-4147-A177-3AD203B41FA5}">
                      <a16:colId xmlns:a16="http://schemas.microsoft.com/office/drawing/2014/main" val="20002"/>
                    </a:ext>
                  </a:extLst>
                </a:gridCol>
                <a:gridCol w="698900">
                  <a:extLst>
                    <a:ext uri="{9D8B030D-6E8A-4147-A177-3AD203B41FA5}">
                      <a16:colId xmlns:a16="http://schemas.microsoft.com/office/drawing/2014/main" val="20003"/>
                    </a:ext>
                  </a:extLst>
                </a:gridCol>
                <a:gridCol w="698900">
                  <a:extLst>
                    <a:ext uri="{9D8B030D-6E8A-4147-A177-3AD203B41FA5}">
                      <a16:colId xmlns:a16="http://schemas.microsoft.com/office/drawing/2014/main" val="20004"/>
                    </a:ext>
                  </a:extLst>
                </a:gridCol>
                <a:gridCol w="698900">
                  <a:extLst>
                    <a:ext uri="{9D8B030D-6E8A-4147-A177-3AD203B41FA5}">
                      <a16:colId xmlns:a16="http://schemas.microsoft.com/office/drawing/2014/main" val="20005"/>
                    </a:ext>
                  </a:extLst>
                </a:gridCol>
                <a:gridCol w="2387925">
                  <a:extLst>
                    <a:ext uri="{9D8B030D-6E8A-4147-A177-3AD203B41FA5}">
                      <a16:colId xmlns:a16="http://schemas.microsoft.com/office/drawing/2014/main" val="20006"/>
                    </a:ext>
                  </a:extLst>
                </a:gridCol>
                <a:gridCol w="2516050">
                  <a:extLst>
                    <a:ext uri="{9D8B030D-6E8A-4147-A177-3AD203B41FA5}">
                      <a16:colId xmlns:a16="http://schemas.microsoft.com/office/drawing/2014/main" val="20007"/>
                    </a:ext>
                  </a:extLst>
                </a:gridCol>
              </a:tblGrid>
              <a:tr h="564225">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Responsable</a:t>
                      </a:r>
                      <a:endParaRPr/>
                    </a:p>
                  </a:txBody>
                  <a:tcPr marL="8050" marR="8050" marT="8050" marB="0" anchor="ctr">
                    <a:lnL w="9525" cap="flat" cmpd="sng">
                      <a:solidFill>
                        <a:srgbClr val="95B3D7"/>
                      </a:solidFill>
                      <a:prstDash val="solid"/>
                      <a:round/>
                      <a:headEnd type="none" w="sm" len="sm"/>
                      <a:tailEnd type="none" w="sm" len="sm"/>
                    </a:lnL>
                    <a:lnR w="9525" cap="flat" cmpd="sng">
                      <a:solidFill>
                        <a:srgbClr val="95B3D7"/>
                      </a:solidFill>
                      <a:prstDash val="solid"/>
                      <a:round/>
                      <a:headEnd type="none" w="sm" len="sm"/>
                      <a:tailEnd type="none" w="sm" len="sm"/>
                    </a:lnR>
                    <a:lnT w="9525" cap="flat" cmpd="sng">
                      <a:solidFill>
                        <a:srgbClr val="95B3D7"/>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Nombre del cliente</a:t>
                      </a:r>
                      <a:endParaRPr/>
                    </a:p>
                  </a:txBody>
                  <a:tcPr marL="8050" marR="8050" marT="8050" marB="0" anchor="ctr">
                    <a:lnL w="9525" cap="flat" cmpd="sng">
                      <a:solidFill>
                        <a:srgbClr val="95B3D7"/>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5B3D7"/>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Fecha de inicio del contrato</a:t>
                      </a:r>
                      <a:endParaRPr/>
                    </a:p>
                  </a:txBody>
                  <a:tcPr marL="8050" marR="8050" marT="80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5B3D7"/>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Fecha final del contrato</a:t>
                      </a:r>
                      <a:endParaRPr/>
                    </a:p>
                  </a:txBody>
                  <a:tcPr marL="8050" marR="8050" marT="80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5B3D7"/>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Total Contratos</a:t>
                      </a:r>
                      <a:endParaRPr/>
                    </a:p>
                  </a:txBody>
                  <a:tcPr marL="8050" marR="8050" marT="80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5B3D7"/>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 Cartera</a:t>
                      </a:r>
                      <a:endParaRPr/>
                    </a:p>
                  </a:txBody>
                  <a:tcPr marL="8050" marR="8050" marT="80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5B3D7"/>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Comentario</a:t>
                      </a:r>
                      <a:endParaRPr/>
                    </a:p>
                  </a:txBody>
                  <a:tcPr marL="8050" marR="8050" marT="8050" marB="0" anchor="ctr">
                    <a:lnL w="9525" cap="flat" cmpd="sng">
                      <a:solidFill>
                        <a:srgbClr val="000000">
                          <a:alpha val="0"/>
                        </a:srgbClr>
                      </a:solidFill>
                      <a:prstDash val="solid"/>
                      <a:round/>
                      <a:headEnd type="none" w="sm" len="sm"/>
                      <a:tailEnd type="none" w="sm" len="sm"/>
                    </a:lnL>
                    <a:lnR w="9525" cap="flat" cmpd="sng">
                      <a:solidFill>
                        <a:srgbClr val="95B3D7"/>
                      </a:solidFill>
                      <a:prstDash val="solid"/>
                      <a:round/>
                      <a:headEnd type="none" w="sm" len="sm"/>
                      <a:tailEnd type="none" w="sm" len="sm"/>
                    </a:lnR>
                    <a:lnT w="9525" cap="flat" cmpd="sng">
                      <a:solidFill>
                        <a:srgbClr val="95B3D7"/>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tc>
                  <a:txBody>
                    <a:bodyPr/>
                    <a:lstStyle/>
                    <a:p>
                      <a:pPr marL="0" marR="0" lvl="0" indent="0" algn="l" rtl="0">
                        <a:spcBef>
                          <a:spcPts val="0"/>
                        </a:spcBef>
                        <a:spcAft>
                          <a:spcPts val="0"/>
                        </a:spcAft>
                        <a:buClr>
                          <a:srgbClr val="FFFFFF"/>
                        </a:buClr>
                        <a:buSzPts val="900"/>
                        <a:buFont typeface="Calibri"/>
                        <a:buNone/>
                      </a:pPr>
                      <a:r>
                        <a:rPr lang="es-CL" sz="900" b="1" i="0" u="none" strike="noStrike" cap="none">
                          <a:solidFill>
                            <a:srgbClr val="FFFFFF"/>
                          </a:solidFill>
                          <a:latin typeface="Calibri"/>
                          <a:ea typeface="Calibri"/>
                          <a:cs typeface="Calibri"/>
                          <a:sym typeface="Calibri"/>
                        </a:rPr>
                        <a:t>Razon de Perdida</a:t>
                      </a:r>
                      <a:endParaRPr/>
                    </a:p>
                  </a:txBody>
                  <a:tcPr marL="8050" marR="8050" marT="8050" marB="0" anchor="ctr">
                    <a:lnL w="9525" cap="flat" cmpd="sng">
                      <a:solidFill>
                        <a:srgbClr val="95B3D7"/>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solidFill>
                      <a:srgbClr val="0070C0"/>
                    </a:solidFill>
                  </a:tcPr>
                </a:tc>
                <a:extLst>
                  <a:ext uri="{0D108BD9-81ED-4DB2-BD59-A6C34878D82A}">
                    <a16:rowId xmlns:a16="http://schemas.microsoft.com/office/drawing/2014/main" val="10000"/>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FUNDACIÓN OFTALMOLÓGICA LOS ANDES</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12-02-2024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11-02-2026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5.177.375</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0,40%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Sin servicio</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Equipos antiguos no invertiran en contrato</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HOSPITAL CLINICO SAN BORJA-ARRIARAN</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26-06-2024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25-06-2026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43.089.900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3,30%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Licitacion</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HOSPITAL SAN JOSÉ</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04-05-2023</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03-05-2026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24.065.784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1,90%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ES" sz="900" b="0" i="0" u="none" strike="noStrike" cap="none" dirty="0">
                          <a:solidFill>
                            <a:srgbClr val="000000"/>
                          </a:solidFill>
                          <a:latin typeface="Calibri"/>
                          <a:ea typeface="Calibri"/>
                          <a:cs typeface="Calibri"/>
                          <a:sym typeface="Calibri"/>
                        </a:rPr>
                        <a:t>E</a:t>
                      </a:r>
                      <a:r>
                        <a:rPr lang="es-CL" sz="900" b="0" i="0" u="none" strike="noStrike" cap="none" dirty="0">
                          <a:solidFill>
                            <a:srgbClr val="000000"/>
                          </a:solidFill>
                          <a:latin typeface="Calibri"/>
                          <a:ea typeface="Calibri"/>
                          <a:cs typeface="Calibri"/>
                          <a:sym typeface="Calibri"/>
                        </a:rPr>
                        <a:t>quipos dados de baja</a:t>
                      </a:r>
                      <a:endParaRPr sz="900" b="0" i="0" u="none" strike="noStrike" cap="none" dirty="0">
                        <a:solidFill>
                          <a:srgbClr val="000000"/>
                        </a:solidFill>
                        <a:latin typeface="Calibri"/>
                        <a:ea typeface="Calibri"/>
                        <a:cs typeface="Calibri"/>
                        <a:sym typeface="Calibri"/>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 Equipos dado de baja</a:t>
                      </a:r>
                      <a:endParaRPr dirty="0"/>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HOSPITAL SAN JOSÉ</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09-08-2023</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08-08-2026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6.989.760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0,50%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ES" sz="900" b="0" i="0" u="none" strike="noStrike" cap="none" dirty="0">
                          <a:solidFill>
                            <a:srgbClr val="000000"/>
                          </a:solidFill>
                          <a:latin typeface="Calibri"/>
                          <a:ea typeface="Calibri"/>
                          <a:cs typeface="Calibri"/>
                          <a:sym typeface="Calibri"/>
                        </a:rPr>
                        <a:t>E</a:t>
                      </a:r>
                      <a:r>
                        <a:rPr lang="es-CL" sz="900" b="0" i="0" u="none" strike="noStrike" cap="none" dirty="0">
                          <a:solidFill>
                            <a:srgbClr val="000000"/>
                          </a:solidFill>
                          <a:latin typeface="Calibri"/>
                          <a:ea typeface="Calibri"/>
                          <a:cs typeface="Calibri"/>
                          <a:sym typeface="Calibri"/>
                        </a:rPr>
                        <a:t>n proceso nuevo contrato</a:t>
                      </a:r>
                      <a:endParaRPr sz="900" b="0" i="0" u="none" strike="noStrike" cap="none" dirty="0">
                        <a:solidFill>
                          <a:srgbClr val="000000"/>
                        </a:solidFill>
                        <a:latin typeface="Calibri"/>
                        <a:ea typeface="Calibri"/>
                        <a:cs typeface="Calibri"/>
                        <a:sym typeface="Calibri"/>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 </a:t>
                      </a:r>
                      <a:endParaRPr dirty="0"/>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Eglys Ramirez</a:t>
                      </a:r>
                      <a:endParaRPr sz="900" b="0" i="0" u="none" strike="noStrike" cap="none">
                        <a:solidFill>
                          <a:srgbClr val="000000"/>
                        </a:solidFill>
                        <a:latin typeface="Arial"/>
                        <a:ea typeface="Arial"/>
                        <a:cs typeface="Arial"/>
                        <a:sym typeface="Arial"/>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I.MUNICIPALIDAD DE LA UNION</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24-02-2025</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23-02-2026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3.308.250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0,30%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En negociación</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Eglys Ramirez</a:t>
                      </a:r>
                      <a:endParaRPr sz="900" b="0" i="0" u="none" strike="noStrike" cap="none">
                        <a:solidFill>
                          <a:srgbClr val="000000"/>
                        </a:solidFill>
                        <a:latin typeface="Arial"/>
                        <a:ea typeface="Arial"/>
                        <a:cs typeface="Arial"/>
                        <a:sym typeface="Arial"/>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Los Alamos</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18-02-2025</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17-02-2026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8.939.285</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0,70%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Proceso contrato por trato directo</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HOSPITAL LUIS CALVO MACKENNA</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18-01-2024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17-01-2026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7.296.300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0,60%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Adjudicado 24 meses</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7"/>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COMPLEJO ASISTENCIAL DR SOTERO DEL RIO</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23-01-2026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22-07-2026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39.022.480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3,00%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ES" sz="900" b="0" i="0" u="none" strike="noStrike" cap="none" dirty="0">
                          <a:solidFill>
                            <a:srgbClr val="000000"/>
                          </a:solidFill>
                          <a:latin typeface="Calibri"/>
                          <a:ea typeface="Calibri"/>
                          <a:cs typeface="Calibri"/>
                          <a:sym typeface="Calibri"/>
                        </a:rPr>
                        <a:t>N</a:t>
                      </a:r>
                      <a:r>
                        <a:rPr lang="es-CL" sz="900" b="0" i="0" u="none" strike="noStrike" cap="none" dirty="0" err="1">
                          <a:solidFill>
                            <a:srgbClr val="000000"/>
                          </a:solidFill>
                          <a:latin typeface="Calibri"/>
                          <a:ea typeface="Calibri"/>
                          <a:cs typeface="Calibri"/>
                          <a:sym typeface="Calibri"/>
                        </a:rPr>
                        <a:t>uevo</a:t>
                      </a:r>
                      <a:r>
                        <a:rPr lang="es-CL" sz="900" b="0" i="0" u="none" strike="noStrike" cap="none" dirty="0">
                          <a:solidFill>
                            <a:srgbClr val="000000"/>
                          </a:solidFill>
                          <a:latin typeface="Calibri"/>
                          <a:ea typeface="Calibri"/>
                          <a:cs typeface="Calibri"/>
                          <a:sym typeface="Calibri"/>
                        </a:rPr>
                        <a:t> contrato</a:t>
                      </a:r>
                      <a:endParaRPr dirty="0"/>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8"/>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Eglys Ramirez</a:t>
                      </a:r>
                      <a:endParaRPr sz="900" b="0" i="0" u="none" strike="noStrike" cap="none">
                        <a:solidFill>
                          <a:srgbClr val="000000"/>
                        </a:solidFill>
                        <a:latin typeface="Arial"/>
                        <a:ea typeface="Arial"/>
                        <a:cs typeface="Arial"/>
                        <a:sym typeface="Arial"/>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HOSPITAL METROPOLITANO DE SANTIAGO</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19-03-2024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18-03-2026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6.646.990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0,50%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dirty="0">
                          <a:solidFill>
                            <a:srgbClr val="000000"/>
                          </a:solidFill>
                          <a:latin typeface="Calibri"/>
                          <a:ea typeface="Calibri"/>
                          <a:cs typeface="Calibri"/>
                          <a:sym typeface="Calibri"/>
                        </a:rPr>
                        <a:t>Equipo ya no comercializado mamógrafo</a:t>
                      </a:r>
                      <a:endParaRPr dirty="0"/>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9"/>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INSTITUTO NACIONAL DEL CANCER</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07-06-2024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06-06-2026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2.669.508</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0,20%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ES" sz="900" b="0" i="0" u="none" strike="noStrike" cap="none" dirty="0">
                          <a:solidFill>
                            <a:srgbClr val="000000"/>
                          </a:solidFill>
                          <a:latin typeface="Calibri"/>
                          <a:ea typeface="Calibri"/>
                          <a:cs typeface="Calibri"/>
                          <a:sym typeface="Calibri"/>
                        </a:rPr>
                        <a:t>A</a:t>
                      </a:r>
                      <a:r>
                        <a:rPr lang="es-CL" sz="900" b="0" i="0" u="none" strike="noStrike" cap="none" dirty="0" err="1">
                          <a:solidFill>
                            <a:srgbClr val="000000"/>
                          </a:solidFill>
                          <a:latin typeface="Calibri"/>
                          <a:ea typeface="Calibri"/>
                          <a:cs typeface="Calibri"/>
                          <a:sym typeface="Calibri"/>
                        </a:rPr>
                        <a:t>djudicado</a:t>
                      </a:r>
                      <a:endParaRPr dirty="0"/>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 </a:t>
                      </a:r>
                      <a:endParaRPr dirty="0"/>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10"/>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Cristian Perez</a:t>
                      </a:r>
                      <a:endParaRPr sz="900" b="0" i="0" u="none" strike="noStrike" cap="none">
                        <a:solidFill>
                          <a:srgbClr val="000000"/>
                        </a:solidFill>
                        <a:latin typeface="Arial"/>
                        <a:ea typeface="Arial"/>
                        <a:cs typeface="Arial"/>
                        <a:sym typeface="Arial"/>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I. Municipalidad de Parral - Dpto Salud</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17-01-2024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16-01-2026</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5.682.924</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0,40%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sin servicio</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No hay respuesta de cliente, nos deben</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11"/>
                  </a:ext>
                </a:extLst>
              </a:tr>
              <a:tr h="209750">
                <a:tc>
                  <a:txBody>
                    <a:bodyPr/>
                    <a:lstStyle/>
                    <a:p>
                      <a:pPr marL="0" marR="0" lvl="0" indent="0" algn="l" rtl="0">
                        <a:spcBef>
                          <a:spcPts val="0"/>
                        </a:spcBef>
                        <a:spcAft>
                          <a:spcPts val="0"/>
                        </a:spcAft>
                        <a:buClr>
                          <a:srgbClr val="000000"/>
                        </a:buClr>
                        <a:buSzPts val="900"/>
                        <a:buFont typeface="Arial"/>
                        <a:buNone/>
                      </a:pPr>
                      <a:r>
                        <a:rPr lang="es-CL" sz="900" b="0" i="0" u="none" strike="noStrike" cap="none">
                          <a:solidFill>
                            <a:srgbClr val="000000"/>
                          </a:solidFill>
                          <a:latin typeface="Arial"/>
                          <a:ea typeface="Arial"/>
                          <a:cs typeface="Arial"/>
                          <a:sym typeface="Arial"/>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Total</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186.918.320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13,0%</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Calibri"/>
                        <a:buNone/>
                      </a:pPr>
                      <a:r>
                        <a:rPr lang="es-CL" sz="900" b="0" i="0" u="none" strike="noStrike" cap="none">
                          <a:solidFill>
                            <a:srgbClr val="000000"/>
                          </a:solidFill>
                          <a:latin typeface="Calibri"/>
                          <a:ea typeface="Calibri"/>
                          <a:cs typeface="Calibri"/>
                          <a:sym typeface="Calibri"/>
                        </a:rPr>
                        <a:t> </a:t>
                      </a:r>
                      <a:endParaRPr/>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900"/>
                        <a:buFont typeface="Arial"/>
                        <a:buNone/>
                      </a:pPr>
                      <a:r>
                        <a:rPr lang="es-CL" sz="900" b="0" i="0" u="none" strike="noStrike" cap="none" dirty="0">
                          <a:solidFill>
                            <a:srgbClr val="000000"/>
                          </a:solidFill>
                          <a:latin typeface="Arial"/>
                          <a:ea typeface="Arial"/>
                          <a:cs typeface="Arial"/>
                          <a:sym typeface="Arial"/>
                        </a:rPr>
                        <a:t> </a:t>
                      </a:r>
                      <a:endParaRPr dirty="0"/>
                    </a:p>
                  </a:txBody>
                  <a:tcPr marL="8050" marR="8050" marT="8050"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12"/>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C2B3377A-F1E3-BD86-BD28-3CD3D01C9A4A}"/>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928DD958-9C70-B581-F2BD-9B6F02BB014B}"/>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B1F28129-34B4-631C-9A7B-14C3F146D54E}"/>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Contratos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71E54197-7BE9-3C24-457D-538306EC50C5}"/>
              </a:ext>
            </a:extLst>
          </p:cNvPr>
          <p:cNvSpPr/>
          <p:nvPr/>
        </p:nvSpPr>
        <p:spPr>
          <a:xfrm>
            <a:off x="393700" y="3853834"/>
            <a:ext cx="11312345" cy="520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13156365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28"/>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a:solidFill>
                  <a:srgbClr val="33448D"/>
                </a:solidFill>
                <a:latin typeface="Roboto"/>
                <a:ea typeface="Roboto"/>
                <a:cs typeface="Roboto"/>
                <a:sym typeface="Roboto"/>
              </a:rPr>
              <a:t>Encuesta de Satisfacción</a:t>
            </a:r>
            <a:endParaRPr sz="2700" b="0" i="0" u="none" strike="noStrike" cap="none">
              <a:solidFill>
                <a:srgbClr val="FFFFFF"/>
              </a:solidFill>
              <a:latin typeface="Roboto"/>
              <a:ea typeface="Roboto"/>
              <a:cs typeface="Roboto"/>
              <a:sym typeface="Roboto"/>
            </a:endParaRPr>
          </a:p>
        </p:txBody>
      </p:sp>
      <p:pic>
        <p:nvPicPr>
          <p:cNvPr id="4" name="Imagen 3">
            <a:extLst>
              <a:ext uri="{FF2B5EF4-FFF2-40B4-BE49-F238E27FC236}">
                <a16:creationId xmlns:a16="http://schemas.microsoft.com/office/drawing/2014/main" id="{20FF1E26-DE99-85C3-26BD-05B05AE08BC5}"/>
              </a:ext>
            </a:extLst>
          </p:cNvPr>
          <p:cNvPicPr>
            <a:picLocks noChangeAspect="1"/>
          </p:cNvPicPr>
          <p:nvPr/>
        </p:nvPicPr>
        <p:blipFill>
          <a:blip r:embed="rId3"/>
          <a:srcRect t="4724"/>
          <a:stretch>
            <a:fillRect/>
          </a:stretch>
        </p:blipFill>
        <p:spPr>
          <a:xfrm>
            <a:off x="1641000" y="917025"/>
            <a:ext cx="9315000" cy="5925718"/>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10"/>
        <p:cNvGrpSpPr/>
        <p:nvPr/>
      </p:nvGrpSpPr>
      <p:grpSpPr>
        <a:xfrm>
          <a:off x="0" y="0"/>
          <a:ext cx="0" cy="0"/>
          <a:chOff x="0" y="0"/>
          <a:chExt cx="0" cy="0"/>
        </a:xfrm>
      </p:grpSpPr>
      <p:sp>
        <p:nvSpPr>
          <p:cNvPr id="411" name="Google Shape;411;p29"/>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a:solidFill>
                  <a:srgbClr val="33448D"/>
                </a:solidFill>
                <a:latin typeface="Roboto"/>
                <a:ea typeface="Roboto"/>
                <a:cs typeface="Roboto"/>
                <a:sym typeface="Roboto"/>
              </a:rPr>
              <a:t>Encuesta de Satisfacción - Detractores</a:t>
            </a:r>
            <a:endParaRPr sz="2700" b="0" i="0" u="none" strike="noStrike" cap="none">
              <a:solidFill>
                <a:srgbClr val="FFFFFF"/>
              </a:solidFill>
              <a:latin typeface="Roboto"/>
              <a:ea typeface="Roboto"/>
              <a:cs typeface="Roboto"/>
              <a:sym typeface="Roboto"/>
            </a:endParaRPr>
          </a:p>
        </p:txBody>
      </p:sp>
      <p:graphicFrame>
        <p:nvGraphicFramePr>
          <p:cNvPr id="412" name="Google Shape;412;p29"/>
          <p:cNvGraphicFramePr/>
          <p:nvPr>
            <p:extLst>
              <p:ext uri="{D42A27DB-BD31-4B8C-83A1-F6EECF244321}">
                <p14:modId xmlns:p14="http://schemas.microsoft.com/office/powerpoint/2010/main" val="229164777"/>
              </p:ext>
            </p:extLst>
          </p:nvPr>
        </p:nvGraphicFramePr>
        <p:xfrm>
          <a:off x="291000" y="928913"/>
          <a:ext cx="11610000" cy="5276786"/>
        </p:xfrm>
        <a:graphic>
          <a:graphicData uri="http://schemas.openxmlformats.org/drawingml/2006/table">
            <a:tbl>
              <a:tblPr>
                <a:noFill/>
                <a:tableStyleId>{13D43741-7D58-4360-86AC-F6E32FA5FF39}</a:tableStyleId>
              </a:tblPr>
              <a:tblGrid>
                <a:gridCol w="2231454">
                  <a:extLst>
                    <a:ext uri="{9D8B030D-6E8A-4147-A177-3AD203B41FA5}">
                      <a16:colId xmlns:a16="http://schemas.microsoft.com/office/drawing/2014/main" val="20000"/>
                    </a:ext>
                  </a:extLst>
                </a:gridCol>
                <a:gridCol w="1811032">
                  <a:extLst>
                    <a:ext uri="{9D8B030D-6E8A-4147-A177-3AD203B41FA5}">
                      <a16:colId xmlns:a16="http://schemas.microsoft.com/office/drawing/2014/main" val="20001"/>
                    </a:ext>
                  </a:extLst>
                </a:gridCol>
                <a:gridCol w="3120788">
                  <a:extLst>
                    <a:ext uri="{9D8B030D-6E8A-4147-A177-3AD203B41FA5}">
                      <a16:colId xmlns:a16="http://schemas.microsoft.com/office/drawing/2014/main" val="20002"/>
                    </a:ext>
                  </a:extLst>
                </a:gridCol>
                <a:gridCol w="1051041">
                  <a:extLst>
                    <a:ext uri="{9D8B030D-6E8A-4147-A177-3AD203B41FA5}">
                      <a16:colId xmlns:a16="http://schemas.microsoft.com/office/drawing/2014/main" val="20003"/>
                    </a:ext>
                  </a:extLst>
                </a:gridCol>
                <a:gridCol w="3395685">
                  <a:extLst>
                    <a:ext uri="{9D8B030D-6E8A-4147-A177-3AD203B41FA5}">
                      <a16:colId xmlns:a16="http://schemas.microsoft.com/office/drawing/2014/main" val="20004"/>
                    </a:ext>
                  </a:extLst>
                </a:gridCol>
              </a:tblGrid>
              <a:tr h="279037">
                <a:tc>
                  <a:txBody>
                    <a:bodyPr/>
                    <a:lstStyle/>
                    <a:p>
                      <a:pPr marL="0" marR="0" lvl="0" indent="0" algn="l" rtl="0">
                        <a:spcBef>
                          <a:spcPts val="0"/>
                        </a:spcBef>
                        <a:spcAft>
                          <a:spcPts val="0"/>
                        </a:spcAft>
                        <a:buClr>
                          <a:schemeClr val="dk1"/>
                        </a:buClr>
                        <a:buSzPts val="1000"/>
                        <a:buFont typeface="Arial"/>
                        <a:buNone/>
                      </a:pPr>
                      <a:r>
                        <a:rPr lang="es-CL" sz="900" b="1" i="0" u="none" strike="noStrike" cap="none">
                          <a:solidFill>
                            <a:schemeClr val="dk1"/>
                          </a:solidFill>
                          <a:latin typeface="Arial"/>
                          <a:ea typeface="Arial"/>
                          <a:cs typeface="Arial"/>
                          <a:sym typeface="Arial"/>
                        </a:rPr>
                        <a:t>Cliente</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000"/>
                        <a:buFont typeface="Arial"/>
                        <a:buNone/>
                      </a:pPr>
                      <a:r>
                        <a:rPr lang="es-CL" sz="900" b="1" i="0" u="none" strike="noStrike" cap="none">
                          <a:solidFill>
                            <a:schemeClr val="dk1"/>
                          </a:solidFill>
                          <a:latin typeface="Arial"/>
                          <a:ea typeface="Arial"/>
                          <a:cs typeface="Arial"/>
                          <a:sym typeface="Arial"/>
                        </a:rPr>
                        <a:t>Responsable</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000"/>
                        <a:buFont typeface="Arial"/>
                        <a:buNone/>
                      </a:pPr>
                      <a:r>
                        <a:rPr lang="es-CL" sz="900" b="1" i="0" u="none" strike="noStrike" cap="none">
                          <a:solidFill>
                            <a:schemeClr val="dk1"/>
                          </a:solidFill>
                          <a:latin typeface="Arial"/>
                          <a:ea typeface="Arial"/>
                          <a:cs typeface="Arial"/>
                          <a:sym typeface="Arial"/>
                        </a:rPr>
                        <a:t>Plan</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000"/>
                        <a:buFont typeface="Arial"/>
                        <a:buNone/>
                      </a:pPr>
                      <a:r>
                        <a:rPr lang="es-CL" sz="900" b="1" i="0" u="none" strike="noStrike" cap="none">
                          <a:solidFill>
                            <a:schemeClr val="dk1"/>
                          </a:solidFill>
                          <a:latin typeface="Arial"/>
                          <a:ea typeface="Arial"/>
                          <a:cs typeface="Arial"/>
                          <a:sym typeface="Arial"/>
                        </a:rPr>
                        <a:t>Fecha de Implementación</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Clr>
                          <a:schemeClr val="dk1"/>
                        </a:buClr>
                        <a:buSzPts val="1000"/>
                        <a:buFont typeface="Arial"/>
                        <a:buNone/>
                      </a:pPr>
                      <a:r>
                        <a:rPr lang="es-CL" sz="900" b="1" i="0" u="none" strike="noStrike" cap="none">
                          <a:solidFill>
                            <a:schemeClr val="dk1"/>
                          </a:solidFill>
                          <a:latin typeface="Arial"/>
                          <a:ea typeface="Arial"/>
                          <a:cs typeface="Arial"/>
                          <a:sym typeface="Arial"/>
                        </a:rPr>
                        <a:t>Descripción Caso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chemeClr val="lt1"/>
                    </a:solidFill>
                  </a:tcPr>
                </a:tc>
                <a:extLst>
                  <a:ext uri="{0D108BD9-81ED-4DB2-BD59-A6C34878D82A}">
                    <a16:rowId xmlns:a16="http://schemas.microsoft.com/office/drawing/2014/main" val="10000"/>
                  </a:ext>
                </a:extLst>
              </a:tr>
              <a:tr h="588792">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HOSPITAL DE LLANQUIHUE</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Cynthia Alvarado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SE PROGRAMA VISITA PARA REVISAR SELLADORA Y REALIZAR CAPACITACIÓN, QUEDANDO EL EQUIPO OPERATIVO Y PERSONAL CAPACITADO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19-02-2026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EL EQUIPO ESTÁ SELLANDO DE FORMA INTERMITENTE Y PRESENTA UN SONIDO AGUDO, ADEMÁS SOLICITA CAPACITACIÓN ONLINE CON ALGUNO DE LOS INGENIEROS DE SERVICIO + APOYO EN CONFIGURACIÓN DE SELLADORA MELASEAL 300.</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823025">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CLINICA DAVILA VESPUCIO3 resp.</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Patricia Guzmán</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CONSEGUIR REPUESTO E INFORMAR AL CLIENTE QUE YA NO SOMOS REPRESENTANTES DE LA MARCA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14-01-2026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SOLICITAN ENVÍO DE REPUESTO DE OC QUE NO ENVIARON A ST, HASTA ESE MOMENTO 2 MESES DESPUÉS, EL REPUESTO ERA DE MARCA DABI ATLANTE Y NOS COSTÓ CONSEGUIERLO YA QUE NO SOMOS REPRESENTANTES ACTUALES, LO CONSEGUIMOS Y LES RESOLVIMOS EL INCONVENIENTE</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237442">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HOSPITAL SAN CAMILO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Maria de Los Angeles Colina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REVISIÓN EN TALLER DE ST/EVALUAR CON FÁBRICA SOLUCIÓN/CAMBIO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31-08-2026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EQUIPO CON FALLA RECURRENTE</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120325">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ACHS</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354558">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HOSPITAL BASE SAN JOSE OSORNO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dirty="0" err="1">
                          <a:solidFill>
                            <a:srgbClr val="000000"/>
                          </a:solidFill>
                          <a:latin typeface="Arial"/>
                          <a:ea typeface="Arial"/>
                          <a:cs typeface="Arial"/>
                          <a:sym typeface="Arial"/>
                        </a:rPr>
                        <a:t>Maria</a:t>
                      </a:r>
                      <a:r>
                        <a:rPr lang="es-CL" sz="900" b="0" i="0" u="none" strike="noStrike" cap="none" dirty="0">
                          <a:solidFill>
                            <a:srgbClr val="000000"/>
                          </a:solidFill>
                          <a:latin typeface="Arial"/>
                          <a:ea typeface="Arial"/>
                          <a:cs typeface="Arial"/>
                          <a:sym typeface="Arial"/>
                        </a:rPr>
                        <a:t> de Los </a:t>
                      </a:r>
                      <a:r>
                        <a:rPr lang="es-CL" sz="900" b="0" i="0" u="none" strike="noStrike" cap="none" dirty="0" err="1">
                          <a:solidFill>
                            <a:srgbClr val="000000"/>
                          </a:solidFill>
                          <a:latin typeface="Arial"/>
                          <a:ea typeface="Arial"/>
                          <a:cs typeface="Arial"/>
                          <a:sym typeface="Arial"/>
                        </a:rPr>
                        <a:t>Angeles</a:t>
                      </a:r>
                      <a:r>
                        <a:rPr lang="es-CL" sz="900" b="0" i="0" u="none" strike="noStrike" cap="none" dirty="0">
                          <a:solidFill>
                            <a:srgbClr val="000000"/>
                          </a:solidFill>
                          <a:latin typeface="Arial"/>
                          <a:ea typeface="Arial"/>
                          <a:cs typeface="Arial"/>
                          <a:sym typeface="Arial"/>
                        </a:rPr>
                        <a:t> Colina</a:t>
                      </a:r>
                      <a:endParaRPr sz="1200" dirty="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UNA VEZ LELGUE EL REPUESTO QUE SE SOLICITÓ DE MANERA PRIORITARIA, ASISTIR A REPARAR</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15-09-2026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EQUIPO DE SEDILE DETENIDO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471675">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SCMS</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Elizabeth Gálvez</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ASISTIMOS AL CLIENTE PARA REVISAR ANTECEDENTES, ESPERAMOS LA RESOLUCIÓN DE LA INVESTIGACIÓN, PARA EVALUAR ACCIONES</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EQUIPO SINIESTRADO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r h="354558">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ISM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Cynthia Alvarado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SE LLAMÓ POR TELÉFONO DÓNDE INDICÓ QUE NO SABÍA A QUÉ CORRESPONDÍA LA ENCUENTA Y SE EQUIVOCÓ AL EVALUAR</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16-06-2026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NO SABÍA A QUÉ CORRESPONDÍA, SE EQUIVOCÓ</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7"/>
                  </a:ext>
                </a:extLst>
              </a:tr>
              <a:tr h="237442">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COOPORACION MUNICIPAL DE LAMPA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No hay casos asociados a ese cliente en sistema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 </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8"/>
                  </a:ext>
                </a:extLst>
              </a:tr>
              <a:tr h="354558">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HOSPITAL CARLOS VAN BUREN</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Maria de Los Angeles Colina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UNA VEZ LELGUE EL REPUESTO QUE SE SOLICITÓ DE MANERA PRIORITARIA, ASISTIR A REPARAR</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15-09-2026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EQUIPO DE SEDILE DETENIDO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9"/>
                  </a:ext>
                </a:extLst>
              </a:tr>
              <a:tr h="237442">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CLINICA DERMATOLOGICA DRA DIANA YANINE</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Matilde Carrillo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SE SOLICITÓ CELERIDAD EN ENVÍO DE FACTURA A CLIENTE Y YA LA RECIBIÓ</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14-01-2026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MOLESTIA POR LA DEMORA EN ENVÍO DE FACTURA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10"/>
                  </a:ext>
                </a:extLst>
              </a:tr>
              <a:tr h="471675">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HOSPITAL DE PUERTO AYSEN</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Maria de Los Angeles Colina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SE SOLICITARON PROGRAMAS A FÁBRICA PARA VOLVER A CARGARLOS EN EL EQUIPO Y PODER DIAGNÓSTICAR, YA LLEGARON, SE REALIZARÁ LA ACCIÓN</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01-09-2026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EQUIPO CON FALLA RECURRENTE, SE ENVIÓ A ST PARA REVISIÓN</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11"/>
                  </a:ext>
                </a:extLst>
              </a:tr>
              <a:tr h="354558">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HOSPITAL CLINICO SANBORJA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Cynthia Alvarado</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SE OFRECIÓ AL CLIENTE VISITA DE DIAGNÓSTICO DE NUESTRO ST, ESPERAMOS RESPUESTA</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spcBef>
                          <a:spcPts val="0"/>
                        </a:spcBef>
                        <a:spcAft>
                          <a:spcPts val="0"/>
                        </a:spcAft>
                        <a:buClr>
                          <a:srgbClr val="000000"/>
                        </a:buClr>
                        <a:buSzPts val="1000"/>
                        <a:buFont typeface="Arial"/>
                        <a:buNone/>
                      </a:pPr>
                      <a:r>
                        <a:rPr lang="es-CL" sz="900" b="0" i="0" u="none" strike="noStrike" cap="none">
                          <a:solidFill>
                            <a:srgbClr val="000000"/>
                          </a:solidFill>
                          <a:latin typeface="Arial"/>
                          <a:ea typeface="Arial"/>
                          <a:cs typeface="Arial"/>
                          <a:sym typeface="Arial"/>
                        </a:rPr>
                        <a:t>18-08-2026</a:t>
                      </a:r>
                      <a:endParaRPr sz="120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Arial"/>
                        <a:buNone/>
                      </a:pPr>
                      <a:r>
                        <a:rPr lang="es-CL" sz="900" b="0" i="0" u="none" strike="noStrike" cap="none" dirty="0">
                          <a:solidFill>
                            <a:srgbClr val="000000"/>
                          </a:solidFill>
                          <a:latin typeface="Arial"/>
                          <a:ea typeface="Arial"/>
                          <a:cs typeface="Arial"/>
                          <a:sym typeface="Arial"/>
                        </a:rPr>
                        <a:t>EQUIPO CON FALLA DIAGNÓSTICADO POR ST EXTERNO, QUERÍAN COMPRARNOS SOLO EL REPUESTO </a:t>
                      </a:r>
                      <a:endParaRPr sz="1200" dirty="0"/>
                    </a:p>
                  </a:txBody>
                  <a:tcPr marL="4175" marR="4175" marT="4175" marB="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12"/>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F8A83204-05A4-9AC5-9834-FD93596707AE}"/>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CB981F3E-0BF2-05B0-9010-AB322118C5CC}"/>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851655F4-2750-DF60-2227-6D8C87BF9AAC}"/>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Contratos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78087892-0016-BCD8-33E0-B43F4E9723E6}"/>
              </a:ext>
            </a:extLst>
          </p:cNvPr>
          <p:cNvSpPr/>
          <p:nvPr/>
        </p:nvSpPr>
        <p:spPr>
          <a:xfrm>
            <a:off x="393700" y="4393834"/>
            <a:ext cx="11312345" cy="520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21604831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23"/>
        <p:cNvGrpSpPr/>
        <p:nvPr/>
      </p:nvGrpSpPr>
      <p:grpSpPr>
        <a:xfrm>
          <a:off x="0" y="0"/>
          <a:ext cx="0" cy="0"/>
          <a:chOff x="0" y="0"/>
          <a:chExt cx="0" cy="0"/>
        </a:xfrm>
      </p:grpSpPr>
      <p:sp>
        <p:nvSpPr>
          <p:cNvPr id="424" name="Google Shape;424;p31"/>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Prospectos Clientes Según Renovación Base Instalada</a:t>
            </a:r>
            <a:endParaRPr/>
          </a:p>
        </p:txBody>
      </p:sp>
      <p:sp>
        <p:nvSpPr>
          <p:cNvPr id="425" name="Google Shape;425;p31"/>
          <p:cNvSpPr/>
          <p:nvPr/>
        </p:nvSpPr>
        <p:spPr>
          <a:xfrm>
            <a:off x="204679" y="4178333"/>
            <a:ext cx="11785759" cy="2536791"/>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Actualmente, existen 12.557 equipos instalados en 1.512 clientes, con una valorización de MM$35.540,5 para 2.129 equipos valorizados.</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714 equipos ya cumplieron su vida útil, representando un valor a renovar de MM$3.433,0.</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Entre 2026 y 2033, se identifican 3.596 equipos que cumplen su vida útil, con un valor potencial de renovación de MM$16.207,1.</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2026 concentra 162 equipos, equivalentes a MM$840,6 de potencial de renovación.</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El mayor volumen de renovación se concentra entre 2027 y 2029, con 2.803 equipos y MM$5.431,3 de valor potencial.</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Dental concentra el mayor número de equipos con vencimiento, con 1.178 equipos y MM$3.112,2, seguido por Esterilización con 832 equipos y MM$13.406,0.</a:t>
            </a:r>
          </a:p>
          <a:p>
            <a:pPr marL="171450" marR="0" lvl="0" indent="-171450" algn="l" rtl="0">
              <a:spcBef>
                <a:spcPts val="0"/>
              </a:spcBef>
              <a:spcAft>
                <a:spcPts val="0"/>
              </a:spcAft>
              <a:buClr>
                <a:schemeClr val="lt1"/>
              </a:buClr>
              <a:buSzPts val="1200"/>
              <a:buFont typeface="Arial"/>
              <a:buChar char="•"/>
            </a:pPr>
            <a:endParaRPr lang="es-MX"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MX" sz="1200" dirty="0">
                <a:solidFill>
                  <a:schemeClr val="lt1"/>
                </a:solidFill>
                <a:latin typeface="Arial"/>
                <a:ea typeface="Arial"/>
                <a:cs typeface="Arial"/>
                <a:sym typeface="Arial"/>
              </a:rPr>
              <a:t>La distribución de vencimientos permite construir un pipeline de renovación de largo plazo, priorizando inicialmente los 714 equipos que ya cumplieron su vida útil.</a:t>
            </a:r>
          </a:p>
        </p:txBody>
      </p:sp>
      <p:pic>
        <p:nvPicPr>
          <p:cNvPr id="4" name="Imagen 3">
            <a:extLst>
              <a:ext uri="{FF2B5EF4-FFF2-40B4-BE49-F238E27FC236}">
                <a16:creationId xmlns:a16="http://schemas.microsoft.com/office/drawing/2014/main" id="{75A50432-77EB-1CE5-2B4A-C77426CB7D01}"/>
              </a:ext>
            </a:extLst>
          </p:cNvPr>
          <p:cNvPicPr>
            <a:picLocks noChangeAspect="1"/>
          </p:cNvPicPr>
          <p:nvPr/>
        </p:nvPicPr>
        <p:blipFill>
          <a:blip r:embed="rId3"/>
          <a:srcRect t="20875"/>
          <a:stretch>
            <a:fillRect/>
          </a:stretch>
        </p:blipFill>
        <p:spPr>
          <a:xfrm>
            <a:off x="0" y="864000"/>
            <a:ext cx="12192000" cy="1517054"/>
          </a:xfrm>
          <a:prstGeom prst="rect">
            <a:avLst/>
          </a:prstGeom>
        </p:spPr>
      </p:pic>
      <p:pic>
        <p:nvPicPr>
          <p:cNvPr id="7" name="Imagen 6">
            <a:extLst>
              <a:ext uri="{FF2B5EF4-FFF2-40B4-BE49-F238E27FC236}">
                <a16:creationId xmlns:a16="http://schemas.microsoft.com/office/drawing/2014/main" id="{90BFB603-A708-C9DA-E16A-29C7096BEF68}"/>
              </a:ext>
            </a:extLst>
          </p:cNvPr>
          <p:cNvPicPr>
            <a:picLocks noChangeAspect="1"/>
          </p:cNvPicPr>
          <p:nvPr/>
        </p:nvPicPr>
        <p:blipFill>
          <a:blip r:embed="rId4"/>
          <a:srcRect t="13010" b="12340"/>
          <a:stretch>
            <a:fillRect/>
          </a:stretch>
        </p:blipFill>
        <p:spPr>
          <a:xfrm>
            <a:off x="12700" y="2085829"/>
            <a:ext cx="12192000" cy="2077247"/>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31"/>
        <p:cNvGrpSpPr/>
        <p:nvPr/>
      </p:nvGrpSpPr>
      <p:grpSpPr>
        <a:xfrm>
          <a:off x="0" y="0"/>
          <a:ext cx="0" cy="0"/>
          <a:chOff x="0" y="0"/>
          <a:chExt cx="0" cy="0"/>
        </a:xfrm>
      </p:grpSpPr>
      <p:sp>
        <p:nvSpPr>
          <p:cNvPr id="432" name="Google Shape;432;p32"/>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Base Instalada a Renovar por Región </a:t>
            </a:r>
            <a:endParaRPr/>
          </a:p>
        </p:txBody>
      </p:sp>
      <p:pic>
        <p:nvPicPr>
          <p:cNvPr id="3" name="Imagen 2">
            <a:extLst>
              <a:ext uri="{FF2B5EF4-FFF2-40B4-BE49-F238E27FC236}">
                <a16:creationId xmlns:a16="http://schemas.microsoft.com/office/drawing/2014/main" id="{5E0AEE83-9368-5D85-BB55-457C3935CA4B}"/>
              </a:ext>
            </a:extLst>
          </p:cNvPr>
          <p:cNvPicPr>
            <a:picLocks noChangeAspect="1"/>
          </p:cNvPicPr>
          <p:nvPr/>
        </p:nvPicPr>
        <p:blipFill>
          <a:blip r:embed="rId3"/>
          <a:stretch>
            <a:fillRect/>
          </a:stretch>
        </p:blipFill>
        <p:spPr>
          <a:xfrm>
            <a:off x="12700" y="774000"/>
            <a:ext cx="12192000" cy="5771535"/>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33"/>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Base Instalada a Renovar por Región </a:t>
            </a:r>
            <a:endParaRPr/>
          </a:p>
        </p:txBody>
      </p:sp>
      <p:pic>
        <p:nvPicPr>
          <p:cNvPr id="3" name="Imagen 2">
            <a:extLst>
              <a:ext uri="{FF2B5EF4-FFF2-40B4-BE49-F238E27FC236}">
                <a16:creationId xmlns:a16="http://schemas.microsoft.com/office/drawing/2014/main" id="{66E37F69-5C4D-3422-1167-325BFC5E6E50}"/>
              </a:ext>
            </a:extLst>
          </p:cNvPr>
          <p:cNvPicPr>
            <a:picLocks noChangeAspect="1"/>
          </p:cNvPicPr>
          <p:nvPr/>
        </p:nvPicPr>
        <p:blipFill>
          <a:blip r:embed="rId3"/>
          <a:stretch>
            <a:fillRect/>
          </a:stretch>
        </p:blipFill>
        <p:spPr>
          <a:xfrm>
            <a:off x="-11600" y="819000"/>
            <a:ext cx="12192000" cy="546488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44"/>
        <p:cNvGrpSpPr/>
        <p:nvPr/>
      </p:nvGrpSpPr>
      <p:grpSpPr>
        <a:xfrm>
          <a:off x="0" y="0"/>
          <a:ext cx="0" cy="0"/>
          <a:chOff x="0" y="0"/>
          <a:chExt cx="0" cy="0"/>
        </a:xfrm>
      </p:grpSpPr>
      <p:sp>
        <p:nvSpPr>
          <p:cNvPr id="445" name="Google Shape;445;p34"/>
          <p:cNvSpPr txBox="1">
            <a:spLocks noGrp="1"/>
          </p:cNvSpPr>
          <p:nvPr>
            <p:ph type="subTitle" idx="1"/>
          </p:nvPr>
        </p:nvSpPr>
        <p:spPr>
          <a:xfrm>
            <a:off x="928356" y="5044946"/>
            <a:ext cx="5036084" cy="553998"/>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Clr>
                <a:srgbClr val="7F7F7F"/>
              </a:buClr>
              <a:buSzPts val="2000"/>
              <a:buNone/>
            </a:pPr>
            <a:r>
              <a:rPr lang="es-CL" sz="2000" b="1">
                <a:solidFill>
                  <a:srgbClr val="7F7F7F"/>
                </a:solidFill>
              </a:rPr>
              <a:t>Plan por Región</a:t>
            </a:r>
            <a:endParaRPr>
              <a:solidFill>
                <a:srgbClr val="7F7F7F"/>
              </a:solidFill>
            </a:endParaRPr>
          </a:p>
        </p:txBody>
      </p:sp>
      <p:sp>
        <p:nvSpPr>
          <p:cNvPr id="446" name="Google Shape;446;p34"/>
          <p:cNvSpPr/>
          <p:nvPr/>
        </p:nvSpPr>
        <p:spPr>
          <a:xfrm>
            <a:off x="8400256" y="6309320"/>
            <a:ext cx="4427984" cy="251094"/>
          </a:xfrm>
          <a:prstGeom prst="rect">
            <a:avLst/>
          </a:prstGeom>
          <a:noFill/>
          <a:ln>
            <a:noFill/>
          </a:ln>
        </p:spPr>
        <p:txBody>
          <a:bodyPr spcFirstLastPara="1" wrap="square" lIns="0" tIns="0" rIns="0" bIns="0" anchor="b" anchorCtr="0">
            <a:spAutoFit/>
          </a:bodyPr>
          <a:lstStyle/>
          <a:p>
            <a:pPr marL="0" marR="0" lvl="0" indent="0" algn="l" rtl="0">
              <a:lnSpc>
                <a:spcPct val="100000"/>
              </a:lnSpc>
              <a:spcBef>
                <a:spcPts val="0"/>
              </a:spcBef>
              <a:spcAft>
                <a:spcPts val="0"/>
              </a:spcAft>
              <a:buClr>
                <a:srgbClr val="33448D"/>
              </a:buClr>
              <a:buSzPts val="816"/>
              <a:buFont typeface="Calibri"/>
              <a:buNone/>
            </a:pPr>
            <a:r>
              <a:rPr lang="es-CL" sz="816" b="0" i="0" u="none" strike="noStrike" cap="none">
                <a:solidFill>
                  <a:srgbClr val="33448D"/>
                </a:solidFill>
                <a:latin typeface="Calibri"/>
                <a:ea typeface="Calibri"/>
                <a:cs typeface="Calibri"/>
                <a:sym typeface="Calibri"/>
              </a:rPr>
              <a:t>DOCUMENTO CONFIDENCIAL PROPIEDAD DE GEMCO S.A.</a:t>
            </a:r>
            <a:endParaRPr/>
          </a:p>
          <a:p>
            <a:pPr marL="0" marR="0" lvl="0" indent="0" algn="l" rtl="0">
              <a:lnSpc>
                <a:spcPct val="100000"/>
              </a:lnSpc>
              <a:spcBef>
                <a:spcPts val="0"/>
              </a:spcBef>
              <a:spcAft>
                <a:spcPts val="0"/>
              </a:spcAft>
              <a:buClr>
                <a:srgbClr val="33448D"/>
              </a:buClr>
              <a:buSzPts val="816"/>
              <a:buFont typeface="Calibri"/>
              <a:buNone/>
            </a:pPr>
            <a:r>
              <a:rPr lang="es-CL" sz="816" b="0" i="0" u="none" strike="noStrike" cap="none">
                <a:solidFill>
                  <a:srgbClr val="33448D"/>
                </a:solidFill>
                <a:latin typeface="Calibri"/>
                <a:ea typeface="Calibri"/>
                <a:cs typeface="Calibri"/>
                <a:sym typeface="Calibri"/>
              </a:rPr>
              <a:t>Queda prohibido su uso y distribución sin la autorización expresa de GEMCO S.A.</a:t>
            </a:r>
            <a:endParaRPr/>
          </a:p>
        </p:txBody>
      </p:sp>
      <p:pic>
        <p:nvPicPr>
          <p:cNvPr id="447" name="Google Shape;447;p34"/>
          <p:cNvPicPr preferRelativeResize="0"/>
          <p:nvPr/>
        </p:nvPicPr>
        <p:blipFill rotWithShape="1">
          <a:blip r:embed="rId3">
            <a:alphaModFix/>
          </a:blip>
          <a:srcRect t="11037"/>
          <a:stretch/>
        </p:blipFill>
        <p:spPr>
          <a:xfrm>
            <a:off x="10209845" y="2472568"/>
            <a:ext cx="1574786" cy="1490748"/>
          </a:xfrm>
          <a:prstGeom prst="rect">
            <a:avLst/>
          </a:prstGeom>
          <a:noFill/>
          <a:ln>
            <a:noFill/>
          </a:ln>
        </p:spPr>
      </p:pic>
      <p:sp>
        <p:nvSpPr>
          <p:cNvPr id="448" name="Google Shape;448;p34"/>
          <p:cNvSpPr/>
          <p:nvPr/>
        </p:nvSpPr>
        <p:spPr>
          <a:xfrm>
            <a:off x="0" y="6634290"/>
            <a:ext cx="12192000" cy="251094"/>
          </a:xfrm>
          <a:prstGeom prst="rect">
            <a:avLst/>
          </a:prstGeom>
          <a:solidFill>
            <a:srgbClr val="0000F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Arial"/>
              <a:buNone/>
            </a:pPr>
            <a:endParaRPr sz="1800" b="0" i="0" u="none" strike="noStrike" cap="none">
              <a:solidFill>
                <a:srgbClr val="33448D"/>
              </a:solidFill>
              <a:latin typeface="Arial"/>
              <a:ea typeface="Arial"/>
              <a:cs typeface="Arial"/>
              <a:sym typeface="Arial"/>
            </a:endParaRPr>
          </a:p>
        </p:txBody>
      </p:sp>
      <p:pic>
        <p:nvPicPr>
          <p:cNvPr id="449" name="Google Shape;449;p34"/>
          <p:cNvPicPr preferRelativeResize="0"/>
          <p:nvPr/>
        </p:nvPicPr>
        <p:blipFill rotWithShape="1">
          <a:blip r:embed="rId4">
            <a:alphaModFix/>
          </a:blip>
          <a:srcRect/>
          <a:stretch/>
        </p:blipFill>
        <p:spPr>
          <a:xfrm>
            <a:off x="839416" y="2546444"/>
            <a:ext cx="3668216" cy="114544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C7E648FE-7095-C4DA-375B-F4513EAB9528}"/>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256A51E9-E4F8-F5C7-9687-34D898757921}"/>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33E04E6C-F188-0469-7CDC-E3415D01AB75}"/>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Contratos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455248BD-7FD4-DA7D-2794-8C06693652F1}"/>
              </a:ext>
            </a:extLst>
          </p:cNvPr>
          <p:cNvSpPr/>
          <p:nvPr/>
        </p:nvSpPr>
        <p:spPr>
          <a:xfrm>
            <a:off x="393700" y="4914000"/>
            <a:ext cx="11312345" cy="205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3854303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53">
          <a:extLst>
            <a:ext uri="{FF2B5EF4-FFF2-40B4-BE49-F238E27FC236}">
              <a16:creationId xmlns:a16="http://schemas.microsoft.com/office/drawing/2014/main" id="{21CFC961-4229-734E-A151-AB5A74C09787}"/>
            </a:ext>
          </a:extLst>
        </p:cNvPr>
        <p:cNvGrpSpPr/>
        <p:nvPr/>
      </p:nvGrpSpPr>
      <p:grpSpPr>
        <a:xfrm>
          <a:off x="0" y="0"/>
          <a:ext cx="0" cy="0"/>
          <a:chOff x="0" y="0"/>
          <a:chExt cx="0" cy="0"/>
        </a:xfrm>
      </p:grpSpPr>
      <p:sp>
        <p:nvSpPr>
          <p:cNvPr id="454" name="Google Shape;454;p35">
            <a:extLst>
              <a:ext uri="{FF2B5EF4-FFF2-40B4-BE49-F238E27FC236}">
                <a16:creationId xmlns:a16="http://schemas.microsoft.com/office/drawing/2014/main" id="{7B64377C-D635-CA84-5B16-AC8C76153D63}"/>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dirty="0">
                <a:solidFill>
                  <a:srgbClr val="33448D"/>
                </a:solidFill>
                <a:latin typeface="Roboto"/>
                <a:ea typeface="Roboto"/>
                <a:cs typeface="Roboto"/>
                <a:sym typeface="Roboto"/>
              </a:rPr>
              <a:t>Plan de Acción Para Clientes Bío Bio</a:t>
            </a:r>
            <a:endParaRPr dirty="0"/>
          </a:p>
        </p:txBody>
      </p:sp>
      <p:sp>
        <p:nvSpPr>
          <p:cNvPr id="457" name="Google Shape;457;p35">
            <a:extLst>
              <a:ext uri="{FF2B5EF4-FFF2-40B4-BE49-F238E27FC236}">
                <a16:creationId xmlns:a16="http://schemas.microsoft.com/office/drawing/2014/main" id="{656C2264-9CE6-438B-398A-FD3A0351A5E6}"/>
              </a:ext>
            </a:extLst>
          </p:cNvPr>
          <p:cNvSpPr/>
          <p:nvPr/>
        </p:nvSpPr>
        <p:spPr>
          <a:xfrm>
            <a:off x="313658" y="3722176"/>
            <a:ext cx="11502870" cy="2331353"/>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Se identifican 7 clientes foco en la Región del Bío </a:t>
            </a:r>
            <a:r>
              <a:rPr lang="es-MX" sz="1000" dirty="0" err="1">
                <a:solidFill>
                  <a:schemeClr val="lt1"/>
                </a:solidFill>
                <a:latin typeface="Arial"/>
                <a:ea typeface="Arial"/>
                <a:cs typeface="Arial"/>
                <a:sym typeface="Arial"/>
              </a:rPr>
              <a:t>Bío</a:t>
            </a:r>
            <a:r>
              <a:rPr lang="es-MX" sz="1000" dirty="0">
                <a:solidFill>
                  <a:schemeClr val="lt1"/>
                </a:solidFill>
                <a:latin typeface="Arial"/>
                <a:ea typeface="Arial"/>
                <a:cs typeface="Arial"/>
                <a:sym typeface="Arial"/>
              </a:rPr>
              <a:t>, con una facturación 2026 acumulada de MM$75,9.</a:t>
            </a:r>
          </a:p>
          <a:p>
            <a:pPr marL="171450" marR="0" lvl="0" indent="-171450" algn="l" rtl="0">
              <a:spcBef>
                <a:spcPts val="0"/>
              </a:spcBef>
              <a:spcAft>
                <a:spcPts val="0"/>
              </a:spcAft>
              <a:buClr>
                <a:schemeClr val="lt1"/>
              </a:buClr>
              <a:buSzPts val="1000"/>
              <a:buFont typeface="Arial"/>
              <a:buChar char="•"/>
            </a:pPr>
            <a:endParaRPr lang="es-MX" sz="10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Estos clientes presentan un potencial de Servicio Técnico de MM$129,3 anuales, destacando Hospital Víctor Ríos Ruiz, Clínica Sanatorio Alemán y Hospital Guillermo Grant Benavente.</a:t>
            </a:r>
          </a:p>
          <a:p>
            <a:pPr marL="171450" marR="0" lvl="0" indent="-171450" algn="l" rtl="0">
              <a:spcBef>
                <a:spcPts val="0"/>
              </a:spcBef>
              <a:spcAft>
                <a:spcPts val="0"/>
              </a:spcAft>
              <a:buClr>
                <a:schemeClr val="lt1"/>
              </a:buClr>
              <a:buSzPts val="1000"/>
              <a:buFont typeface="Arial"/>
              <a:buChar char="•"/>
            </a:pPr>
            <a:endParaRPr lang="es-MX" sz="10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Hospital Víctor Ríos Ruiz concentra el mayor potencial, con MM$37,9 anuales, seguido por Clínica Sanatorio Alemán (MM$26,6) y Hospital Guillermo Grant Benavente (MM$24,9).</a:t>
            </a:r>
          </a:p>
          <a:p>
            <a:pPr marL="171450" marR="0" lvl="0" indent="-171450" algn="l" rtl="0">
              <a:spcBef>
                <a:spcPts val="0"/>
              </a:spcBef>
              <a:spcAft>
                <a:spcPts val="0"/>
              </a:spcAft>
              <a:buClr>
                <a:schemeClr val="lt1"/>
              </a:buClr>
              <a:buSzPts val="1000"/>
              <a:buFont typeface="Arial"/>
              <a:buChar char="•"/>
            </a:pPr>
            <a:endParaRPr lang="es-MX" sz="10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Las principales oportunidades identificadas se relacionan con renovación de contratos, venta de repuestos y conversión de equipos en garantía a contratos de servicio.</a:t>
            </a:r>
          </a:p>
          <a:p>
            <a:pPr marL="171450" marR="0" lvl="0" indent="-171450" algn="l" rtl="0">
              <a:spcBef>
                <a:spcPts val="0"/>
              </a:spcBef>
              <a:spcAft>
                <a:spcPts val="0"/>
              </a:spcAft>
              <a:buClr>
                <a:schemeClr val="lt1"/>
              </a:buClr>
              <a:buSzPts val="1000"/>
              <a:buFont typeface="Arial"/>
              <a:buChar char="•"/>
            </a:pPr>
            <a:endParaRPr lang="es-MX" sz="10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000"/>
              <a:buFont typeface="Arial"/>
              <a:buChar char="•"/>
            </a:pPr>
            <a:r>
              <a:rPr lang="es-MX" sz="1000" dirty="0">
                <a:solidFill>
                  <a:schemeClr val="lt1"/>
                </a:solidFill>
                <a:latin typeface="Arial"/>
                <a:ea typeface="Arial"/>
                <a:cs typeface="Arial"/>
                <a:sym typeface="Arial"/>
              </a:rPr>
              <a:t>La región presenta una oportunidad de profundizar la cobertura comercial y técnica, utilizando estos clientes como foco para capturar el potencial de Servicio Técnico.</a:t>
            </a:r>
          </a:p>
          <a:p>
            <a:pPr marL="171450" marR="0" lvl="0" indent="-171450" algn="l" rtl="0">
              <a:spcBef>
                <a:spcPts val="0"/>
              </a:spcBef>
              <a:spcAft>
                <a:spcPts val="0"/>
              </a:spcAft>
              <a:buClr>
                <a:schemeClr val="lt1"/>
              </a:buClr>
              <a:buSzPts val="1000"/>
              <a:buFont typeface="Arial"/>
              <a:buChar char="•"/>
            </a:pPr>
            <a:endParaRPr lang="es-MX" sz="1000" dirty="0">
              <a:solidFill>
                <a:schemeClr val="lt1"/>
              </a:solidFill>
            </a:endParaRPr>
          </a:p>
          <a:p>
            <a:pPr marL="171450" marR="0" lvl="0" indent="-171450" algn="l" rtl="0">
              <a:spcBef>
                <a:spcPts val="0"/>
              </a:spcBef>
              <a:spcAft>
                <a:spcPts val="0"/>
              </a:spcAft>
              <a:buClr>
                <a:schemeClr val="lt1"/>
              </a:buClr>
              <a:buSzPts val="1000"/>
              <a:buFont typeface="Arial"/>
              <a:buChar char="•"/>
            </a:pPr>
            <a:r>
              <a:rPr lang="es-MX" sz="1000" b="1" dirty="0">
                <a:solidFill>
                  <a:schemeClr val="lt1"/>
                </a:solidFill>
                <a:latin typeface="Arial"/>
                <a:ea typeface="Arial"/>
                <a:cs typeface="Arial"/>
                <a:sym typeface="Arial"/>
              </a:rPr>
              <a:t>Con respecto al Plan Sur, en la Región de Los Lagos, Araucanía, Bío </a:t>
            </a:r>
            <a:r>
              <a:rPr lang="es-MX" sz="1000" b="1" dirty="0" err="1">
                <a:solidFill>
                  <a:schemeClr val="lt1"/>
                </a:solidFill>
                <a:latin typeface="Arial"/>
                <a:ea typeface="Arial"/>
                <a:cs typeface="Arial"/>
                <a:sym typeface="Arial"/>
              </a:rPr>
              <a:t>Bío</a:t>
            </a:r>
            <a:r>
              <a:rPr lang="es-MX" sz="1000" b="1" dirty="0">
                <a:solidFill>
                  <a:schemeClr val="lt1"/>
                </a:solidFill>
                <a:latin typeface="Arial"/>
                <a:ea typeface="Arial"/>
                <a:cs typeface="Arial"/>
                <a:sym typeface="Arial"/>
              </a:rPr>
              <a:t>, Maule y Ñuble durante el año 2025 a Septiembre se tenía una facturación acumulada de MM$210,4 y ahora el año 2026 se tiene una facturación acumulada MM$269,9 (+28,2%), en este ejercicio se descuenta REAS</a:t>
            </a:r>
          </a:p>
        </p:txBody>
      </p:sp>
      <p:graphicFrame>
        <p:nvGraphicFramePr>
          <p:cNvPr id="2" name="Tabla 1">
            <a:extLst>
              <a:ext uri="{FF2B5EF4-FFF2-40B4-BE49-F238E27FC236}">
                <a16:creationId xmlns:a16="http://schemas.microsoft.com/office/drawing/2014/main" id="{36558937-F729-66CB-527E-7C03F6F676CF}"/>
              </a:ext>
            </a:extLst>
          </p:cNvPr>
          <p:cNvGraphicFramePr>
            <a:graphicFrameLocks noGrp="1"/>
          </p:cNvGraphicFramePr>
          <p:nvPr>
            <p:extLst>
              <p:ext uri="{D42A27DB-BD31-4B8C-83A1-F6EECF244321}">
                <p14:modId xmlns:p14="http://schemas.microsoft.com/office/powerpoint/2010/main" val="3416609292"/>
              </p:ext>
            </p:extLst>
          </p:nvPr>
        </p:nvGraphicFramePr>
        <p:xfrm>
          <a:off x="395572" y="999000"/>
          <a:ext cx="11428127" cy="2136825"/>
        </p:xfrm>
        <a:graphic>
          <a:graphicData uri="http://schemas.openxmlformats.org/drawingml/2006/table">
            <a:tbl>
              <a:tblPr/>
              <a:tblGrid>
                <a:gridCol w="285797">
                  <a:extLst>
                    <a:ext uri="{9D8B030D-6E8A-4147-A177-3AD203B41FA5}">
                      <a16:colId xmlns:a16="http://schemas.microsoft.com/office/drawing/2014/main" val="1540014077"/>
                    </a:ext>
                  </a:extLst>
                </a:gridCol>
                <a:gridCol w="2515767">
                  <a:extLst>
                    <a:ext uri="{9D8B030D-6E8A-4147-A177-3AD203B41FA5}">
                      <a16:colId xmlns:a16="http://schemas.microsoft.com/office/drawing/2014/main" val="1379151209"/>
                    </a:ext>
                  </a:extLst>
                </a:gridCol>
                <a:gridCol w="1297369">
                  <a:extLst>
                    <a:ext uri="{9D8B030D-6E8A-4147-A177-3AD203B41FA5}">
                      <a16:colId xmlns:a16="http://schemas.microsoft.com/office/drawing/2014/main" val="1425047119"/>
                    </a:ext>
                  </a:extLst>
                </a:gridCol>
                <a:gridCol w="1026613">
                  <a:extLst>
                    <a:ext uri="{9D8B030D-6E8A-4147-A177-3AD203B41FA5}">
                      <a16:colId xmlns:a16="http://schemas.microsoft.com/office/drawing/2014/main" val="12025"/>
                    </a:ext>
                  </a:extLst>
                </a:gridCol>
                <a:gridCol w="1022853">
                  <a:extLst>
                    <a:ext uri="{9D8B030D-6E8A-4147-A177-3AD203B41FA5}">
                      <a16:colId xmlns:a16="http://schemas.microsoft.com/office/drawing/2014/main" val="4006094135"/>
                    </a:ext>
                  </a:extLst>
                </a:gridCol>
                <a:gridCol w="1128147">
                  <a:extLst>
                    <a:ext uri="{9D8B030D-6E8A-4147-A177-3AD203B41FA5}">
                      <a16:colId xmlns:a16="http://schemas.microsoft.com/office/drawing/2014/main" val="1433054861"/>
                    </a:ext>
                  </a:extLst>
                </a:gridCol>
                <a:gridCol w="4151581">
                  <a:extLst>
                    <a:ext uri="{9D8B030D-6E8A-4147-A177-3AD203B41FA5}">
                      <a16:colId xmlns:a16="http://schemas.microsoft.com/office/drawing/2014/main" val="440334234"/>
                    </a:ext>
                  </a:extLst>
                </a:gridCol>
              </a:tblGrid>
              <a:tr h="405000">
                <a:tc>
                  <a:txBody>
                    <a:bodyPr/>
                    <a:lstStyle/>
                    <a:p>
                      <a:pPr algn="ctr" fontAlgn="ctr">
                        <a:buNone/>
                      </a:pPr>
                      <a:r>
                        <a:rPr lang="es-CL" sz="1000" b="1" i="0" u="none" strike="noStrike">
                          <a:solidFill>
                            <a:srgbClr val="FFFFFF"/>
                          </a:solidFill>
                          <a:effectLst/>
                          <a:latin typeface="Calibri" panose="020F0502020204030204" pitchFamily="34" charset="0"/>
                        </a:rPr>
                        <a:t>#</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1000" b="1" i="0" u="none" strike="noStrike">
                          <a:solidFill>
                            <a:srgbClr val="FFFFFF"/>
                          </a:solidFill>
                          <a:effectLst/>
                          <a:latin typeface="Calibri" panose="020F0502020204030204" pitchFamily="34" charset="0"/>
                        </a:rPr>
                        <a:t>Cliente</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1000" b="1" i="0" u="none" strike="noStrike">
                          <a:solidFill>
                            <a:srgbClr val="FFFFFF"/>
                          </a:solidFill>
                          <a:effectLst/>
                          <a:latin typeface="Calibri" panose="020F0502020204030204" pitchFamily="34" charset="0"/>
                        </a:rPr>
                        <a:t>Región</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1000" b="1" i="0" u="none" strike="noStrike">
                          <a:solidFill>
                            <a:srgbClr val="FFFFFF"/>
                          </a:solidFill>
                          <a:effectLst/>
                          <a:latin typeface="Calibri" panose="020F0502020204030204" pitchFamily="34" charset="0"/>
                        </a:rPr>
                        <a:t>Facturación 2026</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1000" b="1" i="0" u="none" strike="noStrike">
                          <a:solidFill>
                            <a:srgbClr val="FFFFFF"/>
                          </a:solidFill>
                          <a:effectLst/>
                          <a:latin typeface="Calibri" panose="020F0502020204030204" pitchFamily="34" charset="0"/>
                        </a:rPr>
                        <a:t>Facturación 2025</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1000" b="1" i="0" u="none" strike="noStrike">
                          <a:solidFill>
                            <a:srgbClr val="FFFFFF"/>
                          </a:solidFill>
                          <a:effectLst/>
                          <a:latin typeface="Calibri" panose="020F0502020204030204" pitchFamily="34" charset="0"/>
                        </a:rPr>
                        <a:t>Pot. ST anual MM$</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l" fontAlgn="ctr">
                        <a:buNone/>
                      </a:pPr>
                      <a:r>
                        <a:rPr lang="es-CL" sz="1000" b="1" i="0" u="none" strike="noStrike">
                          <a:solidFill>
                            <a:srgbClr val="FFFFFF"/>
                          </a:solidFill>
                          <a:effectLst/>
                          <a:latin typeface="Calibri" panose="020F0502020204030204" pitchFamily="34" charset="0"/>
                        </a:rPr>
                        <a:t>Estado</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E7D4F"/>
                    </a:solidFill>
                  </a:tcPr>
                </a:tc>
                <a:extLst>
                  <a:ext uri="{0D108BD9-81ED-4DB2-BD59-A6C34878D82A}">
                    <a16:rowId xmlns:a16="http://schemas.microsoft.com/office/drawing/2014/main" val="245514815"/>
                  </a:ext>
                </a:extLst>
              </a:tr>
              <a:tr h="202500">
                <a:tc>
                  <a:txBody>
                    <a:bodyPr/>
                    <a:lstStyle/>
                    <a:p>
                      <a:pPr algn="r" fontAlgn="t">
                        <a:buNone/>
                      </a:pPr>
                      <a:r>
                        <a:rPr lang="es-CL" sz="1000" b="0" i="0" u="none" strike="noStrike" dirty="0">
                          <a:solidFill>
                            <a:schemeClr val="tx2"/>
                          </a:solidFill>
                          <a:effectLst/>
                          <a:latin typeface="Calibri" panose="020F0502020204030204" pitchFamily="34" charset="0"/>
                        </a:rPr>
                        <a:t>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1000" b="0" i="0" u="none" strike="noStrike">
                          <a:solidFill>
                            <a:schemeClr val="tx2"/>
                          </a:solidFill>
                          <a:effectLst/>
                          <a:latin typeface="Calibri" panose="020F0502020204030204" pitchFamily="34" charset="0"/>
                        </a:rPr>
                        <a:t>Hospital Guillermo Grant Benavente</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1000" b="0" i="0" u="none" strike="noStrike">
                          <a:solidFill>
                            <a:schemeClr val="tx2"/>
                          </a:solidFill>
                          <a:effectLst/>
                          <a:latin typeface="Calibri" panose="020F0502020204030204" pitchFamily="34" charset="0"/>
                        </a:rPr>
                        <a:t>Bío Bío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1000" b="0" i="0" u="none" strike="noStrike">
                          <a:solidFill>
                            <a:schemeClr val="tx2"/>
                          </a:solidFill>
                          <a:effectLst/>
                          <a:latin typeface="Calibri" panose="020F0502020204030204" pitchFamily="34" charset="0"/>
                        </a:rPr>
                        <a:t>         25.485.358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a:solidFill>
                            <a:schemeClr val="tx2"/>
                          </a:solidFill>
                          <a:effectLst/>
                          <a:latin typeface="Calibri" panose="020F0502020204030204" pitchFamily="34" charset="0"/>
                        </a:rPr>
                        <a:t>         14.213.737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a:solidFill>
                            <a:schemeClr val="tx2"/>
                          </a:solidFill>
                          <a:effectLst/>
                          <a:latin typeface="Calibri" panose="020F0502020204030204" pitchFamily="34" charset="0"/>
                        </a:rPr>
                        <a:t>            24.925.315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dirty="0">
                          <a:solidFill>
                            <a:schemeClr val="tx2"/>
                          </a:solidFill>
                          <a:effectLst/>
                          <a:latin typeface="Calibri" panose="020F0502020204030204" pitchFamily="34" charset="0"/>
                        </a:rPr>
                        <a:t>VTA REPUESTOS CONVERSACIONES PARA CONTRATO PROXIMO AÑO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3EC"/>
                    </a:solidFill>
                  </a:tcPr>
                </a:tc>
                <a:extLst>
                  <a:ext uri="{0D108BD9-81ED-4DB2-BD59-A6C34878D82A}">
                    <a16:rowId xmlns:a16="http://schemas.microsoft.com/office/drawing/2014/main" val="3119092765"/>
                  </a:ext>
                </a:extLst>
              </a:tr>
              <a:tr h="202500">
                <a:tc>
                  <a:txBody>
                    <a:bodyPr/>
                    <a:lstStyle/>
                    <a:p>
                      <a:pPr algn="r" fontAlgn="t">
                        <a:buNone/>
                      </a:pPr>
                      <a:r>
                        <a:rPr lang="es-CL" sz="1000" b="0" i="0" u="none" strike="noStrike">
                          <a:solidFill>
                            <a:schemeClr val="tx2"/>
                          </a:solidFill>
                          <a:effectLst/>
                          <a:latin typeface="Calibri" panose="020F0502020204030204" pitchFamily="34" charset="0"/>
                        </a:rPr>
                        <a:t>2</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1000" b="0" i="0" u="none" strike="noStrike" dirty="0">
                          <a:solidFill>
                            <a:schemeClr val="tx2"/>
                          </a:solidFill>
                          <a:effectLst/>
                          <a:latin typeface="Calibri" panose="020F0502020204030204" pitchFamily="34" charset="0"/>
                        </a:rPr>
                        <a:t>Hospital Pitrufquén</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1000" b="0" i="0" u="none" strike="noStrike">
                          <a:solidFill>
                            <a:schemeClr val="tx2"/>
                          </a:solidFill>
                          <a:effectLst/>
                          <a:latin typeface="Calibri" panose="020F0502020204030204" pitchFamily="34" charset="0"/>
                        </a:rPr>
                        <a:t>Araucanía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1000" b="0" i="0" u="none" strike="noStrike">
                          <a:solidFill>
                            <a:schemeClr val="tx2"/>
                          </a:solidFill>
                          <a:effectLst/>
                          <a:latin typeface="Calibri" panose="020F0502020204030204" pitchFamily="34" charset="0"/>
                        </a:rPr>
                        <a:t>         24.282.977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a:solidFill>
                            <a:schemeClr val="tx2"/>
                          </a:solidFill>
                          <a:effectLst/>
                          <a:latin typeface="Calibri" panose="020F0502020204030204" pitchFamily="34" charset="0"/>
                        </a:rPr>
                        <a:t>              402.732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a:solidFill>
                            <a:schemeClr val="tx2"/>
                          </a:solidFill>
                          <a:effectLst/>
                          <a:latin typeface="Calibri" panose="020F0502020204030204" pitchFamily="34" charset="0"/>
                        </a:rPr>
                        <a:t>            10.216.195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dirty="0">
                          <a:solidFill>
                            <a:schemeClr val="tx2"/>
                          </a:solidFill>
                          <a:effectLst/>
                          <a:latin typeface="Calibri" panose="020F0502020204030204" pitchFamily="34" charset="0"/>
                        </a:rPr>
                        <a:t>CONTRATO FINALIZA EN NOV</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3EC"/>
                    </a:solidFill>
                  </a:tcPr>
                </a:tc>
                <a:extLst>
                  <a:ext uri="{0D108BD9-81ED-4DB2-BD59-A6C34878D82A}">
                    <a16:rowId xmlns:a16="http://schemas.microsoft.com/office/drawing/2014/main" val="433591623"/>
                  </a:ext>
                </a:extLst>
              </a:tr>
              <a:tr h="202500">
                <a:tc>
                  <a:txBody>
                    <a:bodyPr/>
                    <a:lstStyle/>
                    <a:p>
                      <a:pPr algn="r" fontAlgn="t">
                        <a:buNone/>
                      </a:pPr>
                      <a:r>
                        <a:rPr lang="es-CL" sz="1000" b="0" i="0" u="none" strike="noStrike">
                          <a:solidFill>
                            <a:schemeClr val="tx2"/>
                          </a:solidFill>
                          <a:effectLst/>
                          <a:latin typeface="Calibri" panose="020F0502020204030204" pitchFamily="34" charset="0"/>
                        </a:rPr>
                        <a:t>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1000" b="0" i="0" u="none" strike="noStrike">
                          <a:solidFill>
                            <a:schemeClr val="tx2"/>
                          </a:solidFill>
                          <a:effectLst/>
                          <a:latin typeface="Calibri" panose="020F0502020204030204" pitchFamily="34" charset="0"/>
                        </a:rPr>
                        <a:t>Hospital Penco Lirquén</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1000" b="0" i="0" u="none" strike="noStrike" dirty="0">
                          <a:solidFill>
                            <a:schemeClr val="tx2"/>
                          </a:solidFill>
                          <a:effectLst/>
                          <a:latin typeface="Calibri" panose="020F0502020204030204" pitchFamily="34" charset="0"/>
                        </a:rPr>
                        <a:t>Bío </a:t>
                      </a:r>
                      <a:r>
                        <a:rPr lang="es-CL" sz="1000" b="0" i="0" u="none" strike="noStrike" dirty="0" err="1">
                          <a:solidFill>
                            <a:schemeClr val="tx2"/>
                          </a:solidFill>
                          <a:effectLst/>
                          <a:latin typeface="Calibri" panose="020F0502020204030204" pitchFamily="34" charset="0"/>
                        </a:rPr>
                        <a:t>Bío</a:t>
                      </a:r>
                      <a:endParaRPr lang="es-CL" sz="1000" b="0" i="0" u="none" strike="noStrike" dirty="0">
                        <a:solidFill>
                          <a:schemeClr val="tx2"/>
                        </a:solidFill>
                        <a:effectLst/>
                        <a:latin typeface="Calibri" panose="020F0502020204030204" pitchFamily="34" charset="0"/>
                      </a:endParaRP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1000" b="0" i="0" u="none" strike="noStrike" dirty="0">
                          <a:solidFill>
                            <a:schemeClr val="tx2"/>
                          </a:solidFill>
                          <a:effectLst/>
                          <a:latin typeface="Calibri" panose="020F0502020204030204" pitchFamily="34" charset="0"/>
                        </a:rPr>
                        <a:t>         10.253.258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a:solidFill>
                            <a:schemeClr val="tx2"/>
                          </a:solidFill>
                          <a:effectLst/>
                          <a:latin typeface="Calibri" panose="020F0502020204030204" pitchFamily="34" charset="0"/>
                        </a:rPr>
                        <a:t>         10.809.369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dirty="0">
                          <a:solidFill>
                            <a:schemeClr val="tx2"/>
                          </a:solidFill>
                          <a:effectLst/>
                          <a:latin typeface="Calibri" panose="020F0502020204030204" pitchFamily="34" charset="0"/>
                        </a:rPr>
                        <a:t>            16.345.912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dirty="0">
                          <a:solidFill>
                            <a:schemeClr val="tx2"/>
                          </a:solidFill>
                          <a:effectLst/>
                          <a:latin typeface="Calibri" panose="020F0502020204030204" pitchFamily="34" charset="0"/>
                        </a:rPr>
                        <a:t>CONTRATO 2028</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3EC"/>
                    </a:solidFill>
                  </a:tcPr>
                </a:tc>
                <a:extLst>
                  <a:ext uri="{0D108BD9-81ED-4DB2-BD59-A6C34878D82A}">
                    <a16:rowId xmlns:a16="http://schemas.microsoft.com/office/drawing/2014/main" val="863946442"/>
                  </a:ext>
                </a:extLst>
              </a:tr>
              <a:tr h="202500">
                <a:tc>
                  <a:txBody>
                    <a:bodyPr/>
                    <a:lstStyle/>
                    <a:p>
                      <a:pPr algn="r" fontAlgn="t">
                        <a:buNone/>
                      </a:pPr>
                      <a:r>
                        <a:rPr lang="es-CL" sz="1000" b="0" i="0" u="none" strike="noStrike">
                          <a:solidFill>
                            <a:schemeClr val="tx2"/>
                          </a:solidFill>
                          <a:effectLst/>
                          <a:latin typeface="Calibri" panose="020F0502020204030204" pitchFamily="34" charset="0"/>
                        </a:rPr>
                        <a:t>4</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1000" b="0" i="0" u="none" strike="noStrike">
                          <a:solidFill>
                            <a:schemeClr val="tx2"/>
                          </a:solidFill>
                          <a:effectLst/>
                          <a:latin typeface="Calibri" panose="020F0502020204030204" pitchFamily="34" charset="0"/>
                        </a:rPr>
                        <a:t>Hospital Víctor Ríos Ruiz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1000" b="0" i="0" u="none" strike="noStrike">
                          <a:solidFill>
                            <a:schemeClr val="tx2"/>
                          </a:solidFill>
                          <a:effectLst/>
                          <a:latin typeface="Calibri" panose="020F0502020204030204" pitchFamily="34" charset="0"/>
                        </a:rPr>
                        <a:t>Bío Bío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1000" b="0" i="0" u="none" strike="noStrike">
                          <a:solidFill>
                            <a:schemeClr val="tx2"/>
                          </a:solidFill>
                          <a:effectLst/>
                          <a:latin typeface="Calibri" panose="020F0502020204030204" pitchFamily="34" charset="0"/>
                        </a:rPr>
                        <a:t>           8.551.286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a:solidFill>
                            <a:schemeClr val="tx2"/>
                          </a:solidFill>
                          <a:effectLst/>
                          <a:latin typeface="Calibri" panose="020F0502020204030204" pitchFamily="34" charset="0"/>
                        </a:rPr>
                        <a:t>           6.711.156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a:solidFill>
                            <a:schemeClr val="tx2"/>
                          </a:solidFill>
                          <a:effectLst/>
                          <a:latin typeface="Calibri" panose="020F0502020204030204" pitchFamily="34" charset="0"/>
                        </a:rPr>
                        <a:t>            37.869.087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dirty="0">
                          <a:solidFill>
                            <a:schemeClr val="tx2"/>
                          </a:solidFill>
                          <a:effectLst/>
                          <a:latin typeface="Calibri" panose="020F0502020204030204" pitchFamily="34" charset="0"/>
                        </a:rPr>
                        <a:t>EQUIPOS LAVADORAS EN GARANTIA, SILLONES CONVERSACION PARA CONTRATO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3EC"/>
                    </a:solidFill>
                  </a:tcPr>
                </a:tc>
                <a:extLst>
                  <a:ext uri="{0D108BD9-81ED-4DB2-BD59-A6C34878D82A}">
                    <a16:rowId xmlns:a16="http://schemas.microsoft.com/office/drawing/2014/main" val="4004416790"/>
                  </a:ext>
                </a:extLst>
              </a:tr>
              <a:tr h="202500">
                <a:tc>
                  <a:txBody>
                    <a:bodyPr/>
                    <a:lstStyle/>
                    <a:p>
                      <a:pPr algn="r" fontAlgn="t">
                        <a:buNone/>
                      </a:pPr>
                      <a:r>
                        <a:rPr lang="es-CL" sz="1000" b="0" i="0" u="none" strike="noStrike">
                          <a:solidFill>
                            <a:schemeClr val="tx2"/>
                          </a:solidFill>
                          <a:effectLst/>
                          <a:latin typeface="Calibri" panose="020F0502020204030204" pitchFamily="34" charset="0"/>
                        </a:rPr>
                        <a:t>5</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1000" b="0" i="0" u="none" strike="noStrike">
                          <a:solidFill>
                            <a:schemeClr val="tx2"/>
                          </a:solidFill>
                          <a:effectLst/>
                          <a:latin typeface="Calibri" panose="020F0502020204030204" pitchFamily="34" charset="0"/>
                        </a:rPr>
                        <a:t>Clínica Bío Bío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1000" b="0" i="0" u="none" strike="noStrike">
                          <a:solidFill>
                            <a:schemeClr val="tx2"/>
                          </a:solidFill>
                          <a:effectLst/>
                          <a:latin typeface="Calibri" panose="020F0502020204030204" pitchFamily="34" charset="0"/>
                        </a:rPr>
                        <a:t>Bío Bío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1000" b="0" i="0" u="none" strike="noStrike">
                          <a:solidFill>
                            <a:schemeClr val="tx2"/>
                          </a:solidFill>
                          <a:effectLst/>
                          <a:latin typeface="Calibri" panose="020F0502020204030204" pitchFamily="34" charset="0"/>
                        </a:rPr>
                        <a:t>           5.959.997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a:solidFill>
                            <a:schemeClr val="tx2"/>
                          </a:solidFill>
                          <a:effectLst/>
                          <a:latin typeface="Calibri" panose="020F0502020204030204" pitchFamily="34" charset="0"/>
                        </a:rPr>
                        <a:t>                          -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a:solidFill>
                            <a:schemeClr val="tx2"/>
                          </a:solidFill>
                          <a:effectLst/>
                          <a:latin typeface="Calibri" panose="020F0502020204030204" pitchFamily="34" charset="0"/>
                        </a:rPr>
                        <a:t>              8.579.403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dirty="0">
                          <a:solidFill>
                            <a:schemeClr val="tx2"/>
                          </a:solidFill>
                          <a:effectLst/>
                          <a:latin typeface="Calibri" panose="020F0502020204030204" pitchFamily="34" charset="0"/>
                        </a:rPr>
                        <a:t>CON SERVICIOS SPOT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3EC"/>
                    </a:solidFill>
                  </a:tcPr>
                </a:tc>
                <a:extLst>
                  <a:ext uri="{0D108BD9-81ED-4DB2-BD59-A6C34878D82A}">
                    <a16:rowId xmlns:a16="http://schemas.microsoft.com/office/drawing/2014/main" val="4127228373"/>
                  </a:ext>
                </a:extLst>
              </a:tr>
              <a:tr h="202500">
                <a:tc>
                  <a:txBody>
                    <a:bodyPr/>
                    <a:lstStyle/>
                    <a:p>
                      <a:pPr algn="r" fontAlgn="t">
                        <a:buNone/>
                      </a:pPr>
                      <a:r>
                        <a:rPr lang="es-CL" sz="1000" b="0" i="0" u="none" strike="noStrike">
                          <a:solidFill>
                            <a:schemeClr val="tx2"/>
                          </a:solidFill>
                          <a:effectLst/>
                          <a:latin typeface="Calibri" panose="020F0502020204030204" pitchFamily="34" charset="0"/>
                        </a:rPr>
                        <a:t>6</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1000" b="0" i="0" u="none" strike="noStrike">
                          <a:solidFill>
                            <a:schemeClr val="tx2"/>
                          </a:solidFill>
                          <a:effectLst/>
                          <a:latin typeface="Calibri" panose="020F0502020204030204" pitchFamily="34" charset="0"/>
                        </a:rPr>
                        <a:t>Clínica Sanatorio Alemán</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1000" b="0" i="0" u="none" strike="noStrike">
                          <a:solidFill>
                            <a:schemeClr val="tx2"/>
                          </a:solidFill>
                          <a:effectLst/>
                          <a:latin typeface="Calibri" panose="020F0502020204030204" pitchFamily="34" charset="0"/>
                        </a:rPr>
                        <a:t>Bío Bío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DCE6F4"/>
                    </a:solidFill>
                  </a:tcPr>
                </a:tc>
                <a:tc>
                  <a:txBody>
                    <a:bodyPr/>
                    <a:lstStyle/>
                    <a:p>
                      <a:pPr algn="l" fontAlgn="t">
                        <a:buNone/>
                      </a:pPr>
                      <a:r>
                        <a:rPr lang="es-CL" sz="1000" b="0" i="0" u="none" strike="noStrike">
                          <a:solidFill>
                            <a:schemeClr val="tx2"/>
                          </a:solidFill>
                          <a:effectLst/>
                          <a:latin typeface="Calibri" panose="020F0502020204030204" pitchFamily="34" charset="0"/>
                        </a:rPr>
                        <a:t>           1.338.767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a:solidFill>
                            <a:schemeClr val="tx2"/>
                          </a:solidFill>
                          <a:effectLst/>
                          <a:latin typeface="Calibri" panose="020F0502020204030204" pitchFamily="34" charset="0"/>
                        </a:rPr>
                        <a:t>           4.473.351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a:solidFill>
                            <a:schemeClr val="tx2"/>
                          </a:solidFill>
                          <a:effectLst/>
                          <a:latin typeface="Calibri" panose="020F0502020204030204" pitchFamily="34" charset="0"/>
                        </a:rPr>
                        <a:t>            26.642.795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1000" b="0" i="0" u="none" strike="noStrike" dirty="0">
                          <a:solidFill>
                            <a:schemeClr val="tx2"/>
                          </a:solidFill>
                          <a:effectLst/>
                          <a:latin typeface="Calibri" panose="020F0502020204030204" pitchFamily="34" charset="0"/>
                        </a:rPr>
                        <a:t>VTA REPUESTOS CONVERSACIONES PARA CONTRATO PROXIMO AÑO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3EC"/>
                    </a:solidFill>
                  </a:tcPr>
                </a:tc>
                <a:extLst>
                  <a:ext uri="{0D108BD9-81ED-4DB2-BD59-A6C34878D82A}">
                    <a16:rowId xmlns:a16="http://schemas.microsoft.com/office/drawing/2014/main" val="3067611126"/>
                  </a:ext>
                </a:extLst>
              </a:tr>
              <a:tr h="202500">
                <a:tc>
                  <a:txBody>
                    <a:bodyPr/>
                    <a:lstStyle/>
                    <a:p>
                      <a:pPr algn="r" fontAlgn="t">
                        <a:buNone/>
                      </a:pPr>
                      <a:r>
                        <a:rPr lang="es-CL" sz="1000" b="0" i="0" u="none" strike="noStrike">
                          <a:solidFill>
                            <a:schemeClr val="tx2"/>
                          </a:solidFill>
                          <a:effectLst/>
                          <a:latin typeface="Calibri" panose="020F0502020204030204" pitchFamily="34" charset="0"/>
                        </a:rPr>
                        <a:t>7</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CE6F4"/>
                    </a:solidFill>
                  </a:tcPr>
                </a:tc>
                <a:tc>
                  <a:txBody>
                    <a:bodyPr/>
                    <a:lstStyle/>
                    <a:p>
                      <a:pPr algn="l" fontAlgn="t">
                        <a:buNone/>
                      </a:pPr>
                      <a:r>
                        <a:rPr lang="es-CL" sz="1000" b="0" i="0" u="none" strike="noStrike">
                          <a:solidFill>
                            <a:schemeClr val="tx2"/>
                          </a:solidFill>
                          <a:effectLst/>
                          <a:latin typeface="Calibri" panose="020F0502020204030204" pitchFamily="34" charset="0"/>
                        </a:rPr>
                        <a:t>Hospital de Talcahuano (Las Higueras)</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CE6F4"/>
                    </a:solidFill>
                  </a:tcPr>
                </a:tc>
                <a:tc>
                  <a:txBody>
                    <a:bodyPr/>
                    <a:lstStyle/>
                    <a:p>
                      <a:pPr algn="l" fontAlgn="t">
                        <a:buNone/>
                      </a:pPr>
                      <a:r>
                        <a:rPr lang="es-CL" sz="1000" b="0" i="0" u="none" strike="noStrike">
                          <a:solidFill>
                            <a:schemeClr val="tx2"/>
                          </a:solidFill>
                          <a:effectLst/>
                          <a:latin typeface="Calibri" panose="020F0502020204030204" pitchFamily="34" charset="0"/>
                        </a:rPr>
                        <a:t>Bío Bío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CE6F4"/>
                    </a:solidFill>
                  </a:tcPr>
                </a:tc>
                <a:tc>
                  <a:txBody>
                    <a:bodyPr/>
                    <a:lstStyle/>
                    <a:p>
                      <a:pPr algn="l" fontAlgn="t">
                        <a:buNone/>
                      </a:pPr>
                      <a:r>
                        <a:rPr lang="es-CL" sz="1000" b="0" i="0" u="none" strike="noStrike">
                          <a:solidFill>
                            <a:schemeClr val="tx2"/>
                          </a:solidFill>
                          <a:effectLst/>
                          <a:latin typeface="Calibri" panose="020F0502020204030204" pitchFamily="34" charset="0"/>
                        </a:rPr>
                        <a:t>                          -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es-CL" sz="1000" b="0" i="0" u="none" strike="noStrike">
                          <a:solidFill>
                            <a:schemeClr val="tx2"/>
                          </a:solidFill>
                          <a:effectLst/>
                          <a:latin typeface="Calibri" panose="020F0502020204030204" pitchFamily="34" charset="0"/>
                        </a:rPr>
                        <a:t>                          -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es-CL" sz="1000" b="0" i="0" u="none" strike="noStrike">
                          <a:solidFill>
                            <a:schemeClr val="tx2"/>
                          </a:solidFill>
                          <a:effectLst/>
                          <a:latin typeface="Calibri" panose="020F0502020204030204" pitchFamily="34" charset="0"/>
                        </a:rPr>
                        <a:t>              4.699.149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es-CL" sz="1000" b="0" i="0" u="none" strike="noStrike" dirty="0">
                          <a:solidFill>
                            <a:schemeClr val="tx2"/>
                          </a:solidFill>
                          <a:effectLst/>
                          <a:latin typeface="Calibri" panose="020F0502020204030204" pitchFamily="34" charset="0"/>
                        </a:rPr>
                        <a:t>S/I</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8F3EC"/>
                    </a:solidFill>
                  </a:tcPr>
                </a:tc>
                <a:extLst>
                  <a:ext uri="{0D108BD9-81ED-4DB2-BD59-A6C34878D82A}">
                    <a16:rowId xmlns:a16="http://schemas.microsoft.com/office/drawing/2014/main" val="2094106028"/>
                  </a:ext>
                </a:extLst>
              </a:tr>
              <a:tr h="202500">
                <a:tc>
                  <a:txBody>
                    <a:bodyPr/>
                    <a:lstStyle/>
                    <a:p>
                      <a:pPr algn="l" fontAlgn="b">
                        <a:buNone/>
                      </a:pPr>
                      <a:endParaRPr lang="es-CL" sz="1000" b="1" i="0" u="none" strike="noStrike">
                        <a:solidFill>
                          <a:schemeClr val="tx2"/>
                        </a:solidFill>
                        <a:effectLst/>
                        <a:latin typeface="Calibri" panose="020F0502020204030204" pitchFamily="34" charset="0"/>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endParaRPr lang="es-CL" sz="1000" b="1" i="0" u="none" strike="noStrike">
                        <a:solidFill>
                          <a:schemeClr val="tx2"/>
                        </a:solidFill>
                        <a:effectLst/>
                        <a:latin typeface="Calibri" panose="020F0502020204030204" pitchFamily="34" charset="0"/>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l" fontAlgn="b">
                        <a:buNone/>
                      </a:pPr>
                      <a:endParaRPr lang="es-CL" sz="1000" b="1" i="0" u="none" strike="noStrike">
                        <a:solidFill>
                          <a:schemeClr val="tx2"/>
                        </a:solidFill>
                        <a:effectLst/>
                        <a:latin typeface="Calibri" panose="020F0502020204030204" pitchFamily="34" charset="0"/>
                      </a:endParaRPr>
                    </a:p>
                  </a:txBody>
                  <a:tcPr marL="9525" marR="9525" marT="9525" marB="0" anchor="b">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r" fontAlgn="ctr">
                        <a:buNone/>
                      </a:pPr>
                      <a:r>
                        <a:rPr lang="es-CL" sz="1000" b="1" i="0" u="none" strike="noStrike" dirty="0">
                          <a:solidFill>
                            <a:schemeClr val="tx2"/>
                          </a:solidFill>
                          <a:effectLst/>
                          <a:latin typeface="Calibri" panose="020F0502020204030204" pitchFamily="34" charset="0"/>
                        </a:rPr>
                        <a:t>75.871.643</a:t>
                      </a:r>
                    </a:p>
                  </a:txBody>
                  <a:tcPr marL="9525" marR="9525" marT="9525" marB="0" anchor="ctr">
                    <a:lnL>
                      <a:noFill/>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1000" b="1" i="0" u="none" strike="noStrike">
                          <a:solidFill>
                            <a:schemeClr val="tx2"/>
                          </a:solidFill>
                          <a:effectLst/>
                          <a:latin typeface="Calibri" panose="020F0502020204030204" pitchFamily="34" charset="0"/>
                        </a:rPr>
                        <a:t>36.610.345</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1000" b="1" i="0" u="none" strike="noStrike">
                          <a:solidFill>
                            <a:schemeClr val="tx2"/>
                          </a:solidFill>
                          <a:effectLst/>
                          <a:latin typeface="Calibri" panose="020F0502020204030204" pitchFamily="34" charset="0"/>
                        </a:rPr>
                        <a:t>129.277.856</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endParaRPr lang="es-CL" sz="1000" b="1" i="0" u="none" strike="noStrike" dirty="0">
                        <a:solidFill>
                          <a:schemeClr val="tx2"/>
                        </a:solidFill>
                        <a:effectLst/>
                        <a:latin typeface="Calibri" panose="020F0502020204030204" pitchFamily="34" charset="0"/>
                      </a:endParaRPr>
                    </a:p>
                  </a:txBody>
                  <a:tcPr marL="9525" marR="9525" marT="9525" marB="0" anchor="b">
                    <a:lnL w="6350" cap="flat" cmpd="sng" algn="ctr">
                      <a:solidFill>
                        <a:srgbClr val="D4D5E8"/>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1408790933"/>
                  </a:ext>
                </a:extLst>
              </a:tr>
            </a:tbl>
          </a:graphicData>
        </a:graphic>
      </p:graphicFrame>
    </p:spTree>
    <p:extLst>
      <p:ext uri="{BB962C8B-B14F-4D97-AF65-F5344CB8AC3E}">
        <p14:creationId xmlns:p14="http://schemas.microsoft.com/office/powerpoint/2010/main" val="21022195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21">
          <a:extLst>
            <a:ext uri="{FF2B5EF4-FFF2-40B4-BE49-F238E27FC236}">
              <a16:creationId xmlns:a16="http://schemas.microsoft.com/office/drawing/2014/main" id="{0FE01447-5AD3-6657-E68A-381B20D03774}"/>
            </a:ext>
          </a:extLst>
        </p:cNvPr>
        <p:cNvGrpSpPr/>
        <p:nvPr/>
      </p:nvGrpSpPr>
      <p:grpSpPr>
        <a:xfrm>
          <a:off x="0" y="0"/>
          <a:ext cx="0" cy="0"/>
          <a:chOff x="0" y="0"/>
          <a:chExt cx="0" cy="0"/>
        </a:xfrm>
      </p:grpSpPr>
      <p:sp>
        <p:nvSpPr>
          <p:cNvPr id="222" name="Google Shape;222;p2">
            <a:extLst>
              <a:ext uri="{FF2B5EF4-FFF2-40B4-BE49-F238E27FC236}">
                <a16:creationId xmlns:a16="http://schemas.microsoft.com/office/drawing/2014/main" id="{D8584F3D-02B6-4306-5834-43CE842F5F12}"/>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Agenda</a:t>
            </a:r>
            <a:endParaRPr sz="2700" b="0" i="0" u="none" strike="noStrike" cap="none">
              <a:solidFill>
                <a:srgbClr val="FFFFFF"/>
              </a:solidFill>
              <a:latin typeface="Roboto"/>
              <a:ea typeface="Roboto"/>
              <a:cs typeface="Roboto"/>
              <a:sym typeface="Roboto"/>
            </a:endParaRPr>
          </a:p>
        </p:txBody>
      </p:sp>
      <p:sp>
        <p:nvSpPr>
          <p:cNvPr id="223" name="Google Shape;223;p2">
            <a:extLst>
              <a:ext uri="{FF2B5EF4-FFF2-40B4-BE49-F238E27FC236}">
                <a16:creationId xmlns:a16="http://schemas.microsoft.com/office/drawing/2014/main" id="{C6C8D671-BEBB-E275-FD1E-752AAE8FCC1C}"/>
              </a:ext>
            </a:extLst>
          </p:cNvPr>
          <p:cNvSpPr/>
          <p:nvPr/>
        </p:nvSpPr>
        <p:spPr>
          <a:xfrm>
            <a:off x="393700" y="854015"/>
            <a:ext cx="11070806" cy="2967487"/>
          </a:xfrm>
          <a:prstGeom prst="rect">
            <a:avLst/>
          </a:prstGeom>
          <a:noFill/>
          <a:ln>
            <a:noFill/>
          </a:ln>
        </p:spPr>
        <p:txBody>
          <a:bodyPr spcFirstLastPara="1" wrap="square" lIns="91425" tIns="45700" rIns="91425" bIns="45700" anchor="t" anchorCtr="0">
            <a:noAutofit/>
          </a:bodyPr>
          <a:lstStyle/>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Decisiones para Comité de hoy</a:t>
            </a:r>
            <a:endParaRPr dirty="0"/>
          </a:p>
          <a:p>
            <a:pPr marL="0" marR="0" lvl="0" indent="0" algn="l" rtl="0">
              <a:spcBef>
                <a:spcPts val="0"/>
              </a:spcBef>
              <a:spcAft>
                <a:spcPts val="0"/>
              </a:spcAft>
              <a:buNone/>
            </a:pPr>
            <a:endParaRPr sz="1100" b="0" i="0" u="none" strike="noStrike" cap="none" dirty="0">
              <a:solidFill>
                <a:srgbClr val="373C46"/>
              </a:solidFill>
              <a:latin typeface="Arial"/>
              <a:ea typeface="Arial"/>
              <a:cs typeface="Arial"/>
              <a:sym typeface="Arial"/>
            </a:endParaRPr>
          </a:p>
          <a:p>
            <a:pPr marL="171450" marR="0" lvl="0" indent="-171450" algn="l" rtl="0">
              <a:spcBef>
                <a:spcPts val="0"/>
              </a:spcBef>
              <a:spcAft>
                <a:spcPts val="0"/>
              </a:spcAft>
              <a:buClr>
                <a:srgbClr val="373C46"/>
              </a:buClr>
              <a:buSzPts val="1100"/>
              <a:buFont typeface="Arial"/>
              <a:buChar char="•"/>
            </a:pPr>
            <a:r>
              <a:rPr lang="es-CL" sz="1100" b="0" i="0" u="none" strike="noStrike" cap="none" dirty="0">
                <a:solidFill>
                  <a:srgbClr val="373C46"/>
                </a:solidFill>
                <a:latin typeface="Arial"/>
                <a:ea typeface="Arial"/>
                <a:cs typeface="Arial"/>
                <a:sym typeface="Arial"/>
              </a:rPr>
              <a:t>Facturación Semana Actual y su desglose: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Criterio de Provisiones: </a:t>
            </a: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de Garantías provisionadas – Seguimiento de negocios facturados desde el 10/08, ingresos totales e ingresos “reconocidos”)</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Garantías Vigentes sin Ingreso asociado (Valorización de Garantía)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Brechas pendientes de facturación</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 repuestos que más bloquean incorporar el % de brecha</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EERR TECSERVICE último cierre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Asignación de Gastos Generales y Financieros</a:t>
            </a:r>
            <a:endParaRPr dirty="0"/>
          </a:p>
          <a:p>
            <a:pPr marL="285750" marR="0" lvl="0" indent="-215900" algn="l" rtl="0">
              <a:spcBef>
                <a:spcPts val="0"/>
              </a:spcBef>
              <a:spcAft>
                <a:spcPts val="0"/>
              </a:spcAft>
              <a:buClr>
                <a:schemeClr val="lt1"/>
              </a:buClr>
              <a:buSzPts val="1100"/>
              <a:buFont typeface="Arial"/>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Clientes con Problemas/Equipos Detenidos y su causa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Política de crédito para clientes principales – Bolsa de repuestos “necesaria” para cada cliente y qué % tenemos en stock</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Desglose de Contratos Vigentes y próximas en Pipeline</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err="1">
                <a:solidFill>
                  <a:schemeClr val="lt2"/>
                </a:solidFill>
                <a:latin typeface="Arial"/>
                <a:ea typeface="Arial"/>
                <a:cs typeface="Arial"/>
                <a:sym typeface="Arial"/>
              </a:rPr>
              <a:t>Update</a:t>
            </a:r>
            <a:r>
              <a:rPr lang="es-CL" sz="1100" b="0" i="0" u="none" strike="noStrike" cap="none" dirty="0">
                <a:solidFill>
                  <a:schemeClr val="lt2"/>
                </a:solidFill>
                <a:latin typeface="Arial"/>
                <a:ea typeface="Arial"/>
                <a:cs typeface="Arial"/>
                <a:sym typeface="Arial"/>
              </a:rPr>
              <a:t> Clientes (Nuevos/Perdidos y Renovados) </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Decisiones de Inversión para mantener clientes actuales (Rent – roll)</a:t>
            </a:r>
            <a:endParaRPr dirty="0"/>
          </a:p>
          <a:p>
            <a:pPr marL="457200" marR="0" lvl="1" indent="0" algn="l" rtl="0">
              <a:spcBef>
                <a:spcPts val="0"/>
              </a:spcBef>
              <a:spcAft>
                <a:spcPts val="0"/>
              </a:spcAft>
              <a:buNone/>
            </a:pPr>
            <a:endParaRPr sz="1100" b="0" i="0" u="none" strike="noStrike" cap="none" dirty="0">
              <a:solidFill>
                <a:srgbClr val="A5A5A5"/>
              </a:solidFill>
              <a:latin typeface="Arial"/>
              <a:ea typeface="Arial"/>
              <a:cs typeface="Arial"/>
              <a:sym typeface="Arial"/>
            </a:endParaRPr>
          </a:p>
          <a:p>
            <a:pPr marL="285750" marR="0" lvl="0"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Calidad de Servicio</a:t>
            </a:r>
            <a:endParaRPr dirty="0"/>
          </a:p>
          <a:p>
            <a:pPr marL="742950" marR="0" lvl="1" indent="-2857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Encuesta de Satisfacción (Cuadros tipo o reporte tipo de la NPS)</a:t>
            </a:r>
            <a:endParaRPr dirty="0"/>
          </a:p>
          <a:p>
            <a:pPr marL="742950" marR="0" lvl="1" indent="-215900" algn="l" rtl="0">
              <a:spcBef>
                <a:spcPts val="0"/>
              </a:spcBef>
              <a:spcAft>
                <a:spcPts val="0"/>
              </a:spcAft>
              <a:buClr>
                <a:schemeClr val="lt1"/>
              </a:buClr>
              <a:buSzPts val="1100"/>
              <a:buFont typeface="Arial"/>
              <a:buNone/>
            </a:pPr>
            <a:endParaRPr sz="1100" b="0" i="0" u="none" strike="noStrike" cap="none" dirty="0">
              <a:solidFill>
                <a:schemeClr val="lt2"/>
              </a:solidFill>
              <a:latin typeface="Arial"/>
              <a:ea typeface="Arial"/>
              <a:cs typeface="Arial"/>
              <a:sym typeface="Arial"/>
            </a:endParaRPr>
          </a:p>
          <a:p>
            <a:pPr marL="171450" marR="0" lvl="0" indent="-171450" algn="l" rtl="0">
              <a:spcBef>
                <a:spcPts val="0"/>
              </a:spcBef>
              <a:spcAft>
                <a:spcPts val="0"/>
              </a:spcAft>
              <a:buClr>
                <a:schemeClr val="lt2"/>
              </a:buClr>
              <a:buSzPts val="1100"/>
              <a:buFont typeface="Arial"/>
              <a:buChar char="•"/>
            </a:pPr>
            <a:r>
              <a:rPr lang="es-CL" sz="1100" b="0" i="0" u="none" strike="noStrike" cap="none" dirty="0">
                <a:solidFill>
                  <a:schemeClr val="lt2"/>
                </a:solidFill>
                <a:latin typeface="Arial"/>
                <a:ea typeface="Arial"/>
                <a:cs typeface="Arial"/>
                <a:sym typeface="Arial"/>
              </a:rPr>
              <a:t>Prospectos Clientes Base Instalada Vigente y por Renovar por Región</a:t>
            </a:r>
          </a:p>
          <a:p>
            <a:pPr marL="171450" lvl="4" indent="-171450">
              <a:buClr>
                <a:schemeClr val="lt2"/>
              </a:buClr>
              <a:buSzPts val="1100"/>
              <a:buFont typeface="Arial"/>
              <a:buChar char="•"/>
            </a:pPr>
            <a:endParaRPr lang="es-CL" sz="1100" dirty="0">
              <a:solidFill>
                <a:schemeClr val="lt2"/>
              </a:solidFill>
            </a:endParaRPr>
          </a:p>
          <a:p>
            <a:pPr marL="628650" indent="-171450">
              <a:buClr>
                <a:schemeClr val="lt2"/>
              </a:buClr>
              <a:buSzPts val="1100"/>
              <a:buFont typeface="Arial"/>
              <a:buChar char="•"/>
            </a:pPr>
            <a:r>
              <a:rPr lang="es-MX" sz="1100" dirty="0">
                <a:solidFill>
                  <a:schemeClr val="lt2"/>
                </a:solidFill>
              </a:rPr>
              <a:t>Base Instalada Vigente y Renovar por Región</a:t>
            </a:r>
          </a:p>
          <a:p>
            <a:pPr marL="628650" indent="-171450">
              <a:buClr>
                <a:schemeClr val="lt2"/>
              </a:buClr>
              <a:buSzPts val="1100"/>
              <a:buFont typeface="Arial"/>
              <a:buChar char="•"/>
            </a:pPr>
            <a:r>
              <a:rPr lang="es-MX" sz="1100" dirty="0">
                <a:solidFill>
                  <a:schemeClr val="lt2"/>
                </a:solidFill>
              </a:rPr>
              <a:t>Seguimiento Plan Sur</a:t>
            </a:r>
          </a:p>
          <a:p>
            <a:pPr marL="628650" indent="-171450">
              <a:buClr>
                <a:schemeClr val="lt2"/>
              </a:buClr>
              <a:buSzPts val="1100"/>
              <a:buFont typeface="Arial"/>
              <a:buChar char="•"/>
            </a:pPr>
            <a:r>
              <a:rPr lang="es-CL" sz="1100" dirty="0">
                <a:solidFill>
                  <a:schemeClr val="lt2"/>
                </a:solidFill>
              </a:rPr>
              <a:t>Plan Valparaíso y Región Metropolitana</a:t>
            </a:r>
            <a:endParaRPr lang="es-MX" sz="1100" dirty="0"/>
          </a:p>
          <a:p>
            <a:pPr marL="628650" indent="-171450">
              <a:buClr>
                <a:schemeClr val="lt2"/>
              </a:buClr>
              <a:buSzPts val="1100"/>
              <a:buFont typeface="Arial"/>
              <a:buChar char="•"/>
            </a:pPr>
            <a:endParaRPr sz="1100" dirty="0"/>
          </a:p>
          <a:p>
            <a:pPr marL="285750" marR="0" lvl="0" indent="-215900" algn="l" rtl="0">
              <a:lnSpc>
                <a:spcPct val="100000"/>
              </a:lnSpc>
              <a:spcBef>
                <a:spcPts val="0"/>
              </a:spcBef>
              <a:spcAft>
                <a:spcPts val="0"/>
              </a:spcAft>
              <a:buClr>
                <a:schemeClr val="lt1"/>
              </a:buClr>
              <a:buSzPts val="1100"/>
              <a:buFont typeface="Arial"/>
              <a:buNone/>
            </a:pPr>
            <a:endParaRPr sz="1100" b="0" i="0" u="none" strike="noStrike" cap="none" dirty="0">
              <a:solidFill>
                <a:srgbClr val="373C46"/>
              </a:solidFill>
              <a:latin typeface="Arial"/>
              <a:ea typeface="Arial"/>
              <a:cs typeface="Arial"/>
              <a:sym typeface="Arial"/>
            </a:endParaRPr>
          </a:p>
          <a:p>
            <a:pPr marL="0" marR="0" lvl="0" indent="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a:p>
            <a:pPr marL="285750" marR="0" lvl="0" indent="-196850" algn="l" rtl="0">
              <a:lnSpc>
                <a:spcPct val="100000"/>
              </a:lnSpc>
              <a:spcBef>
                <a:spcPts val="0"/>
              </a:spcBef>
              <a:spcAft>
                <a:spcPts val="0"/>
              </a:spcAft>
              <a:buClr>
                <a:schemeClr val="lt1"/>
              </a:buClr>
              <a:buSzPts val="1400"/>
              <a:buFont typeface="Arial"/>
              <a:buNone/>
            </a:pPr>
            <a:endParaRPr sz="1400" b="0" i="0" u="none" strike="noStrike" cap="none" dirty="0">
              <a:solidFill>
                <a:srgbClr val="373C46"/>
              </a:solidFill>
              <a:latin typeface="Arial"/>
              <a:ea typeface="Arial"/>
              <a:cs typeface="Arial"/>
              <a:sym typeface="Arial"/>
            </a:endParaRPr>
          </a:p>
        </p:txBody>
      </p:sp>
      <p:sp>
        <p:nvSpPr>
          <p:cNvPr id="3" name="Google Shape;230;p3">
            <a:extLst>
              <a:ext uri="{FF2B5EF4-FFF2-40B4-BE49-F238E27FC236}">
                <a16:creationId xmlns:a16="http://schemas.microsoft.com/office/drawing/2014/main" id="{F9C21C81-C4A1-480D-D46C-13C0D95FA6DE}"/>
              </a:ext>
            </a:extLst>
          </p:cNvPr>
          <p:cNvSpPr/>
          <p:nvPr/>
        </p:nvSpPr>
        <p:spPr>
          <a:xfrm>
            <a:off x="393700" y="5113834"/>
            <a:ext cx="11312345" cy="205166"/>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Tree>
    <p:extLst>
      <p:ext uri="{BB962C8B-B14F-4D97-AF65-F5344CB8AC3E}">
        <p14:creationId xmlns:p14="http://schemas.microsoft.com/office/powerpoint/2010/main" val="362159501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35"/>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sp>
        <p:nvSpPr>
          <p:cNvPr id="455" name="Google Shape;455;p35"/>
          <p:cNvSpPr txBox="1"/>
          <p:nvPr/>
        </p:nvSpPr>
        <p:spPr>
          <a:xfrm>
            <a:off x="320832" y="78336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b="1">
                <a:solidFill>
                  <a:srgbClr val="33448D"/>
                </a:solidFill>
                <a:latin typeface="Roboto"/>
                <a:ea typeface="Roboto"/>
                <a:cs typeface="Roboto"/>
                <a:sym typeface="Roboto"/>
              </a:rPr>
              <a:t>Status y Potencial Base Instalada Actual</a:t>
            </a:r>
            <a:endParaRPr/>
          </a:p>
        </p:txBody>
      </p:sp>
      <p:sp>
        <p:nvSpPr>
          <p:cNvPr id="457" name="Google Shape;457;p35"/>
          <p:cNvSpPr/>
          <p:nvPr/>
        </p:nvSpPr>
        <p:spPr>
          <a:xfrm>
            <a:off x="320832" y="5572665"/>
            <a:ext cx="11502870" cy="1142460"/>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000"/>
              <a:buFont typeface="Arial"/>
              <a:buChar char="•"/>
            </a:pPr>
            <a:r>
              <a:rPr lang="es-CL" sz="1000" dirty="0">
                <a:solidFill>
                  <a:schemeClr val="lt1"/>
                </a:solidFill>
                <a:latin typeface="Arial"/>
                <a:ea typeface="Arial"/>
                <a:cs typeface="Arial"/>
                <a:sym typeface="Arial"/>
              </a:rPr>
              <a:t>Actualmente se tiene la región Metropolitana como Ciudad Hub (Técnicos, Coordinación, Jefatura y Distribución) y la región de Bío </a:t>
            </a:r>
            <a:r>
              <a:rPr lang="es-CL" sz="1000" dirty="0" err="1">
                <a:solidFill>
                  <a:schemeClr val="lt1"/>
                </a:solidFill>
                <a:latin typeface="Arial"/>
                <a:ea typeface="Arial"/>
                <a:cs typeface="Arial"/>
                <a:sym typeface="Arial"/>
              </a:rPr>
              <a:t>Bío</a:t>
            </a:r>
            <a:r>
              <a:rPr lang="es-CL" sz="1000" dirty="0">
                <a:solidFill>
                  <a:schemeClr val="lt1"/>
                </a:solidFill>
                <a:latin typeface="Arial"/>
                <a:ea typeface="Arial"/>
                <a:cs typeface="Arial"/>
                <a:sym typeface="Arial"/>
              </a:rPr>
              <a:t> como Satélite (Técnicos + Camioneta) de las regiones de Ñuble y la región de Los Lagos como Satélite (Técnicos + Camioneta) de la región de La Araucanía</a:t>
            </a:r>
            <a:endParaRPr dirty="0"/>
          </a:p>
          <a:p>
            <a:pPr marL="171450" marR="0" lvl="0" indent="-107950" algn="l" rtl="0">
              <a:spcBef>
                <a:spcPts val="0"/>
              </a:spcBef>
              <a:spcAft>
                <a:spcPts val="0"/>
              </a:spcAft>
              <a:buClr>
                <a:schemeClr val="dk1"/>
              </a:buClr>
              <a:buSzPts val="1000"/>
              <a:buFont typeface="Arial"/>
              <a:buNone/>
            </a:pPr>
            <a:endParaRPr sz="10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000"/>
              <a:buFont typeface="Arial"/>
              <a:buChar char="•"/>
            </a:pPr>
            <a:r>
              <a:rPr lang="es-CL" sz="1000" dirty="0">
                <a:solidFill>
                  <a:schemeClr val="lt1"/>
                </a:solidFill>
                <a:latin typeface="Arial"/>
                <a:ea typeface="Arial"/>
                <a:cs typeface="Arial"/>
                <a:sym typeface="Arial"/>
              </a:rPr>
              <a:t>Considerando que para que una ciudad sea considerada Satélite y llegue a break </a:t>
            </a:r>
            <a:r>
              <a:rPr lang="es-CL" sz="1000" dirty="0" err="1">
                <a:solidFill>
                  <a:schemeClr val="lt1"/>
                </a:solidFill>
                <a:latin typeface="Arial"/>
                <a:ea typeface="Arial"/>
                <a:cs typeface="Arial"/>
                <a:sym typeface="Arial"/>
              </a:rPr>
              <a:t>even</a:t>
            </a:r>
            <a:r>
              <a:rPr lang="es-CL" sz="1000" dirty="0">
                <a:solidFill>
                  <a:schemeClr val="lt1"/>
                </a:solidFill>
                <a:latin typeface="Arial"/>
                <a:ea typeface="Arial"/>
                <a:cs typeface="Arial"/>
                <a:sym typeface="Arial"/>
              </a:rPr>
              <a:t>, debe ser capaz de capturar al menos MM$100 anuales, considerando Gastos de Bodegaje, Camioneta, un técnico alocado en al región y un margen de un 50%</a:t>
            </a:r>
            <a:endParaRPr dirty="0"/>
          </a:p>
          <a:p>
            <a:pPr marL="171450" marR="0" lvl="0" indent="-107950" algn="l" rtl="0">
              <a:spcBef>
                <a:spcPts val="0"/>
              </a:spcBef>
              <a:spcAft>
                <a:spcPts val="0"/>
              </a:spcAft>
              <a:buClr>
                <a:schemeClr val="dk1"/>
              </a:buClr>
              <a:buSzPts val="1000"/>
              <a:buFont typeface="Arial"/>
              <a:buNone/>
            </a:pPr>
            <a:endParaRPr sz="10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000"/>
              <a:buFont typeface="Arial"/>
              <a:buChar char="•"/>
            </a:pPr>
            <a:r>
              <a:rPr lang="es-CL" sz="1000" dirty="0">
                <a:solidFill>
                  <a:schemeClr val="lt1"/>
                </a:solidFill>
                <a:latin typeface="Arial"/>
                <a:ea typeface="Arial"/>
                <a:cs typeface="Arial"/>
                <a:sym typeface="Arial"/>
              </a:rPr>
              <a:t>De esto, y considerando los Hub actuales, hay una región “disponible para set Hub actualmente que es la región de </a:t>
            </a:r>
            <a:r>
              <a:rPr lang="es-CL" sz="1000" dirty="0" err="1">
                <a:solidFill>
                  <a:schemeClr val="lt1"/>
                </a:solidFill>
                <a:latin typeface="Arial"/>
                <a:ea typeface="Arial"/>
                <a:cs typeface="Arial"/>
                <a:sym typeface="Arial"/>
              </a:rPr>
              <a:t>Valparaiso</a:t>
            </a:r>
            <a:r>
              <a:rPr lang="es-CL" sz="1000" dirty="0">
                <a:solidFill>
                  <a:schemeClr val="lt1"/>
                </a:solidFill>
                <a:latin typeface="Arial"/>
                <a:ea typeface="Arial"/>
                <a:cs typeface="Arial"/>
                <a:sym typeface="Arial"/>
              </a:rPr>
              <a:t>, el resto no presentan el potencial suficiente para llegar a Break-</a:t>
            </a:r>
            <a:r>
              <a:rPr lang="es-CL" sz="1000" dirty="0" err="1">
                <a:solidFill>
                  <a:schemeClr val="lt1"/>
                </a:solidFill>
                <a:latin typeface="Arial"/>
                <a:ea typeface="Arial"/>
                <a:cs typeface="Arial"/>
                <a:sym typeface="Arial"/>
              </a:rPr>
              <a:t>even</a:t>
            </a:r>
            <a:endParaRPr sz="1000" dirty="0">
              <a:solidFill>
                <a:schemeClr val="lt1"/>
              </a:solidFill>
              <a:latin typeface="Arial"/>
              <a:ea typeface="Arial"/>
              <a:cs typeface="Arial"/>
              <a:sym typeface="Arial"/>
            </a:endParaRPr>
          </a:p>
        </p:txBody>
      </p:sp>
      <p:graphicFrame>
        <p:nvGraphicFramePr>
          <p:cNvPr id="3" name="Google Shape;456;p35">
            <a:extLst>
              <a:ext uri="{FF2B5EF4-FFF2-40B4-BE49-F238E27FC236}">
                <a16:creationId xmlns:a16="http://schemas.microsoft.com/office/drawing/2014/main" id="{677FF7F2-B4A4-4158-4EA1-0528479EF28E}"/>
              </a:ext>
            </a:extLst>
          </p:cNvPr>
          <p:cNvGraphicFramePr/>
          <p:nvPr>
            <p:extLst>
              <p:ext uri="{D42A27DB-BD31-4B8C-83A1-F6EECF244321}">
                <p14:modId xmlns:p14="http://schemas.microsoft.com/office/powerpoint/2010/main" val="1374570506"/>
              </p:ext>
            </p:extLst>
          </p:nvPr>
        </p:nvGraphicFramePr>
        <p:xfrm>
          <a:off x="320832" y="1104900"/>
          <a:ext cx="11430000" cy="4361020"/>
        </p:xfrm>
        <a:graphic>
          <a:graphicData uri="http://schemas.openxmlformats.org/drawingml/2006/table">
            <a:tbl>
              <a:tblPr>
                <a:noFill/>
                <a:tableStyleId>{13D43741-7D58-4360-86AC-F6E32FA5FF39}</a:tableStyleId>
              </a:tblPr>
              <a:tblGrid>
                <a:gridCol w="1270000">
                  <a:extLst>
                    <a:ext uri="{9D8B030D-6E8A-4147-A177-3AD203B41FA5}">
                      <a16:colId xmlns:a16="http://schemas.microsoft.com/office/drawing/2014/main" val="20000"/>
                    </a:ext>
                  </a:extLst>
                </a:gridCol>
                <a:gridCol w="1270000">
                  <a:extLst>
                    <a:ext uri="{9D8B030D-6E8A-4147-A177-3AD203B41FA5}">
                      <a16:colId xmlns:a16="http://schemas.microsoft.com/office/drawing/2014/main" val="20001"/>
                    </a:ext>
                  </a:extLst>
                </a:gridCol>
                <a:gridCol w="1270000">
                  <a:extLst>
                    <a:ext uri="{9D8B030D-6E8A-4147-A177-3AD203B41FA5}">
                      <a16:colId xmlns:a16="http://schemas.microsoft.com/office/drawing/2014/main" val="20002"/>
                    </a:ext>
                  </a:extLst>
                </a:gridCol>
                <a:gridCol w="1270000">
                  <a:extLst>
                    <a:ext uri="{9D8B030D-6E8A-4147-A177-3AD203B41FA5}">
                      <a16:colId xmlns:a16="http://schemas.microsoft.com/office/drawing/2014/main" val="20003"/>
                    </a:ext>
                  </a:extLst>
                </a:gridCol>
                <a:gridCol w="1270000">
                  <a:extLst>
                    <a:ext uri="{9D8B030D-6E8A-4147-A177-3AD203B41FA5}">
                      <a16:colId xmlns:a16="http://schemas.microsoft.com/office/drawing/2014/main" val="20004"/>
                    </a:ext>
                  </a:extLst>
                </a:gridCol>
                <a:gridCol w="1270000">
                  <a:extLst>
                    <a:ext uri="{9D8B030D-6E8A-4147-A177-3AD203B41FA5}">
                      <a16:colId xmlns:a16="http://schemas.microsoft.com/office/drawing/2014/main" val="20005"/>
                    </a:ext>
                  </a:extLst>
                </a:gridCol>
                <a:gridCol w="1270000">
                  <a:extLst>
                    <a:ext uri="{9D8B030D-6E8A-4147-A177-3AD203B41FA5}">
                      <a16:colId xmlns:a16="http://schemas.microsoft.com/office/drawing/2014/main" val="20006"/>
                    </a:ext>
                  </a:extLst>
                </a:gridCol>
                <a:gridCol w="1270000">
                  <a:extLst>
                    <a:ext uri="{9D8B030D-6E8A-4147-A177-3AD203B41FA5}">
                      <a16:colId xmlns:a16="http://schemas.microsoft.com/office/drawing/2014/main" val="20008"/>
                    </a:ext>
                  </a:extLst>
                </a:gridCol>
                <a:gridCol w="1270000">
                  <a:extLst>
                    <a:ext uri="{9D8B030D-6E8A-4147-A177-3AD203B41FA5}">
                      <a16:colId xmlns:a16="http://schemas.microsoft.com/office/drawing/2014/main" val="20009"/>
                    </a:ext>
                  </a:extLst>
                </a:gridCol>
              </a:tblGrid>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REGIÓN</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EQUIPOS</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DENTAL</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ESTERILIZAC</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ENDOSCOPÍA</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INCARDIA</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CLIENTES</a:t>
                      </a:r>
                      <a:endParaRPr/>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POTENCIAL ST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214650">
                <a:tc>
                  <a:txBody>
                    <a:bodyPr/>
                    <a:lstStyle/>
                    <a:p>
                      <a:pPr marL="0" marR="0" lvl="0" indent="0" algn="l"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Metropolitana</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1.176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40.1%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546</a:t>
                      </a: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491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137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2</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300</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chemeClr val="accent3"/>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MM$808,2</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3"/>
                    </a:solidFill>
                  </a:tcPr>
                </a:tc>
                <a:extLst>
                  <a:ext uri="{0D108BD9-81ED-4DB2-BD59-A6C34878D82A}">
                    <a16:rowId xmlns:a16="http://schemas.microsoft.com/office/drawing/2014/main" val="10001"/>
                  </a:ext>
                </a:extLst>
              </a:tr>
              <a:tr h="214650">
                <a:tc>
                  <a:txBody>
                    <a:bodyPr/>
                    <a:lstStyle/>
                    <a:p>
                      <a:pPr marL="0" marR="0" lvl="0" indent="0" algn="l"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Bío Bío</a:t>
                      </a:r>
                      <a:endParaRPr sz="900" b="1" i="0" u="none" strike="noStrike" cap="none">
                        <a:solidFill>
                          <a:schemeClr val="dk1"/>
                        </a:solidFill>
                        <a:latin typeface="Roboto"/>
                        <a:ea typeface="Roboto"/>
                        <a:cs typeface="Roboto"/>
                        <a:sym typeface="Roboto"/>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304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10.4%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125</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149</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82</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MM$284,3</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extLst>
                  <a:ext uri="{0D108BD9-81ED-4DB2-BD59-A6C34878D82A}">
                    <a16:rowId xmlns:a16="http://schemas.microsoft.com/office/drawing/2014/main" val="10002"/>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Valparaíso</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269</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9.2%</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131</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106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32</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74</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MM$188,6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214650">
                <a:tc>
                  <a:txBody>
                    <a:bodyPr/>
                    <a:lstStyle/>
                    <a:p>
                      <a:pPr marL="0" marR="0" lvl="0" indent="0" algn="l"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Los Lagos</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164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5.6%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30</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70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64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39</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MM$77,3</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extLst>
                  <a:ext uri="{0D108BD9-81ED-4DB2-BD59-A6C34878D82A}">
                    <a16:rowId xmlns:a16="http://schemas.microsoft.com/office/drawing/2014/main" val="10004"/>
                  </a:ext>
                </a:extLst>
              </a:tr>
              <a:tr h="214650">
                <a:tc>
                  <a:txBody>
                    <a:bodyPr/>
                    <a:lstStyle/>
                    <a:p>
                      <a:pPr marL="0" marR="0" lvl="0" indent="0" algn="l"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Araucanía</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134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4.6%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35</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98</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33</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chemeClr val="accent1"/>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MM$159,2</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1"/>
                    </a:solidFill>
                  </a:tcPr>
                </a:tc>
                <a:extLst>
                  <a:ext uri="{0D108BD9-81ED-4DB2-BD59-A6C34878D82A}">
                    <a16:rowId xmlns:a16="http://schemas.microsoft.com/office/drawing/2014/main" val="10005"/>
                  </a:ext>
                </a:extLst>
              </a:tr>
              <a:tr h="214650">
                <a:tc>
                  <a:txBody>
                    <a:bodyPr/>
                    <a:lstStyle/>
                    <a:p>
                      <a:pPr marL="0" marR="0" lvl="0" indent="0" algn="l"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Maule</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118</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4.0%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71</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45</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2</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46</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MM$132,3</a:t>
                      </a: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extLst>
                  <a:ext uri="{0D108BD9-81ED-4DB2-BD59-A6C34878D82A}">
                    <a16:rowId xmlns:a16="http://schemas.microsoft.com/office/drawing/2014/main" val="10006"/>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Coquimbo</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92</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19</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41</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MM$83,4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O'Higgins</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77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2.6%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57</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32</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MM$71,2</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Antofagasta</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52</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1.8%</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18</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18</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MM$59,0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214650">
                <a:tc>
                  <a:txBody>
                    <a:bodyPr/>
                    <a:lstStyle/>
                    <a:p>
                      <a:pPr marL="0" marR="0" lvl="0" indent="0" algn="l"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Ñuble</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51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1.7%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30</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21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a:solidFill>
                            <a:schemeClr val="dk1"/>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24</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0000"/>
                    </a:solidFill>
                  </a:tcPr>
                </a:tc>
                <a:tc>
                  <a:txBody>
                    <a:bodyPr/>
                    <a:lstStyle/>
                    <a:p>
                      <a:pPr marL="0" marR="0" lvl="0" indent="0" algn="r" rtl="0">
                        <a:spcBef>
                          <a:spcPts val="0"/>
                        </a:spcBef>
                        <a:spcAft>
                          <a:spcPts val="0"/>
                        </a:spcAft>
                        <a:buClr>
                          <a:schemeClr val="dk1"/>
                        </a:buClr>
                        <a:buSzPts val="900"/>
                        <a:buFont typeface="Roboto"/>
                        <a:buNone/>
                      </a:pPr>
                      <a:r>
                        <a:rPr lang="es-CL" sz="900" b="1" i="0" u="none" strike="noStrike" cap="none" dirty="0">
                          <a:solidFill>
                            <a:schemeClr val="dk1"/>
                          </a:solidFill>
                          <a:latin typeface="Roboto"/>
                          <a:ea typeface="Roboto"/>
                          <a:cs typeface="Roboto"/>
                          <a:sym typeface="Roboto"/>
                        </a:rPr>
                        <a:t>MM$52,7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0000"/>
                    </a:solidFill>
                  </a:tcPr>
                </a:tc>
                <a:extLst>
                  <a:ext uri="{0D108BD9-81ED-4DB2-BD59-A6C34878D82A}">
                    <a16:rowId xmlns:a16="http://schemas.microsoft.com/office/drawing/2014/main" val="10010"/>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Tarapacá</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49</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23</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26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15</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MM$39,8</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Magallanes</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33</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16</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11</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MM$40,0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Aysén</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24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0.8%</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8</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9</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7</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8</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MM$16,0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351225">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Arica y Parinacota</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18</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0.6%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6</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2</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10</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MM$19,4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Los Ríos</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16</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0.5%</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13</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10</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MM$28,4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214650">
                <a:tc>
                  <a:txBody>
                    <a:bodyPr/>
                    <a:lstStyle/>
                    <a:p>
                      <a:pPr marL="0" marR="0" lvl="0" indent="0" algn="l"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Atacama</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0.4%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3</a:t>
                      </a:r>
                      <a:endParaRPr lang="es-CL"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8</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8</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MM$12,1</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214650">
                <a:tc>
                  <a:txBody>
                    <a:bodyPr/>
                    <a:lstStyle/>
                    <a:p>
                      <a:pPr marL="0" marR="0" lvl="0" indent="0" algn="l" rtl="0">
                        <a:lnSpc>
                          <a:spcPct val="100000"/>
                        </a:lnSpc>
                        <a:spcBef>
                          <a:spcPts val="0"/>
                        </a:spcBef>
                        <a:spcAft>
                          <a:spcPts val="0"/>
                        </a:spcAft>
                        <a:buClr>
                          <a:schemeClr val="lt2"/>
                        </a:buClr>
                        <a:buSzPts val="900"/>
                        <a:buFont typeface="Roboto"/>
                        <a:buNone/>
                      </a:pPr>
                      <a:r>
                        <a:rPr lang="es-CL" sz="900" b="1" i="0" u="none" strike="noStrike" cap="none" spc="0" dirty="0">
                          <a:solidFill>
                            <a:schemeClr val="lt2"/>
                          </a:solidFill>
                          <a:latin typeface="Roboto"/>
                          <a:ea typeface="Roboto"/>
                          <a:cs typeface="Roboto"/>
                          <a:sym typeface="Arial"/>
                        </a:rPr>
                        <a:t>Sin Región</a:t>
                      </a:r>
                      <a:endParaRPr sz="900" b="1" i="0" u="none" strike="noStrike" cap="none" spc="0" dirty="0">
                        <a:solidFill>
                          <a:schemeClr val="lt2"/>
                        </a:solidFill>
                        <a:latin typeface="Roboto"/>
                        <a:ea typeface="Roboto"/>
                        <a:cs typeface="Roboto"/>
                        <a:sym typeface="Arial"/>
                      </a:endParaRPr>
                    </a:p>
                  </a:txBody>
                  <a:tcPr marL="78050" marR="78050" marT="39025" marB="39025" anchor="ctr">
                    <a:lnL w="12700" cap="flat" cmpd="sng">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lnSpc>
                          <a:spcPct val="100000"/>
                        </a:lnSpc>
                        <a:spcBef>
                          <a:spcPts val="0"/>
                        </a:spcBef>
                        <a:spcAft>
                          <a:spcPts val="0"/>
                        </a:spcAft>
                        <a:buClr>
                          <a:schemeClr val="lt2"/>
                        </a:buClr>
                        <a:buSzPts val="900"/>
                        <a:buFont typeface="Roboto"/>
                        <a:buNone/>
                      </a:pPr>
                      <a:r>
                        <a:rPr lang="es-CL" sz="900" b="1" i="0" u="none" strike="noStrike" cap="none" spc="0" dirty="0">
                          <a:solidFill>
                            <a:schemeClr val="lt2"/>
                          </a:solidFill>
                          <a:latin typeface="Roboto"/>
                          <a:ea typeface="Roboto"/>
                          <a:cs typeface="Roboto"/>
                          <a:sym typeface="Arial"/>
                        </a:rPr>
                        <a:t>344</a:t>
                      </a:r>
                      <a:endParaRPr sz="900" b="1" i="0" u="none" strike="noStrike" cap="none" spc="0" dirty="0">
                        <a:solidFill>
                          <a:schemeClr val="lt2"/>
                        </a:solidFill>
                        <a:latin typeface="Roboto"/>
                        <a:ea typeface="Roboto"/>
                        <a:cs typeface="Roboto"/>
                        <a:sym typeface="Arial"/>
                      </a:endParaRPr>
                    </a:p>
                  </a:txBody>
                  <a:tcPr marL="78050" marR="78050" marT="39025" marB="39025" anchor="ctr">
                    <a:lnL w="12700" cap="flat" cmpd="sng" algn="ctr">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lnSpc>
                          <a:spcPct val="100000"/>
                        </a:lnSpc>
                        <a:spcBef>
                          <a:spcPts val="0"/>
                        </a:spcBef>
                        <a:spcAft>
                          <a:spcPts val="0"/>
                        </a:spcAft>
                        <a:buClr>
                          <a:schemeClr val="lt2"/>
                        </a:buClr>
                        <a:buSzPts val="900"/>
                        <a:buFont typeface="Roboto"/>
                        <a:buNone/>
                      </a:pPr>
                      <a:r>
                        <a:rPr lang="es-CL" sz="900" b="1" i="0" u="none" strike="noStrike" cap="none" spc="0" dirty="0">
                          <a:solidFill>
                            <a:schemeClr val="lt2"/>
                          </a:solidFill>
                          <a:latin typeface="Roboto"/>
                          <a:ea typeface="Roboto"/>
                          <a:cs typeface="Roboto"/>
                          <a:sym typeface="Arial"/>
                        </a:rPr>
                        <a:t>11,7%</a:t>
                      </a:r>
                      <a:endParaRPr sz="900" b="1" i="0" u="none" strike="noStrike" cap="none" spc="0" dirty="0">
                        <a:solidFill>
                          <a:schemeClr val="lt2"/>
                        </a:solidFill>
                        <a:latin typeface="Roboto"/>
                        <a:ea typeface="Roboto"/>
                        <a:cs typeface="Roboto"/>
                        <a:sym typeface="Arial"/>
                      </a:endParaRPr>
                    </a:p>
                  </a:txBody>
                  <a:tcPr marL="78050" marR="78050" marT="39025" marB="39025" anchor="ctr">
                    <a:lnL w="12700" cap="flat" cmpd="sng" algn="ctr">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lnSpc>
                          <a:spcPct val="100000"/>
                        </a:lnSpc>
                        <a:spcBef>
                          <a:spcPts val="0"/>
                        </a:spcBef>
                        <a:spcAft>
                          <a:spcPts val="0"/>
                        </a:spcAft>
                        <a:buClr>
                          <a:schemeClr val="lt2"/>
                        </a:buClr>
                        <a:buSzPts val="900"/>
                        <a:buFont typeface="Roboto"/>
                        <a:buNone/>
                      </a:pPr>
                      <a:r>
                        <a:rPr lang="es-CL" sz="900" b="1" i="0" u="none" strike="noStrike" cap="none" spc="0" dirty="0">
                          <a:solidFill>
                            <a:schemeClr val="lt2"/>
                          </a:solidFill>
                          <a:latin typeface="Roboto"/>
                          <a:ea typeface="Roboto"/>
                          <a:cs typeface="Roboto"/>
                          <a:sym typeface="Arial"/>
                        </a:rPr>
                        <a:t>168</a:t>
                      </a:r>
                    </a:p>
                  </a:txBody>
                  <a:tcPr marL="78050" marR="78050" marT="39025" marB="39025" anchor="ctr">
                    <a:lnL w="12700" cap="flat" cmpd="sng" algn="ctr">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lnSpc>
                          <a:spcPct val="100000"/>
                        </a:lnSpc>
                        <a:spcBef>
                          <a:spcPts val="0"/>
                        </a:spcBef>
                        <a:spcAft>
                          <a:spcPts val="0"/>
                        </a:spcAft>
                        <a:buClr>
                          <a:schemeClr val="lt2"/>
                        </a:buClr>
                        <a:buSzPts val="900"/>
                        <a:buFont typeface="Roboto"/>
                        <a:buNone/>
                      </a:pPr>
                      <a:r>
                        <a:rPr lang="es-CL" sz="900" b="1" i="0" u="none" strike="noStrike" cap="none" spc="0" dirty="0">
                          <a:solidFill>
                            <a:schemeClr val="lt2"/>
                          </a:solidFill>
                          <a:latin typeface="Roboto"/>
                          <a:ea typeface="Roboto"/>
                          <a:cs typeface="Roboto"/>
                          <a:sym typeface="Arial"/>
                        </a:rPr>
                        <a:t>91</a:t>
                      </a:r>
                      <a:endParaRPr sz="900" b="1" i="0" u="none" strike="noStrike" cap="none" spc="0" dirty="0">
                        <a:solidFill>
                          <a:schemeClr val="lt2"/>
                        </a:solidFill>
                        <a:latin typeface="Roboto"/>
                        <a:ea typeface="Roboto"/>
                        <a:cs typeface="Roboto"/>
                        <a:sym typeface="Arial"/>
                      </a:endParaRPr>
                    </a:p>
                  </a:txBody>
                  <a:tcPr marL="78050" marR="78050" marT="39025" marB="39025" anchor="ctr">
                    <a:lnL w="12700" cap="flat" cmpd="sng" algn="ctr">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lnSpc>
                          <a:spcPct val="100000"/>
                        </a:lnSpc>
                        <a:spcBef>
                          <a:spcPts val="0"/>
                        </a:spcBef>
                        <a:spcAft>
                          <a:spcPts val="0"/>
                        </a:spcAft>
                        <a:buClr>
                          <a:schemeClr val="lt2"/>
                        </a:buClr>
                        <a:buSzPts val="900"/>
                        <a:buFont typeface="Roboto"/>
                        <a:buNone/>
                      </a:pPr>
                      <a:r>
                        <a:rPr lang="es-CL" sz="900" b="1" i="0" u="none" strike="noStrike" cap="none" spc="0" dirty="0">
                          <a:solidFill>
                            <a:schemeClr val="lt2"/>
                          </a:solidFill>
                          <a:latin typeface="Roboto"/>
                          <a:ea typeface="Roboto"/>
                          <a:cs typeface="Roboto"/>
                          <a:sym typeface="Arial"/>
                        </a:rPr>
                        <a:t>83</a:t>
                      </a:r>
                      <a:endParaRPr sz="900" b="1" i="0" u="none" strike="noStrike" cap="none" spc="0" dirty="0">
                        <a:solidFill>
                          <a:schemeClr val="lt2"/>
                        </a:solidFill>
                        <a:latin typeface="Roboto"/>
                        <a:ea typeface="Roboto"/>
                        <a:cs typeface="Roboto"/>
                        <a:sym typeface="Arial"/>
                      </a:endParaRPr>
                    </a:p>
                  </a:txBody>
                  <a:tcPr marL="78050" marR="78050" marT="39025" marB="39025" anchor="ctr">
                    <a:lnL w="12700" cap="flat" cmpd="sng" algn="ctr">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lnSpc>
                          <a:spcPct val="100000"/>
                        </a:lnSpc>
                        <a:spcBef>
                          <a:spcPts val="0"/>
                        </a:spcBef>
                        <a:spcAft>
                          <a:spcPts val="0"/>
                        </a:spcAft>
                        <a:buClr>
                          <a:schemeClr val="lt2"/>
                        </a:buClr>
                        <a:buSzPts val="900"/>
                        <a:buFont typeface="Roboto"/>
                        <a:buNone/>
                      </a:pPr>
                      <a:r>
                        <a:rPr lang="es-CL" sz="900" b="1" i="0" u="none" strike="noStrike" cap="none" spc="0" dirty="0">
                          <a:solidFill>
                            <a:schemeClr val="lt2"/>
                          </a:solidFill>
                          <a:latin typeface="Roboto"/>
                          <a:ea typeface="Roboto"/>
                          <a:cs typeface="Roboto"/>
                          <a:sym typeface="Arial"/>
                        </a:rPr>
                        <a:t>1</a:t>
                      </a:r>
                      <a:endParaRPr sz="900" b="1" i="0" u="none" strike="noStrike" cap="none" spc="0" dirty="0">
                        <a:solidFill>
                          <a:schemeClr val="lt2"/>
                        </a:solidFill>
                        <a:latin typeface="Roboto"/>
                        <a:ea typeface="Roboto"/>
                        <a:cs typeface="Roboto"/>
                        <a:sym typeface="Arial"/>
                      </a:endParaRPr>
                    </a:p>
                  </a:txBody>
                  <a:tcPr marL="78050" marR="78050" marT="39025" marB="39025" anchor="ctr">
                    <a:lnL w="12700" cap="flat" cmpd="sng" algn="ctr">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lnSpc>
                          <a:spcPct val="100000"/>
                        </a:lnSpc>
                        <a:spcBef>
                          <a:spcPts val="0"/>
                        </a:spcBef>
                        <a:spcAft>
                          <a:spcPts val="0"/>
                        </a:spcAft>
                        <a:buClr>
                          <a:schemeClr val="lt2"/>
                        </a:buClr>
                        <a:buSzPts val="900"/>
                        <a:buFont typeface="Roboto"/>
                        <a:buNone/>
                      </a:pPr>
                      <a:r>
                        <a:rPr lang="es-CL" sz="900" b="1" i="0" u="none" strike="noStrike" cap="none" spc="0" dirty="0">
                          <a:solidFill>
                            <a:schemeClr val="lt2"/>
                          </a:solidFill>
                          <a:latin typeface="Roboto"/>
                          <a:ea typeface="Roboto"/>
                          <a:cs typeface="Roboto"/>
                          <a:sym typeface="Arial"/>
                        </a:rPr>
                        <a:t>115</a:t>
                      </a:r>
                      <a:endParaRPr sz="900" b="1" i="0" u="none" strike="noStrike" cap="none" spc="0" dirty="0">
                        <a:solidFill>
                          <a:schemeClr val="lt2"/>
                        </a:solidFill>
                        <a:latin typeface="Roboto"/>
                        <a:ea typeface="Roboto"/>
                        <a:cs typeface="Roboto"/>
                        <a:sym typeface="Arial"/>
                      </a:endParaRPr>
                    </a:p>
                  </a:txBody>
                  <a:tcPr marL="78050" marR="78050" marT="39025" marB="39025" anchor="ctr">
                    <a:lnL w="12700" cap="flat" cmpd="sng" algn="ctr">
                      <a:solidFill>
                        <a:schemeClr val="lt2"/>
                      </a:solidFill>
                      <a:prstDash val="solid"/>
                      <a:round/>
                      <a:headEnd type="none" w="sm" len="sm"/>
                      <a:tailEnd type="none" w="sm" len="sm"/>
                    </a:lnL>
                    <a:lnR w="12700" cap="flat" cmpd="sng" algn="ctr">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lgn="ctr">
                      <a:solidFill>
                        <a:schemeClr val="lt2"/>
                      </a:solidFill>
                      <a:prstDash val="solid"/>
                      <a:round/>
                      <a:headEnd type="none" w="sm" len="sm"/>
                      <a:tailEnd type="none" w="sm" len="sm"/>
                    </a:lnB>
                    <a:solidFill>
                      <a:srgbClr val="FFFFFF"/>
                    </a:solidFill>
                  </a:tcPr>
                </a:tc>
                <a:tc>
                  <a:txBody>
                    <a:bodyPr/>
                    <a:lstStyle/>
                    <a:p>
                      <a:pPr marL="0" marR="0" lvl="0" indent="0" algn="r" rtl="0">
                        <a:lnSpc>
                          <a:spcPct val="100000"/>
                        </a:lnSpc>
                        <a:spcBef>
                          <a:spcPts val="0"/>
                        </a:spcBef>
                        <a:spcAft>
                          <a:spcPts val="0"/>
                        </a:spcAft>
                        <a:buClr>
                          <a:schemeClr val="lt2"/>
                        </a:buClr>
                        <a:buSzPts val="900"/>
                        <a:buFont typeface="Roboto"/>
                        <a:buNone/>
                      </a:pPr>
                      <a:r>
                        <a:rPr lang="es-CL" sz="900" b="1" i="0" u="none" strike="noStrike" cap="none" spc="0" dirty="0">
                          <a:solidFill>
                            <a:schemeClr val="lt2"/>
                          </a:solidFill>
                          <a:latin typeface="Roboto"/>
                          <a:ea typeface="Roboto"/>
                          <a:cs typeface="Roboto"/>
                          <a:sym typeface="Roboto"/>
                        </a:rPr>
                        <a:t>MM$350,3</a:t>
                      </a:r>
                      <a:endParaRPr sz="900" b="1" i="0" u="none" strike="noStrike" cap="none" spc="0" dirty="0">
                        <a:solidFill>
                          <a:schemeClr val="lt2"/>
                        </a:solidFill>
                        <a:latin typeface="Roboto"/>
                        <a:ea typeface="Roboto"/>
                        <a:cs typeface="Roboto"/>
                        <a:sym typeface="Arial"/>
                      </a:endParaRPr>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3670387484"/>
                  </a:ext>
                </a:extLst>
              </a:tr>
              <a:tr h="351225">
                <a:tc>
                  <a:txBody>
                    <a:bodyPr/>
                    <a:lstStyle/>
                    <a:p>
                      <a:pPr marL="0" marR="0" lvl="0" indent="0" algn="l"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TOTAL · 17 regiones</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2.933</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100%</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1.289</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1.224</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415</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a:solidFill>
                            <a:schemeClr val="lt2"/>
                          </a:solidFill>
                          <a:latin typeface="Roboto"/>
                          <a:ea typeface="Roboto"/>
                          <a:cs typeface="Roboto"/>
                          <a:sym typeface="Roboto"/>
                        </a:rPr>
                        <a:t>3</a:t>
                      </a:r>
                      <a:endParaRPr/>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866</a:t>
                      </a:r>
                      <a:endParaRPr dirty="0"/>
                    </a:p>
                  </a:txBody>
                  <a:tcPr marL="78050" marR="78050" marT="39025" marB="39025" anchor="ctr">
                    <a:lnL w="12700" cap="flat" cmpd="sng" algn="ctr">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lgn="ctr">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tc>
                  <a:txBody>
                    <a:bodyPr/>
                    <a:lstStyle/>
                    <a:p>
                      <a:pPr marL="0" marR="0" lvl="0" indent="0" algn="r" rtl="0">
                        <a:spcBef>
                          <a:spcPts val="0"/>
                        </a:spcBef>
                        <a:spcAft>
                          <a:spcPts val="0"/>
                        </a:spcAft>
                        <a:buClr>
                          <a:schemeClr val="lt2"/>
                        </a:buClr>
                        <a:buSzPts val="900"/>
                        <a:buFont typeface="Roboto"/>
                        <a:buNone/>
                      </a:pPr>
                      <a:r>
                        <a:rPr lang="es-CL" sz="900" b="1" i="0" u="none" strike="noStrike" cap="none" dirty="0">
                          <a:solidFill>
                            <a:schemeClr val="lt2"/>
                          </a:solidFill>
                          <a:latin typeface="Roboto"/>
                          <a:ea typeface="Roboto"/>
                          <a:cs typeface="Roboto"/>
                          <a:sym typeface="Roboto"/>
                        </a:rPr>
                        <a:t>MM$2.422,3</a:t>
                      </a:r>
                      <a:endParaRPr dirty="0"/>
                    </a:p>
                  </a:txBody>
                  <a:tcPr marL="78050" marR="78050" marT="39025" marB="390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pic>
        <p:nvPicPr>
          <p:cNvPr id="3" name="Imagen 2">
            <a:extLst>
              <a:ext uri="{FF2B5EF4-FFF2-40B4-BE49-F238E27FC236}">
                <a16:creationId xmlns:a16="http://schemas.microsoft.com/office/drawing/2014/main" id="{D6B6D040-8398-B44A-0BBB-F06F69A45691}"/>
              </a:ext>
            </a:extLst>
          </p:cNvPr>
          <p:cNvPicPr>
            <a:picLocks noChangeAspect="1"/>
          </p:cNvPicPr>
          <p:nvPr/>
        </p:nvPicPr>
        <p:blipFill>
          <a:blip r:embed="rId3"/>
          <a:stretch>
            <a:fillRect/>
          </a:stretch>
        </p:blipFill>
        <p:spPr>
          <a:xfrm>
            <a:off x="175404" y="841620"/>
            <a:ext cx="12192000" cy="3674479"/>
          </a:xfrm>
          <a:prstGeom prst="rect">
            <a:avLst/>
          </a:prstGeom>
        </p:spPr>
      </p:pic>
      <p:sp>
        <p:nvSpPr>
          <p:cNvPr id="469" name="Google Shape;469;p36"/>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dirty="0">
                <a:solidFill>
                  <a:srgbClr val="33448D"/>
                </a:solidFill>
                <a:latin typeface="Roboto"/>
                <a:ea typeface="Roboto"/>
                <a:cs typeface="Roboto"/>
                <a:sym typeface="Roboto"/>
              </a:rPr>
              <a:t>Plan de Acción Para Clientes por Región – Considerando Antigüedad de Equipos </a:t>
            </a:r>
            <a:endParaRPr dirty="0"/>
          </a:p>
        </p:txBody>
      </p:sp>
      <p:sp>
        <p:nvSpPr>
          <p:cNvPr id="470" name="Google Shape;470;p36"/>
          <p:cNvSpPr/>
          <p:nvPr/>
        </p:nvSpPr>
        <p:spPr>
          <a:xfrm>
            <a:off x="320832" y="5572665"/>
            <a:ext cx="11502870" cy="1142460"/>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CL" sz="1200">
                <a:solidFill>
                  <a:schemeClr val="lt1"/>
                </a:solidFill>
                <a:latin typeface="Arial"/>
                <a:ea typeface="Arial"/>
                <a:cs typeface="Arial"/>
                <a:sym typeface="Arial"/>
              </a:rPr>
              <a:t>Sí de lo anterior, se cruza con la antigüedad de los equipos (en donde probablemente haya más potencial de reparación y/o renovación) se obtienen los Top 10 Clientes Foco con mayor base instalada y potencial</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81"/>
        <p:cNvGrpSpPr/>
        <p:nvPr/>
      </p:nvGrpSpPr>
      <p:grpSpPr>
        <a:xfrm>
          <a:off x="0" y="0"/>
          <a:ext cx="0" cy="0"/>
          <a:chOff x="0" y="0"/>
          <a:chExt cx="0" cy="0"/>
        </a:xfrm>
      </p:grpSpPr>
      <p:sp>
        <p:nvSpPr>
          <p:cNvPr id="482" name="Google Shape;482;p37"/>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Clientes Foco</a:t>
            </a:r>
            <a:endParaRPr/>
          </a:p>
        </p:txBody>
      </p:sp>
      <p:sp>
        <p:nvSpPr>
          <p:cNvPr id="483" name="Google Shape;483;p37"/>
          <p:cNvSpPr/>
          <p:nvPr/>
        </p:nvSpPr>
        <p:spPr>
          <a:xfrm>
            <a:off x="320832" y="5274000"/>
            <a:ext cx="11502870" cy="1482913"/>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CL" sz="1200" dirty="0">
                <a:solidFill>
                  <a:schemeClr val="lt1"/>
                </a:solidFill>
                <a:latin typeface="Arial"/>
                <a:ea typeface="Arial"/>
                <a:cs typeface="Arial"/>
                <a:sym typeface="Arial"/>
              </a:rPr>
              <a:t>Se toma como clientes foco aquellos que según la matriz presenta gran potencial de (reparación) debido a Rango de Vida útil crítico &gt;6 y &lt;9 y gran cantidad de base instalada en equipos, con esto se cubre un 50% del Potencial actual con la base instalada a lo largo de todo Chile</a:t>
            </a:r>
            <a:endParaRPr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CL" sz="1200" dirty="0">
                <a:solidFill>
                  <a:schemeClr val="lt1"/>
                </a:solidFill>
                <a:latin typeface="Arial"/>
                <a:ea typeface="Arial"/>
                <a:cs typeface="Arial"/>
                <a:sym typeface="Arial"/>
              </a:rPr>
              <a:t>Los Clientes de este plan son los que tienen base instalada de GEMCO y no tienen ningún contrato activo</a:t>
            </a:r>
            <a:endParaRPr sz="1200" dirty="0">
              <a:solidFill>
                <a:schemeClr val="lt1"/>
              </a:solidFill>
              <a:latin typeface="Arial"/>
              <a:ea typeface="Arial"/>
              <a:cs typeface="Arial"/>
              <a:sym typeface="Arial"/>
            </a:endParaRPr>
          </a:p>
          <a:p>
            <a:pPr marL="171450" marR="0" lvl="0" indent="-171450" algn="l" rtl="0">
              <a:spcBef>
                <a:spcPts val="0"/>
              </a:spcBef>
              <a:spcAft>
                <a:spcPts val="0"/>
              </a:spcAft>
              <a:buClr>
                <a:schemeClr val="lt1"/>
              </a:buClr>
              <a:buSzPts val="1200"/>
              <a:buFont typeface="Arial"/>
              <a:buChar char="•"/>
            </a:pPr>
            <a:r>
              <a:rPr lang="es-CL" sz="1200" dirty="0">
                <a:solidFill>
                  <a:schemeClr val="lt1"/>
                </a:solidFill>
                <a:latin typeface="Arial"/>
                <a:ea typeface="Arial"/>
                <a:cs typeface="Arial"/>
                <a:sym typeface="Arial"/>
              </a:rPr>
              <a:t>Con foco inmediato en la región Metropolitana, Bío </a:t>
            </a:r>
            <a:r>
              <a:rPr lang="es-CL" sz="1200" dirty="0" err="1">
                <a:solidFill>
                  <a:schemeClr val="lt1"/>
                </a:solidFill>
                <a:latin typeface="Arial"/>
                <a:ea typeface="Arial"/>
                <a:cs typeface="Arial"/>
                <a:sym typeface="Arial"/>
              </a:rPr>
              <a:t>Bío</a:t>
            </a:r>
            <a:r>
              <a:rPr lang="es-CL" sz="1200" dirty="0">
                <a:solidFill>
                  <a:schemeClr val="lt1"/>
                </a:solidFill>
                <a:latin typeface="Arial"/>
                <a:ea typeface="Arial"/>
                <a:cs typeface="Arial"/>
                <a:sym typeface="Arial"/>
              </a:rPr>
              <a:t>, Araucanía, Los Lagos y Valparaíso</a:t>
            </a:r>
            <a:endParaRPr sz="1200" dirty="0">
              <a:solidFill>
                <a:schemeClr val="lt1"/>
              </a:solidFill>
              <a:latin typeface="Arial"/>
              <a:ea typeface="Arial"/>
              <a:cs typeface="Arial"/>
              <a:sym typeface="Arial"/>
            </a:endParaRPr>
          </a:p>
          <a:p>
            <a:pPr marL="171450" indent="-171450">
              <a:buClr>
                <a:schemeClr val="lt1"/>
              </a:buClr>
              <a:buSzPts val="1200"/>
              <a:buFont typeface="Arial"/>
              <a:buChar char="•"/>
            </a:pPr>
            <a:r>
              <a:rPr lang="es-CL" sz="1200" dirty="0">
                <a:solidFill>
                  <a:schemeClr val="lt1"/>
                </a:solidFill>
                <a:latin typeface="Arial"/>
                <a:ea typeface="Arial"/>
                <a:cs typeface="Arial"/>
                <a:sym typeface="Arial"/>
              </a:rPr>
              <a:t>No obstante, desde el mes de </a:t>
            </a:r>
            <a:r>
              <a:rPr lang="es-CL" sz="1200" dirty="0" err="1">
                <a:solidFill>
                  <a:schemeClr val="lt1"/>
                </a:solidFill>
                <a:latin typeface="Arial"/>
                <a:ea typeface="Arial"/>
                <a:cs typeface="Arial"/>
                <a:sym typeface="Arial"/>
              </a:rPr>
              <a:t>oc</a:t>
            </a:r>
            <a:r>
              <a:rPr lang="es-MX" sz="1200" dirty="0">
                <a:solidFill>
                  <a:schemeClr val="lt1"/>
                </a:solidFill>
              </a:rPr>
              <a:t>Con respecto a la zona norte esta actualmente no presenta potencial de ejecución actual, por lo cual no permite la existencia de región Hub con el contexto actual</a:t>
            </a:r>
          </a:p>
          <a:p>
            <a:pPr marL="171450" marR="0" lvl="0" indent="-171450" algn="l" rtl="0">
              <a:spcBef>
                <a:spcPts val="0"/>
              </a:spcBef>
              <a:spcAft>
                <a:spcPts val="0"/>
              </a:spcAft>
              <a:buClr>
                <a:schemeClr val="lt1"/>
              </a:buClr>
              <a:buSzPts val="1200"/>
              <a:buFont typeface="Arial"/>
              <a:buChar char="•"/>
            </a:pPr>
            <a:r>
              <a:rPr lang="es-CL" sz="1200" dirty="0">
                <a:solidFill>
                  <a:schemeClr val="lt1"/>
                </a:solidFill>
                <a:latin typeface="Arial"/>
                <a:ea typeface="Arial"/>
                <a:cs typeface="Arial"/>
                <a:sym typeface="Arial"/>
              </a:rPr>
              <a:t>t-27 el HS entra en marcha permitiendo tener un Hub ahí.</a:t>
            </a:r>
            <a:endParaRPr dirty="0"/>
          </a:p>
        </p:txBody>
      </p:sp>
      <p:graphicFrame>
        <p:nvGraphicFramePr>
          <p:cNvPr id="484" name="Google Shape;484;p37"/>
          <p:cNvGraphicFramePr/>
          <p:nvPr>
            <p:extLst>
              <p:ext uri="{D42A27DB-BD31-4B8C-83A1-F6EECF244321}">
                <p14:modId xmlns:p14="http://schemas.microsoft.com/office/powerpoint/2010/main" val="2018635500"/>
              </p:ext>
            </p:extLst>
          </p:nvPr>
        </p:nvGraphicFramePr>
        <p:xfrm>
          <a:off x="331104" y="855319"/>
          <a:ext cx="11492625" cy="4346373"/>
        </p:xfrm>
        <a:graphic>
          <a:graphicData uri="http://schemas.openxmlformats.org/drawingml/2006/table">
            <a:tbl>
              <a:tblPr>
                <a:noFill/>
                <a:tableStyleId>{13D43741-7D58-4360-86AC-F6E32FA5FF39}</a:tableStyleId>
              </a:tblPr>
              <a:tblGrid>
                <a:gridCol w="486800">
                  <a:extLst>
                    <a:ext uri="{9D8B030D-6E8A-4147-A177-3AD203B41FA5}">
                      <a16:colId xmlns:a16="http://schemas.microsoft.com/office/drawing/2014/main" val="20000"/>
                    </a:ext>
                  </a:extLst>
                </a:gridCol>
                <a:gridCol w="1065450">
                  <a:extLst>
                    <a:ext uri="{9D8B030D-6E8A-4147-A177-3AD203B41FA5}">
                      <a16:colId xmlns:a16="http://schemas.microsoft.com/office/drawing/2014/main" val="20001"/>
                    </a:ext>
                  </a:extLst>
                </a:gridCol>
                <a:gridCol w="532725">
                  <a:extLst>
                    <a:ext uri="{9D8B030D-6E8A-4147-A177-3AD203B41FA5}">
                      <a16:colId xmlns:a16="http://schemas.microsoft.com/office/drawing/2014/main" val="20002"/>
                    </a:ext>
                  </a:extLst>
                </a:gridCol>
                <a:gridCol w="532725">
                  <a:extLst>
                    <a:ext uri="{9D8B030D-6E8A-4147-A177-3AD203B41FA5}">
                      <a16:colId xmlns:a16="http://schemas.microsoft.com/office/drawing/2014/main" val="20003"/>
                    </a:ext>
                  </a:extLst>
                </a:gridCol>
                <a:gridCol w="578650">
                  <a:extLst>
                    <a:ext uri="{9D8B030D-6E8A-4147-A177-3AD203B41FA5}">
                      <a16:colId xmlns:a16="http://schemas.microsoft.com/office/drawing/2014/main" val="20004"/>
                    </a:ext>
                  </a:extLst>
                </a:gridCol>
                <a:gridCol w="578650">
                  <a:extLst>
                    <a:ext uri="{9D8B030D-6E8A-4147-A177-3AD203B41FA5}">
                      <a16:colId xmlns:a16="http://schemas.microsoft.com/office/drawing/2014/main" val="20005"/>
                    </a:ext>
                  </a:extLst>
                </a:gridCol>
                <a:gridCol w="679675">
                  <a:extLst>
                    <a:ext uri="{9D8B030D-6E8A-4147-A177-3AD203B41FA5}">
                      <a16:colId xmlns:a16="http://schemas.microsoft.com/office/drawing/2014/main" val="20006"/>
                    </a:ext>
                  </a:extLst>
                </a:gridCol>
                <a:gridCol w="679675">
                  <a:extLst>
                    <a:ext uri="{9D8B030D-6E8A-4147-A177-3AD203B41FA5}">
                      <a16:colId xmlns:a16="http://schemas.microsoft.com/office/drawing/2014/main" val="20007"/>
                    </a:ext>
                  </a:extLst>
                </a:gridCol>
                <a:gridCol w="626875">
                  <a:extLst>
                    <a:ext uri="{9D8B030D-6E8A-4147-A177-3AD203B41FA5}">
                      <a16:colId xmlns:a16="http://schemas.microsoft.com/office/drawing/2014/main" val="20008"/>
                    </a:ext>
                  </a:extLst>
                </a:gridCol>
                <a:gridCol w="1065450">
                  <a:extLst>
                    <a:ext uri="{9D8B030D-6E8A-4147-A177-3AD203B41FA5}">
                      <a16:colId xmlns:a16="http://schemas.microsoft.com/office/drawing/2014/main" val="20009"/>
                    </a:ext>
                  </a:extLst>
                </a:gridCol>
                <a:gridCol w="578650">
                  <a:extLst>
                    <a:ext uri="{9D8B030D-6E8A-4147-A177-3AD203B41FA5}">
                      <a16:colId xmlns:a16="http://schemas.microsoft.com/office/drawing/2014/main" val="20010"/>
                    </a:ext>
                  </a:extLst>
                </a:gridCol>
                <a:gridCol w="3122875">
                  <a:extLst>
                    <a:ext uri="{9D8B030D-6E8A-4147-A177-3AD203B41FA5}">
                      <a16:colId xmlns:a16="http://schemas.microsoft.com/office/drawing/2014/main" val="20011"/>
                    </a:ext>
                  </a:extLst>
                </a:gridCol>
                <a:gridCol w="964425">
                  <a:extLst>
                    <a:ext uri="{9D8B030D-6E8A-4147-A177-3AD203B41FA5}">
                      <a16:colId xmlns:a16="http://schemas.microsoft.com/office/drawing/2014/main" val="20012"/>
                    </a:ext>
                  </a:extLst>
                </a:gridCol>
              </a:tblGrid>
              <a:tr h="127430">
                <a:tc gridSpan="5">
                  <a:txBody>
                    <a:bodyPr/>
                    <a:lstStyle/>
                    <a:p>
                      <a:pPr marL="0" marR="0" lvl="0" indent="0" algn="l" rtl="0">
                        <a:spcBef>
                          <a:spcPts val="0"/>
                        </a:spcBef>
                        <a:spcAft>
                          <a:spcPts val="0"/>
                        </a:spcAft>
                        <a:buClr>
                          <a:srgbClr val="FFFFFF"/>
                        </a:buClr>
                        <a:buSzPts val="600"/>
                        <a:buFont typeface="Roboto"/>
                        <a:buNone/>
                      </a:pPr>
                      <a:r>
                        <a:rPr lang="es-CL" sz="700" b="1" i="0" u="none" strike="noStrike" cap="none" dirty="0">
                          <a:solidFill>
                            <a:srgbClr val="FFFFFF"/>
                          </a:solidFill>
                          <a:latin typeface="Roboto"/>
                          <a:ea typeface="Roboto"/>
                          <a:cs typeface="Roboto"/>
                          <a:sym typeface="Roboto"/>
                        </a:rPr>
                        <a:t>PLAN DE VISITAS TECSERVICE — RESUMEN CONSOLIDADO POR REGIÓN</a:t>
                      </a:r>
                      <a:endParaRPr sz="700" dirty="0"/>
                    </a:p>
                  </a:txBody>
                  <a:tcPr marL="6000" marR="6000" marT="60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a:txBody>
                    <a:bodyPr/>
                    <a:lstStyle/>
                    <a:p>
                      <a:pPr marL="0" marR="0" lvl="0" indent="0" algn="l" rtl="0">
                        <a:spcBef>
                          <a:spcPts val="0"/>
                        </a:spcBef>
                        <a:spcAft>
                          <a:spcPts val="0"/>
                        </a:spcAft>
                        <a:buClr>
                          <a:srgbClr val="000000"/>
                        </a:buClr>
                        <a:buSzPts val="600"/>
                        <a:buFont typeface="Roboto"/>
                        <a:buNone/>
                      </a:pPr>
                      <a:r>
                        <a:rPr lang="es-CL" sz="700" b="0" i="0" u="none" strike="noStrike" cap="none">
                          <a:solidFill>
                            <a:srgbClr val="000000"/>
                          </a:solidFill>
                          <a:latin typeface="Roboto"/>
                          <a:ea typeface="Roboto"/>
                          <a:cs typeface="Roboto"/>
                          <a:sym typeface="Roboto"/>
                        </a:rPr>
                        <a:t> </a:t>
                      </a:r>
                      <a:endParaRPr sz="700"/>
                    </a:p>
                  </a:txBody>
                  <a:tcPr marL="6000" marR="6000" marT="60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000000"/>
                        </a:buClr>
                        <a:buSzPts val="600"/>
                        <a:buFont typeface="Roboto"/>
                        <a:buNone/>
                      </a:pPr>
                      <a:r>
                        <a:rPr lang="es-CL" sz="700" b="0" i="0" u="none" strike="noStrike" cap="none">
                          <a:solidFill>
                            <a:srgbClr val="000000"/>
                          </a:solidFill>
                          <a:latin typeface="Roboto"/>
                          <a:ea typeface="Roboto"/>
                          <a:cs typeface="Roboto"/>
                          <a:sym typeface="Roboto"/>
                        </a:rPr>
                        <a:t> </a:t>
                      </a:r>
                      <a:endParaRPr sz="700"/>
                    </a:p>
                  </a:txBody>
                  <a:tcPr marL="6000" marR="6000" marT="60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000000"/>
                        </a:buClr>
                        <a:buSzPts val="600"/>
                        <a:buFont typeface="Roboto"/>
                        <a:buNone/>
                      </a:pPr>
                      <a:r>
                        <a:rPr lang="es-CL" sz="700" b="0" i="0" u="none" strike="noStrike" cap="none">
                          <a:solidFill>
                            <a:srgbClr val="000000"/>
                          </a:solidFill>
                          <a:latin typeface="Roboto"/>
                          <a:ea typeface="Roboto"/>
                          <a:cs typeface="Roboto"/>
                          <a:sym typeface="Roboto"/>
                        </a:rPr>
                        <a:t> </a:t>
                      </a:r>
                      <a:endParaRPr sz="700"/>
                    </a:p>
                  </a:txBody>
                  <a:tcPr marL="6000" marR="6000" marT="60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000000"/>
                        </a:buClr>
                        <a:buSzPts val="600"/>
                        <a:buFont typeface="Roboto"/>
                        <a:buNone/>
                      </a:pPr>
                      <a:r>
                        <a:rPr lang="es-CL" sz="700" b="0" i="0" u="none" strike="noStrike" cap="none">
                          <a:solidFill>
                            <a:srgbClr val="000000"/>
                          </a:solidFill>
                          <a:latin typeface="Roboto"/>
                          <a:ea typeface="Roboto"/>
                          <a:cs typeface="Roboto"/>
                          <a:sym typeface="Roboto"/>
                        </a:rPr>
                        <a:t> </a:t>
                      </a:r>
                      <a:endParaRPr sz="700"/>
                    </a:p>
                  </a:txBody>
                  <a:tcPr marL="6000" marR="6000" marT="60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000000"/>
                        </a:buClr>
                        <a:buSzPts val="600"/>
                        <a:buFont typeface="Roboto"/>
                        <a:buNone/>
                      </a:pPr>
                      <a:r>
                        <a:rPr lang="es-CL" sz="700" b="0" i="0" u="none" strike="noStrike" cap="none">
                          <a:solidFill>
                            <a:srgbClr val="000000"/>
                          </a:solidFill>
                          <a:latin typeface="Roboto"/>
                          <a:ea typeface="Roboto"/>
                          <a:cs typeface="Roboto"/>
                          <a:sym typeface="Roboto"/>
                        </a:rPr>
                        <a:t> </a:t>
                      </a:r>
                      <a:endParaRPr sz="700"/>
                    </a:p>
                  </a:txBody>
                  <a:tcPr marL="6000" marR="6000" marT="60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000000"/>
                        </a:buClr>
                        <a:buSzPts val="600"/>
                        <a:buFont typeface="Roboto"/>
                        <a:buNone/>
                      </a:pPr>
                      <a:r>
                        <a:rPr lang="es-CL" sz="700" b="0" i="0" u="none" strike="noStrike" cap="none">
                          <a:solidFill>
                            <a:srgbClr val="000000"/>
                          </a:solidFill>
                          <a:latin typeface="Roboto"/>
                          <a:ea typeface="Roboto"/>
                          <a:cs typeface="Roboto"/>
                          <a:sym typeface="Roboto"/>
                        </a:rPr>
                        <a:t> </a:t>
                      </a:r>
                      <a:endParaRPr sz="700"/>
                    </a:p>
                  </a:txBody>
                  <a:tcPr marL="6000" marR="6000" marT="60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000000"/>
                        </a:buClr>
                        <a:buSzPts val="600"/>
                        <a:buFont typeface="Roboto"/>
                        <a:buNone/>
                      </a:pPr>
                      <a:r>
                        <a:rPr lang="es-CL" sz="700" b="0" i="0" u="none" strike="noStrike" cap="none">
                          <a:solidFill>
                            <a:srgbClr val="000000"/>
                          </a:solidFill>
                          <a:latin typeface="Roboto"/>
                          <a:ea typeface="Roboto"/>
                          <a:cs typeface="Roboto"/>
                          <a:sym typeface="Roboto"/>
                        </a:rPr>
                        <a:t> </a:t>
                      </a:r>
                      <a:endParaRPr sz="700"/>
                    </a:p>
                  </a:txBody>
                  <a:tcPr marL="6000" marR="6000" marT="60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000000"/>
                        </a:buClr>
                        <a:buSzPts val="600"/>
                        <a:buFont typeface="Roboto"/>
                        <a:buNone/>
                      </a:pPr>
                      <a:r>
                        <a:rPr lang="es-CL" sz="700" b="0" i="0" u="none" strike="noStrike" cap="none">
                          <a:solidFill>
                            <a:srgbClr val="000000"/>
                          </a:solidFill>
                          <a:latin typeface="Roboto"/>
                          <a:ea typeface="Roboto"/>
                          <a:cs typeface="Roboto"/>
                          <a:sym typeface="Roboto"/>
                        </a:rPr>
                        <a:t> </a:t>
                      </a:r>
                      <a:endParaRPr sz="700"/>
                    </a:p>
                  </a:txBody>
                  <a:tcPr marL="6000" marR="6000" marT="60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extLst>
                  <a:ext uri="{0D108BD9-81ED-4DB2-BD59-A6C34878D82A}">
                    <a16:rowId xmlns:a16="http://schemas.microsoft.com/office/drawing/2014/main" val="10000"/>
                  </a:ext>
                </a:extLst>
              </a:tr>
              <a:tr h="94185">
                <a:tc>
                  <a:txBody>
                    <a:bodyPr/>
                    <a:lstStyle/>
                    <a:p>
                      <a:pPr marL="0" marR="0" lvl="0" indent="0" algn="l" rtl="0">
                        <a:spcBef>
                          <a:spcPts val="0"/>
                        </a:spcBef>
                        <a:spcAft>
                          <a:spcPts val="0"/>
                        </a:spcAft>
                        <a:buClr>
                          <a:srgbClr val="BDD7EE"/>
                        </a:buClr>
                        <a:buSzPts val="600"/>
                        <a:buFont typeface="Roboto"/>
                        <a:buNone/>
                      </a:pPr>
                      <a:r>
                        <a:rPr lang="es-CL" sz="700" b="0" i="1" u="none" strike="noStrike" cap="none">
                          <a:solidFill>
                            <a:srgbClr val="BDD7EE"/>
                          </a:solidFill>
                          <a:latin typeface="Roboto"/>
                          <a:ea typeface="Roboto"/>
                          <a:cs typeface="Roboto"/>
                          <a:sym typeface="Roboto"/>
                        </a:rPr>
                        <a:t> </a:t>
                      </a:r>
                      <a:endParaRPr sz="700"/>
                    </a:p>
                  </a:txBody>
                  <a:tcPr marL="6000" marR="6000" marT="60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000000"/>
                        </a:buClr>
                        <a:buSzPts val="600"/>
                        <a:buFont typeface="Roboto"/>
                        <a:buNone/>
                      </a:pPr>
                      <a:r>
                        <a:rPr lang="es-CL" sz="700" b="0" i="0" u="none" strike="noStrike" cap="none">
                          <a:solidFill>
                            <a:srgbClr val="000000"/>
                          </a:solidFill>
                          <a:latin typeface="Roboto"/>
                          <a:ea typeface="Roboto"/>
                          <a:cs typeface="Roboto"/>
                          <a:sym typeface="Roboto"/>
                        </a:rPr>
                        <a:t> </a:t>
                      </a:r>
                      <a:endParaRPr sz="700"/>
                    </a:p>
                  </a:txBody>
                  <a:tcPr marL="6000" marR="6000" marT="60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000000"/>
                        </a:buClr>
                        <a:buSzPts val="600"/>
                        <a:buFont typeface="Roboto"/>
                        <a:buNone/>
                      </a:pPr>
                      <a:r>
                        <a:rPr lang="es-CL" sz="700" b="0" i="0" u="none" strike="noStrike" cap="none">
                          <a:solidFill>
                            <a:srgbClr val="000000"/>
                          </a:solidFill>
                          <a:latin typeface="Roboto"/>
                          <a:ea typeface="Roboto"/>
                          <a:cs typeface="Roboto"/>
                          <a:sym typeface="Roboto"/>
                        </a:rPr>
                        <a:t> </a:t>
                      </a:r>
                      <a:endParaRPr sz="700"/>
                    </a:p>
                  </a:txBody>
                  <a:tcPr marL="6000" marR="6000" marT="60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000000"/>
                        </a:buClr>
                        <a:buSzPts val="600"/>
                        <a:buFont typeface="Roboto"/>
                        <a:buNone/>
                      </a:pPr>
                      <a:r>
                        <a:rPr lang="es-CL" sz="700" b="0" i="0" u="none" strike="noStrike" cap="none">
                          <a:solidFill>
                            <a:srgbClr val="000000"/>
                          </a:solidFill>
                          <a:latin typeface="Roboto"/>
                          <a:ea typeface="Roboto"/>
                          <a:cs typeface="Roboto"/>
                          <a:sym typeface="Roboto"/>
                        </a:rPr>
                        <a:t> </a:t>
                      </a:r>
                      <a:endParaRPr sz="700"/>
                    </a:p>
                  </a:txBody>
                  <a:tcPr marL="6000" marR="6000" marT="60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000000"/>
                        </a:buClr>
                        <a:buSzPts val="600"/>
                        <a:buFont typeface="Roboto"/>
                        <a:buNone/>
                      </a:pPr>
                      <a:r>
                        <a:rPr lang="es-CL" sz="700" b="0" i="0" u="none" strike="noStrike" cap="none">
                          <a:solidFill>
                            <a:srgbClr val="000000"/>
                          </a:solidFill>
                          <a:latin typeface="Roboto"/>
                          <a:ea typeface="Roboto"/>
                          <a:cs typeface="Roboto"/>
                          <a:sym typeface="Roboto"/>
                        </a:rPr>
                        <a:t> </a:t>
                      </a:r>
                      <a:endParaRPr sz="700"/>
                    </a:p>
                  </a:txBody>
                  <a:tcPr marL="6000" marR="6000" marT="60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000000"/>
                        </a:buClr>
                        <a:buSzPts val="600"/>
                        <a:buFont typeface="Roboto"/>
                        <a:buNone/>
                      </a:pPr>
                      <a:r>
                        <a:rPr lang="es-CL" sz="700" b="0" i="0" u="none" strike="noStrike" cap="none">
                          <a:solidFill>
                            <a:srgbClr val="000000"/>
                          </a:solidFill>
                          <a:latin typeface="Roboto"/>
                          <a:ea typeface="Roboto"/>
                          <a:cs typeface="Roboto"/>
                          <a:sym typeface="Roboto"/>
                        </a:rPr>
                        <a:t> </a:t>
                      </a:r>
                      <a:endParaRPr sz="700"/>
                    </a:p>
                  </a:txBody>
                  <a:tcPr marL="6000" marR="6000" marT="60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000000"/>
                        </a:buClr>
                        <a:buSzPts val="600"/>
                        <a:buFont typeface="Roboto"/>
                        <a:buNone/>
                      </a:pPr>
                      <a:r>
                        <a:rPr lang="es-CL" sz="700" b="0" i="0" u="none" strike="noStrike" cap="none">
                          <a:solidFill>
                            <a:srgbClr val="000000"/>
                          </a:solidFill>
                          <a:latin typeface="Roboto"/>
                          <a:ea typeface="Roboto"/>
                          <a:cs typeface="Roboto"/>
                          <a:sym typeface="Roboto"/>
                        </a:rPr>
                        <a:t> </a:t>
                      </a:r>
                      <a:endParaRPr sz="700"/>
                    </a:p>
                  </a:txBody>
                  <a:tcPr marL="6000" marR="6000" marT="60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000000"/>
                        </a:buClr>
                        <a:buSzPts val="600"/>
                        <a:buFont typeface="Roboto"/>
                        <a:buNone/>
                      </a:pPr>
                      <a:r>
                        <a:rPr lang="es-CL" sz="700" b="0" i="0" u="none" strike="noStrike" cap="none">
                          <a:solidFill>
                            <a:srgbClr val="000000"/>
                          </a:solidFill>
                          <a:latin typeface="Roboto"/>
                          <a:ea typeface="Roboto"/>
                          <a:cs typeface="Roboto"/>
                          <a:sym typeface="Roboto"/>
                        </a:rPr>
                        <a:t> </a:t>
                      </a:r>
                      <a:endParaRPr sz="700"/>
                    </a:p>
                  </a:txBody>
                  <a:tcPr marL="6000" marR="6000" marT="60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000000"/>
                        </a:buClr>
                        <a:buSzPts val="600"/>
                        <a:buFont typeface="Roboto"/>
                        <a:buNone/>
                      </a:pPr>
                      <a:r>
                        <a:rPr lang="es-CL" sz="700" b="0" i="0" u="none" strike="noStrike" cap="none">
                          <a:solidFill>
                            <a:srgbClr val="000000"/>
                          </a:solidFill>
                          <a:latin typeface="Roboto"/>
                          <a:ea typeface="Roboto"/>
                          <a:cs typeface="Roboto"/>
                          <a:sym typeface="Roboto"/>
                        </a:rPr>
                        <a:t> </a:t>
                      </a:r>
                      <a:endParaRPr sz="700"/>
                    </a:p>
                  </a:txBody>
                  <a:tcPr marL="6000" marR="6000" marT="60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000000"/>
                        </a:buClr>
                        <a:buSzPts val="600"/>
                        <a:buFont typeface="Roboto"/>
                        <a:buNone/>
                      </a:pPr>
                      <a:r>
                        <a:rPr lang="es-CL" sz="700" b="0" i="0" u="none" strike="noStrike" cap="none">
                          <a:solidFill>
                            <a:srgbClr val="000000"/>
                          </a:solidFill>
                          <a:latin typeface="Roboto"/>
                          <a:ea typeface="Roboto"/>
                          <a:cs typeface="Roboto"/>
                          <a:sym typeface="Roboto"/>
                        </a:rPr>
                        <a:t> </a:t>
                      </a:r>
                      <a:endParaRPr sz="700"/>
                    </a:p>
                  </a:txBody>
                  <a:tcPr marL="6000" marR="6000" marT="60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000000"/>
                        </a:buClr>
                        <a:buSzPts val="600"/>
                        <a:buFont typeface="Roboto"/>
                        <a:buNone/>
                      </a:pPr>
                      <a:r>
                        <a:rPr lang="es-CL" sz="700" b="0" i="0" u="none" strike="noStrike" cap="none">
                          <a:solidFill>
                            <a:srgbClr val="000000"/>
                          </a:solidFill>
                          <a:latin typeface="Roboto"/>
                          <a:ea typeface="Roboto"/>
                          <a:cs typeface="Roboto"/>
                          <a:sym typeface="Roboto"/>
                        </a:rPr>
                        <a:t> </a:t>
                      </a:r>
                      <a:endParaRPr sz="700"/>
                    </a:p>
                  </a:txBody>
                  <a:tcPr marL="6000" marR="6000" marT="60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000000"/>
                        </a:buClr>
                        <a:buSzPts val="600"/>
                        <a:buFont typeface="Roboto"/>
                        <a:buNone/>
                      </a:pPr>
                      <a:r>
                        <a:rPr lang="es-CL" sz="700" b="0" i="0" u="none" strike="noStrike" cap="none">
                          <a:solidFill>
                            <a:srgbClr val="000000"/>
                          </a:solidFill>
                          <a:latin typeface="Roboto"/>
                          <a:ea typeface="Roboto"/>
                          <a:cs typeface="Roboto"/>
                          <a:sym typeface="Roboto"/>
                        </a:rPr>
                        <a:t> </a:t>
                      </a:r>
                      <a:endParaRPr sz="700"/>
                    </a:p>
                  </a:txBody>
                  <a:tcPr marL="6000" marR="6000" marT="60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000000"/>
                        </a:buClr>
                        <a:buSzPts val="600"/>
                        <a:buFont typeface="Roboto"/>
                        <a:buNone/>
                      </a:pPr>
                      <a:r>
                        <a:rPr lang="es-CL" sz="700" b="0" i="0" u="none" strike="noStrike" cap="none">
                          <a:solidFill>
                            <a:srgbClr val="000000"/>
                          </a:solidFill>
                          <a:latin typeface="Roboto"/>
                          <a:ea typeface="Roboto"/>
                          <a:cs typeface="Roboto"/>
                          <a:sym typeface="Roboto"/>
                        </a:rPr>
                        <a:t> </a:t>
                      </a:r>
                      <a:endParaRPr sz="700"/>
                    </a:p>
                  </a:txBody>
                  <a:tcPr marL="6000" marR="6000" marT="600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extLst>
                  <a:ext uri="{0D108BD9-81ED-4DB2-BD59-A6C34878D82A}">
                    <a16:rowId xmlns:a16="http://schemas.microsoft.com/office/drawing/2014/main" val="10001"/>
                  </a:ext>
                </a:extLst>
              </a:tr>
              <a:tr h="272524">
                <a:tc>
                  <a:txBody>
                    <a:bodyPr/>
                    <a:lstStyle/>
                    <a:p>
                      <a:pPr marL="0" marR="0" lvl="0" indent="0" algn="l" rtl="0">
                        <a:spcBef>
                          <a:spcPts val="0"/>
                        </a:spcBef>
                        <a:spcAft>
                          <a:spcPts val="0"/>
                        </a:spcAft>
                        <a:buClr>
                          <a:srgbClr val="FFFFFF"/>
                        </a:buClr>
                        <a:buSzPts val="600"/>
                        <a:buFont typeface="Roboto"/>
                        <a:buNone/>
                      </a:pPr>
                      <a:r>
                        <a:rPr lang="es-CL" sz="700" b="1" i="0" u="none" strike="noStrike" cap="none">
                          <a:solidFill>
                            <a:srgbClr val="FFFFFF"/>
                          </a:solidFill>
                          <a:latin typeface="Roboto"/>
                          <a:ea typeface="Roboto"/>
                          <a:cs typeface="Roboto"/>
                          <a:sym typeface="Roboto"/>
                        </a:rPr>
                        <a:t>Prior.</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600"/>
                        <a:buFont typeface="Roboto"/>
                        <a:buNone/>
                      </a:pPr>
                      <a:r>
                        <a:rPr lang="es-CL" sz="700" b="1" i="0" u="none" strike="noStrike" cap="none" dirty="0">
                          <a:solidFill>
                            <a:srgbClr val="FFFFFF"/>
                          </a:solidFill>
                          <a:latin typeface="Roboto"/>
                          <a:ea typeface="Roboto"/>
                          <a:cs typeface="Roboto"/>
                          <a:sym typeface="Roboto"/>
                        </a:rPr>
                        <a:t>Región</a:t>
                      </a:r>
                      <a:endParaRPr sz="700" dirty="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lgn="ctr">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600"/>
                        <a:buFont typeface="Roboto"/>
                        <a:buNone/>
                      </a:pPr>
                      <a:r>
                        <a:rPr lang="es-CL" sz="700" b="1" i="0" u="none" strike="noStrike" cap="none">
                          <a:solidFill>
                            <a:srgbClr val="FFFFFF"/>
                          </a:solidFill>
                          <a:latin typeface="Roboto"/>
                          <a:ea typeface="Roboto"/>
                          <a:cs typeface="Roboto"/>
                          <a:sym typeface="Roboto"/>
                        </a:rPr>
                        <a:t>N° Clientes</a:t>
                      </a:r>
                      <a:br>
                        <a:rPr lang="es-CL" sz="700" b="1" i="0" u="none" strike="noStrike" cap="none">
                          <a:solidFill>
                            <a:srgbClr val="FFFFFF"/>
                          </a:solidFill>
                          <a:latin typeface="Roboto"/>
                          <a:ea typeface="Roboto"/>
                          <a:cs typeface="Roboto"/>
                          <a:sym typeface="Roboto"/>
                        </a:rPr>
                      </a:br>
                      <a:r>
                        <a:rPr lang="es-CL" sz="700" b="1" i="0" u="none" strike="noStrike" cap="none">
                          <a:solidFill>
                            <a:srgbClr val="FFFFFF"/>
                          </a:solidFill>
                          <a:latin typeface="Roboto"/>
                          <a:ea typeface="Roboto"/>
                          <a:cs typeface="Roboto"/>
                          <a:sym typeface="Roboto"/>
                        </a:rPr>
                        <a:t>Foco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lgn="ctr">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600"/>
                        <a:buFont typeface="Roboto"/>
                        <a:buNone/>
                      </a:pPr>
                      <a:r>
                        <a:rPr lang="es-CL" sz="700" b="1" i="0" u="none" strike="noStrike" cap="none">
                          <a:solidFill>
                            <a:srgbClr val="FFFFFF"/>
                          </a:solidFill>
                          <a:latin typeface="Roboto"/>
                          <a:ea typeface="Roboto"/>
                          <a:cs typeface="Roboto"/>
                          <a:sym typeface="Roboto"/>
                        </a:rPr>
                        <a:t>Equipos</a:t>
                      </a:r>
                      <a:br>
                        <a:rPr lang="es-CL" sz="700" b="1" i="0" u="none" strike="noStrike" cap="none">
                          <a:solidFill>
                            <a:srgbClr val="FFFFFF"/>
                          </a:solidFill>
                          <a:latin typeface="Roboto"/>
                          <a:ea typeface="Roboto"/>
                          <a:cs typeface="Roboto"/>
                          <a:sym typeface="Roboto"/>
                        </a:rPr>
                      </a:br>
                      <a:r>
                        <a:rPr lang="es-CL" sz="700" b="1" i="0" u="none" strike="noStrike" cap="none">
                          <a:solidFill>
                            <a:srgbClr val="FFFFFF"/>
                          </a:solidFill>
                          <a:latin typeface="Roboto"/>
                          <a:ea typeface="Roboto"/>
                          <a:cs typeface="Roboto"/>
                          <a:sym typeface="Roboto"/>
                        </a:rPr>
                        <a:t>Foco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lgn="ctr">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600"/>
                        <a:buFont typeface="Roboto"/>
                        <a:buNone/>
                      </a:pPr>
                      <a:r>
                        <a:rPr lang="es-CL" sz="700" b="1" i="0" u="none" strike="noStrike" cap="none">
                          <a:solidFill>
                            <a:srgbClr val="FFFFFF"/>
                          </a:solidFill>
                          <a:latin typeface="Roboto"/>
                          <a:ea typeface="Roboto"/>
                          <a:cs typeface="Roboto"/>
                          <a:sym typeface="Roboto"/>
                        </a:rPr>
                        <a:t>Pot. Foco</a:t>
                      </a:r>
                      <a:br>
                        <a:rPr lang="es-CL" sz="700" b="1" i="0" u="none" strike="noStrike" cap="none">
                          <a:solidFill>
                            <a:srgbClr val="FFFFFF"/>
                          </a:solidFill>
                          <a:latin typeface="Roboto"/>
                          <a:ea typeface="Roboto"/>
                          <a:cs typeface="Roboto"/>
                          <a:sym typeface="Roboto"/>
                        </a:rPr>
                      </a:br>
                      <a:r>
                        <a:rPr lang="es-CL" sz="700" b="1" i="0" u="none" strike="noStrike" cap="none">
                          <a:solidFill>
                            <a:srgbClr val="FFFFFF"/>
                          </a:solidFill>
                          <a:latin typeface="Roboto"/>
                          <a:ea typeface="Roboto"/>
                          <a:cs typeface="Roboto"/>
                          <a:sym typeface="Roboto"/>
                        </a:rPr>
                        <a:t>MM$</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lgn="ctr">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600"/>
                        <a:buFont typeface="Roboto"/>
                        <a:buNone/>
                      </a:pPr>
                      <a:r>
                        <a:rPr lang="es-CL" sz="700" b="1" i="0" u="none" strike="noStrike" cap="none">
                          <a:solidFill>
                            <a:srgbClr val="FFFFFF"/>
                          </a:solidFill>
                          <a:latin typeface="Roboto"/>
                          <a:ea typeface="Roboto"/>
                          <a:cs typeface="Roboto"/>
                          <a:sym typeface="Roboto"/>
                        </a:rPr>
                        <a:t>Margen (MM$)</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lgn="ctr">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600"/>
                        <a:buFont typeface="Roboto"/>
                        <a:buNone/>
                      </a:pPr>
                      <a:r>
                        <a:rPr lang="es-CL" sz="700" b="1" i="0" u="none" strike="noStrike" cap="none">
                          <a:solidFill>
                            <a:srgbClr val="FFFFFF"/>
                          </a:solidFill>
                          <a:latin typeface="Roboto"/>
                          <a:ea typeface="Roboto"/>
                          <a:cs typeface="Roboto"/>
                          <a:sym typeface="Roboto"/>
                        </a:rPr>
                        <a:t>Pot. Total</a:t>
                      </a:r>
                      <a:br>
                        <a:rPr lang="es-CL" sz="700" b="1" i="0" u="none" strike="noStrike" cap="none">
                          <a:solidFill>
                            <a:srgbClr val="FFFFFF"/>
                          </a:solidFill>
                          <a:latin typeface="Roboto"/>
                          <a:ea typeface="Roboto"/>
                          <a:cs typeface="Roboto"/>
                          <a:sym typeface="Roboto"/>
                        </a:rPr>
                      </a:br>
                      <a:r>
                        <a:rPr lang="es-CL" sz="700" b="1" i="0" u="none" strike="noStrike" cap="none">
                          <a:solidFill>
                            <a:srgbClr val="FFFFFF"/>
                          </a:solidFill>
                          <a:latin typeface="Roboto"/>
                          <a:ea typeface="Roboto"/>
                          <a:cs typeface="Roboto"/>
                          <a:sym typeface="Roboto"/>
                        </a:rPr>
                        <a:t>Región MM$</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lgn="ctr">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600"/>
                        <a:buFont typeface="Roboto"/>
                        <a:buNone/>
                      </a:pPr>
                      <a:r>
                        <a:rPr lang="es-CL" sz="700" b="1" i="0" u="none" strike="noStrike" cap="none">
                          <a:solidFill>
                            <a:srgbClr val="FFFFFF"/>
                          </a:solidFill>
                          <a:latin typeface="Roboto"/>
                          <a:ea typeface="Roboto"/>
                          <a:cs typeface="Roboto"/>
                          <a:sym typeface="Roboto"/>
                        </a:rPr>
                        <a:t>% Pot. Total Atacado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lgn="ctr">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600"/>
                        <a:buFont typeface="Roboto"/>
                        <a:buNone/>
                      </a:pPr>
                      <a:r>
                        <a:rPr lang="es-CL" sz="700" b="1" i="0" u="none" strike="noStrike" cap="none">
                          <a:solidFill>
                            <a:srgbClr val="FFFFFF"/>
                          </a:solidFill>
                          <a:latin typeface="Roboto"/>
                          <a:ea typeface="Roboto"/>
                          <a:cs typeface="Roboto"/>
                          <a:sym typeface="Roboto"/>
                        </a:rPr>
                        <a:t>Ticket Promedio por Cliente</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lgn="ctr">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600"/>
                        <a:buFont typeface="Roboto"/>
                        <a:buNone/>
                      </a:pPr>
                      <a:r>
                        <a:rPr lang="es-CL" sz="700" b="1" i="0" u="none" strike="noStrike" cap="none">
                          <a:solidFill>
                            <a:srgbClr val="FFFFFF"/>
                          </a:solidFill>
                          <a:latin typeface="Roboto"/>
                          <a:ea typeface="Roboto"/>
                          <a:cs typeface="Roboto"/>
                          <a:sym typeface="Roboto"/>
                        </a:rPr>
                        <a:t>Período</a:t>
                      </a:r>
                      <a:br>
                        <a:rPr lang="es-CL" sz="700" b="1" i="0" u="none" strike="noStrike" cap="none">
                          <a:solidFill>
                            <a:srgbClr val="FFFFFF"/>
                          </a:solidFill>
                          <a:latin typeface="Roboto"/>
                          <a:ea typeface="Roboto"/>
                          <a:cs typeface="Roboto"/>
                          <a:sym typeface="Roboto"/>
                        </a:rPr>
                      </a:br>
                      <a:r>
                        <a:rPr lang="es-CL" sz="700" b="1" i="0" u="none" strike="noStrike" cap="none">
                          <a:solidFill>
                            <a:srgbClr val="FFFFFF"/>
                          </a:solidFill>
                          <a:latin typeface="Roboto"/>
                          <a:ea typeface="Roboto"/>
                          <a:cs typeface="Roboto"/>
                          <a:sym typeface="Roboto"/>
                        </a:rPr>
                        <a:t>Campaña</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600"/>
                        <a:buFont typeface="Roboto"/>
                        <a:buNone/>
                      </a:pPr>
                      <a:r>
                        <a:rPr lang="es-CL" sz="700" b="1" i="0" u="none" strike="noStrike" cap="none">
                          <a:solidFill>
                            <a:srgbClr val="FFFFFF"/>
                          </a:solidFill>
                          <a:latin typeface="Roboto"/>
                          <a:ea typeface="Roboto"/>
                          <a:cs typeface="Roboto"/>
                          <a:sym typeface="Roboto"/>
                        </a:rPr>
                        <a:t>Estado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600"/>
                        <a:buFont typeface="Roboto"/>
                        <a:buNone/>
                      </a:pPr>
                      <a:r>
                        <a:rPr lang="es-CL" sz="700" b="1" i="0" u="none" strike="noStrike" cap="none">
                          <a:solidFill>
                            <a:srgbClr val="FFFFFF"/>
                          </a:solidFill>
                          <a:latin typeface="Roboto"/>
                          <a:ea typeface="Roboto"/>
                          <a:cs typeface="Roboto"/>
                          <a:sym typeface="Roboto"/>
                        </a:rPr>
                        <a:t>Acciones Clave</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600"/>
                        <a:buFont typeface="Roboto"/>
                        <a:buNone/>
                      </a:pPr>
                      <a:r>
                        <a:rPr lang="es-CL" sz="700" b="1" i="0" u="none" strike="noStrike" cap="none">
                          <a:solidFill>
                            <a:srgbClr val="FFFFFF"/>
                          </a:solidFill>
                          <a:latin typeface="Roboto"/>
                          <a:ea typeface="Roboto"/>
                          <a:cs typeface="Roboto"/>
                          <a:sym typeface="Roboto"/>
                        </a:rPr>
                        <a:t>Obs.</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extLst>
                  <a:ext uri="{0D108BD9-81ED-4DB2-BD59-A6C34878D82A}">
                    <a16:rowId xmlns:a16="http://schemas.microsoft.com/office/drawing/2014/main" val="10002"/>
                  </a:ext>
                </a:extLst>
              </a:tr>
              <a:tr h="272524">
                <a:tc>
                  <a:txBody>
                    <a:bodyPr/>
                    <a:lstStyle/>
                    <a:p>
                      <a:pPr marL="0" marR="0" lvl="0" indent="0" algn="l" rtl="0">
                        <a:spcBef>
                          <a:spcPts val="0"/>
                        </a:spcBef>
                        <a:spcAft>
                          <a:spcPts val="0"/>
                        </a:spcAft>
                        <a:buClr>
                          <a:srgbClr val="FFFFFF"/>
                        </a:buClr>
                        <a:buSzPts val="600"/>
                        <a:buFont typeface="Roboto"/>
                        <a:buNone/>
                      </a:pPr>
                      <a:r>
                        <a:rPr lang="es-CL" sz="700" b="1" i="0" u="none" strike="noStrike" cap="none">
                          <a:solidFill>
                            <a:srgbClr val="FFFFFF"/>
                          </a:solidFill>
                          <a:latin typeface="Roboto"/>
                          <a:ea typeface="Roboto"/>
                          <a:cs typeface="Roboto"/>
                          <a:sym typeface="Roboto"/>
                        </a:rPr>
                        <a:t>1</a:t>
                      </a:r>
                      <a:endParaRPr sz="700"/>
                    </a:p>
                  </a:txBody>
                  <a:tcPr marL="6000" marR="6000" marT="600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C00000"/>
                    </a:solidFill>
                  </a:tcPr>
                </a:tc>
                <a:tc>
                  <a:txBody>
                    <a:bodyPr/>
                    <a:lstStyle/>
                    <a:p>
                      <a:pPr algn="l" fontAlgn="ctr">
                        <a:buNone/>
                      </a:pPr>
                      <a:r>
                        <a:rPr lang="es-CL" sz="700" b="1" i="0" u="none" strike="noStrike" dirty="0">
                          <a:solidFill>
                            <a:srgbClr val="1F1F1F"/>
                          </a:solidFill>
                          <a:effectLst/>
                          <a:latin typeface="Roboto" panose="02000000000000000000" pitchFamily="2" charset="0"/>
                        </a:rPr>
                        <a:t>Metropolitana</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CE4D6"/>
                    </a:solidFill>
                  </a:tcPr>
                </a:tc>
                <a:tc>
                  <a:txBody>
                    <a:bodyPr/>
                    <a:lstStyle/>
                    <a:p>
                      <a:pPr algn="l" fontAlgn="ctr">
                        <a:buNone/>
                      </a:pPr>
                      <a:r>
                        <a:rPr lang="es-CL" sz="700" b="1" i="0" u="none" strike="noStrike">
                          <a:solidFill>
                            <a:srgbClr val="1F1F1F"/>
                          </a:solidFill>
                          <a:effectLst/>
                          <a:latin typeface="Roboto" panose="02000000000000000000" pitchFamily="2" charset="0"/>
                        </a:rPr>
                        <a:t>10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CE4D6"/>
                    </a:solidFill>
                  </a:tcPr>
                </a:tc>
                <a:tc>
                  <a:txBody>
                    <a:bodyPr/>
                    <a:lstStyle/>
                    <a:p>
                      <a:pPr algn="l" fontAlgn="ctr">
                        <a:buNone/>
                      </a:pPr>
                      <a:r>
                        <a:rPr lang="es-CL" sz="700" b="1" i="0" u="none" strike="noStrike">
                          <a:solidFill>
                            <a:srgbClr val="1F1F1F"/>
                          </a:solidFill>
                          <a:effectLst/>
                          <a:latin typeface="Roboto" panose="02000000000000000000" pitchFamily="2" charset="0"/>
                        </a:rPr>
                        <a:t>215</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CE4D6"/>
                    </a:solidFill>
                  </a:tcPr>
                </a:tc>
                <a:tc>
                  <a:txBody>
                    <a:bodyPr/>
                    <a:lstStyle/>
                    <a:p>
                      <a:pPr algn="l" fontAlgn="ctr">
                        <a:buNone/>
                      </a:pPr>
                      <a:r>
                        <a:rPr lang="es-CL" sz="700" b="1" i="0" u="none" strike="noStrike">
                          <a:solidFill>
                            <a:srgbClr val="1F1F1F"/>
                          </a:solidFill>
                          <a:effectLst/>
                          <a:latin typeface="Roboto" panose="02000000000000000000" pitchFamily="2" charset="0"/>
                        </a:rPr>
                        <a:t>259,3</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2E5D9F"/>
                    </a:solidFill>
                  </a:tcPr>
                </a:tc>
                <a:tc>
                  <a:txBody>
                    <a:bodyPr/>
                    <a:lstStyle/>
                    <a:p>
                      <a:pPr algn="l" fontAlgn="ctr">
                        <a:buNone/>
                      </a:pPr>
                      <a:r>
                        <a:rPr lang="es-CL" sz="700" b="1" i="0" u="none" strike="noStrike">
                          <a:solidFill>
                            <a:srgbClr val="FF0000"/>
                          </a:solidFill>
                          <a:effectLst/>
                          <a:latin typeface="Roboto" panose="02000000000000000000" pitchFamily="2" charset="0"/>
                        </a:rPr>
                        <a:t>142,6</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8EA8CB"/>
                    </a:solidFill>
                  </a:tcPr>
                </a:tc>
                <a:tc>
                  <a:txBody>
                    <a:bodyPr/>
                    <a:lstStyle/>
                    <a:p>
                      <a:pPr algn="l" fontAlgn="ctr">
                        <a:buNone/>
                      </a:pPr>
                      <a:r>
                        <a:rPr lang="es-CL" sz="700" b="1" i="0" u="none" strike="noStrike">
                          <a:solidFill>
                            <a:srgbClr val="000000"/>
                          </a:solidFill>
                          <a:effectLst/>
                          <a:latin typeface="Roboto" panose="02000000000000000000" pitchFamily="2" charset="0"/>
                        </a:rPr>
                        <a:t>808,2</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000000"/>
                          </a:solidFill>
                          <a:effectLst/>
                          <a:latin typeface="Roboto" panose="02000000000000000000" pitchFamily="2" charset="0"/>
                        </a:rPr>
                        <a:t>32,1%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375623"/>
                          </a:solidFill>
                          <a:effectLst/>
                          <a:latin typeface="Roboto" panose="02000000000000000000" pitchFamily="2" charset="0"/>
                        </a:rPr>
                        <a:t>3,8</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A0C1E7"/>
                    </a:solidFill>
                  </a:tcPr>
                </a:tc>
                <a:tc>
                  <a:txBody>
                    <a:bodyPr/>
                    <a:lstStyle/>
                    <a:p>
                      <a:pPr marL="0" marR="0" lvl="0" indent="0" algn="l" rtl="0">
                        <a:spcBef>
                          <a:spcPts val="0"/>
                        </a:spcBef>
                        <a:spcAft>
                          <a:spcPts val="0"/>
                        </a:spcAft>
                        <a:buClr>
                          <a:srgbClr val="1F1F1F"/>
                        </a:buClr>
                        <a:buSzPts val="600"/>
                        <a:buFont typeface="Roboto"/>
                        <a:buNone/>
                      </a:pPr>
                      <a:r>
                        <a:rPr lang="es-CL" sz="700" b="1" i="0" u="none" strike="noStrike" cap="none">
                          <a:solidFill>
                            <a:srgbClr val="1F1F1F"/>
                          </a:solidFill>
                          <a:latin typeface="Roboto"/>
                          <a:ea typeface="Roboto"/>
                          <a:cs typeface="Roboto"/>
                          <a:sym typeface="Roboto"/>
                        </a:rPr>
                        <a:t>Sep–Oct 2026 (inmediato) + continuo</a:t>
                      </a:r>
                      <a:endParaRPr sz="700"/>
                    </a:p>
                  </a:txBody>
                  <a:tcPr marL="6000" marR="6000" marT="600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CE4D6"/>
                    </a:solidFill>
                  </a:tcPr>
                </a:tc>
                <a:tc>
                  <a:txBody>
                    <a:bodyPr/>
                    <a:lstStyle/>
                    <a:p>
                      <a:pPr marL="0" marR="0" lvl="0" indent="0" algn="l" rtl="0">
                        <a:spcBef>
                          <a:spcPts val="0"/>
                        </a:spcBef>
                        <a:spcAft>
                          <a:spcPts val="0"/>
                        </a:spcAft>
                        <a:buClr>
                          <a:srgbClr val="7F6000"/>
                        </a:buClr>
                        <a:buSzPts val="600"/>
                        <a:buFont typeface="Roboto"/>
                        <a:buNone/>
                      </a:pPr>
                      <a:r>
                        <a:rPr lang="es-CL" sz="700" b="0" i="0" u="none" strike="noStrike" cap="none">
                          <a:solidFill>
                            <a:srgbClr val="7F6000"/>
                          </a:solidFill>
                          <a:latin typeface="Roboto"/>
                          <a:ea typeface="Roboto"/>
                          <a:cs typeface="Roboto"/>
                          <a:sym typeface="Roboto"/>
                        </a:rPr>
                        <a:t>Planificado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E699"/>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Reunión / Visita gerencial · Levantamiento técnico · Auditoría técnica · Contrato preventivo · Oferta comercial · Programa preventivo · Evaluación de renovación</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CE4D6"/>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Prioridad máxima. Inicio inmediato.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CE4D6"/>
                    </a:solidFill>
                  </a:tcPr>
                </a:tc>
                <a:extLst>
                  <a:ext uri="{0D108BD9-81ED-4DB2-BD59-A6C34878D82A}">
                    <a16:rowId xmlns:a16="http://schemas.microsoft.com/office/drawing/2014/main" val="10003"/>
                  </a:ext>
                </a:extLst>
              </a:tr>
              <a:tr h="272524">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2</a:t>
                      </a:r>
                      <a:endParaRPr sz="700"/>
                    </a:p>
                  </a:txBody>
                  <a:tcPr marL="6000" marR="6000" marT="600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Bío Bío</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10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79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125,4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9EB4D3"/>
                    </a:solidFill>
                  </a:tcPr>
                </a:tc>
                <a:tc>
                  <a:txBody>
                    <a:bodyPr/>
                    <a:lstStyle/>
                    <a:p>
                      <a:pPr algn="l" fontAlgn="ctr">
                        <a:buNone/>
                      </a:pPr>
                      <a:r>
                        <a:rPr lang="es-CL" sz="700" b="0" i="0" u="none" strike="noStrike">
                          <a:solidFill>
                            <a:srgbClr val="FF0000"/>
                          </a:solidFill>
                          <a:effectLst/>
                          <a:latin typeface="Roboto" panose="02000000000000000000" pitchFamily="2" charset="0"/>
                        </a:rPr>
                        <a:t>62,7</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D0DBEA"/>
                    </a:solidFill>
                  </a:tcPr>
                </a:tc>
                <a:tc>
                  <a:txBody>
                    <a:bodyPr/>
                    <a:lstStyle/>
                    <a:p>
                      <a:pPr algn="l" fontAlgn="ctr">
                        <a:buNone/>
                      </a:pPr>
                      <a:r>
                        <a:rPr lang="es-CL" sz="700" b="1" i="0" u="none" strike="noStrike">
                          <a:solidFill>
                            <a:srgbClr val="000000"/>
                          </a:solidFill>
                          <a:effectLst/>
                          <a:latin typeface="Roboto" panose="02000000000000000000" pitchFamily="2" charset="0"/>
                        </a:rPr>
                        <a:t>284,3</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000000"/>
                          </a:solidFill>
                          <a:effectLst/>
                          <a:latin typeface="Roboto" panose="02000000000000000000" pitchFamily="2" charset="0"/>
                        </a:rPr>
                        <a:t>44,1%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375623"/>
                          </a:solidFill>
                          <a:effectLst/>
                          <a:latin typeface="Roboto" panose="02000000000000000000" pitchFamily="2" charset="0"/>
                        </a:rPr>
                        <a:t>3,6</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B9D1EE"/>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Sep 2026 – EN EJECUCIÓN</a:t>
                      </a:r>
                      <a:endParaRPr sz="700"/>
                    </a:p>
                  </a:txBody>
                  <a:tcPr marL="6000" marR="6000" marT="600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FFFFFF"/>
                        </a:buClr>
                        <a:buSzPts val="600"/>
                        <a:buFont typeface="Roboto"/>
                        <a:buNone/>
                      </a:pPr>
                      <a:r>
                        <a:rPr lang="es-CL" sz="700" b="1" i="0" u="none" strike="noStrike" cap="none">
                          <a:solidFill>
                            <a:srgbClr val="FFFFFF"/>
                          </a:solidFill>
                          <a:latin typeface="Roboto"/>
                          <a:ea typeface="Roboto"/>
                          <a:cs typeface="Roboto"/>
                          <a:sym typeface="Roboto"/>
                        </a:rPr>
                        <a:t>En ejecución</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Levantamiento técnico · Auditoría técnica · Contrato preventivo · Convenio institucional · Oferta comercial · Programa preventivo · Evaluación de renovación</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Campaña en curso.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83355">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3</a:t>
                      </a:r>
                      <a:endParaRPr sz="700"/>
                    </a:p>
                  </a:txBody>
                  <a:tcPr marL="6000" marR="6000" marT="600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Araucanía</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10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80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123,7</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ADC0DA"/>
                    </a:solidFill>
                  </a:tcPr>
                </a:tc>
                <a:tc>
                  <a:txBody>
                    <a:bodyPr/>
                    <a:lstStyle/>
                    <a:p>
                      <a:pPr algn="l" fontAlgn="ctr">
                        <a:buNone/>
                      </a:pPr>
                      <a:r>
                        <a:rPr lang="es-CL" sz="700" b="0" i="0" u="none" strike="noStrike">
                          <a:solidFill>
                            <a:srgbClr val="FF0000"/>
                          </a:solidFill>
                          <a:effectLst/>
                          <a:latin typeface="Roboto" panose="02000000000000000000" pitchFamily="2" charset="0"/>
                        </a:rPr>
                        <a:t>61,9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D8E1ED"/>
                    </a:solidFill>
                  </a:tcPr>
                </a:tc>
                <a:tc>
                  <a:txBody>
                    <a:bodyPr/>
                    <a:lstStyle/>
                    <a:p>
                      <a:pPr algn="l" fontAlgn="ctr">
                        <a:buNone/>
                      </a:pPr>
                      <a:r>
                        <a:rPr lang="es-CL" sz="700" b="1" i="0" u="none" strike="noStrike">
                          <a:solidFill>
                            <a:srgbClr val="000000"/>
                          </a:solidFill>
                          <a:effectLst/>
                          <a:latin typeface="Roboto" panose="02000000000000000000" pitchFamily="2" charset="0"/>
                        </a:rPr>
                        <a:t>159,2</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000000"/>
                          </a:solidFill>
                          <a:effectLst/>
                          <a:latin typeface="Roboto" panose="02000000000000000000" pitchFamily="2" charset="0"/>
                        </a:rPr>
                        <a:t>77,7%</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375623"/>
                          </a:solidFill>
                          <a:effectLst/>
                          <a:latin typeface="Roboto" panose="02000000000000000000" pitchFamily="2" charset="0"/>
                        </a:rPr>
                        <a:t>2,0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6EFF9"/>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Sep 2026 – EN EJECUCIÓN</a:t>
                      </a:r>
                      <a:endParaRPr sz="700"/>
                    </a:p>
                  </a:txBody>
                  <a:tcPr marL="6000" marR="6000" marT="600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FFFFFF"/>
                        </a:buClr>
                        <a:buSzPts val="600"/>
                        <a:buFont typeface="Roboto"/>
                        <a:buNone/>
                      </a:pPr>
                      <a:r>
                        <a:rPr lang="es-CL" sz="700" b="1" i="0" u="none" strike="noStrike" cap="none">
                          <a:solidFill>
                            <a:srgbClr val="FFFFFF"/>
                          </a:solidFill>
                          <a:latin typeface="Roboto"/>
                          <a:ea typeface="Roboto"/>
                          <a:cs typeface="Roboto"/>
                          <a:sym typeface="Roboto"/>
                        </a:rPr>
                        <a:t>En ejecución</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Levantamiento técnico · Contrato preventivo · Convenio institucional · Oferta comercial · Programa preventivo · Evaluación de renovación</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Campaña en curso.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05"/>
                  </a:ext>
                </a:extLst>
              </a:tr>
              <a:tr h="183355">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4</a:t>
                      </a:r>
                      <a:endParaRPr sz="700"/>
                    </a:p>
                  </a:txBody>
                  <a:tcPr marL="6000" marR="6000" marT="600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Valparaíso</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10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dirty="0">
                          <a:solidFill>
                            <a:srgbClr val="1F1F1F"/>
                          </a:solidFill>
                          <a:effectLst/>
                          <a:latin typeface="Roboto" panose="02000000000000000000" pitchFamily="2" charset="0"/>
                        </a:rPr>
                        <a:t>50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77,0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CDD8E8"/>
                    </a:solidFill>
                  </a:tcPr>
                </a:tc>
                <a:tc>
                  <a:txBody>
                    <a:bodyPr/>
                    <a:lstStyle/>
                    <a:p>
                      <a:pPr algn="l" fontAlgn="ctr">
                        <a:buNone/>
                      </a:pPr>
                      <a:r>
                        <a:rPr lang="es-CL" sz="700" b="0" i="0" u="none" strike="noStrike">
                          <a:solidFill>
                            <a:srgbClr val="FF0000"/>
                          </a:solidFill>
                          <a:effectLst/>
                          <a:latin typeface="Roboto" panose="02000000000000000000" pitchFamily="2" charset="0"/>
                        </a:rPr>
                        <a:t>38,5</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8EDF5"/>
                    </a:solidFill>
                  </a:tcPr>
                </a:tc>
                <a:tc>
                  <a:txBody>
                    <a:bodyPr/>
                    <a:lstStyle/>
                    <a:p>
                      <a:pPr algn="l" fontAlgn="ctr">
                        <a:buNone/>
                      </a:pPr>
                      <a:r>
                        <a:rPr lang="es-CL" sz="700" b="1" i="0" u="none" strike="noStrike">
                          <a:solidFill>
                            <a:srgbClr val="000000"/>
                          </a:solidFill>
                          <a:effectLst/>
                          <a:latin typeface="Roboto" panose="02000000000000000000" pitchFamily="2" charset="0"/>
                        </a:rPr>
                        <a:t>188,6</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000000"/>
                          </a:solidFill>
                          <a:effectLst/>
                          <a:latin typeface="Roboto" panose="02000000000000000000" pitchFamily="2" charset="0"/>
                        </a:rPr>
                        <a:t>40,8%</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375623"/>
                          </a:solidFill>
                          <a:effectLst/>
                          <a:latin typeface="Roboto" panose="02000000000000000000" pitchFamily="2" charset="0"/>
                        </a:rPr>
                        <a:t>3,8</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D9E6F6"/>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Sep 2026 – EN EJECUCIÓN</a:t>
                      </a:r>
                      <a:endParaRPr sz="700"/>
                    </a:p>
                  </a:txBody>
                  <a:tcPr marL="6000" marR="6000" marT="600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FFFFFF"/>
                        </a:buClr>
                        <a:buSzPts val="600"/>
                        <a:buFont typeface="Roboto"/>
                        <a:buNone/>
                      </a:pPr>
                      <a:r>
                        <a:rPr lang="es-CL" sz="700" b="1" i="0" u="none" strike="noStrike" cap="none">
                          <a:solidFill>
                            <a:srgbClr val="FFFFFF"/>
                          </a:solidFill>
                          <a:latin typeface="Roboto"/>
                          <a:ea typeface="Roboto"/>
                          <a:cs typeface="Roboto"/>
                          <a:sym typeface="Roboto"/>
                        </a:rPr>
                        <a:t>En ejecución</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Reunión / Visita gerencial · Contrato preventivo · Programa preventivo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Campaña en curso.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83355">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5</a:t>
                      </a:r>
                      <a:endParaRPr sz="700"/>
                    </a:p>
                  </a:txBody>
                  <a:tcPr marL="6000" marR="6000" marT="600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Maule</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10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49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64,9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CFDAE9"/>
                    </a:solidFill>
                  </a:tcPr>
                </a:tc>
                <a:tc>
                  <a:txBody>
                    <a:bodyPr/>
                    <a:lstStyle/>
                    <a:p>
                      <a:pPr algn="l" fontAlgn="ctr">
                        <a:buNone/>
                      </a:pPr>
                      <a:r>
                        <a:rPr lang="es-CL" sz="700" b="0" i="0" u="none" strike="noStrike">
                          <a:solidFill>
                            <a:srgbClr val="FF0000"/>
                          </a:solidFill>
                          <a:effectLst/>
                          <a:latin typeface="Roboto" panose="02000000000000000000" pitchFamily="2" charset="0"/>
                        </a:rPr>
                        <a:t>32,5</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6ECF4"/>
                    </a:solidFill>
                  </a:tcPr>
                </a:tc>
                <a:tc>
                  <a:txBody>
                    <a:bodyPr/>
                    <a:lstStyle/>
                    <a:p>
                      <a:pPr algn="l" fontAlgn="ctr">
                        <a:buNone/>
                      </a:pPr>
                      <a:r>
                        <a:rPr lang="es-CL" sz="700" b="1" i="0" u="none" strike="noStrike">
                          <a:solidFill>
                            <a:srgbClr val="000000"/>
                          </a:solidFill>
                          <a:effectLst/>
                          <a:latin typeface="Roboto" panose="02000000000000000000" pitchFamily="2" charset="0"/>
                        </a:rPr>
                        <a:t>132,6</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000000"/>
                          </a:solidFill>
                          <a:effectLst/>
                          <a:latin typeface="Roboto" panose="02000000000000000000" pitchFamily="2" charset="0"/>
                        </a:rPr>
                        <a:t>48,9%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375623"/>
                          </a:solidFill>
                          <a:effectLst/>
                          <a:latin typeface="Roboto" panose="02000000000000000000" pitchFamily="2" charset="0"/>
                        </a:rPr>
                        <a:t>2,7</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8DB4E2"/>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Oct–Nov 2026</a:t>
                      </a:r>
                      <a:endParaRPr sz="700"/>
                    </a:p>
                  </a:txBody>
                  <a:tcPr marL="6000" marR="6000" marT="600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7F6000"/>
                        </a:buClr>
                        <a:buSzPts val="600"/>
                        <a:buFont typeface="Roboto"/>
                        <a:buNone/>
                      </a:pPr>
                      <a:r>
                        <a:rPr lang="es-CL" sz="700" b="0" i="0" u="none" strike="noStrike" cap="none">
                          <a:solidFill>
                            <a:srgbClr val="7F6000"/>
                          </a:solidFill>
                          <a:latin typeface="Roboto"/>
                          <a:ea typeface="Roboto"/>
                          <a:cs typeface="Roboto"/>
                          <a:sym typeface="Roboto"/>
                        </a:rPr>
                        <a:t>Planificado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E699"/>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Levantamiento técnico · Auditoría técnica · Contrato preventivo · Convenio institucional · Programa preventivo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Inicio oct con foco Zona Naval.</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07"/>
                  </a:ext>
                </a:extLst>
              </a:tr>
              <a:tr h="183355">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6</a:t>
                      </a:r>
                      <a:endParaRPr sz="700"/>
                    </a:p>
                  </a:txBody>
                  <a:tcPr marL="6000" marR="6000" marT="600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Los Lagos</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10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29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dirty="0">
                          <a:solidFill>
                            <a:srgbClr val="1F1F1F"/>
                          </a:solidFill>
                          <a:effectLst/>
                          <a:latin typeface="Roboto" panose="02000000000000000000" pitchFamily="2" charset="0"/>
                        </a:rPr>
                        <a:t>48,1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D8E1EE"/>
                    </a:solidFill>
                  </a:tcPr>
                </a:tc>
                <a:tc>
                  <a:txBody>
                    <a:bodyPr/>
                    <a:lstStyle/>
                    <a:p>
                      <a:pPr algn="l" fontAlgn="ctr">
                        <a:buNone/>
                      </a:pPr>
                      <a:r>
                        <a:rPr lang="es-CL" sz="700" b="0" i="0" u="none" strike="noStrike">
                          <a:solidFill>
                            <a:srgbClr val="FF0000"/>
                          </a:solidFill>
                          <a:effectLst/>
                          <a:latin typeface="Roboto" panose="02000000000000000000" pitchFamily="2" charset="0"/>
                        </a:rPr>
                        <a:t>24,1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BF0F6"/>
                    </a:solidFill>
                  </a:tcPr>
                </a:tc>
                <a:tc>
                  <a:txBody>
                    <a:bodyPr/>
                    <a:lstStyle/>
                    <a:p>
                      <a:pPr algn="l" fontAlgn="ctr">
                        <a:buNone/>
                      </a:pPr>
                      <a:r>
                        <a:rPr lang="es-CL" sz="700" b="1" i="0" u="none" strike="noStrike">
                          <a:solidFill>
                            <a:srgbClr val="000000"/>
                          </a:solidFill>
                          <a:effectLst/>
                          <a:latin typeface="Roboto" panose="02000000000000000000" pitchFamily="2" charset="0"/>
                        </a:rPr>
                        <a:t>77,3</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000000"/>
                          </a:solidFill>
                          <a:effectLst/>
                          <a:latin typeface="Roboto" panose="02000000000000000000" pitchFamily="2" charset="0"/>
                        </a:rPr>
                        <a:t>62,2%</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375623"/>
                          </a:solidFill>
                          <a:effectLst/>
                          <a:latin typeface="Roboto" panose="02000000000000000000" pitchFamily="2" charset="0"/>
                        </a:rPr>
                        <a:t>2,7</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C4D8F0"/>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Sep 2026 – EN EJECUCIÓN</a:t>
                      </a:r>
                      <a:endParaRPr sz="700"/>
                    </a:p>
                  </a:txBody>
                  <a:tcPr marL="6000" marR="6000" marT="600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FFFFFF"/>
                        </a:buClr>
                        <a:buSzPts val="600"/>
                        <a:buFont typeface="Roboto"/>
                        <a:buNone/>
                      </a:pPr>
                      <a:r>
                        <a:rPr lang="es-CL" sz="700" b="1" i="0" u="none" strike="noStrike" cap="none">
                          <a:solidFill>
                            <a:srgbClr val="FFFFFF"/>
                          </a:solidFill>
                          <a:latin typeface="Roboto"/>
                          <a:ea typeface="Roboto"/>
                          <a:cs typeface="Roboto"/>
                          <a:sym typeface="Roboto"/>
                        </a:rPr>
                        <a:t>En ejecución</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Levantamiento técnico · Auditoría técnica · Contrato preventivo · Convenio institucional · Programa preventivo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Campaña en curso.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83355">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7</a:t>
                      </a:r>
                      <a:endParaRPr sz="700"/>
                    </a:p>
                  </a:txBody>
                  <a:tcPr marL="6000" marR="6000" marT="600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O'Higgins</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10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47</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46,8</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2E9F2"/>
                    </a:solidFill>
                  </a:tcPr>
                </a:tc>
                <a:tc>
                  <a:txBody>
                    <a:bodyPr/>
                    <a:lstStyle/>
                    <a:p>
                      <a:pPr algn="l" fontAlgn="ctr">
                        <a:buNone/>
                      </a:pPr>
                      <a:r>
                        <a:rPr lang="es-CL" sz="700" b="0" i="0" u="none" strike="noStrike">
                          <a:solidFill>
                            <a:srgbClr val="FF0000"/>
                          </a:solidFill>
                          <a:effectLst/>
                          <a:latin typeface="Roboto" panose="02000000000000000000" pitchFamily="2" charset="0"/>
                        </a:rPr>
                        <a:t>23,4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1F4F9"/>
                    </a:solidFill>
                  </a:tcPr>
                </a:tc>
                <a:tc>
                  <a:txBody>
                    <a:bodyPr/>
                    <a:lstStyle/>
                    <a:p>
                      <a:pPr algn="l" fontAlgn="ctr">
                        <a:buNone/>
                      </a:pPr>
                      <a:r>
                        <a:rPr lang="es-CL" sz="700" b="1" i="0" u="none" strike="noStrike">
                          <a:solidFill>
                            <a:srgbClr val="000000"/>
                          </a:solidFill>
                          <a:effectLst/>
                          <a:latin typeface="Roboto" panose="02000000000000000000" pitchFamily="2" charset="0"/>
                        </a:rPr>
                        <a:t>71,2</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000000"/>
                          </a:solidFill>
                          <a:effectLst/>
                          <a:latin typeface="Roboto" panose="02000000000000000000" pitchFamily="2" charset="0"/>
                        </a:rPr>
                        <a:t>65,7%</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375623"/>
                          </a:solidFill>
                          <a:effectLst/>
                          <a:latin typeface="Roboto" panose="02000000000000000000" pitchFamily="2" charset="0"/>
                        </a:rPr>
                        <a:t>1,5</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BFDFE"/>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Nov–Dic 2026</a:t>
                      </a:r>
                      <a:endParaRPr sz="700"/>
                    </a:p>
                  </a:txBody>
                  <a:tcPr marL="6000" marR="6000" marT="600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7F6000"/>
                        </a:buClr>
                        <a:buSzPts val="600"/>
                        <a:buFont typeface="Roboto"/>
                        <a:buNone/>
                      </a:pPr>
                      <a:r>
                        <a:rPr lang="es-CL" sz="700" b="0" i="0" u="none" strike="noStrike" cap="none">
                          <a:solidFill>
                            <a:srgbClr val="7F6000"/>
                          </a:solidFill>
                          <a:latin typeface="Roboto"/>
                          <a:ea typeface="Roboto"/>
                          <a:cs typeface="Roboto"/>
                          <a:sym typeface="Roboto"/>
                        </a:rPr>
                        <a:t>Planificado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E699"/>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Levantamiento técnico · Auditoría técnica · Convenio institucional · Programa preventivo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Campaña nov–dic, post RM.</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09"/>
                  </a:ext>
                </a:extLst>
              </a:tr>
              <a:tr h="183355">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8</a:t>
                      </a:r>
                      <a:endParaRPr sz="700"/>
                    </a:p>
                  </a:txBody>
                  <a:tcPr marL="6000" marR="6000" marT="600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Antofagasta</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10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39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46,2</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3E9F2"/>
                    </a:solidFill>
                  </a:tcPr>
                </a:tc>
                <a:tc>
                  <a:txBody>
                    <a:bodyPr/>
                    <a:lstStyle/>
                    <a:p>
                      <a:pPr algn="l" fontAlgn="ctr">
                        <a:buNone/>
                      </a:pPr>
                      <a:r>
                        <a:rPr lang="es-CL" sz="700" b="0" i="0" u="none" strike="noStrike" dirty="0">
                          <a:solidFill>
                            <a:srgbClr val="FF0000"/>
                          </a:solidFill>
                          <a:effectLst/>
                          <a:latin typeface="Roboto" panose="02000000000000000000" pitchFamily="2" charset="0"/>
                        </a:rPr>
                        <a:t>23,1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1F4F9"/>
                    </a:solidFill>
                  </a:tcPr>
                </a:tc>
                <a:tc>
                  <a:txBody>
                    <a:bodyPr/>
                    <a:lstStyle/>
                    <a:p>
                      <a:pPr algn="l" fontAlgn="ctr">
                        <a:buNone/>
                      </a:pPr>
                      <a:r>
                        <a:rPr lang="es-CL" sz="700" b="1" i="0" u="none" strike="noStrike">
                          <a:solidFill>
                            <a:srgbClr val="000000"/>
                          </a:solidFill>
                          <a:effectLst/>
                          <a:latin typeface="Roboto" panose="02000000000000000000" pitchFamily="2" charset="0"/>
                        </a:rPr>
                        <a:t>59,0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000000"/>
                          </a:solidFill>
                          <a:effectLst/>
                          <a:latin typeface="Roboto" panose="02000000000000000000" pitchFamily="2" charset="0"/>
                        </a:rPr>
                        <a:t>78,3%</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375623"/>
                          </a:solidFill>
                          <a:effectLst/>
                          <a:latin typeface="Roboto" panose="02000000000000000000" pitchFamily="2" charset="0"/>
                        </a:rPr>
                        <a:t>1,5</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CFDFE"/>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Ene 2027 (Zona Norte)</a:t>
                      </a:r>
                      <a:endParaRPr sz="700"/>
                    </a:p>
                  </a:txBody>
                  <a:tcPr marL="6000" marR="6000" marT="600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7F6000"/>
                        </a:buClr>
                        <a:buSzPts val="600"/>
                        <a:buFont typeface="Roboto"/>
                        <a:buNone/>
                      </a:pPr>
                      <a:r>
                        <a:rPr lang="es-CL" sz="700" b="0" i="0" u="none" strike="noStrike" cap="none">
                          <a:solidFill>
                            <a:srgbClr val="7F6000"/>
                          </a:solidFill>
                          <a:latin typeface="Roboto"/>
                          <a:ea typeface="Roboto"/>
                          <a:cs typeface="Roboto"/>
                          <a:sym typeface="Roboto"/>
                        </a:rPr>
                        <a:t>Planificado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E699"/>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Levantamiento técnico · Auditoría técnica · Programa preventivo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Coordinar con técnico norte.</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272524">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9</a:t>
                      </a:r>
                      <a:endParaRPr sz="700"/>
                    </a:p>
                  </a:txBody>
                  <a:tcPr marL="6000" marR="6000" marT="600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Coquimbo</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10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29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45,8</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4EAF3"/>
                    </a:solidFill>
                  </a:tcPr>
                </a:tc>
                <a:tc>
                  <a:txBody>
                    <a:bodyPr/>
                    <a:lstStyle/>
                    <a:p>
                      <a:pPr algn="l" fontAlgn="ctr">
                        <a:buNone/>
                      </a:pPr>
                      <a:r>
                        <a:rPr lang="es-CL" sz="700" b="0" i="0" u="none" strike="noStrike">
                          <a:solidFill>
                            <a:srgbClr val="FF0000"/>
                          </a:solidFill>
                          <a:effectLst/>
                          <a:latin typeface="Roboto" panose="02000000000000000000" pitchFamily="2" charset="0"/>
                        </a:rPr>
                        <a:t>22,9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2F5F9"/>
                    </a:solidFill>
                  </a:tcPr>
                </a:tc>
                <a:tc>
                  <a:txBody>
                    <a:bodyPr/>
                    <a:lstStyle/>
                    <a:p>
                      <a:pPr algn="l" fontAlgn="ctr">
                        <a:buNone/>
                      </a:pPr>
                      <a:r>
                        <a:rPr lang="es-CL" sz="700" b="1" i="0" u="none" strike="noStrike">
                          <a:solidFill>
                            <a:srgbClr val="000000"/>
                          </a:solidFill>
                          <a:effectLst/>
                          <a:latin typeface="Roboto" panose="02000000000000000000" pitchFamily="2" charset="0"/>
                        </a:rPr>
                        <a:t>83,4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000000"/>
                          </a:solidFill>
                          <a:effectLst/>
                          <a:latin typeface="Roboto" panose="02000000000000000000" pitchFamily="2" charset="0"/>
                        </a:rPr>
                        <a:t>54,9%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375623"/>
                          </a:solidFill>
                          <a:effectLst/>
                          <a:latin typeface="Roboto" panose="02000000000000000000" pitchFamily="2" charset="0"/>
                        </a:rPr>
                        <a:t>2,9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B5CEEC"/>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Ene 2027 (Téc. Norte)</a:t>
                      </a:r>
                      <a:endParaRPr sz="700"/>
                    </a:p>
                  </a:txBody>
                  <a:tcPr marL="6000" marR="6000" marT="600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7F6000"/>
                        </a:buClr>
                        <a:buSzPts val="600"/>
                        <a:buFont typeface="Roboto"/>
                        <a:buNone/>
                      </a:pPr>
                      <a:r>
                        <a:rPr lang="es-CL" sz="700" b="0" i="0" u="none" strike="noStrike" cap="none">
                          <a:solidFill>
                            <a:srgbClr val="7F6000"/>
                          </a:solidFill>
                          <a:latin typeface="Roboto"/>
                          <a:ea typeface="Roboto"/>
                          <a:cs typeface="Roboto"/>
                          <a:sym typeface="Roboto"/>
                        </a:rPr>
                        <a:t>Planificado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E699"/>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Levantamiento técnico · Programa preventivo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 Base del técnico norte. Foco H. La Serena.</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11"/>
                  </a:ext>
                </a:extLst>
              </a:tr>
              <a:tr h="183355">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10</a:t>
                      </a:r>
                      <a:endParaRPr sz="700"/>
                    </a:p>
                  </a:txBody>
                  <a:tcPr marL="6000" marR="6000" marT="600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Magallanes</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10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28</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40,0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7EDF4"/>
                    </a:solidFill>
                  </a:tcPr>
                </a:tc>
                <a:tc>
                  <a:txBody>
                    <a:bodyPr/>
                    <a:lstStyle/>
                    <a:p>
                      <a:pPr algn="l" fontAlgn="ctr">
                        <a:buNone/>
                      </a:pPr>
                      <a:r>
                        <a:rPr lang="es-CL" sz="700" b="0" i="0" u="none" strike="noStrike">
                          <a:solidFill>
                            <a:srgbClr val="FF0000"/>
                          </a:solidFill>
                          <a:effectLst/>
                          <a:latin typeface="Roboto" panose="02000000000000000000" pitchFamily="2" charset="0"/>
                        </a:rPr>
                        <a:t>20,0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4F6FA"/>
                    </a:solidFill>
                  </a:tcPr>
                </a:tc>
                <a:tc>
                  <a:txBody>
                    <a:bodyPr/>
                    <a:lstStyle/>
                    <a:p>
                      <a:pPr algn="l" fontAlgn="ctr">
                        <a:buNone/>
                      </a:pPr>
                      <a:r>
                        <a:rPr lang="es-CL" sz="700" b="1" i="0" u="none" strike="noStrike">
                          <a:solidFill>
                            <a:srgbClr val="000000"/>
                          </a:solidFill>
                          <a:effectLst/>
                          <a:latin typeface="Roboto" panose="02000000000000000000" pitchFamily="2" charset="0"/>
                        </a:rPr>
                        <a:t>40,0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000000"/>
                          </a:solidFill>
                          <a:effectLst/>
                          <a:latin typeface="Roboto" panose="02000000000000000000" pitchFamily="2" charset="0"/>
                        </a:rPr>
                        <a:t>100,0%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375623"/>
                          </a:solidFill>
                          <a:effectLst/>
                          <a:latin typeface="Roboto" panose="02000000000000000000" pitchFamily="2" charset="0"/>
                        </a:rPr>
                        <a:t>1,4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Oct–Nov 2026 (Téc. Sur)</a:t>
                      </a:r>
                      <a:endParaRPr sz="700"/>
                    </a:p>
                  </a:txBody>
                  <a:tcPr marL="6000" marR="6000" marT="600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7F6000"/>
                        </a:buClr>
                        <a:buSzPts val="600"/>
                        <a:buFont typeface="Roboto"/>
                        <a:buNone/>
                      </a:pPr>
                      <a:r>
                        <a:rPr lang="es-CL" sz="700" b="0" i="0" u="none" strike="noStrike" cap="none">
                          <a:solidFill>
                            <a:srgbClr val="7F6000"/>
                          </a:solidFill>
                          <a:latin typeface="Roboto"/>
                          <a:ea typeface="Roboto"/>
                          <a:cs typeface="Roboto"/>
                          <a:sym typeface="Roboto"/>
                        </a:rPr>
                        <a:t>Planificado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E699"/>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Levantamiento técnico · Auditoría técnica · Convenio institucional · Programa preventivo · Evaluación de renovación</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Apoya técnico sur.</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83355">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11</a:t>
                      </a:r>
                      <a:endParaRPr sz="700"/>
                    </a:p>
                  </a:txBody>
                  <a:tcPr marL="6000" marR="6000" marT="600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Tarapacá</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10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26</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37,4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9EEF5"/>
                    </a:solidFill>
                  </a:tcPr>
                </a:tc>
                <a:tc>
                  <a:txBody>
                    <a:bodyPr/>
                    <a:lstStyle/>
                    <a:p>
                      <a:pPr algn="l" fontAlgn="ctr">
                        <a:buNone/>
                      </a:pPr>
                      <a:r>
                        <a:rPr lang="es-CL" sz="700" b="0" i="0" u="none" strike="noStrike">
                          <a:solidFill>
                            <a:srgbClr val="FF0000"/>
                          </a:solidFill>
                          <a:effectLst/>
                          <a:latin typeface="Roboto" panose="02000000000000000000" pitchFamily="2" charset="0"/>
                        </a:rPr>
                        <a:t>18,7</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6F8FB"/>
                    </a:solidFill>
                  </a:tcPr>
                </a:tc>
                <a:tc>
                  <a:txBody>
                    <a:bodyPr/>
                    <a:lstStyle/>
                    <a:p>
                      <a:pPr algn="l" fontAlgn="ctr">
                        <a:buNone/>
                      </a:pPr>
                      <a:r>
                        <a:rPr lang="es-CL" sz="700" b="1" i="0" u="none" strike="noStrike" dirty="0">
                          <a:solidFill>
                            <a:srgbClr val="000000"/>
                          </a:solidFill>
                          <a:effectLst/>
                          <a:latin typeface="Roboto" panose="02000000000000000000" pitchFamily="2" charset="0"/>
                        </a:rPr>
                        <a:t>39,8</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000000"/>
                          </a:solidFill>
                          <a:effectLst/>
                          <a:latin typeface="Roboto" panose="02000000000000000000" pitchFamily="2" charset="0"/>
                        </a:rPr>
                        <a:t>94,0%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375623"/>
                          </a:solidFill>
                          <a:effectLst/>
                          <a:latin typeface="Roboto" panose="02000000000000000000" pitchFamily="2" charset="0"/>
                        </a:rPr>
                        <a:t>1,5</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BFCFE"/>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Ene 2027 (Zona Norte)</a:t>
                      </a:r>
                      <a:endParaRPr sz="700"/>
                    </a:p>
                  </a:txBody>
                  <a:tcPr marL="6000" marR="6000" marT="600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7F6000"/>
                        </a:buClr>
                        <a:buSzPts val="600"/>
                        <a:buFont typeface="Roboto"/>
                        <a:buNone/>
                      </a:pPr>
                      <a:r>
                        <a:rPr lang="es-CL" sz="700" b="0" i="0" u="none" strike="noStrike" cap="none">
                          <a:solidFill>
                            <a:srgbClr val="7F6000"/>
                          </a:solidFill>
                          <a:latin typeface="Roboto"/>
                          <a:ea typeface="Roboto"/>
                          <a:cs typeface="Roboto"/>
                          <a:sym typeface="Roboto"/>
                        </a:rPr>
                        <a:t>Planificado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E699"/>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Levantamiento técnico · Auditoría técnica · Contrato preventivo · Convenio institucional · Programa preventivo · Evaluación de renovación</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Ronda zona norte.</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13"/>
                  </a:ext>
                </a:extLst>
              </a:tr>
              <a:tr h="183355">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12</a:t>
                      </a:r>
                      <a:endParaRPr sz="700"/>
                    </a:p>
                  </a:txBody>
                  <a:tcPr marL="6000" marR="6000" marT="600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Ñuble</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10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25</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35,3</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AEFF6"/>
                    </a:solidFill>
                  </a:tcPr>
                </a:tc>
                <a:tc>
                  <a:txBody>
                    <a:bodyPr/>
                    <a:lstStyle/>
                    <a:p>
                      <a:pPr algn="l" fontAlgn="ctr">
                        <a:buNone/>
                      </a:pPr>
                      <a:r>
                        <a:rPr lang="es-CL" sz="700" b="0" i="0" u="none" strike="noStrike">
                          <a:solidFill>
                            <a:srgbClr val="FF0000"/>
                          </a:solidFill>
                          <a:effectLst/>
                          <a:latin typeface="Roboto" panose="02000000000000000000" pitchFamily="2" charset="0"/>
                        </a:rPr>
                        <a:t>17,7</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6F9FB"/>
                    </a:solidFill>
                  </a:tcPr>
                </a:tc>
                <a:tc>
                  <a:txBody>
                    <a:bodyPr/>
                    <a:lstStyle/>
                    <a:p>
                      <a:pPr algn="l" fontAlgn="ctr">
                        <a:buNone/>
                      </a:pPr>
                      <a:r>
                        <a:rPr lang="es-CL" sz="700" b="1" i="0" u="none" strike="noStrike">
                          <a:solidFill>
                            <a:srgbClr val="000000"/>
                          </a:solidFill>
                          <a:effectLst/>
                          <a:latin typeface="Roboto" panose="02000000000000000000" pitchFamily="2" charset="0"/>
                        </a:rPr>
                        <a:t>52,7</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dirty="0">
                          <a:solidFill>
                            <a:srgbClr val="000000"/>
                          </a:solidFill>
                          <a:effectLst/>
                          <a:latin typeface="Roboto" panose="02000000000000000000" pitchFamily="2" charset="0"/>
                        </a:rPr>
                        <a:t>67,0%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375623"/>
                          </a:solidFill>
                          <a:effectLst/>
                          <a:latin typeface="Roboto" panose="02000000000000000000" pitchFamily="2" charset="0"/>
                        </a:rPr>
                        <a:t>2,1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0EBF7"/>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Sep 2026 – EN EJECUCIÓN</a:t>
                      </a:r>
                      <a:endParaRPr sz="700"/>
                    </a:p>
                  </a:txBody>
                  <a:tcPr marL="6000" marR="6000" marT="600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FFFFFF"/>
                        </a:buClr>
                        <a:buSzPts val="600"/>
                        <a:buFont typeface="Roboto"/>
                        <a:buNone/>
                      </a:pPr>
                      <a:r>
                        <a:rPr lang="es-CL" sz="700" b="1" i="0" u="none" strike="noStrike" cap="none">
                          <a:solidFill>
                            <a:srgbClr val="FFFFFF"/>
                          </a:solidFill>
                          <a:latin typeface="Roboto"/>
                          <a:ea typeface="Roboto"/>
                          <a:cs typeface="Roboto"/>
                          <a:sym typeface="Roboto"/>
                        </a:rPr>
                        <a:t>En ejecución</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Levantamiento técnico · Auditoría técnica · Contrato preventivo · Programa preventivo · Evaluación de renovación</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Campaña en curso.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83355">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13</a:t>
                      </a:r>
                      <a:endParaRPr sz="700"/>
                    </a:p>
                  </a:txBody>
                  <a:tcPr marL="6000" marR="6000" marT="600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Los Ríos</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15</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26,4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1F4F9"/>
                    </a:solidFill>
                  </a:tcPr>
                </a:tc>
                <a:tc>
                  <a:txBody>
                    <a:bodyPr/>
                    <a:lstStyle/>
                    <a:p>
                      <a:pPr algn="l" fontAlgn="ctr">
                        <a:buNone/>
                      </a:pPr>
                      <a:r>
                        <a:rPr lang="es-CL" sz="700" b="0" i="0" u="none" strike="noStrike">
                          <a:solidFill>
                            <a:srgbClr val="FF0000"/>
                          </a:solidFill>
                          <a:effectLst/>
                          <a:latin typeface="Roboto" panose="02000000000000000000" pitchFamily="2" charset="0"/>
                        </a:rPr>
                        <a:t>13,2</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AFBFD"/>
                    </a:solidFill>
                  </a:tcPr>
                </a:tc>
                <a:tc>
                  <a:txBody>
                    <a:bodyPr/>
                    <a:lstStyle/>
                    <a:p>
                      <a:pPr algn="l" fontAlgn="ctr">
                        <a:buNone/>
                      </a:pPr>
                      <a:r>
                        <a:rPr lang="es-CL" sz="700" b="1" i="0" u="none" strike="noStrike">
                          <a:solidFill>
                            <a:srgbClr val="000000"/>
                          </a:solidFill>
                          <a:effectLst/>
                          <a:latin typeface="Roboto" panose="02000000000000000000" pitchFamily="2" charset="0"/>
                        </a:rPr>
                        <a:t>28,4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000000"/>
                          </a:solidFill>
                          <a:effectLst/>
                          <a:latin typeface="Roboto" panose="02000000000000000000" pitchFamily="2" charset="0"/>
                        </a:rPr>
                        <a:t>93,0%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375623"/>
                          </a:solidFill>
                          <a:effectLst/>
                          <a:latin typeface="Roboto" panose="02000000000000000000" pitchFamily="2" charset="0"/>
                        </a:rPr>
                        <a:t>1,9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AF1FA"/>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Sep 2026 – EN EJECUCIÓN</a:t>
                      </a:r>
                      <a:endParaRPr sz="700"/>
                    </a:p>
                  </a:txBody>
                  <a:tcPr marL="6000" marR="6000" marT="600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FFFFFF"/>
                        </a:buClr>
                        <a:buSzPts val="600"/>
                        <a:buFont typeface="Roboto"/>
                        <a:buNone/>
                      </a:pPr>
                      <a:r>
                        <a:rPr lang="es-CL" sz="700" b="1" i="0" u="none" strike="noStrike" cap="none">
                          <a:solidFill>
                            <a:srgbClr val="FFFFFF"/>
                          </a:solidFill>
                          <a:latin typeface="Roboto"/>
                          <a:ea typeface="Roboto"/>
                          <a:cs typeface="Roboto"/>
                          <a:sym typeface="Roboto"/>
                        </a:rPr>
                        <a:t>En ejecución</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Auditoría técnica · Convenio institucional · Programa preventivo · Evaluación de renovación</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Campaña en curso.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15"/>
                  </a:ext>
                </a:extLst>
              </a:tr>
              <a:tr h="136469">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14</a:t>
                      </a:r>
                      <a:endParaRPr sz="700"/>
                    </a:p>
                  </a:txBody>
                  <a:tcPr marL="6000" marR="6000" marT="600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Arica y Parinacota</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6</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10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16,1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3F6FA"/>
                    </a:solidFill>
                  </a:tcPr>
                </a:tc>
                <a:tc>
                  <a:txBody>
                    <a:bodyPr/>
                    <a:lstStyle/>
                    <a:p>
                      <a:pPr algn="l" fontAlgn="ctr">
                        <a:buNone/>
                      </a:pPr>
                      <a:r>
                        <a:rPr lang="es-CL" sz="700" b="0" i="0" u="none" strike="noStrike">
                          <a:solidFill>
                            <a:srgbClr val="FF0000"/>
                          </a:solidFill>
                          <a:effectLst/>
                          <a:latin typeface="Roboto" panose="02000000000000000000" pitchFamily="2" charset="0"/>
                        </a:rPr>
                        <a:t>8,1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BFCFD"/>
                    </a:solidFill>
                  </a:tcPr>
                </a:tc>
                <a:tc>
                  <a:txBody>
                    <a:bodyPr/>
                    <a:lstStyle/>
                    <a:p>
                      <a:pPr algn="l" fontAlgn="ctr">
                        <a:buNone/>
                      </a:pPr>
                      <a:r>
                        <a:rPr lang="es-CL" sz="700" b="1" i="0" u="none" strike="noStrike">
                          <a:solidFill>
                            <a:srgbClr val="000000"/>
                          </a:solidFill>
                          <a:effectLst/>
                          <a:latin typeface="Roboto" panose="02000000000000000000" pitchFamily="2" charset="0"/>
                        </a:rPr>
                        <a:t>19,4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000000"/>
                          </a:solidFill>
                          <a:effectLst/>
                          <a:latin typeface="Roboto" panose="02000000000000000000" pitchFamily="2" charset="0"/>
                        </a:rPr>
                        <a:t>83,0%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375623"/>
                          </a:solidFill>
                          <a:effectLst/>
                          <a:latin typeface="Roboto" panose="02000000000000000000" pitchFamily="2" charset="0"/>
                        </a:rPr>
                        <a:t>1,9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2F6FC"/>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Feb 2027 (Zona Norte)</a:t>
                      </a:r>
                      <a:endParaRPr sz="700"/>
                    </a:p>
                  </a:txBody>
                  <a:tcPr marL="6000" marR="6000" marT="600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7F6000"/>
                        </a:buClr>
                        <a:buSzPts val="600"/>
                        <a:buFont typeface="Roboto"/>
                        <a:buNone/>
                      </a:pPr>
                      <a:r>
                        <a:rPr lang="es-CL" sz="700" b="0" i="0" u="none" strike="noStrike" cap="none">
                          <a:solidFill>
                            <a:srgbClr val="7F6000"/>
                          </a:solidFill>
                          <a:latin typeface="Roboto"/>
                          <a:ea typeface="Roboto"/>
                          <a:cs typeface="Roboto"/>
                          <a:sym typeface="Roboto"/>
                        </a:rPr>
                        <a:t>Planificado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E699"/>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Auditoría técnica · Convenio institucional · Programa preventivo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Ronda zona norte.</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83355">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15</a:t>
                      </a:r>
                      <a:endParaRPr sz="700"/>
                    </a:p>
                  </a:txBody>
                  <a:tcPr marL="6000" marR="6000" marT="600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Aysén</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6</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11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l" fontAlgn="ctr">
                        <a:buNone/>
                      </a:pPr>
                      <a:r>
                        <a:rPr lang="es-CL" sz="700" b="0" i="0" u="none" strike="noStrike">
                          <a:solidFill>
                            <a:srgbClr val="1F1F1F"/>
                          </a:solidFill>
                          <a:effectLst/>
                          <a:latin typeface="Roboto" panose="02000000000000000000" pitchFamily="2" charset="0"/>
                        </a:rPr>
                        <a:t>14,2</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CFDFE"/>
                    </a:solidFill>
                  </a:tcPr>
                </a:tc>
                <a:tc>
                  <a:txBody>
                    <a:bodyPr/>
                    <a:lstStyle/>
                    <a:p>
                      <a:pPr algn="l" fontAlgn="ctr">
                        <a:buNone/>
                      </a:pPr>
                      <a:r>
                        <a:rPr lang="es-CL" sz="700" b="0" i="0" u="none" strike="noStrike">
                          <a:solidFill>
                            <a:srgbClr val="FF0000"/>
                          </a:solidFill>
                          <a:effectLst/>
                          <a:latin typeface="Roboto" panose="02000000000000000000" pitchFamily="2" charset="0"/>
                        </a:rPr>
                        <a:t>7,1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1" i="0" u="none" strike="noStrike">
                          <a:solidFill>
                            <a:srgbClr val="000000"/>
                          </a:solidFill>
                          <a:effectLst/>
                          <a:latin typeface="Roboto" panose="02000000000000000000" pitchFamily="2" charset="0"/>
                        </a:rPr>
                        <a:t>16,0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000000"/>
                          </a:solidFill>
                          <a:effectLst/>
                          <a:latin typeface="Roboto" panose="02000000000000000000" pitchFamily="2" charset="0"/>
                        </a:rPr>
                        <a:t>88,8%</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dirty="0">
                          <a:solidFill>
                            <a:srgbClr val="375623"/>
                          </a:solidFill>
                          <a:effectLst/>
                          <a:latin typeface="Roboto" panose="02000000000000000000" pitchFamily="2" charset="0"/>
                        </a:rPr>
                        <a:t>1,5</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C9DBF2"/>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Feb 2027 (Zona Norte)</a:t>
                      </a:r>
                      <a:endParaRPr sz="700"/>
                    </a:p>
                  </a:txBody>
                  <a:tcPr marL="6000" marR="6000" marT="600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7F6000"/>
                        </a:buClr>
                        <a:buSzPts val="600"/>
                        <a:buFont typeface="Roboto"/>
                        <a:buNone/>
                      </a:pPr>
                      <a:r>
                        <a:rPr lang="es-CL" sz="700" b="0" i="0" u="none" strike="noStrike" cap="none">
                          <a:solidFill>
                            <a:srgbClr val="7F6000"/>
                          </a:solidFill>
                          <a:latin typeface="Roboto"/>
                          <a:ea typeface="Roboto"/>
                          <a:cs typeface="Roboto"/>
                          <a:sym typeface="Roboto"/>
                        </a:rPr>
                        <a:t>Planificado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E699"/>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Levantamiento técnico · Auditoría técnica · Programa preventivo · Evaluación de renovación</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Ronda zona norte.</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17"/>
                  </a:ext>
                </a:extLst>
              </a:tr>
              <a:tr h="136469">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16</a:t>
                      </a:r>
                      <a:endParaRPr sz="700"/>
                    </a:p>
                  </a:txBody>
                  <a:tcPr marL="6000" marR="6000" marT="600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Atacama</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6</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7</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0" i="0" u="none" strike="noStrike">
                          <a:solidFill>
                            <a:srgbClr val="1F1F1F"/>
                          </a:solidFill>
                          <a:effectLst/>
                          <a:latin typeface="Roboto" panose="02000000000000000000" pitchFamily="2" charset="0"/>
                        </a:rPr>
                        <a:t>10,0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CFDFE"/>
                    </a:solidFill>
                  </a:tcPr>
                </a:tc>
                <a:tc>
                  <a:txBody>
                    <a:bodyPr/>
                    <a:lstStyle/>
                    <a:p>
                      <a:pPr algn="l" fontAlgn="ctr">
                        <a:buNone/>
                      </a:pPr>
                      <a:r>
                        <a:rPr lang="es-CL" sz="700" b="0" i="0" u="none" strike="noStrike">
                          <a:solidFill>
                            <a:srgbClr val="FF0000"/>
                          </a:solidFill>
                          <a:effectLst/>
                          <a:latin typeface="Roboto" panose="02000000000000000000" pitchFamily="2" charset="0"/>
                        </a:rPr>
                        <a:t>5,0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l" fontAlgn="ctr">
                        <a:buNone/>
                      </a:pPr>
                      <a:r>
                        <a:rPr lang="es-CL" sz="700" b="1" i="0" u="none" strike="noStrike">
                          <a:solidFill>
                            <a:srgbClr val="000000"/>
                          </a:solidFill>
                          <a:effectLst/>
                          <a:latin typeface="Roboto" panose="02000000000000000000" pitchFamily="2" charset="0"/>
                        </a:rPr>
                        <a:t>12,1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000000"/>
                          </a:solidFill>
                          <a:effectLst/>
                          <a:latin typeface="Roboto" panose="02000000000000000000" pitchFamily="2" charset="0"/>
                        </a:rPr>
                        <a:t>82,6%</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tcPr>
                </a:tc>
                <a:tc>
                  <a:txBody>
                    <a:bodyPr/>
                    <a:lstStyle/>
                    <a:p>
                      <a:pPr algn="l" fontAlgn="ctr">
                        <a:buNone/>
                      </a:pPr>
                      <a:r>
                        <a:rPr lang="es-CL" sz="700" b="1" i="0" u="none" strike="noStrike">
                          <a:solidFill>
                            <a:srgbClr val="375623"/>
                          </a:solidFill>
                          <a:effectLst/>
                          <a:latin typeface="Roboto" panose="02000000000000000000" pitchFamily="2" charset="0"/>
                        </a:rPr>
                        <a:t>1,7</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4EDF8"/>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Oct–Nov 2026 (Téc. Sur)</a:t>
                      </a:r>
                      <a:endParaRPr sz="700"/>
                    </a:p>
                  </a:txBody>
                  <a:tcPr marL="6000" marR="6000" marT="600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7F6000"/>
                        </a:buClr>
                        <a:buSzPts val="600"/>
                        <a:buFont typeface="Roboto"/>
                        <a:buNone/>
                      </a:pPr>
                      <a:r>
                        <a:rPr lang="es-CL" sz="700" b="0" i="0" u="none" strike="noStrike" cap="none">
                          <a:solidFill>
                            <a:srgbClr val="7F6000"/>
                          </a:solidFill>
                          <a:latin typeface="Roboto"/>
                          <a:ea typeface="Roboto"/>
                          <a:cs typeface="Roboto"/>
                          <a:sym typeface="Roboto"/>
                        </a:rPr>
                        <a:t>Planificado</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E699"/>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Programa preventivo · Evaluación de renovación</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700" b="0" i="0" u="none" strike="noStrike" cap="none">
                          <a:solidFill>
                            <a:srgbClr val="1F1F1F"/>
                          </a:solidFill>
                          <a:latin typeface="Roboto"/>
                          <a:ea typeface="Roboto"/>
                          <a:cs typeface="Roboto"/>
                          <a:sym typeface="Roboto"/>
                        </a:rPr>
                        <a:t>Apoya técnico sur.</a:t>
                      </a:r>
                      <a:endParaRPr sz="70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97131">
                <a:tc>
                  <a:txBody>
                    <a:bodyPr/>
                    <a:lstStyle/>
                    <a:p>
                      <a:pPr marL="0" marR="0" lvl="0" indent="0" algn="l" rtl="0">
                        <a:spcBef>
                          <a:spcPts val="0"/>
                        </a:spcBef>
                        <a:spcAft>
                          <a:spcPts val="0"/>
                        </a:spcAft>
                        <a:buClr>
                          <a:srgbClr val="FFFFFF"/>
                        </a:buClr>
                        <a:buSzPts val="600"/>
                        <a:buFont typeface="Roboto"/>
                        <a:buNone/>
                      </a:pPr>
                      <a:r>
                        <a:rPr lang="es-CL" sz="700" b="1" i="0" u="none" strike="noStrike" cap="none">
                          <a:solidFill>
                            <a:srgbClr val="FFFFFF"/>
                          </a:solidFill>
                          <a:latin typeface="Roboto"/>
                          <a:ea typeface="Roboto"/>
                          <a:cs typeface="Roboto"/>
                          <a:sym typeface="Roboto"/>
                        </a:rPr>
                        <a:t> </a:t>
                      </a:r>
                      <a:endParaRPr sz="700"/>
                    </a:p>
                  </a:txBody>
                  <a:tcPr marL="6000" marR="6000" marT="600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1F3864"/>
                    </a:solidFill>
                  </a:tcPr>
                </a:tc>
                <a:tc>
                  <a:txBody>
                    <a:bodyPr/>
                    <a:lstStyle/>
                    <a:p>
                      <a:pPr algn="l" fontAlgn="ctr">
                        <a:buNone/>
                      </a:pPr>
                      <a:r>
                        <a:rPr lang="es-CL" sz="700" b="1" i="0" u="none" strike="noStrike">
                          <a:solidFill>
                            <a:srgbClr val="FFFFFF"/>
                          </a:solidFill>
                          <a:effectLst/>
                          <a:latin typeface="Roboto" panose="02000000000000000000" pitchFamily="2" charset="0"/>
                        </a:rPr>
                        <a:t>TOTAL</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1F3864"/>
                    </a:solidFill>
                  </a:tcPr>
                </a:tc>
                <a:tc>
                  <a:txBody>
                    <a:bodyPr/>
                    <a:lstStyle/>
                    <a:p>
                      <a:pPr algn="l" fontAlgn="ctr">
                        <a:buNone/>
                      </a:pPr>
                      <a:r>
                        <a:rPr lang="es-CL" sz="700" b="1" i="0" u="none" strike="noStrike">
                          <a:solidFill>
                            <a:srgbClr val="FFFFFF"/>
                          </a:solidFill>
                          <a:effectLst/>
                          <a:latin typeface="Roboto" panose="02000000000000000000" pitchFamily="2" charset="0"/>
                        </a:rPr>
                        <a:t> </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1F3864"/>
                    </a:solidFill>
                  </a:tcPr>
                </a:tc>
                <a:tc>
                  <a:txBody>
                    <a:bodyPr/>
                    <a:lstStyle/>
                    <a:p>
                      <a:pPr algn="l" fontAlgn="ctr">
                        <a:buNone/>
                      </a:pPr>
                      <a:r>
                        <a:rPr lang="es-CL" sz="700" b="1" i="0" u="none" strike="noStrike">
                          <a:solidFill>
                            <a:srgbClr val="FFFFFF"/>
                          </a:solidFill>
                          <a:effectLst/>
                          <a:latin typeface="Roboto" panose="02000000000000000000" pitchFamily="2" charset="0"/>
                        </a:rPr>
                        <a:t>739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1F3864"/>
                    </a:solidFill>
                  </a:tcPr>
                </a:tc>
                <a:tc>
                  <a:txBody>
                    <a:bodyPr/>
                    <a:lstStyle/>
                    <a:p>
                      <a:pPr algn="l" fontAlgn="ctr">
                        <a:buNone/>
                      </a:pPr>
                      <a:r>
                        <a:rPr lang="es-CL" sz="700" b="1" i="0" u="none" strike="noStrike">
                          <a:solidFill>
                            <a:srgbClr val="FFFFFF"/>
                          </a:solidFill>
                          <a:effectLst/>
                          <a:latin typeface="Roboto" panose="02000000000000000000" pitchFamily="2" charset="0"/>
                        </a:rPr>
                        <a:t>1.017</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1F3864"/>
                    </a:solidFill>
                  </a:tcPr>
                </a:tc>
                <a:tc>
                  <a:txBody>
                    <a:bodyPr/>
                    <a:lstStyle/>
                    <a:p>
                      <a:pPr algn="l" fontAlgn="ctr">
                        <a:buNone/>
                      </a:pPr>
                      <a:r>
                        <a:rPr lang="es-CL" sz="700" b="1" i="0" u="none" strike="noStrike">
                          <a:solidFill>
                            <a:srgbClr val="FFFFFF"/>
                          </a:solidFill>
                          <a:effectLst/>
                          <a:latin typeface="Roboto" panose="02000000000000000000" pitchFamily="2" charset="0"/>
                        </a:rPr>
                        <a:t>521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1F3864"/>
                    </a:solidFill>
                  </a:tcPr>
                </a:tc>
                <a:tc>
                  <a:txBody>
                    <a:bodyPr/>
                    <a:lstStyle/>
                    <a:p>
                      <a:pPr algn="l" fontAlgn="ctr">
                        <a:buNone/>
                      </a:pPr>
                      <a:r>
                        <a:rPr lang="es-CL" sz="700" b="1" i="0" u="none" strike="noStrike">
                          <a:solidFill>
                            <a:srgbClr val="FFFFFF"/>
                          </a:solidFill>
                          <a:effectLst/>
                          <a:latin typeface="Roboto" panose="02000000000000000000" pitchFamily="2" charset="0"/>
                        </a:rPr>
                        <a:t>2.072</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1F3864"/>
                    </a:solidFill>
                  </a:tcPr>
                </a:tc>
                <a:tc>
                  <a:txBody>
                    <a:bodyPr/>
                    <a:lstStyle/>
                    <a:p>
                      <a:pPr algn="l" fontAlgn="ctr">
                        <a:buNone/>
                      </a:pPr>
                      <a:r>
                        <a:rPr lang="es-CL" sz="700" b="1" i="0" u="none" strike="noStrike">
                          <a:solidFill>
                            <a:srgbClr val="FFFFFF"/>
                          </a:solidFill>
                          <a:effectLst/>
                          <a:latin typeface="Roboto" panose="02000000000000000000" pitchFamily="2" charset="0"/>
                        </a:rPr>
                        <a:t>49,1%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1F3864"/>
                    </a:solidFill>
                  </a:tcPr>
                </a:tc>
                <a:tc>
                  <a:txBody>
                    <a:bodyPr/>
                    <a:lstStyle/>
                    <a:p>
                      <a:pPr algn="l" fontAlgn="ctr">
                        <a:buNone/>
                      </a:pPr>
                      <a:r>
                        <a:rPr lang="es-CL" sz="700" b="1" i="0" u="none" strike="noStrike" dirty="0">
                          <a:solidFill>
                            <a:srgbClr val="FFFFFF"/>
                          </a:solidFill>
                          <a:effectLst/>
                          <a:latin typeface="Roboto" panose="02000000000000000000" pitchFamily="2" charset="0"/>
                        </a:rPr>
                        <a:t>3</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1F3864"/>
                    </a:solidFill>
                  </a:tcPr>
                </a:tc>
                <a:tc>
                  <a:txBody>
                    <a:bodyPr/>
                    <a:lstStyle/>
                    <a:p>
                      <a:pPr marL="0" marR="0" lvl="0" indent="0" algn="l" rtl="0">
                        <a:spcBef>
                          <a:spcPts val="0"/>
                        </a:spcBef>
                        <a:spcAft>
                          <a:spcPts val="0"/>
                        </a:spcAft>
                        <a:buClr>
                          <a:srgbClr val="FFFFFF"/>
                        </a:buClr>
                        <a:buSzPts val="600"/>
                        <a:buFont typeface="Roboto"/>
                        <a:buNone/>
                      </a:pPr>
                      <a:r>
                        <a:rPr lang="es-CL" sz="700" b="1" i="0" u="none" strike="noStrike" cap="none" dirty="0">
                          <a:solidFill>
                            <a:srgbClr val="FFFFFF"/>
                          </a:solidFill>
                          <a:latin typeface="Roboto"/>
                          <a:ea typeface="Roboto"/>
                          <a:cs typeface="Roboto"/>
                          <a:sym typeface="Roboto"/>
                        </a:rPr>
                        <a:t> </a:t>
                      </a:r>
                      <a:endParaRPr sz="700" dirty="0"/>
                    </a:p>
                  </a:txBody>
                  <a:tcPr marL="6000" marR="6000" marT="600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1F3864"/>
                    </a:solidFill>
                  </a:tcPr>
                </a:tc>
                <a:tc>
                  <a:txBody>
                    <a:bodyPr/>
                    <a:lstStyle/>
                    <a:p>
                      <a:pPr marL="0" marR="0" lvl="0" indent="0" algn="l" rtl="0">
                        <a:spcBef>
                          <a:spcPts val="0"/>
                        </a:spcBef>
                        <a:spcAft>
                          <a:spcPts val="0"/>
                        </a:spcAft>
                        <a:buClr>
                          <a:srgbClr val="FFFFFF"/>
                        </a:buClr>
                        <a:buSzPts val="600"/>
                        <a:buFont typeface="Roboto"/>
                        <a:buNone/>
                      </a:pPr>
                      <a:r>
                        <a:rPr lang="es-CL" sz="700" b="1" i="0" u="none" strike="noStrike" cap="none" dirty="0">
                          <a:solidFill>
                            <a:srgbClr val="FFFFFF"/>
                          </a:solidFill>
                          <a:latin typeface="Roboto"/>
                          <a:ea typeface="Roboto"/>
                          <a:cs typeface="Roboto"/>
                          <a:sym typeface="Roboto"/>
                        </a:rPr>
                        <a:t> </a:t>
                      </a:r>
                      <a:endParaRPr sz="700" dirty="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1F3864"/>
                    </a:solidFill>
                  </a:tcPr>
                </a:tc>
                <a:tc>
                  <a:txBody>
                    <a:bodyPr/>
                    <a:lstStyle/>
                    <a:p>
                      <a:pPr marL="0" marR="0" lvl="0" indent="0" algn="l" rtl="0">
                        <a:spcBef>
                          <a:spcPts val="0"/>
                        </a:spcBef>
                        <a:spcAft>
                          <a:spcPts val="0"/>
                        </a:spcAft>
                        <a:buClr>
                          <a:srgbClr val="FFFFFF"/>
                        </a:buClr>
                        <a:buSzPts val="600"/>
                        <a:buFont typeface="Roboto"/>
                        <a:buNone/>
                      </a:pPr>
                      <a:r>
                        <a:rPr lang="es-CL" sz="700" b="1" i="0" u="none" strike="noStrike" cap="none" dirty="0">
                          <a:solidFill>
                            <a:srgbClr val="FFFFFF"/>
                          </a:solidFill>
                          <a:latin typeface="Roboto"/>
                          <a:ea typeface="Roboto"/>
                          <a:cs typeface="Roboto"/>
                          <a:sym typeface="Roboto"/>
                        </a:rPr>
                        <a:t> </a:t>
                      </a:r>
                      <a:endParaRPr sz="700" dirty="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1F3864"/>
                    </a:solidFill>
                  </a:tcPr>
                </a:tc>
                <a:tc>
                  <a:txBody>
                    <a:bodyPr/>
                    <a:lstStyle/>
                    <a:p>
                      <a:pPr marL="0" marR="0" lvl="0" indent="0" algn="l" rtl="0">
                        <a:spcBef>
                          <a:spcPts val="0"/>
                        </a:spcBef>
                        <a:spcAft>
                          <a:spcPts val="0"/>
                        </a:spcAft>
                        <a:buClr>
                          <a:srgbClr val="FFFFFF"/>
                        </a:buClr>
                        <a:buSzPts val="600"/>
                        <a:buFont typeface="Roboto"/>
                        <a:buNone/>
                      </a:pPr>
                      <a:r>
                        <a:rPr lang="es-CL" sz="700" b="1" i="0" u="none" strike="noStrike" cap="none" dirty="0">
                          <a:solidFill>
                            <a:srgbClr val="FFFFFF"/>
                          </a:solidFill>
                          <a:latin typeface="Roboto"/>
                          <a:ea typeface="Roboto"/>
                          <a:cs typeface="Roboto"/>
                          <a:sym typeface="Roboto"/>
                        </a:rPr>
                        <a:t> </a:t>
                      </a:r>
                      <a:endParaRPr sz="700" dirty="0"/>
                    </a:p>
                  </a:txBody>
                  <a:tcPr marL="6000" marR="6000" marT="600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1F3864"/>
                    </a:solidFill>
                  </a:tcPr>
                </a:tc>
                <a:extLst>
                  <a:ext uri="{0D108BD9-81ED-4DB2-BD59-A6C34878D82A}">
                    <a16:rowId xmlns:a16="http://schemas.microsoft.com/office/drawing/2014/main" val="10019"/>
                  </a:ext>
                </a:extLst>
              </a:tr>
            </a:tbl>
          </a:graphicData>
        </a:graphic>
      </p:graphicFrame>
      <p:sp>
        <p:nvSpPr>
          <p:cNvPr id="2" name="Rectángulo 1">
            <a:extLst>
              <a:ext uri="{FF2B5EF4-FFF2-40B4-BE49-F238E27FC236}">
                <a16:creationId xmlns:a16="http://schemas.microsoft.com/office/drawing/2014/main" id="{D7B5B03A-5116-1E51-C19B-F06CDA3C9384}"/>
              </a:ext>
            </a:extLst>
          </p:cNvPr>
          <p:cNvSpPr/>
          <p:nvPr/>
        </p:nvSpPr>
        <p:spPr>
          <a:xfrm>
            <a:off x="320832" y="1471500"/>
            <a:ext cx="11535168" cy="225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4" name="Rectángulo 3">
            <a:extLst>
              <a:ext uri="{FF2B5EF4-FFF2-40B4-BE49-F238E27FC236}">
                <a16:creationId xmlns:a16="http://schemas.microsoft.com/office/drawing/2014/main" id="{8D984386-A783-7A78-7F83-E382848845D8}"/>
              </a:ext>
            </a:extLst>
          </p:cNvPr>
          <p:cNvSpPr/>
          <p:nvPr/>
        </p:nvSpPr>
        <p:spPr>
          <a:xfrm>
            <a:off x="320832" y="2259000"/>
            <a:ext cx="11535168" cy="225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53">
          <a:extLst>
            <a:ext uri="{FF2B5EF4-FFF2-40B4-BE49-F238E27FC236}">
              <a16:creationId xmlns:a16="http://schemas.microsoft.com/office/drawing/2014/main" id="{9DB65916-497E-3093-C498-4DF9CAA7997B}"/>
            </a:ext>
          </a:extLst>
        </p:cNvPr>
        <p:cNvGrpSpPr/>
        <p:nvPr/>
      </p:nvGrpSpPr>
      <p:grpSpPr>
        <a:xfrm>
          <a:off x="0" y="0"/>
          <a:ext cx="0" cy="0"/>
          <a:chOff x="0" y="0"/>
          <a:chExt cx="0" cy="0"/>
        </a:xfrm>
      </p:grpSpPr>
      <p:sp>
        <p:nvSpPr>
          <p:cNvPr id="454" name="Google Shape;454;p35">
            <a:extLst>
              <a:ext uri="{FF2B5EF4-FFF2-40B4-BE49-F238E27FC236}">
                <a16:creationId xmlns:a16="http://schemas.microsoft.com/office/drawing/2014/main" id="{881D41AA-FDCE-331E-A24B-7B5C8DFE7431}"/>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dirty="0">
                <a:solidFill>
                  <a:srgbClr val="33448D"/>
                </a:solidFill>
                <a:latin typeface="Roboto"/>
                <a:ea typeface="Roboto"/>
                <a:cs typeface="Roboto"/>
                <a:sym typeface="Roboto"/>
              </a:rPr>
              <a:t>Plan RM y Valparaíso</a:t>
            </a:r>
            <a:endParaRPr dirty="0"/>
          </a:p>
        </p:txBody>
      </p:sp>
      <p:sp>
        <p:nvSpPr>
          <p:cNvPr id="4" name="Rectángulo 3">
            <a:extLst>
              <a:ext uri="{FF2B5EF4-FFF2-40B4-BE49-F238E27FC236}">
                <a16:creationId xmlns:a16="http://schemas.microsoft.com/office/drawing/2014/main" id="{310655F4-FE23-7513-BD96-2AA1B8A514C7}"/>
              </a:ext>
            </a:extLst>
          </p:cNvPr>
          <p:cNvSpPr/>
          <p:nvPr/>
        </p:nvSpPr>
        <p:spPr>
          <a:xfrm>
            <a:off x="471000" y="1089000"/>
            <a:ext cx="4815000" cy="4197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b="1" dirty="0">
                <a:solidFill>
                  <a:schemeClr val="tx1"/>
                </a:solidFill>
              </a:rPr>
              <a:t>Potencial Región Metropolitana</a:t>
            </a:r>
            <a:endParaRPr lang="es-CL" b="1" dirty="0">
              <a:solidFill>
                <a:schemeClr val="tx1"/>
              </a:solidFill>
            </a:endParaRPr>
          </a:p>
        </p:txBody>
      </p:sp>
      <p:sp>
        <p:nvSpPr>
          <p:cNvPr id="6" name="Rectángulo 5">
            <a:extLst>
              <a:ext uri="{FF2B5EF4-FFF2-40B4-BE49-F238E27FC236}">
                <a16:creationId xmlns:a16="http://schemas.microsoft.com/office/drawing/2014/main" id="{83DE50E8-1AEE-8EBD-3546-1A21ADBA6F53}"/>
              </a:ext>
            </a:extLst>
          </p:cNvPr>
          <p:cNvSpPr/>
          <p:nvPr/>
        </p:nvSpPr>
        <p:spPr>
          <a:xfrm>
            <a:off x="7039200" y="1089000"/>
            <a:ext cx="4816800" cy="4197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b="1" dirty="0">
                <a:solidFill>
                  <a:schemeClr val="tx1"/>
                </a:solidFill>
              </a:rPr>
              <a:t>Región de Valparaíso</a:t>
            </a:r>
            <a:endParaRPr lang="es-CL" b="1" dirty="0">
              <a:solidFill>
                <a:schemeClr val="tx1"/>
              </a:solidFill>
            </a:endParaRPr>
          </a:p>
        </p:txBody>
      </p:sp>
      <p:sp>
        <p:nvSpPr>
          <p:cNvPr id="7" name="Rectángulo 6">
            <a:extLst>
              <a:ext uri="{FF2B5EF4-FFF2-40B4-BE49-F238E27FC236}">
                <a16:creationId xmlns:a16="http://schemas.microsoft.com/office/drawing/2014/main" id="{13150B88-8A30-A57E-1591-15D33E8F6A46}"/>
              </a:ext>
            </a:extLst>
          </p:cNvPr>
          <p:cNvSpPr/>
          <p:nvPr/>
        </p:nvSpPr>
        <p:spPr>
          <a:xfrm>
            <a:off x="471000" y="1764000"/>
            <a:ext cx="1260000" cy="1665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1 – Top 10 Mayor Potencial</a:t>
            </a:r>
            <a:endParaRPr lang="es-CL" sz="800" b="1" dirty="0">
              <a:solidFill>
                <a:schemeClr val="tx1"/>
              </a:solidFill>
            </a:endParaRPr>
          </a:p>
        </p:txBody>
      </p:sp>
      <p:sp>
        <p:nvSpPr>
          <p:cNvPr id="9" name="Rectángulo 8">
            <a:extLst>
              <a:ext uri="{FF2B5EF4-FFF2-40B4-BE49-F238E27FC236}">
                <a16:creationId xmlns:a16="http://schemas.microsoft.com/office/drawing/2014/main" id="{6F67E22D-43EE-2E44-523B-78AB859679C3}"/>
              </a:ext>
            </a:extLst>
          </p:cNvPr>
          <p:cNvSpPr/>
          <p:nvPr/>
        </p:nvSpPr>
        <p:spPr>
          <a:xfrm>
            <a:off x="1883400" y="1764000"/>
            <a:ext cx="1260000" cy="166500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2 – Top 15 Clientes “grandes” sin contrato</a:t>
            </a:r>
            <a:endParaRPr lang="es-CL" sz="1100" b="1" dirty="0">
              <a:solidFill>
                <a:schemeClr val="tx1"/>
              </a:solidFill>
            </a:endParaRPr>
          </a:p>
        </p:txBody>
      </p:sp>
      <p:sp>
        <p:nvSpPr>
          <p:cNvPr id="11" name="Rectángulo 10">
            <a:extLst>
              <a:ext uri="{FF2B5EF4-FFF2-40B4-BE49-F238E27FC236}">
                <a16:creationId xmlns:a16="http://schemas.microsoft.com/office/drawing/2014/main" id="{224D9E36-7867-7A83-7CC3-0383BF4E032E}"/>
              </a:ext>
            </a:extLst>
          </p:cNvPr>
          <p:cNvSpPr/>
          <p:nvPr/>
        </p:nvSpPr>
        <p:spPr>
          <a:xfrm>
            <a:off x="3295800" y="1763073"/>
            <a:ext cx="1990200" cy="16650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3 - Restante</a:t>
            </a:r>
            <a:endParaRPr lang="es-CL" sz="1100" b="1" dirty="0">
              <a:solidFill>
                <a:schemeClr val="tx1"/>
              </a:solidFill>
            </a:endParaRPr>
          </a:p>
        </p:txBody>
      </p:sp>
      <p:sp>
        <p:nvSpPr>
          <p:cNvPr id="19" name="Rectángulo 18">
            <a:extLst>
              <a:ext uri="{FF2B5EF4-FFF2-40B4-BE49-F238E27FC236}">
                <a16:creationId xmlns:a16="http://schemas.microsoft.com/office/drawing/2014/main" id="{7C218992-088C-5548-7416-70072E025CCB}"/>
              </a:ext>
            </a:extLst>
          </p:cNvPr>
          <p:cNvSpPr/>
          <p:nvPr/>
        </p:nvSpPr>
        <p:spPr>
          <a:xfrm>
            <a:off x="471000" y="3564926"/>
            <a:ext cx="1260000" cy="26990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MM$260,1</a:t>
            </a:r>
          </a:p>
          <a:p>
            <a:pPr marL="171450" indent="-171450">
              <a:buFont typeface="Arial" panose="020B0604020202020204" pitchFamily="34" charset="0"/>
              <a:buChar char="•"/>
            </a:pPr>
            <a:r>
              <a:rPr lang="es-MX" sz="900" dirty="0">
                <a:solidFill>
                  <a:schemeClr val="tx2"/>
                </a:solidFill>
              </a:rPr>
              <a:t># Clientes: 10</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y </a:t>
            </a:r>
            <a:r>
              <a:rPr lang="es-MX" sz="900" dirty="0" err="1">
                <a:solidFill>
                  <a:schemeClr val="tx2"/>
                </a:solidFill>
              </a:rPr>
              <a:t>Eglys</a:t>
            </a:r>
            <a:r>
              <a:rPr lang="es-MX" sz="900" dirty="0">
                <a:solidFill>
                  <a:schemeClr val="tx2"/>
                </a:solidFill>
              </a:rPr>
              <a:t> </a:t>
            </a:r>
            <a:r>
              <a:rPr lang="es-MX" sz="900" dirty="0" err="1">
                <a:solidFill>
                  <a:schemeClr val="tx2"/>
                </a:solidFill>
              </a:rPr>
              <a:t>Ramiréz</a:t>
            </a:r>
            <a:endParaRPr lang="es-MX" sz="900" dirty="0">
              <a:solidFill>
                <a:schemeClr val="tx2"/>
              </a:solidFill>
            </a:endParaRPr>
          </a:p>
          <a:p>
            <a:pPr marL="171450" indent="-171450">
              <a:buFont typeface="Arial" panose="020B0604020202020204" pitchFamily="34" charset="0"/>
              <a:buChar char="•"/>
            </a:pPr>
            <a:r>
              <a:rPr lang="es-MX" sz="900" dirty="0">
                <a:solidFill>
                  <a:schemeClr val="tx2"/>
                </a:solidFill>
              </a:rPr>
              <a:t>Fecha de Ejecución: Sept – Oct</a:t>
            </a:r>
          </a:p>
          <a:p>
            <a:pPr marL="171450" indent="-171450">
              <a:buFont typeface="Arial" panose="020B0604020202020204" pitchFamily="34" charset="0"/>
              <a:buChar char="•"/>
            </a:pPr>
            <a:r>
              <a:rPr lang="es-MX" sz="900" dirty="0">
                <a:solidFill>
                  <a:schemeClr val="tx2"/>
                </a:solidFill>
              </a:rPr>
              <a:t>Plan detallado por cada uno </a:t>
            </a:r>
            <a:r>
              <a:rPr lang="es-MX" sz="1600" b="1" dirty="0">
                <a:solidFill>
                  <a:schemeClr val="tx1"/>
                </a:solidFill>
              </a:rPr>
              <a:t>MM$</a:t>
            </a:r>
            <a:endParaRPr lang="es-CL" sz="1050" b="1" dirty="0">
              <a:solidFill>
                <a:schemeClr val="tx1"/>
              </a:solidFill>
            </a:endParaRPr>
          </a:p>
        </p:txBody>
      </p:sp>
      <p:sp>
        <p:nvSpPr>
          <p:cNvPr id="21" name="Rectángulo 20">
            <a:extLst>
              <a:ext uri="{FF2B5EF4-FFF2-40B4-BE49-F238E27FC236}">
                <a16:creationId xmlns:a16="http://schemas.microsoft.com/office/drawing/2014/main" id="{6AB06410-7FF9-A769-4295-AC9C8C73B407}"/>
              </a:ext>
            </a:extLst>
          </p:cNvPr>
          <p:cNvSpPr/>
          <p:nvPr/>
        </p:nvSpPr>
        <p:spPr>
          <a:xfrm>
            <a:off x="1883400" y="3564926"/>
            <a:ext cx="1260000" cy="26990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MM$42,6</a:t>
            </a:r>
          </a:p>
          <a:p>
            <a:pPr marL="171450" indent="-171450">
              <a:buFont typeface="Arial" panose="020B0604020202020204" pitchFamily="34" charset="0"/>
              <a:buChar char="•"/>
            </a:pPr>
            <a:r>
              <a:rPr lang="es-MX" sz="900" dirty="0">
                <a:solidFill>
                  <a:schemeClr val="tx2"/>
                </a:solidFill>
              </a:rPr>
              <a:t># Clientes: 15</a:t>
            </a:r>
          </a:p>
          <a:p>
            <a:pPr marL="171450" indent="-171450">
              <a:buFont typeface="Arial" panose="020B0604020202020204" pitchFamily="34" charset="0"/>
              <a:buChar char="•"/>
            </a:pPr>
            <a:r>
              <a:rPr lang="es-MX" sz="900" dirty="0">
                <a:solidFill>
                  <a:schemeClr val="tx2"/>
                </a:solidFill>
              </a:rPr>
              <a:t>Cristián </a:t>
            </a:r>
            <a:r>
              <a:rPr lang="es-MX" sz="900" dirty="0" err="1">
                <a:solidFill>
                  <a:schemeClr val="tx2"/>
                </a:solidFill>
              </a:rPr>
              <a:t>Perez</a:t>
            </a:r>
            <a:r>
              <a:rPr lang="es-MX" sz="900" dirty="0">
                <a:solidFill>
                  <a:schemeClr val="tx2"/>
                </a:solidFill>
              </a:rPr>
              <a:t> y </a:t>
            </a:r>
            <a:r>
              <a:rPr lang="es-MX" sz="900" dirty="0" err="1">
                <a:solidFill>
                  <a:schemeClr val="tx2"/>
                </a:solidFill>
              </a:rPr>
              <a:t>Eglys</a:t>
            </a:r>
            <a:r>
              <a:rPr lang="es-MX" sz="900" dirty="0">
                <a:solidFill>
                  <a:schemeClr val="tx2"/>
                </a:solidFill>
              </a:rPr>
              <a:t> </a:t>
            </a:r>
            <a:r>
              <a:rPr lang="es-MX" sz="900" dirty="0" err="1">
                <a:solidFill>
                  <a:schemeClr val="tx2"/>
                </a:solidFill>
              </a:rPr>
              <a:t>Ramiréz</a:t>
            </a:r>
            <a:endParaRPr lang="es-MX" sz="900" dirty="0">
              <a:solidFill>
                <a:schemeClr val="tx2"/>
              </a:solidFill>
            </a:endParaRPr>
          </a:p>
          <a:p>
            <a:pPr marL="171450" indent="-171450">
              <a:buFont typeface="Arial" panose="020B0604020202020204" pitchFamily="34" charset="0"/>
              <a:buChar char="•"/>
            </a:pPr>
            <a:r>
              <a:rPr lang="es-MX" sz="900" dirty="0">
                <a:solidFill>
                  <a:schemeClr val="tx2"/>
                </a:solidFill>
              </a:rPr>
              <a:t>Fecha de Ejecución: Sept – Oct</a:t>
            </a:r>
          </a:p>
          <a:p>
            <a:pPr marL="171450" indent="-171450">
              <a:buFont typeface="Arial" panose="020B0604020202020204" pitchFamily="34" charset="0"/>
              <a:buChar char="•"/>
            </a:pPr>
            <a:r>
              <a:rPr lang="es-MX" sz="900" dirty="0">
                <a:solidFill>
                  <a:schemeClr val="tx2"/>
                </a:solidFill>
              </a:rPr>
              <a:t>Plan detallado por cada uno</a:t>
            </a:r>
            <a:r>
              <a:rPr lang="es-MX" sz="900" b="1" dirty="0">
                <a:solidFill>
                  <a:schemeClr val="tx1"/>
                </a:solidFill>
              </a:rPr>
              <a:t> 2</a:t>
            </a:r>
            <a:endParaRPr lang="es-CL" sz="900" b="1" dirty="0">
              <a:solidFill>
                <a:schemeClr val="tx1"/>
              </a:solidFill>
            </a:endParaRPr>
          </a:p>
        </p:txBody>
      </p:sp>
      <p:sp>
        <p:nvSpPr>
          <p:cNvPr id="23" name="Rectángulo 22">
            <a:extLst>
              <a:ext uri="{FF2B5EF4-FFF2-40B4-BE49-F238E27FC236}">
                <a16:creationId xmlns:a16="http://schemas.microsoft.com/office/drawing/2014/main" id="{991E9840-3361-BB33-8474-F0AC6E982254}"/>
              </a:ext>
            </a:extLst>
          </p:cNvPr>
          <p:cNvSpPr/>
          <p:nvPr/>
        </p:nvSpPr>
        <p:spPr>
          <a:xfrm>
            <a:off x="3295800" y="3563999"/>
            <a:ext cx="1990200" cy="26990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MM$501,0</a:t>
            </a:r>
          </a:p>
          <a:p>
            <a:pPr marL="171450" indent="-171450">
              <a:buFont typeface="Arial" panose="020B0604020202020204" pitchFamily="34" charset="0"/>
              <a:buChar char="•"/>
            </a:pPr>
            <a:r>
              <a:rPr lang="es-MX" sz="900" dirty="0">
                <a:solidFill>
                  <a:schemeClr val="tx2"/>
                </a:solidFill>
              </a:rPr>
              <a:t># Clientes: 245</a:t>
            </a:r>
          </a:p>
          <a:p>
            <a:pPr marL="171450" indent="-171450">
              <a:buFont typeface="Arial" panose="020B0604020202020204" pitchFamily="34" charset="0"/>
              <a:buChar char="•"/>
            </a:pPr>
            <a:r>
              <a:rPr lang="es-MX" sz="900" dirty="0">
                <a:solidFill>
                  <a:schemeClr val="tx2"/>
                </a:solidFill>
              </a:rPr>
              <a:t>Responsable: KAM 1-2</a:t>
            </a:r>
          </a:p>
          <a:p>
            <a:pPr marL="171450" indent="-171450">
              <a:buFont typeface="Arial" panose="020B0604020202020204" pitchFamily="34" charset="0"/>
              <a:buChar char="•"/>
            </a:pPr>
            <a:r>
              <a:rPr lang="es-MX" sz="900" dirty="0">
                <a:solidFill>
                  <a:schemeClr val="tx2"/>
                </a:solidFill>
              </a:rPr>
              <a:t>Fecha de Ejecución: Oct - Noviembre</a:t>
            </a:r>
          </a:p>
          <a:p>
            <a:pPr marL="171450" indent="-171450">
              <a:buFont typeface="Arial" panose="020B0604020202020204" pitchFamily="34" charset="0"/>
              <a:buChar char="•"/>
            </a:pPr>
            <a:r>
              <a:rPr lang="es-MX" sz="900" dirty="0">
                <a:solidFill>
                  <a:schemeClr val="tx2"/>
                </a:solidFill>
              </a:rPr>
              <a:t>Procesos de Prospección</a:t>
            </a:r>
            <a:r>
              <a:rPr lang="es-MX" sz="1600" b="1" dirty="0">
                <a:solidFill>
                  <a:schemeClr val="tx1"/>
                </a:solidFill>
              </a:rPr>
              <a:t>2</a:t>
            </a:r>
            <a:endParaRPr lang="es-CL" sz="1600" b="1" dirty="0">
              <a:solidFill>
                <a:schemeClr val="tx1"/>
              </a:solidFill>
            </a:endParaRPr>
          </a:p>
        </p:txBody>
      </p:sp>
      <p:sp>
        <p:nvSpPr>
          <p:cNvPr id="31" name="Rectángulo 30">
            <a:extLst>
              <a:ext uri="{FF2B5EF4-FFF2-40B4-BE49-F238E27FC236}">
                <a16:creationId xmlns:a16="http://schemas.microsoft.com/office/drawing/2014/main" id="{5E9D9E48-B928-35D5-8300-8F67805CD609}"/>
              </a:ext>
            </a:extLst>
          </p:cNvPr>
          <p:cNvSpPr/>
          <p:nvPr/>
        </p:nvSpPr>
        <p:spPr>
          <a:xfrm>
            <a:off x="7041000" y="1764000"/>
            <a:ext cx="1260000" cy="1665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1 – Top 10 Mayor Potencial</a:t>
            </a:r>
            <a:endParaRPr lang="es-CL" sz="800" b="1" dirty="0">
              <a:solidFill>
                <a:schemeClr val="tx1"/>
              </a:solidFill>
            </a:endParaRPr>
          </a:p>
        </p:txBody>
      </p:sp>
      <p:sp>
        <p:nvSpPr>
          <p:cNvPr id="33" name="Rectángulo 32">
            <a:extLst>
              <a:ext uri="{FF2B5EF4-FFF2-40B4-BE49-F238E27FC236}">
                <a16:creationId xmlns:a16="http://schemas.microsoft.com/office/drawing/2014/main" id="{C5D84449-1FB2-D3F6-2CAC-177C0C3B31B0}"/>
              </a:ext>
            </a:extLst>
          </p:cNvPr>
          <p:cNvSpPr/>
          <p:nvPr/>
        </p:nvSpPr>
        <p:spPr>
          <a:xfrm>
            <a:off x="8453400" y="1764000"/>
            <a:ext cx="1260000" cy="1665000"/>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2 – Top 15 Clientes “grandes” sin contrato</a:t>
            </a:r>
            <a:endParaRPr lang="es-CL" sz="1100" b="1" dirty="0">
              <a:solidFill>
                <a:schemeClr val="tx1"/>
              </a:solidFill>
            </a:endParaRPr>
          </a:p>
        </p:txBody>
      </p:sp>
      <p:sp>
        <p:nvSpPr>
          <p:cNvPr id="35" name="Rectángulo 34">
            <a:extLst>
              <a:ext uri="{FF2B5EF4-FFF2-40B4-BE49-F238E27FC236}">
                <a16:creationId xmlns:a16="http://schemas.microsoft.com/office/drawing/2014/main" id="{60DAD808-CC68-2D78-C9C7-2080A857AB36}"/>
              </a:ext>
            </a:extLst>
          </p:cNvPr>
          <p:cNvSpPr/>
          <p:nvPr/>
        </p:nvSpPr>
        <p:spPr>
          <a:xfrm>
            <a:off x="9865800" y="1763073"/>
            <a:ext cx="1990200" cy="16650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3 - Restante</a:t>
            </a:r>
            <a:endParaRPr lang="es-CL" sz="1100" b="1" dirty="0">
              <a:solidFill>
                <a:schemeClr val="tx1"/>
              </a:solidFill>
            </a:endParaRPr>
          </a:p>
        </p:txBody>
      </p:sp>
      <p:sp>
        <p:nvSpPr>
          <p:cNvPr id="51" name="Rectángulo 50">
            <a:extLst>
              <a:ext uri="{FF2B5EF4-FFF2-40B4-BE49-F238E27FC236}">
                <a16:creationId xmlns:a16="http://schemas.microsoft.com/office/drawing/2014/main" id="{E80B99D0-A96B-45B8-91EA-45A34A1C4E82}"/>
              </a:ext>
            </a:extLst>
          </p:cNvPr>
          <p:cNvSpPr/>
          <p:nvPr/>
        </p:nvSpPr>
        <p:spPr>
          <a:xfrm>
            <a:off x="7041184" y="3563999"/>
            <a:ext cx="1260000" cy="26990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MM$86</a:t>
            </a:r>
          </a:p>
          <a:p>
            <a:pPr marL="171450" indent="-171450">
              <a:buFont typeface="Arial" panose="020B0604020202020204" pitchFamily="34" charset="0"/>
              <a:buChar char="•"/>
            </a:pPr>
            <a:r>
              <a:rPr lang="es-MX" sz="900" dirty="0">
                <a:solidFill>
                  <a:schemeClr val="tx2"/>
                </a:solidFill>
              </a:rPr>
              <a:t># Clientes: 10</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Fecha de Ejecución: Sept – Oct</a:t>
            </a:r>
          </a:p>
          <a:p>
            <a:pPr marL="171450" indent="-171450">
              <a:buFont typeface="Arial" panose="020B0604020202020204" pitchFamily="34" charset="0"/>
              <a:buChar char="•"/>
            </a:pPr>
            <a:r>
              <a:rPr lang="es-MX" sz="900" dirty="0">
                <a:solidFill>
                  <a:schemeClr val="tx2"/>
                </a:solidFill>
              </a:rPr>
              <a:t>Plan detallado por cada uno </a:t>
            </a:r>
            <a:r>
              <a:rPr lang="es-MX" sz="1600" b="1" dirty="0">
                <a:solidFill>
                  <a:schemeClr val="tx1"/>
                </a:solidFill>
              </a:rPr>
              <a:t>MM$</a:t>
            </a:r>
            <a:endParaRPr lang="es-CL" sz="1050" b="1" dirty="0">
              <a:solidFill>
                <a:schemeClr val="tx1"/>
              </a:solidFill>
            </a:endParaRPr>
          </a:p>
        </p:txBody>
      </p:sp>
      <p:sp>
        <p:nvSpPr>
          <p:cNvPr id="53" name="Rectángulo 52">
            <a:extLst>
              <a:ext uri="{FF2B5EF4-FFF2-40B4-BE49-F238E27FC236}">
                <a16:creationId xmlns:a16="http://schemas.microsoft.com/office/drawing/2014/main" id="{114483FA-CA3A-F5E9-E7A7-1A957F93FE15}"/>
              </a:ext>
            </a:extLst>
          </p:cNvPr>
          <p:cNvSpPr/>
          <p:nvPr/>
        </p:nvSpPr>
        <p:spPr>
          <a:xfrm>
            <a:off x="8453584" y="3563999"/>
            <a:ext cx="1260000" cy="26990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MM$31,9</a:t>
            </a:r>
          </a:p>
          <a:p>
            <a:pPr marL="171450" indent="-171450">
              <a:buFont typeface="Arial" panose="020B0604020202020204" pitchFamily="34" charset="0"/>
              <a:buChar char="•"/>
            </a:pPr>
            <a:r>
              <a:rPr lang="es-MX" sz="900" dirty="0">
                <a:solidFill>
                  <a:schemeClr val="tx2"/>
                </a:solidFill>
              </a:rPr>
              <a:t># Clientes: 15</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Fecha de Ejecución: Sept – Oct</a:t>
            </a:r>
          </a:p>
          <a:p>
            <a:pPr marL="171450" indent="-171450">
              <a:buFont typeface="Arial" panose="020B0604020202020204" pitchFamily="34" charset="0"/>
              <a:buChar char="•"/>
            </a:pPr>
            <a:r>
              <a:rPr lang="es-MX" sz="900" dirty="0">
                <a:solidFill>
                  <a:schemeClr val="tx2"/>
                </a:solidFill>
              </a:rPr>
              <a:t>Plan detallado por cada uno</a:t>
            </a:r>
            <a:r>
              <a:rPr lang="es-MX" sz="900" b="1" dirty="0">
                <a:solidFill>
                  <a:schemeClr val="tx1"/>
                </a:solidFill>
              </a:rPr>
              <a:t> 2</a:t>
            </a:r>
            <a:endParaRPr lang="es-CL" sz="900" b="1" dirty="0">
              <a:solidFill>
                <a:schemeClr val="tx1"/>
              </a:solidFill>
            </a:endParaRPr>
          </a:p>
        </p:txBody>
      </p:sp>
      <p:sp>
        <p:nvSpPr>
          <p:cNvPr id="55" name="Rectángulo 54">
            <a:extLst>
              <a:ext uri="{FF2B5EF4-FFF2-40B4-BE49-F238E27FC236}">
                <a16:creationId xmlns:a16="http://schemas.microsoft.com/office/drawing/2014/main" id="{BDC4BFAD-6930-A86B-5FA3-B64887627B1A}"/>
              </a:ext>
            </a:extLst>
          </p:cNvPr>
          <p:cNvSpPr/>
          <p:nvPr/>
        </p:nvSpPr>
        <p:spPr>
          <a:xfrm>
            <a:off x="9865984" y="3563072"/>
            <a:ext cx="1990200" cy="26990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MM$69,6</a:t>
            </a:r>
          </a:p>
          <a:p>
            <a:pPr marL="171450" indent="-171450">
              <a:buFont typeface="Arial" panose="020B0604020202020204" pitchFamily="34" charset="0"/>
              <a:buChar char="•"/>
            </a:pPr>
            <a:r>
              <a:rPr lang="es-MX" sz="900" dirty="0">
                <a:solidFill>
                  <a:schemeClr val="tx2"/>
                </a:solidFill>
              </a:rPr>
              <a:t># Clientes: 40</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Fecha de Ejecución: Oct - Noviembre</a:t>
            </a:r>
          </a:p>
          <a:p>
            <a:pPr marL="171450" indent="-171450">
              <a:buFont typeface="Arial" panose="020B0604020202020204" pitchFamily="34" charset="0"/>
              <a:buChar char="•"/>
            </a:pPr>
            <a:r>
              <a:rPr lang="es-MX" sz="900" dirty="0">
                <a:solidFill>
                  <a:schemeClr val="tx2"/>
                </a:solidFill>
              </a:rPr>
              <a:t>Procesos de Prospección</a:t>
            </a:r>
            <a:r>
              <a:rPr lang="es-MX" sz="1600" b="1" dirty="0">
                <a:solidFill>
                  <a:schemeClr val="tx1"/>
                </a:solidFill>
              </a:rPr>
              <a:t>2</a:t>
            </a:r>
            <a:endParaRPr lang="es-CL" sz="1600" b="1" dirty="0">
              <a:solidFill>
                <a:schemeClr val="tx1"/>
              </a:solidFill>
            </a:endParaRPr>
          </a:p>
        </p:txBody>
      </p:sp>
    </p:spTree>
    <p:extLst>
      <p:ext uri="{BB962C8B-B14F-4D97-AF65-F5344CB8AC3E}">
        <p14:creationId xmlns:p14="http://schemas.microsoft.com/office/powerpoint/2010/main" val="33193984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53">
          <a:extLst>
            <a:ext uri="{FF2B5EF4-FFF2-40B4-BE49-F238E27FC236}">
              <a16:creationId xmlns:a16="http://schemas.microsoft.com/office/drawing/2014/main" id="{1D963A12-D53E-B206-73A2-CA10067AFE4F}"/>
            </a:ext>
          </a:extLst>
        </p:cNvPr>
        <p:cNvGrpSpPr/>
        <p:nvPr/>
      </p:nvGrpSpPr>
      <p:grpSpPr>
        <a:xfrm>
          <a:off x="0" y="0"/>
          <a:ext cx="0" cy="0"/>
          <a:chOff x="0" y="0"/>
          <a:chExt cx="0" cy="0"/>
        </a:xfrm>
      </p:grpSpPr>
      <p:sp>
        <p:nvSpPr>
          <p:cNvPr id="454" name="Google Shape;454;p35">
            <a:extLst>
              <a:ext uri="{FF2B5EF4-FFF2-40B4-BE49-F238E27FC236}">
                <a16:creationId xmlns:a16="http://schemas.microsoft.com/office/drawing/2014/main" id="{130241FE-70E5-11F4-B89E-B97562122A1C}"/>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dirty="0">
                <a:solidFill>
                  <a:srgbClr val="33448D"/>
                </a:solidFill>
                <a:latin typeface="Roboto"/>
                <a:ea typeface="Roboto"/>
                <a:cs typeface="Roboto"/>
                <a:sym typeface="Roboto"/>
              </a:rPr>
              <a:t>Valparaíso</a:t>
            </a:r>
            <a:endParaRPr dirty="0"/>
          </a:p>
        </p:txBody>
      </p:sp>
      <p:sp>
        <p:nvSpPr>
          <p:cNvPr id="31" name="Rectángulo 30">
            <a:extLst>
              <a:ext uri="{FF2B5EF4-FFF2-40B4-BE49-F238E27FC236}">
                <a16:creationId xmlns:a16="http://schemas.microsoft.com/office/drawing/2014/main" id="{58B0CF5B-7EEE-D759-CD36-55FDF3FAF347}"/>
              </a:ext>
            </a:extLst>
          </p:cNvPr>
          <p:cNvSpPr/>
          <p:nvPr/>
        </p:nvSpPr>
        <p:spPr>
          <a:xfrm>
            <a:off x="346016" y="819927"/>
            <a:ext cx="1260000" cy="11584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1 – Top 10 Mayor Potencial</a:t>
            </a:r>
            <a:endParaRPr lang="es-CL" sz="800" b="1" dirty="0">
              <a:solidFill>
                <a:schemeClr val="tx1"/>
              </a:solidFill>
            </a:endParaRPr>
          </a:p>
        </p:txBody>
      </p:sp>
      <p:sp>
        <p:nvSpPr>
          <p:cNvPr id="33" name="Rectángulo 32">
            <a:extLst>
              <a:ext uri="{FF2B5EF4-FFF2-40B4-BE49-F238E27FC236}">
                <a16:creationId xmlns:a16="http://schemas.microsoft.com/office/drawing/2014/main" id="{D885502C-F25D-6975-DB24-D0F095AA774D}"/>
              </a:ext>
            </a:extLst>
          </p:cNvPr>
          <p:cNvSpPr/>
          <p:nvPr/>
        </p:nvSpPr>
        <p:spPr>
          <a:xfrm>
            <a:off x="1758416" y="819927"/>
            <a:ext cx="1260000" cy="1158436"/>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2 – Top 15 Clientes “grandes” sin contrato</a:t>
            </a:r>
            <a:endParaRPr lang="es-CL" sz="1100" b="1" dirty="0">
              <a:solidFill>
                <a:schemeClr val="tx1"/>
              </a:solidFill>
            </a:endParaRPr>
          </a:p>
        </p:txBody>
      </p:sp>
      <p:sp>
        <p:nvSpPr>
          <p:cNvPr id="35" name="Rectángulo 34">
            <a:extLst>
              <a:ext uri="{FF2B5EF4-FFF2-40B4-BE49-F238E27FC236}">
                <a16:creationId xmlns:a16="http://schemas.microsoft.com/office/drawing/2014/main" id="{B5C6F263-605A-0486-CD15-F137E84BD42E}"/>
              </a:ext>
            </a:extLst>
          </p:cNvPr>
          <p:cNvSpPr/>
          <p:nvPr/>
        </p:nvSpPr>
        <p:spPr>
          <a:xfrm>
            <a:off x="3170816" y="819000"/>
            <a:ext cx="1990200" cy="1158436"/>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3 - Restante</a:t>
            </a:r>
            <a:endParaRPr lang="es-CL" sz="1100" b="1" dirty="0">
              <a:solidFill>
                <a:schemeClr val="tx1"/>
              </a:solidFill>
            </a:endParaRPr>
          </a:p>
        </p:txBody>
      </p:sp>
      <p:sp>
        <p:nvSpPr>
          <p:cNvPr id="51" name="Rectángulo 50">
            <a:extLst>
              <a:ext uri="{FF2B5EF4-FFF2-40B4-BE49-F238E27FC236}">
                <a16:creationId xmlns:a16="http://schemas.microsoft.com/office/drawing/2014/main" id="{7D908FF9-C35B-C1E7-1CF6-50720D927B2E}"/>
              </a:ext>
            </a:extLst>
          </p:cNvPr>
          <p:cNvSpPr/>
          <p:nvPr/>
        </p:nvSpPr>
        <p:spPr>
          <a:xfrm>
            <a:off x="346200" y="2034927"/>
            <a:ext cx="1260000" cy="18779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MM$86</a:t>
            </a:r>
          </a:p>
          <a:p>
            <a:pPr marL="171450" indent="-171450">
              <a:buFont typeface="Arial" panose="020B0604020202020204" pitchFamily="34" charset="0"/>
              <a:buChar char="•"/>
            </a:pPr>
            <a:r>
              <a:rPr lang="es-MX" sz="900" dirty="0">
                <a:solidFill>
                  <a:schemeClr val="tx2"/>
                </a:solidFill>
              </a:rPr>
              <a:t># Clientes: 10</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Fecha de Ejecución: Sept – Oct</a:t>
            </a:r>
          </a:p>
          <a:p>
            <a:pPr marL="171450" indent="-171450">
              <a:buFont typeface="Arial" panose="020B0604020202020204" pitchFamily="34" charset="0"/>
              <a:buChar char="•"/>
            </a:pPr>
            <a:r>
              <a:rPr lang="es-MX" sz="900" dirty="0">
                <a:solidFill>
                  <a:schemeClr val="tx2"/>
                </a:solidFill>
              </a:rPr>
              <a:t>Plan detallado por cada uno </a:t>
            </a:r>
            <a:r>
              <a:rPr lang="es-MX" sz="1600" b="1" dirty="0">
                <a:solidFill>
                  <a:schemeClr val="tx1"/>
                </a:solidFill>
              </a:rPr>
              <a:t>MM$</a:t>
            </a:r>
            <a:endParaRPr lang="es-CL" sz="1050" b="1" dirty="0">
              <a:solidFill>
                <a:schemeClr val="tx1"/>
              </a:solidFill>
            </a:endParaRPr>
          </a:p>
        </p:txBody>
      </p:sp>
      <p:sp>
        <p:nvSpPr>
          <p:cNvPr id="53" name="Rectángulo 52">
            <a:extLst>
              <a:ext uri="{FF2B5EF4-FFF2-40B4-BE49-F238E27FC236}">
                <a16:creationId xmlns:a16="http://schemas.microsoft.com/office/drawing/2014/main" id="{F0E1AA9A-7B4C-484A-AC92-5097524F7C37}"/>
              </a:ext>
            </a:extLst>
          </p:cNvPr>
          <p:cNvSpPr/>
          <p:nvPr/>
        </p:nvSpPr>
        <p:spPr>
          <a:xfrm>
            <a:off x="1758600" y="2034927"/>
            <a:ext cx="1260000" cy="18779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MM$31,9</a:t>
            </a:r>
          </a:p>
          <a:p>
            <a:pPr marL="171450" indent="-171450">
              <a:buFont typeface="Arial" panose="020B0604020202020204" pitchFamily="34" charset="0"/>
              <a:buChar char="•"/>
            </a:pPr>
            <a:r>
              <a:rPr lang="es-MX" sz="900" dirty="0">
                <a:solidFill>
                  <a:schemeClr val="tx2"/>
                </a:solidFill>
              </a:rPr>
              <a:t># Clientes: 15</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Fecha de Ejecución: Sept – Oct</a:t>
            </a:r>
          </a:p>
          <a:p>
            <a:pPr marL="171450" indent="-171450">
              <a:buFont typeface="Arial" panose="020B0604020202020204" pitchFamily="34" charset="0"/>
              <a:buChar char="•"/>
            </a:pPr>
            <a:r>
              <a:rPr lang="es-MX" sz="900" dirty="0">
                <a:solidFill>
                  <a:schemeClr val="tx2"/>
                </a:solidFill>
              </a:rPr>
              <a:t>Plan detallado por cada uno </a:t>
            </a:r>
            <a:endParaRPr lang="es-CL" sz="900" b="1" dirty="0">
              <a:solidFill>
                <a:schemeClr val="tx1"/>
              </a:solidFill>
            </a:endParaRPr>
          </a:p>
        </p:txBody>
      </p:sp>
      <p:sp>
        <p:nvSpPr>
          <p:cNvPr id="55" name="Rectángulo 54">
            <a:extLst>
              <a:ext uri="{FF2B5EF4-FFF2-40B4-BE49-F238E27FC236}">
                <a16:creationId xmlns:a16="http://schemas.microsoft.com/office/drawing/2014/main" id="{84BB99B7-5E6B-0A65-941E-D90C81C29601}"/>
              </a:ext>
            </a:extLst>
          </p:cNvPr>
          <p:cNvSpPr/>
          <p:nvPr/>
        </p:nvSpPr>
        <p:spPr>
          <a:xfrm>
            <a:off x="3171000" y="2034000"/>
            <a:ext cx="1990200" cy="18779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MM$69,6</a:t>
            </a:r>
          </a:p>
          <a:p>
            <a:pPr marL="171450" indent="-171450">
              <a:buFont typeface="Arial" panose="020B0604020202020204" pitchFamily="34" charset="0"/>
              <a:buChar char="•"/>
            </a:pPr>
            <a:r>
              <a:rPr lang="es-MX" sz="900" dirty="0">
                <a:solidFill>
                  <a:schemeClr val="tx2"/>
                </a:solidFill>
              </a:rPr>
              <a:t># Clientes: 40</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Fecha de Ejecución: Oct - Noviembre</a:t>
            </a:r>
          </a:p>
          <a:p>
            <a:pPr marL="171450" indent="-171450">
              <a:buFont typeface="Arial" panose="020B0604020202020204" pitchFamily="34" charset="0"/>
              <a:buChar char="•"/>
            </a:pPr>
            <a:r>
              <a:rPr lang="es-MX" sz="900" dirty="0">
                <a:solidFill>
                  <a:schemeClr val="tx2"/>
                </a:solidFill>
              </a:rPr>
              <a:t>Procesos de Prospección2</a:t>
            </a:r>
          </a:p>
        </p:txBody>
      </p:sp>
      <p:sp>
        <p:nvSpPr>
          <p:cNvPr id="8" name="Rectángulo 7">
            <a:extLst>
              <a:ext uri="{FF2B5EF4-FFF2-40B4-BE49-F238E27FC236}">
                <a16:creationId xmlns:a16="http://schemas.microsoft.com/office/drawing/2014/main" id="{72CBFD95-8BEE-AC20-1F39-FDD6A34B89EF}"/>
              </a:ext>
            </a:extLst>
          </p:cNvPr>
          <p:cNvSpPr/>
          <p:nvPr/>
        </p:nvSpPr>
        <p:spPr>
          <a:xfrm>
            <a:off x="5313600" y="2046101"/>
            <a:ext cx="1990200" cy="18779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Total: 187,5</a:t>
            </a:r>
          </a:p>
          <a:p>
            <a:pPr marL="171450" indent="-171450">
              <a:buFont typeface="Arial" panose="020B0604020202020204" pitchFamily="34" charset="0"/>
              <a:buChar char="•"/>
            </a:pPr>
            <a:r>
              <a:rPr lang="es-MX" sz="900" b="1" dirty="0">
                <a:solidFill>
                  <a:schemeClr val="tx2"/>
                </a:solidFill>
              </a:rPr>
              <a:t># Clientes: 65</a:t>
            </a:r>
          </a:p>
          <a:p>
            <a:pPr marL="171450" indent="-171450">
              <a:buFont typeface="Arial" panose="020B0604020202020204" pitchFamily="34" charset="0"/>
              <a:buChar char="•"/>
            </a:pPr>
            <a:r>
              <a:rPr lang="es-MX" sz="900" b="1" dirty="0">
                <a:solidFill>
                  <a:schemeClr val="tx2"/>
                </a:solidFill>
              </a:rPr>
              <a:t>Fecha de ejecución: Septiembre - Noviembre</a:t>
            </a:r>
            <a:endParaRPr lang="es-CL" sz="1600" b="1" dirty="0">
              <a:solidFill>
                <a:schemeClr val="tx1"/>
              </a:solidFill>
            </a:endParaRPr>
          </a:p>
        </p:txBody>
      </p:sp>
      <p:sp>
        <p:nvSpPr>
          <p:cNvPr id="16" name="Rectángulo 15">
            <a:extLst>
              <a:ext uri="{FF2B5EF4-FFF2-40B4-BE49-F238E27FC236}">
                <a16:creationId xmlns:a16="http://schemas.microsoft.com/office/drawing/2014/main" id="{58D8EBA6-C0F4-7F48-8C45-48CCF0668D3A}"/>
              </a:ext>
            </a:extLst>
          </p:cNvPr>
          <p:cNvSpPr/>
          <p:nvPr/>
        </p:nvSpPr>
        <p:spPr>
          <a:xfrm>
            <a:off x="5313600" y="811825"/>
            <a:ext cx="1990200" cy="1158436"/>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Total</a:t>
            </a:r>
            <a:endParaRPr lang="es-CL" sz="1100" b="1" dirty="0">
              <a:solidFill>
                <a:schemeClr val="tx1"/>
              </a:solidFill>
            </a:endParaRPr>
          </a:p>
        </p:txBody>
      </p:sp>
      <p:sp>
        <p:nvSpPr>
          <p:cNvPr id="17" name="Triángulo isósceles 16">
            <a:extLst>
              <a:ext uri="{FF2B5EF4-FFF2-40B4-BE49-F238E27FC236}">
                <a16:creationId xmlns:a16="http://schemas.microsoft.com/office/drawing/2014/main" id="{CCB15659-C952-9413-C0A3-9FA17EEFBF0D}"/>
              </a:ext>
            </a:extLst>
          </p:cNvPr>
          <p:cNvSpPr/>
          <p:nvPr/>
        </p:nvSpPr>
        <p:spPr>
          <a:xfrm rot="5400000">
            <a:off x="6837844" y="2326642"/>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0" name="Rectángulo 19">
            <a:extLst>
              <a:ext uri="{FF2B5EF4-FFF2-40B4-BE49-F238E27FC236}">
                <a16:creationId xmlns:a16="http://schemas.microsoft.com/office/drawing/2014/main" id="{1E0CC572-1E6A-212E-B4B4-93277C8C53A7}"/>
              </a:ext>
            </a:extLst>
          </p:cNvPr>
          <p:cNvSpPr/>
          <p:nvPr/>
        </p:nvSpPr>
        <p:spPr>
          <a:xfrm>
            <a:off x="7952460" y="837802"/>
            <a:ext cx="3868084" cy="308619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En la región de Valparaíso se tienen 65 clientes,</a:t>
            </a:r>
          </a:p>
          <a:p>
            <a:pPr marL="171450" lvl="1" indent="-171450">
              <a:buFont typeface="Arial" panose="020B0604020202020204" pitchFamily="34" charset="0"/>
              <a:buChar char="•"/>
            </a:pPr>
            <a:r>
              <a:rPr lang="es-MX" sz="900" dirty="0">
                <a:solidFill>
                  <a:schemeClr val="tx2"/>
                </a:solidFill>
              </a:rPr>
              <a:t>Todos los clientes de la región son abordados por Cristian </a:t>
            </a:r>
            <a:r>
              <a:rPr lang="es-MX" sz="900" dirty="0" err="1">
                <a:solidFill>
                  <a:schemeClr val="tx2"/>
                </a:solidFill>
              </a:rPr>
              <a:t>Perez</a:t>
            </a:r>
            <a:r>
              <a:rPr lang="es-MX" sz="900" dirty="0">
                <a:solidFill>
                  <a:schemeClr val="tx2"/>
                </a:solidFill>
              </a:rPr>
              <a:t>.</a:t>
            </a:r>
            <a:endParaRPr lang="es-CL" sz="1600" dirty="0">
              <a:solidFill>
                <a:schemeClr val="tx1"/>
              </a:solidFill>
            </a:endParaRPr>
          </a:p>
        </p:txBody>
      </p:sp>
      <p:pic>
        <p:nvPicPr>
          <p:cNvPr id="3" name="Imagen 2">
            <a:extLst>
              <a:ext uri="{FF2B5EF4-FFF2-40B4-BE49-F238E27FC236}">
                <a16:creationId xmlns:a16="http://schemas.microsoft.com/office/drawing/2014/main" id="{20B2559B-E50C-7B03-3FEF-D2DF3A28A19F}"/>
              </a:ext>
            </a:extLst>
          </p:cNvPr>
          <p:cNvPicPr>
            <a:picLocks noChangeAspect="1"/>
          </p:cNvPicPr>
          <p:nvPr/>
        </p:nvPicPr>
        <p:blipFill>
          <a:blip r:embed="rId3"/>
          <a:srcRect t="16282" b="16620"/>
          <a:stretch>
            <a:fillRect/>
          </a:stretch>
        </p:blipFill>
        <p:spPr>
          <a:xfrm>
            <a:off x="12700" y="3957238"/>
            <a:ext cx="12192000" cy="3194858"/>
          </a:xfrm>
          <a:prstGeom prst="rect">
            <a:avLst/>
          </a:prstGeom>
        </p:spPr>
      </p:pic>
    </p:spTree>
    <p:extLst>
      <p:ext uri="{BB962C8B-B14F-4D97-AF65-F5344CB8AC3E}">
        <p14:creationId xmlns:p14="http://schemas.microsoft.com/office/powerpoint/2010/main" val="426284504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0097D9B6-A561-10D4-D76B-5C13A796B742}"/>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21751EA0-A914-9C89-5917-7AAB0F3DE77A}"/>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Valparaíso Grupo 1 – Top según Potencial</a:t>
            </a:r>
            <a:endParaRPr dirty="0"/>
          </a:p>
        </p:txBody>
      </p:sp>
      <p:cxnSp>
        <p:nvCxnSpPr>
          <p:cNvPr id="516" name="Google Shape;516;p41">
            <a:extLst>
              <a:ext uri="{FF2B5EF4-FFF2-40B4-BE49-F238E27FC236}">
                <a16:creationId xmlns:a16="http://schemas.microsoft.com/office/drawing/2014/main" id="{A9DA05FC-7125-7CCB-6A5D-22FCF46D98B7}"/>
              </a:ext>
            </a:extLst>
          </p:cNvPr>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17" name="Google Shape;517;p41">
            <a:extLst>
              <a:ext uri="{FF2B5EF4-FFF2-40B4-BE49-F238E27FC236}">
                <a16:creationId xmlns:a16="http://schemas.microsoft.com/office/drawing/2014/main" id="{75ADE1B2-7B0E-B74E-641D-CD5688C7CEAA}"/>
              </a:ext>
            </a:extLst>
          </p:cNvPr>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33448D"/>
              </a:buClr>
              <a:buSzPts val="1400"/>
              <a:buFont typeface="Roboto"/>
              <a:buNone/>
            </a:pPr>
            <a:r>
              <a:rPr lang="es-CL" sz="1400" b="0" i="0" u="none" strike="noStrike" cap="none">
                <a:solidFill>
                  <a:srgbClr val="33448D"/>
                </a:solidFill>
                <a:latin typeface="Roboto"/>
                <a:ea typeface="Roboto"/>
                <a:cs typeface="Roboto"/>
                <a:sym typeface="Roboto"/>
              </a:rPr>
              <a:t>Región de Valparaíso</a:t>
            </a:r>
            <a:endParaRPr/>
          </a:p>
        </p:txBody>
      </p:sp>
      <p:graphicFrame>
        <p:nvGraphicFramePr>
          <p:cNvPr id="3" name="Tabla 2">
            <a:extLst>
              <a:ext uri="{FF2B5EF4-FFF2-40B4-BE49-F238E27FC236}">
                <a16:creationId xmlns:a16="http://schemas.microsoft.com/office/drawing/2014/main" id="{C9939BC3-FBE3-EBFC-7A7E-738A4D101746}"/>
              </a:ext>
            </a:extLst>
          </p:cNvPr>
          <p:cNvGraphicFramePr>
            <a:graphicFrameLocks noGrp="1"/>
          </p:cNvGraphicFramePr>
          <p:nvPr>
            <p:extLst>
              <p:ext uri="{D42A27DB-BD31-4B8C-83A1-F6EECF244321}">
                <p14:modId xmlns:p14="http://schemas.microsoft.com/office/powerpoint/2010/main" val="2178163743"/>
              </p:ext>
            </p:extLst>
          </p:nvPr>
        </p:nvGraphicFramePr>
        <p:xfrm>
          <a:off x="322750" y="1299602"/>
          <a:ext cx="11869249" cy="5182277"/>
        </p:xfrm>
        <a:graphic>
          <a:graphicData uri="http://schemas.openxmlformats.org/drawingml/2006/table">
            <a:tbl>
              <a:tblPr/>
              <a:tblGrid>
                <a:gridCol w="422523">
                  <a:extLst>
                    <a:ext uri="{9D8B030D-6E8A-4147-A177-3AD203B41FA5}">
                      <a16:colId xmlns:a16="http://schemas.microsoft.com/office/drawing/2014/main" val="3682049527"/>
                    </a:ext>
                  </a:extLst>
                </a:gridCol>
                <a:gridCol w="1917606">
                  <a:extLst>
                    <a:ext uri="{9D8B030D-6E8A-4147-A177-3AD203B41FA5}">
                      <a16:colId xmlns:a16="http://schemas.microsoft.com/office/drawing/2014/main" val="1447774929"/>
                    </a:ext>
                  </a:extLst>
                </a:gridCol>
                <a:gridCol w="503778">
                  <a:extLst>
                    <a:ext uri="{9D8B030D-6E8A-4147-A177-3AD203B41FA5}">
                      <a16:colId xmlns:a16="http://schemas.microsoft.com/office/drawing/2014/main" val="3923726705"/>
                    </a:ext>
                  </a:extLst>
                </a:gridCol>
                <a:gridCol w="505809">
                  <a:extLst>
                    <a:ext uri="{9D8B030D-6E8A-4147-A177-3AD203B41FA5}">
                      <a16:colId xmlns:a16="http://schemas.microsoft.com/office/drawing/2014/main" val="977636864"/>
                    </a:ext>
                  </a:extLst>
                </a:gridCol>
                <a:gridCol w="503778">
                  <a:extLst>
                    <a:ext uri="{9D8B030D-6E8A-4147-A177-3AD203B41FA5}">
                      <a16:colId xmlns:a16="http://schemas.microsoft.com/office/drawing/2014/main" val="3732638462"/>
                    </a:ext>
                  </a:extLst>
                </a:gridCol>
                <a:gridCol w="505809">
                  <a:extLst>
                    <a:ext uri="{9D8B030D-6E8A-4147-A177-3AD203B41FA5}">
                      <a16:colId xmlns:a16="http://schemas.microsoft.com/office/drawing/2014/main" val="3181110123"/>
                    </a:ext>
                  </a:extLst>
                </a:gridCol>
                <a:gridCol w="503778">
                  <a:extLst>
                    <a:ext uri="{9D8B030D-6E8A-4147-A177-3AD203B41FA5}">
                      <a16:colId xmlns:a16="http://schemas.microsoft.com/office/drawing/2014/main" val="3916584342"/>
                    </a:ext>
                  </a:extLst>
                </a:gridCol>
                <a:gridCol w="505809">
                  <a:extLst>
                    <a:ext uri="{9D8B030D-6E8A-4147-A177-3AD203B41FA5}">
                      <a16:colId xmlns:a16="http://schemas.microsoft.com/office/drawing/2014/main" val="2298795141"/>
                    </a:ext>
                  </a:extLst>
                </a:gridCol>
                <a:gridCol w="593158">
                  <a:extLst>
                    <a:ext uri="{9D8B030D-6E8A-4147-A177-3AD203B41FA5}">
                      <a16:colId xmlns:a16="http://schemas.microsoft.com/office/drawing/2014/main" val="3688097150"/>
                    </a:ext>
                  </a:extLst>
                </a:gridCol>
                <a:gridCol w="591127">
                  <a:extLst>
                    <a:ext uri="{9D8B030D-6E8A-4147-A177-3AD203B41FA5}">
                      <a16:colId xmlns:a16="http://schemas.microsoft.com/office/drawing/2014/main" val="1021856631"/>
                    </a:ext>
                  </a:extLst>
                </a:gridCol>
                <a:gridCol w="893799">
                  <a:extLst>
                    <a:ext uri="{9D8B030D-6E8A-4147-A177-3AD203B41FA5}">
                      <a16:colId xmlns:a16="http://schemas.microsoft.com/office/drawing/2014/main" val="4227412962"/>
                    </a:ext>
                  </a:extLst>
                </a:gridCol>
                <a:gridCol w="511903">
                  <a:extLst>
                    <a:ext uri="{9D8B030D-6E8A-4147-A177-3AD203B41FA5}">
                      <a16:colId xmlns:a16="http://schemas.microsoft.com/office/drawing/2014/main" val="181412641"/>
                    </a:ext>
                  </a:extLst>
                </a:gridCol>
                <a:gridCol w="2382787">
                  <a:extLst>
                    <a:ext uri="{9D8B030D-6E8A-4147-A177-3AD203B41FA5}">
                      <a16:colId xmlns:a16="http://schemas.microsoft.com/office/drawing/2014/main" val="4121126903"/>
                    </a:ext>
                  </a:extLst>
                </a:gridCol>
                <a:gridCol w="715040">
                  <a:extLst>
                    <a:ext uri="{9D8B030D-6E8A-4147-A177-3AD203B41FA5}">
                      <a16:colId xmlns:a16="http://schemas.microsoft.com/office/drawing/2014/main" val="3627639309"/>
                    </a:ext>
                  </a:extLst>
                </a:gridCol>
                <a:gridCol w="812545">
                  <a:extLst>
                    <a:ext uri="{9D8B030D-6E8A-4147-A177-3AD203B41FA5}">
                      <a16:colId xmlns:a16="http://schemas.microsoft.com/office/drawing/2014/main" val="2817686619"/>
                    </a:ext>
                  </a:extLst>
                </a:gridCol>
              </a:tblGrid>
              <a:tr h="436396">
                <a:tc rowSpan="2">
                  <a:txBody>
                    <a:bodyPr/>
                    <a:lstStyle/>
                    <a:p>
                      <a:pPr algn="ctr" fontAlgn="ctr">
                        <a:buNone/>
                      </a:pPr>
                      <a:r>
                        <a:rPr lang="es-CL" sz="700" b="1"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700" b="1"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Cliente</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r" fontAlgn="ctr">
                        <a:buNone/>
                      </a:pPr>
                      <a:r>
                        <a:rPr lang="es-CL" sz="700" b="1"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Dental</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r" fontAlgn="ctr">
                        <a:buNone/>
                      </a:pPr>
                      <a:r>
                        <a:rPr lang="es-CL" sz="700" b="1"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Esterilización</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r" fontAlgn="ctr">
                        <a:buNone/>
                      </a:pPr>
                      <a:r>
                        <a:rPr lang="es-CL" sz="700" b="1" i="0" u="none" strike="noStrike">
                          <a:solidFill>
                            <a:schemeClr val="tx1"/>
                          </a:solidFill>
                          <a:effectLst/>
                          <a:latin typeface="Roboto" panose="02000000000000000000" pitchFamily="2" charset="0"/>
                          <a:ea typeface="Roboto" panose="02000000000000000000" pitchFamily="2" charset="0"/>
                          <a:cs typeface="Roboto" panose="02000000000000000000" pitchFamily="2" charset="0"/>
                        </a:rPr>
                        <a:t>Endoscopía</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r" fontAlgn="ctr">
                        <a:buNone/>
                      </a:pPr>
                      <a:r>
                        <a:rPr lang="es-CL" sz="700" b="1" i="0" u="none" strike="noStrike">
                          <a:solidFill>
                            <a:schemeClr val="tx1"/>
                          </a:solidFill>
                          <a:effectLst/>
                          <a:latin typeface="Roboto" panose="02000000000000000000" pitchFamily="2" charset="0"/>
                          <a:ea typeface="Roboto" panose="02000000000000000000" pitchFamily="2" charset="0"/>
                          <a:cs typeface="Roboto" panose="02000000000000000000" pitchFamily="2" charset="0"/>
                        </a:rPr>
                        <a:t>Base Instalada Total</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r" fontAlgn="ctr">
                        <a:buNone/>
                      </a:pPr>
                      <a:r>
                        <a:rPr lang="es-CL" sz="700" b="1" i="0" u="none" strike="noStrike">
                          <a:solidFill>
                            <a:schemeClr val="tx1"/>
                          </a:solidFill>
                          <a:effectLst/>
                          <a:latin typeface="Roboto" panose="02000000000000000000" pitchFamily="2" charset="0"/>
                          <a:ea typeface="Roboto" panose="02000000000000000000" pitchFamily="2" charset="0"/>
                          <a:cs typeface="Roboto" panose="02000000000000000000" pitchFamily="2" charset="0"/>
                        </a:rPr>
                        <a:t>Pot. Mantenimiento MM$</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r" fontAlgn="ctr">
                        <a:buNone/>
                      </a:pPr>
                      <a:r>
                        <a:rPr lang="es-CL" sz="700" b="1" i="0" u="none" strike="noStrike">
                          <a:solidFill>
                            <a:schemeClr val="tx1"/>
                          </a:solidFill>
                          <a:effectLst/>
                          <a:latin typeface="Roboto" panose="02000000000000000000" pitchFamily="2" charset="0"/>
                          <a:ea typeface="Roboto" panose="02000000000000000000" pitchFamily="2" charset="0"/>
                          <a:cs typeface="Roboto" panose="02000000000000000000" pitchFamily="2" charset="0"/>
                        </a:rPr>
                        <a:t>Margen</a:t>
                      </a:r>
                    </a:p>
                  </a:txBody>
                  <a:tcPr marL="5682" marR="5682" marT="5682"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002D73"/>
                    </a:solidFill>
                  </a:tcPr>
                </a:tc>
                <a:tc rowSpan="2">
                  <a:txBody>
                    <a:bodyPr/>
                    <a:lstStyle/>
                    <a:p>
                      <a:pPr algn="r" fontAlgn="ctr">
                        <a:buNone/>
                      </a:pPr>
                      <a:r>
                        <a:rPr lang="es-CL" sz="700" b="1" i="0" u="none" strike="noStrike">
                          <a:solidFill>
                            <a:schemeClr val="tx1"/>
                          </a:solidFill>
                          <a:effectLst/>
                          <a:latin typeface="Roboto" panose="02000000000000000000" pitchFamily="2" charset="0"/>
                          <a:ea typeface="Roboto" panose="02000000000000000000" pitchFamily="2" charset="0"/>
                          <a:cs typeface="Roboto" panose="02000000000000000000" pitchFamily="2" charset="0"/>
                        </a:rPr>
                        <a:t>Plan de Acción</a:t>
                      </a:r>
                    </a:p>
                  </a:txBody>
                  <a:tcPr marL="5682" marR="5682" marT="5682" marB="0" anchor="ctr">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tc rowSpan="2">
                  <a:txBody>
                    <a:bodyPr/>
                    <a:lstStyle/>
                    <a:p>
                      <a:pPr algn="r" fontAlgn="ctr">
                        <a:buNone/>
                      </a:pPr>
                      <a:r>
                        <a:rPr lang="es-CL" sz="700" b="1" i="0" u="none" strike="noStrike">
                          <a:solidFill>
                            <a:schemeClr val="tx1"/>
                          </a:solidFill>
                          <a:effectLst/>
                          <a:latin typeface="Roboto" panose="02000000000000000000" pitchFamily="2" charset="0"/>
                          <a:ea typeface="Roboto" panose="02000000000000000000" pitchFamily="2" charset="0"/>
                          <a:cs typeface="Roboto" panose="02000000000000000000" pitchFamily="2" charset="0"/>
                        </a:rPr>
                        <a:t>Visita Comercial/Fecha</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B26A00"/>
                    </a:solidFill>
                  </a:tcPr>
                </a:tc>
                <a:tc rowSpan="2">
                  <a:txBody>
                    <a:bodyPr/>
                    <a:lstStyle/>
                    <a:p>
                      <a:pPr algn="r" fontAlgn="ctr">
                        <a:buNone/>
                      </a:pPr>
                      <a:r>
                        <a:rPr lang="es-CL" sz="700" b="1" i="0"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Responsable Comercial</a:t>
                      </a:r>
                    </a:p>
                  </a:txBody>
                  <a:tcPr marL="5682" marR="5682" marT="5682"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4B0082"/>
                    </a:solidFill>
                  </a:tcPr>
                </a:tc>
                <a:extLst>
                  <a:ext uri="{0D108BD9-81ED-4DB2-BD59-A6C34878D82A}">
                    <a16:rowId xmlns:a16="http://schemas.microsoft.com/office/drawing/2014/main" val="2948408121"/>
                  </a:ext>
                </a:extLst>
              </a:tr>
              <a:tr h="651336">
                <a:tc vMerge="1">
                  <a:txBody>
                    <a:bodyPr/>
                    <a:lstStyle/>
                    <a:p>
                      <a:endParaRPr lang="es-CL"/>
                    </a:p>
                  </a:txBody>
                  <a:tcPr/>
                </a:tc>
                <a:tc vMerge="1">
                  <a:txBody>
                    <a:bodyPr/>
                    <a:lstStyle/>
                    <a:p>
                      <a:endParaRPr lang="es-CL"/>
                    </a:p>
                  </a:txBody>
                  <a:tcPr/>
                </a:tc>
                <a:tc>
                  <a:txBody>
                    <a:bodyPr/>
                    <a:lstStyle/>
                    <a:p>
                      <a:pPr algn="r" fontAlgn="ctr">
                        <a:buNone/>
                      </a:pPr>
                      <a:r>
                        <a:rPr lang="es-CL" sz="700" b="1"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Equipos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r" fontAlgn="ctr">
                        <a:buNone/>
                      </a:pPr>
                      <a:r>
                        <a:rPr lang="es-CL" sz="700" b="1"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Vida (años)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r" fontAlgn="ctr">
                        <a:buNone/>
                      </a:pPr>
                      <a:r>
                        <a:rPr lang="es-CL" sz="700" b="1"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Equipos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r" fontAlgn="ctr">
                        <a:buNone/>
                      </a:pPr>
                      <a:r>
                        <a:rPr lang="es-CL" sz="700" b="1"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Vida (años)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r" fontAlgn="ctr">
                        <a:buNone/>
                      </a:pPr>
                      <a:r>
                        <a:rPr lang="es-CL" sz="700" b="1"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Equipos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r" fontAlgn="ctr">
                        <a:buNone/>
                      </a:pPr>
                      <a:r>
                        <a:rPr lang="es-CL" sz="700" b="1"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Vida (años)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r" fontAlgn="ctr">
                        <a:buNone/>
                      </a:pPr>
                      <a:r>
                        <a:rPr lang="es-CL" sz="700" b="1"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Equipos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r" fontAlgn="ctr">
                        <a:buNone/>
                      </a:pPr>
                      <a:r>
                        <a:rPr lang="es-CL" sz="700" b="1" i="0" u="none" strike="noStrike" dirty="0">
                          <a:solidFill>
                            <a:schemeClr val="tx2"/>
                          </a:solidFill>
                          <a:effectLst/>
                          <a:latin typeface="Roboto" panose="02000000000000000000" pitchFamily="2" charset="0"/>
                          <a:ea typeface="Roboto" panose="02000000000000000000" pitchFamily="2" charset="0"/>
                          <a:cs typeface="Roboto" panose="02000000000000000000" pitchFamily="2" charset="0"/>
                        </a:rPr>
                        <a:t>Vida Media (años)</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3527871949"/>
                  </a:ext>
                </a:extLst>
              </a:tr>
              <a:tr h="534098">
                <a:tc>
                  <a:txBody>
                    <a:bodyPr/>
                    <a:lstStyle/>
                    <a:p>
                      <a:pPr algn="ctr" fontAlgn="b">
                        <a:buNone/>
                      </a:pPr>
                      <a:r>
                        <a:rPr lang="es-CL" sz="700" b="0" i="0" u="none" strike="noStrike" dirty="0">
                          <a:solidFill>
                            <a:schemeClr val="tx2"/>
                          </a:solidFill>
                          <a:effectLst/>
                          <a:latin typeface="Roboto" panose="02000000000000000000" pitchFamily="2" charset="0"/>
                          <a:ea typeface="Roboto" panose="02000000000000000000" pitchFamily="2" charset="0"/>
                          <a:cs typeface="Roboto" panose="02000000000000000000" pitchFamily="2" charset="0"/>
                        </a:rPr>
                        <a:t>1</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900" b="0" i="0" u="none" strike="noStrike" dirty="0">
                          <a:solidFill>
                            <a:schemeClr val="accent2"/>
                          </a:solidFill>
                          <a:effectLst/>
                          <a:latin typeface="Calibri" panose="020F0502020204030204" pitchFamily="34" charset="0"/>
                        </a:rPr>
                        <a:t>CLINICA REÑACA</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10</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54,3%</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10</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54,3%</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20,4</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10,2</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Auditoría preventiva.</a:t>
                      </a:r>
                      <a:br>
                        <a:rPr lang="es-CL" sz="900" b="0" i="0" u="none" strike="noStrike">
                          <a:solidFill>
                            <a:schemeClr val="accent2"/>
                          </a:solidFill>
                          <a:effectLst/>
                          <a:latin typeface="Calibri" panose="020F0502020204030204" pitchFamily="34" charset="0"/>
                        </a:rPr>
                      </a:br>
                      <a:r>
                        <a:rPr lang="es-CL" sz="900" b="0" i="0" u="none" strike="noStrike">
                          <a:solidFill>
                            <a:schemeClr val="accent2"/>
                          </a:solidFill>
                          <a:effectLst/>
                          <a:latin typeface="Calibri" panose="020F0502020204030204" pitchFamily="34" charset="0"/>
                        </a:rPr>
                        <a:t>Contrato anual de mantenimiento.</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oct-26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218937019"/>
                  </a:ext>
                </a:extLst>
              </a:tr>
              <a:tr h="325668">
                <a:tc>
                  <a:txBody>
                    <a:bodyPr/>
                    <a:lstStyle/>
                    <a:p>
                      <a:pPr algn="ctr" fontAlgn="b">
                        <a:buNone/>
                      </a:pPr>
                      <a:r>
                        <a:rPr lang="es-CL" sz="700" b="0" i="0" u="none" strike="noStrike" dirty="0">
                          <a:solidFill>
                            <a:schemeClr val="tx2"/>
                          </a:solidFill>
                          <a:effectLst/>
                          <a:latin typeface="Roboto" panose="02000000000000000000" pitchFamily="2" charset="0"/>
                          <a:ea typeface="Roboto" panose="02000000000000000000" pitchFamily="2" charset="0"/>
                          <a:cs typeface="Roboto" panose="02000000000000000000" pitchFamily="2" charset="0"/>
                        </a:rPr>
                        <a:t>2</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900" b="0" i="0" u="none" strike="noStrike" dirty="0">
                          <a:solidFill>
                            <a:schemeClr val="accent2"/>
                          </a:solidFill>
                          <a:effectLst/>
                          <a:latin typeface="Calibri" panose="020F0502020204030204" pitchFamily="34" charset="0"/>
                        </a:rPr>
                        <a:t>CENTRAL ODONTOLOGICA PRIMERA ZONA NAVAL VIÑA</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6</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58,6%</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6</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58,6%</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12,3</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6,2</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Convenio institucional de mantenimiento y soporte especializado.</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oct-26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64530080"/>
                  </a:ext>
                </a:extLst>
              </a:tr>
              <a:tr h="325668">
                <a:tc>
                  <a:txBody>
                    <a:bodyPr/>
                    <a:lstStyle/>
                    <a:p>
                      <a:pPr algn="ctr" fontAlgn="b">
                        <a:buNone/>
                      </a:pPr>
                      <a:r>
                        <a:rPr lang="es-CL" sz="700" b="0"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3</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CENT. ODONT. DE VALPARAISO 1° ZONA NAVAL</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4</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74,2%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4</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74,2%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8,2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4,1</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Programa preventivo anual y fortalecimiento de vínculo institucional.</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oct-26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969178676"/>
                  </a:ext>
                </a:extLst>
              </a:tr>
              <a:tr h="325668">
                <a:tc>
                  <a:txBody>
                    <a:bodyPr/>
                    <a:lstStyle/>
                    <a:p>
                      <a:pPr algn="ctr" fontAlgn="b">
                        <a:buNone/>
                      </a:pPr>
                      <a:r>
                        <a:rPr lang="es-CL" sz="700" b="0"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4</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HOSPITAL CLINICO IST VIÑA DEL MAR</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dirty="0">
                          <a:solidFill>
                            <a:schemeClr val="accent2"/>
                          </a:solidFill>
                          <a:effectLst/>
                          <a:latin typeface="Calibri" panose="020F0502020204030204" pitchFamily="34" charset="0"/>
                        </a:rPr>
                        <a:t>7</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69,5%</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7</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69,5%</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6,3</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3,2</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Levantamiento técnico y propuesta de cobertura preventiva.</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oct-26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05196648"/>
                  </a:ext>
                </a:extLst>
              </a:tr>
              <a:tr h="325668">
                <a:tc>
                  <a:txBody>
                    <a:bodyPr/>
                    <a:lstStyle/>
                    <a:p>
                      <a:pPr algn="ctr" fontAlgn="b">
                        <a:buNone/>
                      </a:pPr>
                      <a:r>
                        <a:rPr lang="es-CL" sz="700" b="0" i="0" u="none" strike="noStrike" dirty="0">
                          <a:solidFill>
                            <a:schemeClr val="tx2"/>
                          </a:solidFill>
                          <a:effectLst/>
                          <a:latin typeface="Roboto" panose="02000000000000000000" pitchFamily="2" charset="0"/>
                          <a:ea typeface="Roboto" panose="02000000000000000000" pitchFamily="2" charset="0"/>
                          <a:cs typeface="Roboto" panose="02000000000000000000" pitchFamily="2" charset="0"/>
                        </a:rPr>
                        <a:t>5</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CESFAM RAUL SILVA HENRIQUEZ</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3</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84,9%</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3</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84,9%</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6,1</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3,1</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Gestión mediante ruta regional preventiva programada.</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oct-26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972749123"/>
                  </a:ext>
                </a:extLst>
              </a:tr>
              <a:tr h="534098">
                <a:tc>
                  <a:txBody>
                    <a:bodyPr/>
                    <a:lstStyle/>
                    <a:p>
                      <a:pPr algn="ctr" fontAlgn="b">
                        <a:buNone/>
                      </a:pPr>
                      <a:r>
                        <a:rPr lang="es-CL" sz="700" b="0" i="0" u="none" strike="noStrike" dirty="0">
                          <a:solidFill>
                            <a:schemeClr val="tx2"/>
                          </a:solidFill>
                          <a:effectLst/>
                          <a:latin typeface="Roboto" panose="02000000000000000000" pitchFamily="2" charset="0"/>
                          <a:ea typeface="Roboto" panose="02000000000000000000" pitchFamily="2" charset="0"/>
                          <a:cs typeface="Roboto" panose="02000000000000000000" pitchFamily="2" charset="0"/>
                        </a:rPr>
                        <a:t>6</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HOSPITAL DE QUILLOTA</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3</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85,4%</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84,0%</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5</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78,1%</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dirty="0">
                          <a:solidFill>
                            <a:schemeClr val="accent2"/>
                          </a:solidFill>
                          <a:effectLst/>
                          <a:latin typeface="Calibri" panose="020F0502020204030204" pitchFamily="34" charset="0"/>
                        </a:rPr>
                        <a:t>5,9</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3,0</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Levantamiento de equipos.</a:t>
                      </a:r>
                      <a:br>
                        <a:rPr lang="es-CL" sz="900" b="0" i="0" u="none" strike="noStrike">
                          <a:solidFill>
                            <a:schemeClr val="accent2"/>
                          </a:solidFill>
                          <a:effectLst/>
                          <a:latin typeface="Calibri" panose="020F0502020204030204" pitchFamily="34" charset="0"/>
                        </a:rPr>
                      </a:br>
                      <a:r>
                        <a:rPr lang="es-CL" sz="900" b="0" i="0" u="none" strike="noStrike">
                          <a:solidFill>
                            <a:schemeClr val="accent2"/>
                          </a:solidFill>
                          <a:effectLst/>
                          <a:latin typeface="Calibri" panose="020F0502020204030204" pitchFamily="34" charset="0"/>
                        </a:rPr>
                        <a:t>Contrato parcial por criticidad.</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oct-26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840122527"/>
                  </a:ext>
                </a:extLst>
              </a:tr>
              <a:tr h="325668">
                <a:tc>
                  <a:txBody>
                    <a:bodyPr/>
                    <a:lstStyle/>
                    <a:p>
                      <a:pPr algn="ctr" fontAlgn="b">
                        <a:buNone/>
                      </a:pPr>
                      <a:r>
                        <a:rPr lang="es-CL" sz="700" b="0"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7</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CESFAM LLOLLEO</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8</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63,8%</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8</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63,8%</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4,9</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2,5</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Cobertura preventiva mediante planificación de rutas.</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dic-26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4229335852"/>
                  </a:ext>
                </a:extLst>
              </a:tr>
              <a:tr h="325668">
                <a:tc>
                  <a:txBody>
                    <a:bodyPr/>
                    <a:lstStyle/>
                    <a:p>
                      <a:pPr algn="ctr" fontAlgn="b">
                        <a:buNone/>
                      </a:pPr>
                      <a:r>
                        <a:rPr lang="es-CL" sz="700" b="0" i="0" u="none" strike="noStrike">
                          <a:solidFill>
                            <a:schemeClr val="tx2"/>
                          </a:solidFill>
                          <a:effectLst/>
                          <a:latin typeface="Roboto" panose="02000000000000000000" pitchFamily="2" charset="0"/>
                          <a:ea typeface="Roboto" panose="02000000000000000000" pitchFamily="2" charset="0"/>
                          <a:cs typeface="Roboto" panose="02000000000000000000" pitchFamily="2" charset="0"/>
                        </a:rPr>
                        <a:t>8</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HOSPITAL LA LIGUA</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1</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97,4%</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62,1%</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3</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85,6%</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4,7</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2,4</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Levantamiento técnico y propuesta preventiva básica.</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dic-26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3068128302"/>
                  </a:ext>
                </a:extLst>
              </a:tr>
              <a:tr h="325668">
                <a:tc>
                  <a:txBody>
                    <a:bodyPr/>
                    <a:lstStyle/>
                    <a:p>
                      <a:pPr algn="ctr" fontAlgn="b">
                        <a:buNone/>
                      </a:pPr>
                      <a:r>
                        <a:rPr lang="es-CL" sz="700" b="0" i="0" u="none" strike="noStrike" dirty="0">
                          <a:solidFill>
                            <a:schemeClr val="tx2"/>
                          </a:solidFill>
                          <a:effectLst/>
                          <a:latin typeface="Roboto" panose="02000000000000000000" pitchFamily="2" charset="0"/>
                          <a:ea typeface="Roboto" panose="02000000000000000000" pitchFamily="2" charset="0"/>
                          <a:cs typeface="Roboto" panose="02000000000000000000" pitchFamily="2" charset="0"/>
                        </a:rPr>
                        <a:t>9</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HOSPITAL DE QUILPUE</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71,9%</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71,9%</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4,1</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2,1</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Evaluación de cobertura y propuesta de mantenimiento anual.</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dirty="0">
                          <a:solidFill>
                            <a:schemeClr val="accent2"/>
                          </a:solidFill>
                          <a:effectLst/>
                          <a:latin typeface="Calibri" panose="020F0502020204030204" pitchFamily="34" charset="0"/>
                        </a:rPr>
                        <a:t>dic-26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687014905"/>
                  </a:ext>
                </a:extLst>
              </a:tr>
              <a:tr h="325668">
                <a:tc>
                  <a:txBody>
                    <a:bodyPr/>
                    <a:lstStyle/>
                    <a:p>
                      <a:pPr algn="ctr" fontAlgn="b">
                        <a:buNone/>
                      </a:pPr>
                      <a:r>
                        <a:rPr lang="es-CL" sz="700" b="0" i="0" u="none" strike="noStrike" dirty="0">
                          <a:solidFill>
                            <a:schemeClr val="tx2"/>
                          </a:solidFill>
                          <a:effectLst/>
                          <a:latin typeface="Roboto" panose="02000000000000000000" pitchFamily="2" charset="0"/>
                          <a:ea typeface="Roboto" panose="02000000000000000000" pitchFamily="2" charset="0"/>
                          <a:cs typeface="Roboto" panose="02000000000000000000" pitchFamily="2" charset="0"/>
                        </a:rPr>
                        <a:t>10</a:t>
                      </a:r>
                    </a:p>
                  </a:txBody>
                  <a:tcPr marL="5682" marR="5682" marT="5682"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HOSPITAL DE HANGA ROA</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82,3%</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82,3%</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4,1</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2,1</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0" i="0" u="none" strike="noStrike">
                          <a:solidFill>
                            <a:schemeClr val="accent2"/>
                          </a:solidFill>
                          <a:effectLst/>
                          <a:latin typeface="Calibri" panose="020F0502020204030204" pitchFamily="34" charset="0"/>
                        </a:rPr>
                        <a:t>Programa preventivo anual coordinado desde Santiago.</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dic-26</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r" fontAlgn="ctr">
                        <a:buNone/>
                      </a:pPr>
                      <a:r>
                        <a:rPr lang="es-CL" sz="900" b="0" i="0" u="none" strike="noStrike">
                          <a:solidFill>
                            <a:schemeClr val="accent2"/>
                          </a:solidFill>
                          <a:effectLst/>
                          <a:latin typeface="Calibri" panose="020F0502020204030204" pitchFamily="34" charset="0"/>
                        </a:rPr>
                        <a:t>Cristián Perez</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2468996092"/>
                  </a:ext>
                </a:extLst>
              </a:tr>
              <a:tr h="325668">
                <a:tc>
                  <a:txBody>
                    <a:bodyPr/>
                    <a:lstStyle/>
                    <a:p>
                      <a:pPr algn="ctr" fontAlgn="b">
                        <a:buNone/>
                      </a:pPr>
                      <a:r>
                        <a:rPr lang="es-CL" sz="900" b="1" i="0" u="none" strike="noStrike" dirty="0">
                          <a:solidFill>
                            <a:schemeClr val="tx2"/>
                          </a:solidFill>
                          <a:effectLst/>
                          <a:latin typeface="Calibri" panose="020F0502020204030204" pitchFamily="34" charset="0"/>
                        </a:rPr>
                        <a:t>TOTAL · 10 clientes</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900" b="1" i="0" u="none" strike="noStrike">
                          <a:solidFill>
                            <a:schemeClr val="accent2"/>
                          </a:solidFill>
                          <a:effectLst/>
                          <a:latin typeface="Calibri" panose="020F0502020204030204" pitchFamily="34" charset="0"/>
                        </a:rPr>
                        <a:t>TOTAL · 10 clientes</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1" i="0" u="none" strike="noStrike">
                          <a:solidFill>
                            <a:schemeClr val="accent2"/>
                          </a:solidFill>
                          <a:effectLst/>
                          <a:latin typeface="Calibri" panose="020F0502020204030204" pitchFamily="34" charset="0"/>
                        </a:rPr>
                        <a:t>12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1" i="0" u="none" strike="noStrike">
                          <a:solidFill>
                            <a:schemeClr val="accent2"/>
                          </a:solidFill>
                          <a:effectLst/>
                          <a:latin typeface="Calibri" panose="020F0502020204030204" pitchFamily="34" charset="0"/>
                        </a:rPr>
                        <a:t>76,3%</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1" i="0" u="none" strike="noStrike">
                          <a:solidFill>
                            <a:schemeClr val="accent2"/>
                          </a:solidFill>
                          <a:effectLst/>
                          <a:latin typeface="Calibri" panose="020F0502020204030204" pitchFamily="34" charset="0"/>
                        </a:rPr>
                        <a:t>31</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1" i="0" u="none" strike="noStrike">
                          <a:solidFill>
                            <a:schemeClr val="accent2"/>
                          </a:solidFill>
                          <a:effectLst/>
                          <a:latin typeface="Calibri" panose="020F0502020204030204" pitchFamily="34" charset="0"/>
                        </a:rPr>
                        <a:t>65,5%</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1" i="0" u="none" strike="noStrike">
                          <a:solidFill>
                            <a:schemeClr val="accent2"/>
                          </a:solidFill>
                          <a:effectLst/>
                          <a:latin typeface="Calibri" panose="020F0502020204030204" pitchFamily="34" charset="0"/>
                        </a:rPr>
                        <a:t>7</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1" i="0" u="none" strike="noStrike">
                          <a:solidFill>
                            <a:schemeClr val="accent2"/>
                          </a:solidFill>
                          <a:effectLst/>
                          <a:latin typeface="Calibri" panose="020F0502020204030204" pitchFamily="34" charset="0"/>
                        </a:rPr>
                        <a:t>69,5%</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1" i="0" u="none" strike="noStrike">
                          <a:solidFill>
                            <a:schemeClr val="accent2"/>
                          </a:solidFill>
                          <a:effectLst/>
                          <a:latin typeface="Calibri" panose="020F0502020204030204" pitchFamily="34" charset="0"/>
                        </a:rPr>
                        <a:t>50</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1" i="0" u="none" strike="noStrike">
                          <a:solidFill>
                            <a:schemeClr val="accent2"/>
                          </a:solidFill>
                          <a:effectLst/>
                          <a:latin typeface="Calibri" panose="020F0502020204030204" pitchFamily="34" charset="0"/>
                        </a:rPr>
                        <a:t>69,2%</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1" i="0" u="none" strike="noStrike">
                          <a:solidFill>
                            <a:schemeClr val="accent2"/>
                          </a:solidFill>
                          <a:effectLst/>
                          <a:latin typeface="Calibri" panose="020F0502020204030204" pitchFamily="34" charset="0"/>
                        </a:rPr>
                        <a:t>77,0</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900" b="1" i="0" u="none" strike="noStrike">
                          <a:solidFill>
                            <a:schemeClr val="accent2"/>
                          </a:solidFill>
                          <a:effectLst/>
                          <a:latin typeface="Calibri" panose="020F0502020204030204" pitchFamily="34" charset="0"/>
                        </a:rPr>
                        <a:t>38,5</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1"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900" b="1" i="0" u="none" strike="noStrike">
                          <a:solidFill>
                            <a:schemeClr val="accent2"/>
                          </a:solidFill>
                          <a:effectLst/>
                          <a:latin typeface="Calibri" panose="020F0502020204030204" pitchFamily="34" charset="0"/>
                        </a:rPr>
                        <a:t> </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tc>
                  <a:txBody>
                    <a:bodyPr/>
                    <a:lstStyle/>
                    <a:p>
                      <a:pPr algn="l" fontAlgn="ctr">
                        <a:buNone/>
                      </a:pPr>
                      <a:r>
                        <a:rPr lang="es-CL" sz="900" b="1" i="0" u="none" strike="noStrike" dirty="0">
                          <a:solidFill>
                            <a:schemeClr val="accent2"/>
                          </a:solidFill>
                          <a:effectLst/>
                          <a:latin typeface="Calibri" panose="020F0502020204030204" pitchFamily="34" charset="0"/>
                        </a:rPr>
                        <a:t> </a:t>
                      </a:r>
                    </a:p>
                  </a:txBody>
                  <a:tcPr marL="9525" marR="9525" marT="9525"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noFill/>
                  </a:tcPr>
                </a:tc>
                <a:extLst>
                  <a:ext uri="{0D108BD9-81ED-4DB2-BD59-A6C34878D82A}">
                    <a16:rowId xmlns:a16="http://schemas.microsoft.com/office/drawing/2014/main" val="1395728688"/>
                  </a:ext>
                </a:extLst>
              </a:tr>
            </a:tbl>
          </a:graphicData>
        </a:graphic>
      </p:graphicFrame>
    </p:spTree>
    <p:extLst>
      <p:ext uri="{BB962C8B-B14F-4D97-AF65-F5344CB8AC3E}">
        <p14:creationId xmlns:p14="http://schemas.microsoft.com/office/powerpoint/2010/main" val="290693760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63006681-5E64-102B-1501-9E484FF0209F}"/>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613F9459-3ACD-38EC-DB1D-59C5DE8CA5E8}"/>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Valparaíso Grupo 2 – Top según número de Camas</a:t>
            </a:r>
            <a:endParaRPr dirty="0"/>
          </a:p>
        </p:txBody>
      </p:sp>
      <p:graphicFrame>
        <p:nvGraphicFramePr>
          <p:cNvPr id="6" name="Tabla 5">
            <a:extLst>
              <a:ext uri="{FF2B5EF4-FFF2-40B4-BE49-F238E27FC236}">
                <a16:creationId xmlns:a16="http://schemas.microsoft.com/office/drawing/2014/main" id="{0F7D89FB-7D62-8A38-CD5A-689379CD97DA}"/>
              </a:ext>
            </a:extLst>
          </p:cNvPr>
          <p:cNvGraphicFramePr>
            <a:graphicFrameLocks noGrp="1"/>
          </p:cNvGraphicFramePr>
          <p:nvPr>
            <p:extLst>
              <p:ext uri="{D42A27DB-BD31-4B8C-83A1-F6EECF244321}">
                <p14:modId xmlns:p14="http://schemas.microsoft.com/office/powerpoint/2010/main" val="2973575316"/>
              </p:ext>
            </p:extLst>
          </p:nvPr>
        </p:nvGraphicFramePr>
        <p:xfrm>
          <a:off x="265050" y="819001"/>
          <a:ext cx="11687300" cy="5239374"/>
        </p:xfrm>
        <a:graphic>
          <a:graphicData uri="http://schemas.openxmlformats.org/drawingml/2006/table">
            <a:tbl>
              <a:tblPr/>
              <a:tblGrid>
                <a:gridCol w="224259">
                  <a:extLst>
                    <a:ext uri="{9D8B030D-6E8A-4147-A177-3AD203B41FA5}">
                      <a16:colId xmlns:a16="http://schemas.microsoft.com/office/drawing/2014/main" val="2001093109"/>
                    </a:ext>
                  </a:extLst>
                </a:gridCol>
                <a:gridCol w="2121827">
                  <a:extLst>
                    <a:ext uri="{9D8B030D-6E8A-4147-A177-3AD203B41FA5}">
                      <a16:colId xmlns:a16="http://schemas.microsoft.com/office/drawing/2014/main" val="1765677450"/>
                    </a:ext>
                  </a:extLst>
                </a:gridCol>
                <a:gridCol w="853906">
                  <a:extLst>
                    <a:ext uri="{9D8B030D-6E8A-4147-A177-3AD203B41FA5}">
                      <a16:colId xmlns:a16="http://schemas.microsoft.com/office/drawing/2014/main" val="4224294003"/>
                    </a:ext>
                  </a:extLst>
                </a:gridCol>
                <a:gridCol w="767654">
                  <a:extLst>
                    <a:ext uri="{9D8B030D-6E8A-4147-A177-3AD203B41FA5}">
                      <a16:colId xmlns:a16="http://schemas.microsoft.com/office/drawing/2014/main" val="780577230"/>
                    </a:ext>
                  </a:extLst>
                </a:gridCol>
                <a:gridCol w="845281">
                  <a:extLst>
                    <a:ext uri="{9D8B030D-6E8A-4147-A177-3AD203B41FA5}">
                      <a16:colId xmlns:a16="http://schemas.microsoft.com/office/drawing/2014/main" val="2754551449"/>
                    </a:ext>
                  </a:extLst>
                </a:gridCol>
                <a:gridCol w="405389">
                  <a:extLst>
                    <a:ext uri="{9D8B030D-6E8A-4147-A177-3AD203B41FA5}">
                      <a16:colId xmlns:a16="http://schemas.microsoft.com/office/drawing/2014/main" val="13706947"/>
                    </a:ext>
                  </a:extLst>
                </a:gridCol>
                <a:gridCol w="672774">
                  <a:extLst>
                    <a:ext uri="{9D8B030D-6E8A-4147-A177-3AD203B41FA5}">
                      <a16:colId xmlns:a16="http://schemas.microsoft.com/office/drawing/2014/main" val="5409698"/>
                    </a:ext>
                  </a:extLst>
                </a:gridCol>
                <a:gridCol w="629648">
                  <a:extLst>
                    <a:ext uri="{9D8B030D-6E8A-4147-A177-3AD203B41FA5}">
                      <a16:colId xmlns:a16="http://schemas.microsoft.com/office/drawing/2014/main" val="233010806"/>
                    </a:ext>
                  </a:extLst>
                </a:gridCol>
                <a:gridCol w="3495212">
                  <a:extLst>
                    <a:ext uri="{9D8B030D-6E8A-4147-A177-3AD203B41FA5}">
                      <a16:colId xmlns:a16="http://schemas.microsoft.com/office/drawing/2014/main" val="4075589514"/>
                    </a:ext>
                  </a:extLst>
                </a:gridCol>
                <a:gridCol w="1671350">
                  <a:extLst>
                    <a:ext uri="{9D8B030D-6E8A-4147-A177-3AD203B41FA5}">
                      <a16:colId xmlns:a16="http://schemas.microsoft.com/office/drawing/2014/main" val="3050580709"/>
                    </a:ext>
                  </a:extLst>
                </a:gridCol>
              </a:tblGrid>
              <a:tr h="193183">
                <a:tc>
                  <a:txBody>
                    <a:bodyPr/>
                    <a:lstStyle/>
                    <a:p>
                      <a:pPr algn="l" fontAlgn="ctr">
                        <a:buNone/>
                      </a:pPr>
                      <a:r>
                        <a:rPr lang="es-CL" sz="700" b="1" i="0" u="none" strike="noStrike" dirty="0">
                          <a:solidFill>
                            <a:schemeClr val="tx2"/>
                          </a:solidFill>
                          <a:effectLst/>
                          <a:latin typeface="Calibri" panose="020F0502020204030204" pitchFamily="34" charset="0"/>
                        </a:rPr>
                        <a:t>#</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dirty="0">
                          <a:solidFill>
                            <a:schemeClr val="tx2"/>
                          </a:solidFill>
                          <a:effectLst/>
                          <a:latin typeface="Calibri" panose="020F0502020204030204" pitchFamily="34" charset="0"/>
                        </a:rPr>
                        <a:t>Cliente</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a:solidFill>
                            <a:schemeClr val="tx2"/>
                          </a:solidFill>
                          <a:effectLst/>
                          <a:latin typeface="Calibri" panose="020F0502020204030204" pitchFamily="34" charset="0"/>
                        </a:rPr>
                        <a:t>Comuna</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a:solidFill>
                            <a:schemeClr val="tx2"/>
                          </a:solidFill>
                          <a:effectLst/>
                          <a:latin typeface="Calibri" panose="020F0502020204030204" pitchFamily="34" charset="0"/>
                        </a:rPr>
                        <a:t>Responsable</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a:solidFill>
                            <a:schemeClr val="tx2"/>
                          </a:solidFill>
                          <a:effectLst/>
                          <a:latin typeface="Calibri" panose="020F0502020204030204" pitchFamily="34" charset="0"/>
                        </a:rPr>
                        <a:t>1ª visita</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a:solidFill>
                            <a:schemeClr val="tx2"/>
                          </a:solidFill>
                          <a:effectLst/>
                          <a:latin typeface="Calibri" panose="020F0502020204030204" pitchFamily="34" charset="0"/>
                        </a:rPr>
                        <a:t>Camas</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dirty="0">
                          <a:solidFill>
                            <a:schemeClr val="tx2"/>
                          </a:solidFill>
                          <a:effectLst/>
                          <a:latin typeface="Calibri" panose="020F0502020204030204" pitchFamily="34" charset="0"/>
                        </a:rPr>
                        <a:t>Fuente camas</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a:solidFill>
                            <a:schemeClr val="tx2"/>
                          </a:solidFill>
                          <a:effectLst/>
                          <a:latin typeface="Calibri" panose="020F0502020204030204" pitchFamily="34" charset="0"/>
                        </a:rPr>
                        <a:t>Pot. ST anual MM$</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dirty="0">
                          <a:solidFill>
                            <a:schemeClr val="tx2"/>
                          </a:solidFill>
                          <a:effectLst/>
                          <a:latin typeface="Calibri" panose="020F0502020204030204" pitchFamily="34" charset="0"/>
                        </a:rPr>
                        <a:t>Plan</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1" i="0" u="none" strike="noStrike" dirty="0">
                          <a:solidFill>
                            <a:schemeClr val="tx2"/>
                          </a:solidFill>
                          <a:effectLst/>
                          <a:latin typeface="Calibri" panose="020F0502020204030204" pitchFamily="34" charset="0"/>
                        </a:rPr>
                        <a:t>Responsable</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412980063"/>
                  </a:ext>
                </a:extLst>
              </a:tr>
              <a:tr h="428956">
                <a:tc>
                  <a:txBody>
                    <a:bodyPr/>
                    <a:lstStyle/>
                    <a:p>
                      <a:pPr algn="l" fontAlgn="t">
                        <a:buNone/>
                      </a:pPr>
                      <a:r>
                        <a:rPr lang="es-CL" sz="700" b="0" i="0" u="none" strike="noStrike" dirty="0">
                          <a:solidFill>
                            <a:schemeClr val="tx2"/>
                          </a:solidFill>
                          <a:effectLst/>
                          <a:latin typeface="Calibri" panose="020F0502020204030204" pitchFamily="34" charset="0"/>
                        </a:rPr>
                        <a:t>1</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HOSPITAL PSIQUIATRICO DR. PHILIPPE PINEL</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Putaendo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lun 19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354</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1,2</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Levantamiento Equipos del Hospital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Ver cuales están dados de baja</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Plan Comercial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En caso de que existan, ofrecer plan de mantenimiento con base instalada y con el resto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97104177"/>
                  </a:ext>
                </a:extLst>
              </a:tr>
              <a:tr h="258805">
                <a:tc>
                  <a:txBody>
                    <a:bodyPr/>
                    <a:lstStyle/>
                    <a:p>
                      <a:pPr algn="l" fontAlgn="t">
                        <a:buNone/>
                      </a:pPr>
                      <a:r>
                        <a:rPr lang="es-CL" sz="700" b="0" i="0" u="none" strike="noStrike">
                          <a:solidFill>
                            <a:schemeClr val="tx2"/>
                          </a:solidFill>
                          <a:effectLst/>
                          <a:latin typeface="Calibri" panose="020F0502020204030204" pitchFamily="34" charset="0"/>
                        </a:rPr>
                        <a:t>2</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CLINICA LOS CARRERA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Quilpué</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jue 15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158</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2,0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Levantamiento Completo de Equipos según los servicios ofrecidos por TS</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Plan Conjunto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564989220"/>
                  </a:ext>
                </a:extLst>
              </a:tr>
              <a:tr h="258805">
                <a:tc>
                  <a:txBody>
                    <a:bodyPr/>
                    <a:lstStyle/>
                    <a:p>
                      <a:pPr algn="l" fontAlgn="t">
                        <a:buNone/>
                      </a:pPr>
                      <a:r>
                        <a:rPr lang="es-CL" sz="700" b="0" i="0" u="none" strike="noStrike">
                          <a:solidFill>
                            <a:schemeClr val="tx2"/>
                          </a:solidFill>
                          <a:effectLst/>
                          <a:latin typeface="Calibri" panose="020F0502020204030204" pitchFamily="34" charset="0"/>
                        </a:rPr>
                        <a:t>3</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HOSPITAL DE QUILPUE</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Quilpué</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jue 15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156</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4,1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Levantamiento Completo de Equipos según los servicios ofrecidos por TS</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Plan Conjunto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935487565"/>
                  </a:ext>
                </a:extLst>
              </a:tr>
              <a:tr h="428956">
                <a:tc>
                  <a:txBody>
                    <a:bodyPr/>
                    <a:lstStyle/>
                    <a:p>
                      <a:pPr algn="l" fontAlgn="t">
                        <a:buNone/>
                      </a:pPr>
                      <a:r>
                        <a:rPr lang="es-CL" sz="700" b="0" i="0" u="none" strike="noStrike">
                          <a:solidFill>
                            <a:schemeClr val="tx2"/>
                          </a:solidFill>
                          <a:effectLst/>
                          <a:latin typeface="Calibri" panose="020F0502020204030204" pitchFamily="34" charset="0"/>
                        </a:rPr>
                        <a:t>4</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HOSPITAL PEÑABLANCA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Villa Alemana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mié 14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108</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0,6</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Levantamiento Equipos del Hospital</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Ver cuales están dados de baja</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Plan Comercial</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En caso de que existan, ofrecer plan de mantenimiento con base instalada y con el resto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10624698"/>
                  </a:ext>
                </a:extLst>
              </a:tr>
              <a:tr h="258805">
                <a:tc>
                  <a:txBody>
                    <a:bodyPr/>
                    <a:lstStyle/>
                    <a:p>
                      <a:pPr algn="l" fontAlgn="t">
                        <a:buNone/>
                      </a:pPr>
                      <a:r>
                        <a:rPr lang="es-CL" sz="700" b="0" i="0" u="none" strike="noStrike">
                          <a:solidFill>
                            <a:schemeClr val="tx2"/>
                          </a:solidFill>
                          <a:effectLst/>
                          <a:latin typeface="Calibri" panose="020F0502020204030204" pitchFamily="34" charset="0"/>
                        </a:rPr>
                        <a:t>5</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HOSPITAL PROVINCIAL MARGA MARGA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mar 13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103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Estimado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2,0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Levantamiento Completo de Equipos según los servicios ofrecidos por TS</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Plan Conjunto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608368678"/>
                  </a:ext>
                </a:extLst>
              </a:tr>
              <a:tr h="258805">
                <a:tc>
                  <a:txBody>
                    <a:bodyPr/>
                    <a:lstStyle/>
                    <a:p>
                      <a:pPr algn="l" fontAlgn="t">
                        <a:buNone/>
                      </a:pPr>
                      <a:r>
                        <a:rPr lang="es-CL" sz="700" b="0" i="0" u="none" strike="noStrike">
                          <a:solidFill>
                            <a:schemeClr val="tx2"/>
                          </a:solidFill>
                          <a:effectLst/>
                          <a:latin typeface="Calibri" panose="020F0502020204030204" pitchFamily="34" charset="0"/>
                        </a:rPr>
                        <a:t>6</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HOSPITAL CLINICO VINA DEL MAR S 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Viña del Mar</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mié 14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93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2,0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Levantamiento Completo de Equipos según los servicios ofrecidos por TS</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Plan Conjunto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44398025"/>
                  </a:ext>
                </a:extLst>
              </a:tr>
              <a:tr h="258805">
                <a:tc>
                  <a:txBody>
                    <a:bodyPr/>
                    <a:lstStyle/>
                    <a:p>
                      <a:pPr algn="l" fontAlgn="t">
                        <a:buNone/>
                      </a:pPr>
                      <a:r>
                        <a:rPr lang="es-CL" sz="700" b="0" i="0" u="none" strike="noStrike">
                          <a:solidFill>
                            <a:schemeClr val="tx2"/>
                          </a:solidFill>
                          <a:effectLst/>
                          <a:latin typeface="Calibri" panose="020F0502020204030204" pitchFamily="34" charset="0"/>
                        </a:rPr>
                        <a:t>7</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INSTITUTO DE SEGURIDAD DEL TRABAJO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Viña del Mar</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vie 16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83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3,6</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Levantamiento Completo de Equipos según los servicios ofrecidos por TS</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Plan Conjunto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595285940"/>
                  </a:ext>
                </a:extLst>
              </a:tr>
              <a:tr h="428956">
                <a:tc>
                  <a:txBody>
                    <a:bodyPr/>
                    <a:lstStyle/>
                    <a:p>
                      <a:pPr algn="l" fontAlgn="t">
                        <a:buNone/>
                      </a:pPr>
                      <a:r>
                        <a:rPr lang="es-CL" sz="700" b="0" i="0" u="none" strike="noStrike">
                          <a:solidFill>
                            <a:schemeClr val="tx2"/>
                          </a:solidFill>
                          <a:effectLst/>
                          <a:latin typeface="Calibri" panose="020F0502020204030204" pitchFamily="34" charset="0"/>
                        </a:rPr>
                        <a:t>8</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CLINICA PINARES</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0</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mié 14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63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Estimado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0,6</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Levantamiento Equipos del Hospital</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Ver cuales están dados de baja</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Plan Comercial</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En caso de que existan, ofrecer plan de mantenimiento con base instalada y con el resto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606783829"/>
                  </a:ext>
                </a:extLst>
              </a:tr>
              <a:tr h="428956">
                <a:tc>
                  <a:txBody>
                    <a:bodyPr/>
                    <a:lstStyle/>
                    <a:p>
                      <a:pPr algn="l" fontAlgn="t">
                        <a:buNone/>
                      </a:pPr>
                      <a:r>
                        <a:rPr lang="es-CL" sz="700" b="0" i="0" u="none" strike="noStrike">
                          <a:solidFill>
                            <a:schemeClr val="tx2"/>
                          </a:solidFill>
                          <a:effectLst/>
                          <a:latin typeface="Calibri" panose="020F0502020204030204" pitchFamily="34" charset="0"/>
                        </a:rPr>
                        <a:t>9</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HOSPITAL SAN AGUSTIN</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La Ligua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lun 19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59</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0,6</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Levantamiento Equipos del Hospital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Ver cuales están dados de baja</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Plan Comercial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En caso de que existan, ofrecer plan de mantenimiento con base instalada y con el resto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087977700"/>
                  </a:ext>
                </a:extLst>
              </a:tr>
              <a:tr h="428956">
                <a:tc>
                  <a:txBody>
                    <a:bodyPr/>
                    <a:lstStyle/>
                    <a:p>
                      <a:pPr algn="l" fontAlgn="t">
                        <a:buNone/>
                      </a:pPr>
                      <a:r>
                        <a:rPr lang="es-CL" sz="700" b="0" i="0" u="none" strike="noStrike">
                          <a:solidFill>
                            <a:schemeClr val="tx2"/>
                          </a:solidFill>
                          <a:effectLst/>
                          <a:latin typeface="Calibri" panose="020F0502020204030204" pitchFamily="34" charset="0"/>
                        </a:rPr>
                        <a:t>10</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HOSPITAL SANTO TOMAS DE LIMACHE</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Limache</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vie 16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57</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2,7</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Levantamiento Equipos del Hospital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Ver cuales están dados de baja</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Plan Comercial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En caso de que existan, ofrecer plan de mantenimiento con base instalada y con el resto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547397755"/>
                  </a:ext>
                </a:extLst>
              </a:tr>
              <a:tr h="428956">
                <a:tc>
                  <a:txBody>
                    <a:bodyPr/>
                    <a:lstStyle/>
                    <a:p>
                      <a:pPr algn="l" fontAlgn="t">
                        <a:buNone/>
                      </a:pPr>
                      <a:r>
                        <a:rPr lang="es-CL" sz="700" b="0" i="0" u="none" strike="noStrike">
                          <a:solidFill>
                            <a:schemeClr val="tx2"/>
                          </a:solidFill>
                          <a:effectLst/>
                          <a:latin typeface="Calibri" panose="020F0502020204030204" pitchFamily="34" charset="0"/>
                        </a:rPr>
                        <a:t>11</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HOSPITAL DE LIMACHE</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Limache</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vie 16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57</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1,2</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Levantamiento Equipos del Hospital</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Ver cuales están dados de baja</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Plan Comercial</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En caso de que existan, ofrecer plan de mantenimiento con base instalada y con el resto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007047800"/>
                  </a:ext>
                </a:extLst>
              </a:tr>
              <a:tr h="428956">
                <a:tc>
                  <a:txBody>
                    <a:bodyPr/>
                    <a:lstStyle/>
                    <a:p>
                      <a:pPr algn="l" fontAlgn="t">
                        <a:buNone/>
                      </a:pPr>
                      <a:r>
                        <a:rPr lang="es-CL" sz="700" b="0" i="0" u="none" strike="noStrike">
                          <a:solidFill>
                            <a:schemeClr val="tx2"/>
                          </a:solidFill>
                          <a:effectLst/>
                          <a:latin typeface="Calibri" panose="020F0502020204030204" pitchFamily="34" charset="0"/>
                        </a:rPr>
                        <a:t>12</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HOSPITAL DE QUINTEROS</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Quintero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mar 13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31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3,3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Levantamiento Equipos del Hospital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Ver cuales están dados de baja</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Plan Comercial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En caso de que existan, ofrecer plan de mantenimiento con base instalada y con el resto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362191090"/>
                  </a:ext>
                </a:extLst>
              </a:tr>
              <a:tr h="258805">
                <a:tc>
                  <a:txBody>
                    <a:bodyPr/>
                    <a:lstStyle/>
                    <a:p>
                      <a:pPr algn="l" fontAlgn="t">
                        <a:buNone/>
                      </a:pPr>
                      <a:r>
                        <a:rPr lang="es-CL" sz="700" b="0" i="0" u="none" strike="noStrike">
                          <a:solidFill>
                            <a:schemeClr val="tx2"/>
                          </a:solidFill>
                          <a:effectLst/>
                          <a:latin typeface="Calibri" panose="020F0502020204030204" pitchFamily="34" charset="0"/>
                        </a:rPr>
                        <a:t>13</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HOSPITAL DE CABILDO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Cabildo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lun 19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21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3,3</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Levantamiento Completo de Equipos según los servicios ofrecidos por TS</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 Plan Conjunto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229368506"/>
                  </a:ext>
                </a:extLst>
              </a:tr>
              <a:tr h="98580">
                <a:tc>
                  <a:txBody>
                    <a:bodyPr/>
                    <a:lstStyle/>
                    <a:p>
                      <a:pPr algn="l" fontAlgn="t">
                        <a:buNone/>
                      </a:pPr>
                      <a:r>
                        <a:rPr lang="es-CL" sz="700" b="0" i="0" u="none" strike="noStrike">
                          <a:solidFill>
                            <a:schemeClr val="tx2"/>
                          </a:solidFill>
                          <a:effectLst/>
                          <a:latin typeface="Calibri" panose="020F0502020204030204" pitchFamily="34" charset="0"/>
                        </a:rPr>
                        <a:t>14</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HOSPITAL DE HANGA ROA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Isla de Pascua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Viaje aparte</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18</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4,1</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Viaje aparte, visita comercial</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680264288"/>
                  </a:ext>
                </a:extLst>
              </a:tr>
              <a:tr h="193183">
                <a:tc>
                  <a:txBody>
                    <a:bodyPr/>
                    <a:lstStyle/>
                    <a:p>
                      <a:pPr algn="l" fontAlgn="t">
                        <a:buNone/>
                      </a:pPr>
                      <a:r>
                        <a:rPr lang="es-CL" sz="700" b="0" i="0" u="none" strike="noStrike">
                          <a:solidFill>
                            <a:schemeClr val="tx2"/>
                          </a:solidFill>
                          <a:effectLst/>
                          <a:latin typeface="Calibri" panose="020F0502020204030204" pitchFamily="34" charset="0"/>
                        </a:rPr>
                        <a:t>15</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HOSPITAL SAN JOSE DE CASA BLANCA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Casablanca</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jue 15 oct</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t">
                        <a:buNone/>
                      </a:pPr>
                      <a:r>
                        <a:rPr lang="es-CL" sz="700" b="0" i="0" u="none" strike="noStrike">
                          <a:solidFill>
                            <a:schemeClr val="accent2"/>
                          </a:solidFill>
                          <a:effectLst/>
                          <a:latin typeface="Calibri" panose="020F0502020204030204" pitchFamily="34" charset="0"/>
                        </a:rPr>
                        <a:t>12</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es-CL" sz="700" b="0" i="0" u="none" strike="noStrike">
                          <a:solidFill>
                            <a:schemeClr val="accent2"/>
                          </a:solidFill>
                          <a:effectLst/>
                          <a:latin typeface="Calibri" panose="020F0502020204030204" pitchFamily="34" charset="0"/>
                        </a:rPr>
                        <a:t>Registro</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r" fontAlgn="t">
                        <a:buNone/>
                      </a:pPr>
                      <a:r>
                        <a:rPr lang="es-CL" sz="700" b="0" i="0" u="none" strike="noStrike" dirty="0">
                          <a:solidFill>
                            <a:schemeClr val="accent2"/>
                          </a:solidFill>
                          <a:effectLst/>
                          <a:latin typeface="Calibri" panose="020F0502020204030204" pitchFamily="34" charset="0"/>
                        </a:rPr>
                        <a:t>0,6</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Plan de </a:t>
                      </a:r>
                      <a:r>
                        <a:rPr lang="es-CL" sz="700" b="0" i="0" u="none" strike="noStrike" dirty="0" err="1">
                          <a:solidFill>
                            <a:schemeClr val="tx2"/>
                          </a:solidFill>
                          <a:effectLst/>
                          <a:latin typeface="Calibri" panose="020F0502020204030204" pitchFamily="34" charset="0"/>
                        </a:rPr>
                        <a:t>manteniemiento</a:t>
                      </a:r>
                      <a:r>
                        <a:rPr lang="es-CL" sz="700" b="0" i="0" u="none" strike="noStrike" dirty="0">
                          <a:solidFill>
                            <a:schemeClr val="tx2"/>
                          </a:solidFill>
                          <a:effectLst/>
                          <a:latin typeface="Calibri" panose="020F0502020204030204" pitchFamily="34" charset="0"/>
                        </a:rPr>
                        <a:t> por equipos dentales</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 Plan Conjunto</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accent2"/>
                          </a:solidFill>
                          <a:effectLst/>
                          <a:latin typeface="Calibri" panose="020F0502020204030204" pitchFamily="34" charset="0"/>
                        </a:rPr>
                        <a:t>Cristián Pérez</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018856939"/>
                  </a:ext>
                </a:extLst>
              </a:tr>
              <a:tr h="89532">
                <a:tc>
                  <a:txBody>
                    <a:bodyPr/>
                    <a:lstStyle/>
                    <a:p>
                      <a:pPr algn="l" fontAlgn="t">
                        <a:buNone/>
                      </a:pPr>
                      <a:r>
                        <a:rPr lang="es-CL" sz="700" b="0" i="0" u="none" strike="noStrike" dirty="0">
                          <a:solidFill>
                            <a:schemeClr val="tx2"/>
                          </a:solidFill>
                          <a:effectLst/>
                          <a:latin typeface="Calibri" panose="020F0502020204030204" pitchFamily="34" charset="0"/>
                        </a:rPr>
                        <a:t>Total</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a:solidFill>
                            <a:schemeClr val="tx2"/>
                          </a:solidFill>
                          <a:effectLst/>
                          <a:latin typeface="Calibri" panose="020F0502020204030204" pitchFamily="34" charset="0"/>
                        </a:rPr>
                        <a:t> </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t">
                        <a:buNone/>
                      </a:pPr>
                      <a:r>
                        <a:rPr lang="es-CL" sz="700" b="0" i="0" u="none" strike="noStrike" dirty="0">
                          <a:solidFill>
                            <a:schemeClr val="tx2"/>
                          </a:solidFill>
                          <a:effectLst/>
                          <a:latin typeface="Calibri" panose="020F0502020204030204" pitchFamily="34" charset="0"/>
                        </a:rPr>
                        <a:t>31,9</a:t>
                      </a:r>
                    </a:p>
                  </a:txBody>
                  <a:tcPr marL="9525" marR="9525" marT="9525" marB="0">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effectLst/>
                          <a:latin typeface="Calibri" panose="020F0502020204030204" pitchFamily="34" charset="0"/>
                        </a:rPr>
                        <a:t> </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t">
                        <a:buNone/>
                      </a:pPr>
                      <a:r>
                        <a:rPr lang="es-CL" sz="700" b="0" i="0" u="none" strike="noStrike" dirty="0">
                          <a:effectLst/>
                          <a:latin typeface="Calibri" panose="020F0502020204030204" pitchFamily="34" charset="0"/>
                        </a:rPr>
                        <a:t> </a:t>
                      </a:r>
                    </a:p>
                  </a:txBody>
                  <a:tcPr marL="4486" marR="4486" marT="4486"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427307879"/>
                  </a:ext>
                </a:extLst>
              </a:tr>
            </a:tbl>
          </a:graphicData>
        </a:graphic>
      </p:graphicFrame>
      <p:sp>
        <p:nvSpPr>
          <p:cNvPr id="8" name="Rectángulo 7">
            <a:extLst>
              <a:ext uri="{FF2B5EF4-FFF2-40B4-BE49-F238E27FC236}">
                <a16:creationId xmlns:a16="http://schemas.microsoft.com/office/drawing/2014/main" id="{1FE12B2D-60A0-8F28-2565-241C9C9EDB65}"/>
              </a:ext>
            </a:extLst>
          </p:cNvPr>
          <p:cNvSpPr/>
          <p:nvPr/>
        </p:nvSpPr>
        <p:spPr>
          <a:xfrm>
            <a:off x="265050" y="6129000"/>
            <a:ext cx="11769034" cy="54628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El plan incluye dos premisas principales: Levantamiento de equipos completos del hospital/clínica para hacer un plan de mantenimiento completo “en pack” y además</a:t>
            </a:r>
            <a:r>
              <a:rPr lang="es-CL" sz="900" dirty="0">
                <a:solidFill>
                  <a:schemeClr val="tx2"/>
                </a:solidFill>
              </a:rPr>
              <a:t> levantamiento si la base instalada sigue siendo utilizada según antigüedad de la vida </a:t>
            </a:r>
            <a:r>
              <a:rPr lang="es-CL" sz="900" dirty="0" err="1">
                <a:solidFill>
                  <a:schemeClr val="tx2"/>
                </a:solidFill>
              </a:rPr>
              <a:t>útil</a:t>
            </a:r>
            <a:r>
              <a:rPr lang="es-CL" sz="900" dirty="0" err="1">
                <a:solidFill>
                  <a:schemeClr val="tx1"/>
                </a:solidFill>
              </a:rPr>
              <a:t>DF</a:t>
            </a:r>
            <a:endParaRPr lang="es-MX" sz="900" dirty="0">
              <a:solidFill>
                <a:schemeClr val="tx2"/>
              </a:solidFill>
            </a:endParaRPr>
          </a:p>
        </p:txBody>
      </p:sp>
    </p:spTree>
    <p:extLst>
      <p:ext uri="{BB962C8B-B14F-4D97-AF65-F5344CB8AC3E}">
        <p14:creationId xmlns:p14="http://schemas.microsoft.com/office/powerpoint/2010/main" val="34033975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8F12B10F-FA45-A319-5F7E-B2097CC4D322}"/>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7DC661D5-2641-166C-4D82-11C0A6D07B22}"/>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Valparaíso Grupo 3 – Clientes Valparaíso</a:t>
            </a:r>
            <a:endParaRPr dirty="0"/>
          </a:p>
        </p:txBody>
      </p:sp>
      <p:sp>
        <p:nvSpPr>
          <p:cNvPr id="5" name="Triángulo isósceles 4">
            <a:extLst>
              <a:ext uri="{FF2B5EF4-FFF2-40B4-BE49-F238E27FC236}">
                <a16:creationId xmlns:a16="http://schemas.microsoft.com/office/drawing/2014/main" id="{D6A17410-AB89-A50F-79A5-B07ECBA513CA}"/>
              </a:ext>
            </a:extLst>
          </p:cNvPr>
          <p:cNvSpPr/>
          <p:nvPr/>
        </p:nvSpPr>
        <p:spPr>
          <a:xfrm rot="5400000">
            <a:off x="3778500" y="2641500"/>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9" name="Rectángulo 8">
            <a:extLst>
              <a:ext uri="{FF2B5EF4-FFF2-40B4-BE49-F238E27FC236}">
                <a16:creationId xmlns:a16="http://schemas.microsoft.com/office/drawing/2014/main" id="{DAF5CFED-C476-DB93-33A7-4D27B7101DE2}"/>
              </a:ext>
            </a:extLst>
          </p:cNvPr>
          <p:cNvSpPr/>
          <p:nvPr/>
        </p:nvSpPr>
        <p:spPr>
          <a:xfrm>
            <a:off x="559084" y="5448029"/>
            <a:ext cx="11430000" cy="4197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En 12 semanas la cartera es cubierta con un promedio de 3 visitas por cliente</a:t>
            </a:r>
          </a:p>
          <a:p>
            <a:pPr marL="171450" lvl="1" indent="-171450">
              <a:buFont typeface="Arial" panose="020B0604020202020204" pitchFamily="34" charset="0"/>
              <a:buChar char="•"/>
            </a:pPr>
            <a:r>
              <a:rPr lang="es-MX" sz="900" dirty="0">
                <a:solidFill>
                  <a:schemeClr val="tx2"/>
                </a:solidFill>
              </a:rPr>
              <a:t>En total son 40 clientes del grupo 3 a visitar, mas 15 del Grupo 2 </a:t>
            </a:r>
          </a:p>
        </p:txBody>
      </p:sp>
      <p:sp>
        <p:nvSpPr>
          <p:cNvPr id="13" name="Triángulo isósceles 12">
            <a:extLst>
              <a:ext uri="{FF2B5EF4-FFF2-40B4-BE49-F238E27FC236}">
                <a16:creationId xmlns:a16="http://schemas.microsoft.com/office/drawing/2014/main" id="{9DA28DD3-3E24-FB65-7896-3E81D06FF3D6}"/>
              </a:ext>
            </a:extLst>
          </p:cNvPr>
          <p:cNvSpPr/>
          <p:nvPr/>
        </p:nvSpPr>
        <p:spPr>
          <a:xfrm rot="5400000">
            <a:off x="8176305" y="3365871"/>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7" name="Imagen 6">
            <a:extLst>
              <a:ext uri="{FF2B5EF4-FFF2-40B4-BE49-F238E27FC236}">
                <a16:creationId xmlns:a16="http://schemas.microsoft.com/office/drawing/2014/main" id="{85EA001C-18B9-82B0-2809-BE0CE5DE3377}"/>
              </a:ext>
            </a:extLst>
          </p:cNvPr>
          <p:cNvPicPr>
            <a:picLocks noChangeAspect="1"/>
          </p:cNvPicPr>
          <p:nvPr/>
        </p:nvPicPr>
        <p:blipFill>
          <a:blip r:embed="rId3"/>
          <a:stretch>
            <a:fillRect/>
          </a:stretch>
        </p:blipFill>
        <p:spPr>
          <a:xfrm>
            <a:off x="573729" y="989966"/>
            <a:ext cx="3418505" cy="4065950"/>
          </a:xfrm>
          <a:prstGeom prst="rect">
            <a:avLst/>
          </a:prstGeom>
        </p:spPr>
      </p:pic>
      <p:pic>
        <p:nvPicPr>
          <p:cNvPr id="14" name="Imagen 13">
            <a:extLst>
              <a:ext uri="{FF2B5EF4-FFF2-40B4-BE49-F238E27FC236}">
                <a16:creationId xmlns:a16="http://schemas.microsoft.com/office/drawing/2014/main" id="{851CACBC-0C04-6135-8A8C-2371F29D721A}"/>
              </a:ext>
            </a:extLst>
          </p:cNvPr>
          <p:cNvPicPr>
            <a:picLocks noChangeAspect="1"/>
          </p:cNvPicPr>
          <p:nvPr/>
        </p:nvPicPr>
        <p:blipFill>
          <a:blip r:embed="rId4"/>
          <a:stretch>
            <a:fillRect/>
          </a:stretch>
        </p:blipFill>
        <p:spPr>
          <a:xfrm>
            <a:off x="5074580" y="989965"/>
            <a:ext cx="6764059" cy="4065951"/>
          </a:xfrm>
          <a:prstGeom prst="rect">
            <a:avLst/>
          </a:prstGeom>
        </p:spPr>
      </p:pic>
    </p:spTree>
    <p:extLst>
      <p:ext uri="{BB962C8B-B14F-4D97-AF65-F5344CB8AC3E}">
        <p14:creationId xmlns:p14="http://schemas.microsoft.com/office/powerpoint/2010/main" val="137525056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453">
          <a:extLst>
            <a:ext uri="{FF2B5EF4-FFF2-40B4-BE49-F238E27FC236}">
              <a16:creationId xmlns:a16="http://schemas.microsoft.com/office/drawing/2014/main" id="{BA8679A5-9A4F-C64E-2172-5758B6E4934F}"/>
            </a:ext>
          </a:extLst>
        </p:cNvPr>
        <p:cNvGrpSpPr/>
        <p:nvPr/>
      </p:nvGrpSpPr>
      <p:grpSpPr>
        <a:xfrm>
          <a:off x="0" y="0"/>
          <a:ext cx="0" cy="0"/>
          <a:chOff x="0" y="0"/>
          <a:chExt cx="0" cy="0"/>
        </a:xfrm>
      </p:grpSpPr>
      <p:sp>
        <p:nvSpPr>
          <p:cNvPr id="454" name="Google Shape;454;p35">
            <a:extLst>
              <a:ext uri="{FF2B5EF4-FFF2-40B4-BE49-F238E27FC236}">
                <a16:creationId xmlns:a16="http://schemas.microsoft.com/office/drawing/2014/main" id="{754C4C19-D56F-CF04-2635-5867054353BC}"/>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dirty="0">
                <a:solidFill>
                  <a:srgbClr val="33448D"/>
                </a:solidFill>
                <a:latin typeface="Roboto"/>
                <a:ea typeface="Roboto"/>
                <a:cs typeface="Roboto"/>
                <a:sym typeface="Roboto"/>
              </a:rPr>
              <a:t>Región Metropolitana</a:t>
            </a:r>
            <a:endParaRPr dirty="0"/>
          </a:p>
        </p:txBody>
      </p:sp>
      <p:sp>
        <p:nvSpPr>
          <p:cNvPr id="31" name="Rectángulo 30">
            <a:extLst>
              <a:ext uri="{FF2B5EF4-FFF2-40B4-BE49-F238E27FC236}">
                <a16:creationId xmlns:a16="http://schemas.microsoft.com/office/drawing/2014/main" id="{78AFE1EC-12B5-57C5-9649-3432E5C8E91D}"/>
              </a:ext>
            </a:extLst>
          </p:cNvPr>
          <p:cNvSpPr/>
          <p:nvPr/>
        </p:nvSpPr>
        <p:spPr>
          <a:xfrm>
            <a:off x="346016" y="819927"/>
            <a:ext cx="1260000" cy="11584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1 – Top 10 Mayor Potencial</a:t>
            </a:r>
            <a:endParaRPr lang="es-CL" sz="800" b="1" dirty="0">
              <a:solidFill>
                <a:schemeClr val="tx1"/>
              </a:solidFill>
            </a:endParaRPr>
          </a:p>
        </p:txBody>
      </p:sp>
      <p:sp>
        <p:nvSpPr>
          <p:cNvPr id="33" name="Rectángulo 32">
            <a:extLst>
              <a:ext uri="{FF2B5EF4-FFF2-40B4-BE49-F238E27FC236}">
                <a16:creationId xmlns:a16="http://schemas.microsoft.com/office/drawing/2014/main" id="{A5ADBE80-21A5-1B76-954A-83260D4A9511}"/>
              </a:ext>
            </a:extLst>
          </p:cNvPr>
          <p:cNvSpPr/>
          <p:nvPr/>
        </p:nvSpPr>
        <p:spPr>
          <a:xfrm>
            <a:off x="1758416" y="819927"/>
            <a:ext cx="1260000" cy="1158436"/>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2 – Top 15 Clientes “grandes” sin contrato</a:t>
            </a:r>
            <a:endParaRPr lang="es-CL" sz="1100" b="1" dirty="0">
              <a:solidFill>
                <a:schemeClr val="tx1"/>
              </a:solidFill>
            </a:endParaRPr>
          </a:p>
        </p:txBody>
      </p:sp>
      <p:sp>
        <p:nvSpPr>
          <p:cNvPr id="35" name="Rectángulo 34">
            <a:extLst>
              <a:ext uri="{FF2B5EF4-FFF2-40B4-BE49-F238E27FC236}">
                <a16:creationId xmlns:a16="http://schemas.microsoft.com/office/drawing/2014/main" id="{F6572F1A-CF38-50E0-AC6C-BDAE99789FDB}"/>
              </a:ext>
            </a:extLst>
          </p:cNvPr>
          <p:cNvSpPr/>
          <p:nvPr/>
        </p:nvSpPr>
        <p:spPr>
          <a:xfrm>
            <a:off x="3170816" y="819000"/>
            <a:ext cx="1990200" cy="1158436"/>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3 - Restante</a:t>
            </a:r>
            <a:endParaRPr lang="es-CL" sz="1100" b="1" dirty="0">
              <a:solidFill>
                <a:schemeClr val="tx1"/>
              </a:solidFill>
            </a:endParaRPr>
          </a:p>
        </p:txBody>
      </p:sp>
      <p:sp>
        <p:nvSpPr>
          <p:cNvPr id="8" name="Rectángulo 7">
            <a:extLst>
              <a:ext uri="{FF2B5EF4-FFF2-40B4-BE49-F238E27FC236}">
                <a16:creationId xmlns:a16="http://schemas.microsoft.com/office/drawing/2014/main" id="{C80DFCBD-F36C-196D-C1BD-2EE6600326B5}"/>
              </a:ext>
            </a:extLst>
          </p:cNvPr>
          <p:cNvSpPr/>
          <p:nvPr/>
        </p:nvSpPr>
        <p:spPr>
          <a:xfrm>
            <a:off x="5313600" y="2046101"/>
            <a:ext cx="1990200" cy="18779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Total: 803,7</a:t>
            </a:r>
          </a:p>
          <a:p>
            <a:pPr marL="171450" indent="-171450">
              <a:buFont typeface="Arial" panose="020B0604020202020204" pitchFamily="34" charset="0"/>
              <a:buChar char="•"/>
            </a:pPr>
            <a:r>
              <a:rPr lang="es-MX" sz="900" b="1" dirty="0">
                <a:solidFill>
                  <a:schemeClr val="tx2"/>
                </a:solidFill>
              </a:rPr>
              <a:t># Clientes: 270</a:t>
            </a:r>
          </a:p>
          <a:p>
            <a:pPr marL="171450" indent="-171450">
              <a:buFont typeface="Arial" panose="020B0604020202020204" pitchFamily="34" charset="0"/>
              <a:buChar char="•"/>
            </a:pPr>
            <a:r>
              <a:rPr lang="es-MX" sz="900" b="1" dirty="0">
                <a:solidFill>
                  <a:schemeClr val="tx2"/>
                </a:solidFill>
              </a:rPr>
              <a:t>Fecha de ejecución: Septiembre - Noviembre</a:t>
            </a:r>
            <a:endParaRPr lang="es-CL" sz="1600" b="1" dirty="0">
              <a:solidFill>
                <a:schemeClr val="tx1"/>
              </a:solidFill>
            </a:endParaRPr>
          </a:p>
        </p:txBody>
      </p:sp>
      <p:sp>
        <p:nvSpPr>
          <p:cNvPr id="16" name="Rectángulo 15">
            <a:extLst>
              <a:ext uri="{FF2B5EF4-FFF2-40B4-BE49-F238E27FC236}">
                <a16:creationId xmlns:a16="http://schemas.microsoft.com/office/drawing/2014/main" id="{E8BB6D2B-E3DC-CC9F-02C4-D8F3D8B24140}"/>
              </a:ext>
            </a:extLst>
          </p:cNvPr>
          <p:cNvSpPr/>
          <p:nvPr/>
        </p:nvSpPr>
        <p:spPr>
          <a:xfrm>
            <a:off x="5313600" y="811825"/>
            <a:ext cx="1990200" cy="1158436"/>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Total</a:t>
            </a:r>
            <a:endParaRPr lang="es-CL" sz="1100" b="1" dirty="0">
              <a:solidFill>
                <a:schemeClr val="tx1"/>
              </a:solidFill>
            </a:endParaRPr>
          </a:p>
        </p:txBody>
      </p:sp>
      <p:sp>
        <p:nvSpPr>
          <p:cNvPr id="17" name="Triángulo isósceles 16">
            <a:extLst>
              <a:ext uri="{FF2B5EF4-FFF2-40B4-BE49-F238E27FC236}">
                <a16:creationId xmlns:a16="http://schemas.microsoft.com/office/drawing/2014/main" id="{CF82CB7B-E167-5543-705A-383DB49D5E24}"/>
              </a:ext>
            </a:extLst>
          </p:cNvPr>
          <p:cNvSpPr/>
          <p:nvPr/>
        </p:nvSpPr>
        <p:spPr>
          <a:xfrm rot="5400000">
            <a:off x="6837844" y="2326642"/>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0" name="Rectángulo 19">
            <a:extLst>
              <a:ext uri="{FF2B5EF4-FFF2-40B4-BE49-F238E27FC236}">
                <a16:creationId xmlns:a16="http://schemas.microsoft.com/office/drawing/2014/main" id="{FC4949FD-3DC1-60FA-FBFB-11E79701E22F}"/>
              </a:ext>
            </a:extLst>
          </p:cNvPr>
          <p:cNvSpPr/>
          <p:nvPr/>
        </p:nvSpPr>
        <p:spPr>
          <a:xfrm>
            <a:off x="7952460" y="837802"/>
            <a:ext cx="3868084" cy="308619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En la región de Valparaíso se tienen 270 clientes.</a:t>
            </a:r>
          </a:p>
          <a:p>
            <a:pPr marL="171450" lvl="1" indent="-171450">
              <a:buFont typeface="Arial" panose="020B0604020202020204" pitchFamily="34" charset="0"/>
              <a:buChar char="•"/>
            </a:pPr>
            <a:r>
              <a:rPr lang="es-MX" sz="900" dirty="0">
                <a:solidFill>
                  <a:schemeClr val="tx2"/>
                </a:solidFill>
              </a:rPr>
              <a:t>La distribución o asignación de clientes se realiza en base a las carteras ya definidas (por comuna) para </a:t>
            </a:r>
            <a:r>
              <a:rPr lang="es-MX" sz="900" dirty="0" err="1">
                <a:solidFill>
                  <a:schemeClr val="tx2"/>
                </a:solidFill>
              </a:rPr>
              <a:t>Eglys</a:t>
            </a:r>
            <a:r>
              <a:rPr lang="es-MX" sz="900" dirty="0">
                <a:solidFill>
                  <a:schemeClr val="tx2"/>
                </a:solidFill>
              </a:rPr>
              <a:t> Ramírez y Cristian Pérez. </a:t>
            </a:r>
          </a:p>
        </p:txBody>
      </p:sp>
      <p:sp>
        <p:nvSpPr>
          <p:cNvPr id="3" name="Rectángulo 2">
            <a:extLst>
              <a:ext uri="{FF2B5EF4-FFF2-40B4-BE49-F238E27FC236}">
                <a16:creationId xmlns:a16="http://schemas.microsoft.com/office/drawing/2014/main" id="{4739562D-3A05-5EBD-A7B3-C01052B1D7EC}"/>
              </a:ext>
            </a:extLst>
          </p:cNvPr>
          <p:cNvSpPr/>
          <p:nvPr/>
        </p:nvSpPr>
        <p:spPr>
          <a:xfrm>
            <a:off x="346016" y="2080390"/>
            <a:ext cx="1260000" cy="18436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MM$260,1</a:t>
            </a:r>
          </a:p>
          <a:p>
            <a:pPr marL="171450" indent="-171450">
              <a:buFont typeface="Arial" panose="020B0604020202020204" pitchFamily="34" charset="0"/>
              <a:buChar char="•"/>
            </a:pPr>
            <a:r>
              <a:rPr lang="es-MX" sz="900" dirty="0">
                <a:solidFill>
                  <a:schemeClr val="tx2"/>
                </a:solidFill>
              </a:rPr>
              <a:t># Clientes: 10</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r>
              <a:rPr lang="es-MX" sz="900" dirty="0">
                <a:solidFill>
                  <a:schemeClr val="tx2"/>
                </a:solidFill>
              </a:rPr>
              <a:t> y </a:t>
            </a:r>
            <a:r>
              <a:rPr lang="es-MX" sz="900" dirty="0" err="1">
                <a:solidFill>
                  <a:schemeClr val="tx2"/>
                </a:solidFill>
              </a:rPr>
              <a:t>Eglys</a:t>
            </a:r>
            <a:r>
              <a:rPr lang="es-MX" sz="900" dirty="0">
                <a:solidFill>
                  <a:schemeClr val="tx2"/>
                </a:solidFill>
              </a:rPr>
              <a:t> </a:t>
            </a:r>
            <a:r>
              <a:rPr lang="es-MX" sz="900" dirty="0" err="1">
                <a:solidFill>
                  <a:schemeClr val="tx2"/>
                </a:solidFill>
              </a:rPr>
              <a:t>Ramiréz</a:t>
            </a:r>
            <a:endParaRPr lang="es-MX" sz="900" dirty="0">
              <a:solidFill>
                <a:schemeClr val="tx2"/>
              </a:solidFill>
            </a:endParaRPr>
          </a:p>
          <a:p>
            <a:pPr marL="171450" indent="-171450">
              <a:buFont typeface="Arial" panose="020B0604020202020204" pitchFamily="34" charset="0"/>
              <a:buChar char="•"/>
            </a:pPr>
            <a:r>
              <a:rPr lang="es-MX" sz="900" dirty="0">
                <a:solidFill>
                  <a:schemeClr val="tx2"/>
                </a:solidFill>
              </a:rPr>
              <a:t>Fecha de Ejecución: Sept – Oct</a:t>
            </a:r>
          </a:p>
          <a:p>
            <a:pPr marL="171450" indent="-171450">
              <a:buFont typeface="Arial" panose="020B0604020202020204" pitchFamily="34" charset="0"/>
              <a:buChar char="•"/>
            </a:pPr>
            <a:r>
              <a:rPr lang="es-MX" sz="900" dirty="0">
                <a:solidFill>
                  <a:schemeClr val="tx2"/>
                </a:solidFill>
              </a:rPr>
              <a:t>Plan detallado por cada uno.</a:t>
            </a:r>
            <a:endParaRPr lang="es-CL" sz="1050" b="1" dirty="0">
              <a:solidFill>
                <a:schemeClr val="tx1"/>
              </a:solidFill>
            </a:endParaRPr>
          </a:p>
        </p:txBody>
      </p:sp>
      <p:sp>
        <p:nvSpPr>
          <p:cNvPr id="5" name="Rectángulo 4">
            <a:extLst>
              <a:ext uri="{FF2B5EF4-FFF2-40B4-BE49-F238E27FC236}">
                <a16:creationId xmlns:a16="http://schemas.microsoft.com/office/drawing/2014/main" id="{90A3BBCB-63DD-0BE3-EEE4-2845CEAFDE2B}"/>
              </a:ext>
            </a:extLst>
          </p:cNvPr>
          <p:cNvSpPr/>
          <p:nvPr/>
        </p:nvSpPr>
        <p:spPr>
          <a:xfrm>
            <a:off x="1758416" y="2080390"/>
            <a:ext cx="1260000" cy="18436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MM$42,6</a:t>
            </a:r>
          </a:p>
          <a:p>
            <a:pPr marL="171450" indent="-171450">
              <a:buFont typeface="Arial" panose="020B0604020202020204" pitchFamily="34" charset="0"/>
              <a:buChar char="•"/>
            </a:pPr>
            <a:r>
              <a:rPr lang="es-MX" sz="900" dirty="0">
                <a:solidFill>
                  <a:schemeClr val="tx2"/>
                </a:solidFill>
              </a:rPr>
              <a:t># Clientes: 15</a:t>
            </a:r>
          </a:p>
          <a:p>
            <a:pPr marL="171450" indent="-171450">
              <a:buFont typeface="Arial" panose="020B0604020202020204" pitchFamily="34" charset="0"/>
              <a:buChar char="•"/>
            </a:pPr>
            <a:r>
              <a:rPr lang="es-MX" sz="900" dirty="0">
                <a:solidFill>
                  <a:schemeClr val="tx2"/>
                </a:solidFill>
              </a:rPr>
              <a:t>Cristián </a:t>
            </a:r>
            <a:r>
              <a:rPr lang="es-MX" sz="900" dirty="0" err="1">
                <a:solidFill>
                  <a:schemeClr val="tx2"/>
                </a:solidFill>
              </a:rPr>
              <a:t>Perez</a:t>
            </a:r>
            <a:r>
              <a:rPr lang="es-MX" sz="900" dirty="0">
                <a:solidFill>
                  <a:schemeClr val="tx2"/>
                </a:solidFill>
              </a:rPr>
              <a:t> y </a:t>
            </a:r>
            <a:r>
              <a:rPr lang="es-MX" sz="900" dirty="0" err="1">
                <a:solidFill>
                  <a:schemeClr val="tx2"/>
                </a:solidFill>
              </a:rPr>
              <a:t>Eglys</a:t>
            </a:r>
            <a:r>
              <a:rPr lang="es-MX" sz="900" dirty="0">
                <a:solidFill>
                  <a:schemeClr val="tx2"/>
                </a:solidFill>
              </a:rPr>
              <a:t> </a:t>
            </a:r>
            <a:r>
              <a:rPr lang="es-MX" sz="900" dirty="0" err="1">
                <a:solidFill>
                  <a:schemeClr val="tx2"/>
                </a:solidFill>
              </a:rPr>
              <a:t>Ramiréz</a:t>
            </a:r>
            <a:endParaRPr lang="es-MX" sz="900" dirty="0">
              <a:solidFill>
                <a:schemeClr val="tx2"/>
              </a:solidFill>
            </a:endParaRPr>
          </a:p>
          <a:p>
            <a:pPr marL="171450" indent="-171450">
              <a:buFont typeface="Arial" panose="020B0604020202020204" pitchFamily="34" charset="0"/>
              <a:buChar char="•"/>
            </a:pPr>
            <a:r>
              <a:rPr lang="es-MX" sz="900" dirty="0">
                <a:solidFill>
                  <a:schemeClr val="tx2"/>
                </a:solidFill>
              </a:rPr>
              <a:t>Fecha de Ejecución: Sept – Oct</a:t>
            </a:r>
          </a:p>
          <a:p>
            <a:pPr marL="171450" indent="-171450">
              <a:buFont typeface="Arial" panose="020B0604020202020204" pitchFamily="34" charset="0"/>
              <a:buChar char="•"/>
            </a:pPr>
            <a:r>
              <a:rPr lang="es-MX" sz="900" dirty="0">
                <a:solidFill>
                  <a:schemeClr val="tx2"/>
                </a:solidFill>
              </a:rPr>
              <a:t>Plan detallado por cada uno</a:t>
            </a:r>
            <a:r>
              <a:rPr lang="es-MX" sz="900" b="1" dirty="0">
                <a:solidFill>
                  <a:schemeClr val="tx1"/>
                </a:solidFill>
              </a:rPr>
              <a:t> 2</a:t>
            </a:r>
            <a:endParaRPr lang="es-CL" sz="900" b="1" dirty="0">
              <a:solidFill>
                <a:schemeClr val="tx1"/>
              </a:solidFill>
            </a:endParaRPr>
          </a:p>
        </p:txBody>
      </p:sp>
      <p:sp>
        <p:nvSpPr>
          <p:cNvPr id="7" name="Rectángulo 6">
            <a:extLst>
              <a:ext uri="{FF2B5EF4-FFF2-40B4-BE49-F238E27FC236}">
                <a16:creationId xmlns:a16="http://schemas.microsoft.com/office/drawing/2014/main" id="{908E518B-D9D0-9461-B5DA-D63E37A6465D}"/>
              </a:ext>
            </a:extLst>
          </p:cNvPr>
          <p:cNvSpPr/>
          <p:nvPr/>
        </p:nvSpPr>
        <p:spPr>
          <a:xfrm>
            <a:off x="3170816" y="2079463"/>
            <a:ext cx="1990200" cy="18436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MM$501,0</a:t>
            </a:r>
          </a:p>
          <a:p>
            <a:pPr marL="171450" indent="-171450">
              <a:buFont typeface="Arial" panose="020B0604020202020204" pitchFamily="34" charset="0"/>
              <a:buChar char="•"/>
            </a:pPr>
            <a:r>
              <a:rPr lang="es-MX" sz="900" dirty="0">
                <a:solidFill>
                  <a:schemeClr val="tx2"/>
                </a:solidFill>
              </a:rPr>
              <a:t># Clientes: 245</a:t>
            </a:r>
          </a:p>
          <a:p>
            <a:pPr marL="171450" indent="-171450">
              <a:buFont typeface="Arial" panose="020B0604020202020204" pitchFamily="34" charset="0"/>
              <a:buChar char="•"/>
            </a:pPr>
            <a:r>
              <a:rPr lang="es-MX" sz="900" dirty="0">
                <a:solidFill>
                  <a:schemeClr val="tx2"/>
                </a:solidFill>
              </a:rPr>
              <a:t>Responsable: KAM 1-2</a:t>
            </a:r>
          </a:p>
          <a:p>
            <a:pPr marL="171450" indent="-171450">
              <a:buFont typeface="Arial" panose="020B0604020202020204" pitchFamily="34" charset="0"/>
              <a:buChar char="•"/>
            </a:pPr>
            <a:r>
              <a:rPr lang="es-MX" sz="900" dirty="0">
                <a:solidFill>
                  <a:schemeClr val="tx2"/>
                </a:solidFill>
              </a:rPr>
              <a:t>Fecha de Ejecución: Oct - Noviembre</a:t>
            </a:r>
          </a:p>
          <a:p>
            <a:pPr marL="171450" indent="-171450">
              <a:buFont typeface="Arial" panose="020B0604020202020204" pitchFamily="34" charset="0"/>
              <a:buChar char="•"/>
            </a:pPr>
            <a:r>
              <a:rPr lang="es-MX" sz="900" dirty="0">
                <a:solidFill>
                  <a:schemeClr val="tx2"/>
                </a:solidFill>
              </a:rPr>
              <a:t>Procesos de Prospección</a:t>
            </a:r>
            <a:r>
              <a:rPr lang="es-MX" sz="1600" b="1" dirty="0">
                <a:solidFill>
                  <a:schemeClr val="tx1"/>
                </a:solidFill>
              </a:rPr>
              <a:t>2</a:t>
            </a:r>
            <a:endParaRPr lang="es-CL" sz="1600" b="1" dirty="0">
              <a:solidFill>
                <a:schemeClr val="tx1"/>
              </a:solidFill>
            </a:endParaRPr>
          </a:p>
        </p:txBody>
      </p:sp>
      <p:pic>
        <p:nvPicPr>
          <p:cNvPr id="4" name="Imagen 3">
            <a:extLst>
              <a:ext uri="{FF2B5EF4-FFF2-40B4-BE49-F238E27FC236}">
                <a16:creationId xmlns:a16="http://schemas.microsoft.com/office/drawing/2014/main" id="{658AE45A-8D61-8130-A7DF-01F128A1AE4E}"/>
              </a:ext>
            </a:extLst>
          </p:cNvPr>
          <p:cNvPicPr>
            <a:picLocks noChangeAspect="1"/>
          </p:cNvPicPr>
          <p:nvPr/>
        </p:nvPicPr>
        <p:blipFill>
          <a:blip r:embed="rId3"/>
          <a:srcRect t="15976" b="15977"/>
          <a:stretch>
            <a:fillRect/>
          </a:stretch>
        </p:blipFill>
        <p:spPr>
          <a:xfrm>
            <a:off x="1599761" y="4025101"/>
            <a:ext cx="10217134" cy="2715184"/>
          </a:xfrm>
          <a:prstGeom prst="rect">
            <a:avLst/>
          </a:prstGeom>
        </p:spPr>
      </p:pic>
    </p:spTree>
    <p:extLst>
      <p:ext uri="{BB962C8B-B14F-4D97-AF65-F5344CB8AC3E}">
        <p14:creationId xmlns:p14="http://schemas.microsoft.com/office/powerpoint/2010/main" val="26501933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908A2BA0-C668-4733-25E1-FFC9E0F21F9E}"/>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1FF4FF3E-9CE0-8094-D8E2-79A67D4FD7FE}"/>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Metropolitana Grupo 1 – Top según Potencial</a:t>
            </a:r>
            <a:endParaRPr dirty="0"/>
          </a:p>
        </p:txBody>
      </p:sp>
      <p:graphicFrame>
        <p:nvGraphicFramePr>
          <p:cNvPr id="3" name="Tabla 2">
            <a:extLst>
              <a:ext uri="{FF2B5EF4-FFF2-40B4-BE49-F238E27FC236}">
                <a16:creationId xmlns:a16="http://schemas.microsoft.com/office/drawing/2014/main" id="{6BD46753-8F4F-6A29-55CF-80E7A579D8CD}"/>
              </a:ext>
            </a:extLst>
          </p:cNvPr>
          <p:cNvGraphicFramePr>
            <a:graphicFrameLocks noGrp="1"/>
          </p:cNvGraphicFramePr>
          <p:nvPr>
            <p:extLst>
              <p:ext uri="{D42A27DB-BD31-4B8C-83A1-F6EECF244321}">
                <p14:modId xmlns:p14="http://schemas.microsoft.com/office/powerpoint/2010/main" val="3936075952"/>
              </p:ext>
            </p:extLst>
          </p:nvPr>
        </p:nvGraphicFramePr>
        <p:xfrm>
          <a:off x="201000" y="818999"/>
          <a:ext cx="11745000" cy="5856288"/>
        </p:xfrm>
        <a:graphic>
          <a:graphicData uri="http://schemas.openxmlformats.org/drawingml/2006/table">
            <a:tbl>
              <a:tblPr/>
              <a:tblGrid>
                <a:gridCol w="415329">
                  <a:extLst>
                    <a:ext uri="{9D8B030D-6E8A-4147-A177-3AD203B41FA5}">
                      <a16:colId xmlns:a16="http://schemas.microsoft.com/office/drawing/2014/main" val="18174365"/>
                    </a:ext>
                  </a:extLst>
                </a:gridCol>
                <a:gridCol w="1884951">
                  <a:extLst>
                    <a:ext uri="{9D8B030D-6E8A-4147-A177-3AD203B41FA5}">
                      <a16:colId xmlns:a16="http://schemas.microsoft.com/office/drawing/2014/main" val="452569541"/>
                    </a:ext>
                  </a:extLst>
                </a:gridCol>
                <a:gridCol w="495199">
                  <a:extLst>
                    <a:ext uri="{9D8B030D-6E8A-4147-A177-3AD203B41FA5}">
                      <a16:colId xmlns:a16="http://schemas.microsoft.com/office/drawing/2014/main" val="3775602071"/>
                    </a:ext>
                  </a:extLst>
                </a:gridCol>
                <a:gridCol w="497195">
                  <a:extLst>
                    <a:ext uri="{9D8B030D-6E8A-4147-A177-3AD203B41FA5}">
                      <a16:colId xmlns:a16="http://schemas.microsoft.com/office/drawing/2014/main" val="2794059284"/>
                    </a:ext>
                  </a:extLst>
                </a:gridCol>
                <a:gridCol w="495199">
                  <a:extLst>
                    <a:ext uri="{9D8B030D-6E8A-4147-A177-3AD203B41FA5}">
                      <a16:colId xmlns:a16="http://schemas.microsoft.com/office/drawing/2014/main" val="2202799446"/>
                    </a:ext>
                  </a:extLst>
                </a:gridCol>
                <a:gridCol w="497195">
                  <a:extLst>
                    <a:ext uri="{9D8B030D-6E8A-4147-A177-3AD203B41FA5}">
                      <a16:colId xmlns:a16="http://schemas.microsoft.com/office/drawing/2014/main" val="1319033109"/>
                    </a:ext>
                  </a:extLst>
                </a:gridCol>
                <a:gridCol w="495199">
                  <a:extLst>
                    <a:ext uri="{9D8B030D-6E8A-4147-A177-3AD203B41FA5}">
                      <a16:colId xmlns:a16="http://schemas.microsoft.com/office/drawing/2014/main" val="1371427262"/>
                    </a:ext>
                  </a:extLst>
                </a:gridCol>
                <a:gridCol w="497195">
                  <a:extLst>
                    <a:ext uri="{9D8B030D-6E8A-4147-A177-3AD203B41FA5}">
                      <a16:colId xmlns:a16="http://schemas.microsoft.com/office/drawing/2014/main" val="3122706052"/>
                    </a:ext>
                  </a:extLst>
                </a:gridCol>
                <a:gridCol w="583058">
                  <a:extLst>
                    <a:ext uri="{9D8B030D-6E8A-4147-A177-3AD203B41FA5}">
                      <a16:colId xmlns:a16="http://schemas.microsoft.com/office/drawing/2014/main" val="4137992039"/>
                    </a:ext>
                  </a:extLst>
                </a:gridCol>
                <a:gridCol w="581060">
                  <a:extLst>
                    <a:ext uri="{9D8B030D-6E8A-4147-A177-3AD203B41FA5}">
                      <a16:colId xmlns:a16="http://schemas.microsoft.com/office/drawing/2014/main" val="4058666224"/>
                    </a:ext>
                  </a:extLst>
                </a:gridCol>
                <a:gridCol w="878578">
                  <a:extLst>
                    <a:ext uri="{9D8B030D-6E8A-4147-A177-3AD203B41FA5}">
                      <a16:colId xmlns:a16="http://schemas.microsoft.com/office/drawing/2014/main" val="174517584"/>
                    </a:ext>
                  </a:extLst>
                </a:gridCol>
                <a:gridCol w="878578">
                  <a:extLst>
                    <a:ext uri="{9D8B030D-6E8A-4147-A177-3AD203B41FA5}">
                      <a16:colId xmlns:a16="http://schemas.microsoft.com/office/drawing/2014/main" val="2849187737"/>
                    </a:ext>
                  </a:extLst>
                </a:gridCol>
                <a:gridCol w="1964821">
                  <a:extLst>
                    <a:ext uri="{9D8B030D-6E8A-4147-A177-3AD203B41FA5}">
                      <a16:colId xmlns:a16="http://schemas.microsoft.com/office/drawing/2014/main" val="365430939"/>
                    </a:ext>
                  </a:extLst>
                </a:gridCol>
                <a:gridCol w="782735">
                  <a:extLst>
                    <a:ext uri="{9D8B030D-6E8A-4147-A177-3AD203B41FA5}">
                      <a16:colId xmlns:a16="http://schemas.microsoft.com/office/drawing/2014/main" val="4087326839"/>
                    </a:ext>
                  </a:extLst>
                </a:gridCol>
                <a:gridCol w="798708">
                  <a:extLst>
                    <a:ext uri="{9D8B030D-6E8A-4147-A177-3AD203B41FA5}">
                      <a16:colId xmlns:a16="http://schemas.microsoft.com/office/drawing/2014/main" val="3077258236"/>
                    </a:ext>
                  </a:extLst>
                </a:gridCol>
              </a:tblGrid>
              <a:tr h="262105">
                <a:tc rowSpan="2">
                  <a:txBody>
                    <a:bodyPr/>
                    <a:lstStyle/>
                    <a:p>
                      <a:pPr algn="ctr" fontAlgn="ctr">
                        <a:buNone/>
                      </a:pPr>
                      <a:r>
                        <a:rPr lang="es-CL" sz="700" b="1" i="0" u="none" strike="noStrike" dirty="0">
                          <a:solidFill>
                            <a:srgbClr val="FFFFFF"/>
                          </a:solidFill>
                          <a:effectLst/>
                          <a:latin typeface="Calibri" panose="020F0502020204030204" pitchFamily="34" charset="0"/>
                        </a:rPr>
                        <a:t>#</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700" b="1" i="0" u="none" strike="noStrike">
                          <a:solidFill>
                            <a:srgbClr val="FFFFFF"/>
                          </a:solidFill>
                          <a:effectLst/>
                          <a:latin typeface="Calibri" panose="020F0502020204030204" pitchFamily="34" charset="0"/>
                        </a:rPr>
                        <a:t>Cliente</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600" b="1" i="0" u="none" strike="noStrike">
                          <a:solidFill>
                            <a:srgbClr val="1A1A1A"/>
                          </a:solidFill>
                          <a:effectLst/>
                          <a:latin typeface="Calibri" panose="020F0502020204030204" pitchFamily="34" charset="0"/>
                        </a:rPr>
                        <a:t>Dental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600" b="1" i="0" u="none" strike="noStrike">
                          <a:solidFill>
                            <a:srgbClr val="FFFFFF"/>
                          </a:solidFill>
                          <a:effectLst/>
                          <a:latin typeface="Calibri" panose="020F0502020204030204" pitchFamily="34" charset="0"/>
                        </a:rPr>
                        <a:t>Esterilización</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600" b="1" i="0" u="none" strike="noStrike">
                          <a:solidFill>
                            <a:srgbClr val="1A1A1A"/>
                          </a:solidFill>
                          <a:effectLst/>
                          <a:latin typeface="Calibri" panose="020F0502020204030204" pitchFamily="34" charset="0"/>
                        </a:rPr>
                        <a:t>Endoscopía</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600" b="1" i="0" u="none" strike="noStrike">
                          <a:solidFill>
                            <a:srgbClr val="FFFFFF"/>
                          </a:solidFill>
                          <a:effectLst/>
                          <a:latin typeface="Calibri" panose="020F0502020204030204" pitchFamily="34" charset="0"/>
                        </a:rPr>
                        <a:t>Base Instalada Total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l" fontAlgn="ctr">
                        <a:buNone/>
                      </a:pPr>
                      <a:r>
                        <a:rPr lang="es-CL" sz="700" b="1" i="0" u="none" strike="noStrike" dirty="0">
                          <a:solidFill>
                            <a:srgbClr val="FFFFFF"/>
                          </a:solidFill>
                          <a:effectLst/>
                          <a:latin typeface="Calibri" panose="020F0502020204030204" pitchFamily="34" charset="0"/>
                        </a:rPr>
                        <a:t>Pot. Mantenimiento MM$</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l" fontAlgn="ctr">
                        <a:buNone/>
                      </a:pPr>
                      <a:r>
                        <a:rPr lang="es-CL" sz="700" b="1" i="0" u="none" strike="noStrike">
                          <a:solidFill>
                            <a:srgbClr val="FFFFFF"/>
                          </a:solidFill>
                          <a:effectLst/>
                          <a:latin typeface="Roboto" panose="02000000000000000000" pitchFamily="2" charset="0"/>
                        </a:rPr>
                        <a:t>Margen</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l" fontAlgn="ctr">
                        <a:buNone/>
                      </a:pPr>
                      <a:r>
                        <a:rPr lang="es-CL" sz="700" b="1" i="0" u="none" strike="noStrike">
                          <a:solidFill>
                            <a:srgbClr val="FFFFFF"/>
                          </a:solidFill>
                          <a:effectLst/>
                          <a:latin typeface="Calibri" panose="020F0502020204030204" pitchFamily="34" charset="0"/>
                        </a:rPr>
                        <a:t>Plan de Acción</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tc rowSpan="2">
                  <a:txBody>
                    <a:bodyPr/>
                    <a:lstStyle/>
                    <a:p>
                      <a:pPr algn="l" fontAlgn="ctr">
                        <a:buNone/>
                      </a:pPr>
                      <a:r>
                        <a:rPr lang="es-CL" sz="700" b="1" i="0" u="none" strike="noStrike">
                          <a:solidFill>
                            <a:srgbClr val="FFFFFF"/>
                          </a:solidFill>
                          <a:effectLst/>
                          <a:latin typeface="Roboto" panose="02000000000000000000" pitchFamily="2" charset="0"/>
                        </a:rPr>
                        <a:t>Visita Comercial/Fecha</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tc rowSpan="2">
                  <a:txBody>
                    <a:bodyPr/>
                    <a:lstStyle/>
                    <a:p>
                      <a:pPr algn="l" fontAlgn="ctr">
                        <a:buNone/>
                      </a:pPr>
                      <a:r>
                        <a:rPr lang="es-CL" sz="700" b="1" i="0" u="none" strike="noStrike">
                          <a:solidFill>
                            <a:srgbClr val="FFFFFF"/>
                          </a:solidFill>
                          <a:effectLst/>
                          <a:latin typeface="Roboto" panose="02000000000000000000" pitchFamily="2" charset="0"/>
                        </a:rPr>
                        <a:t>Responsable Comercial</a:t>
                      </a:r>
                    </a:p>
                  </a:txBody>
                  <a:tcPr marL="5641" marR="5641" marT="5641" marB="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4B0082"/>
                    </a:solidFill>
                  </a:tcPr>
                </a:tc>
                <a:extLst>
                  <a:ext uri="{0D108BD9-81ED-4DB2-BD59-A6C34878D82A}">
                    <a16:rowId xmlns:a16="http://schemas.microsoft.com/office/drawing/2014/main" val="4269033008"/>
                  </a:ext>
                </a:extLst>
              </a:tr>
              <a:tr h="391202">
                <a:tc vMerge="1">
                  <a:txBody>
                    <a:bodyPr/>
                    <a:lstStyle/>
                    <a:p>
                      <a:endParaRPr lang="es-CL"/>
                    </a:p>
                  </a:txBody>
                  <a:tcPr/>
                </a:tc>
                <a:tc vMerge="1">
                  <a:txBody>
                    <a:bodyPr/>
                    <a:lstStyle/>
                    <a:p>
                      <a:endParaRPr lang="es-CL"/>
                    </a:p>
                  </a:txBody>
                  <a:tcPr/>
                </a:tc>
                <a:tc>
                  <a:txBody>
                    <a:bodyPr/>
                    <a:lstStyle/>
                    <a:p>
                      <a:pPr algn="ctr" fontAlgn="ctr">
                        <a:buNone/>
                      </a:pPr>
                      <a:r>
                        <a:rPr lang="es-CL" sz="700" b="1" i="0" u="none" strike="noStrike">
                          <a:solidFill>
                            <a:srgbClr val="1A1A1A"/>
                          </a:solidFill>
                          <a:effectLst/>
                          <a:latin typeface="Calibri" panose="020F0502020204030204" pitchFamily="34" charset="0"/>
                        </a:rPr>
                        <a:t>Equipos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700" b="1" i="0" u="none" strike="noStrike">
                          <a:solidFill>
                            <a:srgbClr val="1A1A1A"/>
                          </a:solidFill>
                          <a:effectLst/>
                          <a:latin typeface="Calibri" panose="020F0502020204030204" pitchFamily="34" charset="0"/>
                        </a:rPr>
                        <a:t>% Vida Útil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700" b="1" i="0" u="none" strike="noStrike">
                          <a:solidFill>
                            <a:srgbClr val="FFFFFF"/>
                          </a:solidFill>
                          <a:effectLst/>
                          <a:latin typeface="Calibri" panose="020F0502020204030204" pitchFamily="34" charset="0"/>
                        </a:rPr>
                        <a:t>Equipos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700" b="1" i="0" u="none" strike="noStrike">
                          <a:solidFill>
                            <a:srgbClr val="FFFFFF"/>
                          </a:solidFill>
                          <a:effectLst/>
                          <a:latin typeface="Calibri" panose="020F0502020204030204" pitchFamily="34" charset="0"/>
                        </a:rPr>
                        <a:t>% Vida Útil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700" b="1" i="0" u="none" strike="noStrike">
                          <a:solidFill>
                            <a:srgbClr val="1A1A1A"/>
                          </a:solidFill>
                          <a:effectLst/>
                          <a:latin typeface="Calibri" panose="020F0502020204030204" pitchFamily="34" charset="0"/>
                        </a:rPr>
                        <a:t>Equipos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700" b="1" i="0" u="none" strike="noStrike">
                          <a:solidFill>
                            <a:srgbClr val="1A1A1A"/>
                          </a:solidFill>
                          <a:effectLst/>
                          <a:latin typeface="Calibri" panose="020F0502020204030204" pitchFamily="34" charset="0"/>
                        </a:rPr>
                        <a:t>% Vida Útil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700" b="1" i="0" u="none" strike="noStrike">
                          <a:solidFill>
                            <a:srgbClr val="FFFFFF"/>
                          </a:solidFill>
                          <a:effectLst/>
                          <a:latin typeface="Calibri" panose="020F0502020204030204" pitchFamily="34" charset="0"/>
                        </a:rPr>
                        <a:t>Equipos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700" b="1" i="0" u="none" strike="noStrike">
                          <a:solidFill>
                            <a:srgbClr val="FFFFFF"/>
                          </a:solidFill>
                          <a:effectLst/>
                          <a:latin typeface="Calibri" panose="020F0502020204030204" pitchFamily="34" charset="0"/>
                        </a:rPr>
                        <a:t>% Vida Útil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1723236545"/>
                  </a:ext>
                </a:extLst>
              </a:tr>
              <a:tr h="938883">
                <a:tc>
                  <a:txBody>
                    <a:bodyPr/>
                    <a:lstStyle/>
                    <a:p>
                      <a:pPr algn="r" fontAlgn="ctr">
                        <a:buNone/>
                      </a:pPr>
                      <a:r>
                        <a:rPr lang="es-CL" sz="700" b="0" i="0" u="none" strike="noStrike" dirty="0">
                          <a:solidFill>
                            <a:schemeClr val="tx2"/>
                          </a:solidFill>
                          <a:effectLst/>
                          <a:latin typeface="Calibri" panose="020F0502020204030204" pitchFamily="34" charset="0"/>
                        </a:rPr>
                        <a:t>1</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CLINICA MOVIL CENTINELA</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76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153,5%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46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58,3%</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122</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107,9%</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140,6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77,3</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Reunión gerencial.</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Levantamiento técnico completo.</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Oferta corporativa multiequipamiento.</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Contrato marco trianual.</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Programa de renovación escalonada para los equipos más antiguos.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algn="l" fontAlgn="ctr">
                        <a:buNone/>
                      </a:pPr>
                      <a:r>
                        <a:rPr lang="es-CL" sz="700" b="0" i="0" u="none" strike="noStrike">
                          <a:solidFill>
                            <a:schemeClr val="tx2"/>
                          </a:solidFill>
                          <a:effectLst/>
                          <a:latin typeface="Calibri" panose="020F0502020204030204" pitchFamily="34" charset="0"/>
                        </a:rPr>
                        <a:t>sept-26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Eglys Ramirez</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extLst>
                  <a:ext uri="{0D108BD9-81ED-4DB2-BD59-A6C34878D82A}">
                    <a16:rowId xmlns:a16="http://schemas.microsoft.com/office/drawing/2014/main" val="1480537133"/>
                  </a:ext>
                </a:extLst>
              </a:tr>
              <a:tr h="469442">
                <a:tc>
                  <a:txBody>
                    <a:bodyPr/>
                    <a:lstStyle/>
                    <a:p>
                      <a:pPr algn="r" fontAlgn="ctr">
                        <a:buNone/>
                      </a:pPr>
                      <a:r>
                        <a:rPr lang="es-CL" sz="700" b="0" i="0" u="none" strike="noStrike">
                          <a:solidFill>
                            <a:schemeClr val="tx2"/>
                          </a:solidFill>
                          <a:effectLst/>
                          <a:latin typeface="Calibri" panose="020F0502020204030204" pitchFamily="34" charset="0"/>
                        </a:rPr>
                        <a:t>2</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l" fontAlgn="ctr">
                        <a:buNone/>
                      </a:pPr>
                      <a:r>
                        <a:rPr lang="es-CL" sz="700" b="0" i="0" u="none" strike="noStrike">
                          <a:solidFill>
                            <a:schemeClr val="tx2"/>
                          </a:solidFill>
                          <a:effectLst/>
                          <a:latin typeface="Calibri" panose="020F0502020204030204" pitchFamily="34" charset="0"/>
                        </a:rPr>
                        <a:t>HOSPITAL CLINICO SAN BORJA-ARRIARAN</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11</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86,9%</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11</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95,9%</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l" fontAlgn="ctr">
                        <a:buNone/>
                      </a:pPr>
                      <a:r>
                        <a:rPr lang="es-CL" sz="700" b="0" i="0" u="none" strike="noStrike">
                          <a:solidFill>
                            <a:schemeClr val="tx2"/>
                          </a:solidFill>
                          <a:effectLst/>
                          <a:latin typeface="Calibri" panose="020F0502020204030204" pitchFamily="34" charset="0"/>
                        </a:rPr>
                        <a:t>22,5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12,4</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Visita conjunta Comercial + Servicio.</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Presentar análisis de riesgo asociado a antigüedad.</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Contrato preventivo por familias tecnológicas.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algn="l" fontAlgn="ctr">
                        <a:buNone/>
                      </a:pPr>
                      <a:r>
                        <a:rPr lang="es-CL" sz="700" b="0" i="0" u="none" strike="noStrike">
                          <a:solidFill>
                            <a:schemeClr val="tx2"/>
                          </a:solidFill>
                          <a:effectLst/>
                          <a:latin typeface="Calibri" panose="020F0502020204030204" pitchFamily="34" charset="0"/>
                        </a:rPr>
                        <a:t>sept-26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l" fontAlgn="ctr">
                        <a:buNone/>
                      </a:pPr>
                      <a:r>
                        <a:rPr lang="es-CL" sz="700" b="0" i="0" u="none" strike="noStrike">
                          <a:solidFill>
                            <a:schemeClr val="tx2"/>
                          </a:solidFill>
                          <a:effectLst/>
                          <a:latin typeface="Calibri" panose="020F0502020204030204" pitchFamily="34" charset="0"/>
                        </a:rPr>
                        <a:t>Cristian Pérez</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extLst>
                  <a:ext uri="{0D108BD9-81ED-4DB2-BD59-A6C34878D82A}">
                    <a16:rowId xmlns:a16="http://schemas.microsoft.com/office/drawing/2014/main" val="2382637996"/>
                  </a:ext>
                </a:extLst>
              </a:tr>
              <a:tr h="469442">
                <a:tc>
                  <a:txBody>
                    <a:bodyPr/>
                    <a:lstStyle/>
                    <a:p>
                      <a:pPr algn="r" fontAlgn="ctr">
                        <a:buNone/>
                      </a:pPr>
                      <a:r>
                        <a:rPr lang="es-CL" sz="700" b="0" i="0" u="none" strike="noStrike">
                          <a:solidFill>
                            <a:schemeClr val="tx2"/>
                          </a:solidFill>
                          <a:effectLst/>
                          <a:latin typeface="Calibri" panose="020F0502020204030204" pitchFamily="34" charset="0"/>
                        </a:rPr>
                        <a:t>3</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CLINICA ALEMANA DE SANTIAGO S A</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1</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64,6%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dirty="0">
                          <a:solidFill>
                            <a:schemeClr val="tx2"/>
                          </a:solidFill>
                          <a:effectLst/>
                          <a:latin typeface="Calibri" panose="020F0502020204030204" pitchFamily="34" charset="0"/>
                        </a:rPr>
                        <a:t>2</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71,9%</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15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52,2%</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18</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56,5%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18,2</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10,0</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dirty="0">
                          <a:solidFill>
                            <a:schemeClr val="tx2"/>
                          </a:solidFill>
                          <a:effectLst/>
                          <a:latin typeface="Calibri" panose="020F0502020204030204" pitchFamily="34" charset="0"/>
                        </a:rPr>
                        <a:t>Revisión de equipos sin cobertura.</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Presentar indicadores de disponibilidad.</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Buscar acuerdo marco de mantenimiento</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algn="l" fontAlgn="ctr">
                        <a:buNone/>
                      </a:pPr>
                      <a:r>
                        <a:rPr lang="es-CL" sz="700" b="0" i="0" u="none" strike="noStrike">
                          <a:solidFill>
                            <a:schemeClr val="tx2"/>
                          </a:solidFill>
                          <a:effectLst/>
                          <a:latin typeface="Calibri" panose="020F0502020204030204" pitchFamily="34" charset="0"/>
                        </a:rPr>
                        <a:t>oct-26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Eglys Ramirez</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extLst>
                  <a:ext uri="{0D108BD9-81ED-4DB2-BD59-A6C34878D82A}">
                    <a16:rowId xmlns:a16="http://schemas.microsoft.com/office/drawing/2014/main" val="1160562583"/>
                  </a:ext>
                </a:extLst>
              </a:tr>
              <a:tr h="312961">
                <a:tc>
                  <a:txBody>
                    <a:bodyPr/>
                    <a:lstStyle/>
                    <a:p>
                      <a:pPr algn="r" fontAlgn="ctr">
                        <a:buNone/>
                      </a:pPr>
                      <a:r>
                        <a:rPr lang="es-CL" sz="700" b="0" i="0" u="none" strike="noStrike">
                          <a:solidFill>
                            <a:schemeClr val="tx2"/>
                          </a:solidFill>
                          <a:effectLst/>
                          <a:latin typeface="Calibri" panose="020F0502020204030204" pitchFamily="34" charset="0"/>
                        </a:rPr>
                        <a:t>4</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l" fontAlgn="ctr">
                        <a:buNone/>
                      </a:pPr>
                      <a:r>
                        <a:rPr lang="es-CL" sz="700" b="0" i="0" u="none" strike="noStrike">
                          <a:solidFill>
                            <a:schemeClr val="tx2"/>
                          </a:solidFill>
                          <a:effectLst/>
                          <a:latin typeface="Calibri" panose="020F0502020204030204" pitchFamily="34" charset="0"/>
                        </a:rPr>
                        <a:t>HOSPITAL SAN JUAN DE DIOS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84,4%</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3</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dirty="0">
                          <a:solidFill>
                            <a:schemeClr val="tx2"/>
                          </a:solidFill>
                          <a:effectLst/>
                          <a:latin typeface="Calibri" panose="020F0502020204030204" pitchFamily="34" charset="0"/>
                        </a:rPr>
                        <a:t>92,8%</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81,9%</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15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87,6%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l" fontAlgn="ctr">
                        <a:buNone/>
                      </a:pPr>
                      <a:r>
                        <a:rPr lang="es-CL" sz="700" b="0" i="0" u="none" strike="noStrike">
                          <a:solidFill>
                            <a:schemeClr val="tx2"/>
                          </a:solidFill>
                          <a:effectLst/>
                          <a:latin typeface="Calibri" panose="020F0502020204030204" pitchFamily="34" charset="0"/>
                        </a:rPr>
                        <a:t>15,2</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8,4</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Levantamiento técnico completo y propuesta de cobertura institucional.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algn="l" fontAlgn="ctr">
                        <a:buNone/>
                      </a:pPr>
                      <a:r>
                        <a:rPr lang="es-CL" sz="700" b="0" i="0" u="none" strike="noStrike">
                          <a:solidFill>
                            <a:schemeClr val="tx2"/>
                          </a:solidFill>
                          <a:effectLst/>
                          <a:latin typeface="Calibri" panose="020F0502020204030204" pitchFamily="34" charset="0"/>
                        </a:rPr>
                        <a:t>nov-26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l" fontAlgn="ctr">
                        <a:buNone/>
                      </a:pPr>
                      <a:r>
                        <a:rPr lang="es-CL" sz="700" b="0" i="0" u="none" strike="noStrike">
                          <a:solidFill>
                            <a:schemeClr val="tx2"/>
                          </a:solidFill>
                          <a:effectLst/>
                          <a:latin typeface="Calibri" panose="020F0502020204030204" pitchFamily="34" charset="0"/>
                        </a:rPr>
                        <a:t>Cristian Pérez</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extLst>
                  <a:ext uri="{0D108BD9-81ED-4DB2-BD59-A6C34878D82A}">
                    <a16:rowId xmlns:a16="http://schemas.microsoft.com/office/drawing/2014/main" val="1615666440"/>
                  </a:ext>
                </a:extLst>
              </a:tr>
              <a:tr h="312961">
                <a:tc>
                  <a:txBody>
                    <a:bodyPr/>
                    <a:lstStyle/>
                    <a:p>
                      <a:pPr algn="r" fontAlgn="ctr">
                        <a:buNone/>
                      </a:pPr>
                      <a:r>
                        <a:rPr lang="es-CL" sz="700" b="0" i="0" u="none" strike="noStrike">
                          <a:solidFill>
                            <a:schemeClr val="tx2"/>
                          </a:solidFill>
                          <a:effectLst/>
                          <a:latin typeface="Calibri" panose="020F0502020204030204" pitchFamily="34" charset="0"/>
                        </a:rPr>
                        <a:t>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JUNAEB ESCUELA NUEVA ZELANDIA</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17</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130,1%</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2</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57,6%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19</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122,8%</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14,5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8,0</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Programa preventivo anual, capacitación a usuarios y seguimiento para futuras renovaciones.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algn="l" fontAlgn="ctr">
                        <a:buNone/>
                      </a:pPr>
                      <a:r>
                        <a:rPr lang="es-CL" sz="700" b="0" i="0" u="none" strike="noStrike">
                          <a:solidFill>
                            <a:schemeClr val="tx2"/>
                          </a:solidFill>
                          <a:effectLst/>
                          <a:latin typeface="Calibri" panose="020F0502020204030204" pitchFamily="34" charset="0"/>
                        </a:rPr>
                        <a:t>oct-26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Cristian Pérez</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extLst>
                  <a:ext uri="{0D108BD9-81ED-4DB2-BD59-A6C34878D82A}">
                    <a16:rowId xmlns:a16="http://schemas.microsoft.com/office/drawing/2014/main" val="2449342517"/>
                  </a:ext>
                </a:extLst>
              </a:tr>
              <a:tr h="312961">
                <a:tc>
                  <a:txBody>
                    <a:bodyPr/>
                    <a:lstStyle/>
                    <a:p>
                      <a:pPr algn="r" fontAlgn="ctr">
                        <a:buNone/>
                      </a:pPr>
                      <a:r>
                        <a:rPr lang="es-CL" sz="700" b="0" i="0" u="none" strike="noStrike">
                          <a:solidFill>
                            <a:schemeClr val="tx2"/>
                          </a:solidFill>
                          <a:effectLst/>
                          <a:latin typeface="Calibri" panose="020F0502020204030204" pitchFamily="34" charset="0"/>
                        </a:rPr>
                        <a:t>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l" fontAlgn="ctr">
                        <a:buNone/>
                      </a:pPr>
                      <a:r>
                        <a:rPr lang="es-CL" sz="700" b="0" i="0" u="none" strike="noStrike">
                          <a:solidFill>
                            <a:schemeClr val="tx2"/>
                          </a:solidFill>
                          <a:effectLst/>
                          <a:latin typeface="Calibri" panose="020F0502020204030204" pitchFamily="34" charset="0"/>
                        </a:rPr>
                        <a:t>CESFAM STEGGER</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71,7%</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ctr">
                        <a:buNone/>
                      </a:pPr>
                      <a:r>
                        <a:rPr lang="es-CL" sz="700" b="0" i="0" u="none" strike="noStrike">
                          <a:solidFill>
                            <a:schemeClr val="tx2"/>
                          </a:solidFill>
                          <a:effectLst/>
                          <a:latin typeface="Calibri" panose="020F0502020204030204" pitchFamily="34" charset="0"/>
                        </a:rPr>
                        <a:t>71,7%</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l" fontAlgn="ctr">
                        <a:buNone/>
                      </a:pPr>
                      <a:r>
                        <a:rPr lang="es-CL" sz="700" b="0" i="0" u="none" strike="noStrike">
                          <a:solidFill>
                            <a:schemeClr val="tx2"/>
                          </a:solidFill>
                          <a:effectLst/>
                          <a:latin typeface="Calibri" panose="020F0502020204030204" pitchFamily="34" charset="0"/>
                        </a:rPr>
                        <a:t>12,3</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6,8</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Integrar a rutas programadas de mantenimiento y oferta preventiva anual.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algn="l" fontAlgn="ctr">
                        <a:buNone/>
                      </a:pPr>
                      <a:r>
                        <a:rPr lang="es-CL" sz="700" b="0" i="0" u="none" strike="noStrike">
                          <a:solidFill>
                            <a:schemeClr val="tx2"/>
                          </a:solidFill>
                          <a:effectLst/>
                          <a:latin typeface="Calibri" panose="020F0502020204030204" pitchFamily="34" charset="0"/>
                        </a:rPr>
                        <a:t>nov-26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l" fontAlgn="ctr">
                        <a:buNone/>
                      </a:pPr>
                      <a:r>
                        <a:rPr lang="es-CL" sz="700" b="0" i="0" u="none" strike="noStrike">
                          <a:solidFill>
                            <a:schemeClr val="tx2"/>
                          </a:solidFill>
                          <a:effectLst/>
                          <a:latin typeface="Calibri" panose="020F0502020204030204" pitchFamily="34" charset="0"/>
                        </a:rPr>
                        <a:t>Eglys Ramirez</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extLst>
                  <a:ext uri="{0D108BD9-81ED-4DB2-BD59-A6C34878D82A}">
                    <a16:rowId xmlns:a16="http://schemas.microsoft.com/office/drawing/2014/main" val="2330811395"/>
                  </a:ext>
                </a:extLst>
              </a:tr>
              <a:tr h="312961">
                <a:tc>
                  <a:txBody>
                    <a:bodyPr/>
                    <a:lstStyle/>
                    <a:p>
                      <a:pPr algn="r" fontAlgn="ctr">
                        <a:buNone/>
                      </a:pPr>
                      <a:r>
                        <a:rPr lang="es-CL" sz="700" b="0" i="0" u="none" strike="noStrike">
                          <a:solidFill>
                            <a:schemeClr val="tx2"/>
                          </a:solidFill>
                          <a:effectLst/>
                          <a:latin typeface="Calibri" panose="020F0502020204030204" pitchFamily="34" charset="0"/>
                        </a:rPr>
                        <a:t>7</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MUTUAL DE SEGURIDAD SANTIAGO</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59,4%</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ctr">
                        <a:buNone/>
                      </a:pPr>
                      <a:r>
                        <a:rPr lang="es-CL" sz="700" b="0" i="0" u="none" strike="noStrike">
                          <a:solidFill>
                            <a:schemeClr val="tx2"/>
                          </a:solidFill>
                          <a:effectLst/>
                          <a:latin typeface="Calibri" panose="020F0502020204030204" pitchFamily="34" charset="0"/>
                        </a:rPr>
                        <a:t>59,4%</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10,2</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5,6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ctr">
                        <a:buNone/>
                      </a:pPr>
                      <a:r>
                        <a:rPr lang="es-CL" sz="700" b="0" i="0" u="none" strike="noStrike">
                          <a:solidFill>
                            <a:schemeClr val="tx2"/>
                          </a:solidFill>
                          <a:effectLst/>
                          <a:latin typeface="Calibri" panose="020F0502020204030204" pitchFamily="34" charset="0"/>
                        </a:rPr>
                        <a:t>Programa de disponibilidad operacional y mantenimiento preventivo periódico.</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tc>
                  <a:txBody>
                    <a:bodyPr/>
                    <a:lstStyle/>
                    <a:p>
                      <a:pPr algn="l" fontAlgn="ctr">
                        <a:buNone/>
                      </a:pPr>
                      <a:r>
                        <a:rPr lang="es-CL" sz="700" b="0" i="0" u="none" strike="noStrike">
                          <a:solidFill>
                            <a:schemeClr val="tx2"/>
                          </a:solidFill>
                          <a:effectLst/>
                          <a:latin typeface="Calibri" panose="020F0502020204030204" pitchFamily="34" charset="0"/>
                        </a:rPr>
                        <a:t>nov-26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l" fontAlgn="ctr">
                        <a:buNone/>
                      </a:pPr>
                      <a:r>
                        <a:rPr lang="es-CL" sz="700" b="0" i="0" u="none" strike="noStrike">
                          <a:solidFill>
                            <a:schemeClr val="tx2"/>
                          </a:solidFill>
                          <a:effectLst/>
                          <a:latin typeface="Calibri" panose="020F0502020204030204" pitchFamily="34" charset="0"/>
                        </a:rPr>
                        <a:t>Eglys Ramirez</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extLst>
                  <a:ext uri="{0D108BD9-81ED-4DB2-BD59-A6C34878D82A}">
                    <a16:rowId xmlns:a16="http://schemas.microsoft.com/office/drawing/2014/main" val="2986392698"/>
                  </a:ext>
                </a:extLst>
              </a:tr>
              <a:tr h="625923">
                <a:tc>
                  <a:txBody>
                    <a:bodyPr/>
                    <a:lstStyle/>
                    <a:p>
                      <a:pPr algn="r" fontAlgn="ctr">
                        <a:buNone/>
                      </a:pPr>
                      <a:r>
                        <a:rPr lang="es-CL" sz="700" b="0" i="0" u="none" strike="noStrike" dirty="0">
                          <a:solidFill>
                            <a:schemeClr val="tx2"/>
                          </a:solidFill>
                          <a:effectLst/>
                          <a:latin typeface="Calibri" panose="020F0502020204030204" pitchFamily="34" charset="0"/>
                        </a:rPr>
                        <a:t>8</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dirty="0">
                          <a:solidFill>
                            <a:schemeClr val="tx2"/>
                          </a:solidFill>
                          <a:effectLst/>
                          <a:latin typeface="Calibri" panose="020F0502020204030204" pitchFamily="34" charset="0"/>
                        </a:rPr>
                        <a:t>CLINICA HOGAR BUENA SALUD S.P.A</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dirty="0">
                          <a:solidFill>
                            <a:schemeClr val="tx2"/>
                          </a:solidFill>
                          <a:effectLst/>
                          <a:latin typeface="Calibri" panose="020F0502020204030204" pitchFamily="34" charset="0"/>
                        </a:rPr>
                        <a:t>1</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54,2%</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4</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47,3%</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66,9%</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8,8</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4,8</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Recuperación de activos sin cobertura.</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Contrato preventivo anual.</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Presentación de indicadores de disponibilidad.</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Identificación de oportunidades de renovación.</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nov-26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Eglys Ramirez</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300607826"/>
                  </a:ext>
                </a:extLst>
              </a:tr>
              <a:tr h="625923">
                <a:tc>
                  <a:txBody>
                    <a:bodyPr/>
                    <a:lstStyle/>
                    <a:p>
                      <a:pPr algn="r" fontAlgn="ctr">
                        <a:buNone/>
                      </a:pPr>
                      <a:r>
                        <a:rPr lang="es-CL" sz="700" b="0" i="0" u="none" strike="noStrike">
                          <a:solidFill>
                            <a:schemeClr val="tx2"/>
                          </a:solidFill>
                          <a:effectLst/>
                          <a:latin typeface="Calibri" panose="020F0502020204030204" pitchFamily="34" charset="0"/>
                        </a:rPr>
                        <a:t>9</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EJERCITO DE CHILE CENTRAL ODONTOLOGICA D</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1</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59,4%</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4</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42,7%</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dirty="0">
                          <a:solidFill>
                            <a:schemeClr val="tx2"/>
                          </a:solidFill>
                          <a:effectLst/>
                          <a:latin typeface="Calibri" panose="020F0502020204030204" pitchFamily="34" charset="0"/>
                        </a:rPr>
                        <a:t>46,0%</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8,8</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4,8</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Convenio institucional.</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Programa preventivo para equipamiento odontológico.</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Evaluación de renovación tecnológica.</a:t>
                      </a:r>
                      <a:br>
                        <a:rPr lang="es-CL" sz="700" b="0" i="0" u="none" strike="noStrike">
                          <a:solidFill>
                            <a:schemeClr val="tx2"/>
                          </a:solidFill>
                          <a:effectLst/>
                          <a:latin typeface="Calibri" panose="020F0502020204030204" pitchFamily="34" charset="0"/>
                        </a:rPr>
                      </a:br>
                      <a:r>
                        <a:rPr lang="es-CL" sz="700" b="0" i="0" u="none" strike="noStrike">
                          <a:solidFill>
                            <a:schemeClr val="tx2"/>
                          </a:solidFill>
                          <a:effectLst/>
                          <a:latin typeface="Calibri" panose="020F0502020204030204" pitchFamily="34" charset="0"/>
                        </a:rPr>
                        <a:t>Definición de equipamiento crítico.</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nov-26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Cristian Pérez</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869566782"/>
                  </a:ext>
                </a:extLst>
              </a:tr>
              <a:tr h="625923">
                <a:tc>
                  <a:txBody>
                    <a:bodyPr/>
                    <a:lstStyle/>
                    <a:p>
                      <a:pPr algn="r" fontAlgn="ctr">
                        <a:buNone/>
                      </a:pPr>
                      <a:r>
                        <a:rPr lang="es-CL" sz="700" b="0" i="0" u="none" strike="noStrike">
                          <a:solidFill>
                            <a:schemeClr val="tx2"/>
                          </a:solidFill>
                          <a:effectLst/>
                          <a:latin typeface="Calibri" panose="020F0502020204030204" pitchFamily="34" charset="0"/>
                        </a:rPr>
                        <a:t>10</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a:solidFill>
                            <a:schemeClr val="tx2"/>
                          </a:solidFill>
                          <a:effectLst/>
                          <a:latin typeface="Calibri" panose="020F0502020204030204" pitchFamily="34" charset="0"/>
                        </a:rPr>
                        <a:t>NORDEN</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7</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2</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70,3%</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9</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700" b="0" i="0" u="none" strike="noStrike">
                          <a:solidFill>
                            <a:schemeClr val="tx2"/>
                          </a:solidFill>
                          <a:effectLst/>
                          <a:latin typeface="Calibri" panose="020F0502020204030204" pitchFamily="34" charset="0"/>
                        </a:rPr>
                        <a:t>70,3%</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dirty="0">
                          <a:solidFill>
                            <a:schemeClr val="tx2"/>
                          </a:solidFill>
                          <a:effectLst/>
                          <a:latin typeface="Calibri" panose="020F0502020204030204" pitchFamily="34" charset="0"/>
                        </a:rPr>
                        <a:t>8,4</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dirty="0">
                          <a:solidFill>
                            <a:schemeClr val="tx2"/>
                          </a:solidFill>
                          <a:effectLst/>
                          <a:latin typeface="Calibri" panose="020F0502020204030204" pitchFamily="34" charset="0"/>
                        </a:rPr>
                        <a:t>4,6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dirty="0">
                          <a:solidFill>
                            <a:schemeClr val="tx2"/>
                          </a:solidFill>
                          <a:effectLst/>
                          <a:latin typeface="Calibri" panose="020F0502020204030204" pitchFamily="34" charset="0"/>
                        </a:rPr>
                        <a:t>Auditoría técnica.</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Programa preventivo anual.</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Contrato de mantenimiento </a:t>
                      </a:r>
                      <a:r>
                        <a:rPr lang="es-CL" sz="700" b="0" i="0" u="none" strike="noStrike" dirty="0" err="1">
                          <a:solidFill>
                            <a:schemeClr val="tx2"/>
                          </a:solidFill>
                          <a:effectLst/>
                          <a:latin typeface="Calibri" panose="020F0502020204030204" pitchFamily="34" charset="0"/>
                        </a:rPr>
                        <a:t>multiequipamiento</a:t>
                      </a:r>
                      <a:r>
                        <a:rPr lang="es-CL" sz="700" b="0" i="0" u="none" strike="noStrike" dirty="0">
                          <a:solidFill>
                            <a:schemeClr val="tx2"/>
                          </a:solidFill>
                          <a:effectLst/>
                          <a:latin typeface="Calibri" panose="020F0502020204030204" pitchFamily="34" charset="0"/>
                        </a:rPr>
                        <a:t>.</a:t>
                      </a:r>
                      <a:br>
                        <a:rPr lang="es-CL" sz="700" b="0" i="0" u="none" strike="noStrike" dirty="0">
                          <a:solidFill>
                            <a:schemeClr val="tx2"/>
                          </a:solidFill>
                          <a:effectLst/>
                          <a:latin typeface="Calibri" panose="020F0502020204030204" pitchFamily="34" charset="0"/>
                        </a:rPr>
                      </a:br>
                      <a:r>
                        <a:rPr lang="es-CL" sz="700" b="0" i="0" u="none" strike="noStrike" dirty="0">
                          <a:solidFill>
                            <a:schemeClr val="tx2"/>
                          </a:solidFill>
                          <a:effectLst/>
                          <a:latin typeface="Calibri" panose="020F0502020204030204" pitchFamily="34" charset="0"/>
                        </a:rPr>
                        <a:t>Seguimiento comercial trimestral.</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dirty="0">
                          <a:solidFill>
                            <a:schemeClr val="tx2"/>
                          </a:solidFill>
                          <a:effectLst/>
                          <a:latin typeface="Calibri" panose="020F0502020204030204" pitchFamily="34" charset="0"/>
                        </a:rPr>
                        <a:t>nov-26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700" b="0" i="0" u="none" strike="noStrike" dirty="0">
                          <a:solidFill>
                            <a:schemeClr val="tx2"/>
                          </a:solidFill>
                          <a:effectLst/>
                          <a:latin typeface="Calibri" panose="020F0502020204030204" pitchFamily="34" charset="0"/>
                        </a:rPr>
                        <a:t>Cristian Pérez</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622771573"/>
                  </a:ext>
                </a:extLst>
              </a:tr>
              <a:tr h="195601">
                <a:tc>
                  <a:txBody>
                    <a:bodyPr/>
                    <a:lstStyle/>
                    <a:p>
                      <a:pPr algn="l" fontAlgn="ctr">
                        <a:buNone/>
                      </a:pPr>
                      <a:r>
                        <a:rPr lang="es-CL" sz="700" b="1" i="0" u="none" strike="noStrike">
                          <a:solidFill>
                            <a:schemeClr val="tx2"/>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700" b="1" i="0" u="none" strike="noStrike" dirty="0">
                          <a:solidFill>
                            <a:schemeClr val="tx1"/>
                          </a:solidFill>
                          <a:effectLst/>
                          <a:latin typeface="Calibri" panose="020F0502020204030204" pitchFamily="34" charset="0"/>
                        </a:rPr>
                        <a:t>TOTAL · 10 clientes</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700" b="1" i="0" u="none" strike="noStrike">
                          <a:solidFill>
                            <a:schemeClr val="tx1"/>
                          </a:solidFill>
                          <a:effectLst/>
                          <a:latin typeface="Calibri" panose="020F0502020204030204" pitchFamily="34" charset="0"/>
                        </a:rPr>
                        <a:t>109</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700" b="1" i="0" u="none" strike="noStrike">
                          <a:solidFill>
                            <a:schemeClr val="tx1"/>
                          </a:solidFill>
                          <a:effectLst/>
                          <a:latin typeface="Calibri" panose="020F0502020204030204" pitchFamily="34" charset="0"/>
                        </a:rPr>
                        <a:t>140,6%</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700" b="1" i="0" u="none" strike="noStrike">
                          <a:solidFill>
                            <a:schemeClr val="tx1"/>
                          </a:solidFill>
                          <a:effectLst/>
                          <a:latin typeface="Calibri" panose="020F0502020204030204" pitchFamily="34" charset="0"/>
                        </a:rPr>
                        <a:t>85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700" b="1" i="0" u="none" strike="noStrike" dirty="0">
                          <a:solidFill>
                            <a:schemeClr val="tx1"/>
                          </a:solidFill>
                          <a:effectLst/>
                          <a:latin typeface="Calibri" panose="020F0502020204030204" pitchFamily="34" charset="0"/>
                        </a:rPr>
                        <a:t>63,8%</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700" b="1" i="0" u="none" strike="noStrike">
                          <a:solidFill>
                            <a:schemeClr val="tx1"/>
                          </a:solidFill>
                          <a:effectLst/>
                          <a:latin typeface="Calibri" panose="020F0502020204030204" pitchFamily="34" charset="0"/>
                        </a:rPr>
                        <a:t>21</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700" b="1" i="0" u="none" strike="noStrike">
                          <a:solidFill>
                            <a:schemeClr val="tx1"/>
                          </a:solidFill>
                          <a:effectLst/>
                          <a:latin typeface="Calibri" panose="020F0502020204030204" pitchFamily="34" charset="0"/>
                        </a:rPr>
                        <a:t>55,1%</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700" b="1" i="0" u="none" strike="noStrike">
                          <a:solidFill>
                            <a:schemeClr val="tx1"/>
                          </a:solidFill>
                          <a:effectLst/>
                          <a:latin typeface="Calibri" panose="020F0502020204030204" pitchFamily="34" charset="0"/>
                        </a:rPr>
                        <a:t>215</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700" b="1" i="0" u="none" strike="noStrike">
                          <a:solidFill>
                            <a:schemeClr val="tx1"/>
                          </a:solidFill>
                          <a:effectLst/>
                          <a:latin typeface="Calibri" panose="020F0502020204030204" pitchFamily="34" charset="0"/>
                        </a:rPr>
                        <a:t>99,0%</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700" b="1" i="0" u="none" strike="noStrike" dirty="0">
                          <a:solidFill>
                            <a:schemeClr val="tx1"/>
                          </a:solidFill>
                          <a:effectLst/>
                          <a:latin typeface="Calibri" panose="020F0502020204030204" pitchFamily="34" charset="0"/>
                        </a:rPr>
                        <a:t>259,3</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700" b="1" i="0" u="none" strike="noStrike" dirty="0">
                          <a:solidFill>
                            <a:schemeClr val="tx1"/>
                          </a:solidFill>
                          <a:effectLst/>
                          <a:latin typeface="Calibri" panose="020F0502020204030204" pitchFamily="34" charset="0"/>
                        </a:rPr>
                        <a:t>142,7</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700" b="1" i="0" u="none" strike="noStrike" dirty="0">
                          <a:solidFill>
                            <a:schemeClr val="tx1"/>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700" b="1" i="0" u="none" strike="noStrike" dirty="0">
                          <a:solidFill>
                            <a:schemeClr val="tx1"/>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700" b="1" i="0" u="none" strike="noStrike" dirty="0">
                          <a:solidFill>
                            <a:schemeClr val="tx1"/>
                          </a:solidFill>
                          <a:effectLst/>
                          <a:latin typeface="Calibri" panose="020F0502020204030204" pitchFamily="34" charset="0"/>
                        </a:rPr>
                        <a:t> </a:t>
                      </a:r>
                    </a:p>
                  </a:txBody>
                  <a:tcPr marL="5641" marR="5641" marT="5641"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1965744780"/>
                  </a:ext>
                </a:extLst>
              </a:tr>
            </a:tbl>
          </a:graphicData>
        </a:graphic>
      </p:graphicFrame>
    </p:spTree>
    <p:extLst>
      <p:ext uri="{BB962C8B-B14F-4D97-AF65-F5344CB8AC3E}">
        <p14:creationId xmlns:p14="http://schemas.microsoft.com/office/powerpoint/2010/main" val="11685134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A0FA3B12-D3B0-0E67-7B74-D927E94B1CE6}"/>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841F8691-2902-0E97-3C81-04E8DB35AF2A}"/>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Metropolitana Grupo 3 – Clientes</a:t>
            </a:r>
            <a:endParaRPr dirty="0"/>
          </a:p>
        </p:txBody>
      </p:sp>
      <p:sp>
        <p:nvSpPr>
          <p:cNvPr id="5" name="Triángulo isósceles 4">
            <a:extLst>
              <a:ext uri="{FF2B5EF4-FFF2-40B4-BE49-F238E27FC236}">
                <a16:creationId xmlns:a16="http://schemas.microsoft.com/office/drawing/2014/main" id="{EC92A9E8-4D6E-897E-8D3B-C60E0953A110}"/>
              </a:ext>
            </a:extLst>
          </p:cNvPr>
          <p:cNvSpPr/>
          <p:nvPr/>
        </p:nvSpPr>
        <p:spPr>
          <a:xfrm rot="5400000">
            <a:off x="4580695" y="2667426"/>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9" name="Rectángulo 8">
            <a:extLst>
              <a:ext uri="{FF2B5EF4-FFF2-40B4-BE49-F238E27FC236}">
                <a16:creationId xmlns:a16="http://schemas.microsoft.com/office/drawing/2014/main" id="{D3D42CFE-C5F6-9D86-9359-E8347E2F235B}"/>
              </a:ext>
            </a:extLst>
          </p:cNvPr>
          <p:cNvSpPr/>
          <p:nvPr/>
        </p:nvSpPr>
        <p:spPr>
          <a:xfrm>
            <a:off x="291000" y="4999383"/>
            <a:ext cx="11698084" cy="8683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En 12 semanas la cartera es cubierta con un promedio de 3 visitas por cliente</a:t>
            </a:r>
          </a:p>
          <a:p>
            <a:pPr marL="171450" lvl="1" indent="-171450">
              <a:buFont typeface="Arial" panose="020B0604020202020204" pitchFamily="34" charset="0"/>
              <a:buChar char="•"/>
            </a:pPr>
            <a:r>
              <a:rPr lang="es-MX" sz="900" dirty="0">
                <a:solidFill>
                  <a:schemeClr val="tx2"/>
                </a:solidFill>
              </a:rPr>
              <a:t>En total son 245 clientes del grupo 3 a visitar, mas 15 del Grupo 2 </a:t>
            </a:r>
          </a:p>
          <a:p>
            <a:pPr marL="171450" lvl="1" indent="-171450">
              <a:buFont typeface="Arial" panose="020B0604020202020204" pitchFamily="34" charset="0"/>
              <a:buChar char="•"/>
            </a:pPr>
            <a:r>
              <a:rPr lang="es-MX" sz="900" b="1" dirty="0">
                <a:solidFill>
                  <a:schemeClr val="tx2"/>
                </a:solidFill>
              </a:rPr>
              <a:t>Esto supone una estructura con 2 KAM, es un numero ESTIMATIVO</a:t>
            </a:r>
            <a:endParaRPr lang="es-CL" sz="1600" b="1" dirty="0">
              <a:solidFill>
                <a:schemeClr val="tx1"/>
              </a:solidFill>
            </a:endParaRPr>
          </a:p>
        </p:txBody>
      </p:sp>
      <p:sp>
        <p:nvSpPr>
          <p:cNvPr id="13" name="Triángulo isósceles 12">
            <a:extLst>
              <a:ext uri="{FF2B5EF4-FFF2-40B4-BE49-F238E27FC236}">
                <a16:creationId xmlns:a16="http://schemas.microsoft.com/office/drawing/2014/main" id="{919A5566-B124-4E1D-0D94-8F31B8B0D57C}"/>
              </a:ext>
            </a:extLst>
          </p:cNvPr>
          <p:cNvSpPr/>
          <p:nvPr/>
        </p:nvSpPr>
        <p:spPr>
          <a:xfrm rot="5400000">
            <a:off x="8176305" y="3365871"/>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pic>
        <p:nvPicPr>
          <p:cNvPr id="3" name="Imagen 2">
            <a:extLst>
              <a:ext uri="{FF2B5EF4-FFF2-40B4-BE49-F238E27FC236}">
                <a16:creationId xmlns:a16="http://schemas.microsoft.com/office/drawing/2014/main" id="{984A78D9-B327-7EFC-D820-3077111D7C34}"/>
              </a:ext>
            </a:extLst>
          </p:cNvPr>
          <p:cNvPicPr>
            <a:picLocks noChangeAspect="1"/>
          </p:cNvPicPr>
          <p:nvPr/>
        </p:nvPicPr>
        <p:blipFill>
          <a:blip r:embed="rId3"/>
          <a:stretch>
            <a:fillRect/>
          </a:stretch>
        </p:blipFill>
        <p:spPr>
          <a:xfrm>
            <a:off x="837045" y="1222097"/>
            <a:ext cx="4219560" cy="3157609"/>
          </a:xfrm>
          <a:prstGeom prst="rect">
            <a:avLst/>
          </a:prstGeom>
        </p:spPr>
      </p:pic>
      <p:pic>
        <p:nvPicPr>
          <p:cNvPr id="8" name="Imagen 7">
            <a:extLst>
              <a:ext uri="{FF2B5EF4-FFF2-40B4-BE49-F238E27FC236}">
                <a16:creationId xmlns:a16="http://schemas.microsoft.com/office/drawing/2014/main" id="{480F9C6F-D08E-0ADA-435B-43985E0C7F0D}"/>
              </a:ext>
            </a:extLst>
          </p:cNvPr>
          <p:cNvPicPr>
            <a:picLocks noChangeAspect="1"/>
          </p:cNvPicPr>
          <p:nvPr/>
        </p:nvPicPr>
        <p:blipFill>
          <a:blip r:embed="rId4"/>
          <a:stretch>
            <a:fillRect/>
          </a:stretch>
        </p:blipFill>
        <p:spPr>
          <a:xfrm>
            <a:off x="5958995" y="867807"/>
            <a:ext cx="5132005" cy="3866187"/>
          </a:xfrm>
          <a:prstGeom prst="rect">
            <a:avLst/>
          </a:prstGeom>
        </p:spPr>
      </p:pic>
    </p:spTree>
    <p:extLst>
      <p:ext uri="{BB962C8B-B14F-4D97-AF65-F5344CB8AC3E}">
        <p14:creationId xmlns:p14="http://schemas.microsoft.com/office/powerpoint/2010/main" val="40122714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147EADE2-985E-4AC8-B582-B8DB7D5D212F}"/>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2D4D1D49-4F99-7EDB-A492-3A079D31D587}"/>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Plan RM y Valparaíso</a:t>
            </a:r>
            <a:endParaRPr dirty="0"/>
          </a:p>
        </p:txBody>
      </p:sp>
      <p:pic>
        <p:nvPicPr>
          <p:cNvPr id="3" name="Imagen 2">
            <a:extLst>
              <a:ext uri="{FF2B5EF4-FFF2-40B4-BE49-F238E27FC236}">
                <a16:creationId xmlns:a16="http://schemas.microsoft.com/office/drawing/2014/main" id="{6BB2EDBE-760D-AD9B-4B50-454A85732FBE}"/>
              </a:ext>
            </a:extLst>
          </p:cNvPr>
          <p:cNvPicPr>
            <a:picLocks noChangeAspect="1"/>
          </p:cNvPicPr>
          <p:nvPr/>
        </p:nvPicPr>
        <p:blipFill>
          <a:blip r:embed="rId3"/>
          <a:stretch>
            <a:fillRect/>
          </a:stretch>
        </p:blipFill>
        <p:spPr>
          <a:xfrm>
            <a:off x="12700" y="864000"/>
            <a:ext cx="12192000" cy="4343760"/>
          </a:xfrm>
          <a:prstGeom prst="rect">
            <a:avLst/>
          </a:prstGeom>
        </p:spPr>
      </p:pic>
      <p:sp>
        <p:nvSpPr>
          <p:cNvPr id="6" name="Rectángulo 5">
            <a:extLst>
              <a:ext uri="{FF2B5EF4-FFF2-40B4-BE49-F238E27FC236}">
                <a16:creationId xmlns:a16="http://schemas.microsoft.com/office/drawing/2014/main" id="{E88E63D4-EB03-38CA-2E9A-CD1E8335414D}"/>
              </a:ext>
            </a:extLst>
          </p:cNvPr>
          <p:cNvSpPr/>
          <p:nvPr/>
        </p:nvSpPr>
        <p:spPr>
          <a:xfrm>
            <a:off x="246958" y="5319000"/>
            <a:ext cx="11698084" cy="8683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334 visitas en 3 meses</a:t>
            </a:r>
          </a:p>
          <a:p>
            <a:pPr marL="171450" lvl="1" indent="-171450">
              <a:buFont typeface="Arial" panose="020B0604020202020204" pitchFamily="34" charset="0"/>
              <a:buChar char="•"/>
            </a:pPr>
            <a:r>
              <a:rPr lang="es-MX" sz="900" b="1" dirty="0">
                <a:solidFill>
                  <a:schemeClr val="tx2"/>
                </a:solidFill>
              </a:rPr>
              <a:t>Grupo 1 y 2 con apoyo de Alexis Flores</a:t>
            </a:r>
            <a:endParaRPr lang="es-CL" sz="1600" b="1" dirty="0">
              <a:solidFill>
                <a:schemeClr val="tx1"/>
              </a:solidFill>
            </a:endParaRPr>
          </a:p>
        </p:txBody>
      </p:sp>
    </p:spTree>
    <p:extLst>
      <p:ext uri="{BB962C8B-B14F-4D97-AF65-F5344CB8AC3E}">
        <p14:creationId xmlns:p14="http://schemas.microsoft.com/office/powerpoint/2010/main" val="250470468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93678" y="184106"/>
            <a:ext cx="11874501" cy="444434"/>
          </a:xfrm>
          <a:prstGeom prst="rect">
            <a:avLst/>
          </a:prstGeom>
          <a:noFill/>
          <a:ln/>
        </p:spPr>
        <p:txBody>
          <a:bodyPr wrap="square" lIns="16933" tIns="16933" rIns="16933" bIns="16933" rtlCol="0" anchor="ctr">
            <a:normAutofit lnSpcReduction="10000"/>
          </a:bodyPr>
          <a:lstStyle/>
          <a:p>
            <a:pPr defTabSz="609630">
              <a:buClrTx/>
            </a:pPr>
            <a:r>
              <a:rPr lang="en-US" sz="2700" b="1" kern="1200" dirty="0">
                <a:solidFill>
                  <a:srgbClr val="33448D"/>
                </a:solidFill>
                <a:latin typeface="Arial" pitchFamily="34" charset="0"/>
                <a:ea typeface="Arial" pitchFamily="34" charset="-122"/>
                <a:cs typeface="Arial" pitchFamily="34" charset="-120"/>
              </a:rPr>
              <a:t>Agenda de ejecutivos · </a:t>
            </a:r>
            <a:r>
              <a:rPr lang="en-US" sz="2700" b="1" kern="1200" dirty="0" err="1">
                <a:solidFill>
                  <a:srgbClr val="33448D"/>
                </a:solidFill>
                <a:latin typeface="Arial" pitchFamily="34" charset="0"/>
                <a:ea typeface="Arial" pitchFamily="34" charset="-122"/>
                <a:cs typeface="Arial" pitchFamily="34" charset="-120"/>
              </a:rPr>
              <a:t>Propuesta</a:t>
            </a:r>
            <a:endParaRPr lang="en-US" sz="2700" kern="1200" dirty="0">
              <a:solidFill>
                <a:prstClr val="black"/>
              </a:solidFill>
              <a:latin typeface="Calibri" panose="020F0502020204030204"/>
              <a:ea typeface="+mn-ea"/>
              <a:cs typeface="+mn-cs"/>
            </a:endParaRPr>
          </a:p>
        </p:txBody>
      </p:sp>
      <p:pic>
        <p:nvPicPr>
          <p:cNvPr id="3" name="Image 0" descr="preencoded.png"/>
          <p:cNvPicPr>
            <a:picLocks noChangeAspect="1"/>
          </p:cNvPicPr>
          <p:nvPr/>
        </p:nvPicPr>
        <p:blipFill>
          <a:blip r:embed="rId3"/>
          <a:stretch>
            <a:fillRect/>
          </a:stretch>
        </p:blipFill>
        <p:spPr>
          <a:xfrm>
            <a:off x="11417213" y="127000"/>
            <a:ext cx="469856" cy="469856"/>
          </a:xfrm>
          <a:prstGeom prst="rect">
            <a:avLst/>
          </a:prstGeom>
        </p:spPr>
      </p:pic>
      <p:sp>
        <p:nvSpPr>
          <p:cNvPr id="4" name="Shape 1"/>
          <p:cNvSpPr/>
          <p:nvPr/>
        </p:nvSpPr>
        <p:spPr>
          <a:xfrm>
            <a:off x="469856" y="1085784"/>
            <a:ext cx="4819606" cy="419034"/>
          </a:xfrm>
          <a:prstGeom prst="rect">
            <a:avLst/>
          </a:prstGeom>
          <a:solidFill>
            <a:srgbClr val="28D2C3"/>
          </a:solidFill>
          <a:ln w="21167">
            <a:solidFill>
              <a:srgbClr val="06201D"/>
            </a:solidFill>
            <a:prstDash val="solid"/>
          </a:ln>
        </p:spPr>
        <p:txBody>
          <a:bodyPr/>
          <a:lstStyle/>
          <a:p>
            <a:endParaRPr lang="es-CL"/>
          </a:p>
        </p:txBody>
      </p:sp>
      <p:sp>
        <p:nvSpPr>
          <p:cNvPr id="5" name="Text 2"/>
          <p:cNvSpPr/>
          <p:nvPr/>
        </p:nvSpPr>
        <p:spPr>
          <a:xfrm>
            <a:off x="411673" y="1099895"/>
            <a:ext cx="4935972" cy="416212"/>
          </a:xfrm>
          <a:prstGeom prst="rect">
            <a:avLst/>
          </a:prstGeom>
          <a:noFill/>
          <a:ln/>
        </p:spPr>
        <p:txBody>
          <a:bodyPr wrap="square" lIns="16933" tIns="16933" rIns="16933" bIns="16933" rtlCol="0" anchor="ctr">
            <a:normAutofit/>
          </a:bodyPr>
          <a:lstStyle/>
          <a:p>
            <a:pPr algn="ctr" defTabSz="609630">
              <a:buClrTx/>
            </a:pPr>
            <a:r>
              <a:rPr lang="en-US" b="1" kern="1200" dirty="0">
                <a:solidFill>
                  <a:srgbClr val="FFFFFF"/>
                </a:solidFill>
                <a:latin typeface="Arial" pitchFamily="34" charset="0"/>
                <a:ea typeface="Arial" pitchFamily="34" charset="-122"/>
                <a:cs typeface="Arial" pitchFamily="34" charset="-120"/>
              </a:rPr>
              <a:t>Eglys Ramírez</a:t>
            </a:r>
            <a:endParaRPr lang="en-US" kern="1200" dirty="0">
              <a:solidFill>
                <a:prstClr val="black"/>
              </a:solidFill>
              <a:latin typeface="Calibri" panose="020F0502020204030204"/>
              <a:ea typeface="+mn-ea"/>
              <a:cs typeface="+mn-cs"/>
            </a:endParaRPr>
          </a:p>
        </p:txBody>
      </p:sp>
      <p:sp>
        <p:nvSpPr>
          <p:cNvPr id="6" name="Shape 3"/>
          <p:cNvSpPr/>
          <p:nvPr/>
        </p:nvSpPr>
        <p:spPr>
          <a:xfrm>
            <a:off x="469856" y="1663678"/>
            <a:ext cx="1257212" cy="1143000"/>
          </a:xfrm>
          <a:prstGeom prst="rect">
            <a:avLst/>
          </a:prstGeom>
          <a:solidFill>
            <a:srgbClr val="28D2C3"/>
          </a:solidFill>
          <a:ln w="21167">
            <a:solidFill>
              <a:srgbClr val="06201D"/>
            </a:solidFill>
            <a:prstDash val="solid"/>
          </a:ln>
        </p:spPr>
        <p:txBody>
          <a:bodyPr/>
          <a:lstStyle/>
          <a:p>
            <a:endParaRPr lang="es-CL"/>
          </a:p>
        </p:txBody>
      </p:sp>
      <p:sp>
        <p:nvSpPr>
          <p:cNvPr id="7" name="Text 4"/>
          <p:cNvSpPr/>
          <p:nvPr/>
        </p:nvSpPr>
        <p:spPr>
          <a:xfrm>
            <a:off x="805392" y="1745258"/>
            <a:ext cx="586140" cy="360539"/>
          </a:xfrm>
          <a:prstGeom prst="rect">
            <a:avLst/>
          </a:prstGeom>
          <a:noFill/>
          <a:ln/>
        </p:spPr>
        <p:txBody>
          <a:bodyPr wrap="none" lIns="16933" tIns="16933" rIns="16933" bIns="16933" rtlCol="0" anchor="t">
            <a:normAutofit/>
          </a:bodyPr>
          <a:lstStyle/>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Grupo 1 Top 10</a:t>
            </a:r>
            <a:endParaRPr lang="en-US" sz="1100" kern="1200" dirty="0">
              <a:solidFill>
                <a:prstClr val="black"/>
              </a:solidFill>
              <a:latin typeface="Calibri" panose="020F0502020204030204"/>
              <a:ea typeface="+mn-ea"/>
              <a:cs typeface="+mn-cs"/>
            </a:endParaRPr>
          </a:p>
        </p:txBody>
      </p:sp>
      <p:sp>
        <p:nvSpPr>
          <p:cNvPr id="8" name="Text 5"/>
          <p:cNvSpPr/>
          <p:nvPr/>
        </p:nvSpPr>
        <p:spPr>
          <a:xfrm>
            <a:off x="995341" y="2118431"/>
            <a:ext cx="206243"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6</a:t>
            </a:r>
            <a:endParaRPr lang="en-US" sz="2200" kern="1200" dirty="0">
              <a:solidFill>
                <a:prstClr val="black"/>
              </a:solidFill>
              <a:latin typeface="Calibri" panose="020F0502020204030204"/>
              <a:ea typeface="+mn-ea"/>
              <a:cs typeface="+mn-cs"/>
            </a:endParaRPr>
          </a:p>
        </p:txBody>
      </p:sp>
      <p:sp>
        <p:nvSpPr>
          <p:cNvPr id="9" name="Text 6"/>
          <p:cNvSpPr/>
          <p:nvPr/>
        </p:nvSpPr>
        <p:spPr>
          <a:xfrm>
            <a:off x="787973" y="2435821"/>
            <a:ext cx="620867" cy="314678"/>
          </a:xfrm>
          <a:prstGeom prst="rect">
            <a:avLst/>
          </a:prstGeom>
          <a:noFill/>
          <a:ln/>
        </p:spPr>
        <p:txBody>
          <a:bodyPr wrap="none" lIns="16933" tIns="16933" rIns="16933" bIns="16933" rtlCol="0" anchor="t">
            <a:normAutofit/>
          </a:bodyPr>
          <a:lstStyle/>
          <a:p>
            <a:pPr algn="ctr" defTabSz="609630">
              <a:lnSpc>
                <a:spcPct val="102600"/>
              </a:lnSpc>
              <a:buClrTx/>
            </a:pPr>
            <a:r>
              <a:rPr lang="en-US" sz="950" kern="1200" dirty="0">
                <a:solidFill>
                  <a:srgbClr val="FFFFFF"/>
                </a:solidFill>
                <a:latin typeface="Arial" pitchFamily="34" charset="0"/>
                <a:ea typeface="Arial" pitchFamily="34" charset="-122"/>
                <a:cs typeface="Arial" pitchFamily="34" charset="-120"/>
              </a:rPr>
              <a:t>visitas MM$199,1</a:t>
            </a:r>
            <a:endParaRPr lang="en-US" sz="950" kern="1200" dirty="0">
              <a:solidFill>
                <a:prstClr val="black"/>
              </a:solidFill>
              <a:latin typeface="Calibri" panose="020F0502020204030204"/>
              <a:ea typeface="+mn-ea"/>
              <a:cs typeface="+mn-cs"/>
            </a:endParaRPr>
          </a:p>
        </p:txBody>
      </p:sp>
      <p:sp>
        <p:nvSpPr>
          <p:cNvPr id="10" name="Shape 7"/>
          <p:cNvSpPr/>
          <p:nvPr/>
        </p:nvSpPr>
        <p:spPr>
          <a:xfrm>
            <a:off x="1885928" y="1663678"/>
            <a:ext cx="1257212" cy="1143000"/>
          </a:xfrm>
          <a:prstGeom prst="rect">
            <a:avLst/>
          </a:prstGeom>
          <a:solidFill>
            <a:srgbClr val="373C46"/>
          </a:solidFill>
          <a:ln w="21167">
            <a:solidFill>
              <a:srgbClr val="06201D"/>
            </a:solidFill>
            <a:prstDash val="solid"/>
          </a:ln>
        </p:spPr>
        <p:txBody>
          <a:bodyPr/>
          <a:lstStyle/>
          <a:p>
            <a:endParaRPr lang="es-CL"/>
          </a:p>
        </p:txBody>
      </p:sp>
      <p:sp>
        <p:nvSpPr>
          <p:cNvPr id="11" name="Text 8"/>
          <p:cNvSpPr/>
          <p:nvPr/>
        </p:nvSpPr>
        <p:spPr>
          <a:xfrm>
            <a:off x="2062604" y="1661474"/>
            <a:ext cx="817430" cy="528109"/>
          </a:xfrm>
          <a:prstGeom prst="rect">
            <a:avLst/>
          </a:prstGeom>
          <a:noFill/>
          <a:ln/>
        </p:spPr>
        <p:txBody>
          <a:bodyPr wrap="none" lIns="16933" tIns="16933" rIns="16933" bIns="16933" rtlCol="0" anchor="ctr">
            <a:normAutofit/>
          </a:bodyPr>
          <a:lstStyle/>
          <a:p>
            <a:pPr algn="ctr" defTabSz="609630">
              <a:lnSpc>
                <a:spcPct val="103304"/>
              </a:lnSpc>
              <a:buClrTx/>
            </a:pPr>
            <a:r>
              <a:rPr lang="en-US" sz="1067" b="1" kern="1200" dirty="0">
                <a:solidFill>
                  <a:srgbClr val="FFFFFF"/>
                </a:solidFill>
                <a:latin typeface="Arial" pitchFamily="34" charset="0"/>
                <a:ea typeface="Arial" pitchFamily="34" charset="-122"/>
                <a:cs typeface="Arial" pitchFamily="34" charset="-120"/>
              </a:rPr>
              <a:t>Grupo 2 Top 15</a:t>
            </a:r>
          </a:p>
          <a:p>
            <a:pPr algn="ctr" defTabSz="609630">
              <a:lnSpc>
                <a:spcPct val="103304"/>
              </a:lnSpc>
              <a:buClrTx/>
            </a:pPr>
            <a:r>
              <a:rPr lang="en-US" sz="1067" b="1" kern="1200" dirty="0">
                <a:solidFill>
                  <a:srgbClr val="FFFFFF"/>
                </a:solidFill>
                <a:latin typeface="Arial" pitchFamily="34" charset="0"/>
                <a:ea typeface="Arial" pitchFamily="34" charset="-122"/>
                <a:cs typeface="Arial" pitchFamily="34" charset="-120"/>
              </a:rPr>
              <a:t>+ Grandes </a:t>
            </a:r>
            <a:r>
              <a:rPr lang="en-US" sz="1067" b="1" kern="1200" dirty="0" err="1">
                <a:solidFill>
                  <a:srgbClr val="FFFFFF"/>
                </a:solidFill>
                <a:latin typeface="Arial" pitchFamily="34" charset="0"/>
                <a:ea typeface="Arial" pitchFamily="34" charset="-122"/>
                <a:cs typeface="Arial" pitchFamily="34" charset="-120"/>
              </a:rPr>
              <a:t>en</a:t>
            </a:r>
            <a:r>
              <a:rPr lang="en-US" sz="1067" b="1" kern="1200" dirty="0">
                <a:solidFill>
                  <a:srgbClr val="FFFFFF"/>
                </a:solidFill>
                <a:latin typeface="Arial" pitchFamily="34" charset="0"/>
                <a:ea typeface="Arial" pitchFamily="34" charset="-122"/>
                <a:cs typeface="Arial" pitchFamily="34" charset="-120"/>
              </a:rPr>
              <a:t> Infra</a:t>
            </a:r>
            <a:endParaRPr lang="en-US" sz="1067" kern="1200" dirty="0">
              <a:solidFill>
                <a:prstClr val="black"/>
              </a:solidFill>
              <a:latin typeface="Calibri" panose="020F0502020204030204"/>
              <a:ea typeface="+mn-ea"/>
              <a:cs typeface="+mn-cs"/>
            </a:endParaRPr>
          </a:p>
        </p:txBody>
      </p:sp>
      <p:sp>
        <p:nvSpPr>
          <p:cNvPr id="12" name="Text 9"/>
          <p:cNvSpPr/>
          <p:nvPr/>
        </p:nvSpPr>
        <p:spPr>
          <a:xfrm>
            <a:off x="2411413" y="2202215"/>
            <a:ext cx="206243"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6</a:t>
            </a:r>
            <a:endParaRPr lang="en-US" sz="2200" kern="1200" dirty="0">
              <a:solidFill>
                <a:prstClr val="black"/>
              </a:solidFill>
              <a:latin typeface="Calibri" panose="020F0502020204030204"/>
              <a:ea typeface="+mn-ea"/>
              <a:cs typeface="+mn-cs"/>
            </a:endParaRPr>
          </a:p>
        </p:txBody>
      </p:sp>
      <p:sp>
        <p:nvSpPr>
          <p:cNvPr id="13" name="Text 10"/>
          <p:cNvSpPr/>
          <p:nvPr/>
        </p:nvSpPr>
        <p:spPr>
          <a:xfrm>
            <a:off x="2237670" y="2519606"/>
            <a:ext cx="553729" cy="314678"/>
          </a:xfrm>
          <a:prstGeom prst="rect">
            <a:avLst/>
          </a:prstGeom>
          <a:noFill/>
          <a:ln/>
        </p:spPr>
        <p:txBody>
          <a:bodyPr wrap="none" lIns="16933" tIns="16933" rIns="16933" bIns="16933" rtlCol="0" anchor="t">
            <a:normAutofit/>
          </a:bodyPr>
          <a:lstStyle/>
          <a:p>
            <a:pPr algn="ctr" defTabSz="609630">
              <a:lnSpc>
                <a:spcPct val="102600"/>
              </a:lnSpc>
              <a:buClrTx/>
            </a:pPr>
            <a:r>
              <a:rPr lang="en-US" sz="950" kern="1200" dirty="0">
                <a:solidFill>
                  <a:srgbClr val="FFFFFF"/>
                </a:solidFill>
                <a:latin typeface="Arial" pitchFamily="34" charset="0"/>
                <a:ea typeface="Arial" pitchFamily="34" charset="-122"/>
                <a:cs typeface="Arial" pitchFamily="34" charset="-120"/>
              </a:rPr>
              <a:t>visitas MM$20,3</a:t>
            </a:r>
            <a:endParaRPr lang="en-US" sz="950" kern="1200" dirty="0">
              <a:solidFill>
                <a:prstClr val="black"/>
              </a:solidFill>
              <a:latin typeface="Calibri" panose="020F0502020204030204"/>
              <a:ea typeface="+mn-ea"/>
              <a:cs typeface="+mn-cs"/>
            </a:endParaRPr>
          </a:p>
        </p:txBody>
      </p:sp>
      <p:sp>
        <p:nvSpPr>
          <p:cNvPr id="14" name="Shape 11"/>
          <p:cNvSpPr/>
          <p:nvPr/>
        </p:nvSpPr>
        <p:spPr>
          <a:xfrm>
            <a:off x="3302000" y="1663678"/>
            <a:ext cx="1987462" cy="1143000"/>
          </a:xfrm>
          <a:prstGeom prst="rect">
            <a:avLst/>
          </a:prstGeom>
          <a:solidFill>
            <a:srgbClr val="282DF0"/>
          </a:solidFill>
          <a:ln w="21167">
            <a:solidFill>
              <a:srgbClr val="06201D"/>
            </a:solidFill>
            <a:prstDash val="solid"/>
          </a:ln>
        </p:spPr>
        <p:txBody>
          <a:bodyPr/>
          <a:lstStyle/>
          <a:p>
            <a:endParaRPr lang="es-CL"/>
          </a:p>
        </p:txBody>
      </p:sp>
      <p:sp>
        <p:nvSpPr>
          <p:cNvPr id="15" name="Text 12"/>
          <p:cNvSpPr/>
          <p:nvPr/>
        </p:nvSpPr>
        <p:spPr>
          <a:xfrm>
            <a:off x="3975431" y="1745258"/>
            <a:ext cx="640601" cy="360539"/>
          </a:xfrm>
          <a:prstGeom prst="rect">
            <a:avLst/>
          </a:prstGeom>
          <a:noFill/>
          <a:ln/>
        </p:spPr>
        <p:txBody>
          <a:bodyPr wrap="none" lIns="16933" tIns="16933" rIns="16933" bIns="16933" rtlCol="0" anchor="t">
            <a:normAutofit/>
          </a:bodyPr>
          <a:lstStyle/>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Grupo 3 Restante</a:t>
            </a:r>
            <a:endParaRPr lang="en-US" sz="1100" kern="1200" dirty="0">
              <a:solidFill>
                <a:prstClr val="black"/>
              </a:solidFill>
              <a:latin typeface="Calibri" panose="020F0502020204030204"/>
              <a:ea typeface="+mn-ea"/>
              <a:cs typeface="+mn-cs"/>
            </a:endParaRPr>
          </a:p>
        </p:txBody>
      </p:sp>
      <p:sp>
        <p:nvSpPr>
          <p:cNvPr id="16" name="Text 13"/>
          <p:cNvSpPr/>
          <p:nvPr/>
        </p:nvSpPr>
        <p:spPr>
          <a:xfrm>
            <a:off x="4037278" y="2118431"/>
            <a:ext cx="516907"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139</a:t>
            </a:r>
            <a:endParaRPr lang="en-US" sz="2200" kern="1200" dirty="0">
              <a:solidFill>
                <a:prstClr val="black"/>
              </a:solidFill>
              <a:latin typeface="Calibri" panose="020F0502020204030204"/>
              <a:ea typeface="+mn-ea"/>
              <a:cs typeface="+mn-cs"/>
            </a:endParaRPr>
          </a:p>
        </p:txBody>
      </p:sp>
      <p:sp>
        <p:nvSpPr>
          <p:cNvPr id="17" name="Text 14"/>
          <p:cNvSpPr/>
          <p:nvPr/>
        </p:nvSpPr>
        <p:spPr>
          <a:xfrm>
            <a:off x="3985243" y="2435821"/>
            <a:ext cx="620867" cy="314678"/>
          </a:xfrm>
          <a:prstGeom prst="rect">
            <a:avLst/>
          </a:prstGeom>
          <a:noFill/>
          <a:ln/>
        </p:spPr>
        <p:txBody>
          <a:bodyPr wrap="none" lIns="16933" tIns="16933" rIns="16933" bIns="16933" rtlCol="0" anchor="t">
            <a:normAutofit/>
          </a:bodyPr>
          <a:lstStyle/>
          <a:p>
            <a:pPr algn="ctr" defTabSz="609630">
              <a:lnSpc>
                <a:spcPct val="102600"/>
              </a:lnSpc>
              <a:buClrTx/>
            </a:pPr>
            <a:r>
              <a:rPr lang="en-US" sz="950" kern="1200" dirty="0">
                <a:solidFill>
                  <a:srgbClr val="FFFFFF"/>
                </a:solidFill>
                <a:latin typeface="Arial" pitchFamily="34" charset="0"/>
                <a:ea typeface="Arial" pitchFamily="34" charset="-122"/>
                <a:cs typeface="Arial" pitchFamily="34" charset="-120"/>
              </a:rPr>
              <a:t>visitas MM$288,1</a:t>
            </a:r>
            <a:endParaRPr lang="en-US" sz="950" kern="1200" dirty="0">
              <a:solidFill>
                <a:prstClr val="black"/>
              </a:solidFill>
              <a:latin typeface="Calibri" panose="020F0502020204030204"/>
              <a:ea typeface="+mn-ea"/>
              <a:cs typeface="+mn-cs"/>
            </a:endParaRPr>
          </a:p>
        </p:txBody>
      </p:sp>
      <p:sp>
        <p:nvSpPr>
          <p:cNvPr id="18" name="Shape 15"/>
          <p:cNvSpPr/>
          <p:nvPr/>
        </p:nvSpPr>
        <p:spPr>
          <a:xfrm>
            <a:off x="469856" y="2908212"/>
            <a:ext cx="4819606" cy="1079500"/>
          </a:xfrm>
          <a:prstGeom prst="rect">
            <a:avLst/>
          </a:prstGeom>
          <a:ln w="21167">
            <a:solidFill>
              <a:srgbClr val="06201D"/>
            </a:solidFill>
            <a:prstDash val="solid"/>
          </a:ln>
        </p:spPr>
        <p:txBody>
          <a:bodyPr/>
          <a:lstStyle/>
          <a:p>
            <a:endParaRPr lang="es-CL"/>
          </a:p>
        </p:txBody>
      </p:sp>
      <p:sp>
        <p:nvSpPr>
          <p:cNvPr id="19" name="Text 16"/>
          <p:cNvSpPr/>
          <p:nvPr/>
        </p:nvSpPr>
        <p:spPr>
          <a:xfrm>
            <a:off x="636279" y="3105106"/>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pPr>
            <a:r>
              <a:rPr lang="en-US" sz="1000" b="1" kern="1200" dirty="0">
                <a:solidFill>
                  <a:srgbClr val="33448D"/>
                </a:solidFill>
                <a:latin typeface="Arial" pitchFamily="34" charset="0"/>
                <a:ea typeface="Arial" pitchFamily="34" charset="-122"/>
                <a:cs typeface="Arial" pitchFamily="34" charset="-120"/>
              </a:rPr>
              <a:t>151 visitas </a:t>
            </a:r>
            <a:r>
              <a:rPr lang="en-US" sz="1000" kern="1200" dirty="0">
                <a:solidFill>
                  <a:srgbClr val="373C46"/>
                </a:solidFill>
                <a:latin typeface="Arial" pitchFamily="34" charset="0"/>
                <a:ea typeface="Arial" pitchFamily="34" charset="-122"/>
                <a:cs typeface="Arial" pitchFamily="34" charset="-120"/>
              </a:rPr>
              <a:t>en 51 días hábiles · 12 semanas (1 oct – 14 dic)</a:t>
            </a:r>
            <a:endParaRPr lang="en-US" sz="1000" kern="1200" dirty="0">
              <a:solidFill>
                <a:prstClr val="black"/>
              </a:solidFill>
              <a:latin typeface="Calibri" panose="020F0502020204030204"/>
              <a:ea typeface="+mn-ea"/>
              <a:cs typeface="+mn-cs"/>
            </a:endParaRPr>
          </a:p>
        </p:txBody>
      </p:sp>
      <p:sp>
        <p:nvSpPr>
          <p:cNvPr id="20" name="Text 17"/>
          <p:cNvSpPr/>
          <p:nvPr/>
        </p:nvSpPr>
        <p:spPr>
          <a:xfrm>
            <a:off x="636279" y="3276534"/>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pPr>
            <a:r>
              <a:rPr lang="en-US" sz="1000" kern="1200" dirty="0">
                <a:solidFill>
                  <a:srgbClr val="373C46"/>
                </a:solidFill>
                <a:latin typeface="Arial" pitchFamily="34" charset="0"/>
                <a:ea typeface="Arial" pitchFamily="34" charset="-122"/>
                <a:cs typeface="Arial" pitchFamily="34" charset="-120"/>
              </a:rPr>
              <a:t>Potencial cubierto: </a:t>
            </a:r>
            <a:r>
              <a:rPr lang="en-US" sz="1000" b="1" kern="1200" dirty="0">
                <a:solidFill>
                  <a:srgbClr val="33448D"/>
                </a:solidFill>
                <a:latin typeface="Arial" pitchFamily="34" charset="0"/>
                <a:ea typeface="Arial" pitchFamily="34" charset="-122"/>
                <a:cs typeface="Arial" pitchFamily="34" charset="-120"/>
              </a:rPr>
              <a:t>MM$507,5</a:t>
            </a:r>
            <a:endParaRPr lang="en-US" sz="1000" kern="1200" dirty="0">
              <a:solidFill>
                <a:prstClr val="black"/>
              </a:solidFill>
              <a:latin typeface="Calibri" panose="020F0502020204030204"/>
              <a:ea typeface="+mn-ea"/>
              <a:cs typeface="+mn-cs"/>
            </a:endParaRPr>
          </a:p>
        </p:txBody>
      </p:sp>
      <p:sp>
        <p:nvSpPr>
          <p:cNvPr id="21" name="Text 18"/>
          <p:cNvSpPr/>
          <p:nvPr/>
        </p:nvSpPr>
        <p:spPr>
          <a:xfrm>
            <a:off x="636279" y="3447962"/>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tabLst>
                <a:tab pos="88904" algn="l"/>
              </a:tabLst>
            </a:pPr>
            <a:r>
              <a:rPr lang="en-US" sz="1000" kern="1200" dirty="0">
                <a:solidFill>
                  <a:srgbClr val="373C46"/>
                </a:solidFill>
                <a:latin typeface="Arial" pitchFamily="34" charset="0"/>
                <a:ea typeface="Arial" pitchFamily="34" charset="-122"/>
                <a:cs typeface="Arial" pitchFamily="34" charset="-120"/>
              </a:rPr>
              <a:t>Cobertura: 100% RM (151 visitas)</a:t>
            </a:r>
            <a:endParaRPr lang="en-US" sz="1000" kern="1200" dirty="0">
              <a:solidFill>
                <a:prstClr val="black"/>
              </a:solidFill>
              <a:latin typeface="Calibri" panose="020F0502020204030204"/>
              <a:ea typeface="+mn-ea"/>
              <a:cs typeface="+mn-cs"/>
            </a:endParaRPr>
          </a:p>
        </p:txBody>
      </p:sp>
      <p:sp>
        <p:nvSpPr>
          <p:cNvPr id="22" name="Text 19"/>
          <p:cNvSpPr/>
          <p:nvPr/>
        </p:nvSpPr>
        <p:spPr>
          <a:xfrm>
            <a:off x="636279" y="3619390"/>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tabLst>
                <a:tab pos="88904" algn="l"/>
              </a:tabLst>
            </a:pPr>
            <a:r>
              <a:rPr lang="en-US" sz="1000" kern="1200" dirty="0">
                <a:solidFill>
                  <a:srgbClr val="373C46"/>
                </a:solidFill>
                <a:latin typeface="Arial" pitchFamily="34" charset="0"/>
                <a:ea typeface="Arial" pitchFamily="34" charset="-122"/>
                <a:cs typeface="Arial" pitchFamily="34" charset="-120"/>
              </a:rPr>
              <a:t>3 visitas diarias: 09:30 · 12:00 · 15:30 · 64 direcciones por confirmar</a:t>
            </a:r>
            <a:endParaRPr lang="en-US" sz="1000" kern="1200" dirty="0">
              <a:solidFill>
                <a:prstClr val="black"/>
              </a:solidFill>
              <a:latin typeface="Calibri" panose="020F0502020204030204"/>
              <a:ea typeface="+mn-ea"/>
              <a:cs typeface="+mn-cs"/>
            </a:endParaRPr>
          </a:p>
        </p:txBody>
      </p:sp>
      <p:sp>
        <p:nvSpPr>
          <p:cNvPr id="23" name="Text 20"/>
          <p:cNvSpPr/>
          <p:nvPr/>
        </p:nvSpPr>
        <p:spPr>
          <a:xfrm>
            <a:off x="469856" y="4140178"/>
            <a:ext cx="1270882" cy="173567"/>
          </a:xfrm>
          <a:prstGeom prst="rect">
            <a:avLst/>
          </a:prstGeom>
          <a:noFill/>
          <a:ln/>
        </p:spPr>
        <p:txBody>
          <a:bodyPr wrap="square" lIns="16933" tIns="16933" rIns="16933" bIns="16933" rtlCol="0" anchor="t">
            <a:normAutofit lnSpcReduction="10000"/>
          </a:bodyPr>
          <a:lstStyle/>
          <a:p>
            <a:pPr defTabSz="609630">
              <a:buClrTx/>
            </a:pPr>
            <a:r>
              <a:rPr lang="en-US" sz="1000" b="1" kern="1200" dirty="0">
                <a:solidFill>
                  <a:srgbClr val="33448D"/>
                </a:solidFill>
                <a:latin typeface="Arial" pitchFamily="34" charset="0"/>
                <a:ea typeface="Arial" pitchFamily="34" charset="-122"/>
                <a:cs typeface="Arial" pitchFamily="34" charset="-120"/>
              </a:rPr>
              <a:t>Visitas por semana</a:t>
            </a:r>
            <a:endParaRPr lang="en-US" sz="1000" kern="1200" dirty="0">
              <a:solidFill>
                <a:prstClr val="black"/>
              </a:solidFill>
              <a:latin typeface="Calibri" panose="020F0502020204030204"/>
              <a:ea typeface="+mn-ea"/>
              <a:cs typeface="+mn-cs"/>
            </a:endParaRPr>
          </a:p>
        </p:txBody>
      </p:sp>
      <p:sp>
        <p:nvSpPr>
          <p:cNvPr id="24" name="Shape 21"/>
          <p:cNvSpPr/>
          <p:nvPr/>
        </p:nvSpPr>
        <p:spPr>
          <a:xfrm>
            <a:off x="469856" y="4356035"/>
            <a:ext cx="4080316" cy="14111"/>
          </a:xfrm>
          <a:prstGeom prst="rect">
            <a:avLst/>
          </a:prstGeom>
          <a:solidFill>
            <a:srgbClr val="33448D"/>
          </a:solidFill>
          <a:ln/>
        </p:spPr>
        <p:txBody>
          <a:bodyPr/>
          <a:lstStyle/>
          <a:p>
            <a:endParaRPr lang="es-CL"/>
          </a:p>
        </p:txBody>
      </p:sp>
      <p:sp>
        <p:nvSpPr>
          <p:cNvPr id="25" name="Text 22"/>
          <p:cNvSpPr/>
          <p:nvPr/>
        </p:nvSpPr>
        <p:spPr>
          <a:xfrm>
            <a:off x="265841" y="4389195"/>
            <a:ext cx="4488347" cy="152312"/>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Región Metropolitana</a:t>
            </a:r>
            <a:endParaRPr lang="en-US" sz="850" kern="1200" dirty="0">
              <a:solidFill>
                <a:prstClr val="black"/>
              </a:solidFill>
              <a:latin typeface="Calibri" panose="020F0502020204030204"/>
              <a:ea typeface="+mn-ea"/>
              <a:cs typeface="+mn-cs"/>
            </a:endParaRPr>
          </a:p>
        </p:txBody>
      </p:sp>
      <p:sp>
        <p:nvSpPr>
          <p:cNvPr id="26" name="Shape 23"/>
          <p:cNvSpPr/>
          <p:nvPr/>
        </p:nvSpPr>
        <p:spPr>
          <a:xfrm>
            <a:off x="521339" y="5435534"/>
            <a:ext cx="241212" cy="482534"/>
          </a:xfrm>
          <a:prstGeom prst="rect">
            <a:avLst/>
          </a:prstGeom>
          <a:solidFill>
            <a:srgbClr val="28D2C3"/>
          </a:solidFill>
          <a:ln/>
        </p:spPr>
        <p:txBody>
          <a:bodyPr/>
          <a:lstStyle/>
          <a:p>
            <a:endParaRPr lang="es-CL"/>
          </a:p>
        </p:txBody>
      </p:sp>
      <p:sp>
        <p:nvSpPr>
          <p:cNvPr id="27" name="Text 24"/>
          <p:cNvSpPr/>
          <p:nvPr/>
        </p:nvSpPr>
        <p:spPr>
          <a:xfrm>
            <a:off x="432439" y="5270501"/>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6</a:t>
            </a:r>
            <a:endParaRPr lang="en-US" sz="900" kern="1200" dirty="0">
              <a:solidFill>
                <a:prstClr val="black"/>
              </a:solidFill>
              <a:latin typeface="Calibri" panose="020F0502020204030204"/>
              <a:ea typeface="+mn-ea"/>
              <a:cs typeface="+mn-cs"/>
            </a:endParaRPr>
          </a:p>
        </p:txBody>
      </p:sp>
      <p:sp>
        <p:nvSpPr>
          <p:cNvPr id="28" name="Text 25"/>
          <p:cNvSpPr/>
          <p:nvPr/>
        </p:nvSpPr>
        <p:spPr>
          <a:xfrm>
            <a:off x="444456"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a:t>
            </a:r>
            <a:endParaRPr lang="en-US" sz="850" kern="1200" dirty="0">
              <a:solidFill>
                <a:prstClr val="black"/>
              </a:solidFill>
              <a:latin typeface="Calibri" panose="020F0502020204030204"/>
              <a:ea typeface="+mn-ea"/>
              <a:cs typeface="+mn-cs"/>
            </a:endParaRPr>
          </a:p>
        </p:txBody>
      </p:sp>
      <p:sp>
        <p:nvSpPr>
          <p:cNvPr id="29" name="Shape 26"/>
          <p:cNvSpPr/>
          <p:nvPr/>
        </p:nvSpPr>
        <p:spPr>
          <a:xfrm>
            <a:off x="865629" y="5435534"/>
            <a:ext cx="241212" cy="482534"/>
          </a:xfrm>
          <a:prstGeom prst="rect">
            <a:avLst/>
          </a:prstGeom>
          <a:solidFill>
            <a:srgbClr val="373C46"/>
          </a:solidFill>
          <a:ln/>
        </p:spPr>
        <p:txBody>
          <a:bodyPr/>
          <a:lstStyle/>
          <a:p>
            <a:endParaRPr lang="es-CL"/>
          </a:p>
        </p:txBody>
      </p:sp>
      <p:sp>
        <p:nvSpPr>
          <p:cNvPr id="30" name="Shape 27"/>
          <p:cNvSpPr/>
          <p:nvPr/>
        </p:nvSpPr>
        <p:spPr>
          <a:xfrm>
            <a:off x="865629" y="4711678"/>
            <a:ext cx="241212" cy="723856"/>
          </a:xfrm>
          <a:prstGeom prst="rect">
            <a:avLst/>
          </a:prstGeom>
          <a:solidFill>
            <a:srgbClr val="282DF0"/>
          </a:solidFill>
          <a:ln/>
        </p:spPr>
        <p:txBody>
          <a:bodyPr/>
          <a:lstStyle/>
          <a:p>
            <a:endParaRPr lang="es-CL"/>
          </a:p>
        </p:txBody>
      </p:sp>
      <p:sp>
        <p:nvSpPr>
          <p:cNvPr id="31" name="Text 28"/>
          <p:cNvSpPr/>
          <p:nvPr/>
        </p:nvSpPr>
        <p:spPr>
          <a:xfrm>
            <a:off x="776729"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32" name="Text 29"/>
          <p:cNvSpPr/>
          <p:nvPr/>
        </p:nvSpPr>
        <p:spPr>
          <a:xfrm>
            <a:off x="788745"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S2</a:t>
            </a:r>
            <a:endParaRPr lang="en-US" sz="850" kern="1200" dirty="0">
              <a:solidFill>
                <a:prstClr val="black"/>
              </a:solidFill>
              <a:latin typeface="Calibri" panose="020F0502020204030204"/>
              <a:ea typeface="+mn-ea"/>
              <a:cs typeface="+mn-cs"/>
            </a:endParaRPr>
          </a:p>
        </p:txBody>
      </p:sp>
      <p:sp>
        <p:nvSpPr>
          <p:cNvPr id="33" name="Shape 30"/>
          <p:cNvSpPr/>
          <p:nvPr/>
        </p:nvSpPr>
        <p:spPr>
          <a:xfrm>
            <a:off x="1209807" y="4953001"/>
            <a:ext cx="241212" cy="965178"/>
          </a:xfrm>
          <a:prstGeom prst="rect">
            <a:avLst/>
          </a:prstGeom>
          <a:solidFill>
            <a:srgbClr val="282DF0"/>
          </a:solidFill>
          <a:ln/>
        </p:spPr>
        <p:txBody>
          <a:bodyPr/>
          <a:lstStyle/>
          <a:p>
            <a:endParaRPr lang="es-CL"/>
          </a:p>
        </p:txBody>
      </p:sp>
      <p:sp>
        <p:nvSpPr>
          <p:cNvPr id="34" name="Text 31"/>
          <p:cNvSpPr/>
          <p:nvPr/>
        </p:nvSpPr>
        <p:spPr>
          <a:xfrm>
            <a:off x="1120907" y="4787857"/>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12</a:t>
            </a:r>
            <a:endParaRPr lang="en-US" sz="900" kern="1200" dirty="0">
              <a:solidFill>
                <a:prstClr val="black"/>
              </a:solidFill>
              <a:latin typeface="Calibri" panose="020F0502020204030204"/>
              <a:ea typeface="+mn-ea"/>
              <a:cs typeface="+mn-cs"/>
            </a:endParaRPr>
          </a:p>
        </p:txBody>
      </p:sp>
      <p:sp>
        <p:nvSpPr>
          <p:cNvPr id="35" name="Text 32"/>
          <p:cNvSpPr/>
          <p:nvPr/>
        </p:nvSpPr>
        <p:spPr>
          <a:xfrm>
            <a:off x="1132924"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S3</a:t>
            </a:r>
            <a:endParaRPr lang="en-US" sz="850" kern="1200" dirty="0">
              <a:solidFill>
                <a:prstClr val="black"/>
              </a:solidFill>
              <a:latin typeface="Calibri" panose="020F0502020204030204"/>
              <a:ea typeface="+mn-ea"/>
              <a:cs typeface="+mn-cs"/>
            </a:endParaRPr>
          </a:p>
        </p:txBody>
      </p:sp>
      <p:sp>
        <p:nvSpPr>
          <p:cNvPr id="36" name="Shape 33"/>
          <p:cNvSpPr/>
          <p:nvPr/>
        </p:nvSpPr>
        <p:spPr>
          <a:xfrm>
            <a:off x="1554097" y="4711678"/>
            <a:ext cx="241212" cy="1206500"/>
          </a:xfrm>
          <a:prstGeom prst="rect">
            <a:avLst/>
          </a:prstGeom>
          <a:solidFill>
            <a:srgbClr val="282DF0"/>
          </a:solidFill>
          <a:ln/>
        </p:spPr>
        <p:txBody>
          <a:bodyPr/>
          <a:lstStyle/>
          <a:p>
            <a:endParaRPr lang="es-CL"/>
          </a:p>
        </p:txBody>
      </p:sp>
      <p:sp>
        <p:nvSpPr>
          <p:cNvPr id="37" name="Text 34"/>
          <p:cNvSpPr/>
          <p:nvPr/>
        </p:nvSpPr>
        <p:spPr>
          <a:xfrm>
            <a:off x="1465197"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38" name="Text 35"/>
          <p:cNvSpPr/>
          <p:nvPr/>
        </p:nvSpPr>
        <p:spPr>
          <a:xfrm>
            <a:off x="1477213"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S4</a:t>
            </a:r>
            <a:endParaRPr lang="en-US" sz="850" kern="1200" dirty="0">
              <a:solidFill>
                <a:prstClr val="black"/>
              </a:solidFill>
              <a:latin typeface="Calibri" panose="020F0502020204030204"/>
              <a:ea typeface="+mn-ea"/>
              <a:cs typeface="+mn-cs"/>
            </a:endParaRPr>
          </a:p>
        </p:txBody>
      </p:sp>
      <p:sp>
        <p:nvSpPr>
          <p:cNvPr id="39" name="Shape 36"/>
          <p:cNvSpPr/>
          <p:nvPr/>
        </p:nvSpPr>
        <p:spPr>
          <a:xfrm>
            <a:off x="1898385" y="4711678"/>
            <a:ext cx="241212" cy="1206500"/>
          </a:xfrm>
          <a:prstGeom prst="rect">
            <a:avLst/>
          </a:prstGeom>
          <a:solidFill>
            <a:srgbClr val="282DF0"/>
          </a:solidFill>
          <a:ln/>
        </p:spPr>
        <p:txBody>
          <a:bodyPr/>
          <a:lstStyle/>
          <a:p>
            <a:endParaRPr lang="es-CL"/>
          </a:p>
        </p:txBody>
      </p:sp>
      <p:sp>
        <p:nvSpPr>
          <p:cNvPr id="40" name="Text 37"/>
          <p:cNvSpPr/>
          <p:nvPr/>
        </p:nvSpPr>
        <p:spPr>
          <a:xfrm>
            <a:off x="1809485"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41" name="Text 38"/>
          <p:cNvSpPr/>
          <p:nvPr/>
        </p:nvSpPr>
        <p:spPr>
          <a:xfrm>
            <a:off x="1821502"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S5</a:t>
            </a:r>
            <a:endParaRPr lang="en-US" sz="850" kern="1200" dirty="0">
              <a:solidFill>
                <a:prstClr val="black"/>
              </a:solidFill>
              <a:latin typeface="Calibri" panose="020F0502020204030204"/>
              <a:ea typeface="+mn-ea"/>
              <a:cs typeface="+mn-cs"/>
            </a:endParaRPr>
          </a:p>
        </p:txBody>
      </p:sp>
      <p:sp>
        <p:nvSpPr>
          <p:cNvPr id="42" name="Shape 39"/>
          <p:cNvSpPr/>
          <p:nvPr/>
        </p:nvSpPr>
        <p:spPr>
          <a:xfrm>
            <a:off x="2242675" y="4711678"/>
            <a:ext cx="241212" cy="1206500"/>
          </a:xfrm>
          <a:prstGeom prst="rect">
            <a:avLst/>
          </a:prstGeom>
          <a:solidFill>
            <a:srgbClr val="282DF0"/>
          </a:solidFill>
          <a:ln/>
        </p:spPr>
        <p:txBody>
          <a:bodyPr/>
          <a:lstStyle/>
          <a:p>
            <a:endParaRPr lang="es-CL"/>
          </a:p>
        </p:txBody>
      </p:sp>
      <p:sp>
        <p:nvSpPr>
          <p:cNvPr id="43" name="Text 40"/>
          <p:cNvSpPr/>
          <p:nvPr/>
        </p:nvSpPr>
        <p:spPr>
          <a:xfrm>
            <a:off x="2153775"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44" name="Text 41"/>
          <p:cNvSpPr/>
          <p:nvPr/>
        </p:nvSpPr>
        <p:spPr>
          <a:xfrm>
            <a:off x="2165791"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S6</a:t>
            </a:r>
            <a:endParaRPr lang="en-US" sz="850" kern="1200" dirty="0">
              <a:solidFill>
                <a:prstClr val="black"/>
              </a:solidFill>
              <a:latin typeface="Calibri" panose="020F0502020204030204"/>
              <a:ea typeface="+mn-ea"/>
              <a:cs typeface="+mn-cs"/>
            </a:endParaRPr>
          </a:p>
        </p:txBody>
      </p:sp>
      <p:sp>
        <p:nvSpPr>
          <p:cNvPr id="45" name="Shape 42"/>
          <p:cNvSpPr/>
          <p:nvPr/>
        </p:nvSpPr>
        <p:spPr>
          <a:xfrm>
            <a:off x="2586853" y="4711678"/>
            <a:ext cx="241212" cy="1206500"/>
          </a:xfrm>
          <a:prstGeom prst="rect">
            <a:avLst/>
          </a:prstGeom>
          <a:solidFill>
            <a:srgbClr val="282DF0"/>
          </a:solidFill>
          <a:ln/>
        </p:spPr>
        <p:txBody>
          <a:bodyPr/>
          <a:lstStyle/>
          <a:p>
            <a:endParaRPr lang="es-CL"/>
          </a:p>
        </p:txBody>
      </p:sp>
      <p:sp>
        <p:nvSpPr>
          <p:cNvPr id="46" name="Text 43"/>
          <p:cNvSpPr/>
          <p:nvPr/>
        </p:nvSpPr>
        <p:spPr>
          <a:xfrm>
            <a:off x="2497953"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47" name="Text 44"/>
          <p:cNvSpPr/>
          <p:nvPr/>
        </p:nvSpPr>
        <p:spPr>
          <a:xfrm>
            <a:off x="2509970"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S7</a:t>
            </a:r>
            <a:endParaRPr lang="en-US" sz="850" kern="1200" dirty="0">
              <a:solidFill>
                <a:prstClr val="black"/>
              </a:solidFill>
              <a:latin typeface="Calibri" panose="020F0502020204030204"/>
              <a:ea typeface="+mn-ea"/>
              <a:cs typeface="+mn-cs"/>
            </a:endParaRPr>
          </a:p>
        </p:txBody>
      </p:sp>
      <p:sp>
        <p:nvSpPr>
          <p:cNvPr id="48" name="Shape 45"/>
          <p:cNvSpPr/>
          <p:nvPr/>
        </p:nvSpPr>
        <p:spPr>
          <a:xfrm>
            <a:off x="2931143" y="4711678"/>
            <a:ext cx="241212" cy="1206500"/>
          </a:xfrm>
          <a:prstGeom prst="rect">
            <a:avLst/>
          </a:prstGeom>
          <a:solidFill>
            <a:srgbClr val="282DF0"/>
          </a:solidFill>
          <a:ln/>
        </p:spPr>
        <p:txBody>
          <a:bodyPr/>
          <a:lstStyle/>
          <a:p>
            <a:endParaRPr lang="es-CL"/>
          </a:p>
        </p:txBody>
      </p:sp>
      <p:sp>
        <p:nvSpPr>
          <p:cNvPr id="49" name="Text 46"/>
          <p:cNvSpPr/>
          <p:nvPr/>
        </p:nvSpPr>
        <p:spPr>
          <a:xfrm>
            <a:off x="2842243"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50" name="Text 47"/>
          <p:cNvSpPr/>
          <p:nvPr/>
        </p:nvSpPr>
        <p:spPr>
          <a:xfrm>
            <a:off x="2854259"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S8</a:t>
            </a:r>
            <a:endParaRPr lang="en-US" sz="850" kern="1200" dirty="0">
              <a:solidFill>
                <a:prstClr val="black"/>
              </a:solidFill>
              <a:latin typeface="Calibri" panose="020F0502020204030204"/>
              <a:ea typeface="+mn-ea"/>
              <a:cs typeface="+mn-cs"/>
            </a:endParaRPr>
          </a:p>
        </p:txBody>
      </p:sp>
      <p:sp>
        <p:nvSpPr>
          <p:cNvPr id="51" name="Shape 48"/>
          <p:cNvSpPr/>
          <p:nvPr/>
        </p:nvSpPr>
        <p:spPr>
          <a:xfrm>
            <a:off x="3275431" y="4711678"/>
            <a:ext cx="241212" cy="1206500"/>
          </a:xfrm>
          <a:prstGeom prst="rect">
            <a:avLst/>
          </a:prstGeom>
          <a:solidFill>
            <a:srgbClr val="282DF0"/>
          </a:solidFill>
          <a:ln/>
        </p:spPr>
        <p:txBody>
          <a:bodyPr/>
          <a:lstStyle/>
          <a:p>
            <a:endParaRPr lang="es-CL"/>
          </a:p>
        </p:txBody>
      </p:sp>
      <p:sp>
        <p:nvSpPr>
          <p:cNvPr id="52" name="Text 49"/>
          <p:cNvSpPr/>
          <p:nvPr/>
        </p:nvSpPr>
        <p:spPr>
          <a:xfrm>
            <a:off x="3186531"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53" name="Text 50"/>
          <p:cNvSpPr/>
          <p:nvPr/>
        </p:nvSpPr>
        <p:spPr>
          <a:xfrm>
            <a:off x="3198548"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S9</a:t>
            </a:r>
            <a:endParaRPr lang="en-US" sz="850" kern="1200" dirty="0">
              <a:solidFill>
                <a:prstClr val="black"/>
              </a:solidFill>
              <a:latin typeface="Calibri" panose="020F0502020204030204"/>
              <a:ea typeface="+mn-ea"/>
              <a:cs typeface="+mn-cs"/>
            </a:endParaRPr>
          </a:p>
        </p:txBody>
      </p:sp>
      <p:sp>
        <p:nvSpPr>
          <p:cNvPr id="54" name="Shape 51"/>
          <p:cNvSpPr/>
          <p:nvPr/>
        </p:nvSpPr>
        <p:spPr>
          <a:xfrm>
            <a:off x="3619721" y="4711678"/>
            <a:ext cx="241212" cy="1206500"/>
          </a:xfrm>
          <a:prstGeom prst="rect">
            <a:avLst/>
          </a:prstGeom>
          <a:solidFill>
            <a:srgbClr val="282DF0"/>
          </a:solidFill>
          <a:ln/>
        </p:spPr>
        <p:txBody>
          <a:bodyPr/>
          <a:lstStyle/>
          <a:p>
            <a:endParaRPr lang="es-CL"/>
          </a:p>
        </p:txBody>
      </p:sp>
      <p:sp>
        <p:nvSpPr>
          <p:cNvPr id="55" name="Text 52"/>
          <p:cNvSpPr/>
          <p:nvPr/>
        </p:nvSpPr>
        <p:spPr>
          <a:xfrm>
            <a:off x="3530821"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56" name="Text 53"/>
          <p:cNvSpPr/>
          <p:nvPr/>
        </p:nvSpPr>
        <p:spPr>
          <a:xfrm>
            <a:off x="3542837"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S10</a:t>
            </a:r>
            <a:endParaRPr lang="en-US" sz="850" kern="1200" dirty="0">
              <a:solidFill>
                <a:prstClr val="black"/>
              </a:solidFill>
              <a:latin typeface="Calibri" panose="020F0502020204030204"/>
              <a:ea typeface="+mn-ea"/>
              <a:cs typeface="+mn-cs"/>
            </a:endParaRPr>
          </a:p>
        </p:txBody>
      </p:sp>
      <p:sp>
        <p:nvSpPr>
          <p:cNvPr id="57" name="Shape 54"/>
          <p:cNvSpPr/>
          <p:nvPr/>
        </p:nvSpPr>
        <p:spPr>
          <a:xfrm>
            <a:off x="3963899" y="4953001"/>
            <a:ext cx="241212" cy="965178"/>
          </a:xfrm>
          <a:prstGeom prst="rect">
            <a:avLst/>
          </a:prstGeom>
          <a:solidFill>
            <a:srgbClr val="282DF0"/>
          </a:solidFill>
          <a:ln/>
        </p:spPr>
        <p:txBody>
          <a:bodyPr/>
          <a:lstStyle/>
          <a:p>
            <a:endParaRPr lang="es-CL"/>
          </a:p>
        </p:txBody>
      </p:sp>
      <p:sp>
        <p:nvSpPr>
          <p:cNvPr id="58" name="Text 55"/>
          <p:cNvSpPr/>
          <p:nvPr/>
        </p:nvSpPr>
        <p:spPr>
          <a:xfrm>
            <a:off x="3874999" y="4787857"/>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12</a:t>
            </a:r>
            <a:endParaRPr lang="en-US" sz="900" kern="1200" dirty="0">
              <a:solidFill>
                <a:prstClr val="black"/>
              </a:solidFill>
              <a:latin typeface="Calibri" panose="020F0502020204030204"/>
              <a:ea typeface="+mn-ea"/>
              <a:cs typeface="+mn-cs"/>
            </a:endParaRPr>
          </a:p>
        </p:txBody>
      </p:sp>
      <p:sp>
        <p:nvSpPr>
          <p:cNvPr id="59" name="Text 56"/>
          <p:cNvSpPr/>
          <p:nvPr/>
        </p:nvSpPr>
        <p:spPr>
          <a:xfrm>
            <a:off x="3887016"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S11</a:t>
            </a:r>
            <a:endParaRPr lang="en-US" sz="850" kern="1200" dirty="0">
              <a:solidFill>
                <a:prstClr val="black"/>
              </a:solidFill>
              <a:latin typeface="Calibri" panose="020F0502020204030204"/>
              <a:ea typeface="+mn-ea"/>
              <a:cs typeface="+mn-cs"/>
            </a:endParaRPr>
          </a:p>
        </p:txBody>
      </p:sp>
      <p:sp>
        <p:nvSpPr>
          <p:cNvPr id="60" name="Shape 57"/>
          <p:cNvSpPr/>
          <p:nvPr/>
        </p:nvSpPr>
        <p:spPr>
          <a:xfrm>
            <a:off x="4308189" y="5837701"/>
            <a:ext cx="241212" cy="80367"/>
          </a:xfrm>
          <a:prstGeom prst="rect">
            <a:avLst/>
          </a:prstGeom>
          <a:solidFill>
            <a:srgbClr val="282DF0"/>
          </a:solidFill>
          <a:ln/>
        </p:spPr>
        <p:txBody>
          <a:bodyPr/>
          <a:lstStyle/>
          <a:p>
            <a:endParaRPr lang="es-CL"/>
          </a:p>
        </p:txBody>
      </p:sp>
      <p:sp>
        <p:nvSpPr>
          <p:cNvPr id="61" name="Text 58"/>
          <p:cNvSpPr/>
          <p:nvPr/>
        </p:nvSpPr>
        <p:spPr>
          <a:xfrm>
            <a:off x="4219289" y="5672667"/>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a:t>
            </a:r>
            <a:endParaRPr lang="en-US" sz="900" kern="1200" dirty="0">
              <a:solidFill>
                <a:prstClr val="black"/>
              </a:solidFill>
              <a:latin typeface="Calibri" panose="020F0502020204030204"/>
              <a:ea typeface="+mn-ea"/>
              <a:cs typeface="+mn-cs"/>
            </a:endParaRPr>
          </a:p>
        </p:txBody>
      </p:sp>
      <p:sp>
        <p:nvSpPr>
          <p:cNvPr id="62" name="Text 59"/>
          <p:cNvSpPr/>
          <p:nvPr/>
        </p:nvSpPr>
        <p:spPr>
          <a:xfrm>
            <a:off x="4231305"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S12</a:t>
            </a:r>
            <a:endParaRPr lang="en-US" sz="850" kern="1200" dirty="0">
              <a:solidFill>
                <a:prstClr val="black"/>
              </a:solidFill>
              <a:latin typeface="Calibri" panose="020F0502020204030204"/>
              <a:ea typeface="+mn-ea"/>
              <a:cs typeface="+mn-cs"/>
            </a:endParaRPr>
          </a:p>
        </p:txBody>
      </p:sp>
      <p:sp>
        <p:nvSpPr>
          <p:cNvPr id="63" name="Shape 60"/>
          <p:cNvSpPr/>
          <p:nvPr/>
        </p:nvSpPr>
        <p:spPr>
          <a:xfrm>
            <a:off x="4652477" y="5905501"/>
            <a:ext cx="241212" cy="12678"/>
          </a:xfrm>
          <a:prstGeom prst="rect">
            <a:avLst/>
          </a:prstGeom>
          <a:solidFill>
            <a:srgbClr val="D9DCE3"/>
          </a:solidFill>
          <a:ln/>
        </p:spPr>
        <p:txBody>
          <a:bodyPr/>
          <a:lstStyle/>
          <a:p>
            <a:endParaRPr lang="es-CL"/>
          </a:p>
        </p:txBody>
      </p:sp>
      <p:sp>
        <p:nvSpPr>
          <p:cNvPr id="64" name="Text 61"/>
          <p:cNvSpPr/>
          <p:nvPr/>
        </p:nvSpPr>
        <p:spPr>
          <a:xfrm>
            <a:off x="4575594"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S13</a:t>
            </a:r>
            <a:endParaRPr lang="en-US" sz="850" kern="1200" dirty="0">
              <a:solidFill>
                <a:prstClr val="black"/>
              </a:solidFill>
              <a:latin typeface="Calibri" panose="020F0502020204030204"/>
              <a:ea typeface="+mn-ea"/>
              <a:cs typeface="+mn-cs"/>
            </a:endParaRPr>
          </a:p>
        </p:txBody>
      </p:sp>
      <p:sp>
        <p:nvSpPr>
          <p:cNvPr id="65" name="Shape 62"/>
          <p:cNvSpPr/>
          <p:nvPr/>
        </p:nvSpPr>
        <p:spPr>
          <a:xfrm>
            <a:off x="4996767" y="5905501"/>
            <a:ext cx="241212" cy="12678"/>
          </a:xfrm>
          <a:prstGeom prst="rect">
            <a:avLst/>
          </a:prstGeom>
          <a:solidFill>
            <a:srgbClr val="D9DCE3"/>
          </a:solidFill>
          <a:ln/>
        </p:spPr>
        <p:txBody>
          <a:bodyPr/>
          <a:lstStyle/>
          <a:p>
            <a:endParaRPr lang="es-CL"/>
          </a:p>
        </p:txBody>
      </p:sp>
      <p:sp>
        <p:nvSpPr>
          <p:cNvPr id="66" name="Text 63"/>
          <p:cNvSpPr/>
          <p:nvPr/>
        </p:nvSpPr>
        <p:spPr>
          <a:xfrm>
            <a:off x="4919883"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S14</a:t>
            </a:r>
            <a:endParaRPr lang="en-US" sz="850" kern="1200" dirty="0">
              <a:solidFill>
                <a:prstClr val="black"/>
              </a:solidFill>
              <a:latin typeface="Calibri" panose="020F0502020204030204"/>
              <a:ea typeface="+mn-ea"/>
              <a:cs typeface="+mn-cs"/>
            </a:endParaRPr>
          </a:p>
        </p:txBody>
      </p:sp>
      <p:sp>
        <p:nvSpPr>
          <p:cNvPr id="67" name="Shape 64"/>
          <p:cNvSpPr/>
          <p:nvPr/>
        </p:nvSpPr>
        <p:spPr>
          <a:xfrm>
            <a:off x="469856" y="5918178"/>
            <a:ext cx="4819606" cy="12678"/>
          </a:xfrm>
          <a:prstGeom prst="rect">
            <a:avLst/>
          </a:prstGeom>
          <a:solidFill>
            <a:srgbClr val="06201D"/>
          </a:solidFill>
          <a:ln/>
        </p:spPr>
        <p:txBody>
          <a:bodyPr/>
          <a:lstStyle/>
          <a:p>
            <a:endParaRPr lang="es-CL"/>
          </a:p>
        </p:txBody>
      </p:sp>
      <p:sp>
        <p:nvSpPr>
          <p:cNvPr id="68" name="Shape 65"/>
          <p:cNvSpPr/>
          <p:nvPr/>
        </p:nvSpPr>
        <p:spPr>
          <a:xfrm>
            <a:off x="488929" y="6146713"/>
            <a:ext cx="1683191" cy="7055"/>
          </a:xfrm>
          <a:prstGeom prst="rect">
            <a:avLst/>
          </a:prstGeom>
          <a:solidFill>
            <a:srgbClr val="9AA0AA"/>
          </a:solidFill>
          <a:ln/>
        </p:spPr>
        <p:txBody>
          <a:bodyPr/>
          <a:lstStyle/>
          <a:p>
            <a:endParaRPr lang="es-CL"/>
          </a:p>
        </p:txBody>
      </p:sp>
      <p:sp>
        <p:nvSpPr>
          <p:cNvPr id="69" name="Text 66"/>
          <p:cNvSpPr/>
          <p:nvPr/>
        </p:nvSpPr>
        <p:spPr>
          <a:xfrm>
            <a:off x="404769" y="6166467"/>
            <a:ext cx="1851510" cy="138267"/>
          </a:xfrm>
          <a:prstGeom prst="rect">
            <a:avLst/>
          </a:prstGeom>
          <a:noFill/>
          <a:ln/>
        </p:spPr>
        <p:txBody>
          <a:bodyPr wrap="square" lIns="16933" tIns="16933" rIns="16933" bIns="16933" rtlCol="0" anchor="t">
            <a:normAutofit fontScale="92500" lnSpcReduction="10000"/>
          </a:bodyPr>
          <a:lstStyle/>
          <a:p>
            <a:pPr algn="ctr" defTabSz="609630">
              <a:buClrTx/>
            </a:pPr>
            <a:r>
              <a:rPr lang="en-US" sz="800" kern="1200" dirty="0">
                <a:solidFill>
                  <a:srgbClr val="373C46"/>
                </a:solidFill>
                <a:latin typeface="Arial" pitchFamily="34" charset="0"/>
                <a:ea typeface="Arial" pitchFamily="34" charset="-122"/>
                <a:cs typeface="Arial" pitchFamily="34" charset="-120"/>
              </a:rPr>
              <a:t>Octubre</a:t>
            </a:r>
            <a:endParaRPr lang="en-US" sz="800" kern="1200" dirty="0">
              <a:solidFill>
                <a:prstClr val="black"/>
              </a:solidFill>
              <a:latin typeface="Calibri" panose="020F0502020204030204"/>
              <a:ea typeface="+mn-ea"/>
              <a:cs typeface="+mn-cs"/>
            </a:endParaRPr>
          </a:p>
        </p:txBody>
      </p:sp>
      <p:sp>
        <p:nvSpPr>
          <p:cNvPr id="70" name="Shape 67"/>
          <p:cNvSpPr/>
          <p:nvPr/>
        </p:nvSpPr>
        <p:spPr>
          <a:xfrm>
            <a:off x="2210153" y="6146713"/>
            <a:ext cx="1338902" cy="7055"/>
          </a:xfrm>
          <a:prstGeom prst="rect">
            <a:avLst/>
          </a:prstGeom>
          <a:solidFill>
            <a:srgbClr val="9AA0AA"/>
          </a:solidFill>
          <a:ln/>
        </p:spPr>
        <p:txBody>
          <a:bodyPr/>
          <a:lstStyle/>
          <a:p>
            <a:endParaRPr lang="es-CL"/>
          </a:p>
        </p:txBody>
      </p:sp>
      <p:sp>
        <p:nvSpPr>
          <p:cNvPr id="71" name="Text 68"/>
          <p:cNvSpPr/>
          <p:nvPr/>
        </p:nvSpPr>
        <p:spPr>
          <a:xfrm>
            <a:off x="2143208" y="6166467"/>
            <a:ext cx="1472792" cy="138267"/>
          </a:xfrm>
          <a:prstGeom prst="rect">
            <a:avLst/>
          </a:prstGeom>
          <a:noFill/>
          <a:ln/>
        </p:spPr>
        <p:txBody>
          <a:bodyPr wrap="square" lIns="16933" tIns="16933" rIns="16933" bIns="16933" rtlCol="0" anchor="t">
            <a:normAutofit fontScale="92500" lnSpcReduction="10000"/>
          </a:bodyPr>
          <a:lstStyle/>
          <a:p>
            <a:pPr algn="ctr" defTabSz="609630">
              <a:buClrTx/>
            </a:pPr>
            <a:r>
              <a:rPr lang="en-US" sz="800" kern="1200" dirty="0">
                <a:solidFill>
                  <a:srgbClr val="373C46"/>
                </a:solidFill>
                <a:latin typeface="Arial" pitchFamily="34" charset="0"/>
                <a:ea typeface="Arial" pitchFamily="34" charset="-122"/>
                <a:cs typeface="Arial" pitchFamily="34" charset="-120"/>
              </a:rPr>
              <a:t>Noviembre</a:t>
            </a:r>
            <a:endParaRPr lang="en-US" sz="800" kern="1200" dirty="0">
              <a:solidFill>
                <a:prstClr val="black"/>
              </a:solidFill>
              <a:latin typeface="Calibri" panose="020F0502020204030204"/>
              <a:ea typeface="+mn-ea"/>
              <a:cs typeface="+mn-cs"/>
            </a:endParaRPr>
          </a:p>
        </p:txBody>
      </p:sp>
      <p:sp>
        <p:nvSpPr>
          <p:cNvPr id="72" name="Shape 69"/>
          <p:cNvSpPr/>
          <p:nvPr/>
        </p:nvSpPr>
        <p:spPr>
          <a:xfrm>
            <a:off x="3587199" y="6146713"/>
            <a:ext cx="1683191" cy="7055"/>
          </a:xfrm>
          <a:prstGeom prst="rect">
            <a:avLst/>
          </a:prstGeom>
          <a:solidFill>
            <a:srgbClr val="9AA0AA"/>
          </a:solidFill>
          <a:ln/>
        </p:spPr>
        <p:txBody>
          <a:bodyPr/>
          <a:lstStyle/>
          <a:p>
            <a:endParaRPr lang="es-CL"/>
          </a:p>
        </p:txBody>
      </p:sp>
      <p:sp>
        <p:nvSpPr>
          <p:cNvPr id="73" name="Text 70"/>
          <p:cNvSpPr/>
          <p:nvPr/>
        </p:nvSpPr>
        <p:spPr>
          <a:xfrm>
            <a:off x="3503040" y="6166467"/>
            <a:ext cx="1851510" cy="138267"/>
          </a:xfrm>
          <a:prstGeom prst="rect">
            <a:avLst/>
          </a:prstGeom>
          <a:noFill/>
          <a:ln/>
        </p:spPr>
        <p:txBody>
          <a:bodyPr wrap="square" lIns="16933" tIns="16933" rIns="16933" bIns="16933" rtlCol="0" anchor="t">
            <a:normAutofit fontScale="92500" lnSpcReduction="10000"/>
          </a:bodyPr>
          <a:lstStyle/>
          <a:p>
            <a:pPr algn="ctr" defTabSz="609630">
              <a:buClrTx/>
            </a:pPr>
            <a:r>
              <a:rPr lang="en-US" sz="800" kern="1200" dirty="0">
                <a:solidFill>
                  <a:srgbClr val="373C46"/>
                </a:solidFill>
                <a:latin typeface="Arial" pitchFamily="34" charset="0"/>
                <a:ea typeface="Arial" pitchFamily="34" charset="-122"/>
                <a:cs typeface="Arial" pitchFamily="34" charset="-120"/>
              </a:rPr>
              <a:t>Diciembre</a:t>
            </a:r>
            <a:endParaRPr lang="en-US" sz="800" kern="1200" dirty="0">
              <a:solidFill>
                <a:prstClr val="black"/>
              </a:solidFill>
              <a:latin typeface="Calibri" panose="020F0502020204030204"/>
              <a:ea typeface="+mn-ea"/>
              <a:cs typeface="+mn-cs"/>
            </a:endParaRPr>
          </a:p>
        </p:txBody>
      </p:sp>
      <p:sp>
        <p:nvSpPr>
          <p:cNvPr id="74" name="Shape 71"/>
          <p:cNvSpPr/>
          <p:nvPr/>
        </p:nvSpPr>
        <p:spPr>
          <a:xfrm>
            <a:off x="7042107" y="1085784"/>
            <a:ext cx="4819606" cy="419034"/>
          </a:xfrm>
          <a:prstGeom prst="rect">
            <a:avLst/>
          </a:prstGeom>
          <a:solidFill>
            <a:srgbClr val="28D2C3"/>
          </a:solidFill>
          <a:ln w="21167">
            <a:solidFill>
              <a:srgbClr val="06201D"/>
            </a:solidFill>
            <a:prstDash val="solid"/>
          </a:ln>
        </p:spPr>
        <p:txBody>
          <a:bodyPr/>
          <a:lstStyle/>
          <a:p>
            <a:endParaRPr lang="es-CL"/>
          </a:p>
        </p:txBody>
      </p:sp>
      <p:sp>
        <p:nvSpPr>
          <p:cNvPr id="75" name="Text 72"/>
          <p:cNvSpPr/>
          <p:nvPr/>
        </p:nvSpPr>
        <p:spPr>
          <a:xfrm>
            <a:off x="6983923" y="1099895"/>
            <a:ext cx="4935972" cy="416212"/>
          </a:xfrm>
          <a:prstGeom prst="rect">
            <a:avLst/>
          </a:prstGeom>
          <a:noFill/>
          <a:ln/>
        </p:spPr>
        <p:txBody>
          <a:bodyPr wrap="square" lIns="16933" tIns="16933" rIns="16933" bIns="16933" rtlCol="0" anchor="ctr">
            <a:normAutofit/>
          </a:bodyPr>
          <a:lstStyle/>
          <a:p>
            <a:pPr algn="ctr" defTabSz="609630">
              <a:buClrTx/>
            </a:pPr>
            <a:r>
              <a:rPr lang="en-US" b="1" kern="1200" dirty="0">
                <a:solidFill>
                  <a:srgbClr val="FFFFFF"/>
                </a:solidFill>
                <a:latin typeface="Arial" pitchFamily="34" charset="0"/>
                <a:ea typeface="Arial" pitchFamily="34" charset="-122"/>
                <a:cs typeface="Arial" pitchFamily="34" charset="-120"/>
              </a:rPr>
              <a:t>Cristián Pérez</a:t>
            </a:r>
            <a:endParaRPr lang="en-US" kern="1200" dirty="0">
              <a:solidFill>
                <a:prstClr val="black"/>
              </a:solidFill>
              <a:latin typeface="Calibri" panose="020F0502020204030204"/>
              <a:ea typeface="+mn-ea"/>
              <a:cs typeface="+mn-cs"/>
            </a:endParaRPr>
          </a:p>
        </p:txBody>
      </p:sp>
      <p:sp>
        <p:nvSpPr>
          <p:cNvPr id="76" name="Shape 73"/>
          <p:cNvSpPr/>
          <p:nvPr/>
        </p:nvSpPr>
        <p:spPr>
          <a:xfrm>
            <a:off x="7042107" y="1663678"/>
            <a:ext cx="1257212" cy="1143000"/>
          </a:xfrm>
          <a:prstGeom prst="rect">
            <a:avLst/>
          </a:prstGeom>
          <a:solidFill>
            <a:srgbClr val="28D2C3"/>
          </a:solidFill>
          <a:ln w="21167">
            <a:solidFill>
              <a:srgbClr val="06201D"/>
            </a:solidFill>
            <a:prstDash val="solid"/>
          </a:ln>
        </p:spPr>
        <p:txBody>
          <a:bodyPr/>
          <a:lstStyle/>
          <a:p>
            <a:endParaRPr lang="es-CL"/>
          </a:p>
        </p:txBody>
      </p:sp>
      <p:sp>
        <p:nvSpPr>
          <p:cNvPr id="77" name="Text 74"/>
          <p:cNvSpPr/>
          <p:nvPr/>
        </p:nvSpPr>
        <p:spPr>
          <a:xfrm>
            <a:off x="7377642" y="1745258"/>
            <a:ext cx="586140" cy="360539"/>
          </a:xfrm>
          <a:prstGeom prst="rect">
            <a:avLst/>
          </a:prstGeom>
          <a:noFill/>
          <a:ln/>
        </p:spPr>
        <p:txBody>
          <a:bodyPr wrap="none" lIns="16933" tIns="16933" rIns="16933" bIns="16933" rtlCol="0" anchor="t">
            <a:normAutofit/>
          </a:bodyPr>
          <a:lstStyle/>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Grupo 1 Top 10</a:t>
            </a:r>
            <a:endParaRPr lang="en-US" sz="1100" kern="1200" dirty="0">
              <a:solidFill>
                <a:prstClr val="black"/>
              </a:solidFill>
              <a:latin typeface="Calibri" panose="020F0502020204030204"/>
              <a:ea typeface="+mn-ea"/>
              <a:cs typeface="+mn-cs"/>
            </a:endParaRPr>
          </a:p>
        </p:txBody>
      </p:sp>
      <p:sp>
        <p:nvSpPr>
          <p:cNvPr id="78" name="Text 75"/>
          <p:cNvSpPr/>
          <p:nvPr/>
        </p:nvSpPr>
        <p:spPr>
          <a:xfrm>
            <a:off x="7489870" y="2118431"/>
            <a:ext cx="361575"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14</a:t>
            </a:r>
            <a:endParaRPr lang="en-US" sz="2200" kern="1200" dirty="0">
              <a:solidFill>
                <a:prstClr val="black"/>
              </a:solidFill>
              <a:latin typeface="Calibri" panose="020F0502020204030204"/>
              <a:ea typeface="+mn-ea"/>
              <a:cs typeface="+mn-cs"/>
            </a:endParaRPr>
          </a:p>
        </p:txBody>
      </p:sp>
      <p:sp>
        <p:nvSpPr>
          <p:cNvPr id="79" name="Text 76"/>
          <p:cNvSpPr/>
          <p:nvPr/>
        </p:nvSpPr>
        <p:spPr>
          <a:xfrm>
            <a:off x="7360223" y="2435821"/>
            <a:ext cx="620867" cy="314678"/>
          </a:xfrm>
          <a:prstGeom prst="rect">
            <a:avLst/>
          </a:prstGeom>
          <a:noFill/>
          <a:ln/>
        </p:spPr>
        <p:txBody>
          <a:bodyPr wrap="none" lIns="16933" tIns="16933" rIns="16933" bIns="16933" rtlCol="0" anchor="t">
            <a:normAutofit/>
          </a:bodyPr>
          <a:lstStyle/>
          <a:p>
            <a:pPr algn="ctr" defTabSz="609630">
              <a:lnSpc>
                <a:spcPct val="102600"/>
              </a:lnSpc>
              <a:buClrTx/>
            </a:pPr>
            <a:r>
              <a:rPr lang="en-US" sz="950" kern="1200" dirty="0">
                <a:solidFill>
                  <a:srgbClr val="FFFFFF"/>
                </a:solidFill>
                <a:latin typeface="Arial" pitchFamily="34" charset="0"/>
                <a:ea typeface="Arial" pitchFamily="34" charset="-122"/>
                <a:cs typeface="Arial" pitchFamily="34" charset="-120"/>
              </a:rPr>
              <a:t>visitas MM$147,0</a:t>
            </a:r>
            <a:endParaRPr lang="en-US" sz="950" kern="1200" dirty="0">
              <a:solidFill>
                <a:prstClr val="black"/>
              </a:solidFill>
              <a:latin typeface="Calibri" panose="020F0502020204030204"/>
              <a:ea typeface="+mn-ea"/>
              <a:cs typeface="+mn-cs"/>
            </a:endParaRPr>
          </a:p>
        </p:txBody>
      </p:sp>
      <p:sp>
        <p:nvSpPr>
          <p:cNvPr id="80" name="Shape 77"/>
          <p:cNvSpPr/>
          <p:nvPr/>
        </p:nvSpPr>
        <p:spPr>
          <a:xfrm>
            <a:off x="8458178" y="1663678"/>
            <a:ext cx="1257212" cy="1143000"/>
          </a:xfrm>
          <a:prstGeom prst="rect">
            <a:avLst/>
          </a:prstGeom>
          <a:solidFill>
            <a:srgbClr val="373C46"/>
          </a:solidFill>
          <a:ln w="21167">
            <a:solidFill>
              <a:srgbClr val="06201D"/>
            </a:solidFill>
            <a:prstDash val="solid"/>
          </a:ln>
        </p:spPr>
        <p:txBody>
          <a:bodyPr/>
          <a:lstStyle/>
          <a:p>
            <a:endParaRPr lang="es-CL"/>
          </a:p>
        </p:txBody>
      </p:sp>
      <p:sp>
        <p:nvSpPr>
          <p:cNvPr id="81" name="Text 78"/>
          <p:cNvSpPr/>
          <p:nvPr/>
        </p:nvSpPr>
        <p:spPr>
          <a:xfrm>
            <a:off x="8721285" y="1661474"/>
            <a:ext cx="730999" cy="528109"/>
          </a:xfrm>
          <a:prstGeom prst="rect">
            <a:avLst/>
          </a:prstGeom>
          <a:noFill/>
          <a:ln/>
        </p:spPr>
        <p:txBody>
          <a:bodyPr wrap="none" lIns="16933" tIns="16933" rIns="16933" bIns="16933" rtlCol="0" anchor="t">
            <a:normAutofit/>
          </a:bodyPr>
          <a:lstStyle/>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Grupo 2 Top 15</a:t>
            </a:r>
          </a:p>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 Grandes </a:t>
            </a:r>
            <a:r>
              <a:rPr lang="en-US" sz="1100" b="1" kern="1200" dirty="0" err="1">
                <a:solidFill>
                  <a:srgbClr val="FFFFFF"/>
                </a:solidFill>
                <a:latin typeface="Arial" pitchFamily="34" charset="0"/>
                <a:ea typeface="Arial" pitchFamily="34" charset="-122"/>
                <a:cs typeface="Arial" pitchFamily="34" charset="-120"/>
              </a:rPr>
              <a:t>en</a:t>
            </a:r>
            <a:r>
              <a:rPr lang="en-US" sz="1100" b="1" kern="1200" dirty="0">
                <a:solidFill>
                  <a:srgbClr val="FFFFFF"/>
                </a:solidFill>
                <a:latin typeface="Arial" pitchFamily="34" charset="0"/>
                <a:ea typeface="Arial" pitchFamily="34" charset="-122"/>
                <a:cs typeface="Arial" pitchFamily="34" charset="-120"/>
              </a:rPr>
              <a:t> Infra</a:t>
            </a:r>
            <a:endParaRPr lang="en-US" sz="1100" kern="1200" dirty="0">
              <a:solidFill>
                <a:prstClr val="black"/>
              </a:solidFill>
              <a:latin typeface="Calibri" panose="020F0502020204030204"/>
              <a:ea typeface="+mn-ea"/>
              <a:cs typeface="+mn-cs"/>
            </a:endParaRPr>
          </a:p>
        </p:txBody>
      </p:sp>
      <p:sp>
        <p:nvSpPr>
          <p:cNvPr id="82" name="Text 79"/>
          <p:cNvSpPr/>
          <p:nvPr/>
        </p:nvSpPr>
        <p:spPr>
          <a:xfrm>
            <a:off x="8905942" y="2202215"/>
            <a:ext cx="361575"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23</a:t>
            </a:r>
            <a:endParaRPr lang="en-US" sz="2200" kern="1200" dirty="0">
              <a:solidFill>
                <a:prstClr val="black"/>
              </a:solidFill>
              <a:latin typeface="Calibri" panose="020F0502020204030204"/>
              <a:ea typeface="+mn-ea"/>
              <a:cs typeface="+mn-cs"/>
            </a:endParaRPr>
          </a:p>
        </p:txBody>
      </p:sp>
      <p:sp>
        <p:nvSpPr>
          <p:cNvPr id="83" name="Text 80"/>
          <p:cNvSpPr/>
          <p:nvPr/>
        </p:nvSpPr>
        <p:spPr>
          <a:xfrm>
            <a:off x="8809920" y="2519606"/>
            <a:ext cx="553729" cy="314678"/>
          </a:xfrm>
          <a:prstGeom prst="rect">
            <a:avLst/>
          </a:prstGeom>
          <a:noFill/>
          <a:ln/>
        </p:spPr>
        <p:txBody>
          <a:bodyPr wrap="none" lIns="16933" tIns="16933" rIns="16933" bIns="16933" rtlCol="0" anchor="t">
            <a:normAutofit/>
          </a:bodyPr>
          <a:lstStyle/>
          <a:p>
            <a:pPr algn="ctr" defTabSz="609630">
              <a:lnSpc>
                <a:spcPct val="102600"/>
              </a:lnSpc>
              <a:buClrTx/>
            </a:pPr>
            <a:r>
              <a:rPr lang="en-US" sz="950" kern="1200" dirty="0">
                <a:solidFill>
                  <a:srgbClr val="FFFFFF"/>
                </a:solidFill>
                <a:latin typeface="Arial" pitchFamily="34" charset="0"/>
                <a:ea typeface="Arial" pitchFamily="34" charset="-122"/>
                <a:cs typeface="Arial" pitchFamily="34" charset="-120"/>
              </a:rPr>
              <a:t>visitas MM$50,1</a:t>
            </a:r>
            <a:endParaRPr lang="en-US" sz="950" kern="1200" dirty="0">
              <a:solidFill>
                <a:prstClr val="black"/>
              </a:solidFill>
              <a:latin typeface="Calibri" panose="020F0502020204030204"/>
              <a:ea typeface="+mn-ea"/>
              <a:cs typeface="+mn-cs"/>
            </a:endParaRPr>
          </a:p>
        </p:txBody>
      </p:sp>
      <p:sp>
        <p:nvSpPr>
          <p:cNvPr id="84" name="Shape 81"/>
          <p:cNvSpPr/>
          <p:nvPr/>
        </p:nvSpPr>
        <p:spPr>
          <a:xfrm>
            <a:off x="9874251" y="1663678"/>
            <a:ext cx="1987462" cy="1143000"/>
          </a:xfrm>
          <a:prstGeom prst="rect">
            <a:avLst/>
          </a:prstGeom>
          <a:solidFill>
            <a:srgbClr val="282DF0"/>
          </a:solidFill>
          <a:ln w="21167">
            <a:solidFill>
              <a:srgbClr val="06201D"/>
            </a:solidFill>
            <a:prstDash val="solid"/>
          </a:ln>
        </p:spPr>
        <p:txBody>
          <a:bodyPr/>
          <a:lstStyle/>
          <a:p>
            <a:endParaRPr lang="es-CL"/>
          </a:p>
        </p:txBody>
      </p:sp>
      <p:sp>
        <p:nvSpPr>
          <p:cNvPr id="85" name="Text 82"/>
          <p:cNvSpPr/>
          <p:nvPr/>
        </p:nvSpPr>
        <p:spPr>
          <a:xfrm>
            <a:off x="10547681" y="1745258"/>
            <a:ext cx="640601" cy="360539"/>
          </a:xfrm>
          <a:prstGeom prst="rect">
            <a:avLst/>
          </a:prstGeom>
          <a:noFill/>
          <a:ln/>
        </p:spPr>
        <p:txBody>
          <a:bodyPr wrap="none" lIns="16933" tIns="16933" rIns="16933" bIns="16933" rtlCol="0" anchor="t">
            <a:normAutofit/>
          </a:bodyPr>
          <a:lstStyle/>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Grupo 3 Restante</a:t>
            </a:r>
            <a:endParaRPr lang="en-US" sz="1100" kern="1200" dirty="0">
              <a:solidFill>
                <a:prstClr val="black"/>
              </a:solidFill>
              <a:latin typeface="Calibri" panose="020F0502020204030204"/>
              <a:ea typeface="+mn-ea"/>
              <a:cs typeface="+mn-cs"/>
            </a:endParaRPr>
          </a:p>
        </p:txBody>
      </p:sp>
      <p:sp>
        <p:nvSpPr>
          <p:cNvPr id="86" name="Text 83"/>
          <p:cNvSpPr/>
          <p:nvPr/>
        </p:nvSpPr>
        <p:spPr>
          <a:xfrm>
            <a:off x="10609528" y="2118431"/>
            <a:ext cx="516907"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146</a:t>
            </a:r>
            <a:endParaRPr lang="en-US" sz="2200" kern="1200" dirty="0">
              <a:solidFill>
                <a:prstClr val="black"/>
              </a:solidFill>
              <a:latin typeface="Calibri" panose="020F0502020204030204"/>
              <a:ea typeface="+mn-ea"/>
              <a:cs typeface="+mn-cs"/>
            </a:endParaRPr>
          </a:p>
        </p:txBody>
      </p:sp>
      <p:sp>
        <p:nvSpPr>
          <p:cNvPr id="87" name="Text 84"/>
          <p:cNvSpPr/>
          <p:nvPr/>
        </p:nvSpPr>
        <p:spPr>
          <a:xfrm>
            <a:off x="10557493" y="2435821"/>
            <a:ext cx="620867" cy="314678"/>
          </a:xfrm>
          <a:prstGeom prst="rect">
            <a:avLst/>
          </a:prstGeom>
          <a:noFill/>
          <a:ln/>
        </p:spPr>
        <p:txBody>
          <a:bodyPr wrap="none" lIns="16933" tIns="16933" rIns="16933" bIns="16933" rtlCol="0" anchor="t">
            <a:normAutofit/>
          </a:bodyPr>
          <a:lstStyle/>
          <a:p>
            <a:pPr algn="ctr" defTabSz="609630">
              <a:lnSpc>
                <a:spcPct val="102600"/>
              </a:lnSpc>
              <a:buClrTx/>
            </a:pPr>
            <a:r>
              <a:rPr lang="en-US" sz="950" kern="1200" dirty="0">
                <a:solidFill>
                  <a:srgbClr val="FFFFFF"/>
                </a:solidFill>
                <a:latin typeface="Arial" pitchFamily="34" charset="0"/>
                <a:ea typeface="Arial" pitchFamily="34" charset="-122"/>
                <a:cs typeface="Arial" pitchFamily="34" charset="-120"/>
              </a:rPr>
              <a:t>visitas MM$282,5</a:t>
            </a:r>
            <a:endParaRPr lang="en-US" sz="950" kern="1200" dirty="0">
              <a:solidFill>
                <a:prstClr val="black"/>
              </a:solidFill>
              <a:latin typeface="Calibri" panose="020F0502020204030204"/>
              <a:ea typeface="+mn-ea"/>
              <a:cs typeface="+mn-cs"/>
            </a:endParaRPr>
          </a:p>
        </p:txBody>
      </p:sp>
      <p:sp>
        <p:nvSpPr>
          <p:cNvPr id="88" name="Shape 85"/>
          <p:cNvSpPr/>
          <p:nvPr/>
        </p:nvSpPr>
        <p:spPr>
          <a:xfrm>
            <a:off x="7042107" y="2908212"/>
            <a:ext cx="4819606" cy="1079500"/>
          </a:xfrm>
          <a:prstGeom prst="rect">
            <a:avLst/>
          </a:prstGeom>
          <a:ln w="21167">
            <a:solidFill>
              <a:srgbClr val="06201D"/>
            </a:solidFill>
            <a:prstDash val="solid"/>
          </a:ln>
        </p:spPr>
        <p:txBody>
          <a:bodyPr/>
          <a:lstStyle/>
          <a:p>
            <a:endParaRPr lang="es-CL"/>
          </a:p>
        </p:txBody>
      </p:sp>
      <p:sp>
        <p:nvSpPr>
          <p:cNvPr id="89" name="Text 86"/>
          <p:cNvSpPr/>
          <p:nvPr/>
        </p:nvSpPr>
        <p:spPr>
          <a:xfrm>
            <a:off x="7208529" y="3105106"/>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pPr>
            <a:r>
              <a:rPr lang="en-US" sz="1000" b="1" kern="1200" dirty="0">
                <a:solidFill>
                  <a:srgbClr val="33448D"/>
                </a:solidFill>
                <a:latin typeface="Arial" pitchFamily="34" charset="0"/>
                <a:ea typeface="Arial" pitchFamily="34" charset="-122"/>
                <a:cs typeface="Arial" pitchFamily="34" charset="-120"/>
              </a:rPr>
              <a:t>183 visitas </a:t>
            </a:r>
            <a:r>
              <a:rPr lang="en-US" sz="1000" kern="1200" dirty="0">
                <a:solidFill>
                  <a:srgbClr val="373C46"/>
                </a:solidFill>
                <a:latin typeface="Arial" pitchFamily="34" charset="0"/>
                <a:ea typeface="Arial" pitchFamily="34" charset="-122"/>
                <a:cs typeface="Arial" pitchFamily="34" charset="-120"/>
              </a:rPr>
              <a:t>en 61 días hábiles · 14 semanas (1 oct – 29 dic)</a:t>
            </a:r>
            <a:endParaRPr lang="en-US" sz="1000" kern="1200" dirty="0">
              <a:solidFill>
                <a:prstClr val="black"/>
              </a:solidFill>
              <a:latin typeface="Calibri" panose="020F0502020204030204"/>
              <a:ea typeface="+mn-ea"/>
              <a:cs typeface="+mn-cs"/>
            </a:endParaRPr>
          </a:p>
        </p:txBody>
      </p:sp>
      <p:sp>
        <p:nvSpPr>
          <p:cNvPr id="90" name="Text 87"/>
          <p:cNvSpPr/>
          <p:nvPr/>
        </p:nvSpPr>
        <p:spPr>
          <a:xfrm>
            <a:off x="7208529" y="3276534"/>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pPr>
            <a:r>
              <a:rPr lang="en-US" sz="1000" kern="1200" dirty="0">
                <a:solidFill>
                  <a:srgbClr val="373C46"/>
                </a:solidFill>
                <a:latin typeface="Arial" pitchFamily="34" charset="0"/>
                <a:ea typeface="Arial" pitchFamily="34" charset="-122"/>
                <a:cs typeface="Arial" pitchFamily="34" charset="-120"/>
              </a:rPr>
              <a:t>Potencial cubierto: </a:t>
            </a:r>
            <a:r>
              <a:rPr lang="en-US" sz="1000" b="1" kern="1200" dirty="0">
                <a:solidFill>
                  <a:srgbClr val="33448D"/>
                </a:solidFill>
                <a:latin typeface="Arial" pitchFamily="34" charset="0"/>
                <a:ea typeface="Arial" pitchFamily="34" charset="-122"/>
                <a:cs typeface="Arial" pitchFamily="34" charset="-120"/>
              </a:rPr>
              <a:t>MM$479,6</a:t>
            </a:r>
            <a:endParaRPr lang="en-US" sz="1000" kern="1200" dirty="0">
              <a:solidFill>
                <a:prstClr val="black"/>
              </a:solidFill>
              <a:latin typeface="Calibri" panose="020F0502020204030204"/>
              <a:ea typeface="+mn-ea"/>
              <a:cs typeface="+mn-cs"/>
            </a:endParaRPr>
          </a:p>
        </p:txBody>
      </p:sp>
      <p:sp>
        <p:nvSpPr>
          <p:cNvPr id="91" name="Text 88"/>
          <p:cNvSpPr/>
          <p:nvPr/>
        </p:nvSpPr>
        <p:spPr>
          <a:xfrm>
            <a:off x="7208529" y="3447962"/>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tabLst>
                <a:tab pos="88904" algn="l"/>
              </a:tabLst>
            </a:pPr>
            <a:r>
              <a:rPr lang="en-US" sz="1000" kern="1200" dirty="0">
                <a:solidFill>
                  <a:srgbClr val="373C46"/>
                </a:solidFill>
                <a:latin typeface="Arial" pitchFamily="34" charset="0"/>
                <a:ea typeface="Arial" pitchFamily="34" charset="-122"/>
                <a:cs typeface="Arial" pitchFamily="34" charset="-120"/>
              </a:rPr>
              <a:t>Cobertura: RM 119 · Valparaíso 64 visitas</a:t>
            </a:r>
            <a:endParaRPr lang="en-US" sz="1000" kern="1200" dirty="0">
              <a:solidFill>
                <a:prstClr val="black"/>
              </a:solidFill>
              <a:latin typeface="Calibri" panose="020F0502020204030204"/>
              <a:ea typeface="+mn-ea"/>
              <a:cs typeface="+mn-cs"/>
            </a:endParaRPr>
          </a:p>
        </p:txBody>
      </p:sp>
      <p:sp>
        <p:nvSpPr>
          <p:cNvPr id="92" name="Text 89"/>
          <p:cNvSpPr/>
          <p:nvPr/>
        </p:nvSpPr>
        <p:spPr>
          <a:xfrm>
            <a:off x="7208529" y="3619390"/>
            <a:ext cx="4982402" cy="196828"/>
          </a:xfrm>
          <a:prstGeom prst="rect">
            <a:avLst/>
          </a:prstGeom>
          <a:noFill/>
          <a:ln/>
        </p:spPr>
        <p:txBody>
          <a:bodyPr wrap="square" lIns="16933" tIns="16933" rIns="16933" bIns="16933" rtlCol="0" anchor="t">
            <a:normAutofit lnSpcReduction="10000"/>
          </a:bodyPr>
          <a:lstStyle/>
          <a:p>
            <a:pPr marL="88904" indent="-88904" defTabSz="609630">
              <a:lnSpc>
                <a:spcPct val="115714"/>
              </a:lnSpc>
              <a:buClrTx/>
              <a:buSzPct val="100000"/>
              <a:buFontTx/>
              <a:buChar char="•"/>
              <a:tabLst>
                <a:tab pos="88904" algn="l"/>
              </a:tabLst>
            </a:pPr>
            <a:r>
              <a:rPr lang="en-US" sz="1000" kern="1200" dirty="0">
                <a:solidFill>
                  <a:srgbClr val="373C46"/>
                </a:solidFill>
                <a:latin typeface="Arial" pitchFamily="34" charset="0"/>
                <a:ea typeface="Arial" pitchFamily="34" charset="-122"/>
                <a:cs typeface="Arial" pitchFamily="34" charset="-120"/>
              </a:rPr>
              <a:t>3 visitas diarias: 09:30 · 12:00 · 15:30 · 46 direcciones por confirmar</a:t>
            </a:r>
            <a:endParaRPr lang="en-US" sz="1000" kern="1200" dirty="0">
              <a:solidFill>
                <a:prstClr val="black"/>
              </a:solidFill>
              <a:latin typeface="Calibri" panose="020F0502020204030204"/>
              <a:ea typeface="+mn-ea"/>
              <a:cs typeface="+mn-cs"/>
            </a:endParaRPr>
          </a:p>
        </p:txBody>
      </p:sp>
      <p:sp>
        <p:nvSpPr>
          <p:cNvPr id="93" name="Text 90"/>
          <p:cNvSpPr/>
          <p:nvPr/>
        </p:nvSpPr>
        <p:spPr>
          <a:xfrm>
            <a:off x="7042107" y="4140178"/>
            <a:ext cx="1270882" cy="173567"/>
          </a:xfrm>
          <a:prstGeom prst="rect">
            <a:avLst/>
          </a:prstGeom>
          <a:noFill/>
          <a:ln/>
        </p:spPr>
        <p:txBody>
          <a:bodyPr wrap="square" lIns="16933" tIns="16933" rIns="16933" bIns="16933" rtlCol="0" anchor="t">
            <a:normAutofit lnSpcReduction="10000"/>
          </a:bodyPr>
          <a:lstStyle/>
          <a:p>
            <a:pPr defTabSz="609630">
              <a:buClrTx/>
            </a:pPr>
            <a:r>
              <a:rPr lang="en-US" sz="1000" b="1" kern="1200" dirty="0">
                <a:solidFill>
                  <a:srgbClr val="33448D"/>
                </a:solidFill>
                <a:latin typeface="Arial" pitchFamily="34" charset="0"/>
                <a:ea typeface="Arial" pitchFamily="34" charset="-122"/>
                <a:cs typeface="Arial" pitchFamily="34" charset="-120"/>
              </a:rPr>
              <a:t>Visitas por semana</a:t>
            </a:r>
            <a:endParaRPr lang="en-US" sz="1000" kern="1200" dirty="0">
              <a:solidFill>
                <a:prstClr val="black"/>
              </a:solidFill>
              <a:latin typeface="Calibri" panose="020F0502020204030204"/>
              <a:ea typeface="+mn-ea"/>
              <a:cs typeface="+mn-cs"/>
            </a:endParaRPr>
          </a:p>
        </p:txBody>
      </p:sp>
      <p:sp>
        <p:nvSpPr>
          <p:cNvPr id="94" name="Shape 91"/>
          <p:cNvSpPr/>
          <p:nvPr/>
        </p:nvSpPr>
        <p:spPr>
          <a:xfrm>
            <a:off x="7411751" y="4356035"/>
            <a:ext cx="1670403" cy="14111"/>
          </a:xfrm>
          <a:prstGeom prst="rect">
            <a:avLst/>
          </a:prstGeom>
          <a:solidFill>
            <a:srgbClr val="33448D"/>
          </a:solidFill>
          <a:ln/>
        </p:spPr>
        <p:txBody>
          <a:bodyPr/>
          <a:lstStyle/>
          <a:p>
            <a:endParaRPr lang="es-CL"/>
          </a:p>
        </p:txBody>
      </p:sp>
      <p:sp>
        <p:nvSpPr>
          <p:cNvPr id="95" name="Text 92"/>
          <p:cNvSpPr/>
          <p:nvPr/>
        </p:nvSpPr>
        <p:spPr>
          <a:xfrm>
            <a:off x="7328232" y="4389195"/>
            <a:ext cx="1837443" cy="152312"/>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Valparaíso · 64 visitas</a:t>
            </a:r>
            <a:endParaRPr lang="en-US" sz="850" kern="1200" dirty="0">
              <a:solidFill>
                <a:prstClr val="black"/>
              </a:solidFill>
              <a:latin typeface="Calibri" panose="020F0502020204030204"/>
              <a:ea typeface="+mn-ea"/>
              <a:cs typeface="+mn-cs"/>
            </a:endParaRPr>
          </a:p>
        </p:txBody>
      </p:sp>
      <p:sp>
        <p:nvSpPr>
          <p:cNvPr id="96" name="Shape 93"/>
          <p:cNvSpPr/>
          <p:nvPr/>
        </p:nvSpPr>
        <p:spPr>
          <a:xfrm>
            <a:off x="7093589" y="5676856"/>
            <a:ext cx="241212" cy="241212"/>
          </a:xfrm>
          <a:prstGeom prst="rect">
            <a:avLst/>
          </a:prstGeom>
          <a:solidFill>
            <a:srgbClr val="28D2C3"/>
          </a:solidFill>
          <a:ln/>
        </p:spPr>
        <p:txBody>
          <a:bodyPr/>
          <a:lstStyle/>
          <a:p>
            <a:endParaRPr lang="es-CL"/>
          </a:p>
        </p:txBody>
      </p:sp>
      <p:sp>
        <p:nvSpPr>
          <p:cNvPr id="97" name="Shape 94"/>
          <p:cNvSpPr/>
          <p:nvPr/>
        </p:nvSpPr>
        <p:spPr>
          <a:xfrm>
            <a:off x="7093589" y="5435534"/>
            <a:ext cx="241212" cy="241212"/>
          </a:xfrm>
          <a:prstGeom prst="rect">
            <a:avLst/>
          </a:prstGeom>
          <a:solidFill>
            <a:srgbClr val="373C46"/>
          </a:solidFill>
          <a:ln/>
        </p:spPr>
        <p:txBody>
          <a:bodyPr/>
          <a:lstStyle/>
          <a:p>
            <a:endParaRPr lang="es-CL"/>
          </a:p>
        </p:txBody>
      </p:sp>
      <p:sp>
        <p:nvSpPr>
          <p:cNvPr id="98" name="Text 95"/>
          <p:cNvSpPr/>
          <p:nvPr/>
        </p:nvSpPr>
        <p:spPr>
          <a:xfrm>
            <a:off x="7004689" y="5270501"/>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6</a:t>
            </a:r>
            <a:endParaRPr lang="en-US" sz="900" kern="1200" dirty="0">
              <a:solidFill>
                <a:prstClr val="black"/>
              </a:solidFill>
              <a:latin typeface="Calibri" panose="020F0502020204030204"/>
              <a:ea typeface="+mn-ea"/>
              <a:cs typeface="+mn-cs"/>
            </a:endParaRPr>
          </a:p>
        </p:txBody>
      </p:sp>
      <p:sp>
        <p:nvSpPr>
          <p:cNvPr id="99" name="Text 96"/>
          <p:cNvSpPr/>
          <p:nvPr/>
        </p:nvSpPr>
        <p:spPr>
          <a:xfrm>
            <a:off x="7016707"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a:t>
            </a:r>
            <a:endParaRPr lang="en-US" sz="850" kern="1200" dirty="0">
              <a:solidFill>
                <a:prstClr val="black"/>
              </a:solidFill>
              <a:latin typeface="Calibri" panose="020F0502020204030204"/>
              <a:ea typeface="+mn-ea"/>
              <a:cs typeface="+mn-cs"/>
            </a:endParaRPr>
          </a:p>
        </p:txBody>
      </p:sp>
      <p:sp>
        <p:nvSpPr>
          <p:cNvPr id="100" name="Shape 97"/>
          <p:cNvSpPr/>
          <p:nvPr/>
        </p:nvSpPr>
        <p:spPr>
          <a:xfrm>
            <a:off x="7437879" y="5194212"/>
            <a:ext cx="241212" cy="723856"/>
          </a:xfrm>
          <a:prstGeom prst="rect">
            <a:avLst/>
          </a:prstGeom>
          <a:solidFill>
            <a:srgbClr val="28D2C3"/>
          </a:solidFill>
          <a:ln/>
        </p:spPr>
        <p:txBody>
          <a:bodyPr/>
          <a:lstStyle/>
          <a:p>
            <a:endParaRPr lang="es-CL"/>
          </a:p>
        </p:txBody>
      </p:sp>
      <p:sp>
        <p:nvSpPr>
          <p:cNvPr id="101" name="Shape 98"/>
          <p:cNvSpPr/>
          <p:nvPr/>
        </p:nvSpPr>
        <p:spPr>
          <a:xfrm>
            <a:off x="7437879" y="4711678"/>
            <a:ext cx="241212" cy="482534"/>
          </a:xfrm>
          <a:prstGeom prst="rect">
            <a:avLst/>
          </a:prstGeom>
          <a:solidFill>
            <a:srgbClr val="373C46"/>
          </a:solidFill>
          <a:ln/>
        </p:spPr>
        <p:txBody>
          <a:bodyPr/>
          <a:lstStyle/>
          <a:p>
            <a:endParaRPr lang="es-CL"/>
          </a:p>
        </p:txBody>
      </p:sp>
      <p:sp>
        <p:nvSpPr>
          <p:cNvPr id="102" name="Text 99"/>
          <p:cNvSpPr/>
          <p:nvPr/>
        </p:nvSpPr>
        <p:spPr>
          <a:xfrm>
            <a:off x="7348979"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03" name="Text 100"/>
          <p:cNvSpPr/>
          <p:nvPr/>
        </p:nvSpPr>
        <p:spPr>
          <a:xfrm>
            <a:off x="7360995"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S2</a:t>
            </a:r>
            <a:endParaRPr lang="en-US" sz="850" kern="1200" dirty="0">
              <a:solidFill>
                <a:prstClr val="black"/>
              </a:solidFill>
              <a:latin typeface="Calibri" panose="020F0502020204030204"/>
              <a:ea typeface="+mn-ea"/>
              <a:cs typeface="+mn-cs"/>
            </a:endParaRPr>
          </a:p>
        </p:txBody>
      </p:sp>
      <p:sp>
        <p:nvSpPr>
          <p:cNvPr id="104" name="Shape 101"/>
          <p:cNvSpPr/>
          <p:nvPr/>
        </p:nvSpPr>
        <p:spPr>
          <a:xfrm>
            <a:off x="7782057" y="5837701"/>
            <a:ext cx="241212" cy="80367"/>
          </a:xfrm>
          <a:prstGeom prst="rect">
            <a:avLst/>
          </a:prstGeom>
          <a:solidFill>
            <a:srgbClr val="28D2C3"/>
          </a:solidFill>
          <a:ln/>
        </p:spPr>
        <p:txBody>
          <a:bodyPr/>
          <a:lstStyle/>
          <a:p>
            <a:endParaRPr lang="es-CL"/>
          </a:p>
        </p:txBody>
      </p:sp>
      <p:sp>
        <p:nvSpPr>
          <p:cNvPr id="105" name="Shape 102"/>
          <p:cNvSpPr/>
          <p:nvPr/>
        </p:nvSpPr>
        <p:spPr>
          <a:xfrm>
            <a:off x="7782057" y="4953001"/>
            <a:ext cx="241212" cy="884701"/>
          </a:xfrm>
          <a:prstGeom prst="rect">
            <a:avLst/>
          </a:prstGeom>
          <a:solidFill>
            <a:srgbClr val="373C46"/>
          </a:solidFill>
          <a:ln/>
        </p:spPr>
        <p:txBody>
          <a:bodyPr/>
          <a:lstStyle/>
          <a:p>
            <a:endParaRPr lang="es-CL"/>
          </a:p>
        </p:txBody>
      </p:sp>
      <p:sp>
        <p:nvSpPr>
          <p:cNvPr id="106" name="Text 103"/>
          <p:cNvSpPr/>
          <p:nvPr/>
        </p:nvSpPr>
        <p:spPr>
          <a:xfrm>
            <a:off x="7693157" y="4787857"/>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12</a:t>
            </a:r>
            <a:endParaRPr lang="en-US" sz="900" kern="1200" dirty="0">
              <a:solidFill>
                <a:prstClr val="black"/>
              </a:solidFill>
              <a:latin typeface="Calibri" panose="020F0502020204030204"/>
              <a:ea typeface="+mn-ea"/>
              <a:cs typeface="+mn-cs"/>
            </a:endParaRPr>
          </a:p>
        </p:txBody>
      </p:sp>
      <p:sp>
        <p:nvSpPr>
          <p:cNvPr id="107" name="Text 104"/>
          <p:cNvSpPr/>
          <p:nvPr/>
        </p:nvSpPr>
        <p:spPr>
          <a:xfrm>
            <a:off x="7705174"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S3</a:t>
            </a:r>
            <a:endParaRPr lang="en-US" sz="850" kern="1200" dirty="0">
              <a:solidFill>
                <a:prstClr val="black"/>
              </a:solidFill>
              <a:latin typeface="Calibri" panose="020F0502020204030204"/>
              <a:ea typeface="+mn-ea"/>
              <a:cs typeface="+mn-cs"/>
            </a:endParaRPr>
          </a:p>
        </p:txBody>
      </p:sp>
      <p:sp>
        <p:nvSpPr>
          <p:cNvPr id="108" name="Shape 105"/>
          <p:cNvSpPr/>
          <p:nvPr/>
        </p:nvSpPr>
        <p:spPr>
          <a:xfrm>
            <a:off x="8126347" y="5837701"/>
            <a:ext cx="241212" cy="80367"/>
          </a:xfrm>
          <a:prstGeom prst="rect">
            <a:avLst/>
          </a:prstGeom>
          <a:solidFill>
            <a:srgbClr val="28D2C3"/>
          </a:solidFill>
          <a:ln/>
        </p:spPr>
        <p:txBody>
          <a:bodyPr/>
          <a:lstStyle/>
          <a:p>
            <a:endParaRPr lang="es-CL"/>
          </a:p>
        </p:txBody>
      </p:sp>
      <p:sp>
        <p:nvSpPr>
          <p:cNvPr id="109" name="Shape 106"/>
          <p:cNvSpPr/>
          <p:nvPr/>
        </p:nvSpPr>
        <p:spPr>
          <a:xfrm>
            <a:off x="8126347" y="5596379"/>
            <a:ext cx="241212" cy="241212"/>
          </a:xfrm>
          <a:prstGeom prst="rect">
            <a:avLst/>
          </a:prstGeom>
          <a:solidFill>
            <a:srgbClr val="373C46"/>
          </a:solidFill>
          <a:ln/>
        </p:spPr>
        <p:txBody>
          <a:bodyPr/>
          <a:lstStyle/>
          <a:p>
            <a:endParaRPr lang="es-CL"/>
          </a:p>
        </p:txBody>
      </p:sp>
      <p:sp>
        <p:nvSpPr>
          <p:cNvPr id="110" name="Shape 107"/>
          <p:cNvSpPr/>
          <p:nvPr/>
        </p:nvSpPr>
        <p:spPr>
          <a:xfrm>
            <a:off x="8126347" y="4711678"/>
            <a:ext cx="241212" cy="884701"/>
          </a:xfrm>
          <a:prstGeom prst="rect">
            <a:avLst/>
          </a:prstGeom>
          <a:solidFill>
            <a:srgbClr val="282DF0"/>
          </a:solidFill>
          <a:ln/>
        </p:spPr>
        <p:txBody>
          <a:bodyPr/>
          <a:lstStyle/>
          <a:p>
            <a:endParaRPr lang="es-CL"/>
          </a:p>
        </p:txBody>
      </p:sp>
      <p:sp>
        <p:nvSpPr>
          <p:cNvPr id="111" name="Text 108"/>
          <p:cNvSpPr/>
          <p:nvPr/>
        </p:nvSpPr>
        <p:spPr>
          <a:xfrm>
            <a:off x="8037447"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12" name="Text 109"/>
          <p:cNvSpPr/>
          <p:nvPr/>
        </p:nvSpPr>
        <p:spPr>
          <a:xfrm>
            <a:off x="8049463"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S4</a:t>
            </a:r>
            <a:endParaRPr lang="en-US" sz="850" kern="1200" dirty="0">
              <a:solidFill>
                <a:prstClr val="black"/>
              </a:solidFill>
              <a:latin typeface="Calibri" panose="020F0502020204030204"/>
              <a:ea typeface="+mn-ea"/>
              <a:cs typeface="+mn-cs"/>
            </a:endParaRPr>
          </a:p>
        </p:txBody>
      </p:sp>
      <p:sp>
        <p:nvSpPr>
          <p:cNvPr id="113" name="Shape 110"/>
          <p:cNvSpPr/>
          <p:nvPr/>
        </p:nvSpPr>
        <p:spPr>
          <a:xfrm>
            <a:off x="8470636" y="4711678"/>
            <a:ext cx="241212" cy="1206500"/>
          </a:xfrm>
          <a:prstGeom prst="rect">
            <a:avLst/>
          </a:prstGeom>
          <a:solidFill>
            <a:srgbClr val="282DF0"/>
          </a:solidFill>
          <a:ln/>
        </p:spPr>
        <p:txBody>
          <a:bodyPr/>
          <a:lstStyle/>
          <a:p>
            <a:endParaRPr lang="es-CL"/>
          </a:p>
        </p:txBody>
      </p:sp>
      <p:sp>
        <p:nvSpPr>
          <p:cNvPr id="114" name="Text 111"/>
          <p:cNvSpPr/>
          <p:nvPr/>
        </p:nvSpPr>
        <p:spPr>
          <a:xfrm>
            <a:off x="8381736"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15" name="Text 112"/>
          <p:cNvSpPr/>
          <p:nvPr/>
        </p:nvSpPr>
        <p:spPr>
          <a:xfrm>
            <a:off x="8393752"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S5</a:t>
            </a:r>
            <a:endParaRPr lang="en-US" sz="850" kern="1200" dirty="0">
              <a:solidFill>
                <a:prstClr val="black"/>
              </a:solidFill>
              <a:latin typeface="Calibri" panose="020F0502020204030204"/>
              <a:ea typeface="+mn-ea"/>
              <a:cs typeface="+mn-cs"/>
            </a:endParaRPr>
          </a:p>
        </p:txBody>
      </p:sp>
      <p:sp>
        <p:nvSpPr>
          <p:cNvPr id="116" name="Shape 113"/>
          <p:cNvSpPr/>
          <p:nvPr/>
        </p:nvSpPr>
        <p:spPr>
          <a:xfrm>
            <a:off x="8814925" y="4711678"/>
            <a:ext cx="241212" cy="1206500"/>
          </a:xfrm>
          <a:prstGeom prst="rect">
            <a:avLst/>
          </a:prstGeom>
          <a:solidFill>
            <a:srgbClr val="282DF0"/>
          </a:solidFill>
          <a:ln/>
        </p:spPr>
        <p:txBody>
          <a:bodyPr/>
          <a:lstStyle/>
          <a:p>
            <a:endParaRPr lang="es-CL"/>
          </a:p>
        </p:txBody>
      </p:sp>
      <p:sp>
        <p:nvSpPr>
          <p:cNvPr id="117" name="Text 114"/>
          <p:cNvSpPr/>
          <p:nvPr/>
        </p:nvSpPr>
        <p:spPr>
          <a:xfrm>
            <a:off x="8726025"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18" name="Text 115"/>
          <p:cNvSpPr/>
          <p:nvPr/>
        </p:nvSpPr>
        <p:spPr>
          <a:xfrm>
            <a:off x="8738041"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S6</a:t>
            </a:r>
            <a:endParaRPr lang="en-US" sz="850" kern="1200" dirty="0">
              <a:solidFill>
                <a:prstClr val="black"/>
              </a:solidFill>
              <a:latin typeface="Calibri" panose="020F0502020204030204"/>
              <a:ea typeface="+mn-ea"/>
              <a:cs typeface="+mn-cs"/>
            </a:endParaRPr>
          </a:p>
        </p:txBody>
      </p:sp>
      <p:sp>
        <p:nvSpPr>
          <p:cNvPr id="119" name="Shape 116"/>
          <p:cNvSpPr/>
          <p:nvPr/>
        </p:nvSpPr>
        <p:spPr>
          <a:xfrm>
            <a:off x="9159104" y="4711678"/>
            <a:ext cx="241212" cy="1206500"/>
          </a:xfrm>
          <a:prstGeom prst="rect">
            <a:avLst/>
          </a:prstGeom>
          <a:solidFill>
            <a:srgbClr val="282DF0"/>
          </a:solidFill>
          <a:ln/>
        </p:spPr>
        <p:txBody>
          <a:bodyPr/>
          <a:lstStyle/>
          <a:p>
            <a:endParaRPr lang="es-CL"/>
          </a:p>
        </p:txBody>
      </p:sp>
      <p:sp>
        <p:nvSpPr>
          <p:cNvPr id="120" name="Text 117"/>
          <p:cNvSpPr/>
          <p:nvPr/>
        </p:nvSpPr>
        <p:spPr>
          <a:xfrm>
            <a:off x="9070204"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21" name="Text 118"/>
          <p:cNvSpPr/>
          <p:nvPr/>
        </p:nvSpPr>
        <p:spPr>
          <a:xfrm>
            <a:off x="9082220"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S7</a:t>
            </a:r>
            <a:endParaRPr lang="en-US" sz="850" kern="1200" dirty="0">
              <a:solidFill>
                <a:prstClr val="black"/>
              </a:solidFill>
              <a:latin typeface="Calibri" panose="020F0502020204030204"/>
              <a:ea typeface="+mn-ea"/>
              <a:cs typeface="+mn-cs"/>
            </a:endParaRPr>
          </a:p>
        </p:txBody>
      </p:sp>
      <p:sp>
        <p:nvSpPr>
          <p:cNvPr id="122" name="Shape 119"/>
          <p:cNvSpPr/>
          <p:nvPr/>
        </p:nvSpPr>
        <p:spPr>
          <a:xfrm>
            <a:off x="9503393" y="4711678"/>
            <a:ext cx="241212" cy="1206500"/>
          </a:xfrm>
          <a:prstGeom prst="rect">
            <a:avLst/>
          </a:prstGeom>
          <a:solidFill>
            <a:srgbClr val="282DF0"/>
          </a:solidFill>
          <a:ln/>
        </p:spPr>
        <p:txBody>
          <a:bodyPr/>
          <a:lstStyle/>
          <a:p>
            <a:endParaRPr lang="es-CL"/>
          </a:p>
        </p:txBody>
      </p:sp>
      <p:sp>
        <p:nvSpPr>
          <p:cNvPr id="123" name="Text 120"/>
          <p:cNvSpPr/>
          <p:nvPr/>
        </p:nvSpPr>
        <p:spPr>
          <a:xfrm>
            <a:off x="9414493"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24" name="Text 121"/>
          <p:cNvSpPr/>
          <p:nvPr/>
        </p:nvSpPr>
        <p:spPr>
          <a:xfrm>
            <a:off x="9426509"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S8</a:t>
            </a:r>
            <a:endParaRPr lang="en-US" sz="850" kern="1200" dirty="0">
              <a:solidFill>
                <a:prstClr val="black"/>
              </a:solidFill>
              <a:latin typeface="Calibri" panose="020F0502020204030204"/>
              <a:ea typeface="+mn-ea"/>
              <a:cs typeface="+mn-cs"/>
            </a:endParaRPr>
          </a:p>
        </p:txBody>
      </p:sp>
      <p:sp>
        <p:nvSpPr>
          <p:cNvPr id="125" name="Shape 122"/>
          <p:cNvSpPr/>
          <p:nvPr/>
        </p:nvSpPr>
        <p:spPr>
          <a:xfrm>
            <a:off x="9847682" y="4711678"/>
            <a:ext cx="241212" cy="1206500"/>
          </a:xfrm>
          <a:prstGeom prst="rect">
            <a:avLst/>
          </a:prstGeom>
          <a:solidFill>
            <a:srgbClr val="282DF0"/>
          </a:solidFill>
          <a:ln/>
        </p:spPr>
        <p:txBody>
          <a:bodyPr/>
          <a:lstStyle/>
          <a:p>
            <a:endParaRPr lang="es-CL"/>
          </a:p>
        </p:txBody>
      </p:sp>
      <p:sp>
        <p:nvSpPr>
          <p:cNvPr id="126" name="Text 123"/>
          <p:cNvSpPr/>
          <p:nvPr/>
        </p:nvSpPr>
        <p:spPr>
          <a:xfrm>
            <a:off x="9758782"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27" name="Text 124"/>
          <p:cNvSpPr/>
          <p:nvPr/>
        </p:nvSpPr>
        <p:spPr>
          <a:xfrm>
            <a:off x="9770798"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S9</a:t>
            </a:r>
            <a:endParaRPr lang="en-US" sz="850" kern="1200" dirty="0">
              <a:solidFill>
                <a:prstClr val="black"/>
              </a:solidFill>
              <a:latin typeface="Calibri" panose="020F0502020204030204"/>
              <a:ea typeface="+mn-ea"/>
              <a:cs typeface="+mn-cs"/>
            </a:endParaRPr>
          </a:p>
        </p:txBody>
      </p:sp>
      <p:sp>
        <p:nvSpPr>
          <p:cNvPr id="128" name="Shape 125"/>
          <p:cNvSpPr/>
          <p:nvPr/>
        </p:nvSpPr>
        <p:spPr>
          <a:xfrm>
            <a:off x="10191971" y="4711678"/>
            <a:ext cx="241212" cy="1206500"/>
          </a:xfrm>
          <a:prstGeom prst="rect">
            <a:avLst/>
          </a:prstGeom>
          <a:solidFill>
            <a:srgbClr val="282DF0"/>
          </a:solidFill>
          <a:ln/>
        </p:spPr>
        <p:txBody>
          <a:bodyPr/>
          <a:lstStyle/>
          <a:p>
            <a:endParaRPr lang="es-CL"/>
          </a:p>
        </p:txBody>
      </p:sp>
      <p:sp>
        <p:nvSpPr>
          <p:cNvPr id="129" name="Text 126"/>
          <p:cNvSpPr/>
          <p:nvPr/>
        </p:nvSpPr>
        <p:spPr>
          <a:xfrm>
            <a:off x="10103071"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30" name="Text 127"/>
          <p:cNvSpPr/>
          <p:nvPr/>
        </p:nvSpPr>
        <p:spPr>
          <a:xfrm>
            <a:off x="10115087"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S10</a:t>
            </a:r>
            <a:endParaRPr lang="en-US" sz="850" kern="1200" dirty="0">
              <a:solidFill>
                <a:prstClr val="black"/>
              </a:solidFill>
              <a:latin typeface="Calibri" panose="020F0502020204030204"/>
              <a:ea typeface="+mn-ea"/>
              <a:cs typeface="+mn-cs"/>
            </a:endParaRPr>
          </a:p>
        </p:txBody>
      </p:sp>
      <p:sp>
        <p:nvSpPr>
          <p:cNvPr id="131" name="Shape 128"/>
          <p:cNvSpPr/>
          <p:nvPr/>
        </p:nvSpPr>
        <p:spPr>
          <a:xfrm>
            <a:off x="10536150" y="4953001"/>
            <a:ext cx="241212" cy="965178"/>
          </a:xfrm>
          <a:prstGeom prst="rect">
            <a:avLst/>
          </a:prstGeom>
          <a:solidFill>
            <a:srgbClr val="282DF0"/>
          </a:solidFill>
          <a:ln/>
        </p:spPr>
        <p:txBody>
          <a:bodyPr/>
          <a:lstStyle/>
          <a:p>
            <a:endParaRPr lang="es-CL"/>
          </a:p>
        </p:txBody>
      </p:sp>
      <p:sp>
        <p:nvSpPr>
          <p:cNvPr id="132" name="Text 129"/>
          <p:cNvSpPr/>
          <p:nvPr/>
        </p:nvSpPr>
        <p:spPr>
          <a:xfrm>
            <a:off x="10447250" y="4787857"/>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12</a:t>
            </a:r>
            <a:endParaRPr lang="en-US" sz="900" kern="1200" dirty="0">
              <a:solidFill>
                <a:prstClr val="black"/>
              </a:solidFill>
              <a:latin typeface="Calibri" panose="020F0502020204030204"/>
              <a:ea typeface="+mn-ea"/>
              <a:cs typeface="+mn-cs"/>
            </a:endParaRPr>
          </a:p>
        </p:txBody>
      </p:sp>
      <p:sp>
        <p:nvSpPr>
          <p:cNvPr id="133" name="Text 130"/>
          <p:cNvSpPr/>
          <p:nvPr/>
        </p:nvSpPr>
        <p:spPr>
          <a:xfrm>
            <a:off x="10459266"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S11</a:t>
            </a:r>
            <a:endParaRPr lang="en-US" sz="850" kern="1200" dirty="0">
              <a:solidFill>
                <a:prstClr val="black"/>
              </a:solidFill>
              <a:latin typeface="Calibri" panose="020F0502020204030204"/>
              <a:ea typeface="+mn-ea"/>
              <a:cs typeface="+mn-cs"/>
            </a:endParaRPr>
          </a:p>
        </p:txBody>
      </p:sp>
      <p:sp>
        <p:nvSpPr>
          <p:cNvPr id="134" name="Shape 131"/>
          <p:cNvSpPr/>
          <p:nvPr/>
        </p:nvSpPr>
        <p:spPr>
          <a:xfrm>
            <a:off x="10880439" y="4711678"/>
            <a:ext cx="241212" cy="1206500"/>
          </a:xfrm>
          <a:prstGeom prst="rect">
            <a:avLst/>
          </a:prstGeom>
          <a:solidFill>
            <a:srgbClr val="282DF0"/>
          </a:solidFill>
          <a:ln/>
        </p:spPr>
        <p:txBody>
          <a:bodyPr/>
          <a:lstStyle/>
          <a:p>
            <a:endParaRPr lang="es-CL"/>
          </a:p>
        </p:txBody>
      </p:sp>
      <p:sp>
        <p:nvSpPr>
          <p:cNvPr id="135" name="Text 132"/>
          <p:cNvSpPr/>
          <p:nvPr/>
        </p:nvSpPr>
        <p:spPr>
          <a:xfrm>
            <a:off x="10791539" y="4546535"/>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15</a:t>
            </a:r>
            <a:endParaRPr lang="en-US" sz="900" kern="1200" dirty="0">
              <a:solidFill>
                <a:prstClr val="black"/>
              </a:solidFill>
              <a:latin typeface="Calibri" panose="020F0502020204030204"/>
              <a:ea typeface="+mn-ea"/>
              <a:cs typeface="+mn-cs"/>
            </a:endParaRPr>
          </a:p>
        </p:txBody>
      </p:sp>
      <p:sp>
        <p:nvSpPr>
          <p:cNvPr id="136" name="Text 133"/>
          <p:cNvSpPr/>
          <p:nvPr/>
        </p:nvSpPr>
        <p:spPr>
          <a:xfrm>
            <a:off x="10803555"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S12</a:t>
            </a:r>
            <a:endParaRPr lang="en-US" sz="850" kern="1200" dirty="0">
              <a:solidFill>
                <a:prstClr val="black"/>
              </a:solidFill>
              <a:latin typeface="Calibri" panose="020F0502020204030204"/>
              <a:ea typeface="+mn-ea"/>
              <a:cs typeface="+mn-cs"/>
            </a:endParaRPr>
          </a:p>
        </p:txBody>
      </p:sp>
      <p:sp>
        <p:nvSpPr>
          <p:cNvPr id="137" name="Shape 134"/>
          <p:cNvSpPr/>
          <p:nvPr/>
        </p:nvSpPr>
        <p:spPr>
          <a:xfrm>
            <a:off x="11224728" y="4953001"/>
            <a:ext cx="241212" cy="965178"/>
          </a:xfrm>
          <a:prstGeom prst="rect">
            <a:avLst/>
          </a:prstGeom>
          <a:solidFill>
            <a:srgbClr val="282DF0"/>
          </a:solidFill>
          <a:ln/>
        </p:spPr>
        <p:txBody>
          <a:bodyPr/>
          <a:lstStyle/>
          <a:p>
            <a:endParaRPr lang="es-CL"/>
          </a:p>
        </p:txBody>
      </p:sp>
      <p:sp>
        <p:nvSpPr>
          <p:cNvPr id="138" name="Text 135"/>
          <p:cNvSpPr/>
          <p:nvPr/>
        </p:nvSpPr>
        <p:spPr>
          <a:xfrm>
            <a:off x="11135828" y="4787857"/>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12</a:t>
            </a:r>
            <a:endParaRPr lang="en-US" sz="900" kern="1200" dirty="0">
              <a:solidFill>
                <a:prstClr val="black"/>
              </a:solidFill>
              <a:latin typeface="Calibri" panose="020F0502020204030204"/>
              <a:ea typeface="+mn-ea"/>
              <a:cs typeface="+mn-cs"/>
            </a:endParaRPr>
          </a:p>
        </p:txBody>
      </p:sp>
      <p:sp>
        <p:nvSpPr>
          <p:cNvPr id="139" name="Text 136"/>
          <p:cNvSpPr/>
          <p:nvPr/>
        </p:nvSpPr>
        <p:spPr>
          <a:xfrm>
            <a:off x="11147845"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S13</a:t>
            </a:r>
            <a:endParaRPr lang="en-US" sz="850" kern="1200" dirty="0">
              <a:solidFill>
                <a:prstClr val="black"/>
              </a:solidFill>
              <a:latin typeface="Calibri" panose="020F0502020204030204"/>
              <a:ea typeface="+mn-ea"/>
              <a:cs typeface="+mn-cs"/>
            </a:endParaRPr>
          </a:p>
        </p:txBody>
      </p:sp>
      <p:sp>
        <p:nvSpPr>
          <p:cNvPr id="140" name="Shape 137"/>
          <p:cNvSpPr/>
          <p:nvPr/>
        </p:nvSpPr>
        <p:spPr>
          <a:xfrm>
            <a:off x="11569017" y="5435534"/>
            <a:ext cx="241212" cy="482534"/>
          </a:xfrm>
          <a:prstGeom prst="rect">
            <a:avLst/>
          </a:prstGeom>
          <a:solidFill>
            <a:srgbClr val="282DF0"/>
          </a:solidFill>
          <a:ln/>
        </p:spPr>
        <p:txBody>
          <a:bodyPr/>
          <a:lstStyle/>
          <a:p>
            <a:endParaRPr lang="es-CL"/>
          </a:p>
        </p:txBody>
      </p:sp>
      <p:sp>
        <p:nvSpPr>
          <p:cNvPr id="141" name="Text 138"/>
          <p:cNvSpPr/>
          <p:nvPr/>
        </p:nvSpPr>
        <p:spPr>
          <a:xfrm>
            <a:off x="11480117" y="5270501"/>
            <a:ext cx="419012" cy="159455"/>
          </a:xfrm>
          <a:prstGeom prst="rect">
            <a:avLst/>
          </a:prstGeom>
          <a:noFill/>
          <a:ln/>
        </p:spPr>
        <p:txBody>
          <a:bodyPr wrap="square" lIns="16933" tIns="16933" rIns="16933" bIns="16933" rtlCol="0" anchor="t">
            <a:normAutofit lnSpcReduction="10000"/>
          </a:bodyPr>
          <a:lstStyle/>
          <a:p>
            <a:pPr algn="ctr" defTabSz="609630">
              <a:buClrTx/>
            </a:pPr>
            <a:r>
              <a:rPr lang="en-US" sz="900" b="1" kern="1200" dirty="0">
                <a:solidFill>
                  <a:srgbClr val="373C46"/>
                </a:solidFill>
                <a:latin typeface="Arial" pitchFamily="34" charset="0"/>
                <a:ea typeface="Arial" pitchFamily="34" charset="-122"/>
                <a:cs typeface="Arial" pitchFamily="34" charset="-120"/>
              </a:rPr>
              <a:t>6</a:t>
            </a:r>
            <a:endParaRPr lang="en-US" sz="900" kern="1200" dirty="0">
              <a:solidFill>
                <a:prstClr val="black"/>
              </a:solidFill>
              <a:latin typeface="Calibri" panose="020F0502020204030204"/>
              <a:ea typeface="+mn-ea"/>
              <a:cs typeface="+mn-cs"/>
            </a:endParaRPr>
          </a:p>
        </p:txBody>
      </p:sp>
      <p:sp>
        <p:nvSpPr>
          <p:cNvPr id="142" name="Text 139"/>
          <p:cNvSpPr/>
          <p:nvPr/>
        </p:nvSpPr>
        <p:spPr>
          <a:xfrm>
            <a:off x="11492133" y="5969001"/>
            <a:ext cx="394979" cy="152400"/>
          </a:xfrm>
          <a:prstGeom prst="rect">
            <a:avLst/>
          </a:prstGeom>
          <a:noFill/>
          <a:ln/>
        </p:spPr>
        <p:txBody>
          <a:bodyPr wrap="square" lIns="16933" tIns="16933" rIns="16933" bIns="16933" rtlCol="0" anchor="t">
            <a:normAutofit lnSpcReduction="10000"/>
          </a:bodyPr>
          <a:lstStyle/>
          <a:p>
            <a:pPr algn="ctr" defTabSz="609630">
              <a:buClrTx/>
            </a:pPr>
            <a:r>
              <a:rPr lang="en-US" sz="850" b="1" kern="1200" dirty="0">
                <a:solidFill>
                  <a:srgbClr val="33448D"/>
                </a:solidFill>
                <a:latin typeface="Arial" pitchFamily="34" charset="0"/>
                <a:ea typeface="Arial" pitchFamily="34" charset="-122"/>
                <a:cs typeface="Arial" pitchFamily="34" charset="-120"/>
              </a:rPr>
              <a:t>S14</a:t>
            </a:r>
            <a:endParaRPr lang="en-US" sz="850" kern="1200" dirty="0">
              <a:solidFill>
                <a:prstClr val="black"/>
              </a:solidFill>
              <a:latin typeface="Calibri" panose="020F0502020204030204"/>
              <a:ea typeface="+mn-ea"/>
              <a:cs typeface="+mn-cs"/>
            </a:endParaRPr>
          </a:p>
        </p:txBody>
      </p:sp>
      <p:sp>
        <p:nvSpPr>
          <p:cNvPr id="143" name="Shape 140"/>
          <p:cNvSpPr/>
          <p:nvPr/>
        </p:nvSpPr>
        <p:spPr>
          <a:xfrm>
            <a:off x="7042107" y="5918178"/>
            <a:ext cx="4819606" cy="12678"/>
          </a:xfrm>
          <a:prstGeom prst="rect">
            <a:avLst/>
          </a:prstGeom>
          <a:solidFill>
            <a:srgbClr val="06201D"/>
          </a:solidFill>
          <a:ln/>
        </p:spPr>
        <p:txBody>
          <a:bodyPr/>
          <a:lstStyle/>
          <a:p>
            <a:endParaRPr lang="es-CL"/>
          </a:p>
        </p:txBody>
      </p:sp>
      <p:sp>
        <p:nvSpPr>
          <p:cNvPr id="144" name="Shape 141"/>
          <p:cNvSpPr/>
          <p:nvPr/>
        </p:nvSpPr>
        <p:spPr>
          <a:xfrm>
            <a:off x="7061179" y="6146713"/>
            <a:ext cx="1683191" cy="7055"/>
          </a:xfrm>
          <a:prstGeom prst="rect">
            <a:avLst/>
          </a:prstGeom>
          <a:solidFill>
            <a:srgbClr val="9AA0AA"/>
          </a:solidFill>
          <a:ln/>
        </p:spPr>
        <p:txBody>
          <a:bodyPr/>
          <a:lstStyle/>
          <a:p>
            <a:endParaRPr lang="es-CL"/>
          </a:p>
        </p:txBody>
      </p:sp>
      <p:sp>
        <p:nvSpPr>
          <p:cNvPr id="145" name="Text 142"/>
          <p:cNvSpPr/>
          <p:nvPr/>
        </p:nvSpPr>
        <p:spPr>
          <a:xfrm>
            <a:off x="6977019" y="6166467"/>
            <a:ext cx="1851510" cy="138267"/>
          </a:xfrm>
          <a:prstGeom prst="rect">
            <a:avLst/>
          </a:prstGeom>
          <a:noFill/>
          <a:ln/>
        </p:spPr>
        <p:txBody>
          <a:bodyPr wrap="square" lIns="16933" tIns="16933" rIns="16933" bIns="16933" rtlCol="0" anchor="t">
            <a:normAutofit fontScale="92500" lnSpcReduction="10000"/>
          </a:bodyPr>
          <a:lstStyle/>
          <a:p>
            <a:pPr algn="ctr" defTabSz="609630">
              <a:buClrTx/>
            </a:pPr>
            <a:r>
              <a:rPr lang="en-US" sz="800" kern="1200" dirty="0">
                <a:solidFill>
                  <a:srgbClr val="373C46"/>
                </a:solidFill>
                <a:latin typeface="Arial" pitchFamily="34" charset="0"/>
                <a:ea typeface="Arial" pitchFamily="34" charset="-122"/>
                <a:cs typeface="Arial" pitchFamily="34" charset="-120"/>
              </a:rPr>
              <a:t>Octubre</a:t>
            </a:r>
            <a:endParaRPr lang="en-US" sz="800" kern="1200" dirty="0">
              <a:solidFill>
                <a:prstClr val="black"/>
              </a:solidFill>
              <a:latin typeface="Calibri" panose="020F0502020204030204"/>
              <a:ea typeface="+mn-ea"/>
              <a:cs typeface="+mn-cs"/>
            </a:endParaRPr>
          </a:p>
        </p:txBody>
      </p:sp>
      <p:sp>
        <p:nvSpPr>
          <p:cNvPr id="146" name="Shape 143"/>
          <p:cNvSpPr/>
          <p:nvPr/>
        </p:nvSpPr>
        <p:spPr>
          <a:xfrm>
            <a:off x="8782404" y="6146713"/>
            <a:ext cx="1338902" cy="7055"/>
          </a:xfrm>
          <a:prstGeom prst="rect">
            <a:avLst/>
          </a:prstGeom>
          <a:solidFill>
            <a:srgbClr val="9AA0AA"/>
          </a:solidFill>
          <a:ln/>
        </p:spPr>
        <p:txBody>
          <a:bodyPr/>
          <a:lstStyle/>
          <a:p>
            <a:endParaRPr lang="es-CL"/>
          </a:p>
        </p:txBody>
      </p:sp>
      <p:sp>
        <p:nvSpPr>
          <p:cNvPr id="147" name="Text 144"/>
          <p:cNvSpPr/>
          <p:nvPr/>
        </p:nvSpPr>
        <p:spPr>
          <a:xfrm>
            <a:off x="8715459" y="6166467"/>
            <a:ext cx="1472792" cy="138267"/>
          </a:xfrm>
          <a:prstGeom prst="rect">
            <a:avLst/>
          </a:prstGeom>
          <a:noFill/>
          <a:ln/>
        </p:spPr>
        <p:txBody>
          <a:bodyPr wrap="square" lIns="16933" tIns="16933" rIns="16933" bIns="16933" rtlCol="0" anchor="t">
            <a:normAutofit fontScale="92500" lnSpcReduction="10000"/>
          </a:bodyPr>
          <a:lstStyle/>
          <a:p>
            <a:pPr algn="ctr" defTabSz="609630">
              <a:buClrTx/>
            </a:pPr>
            <a:r>
              <a:rPr lang="en-US" sz="800" kern="1200" dirty="0">
                <a:solidFill>
                  <a:srgbClr val="373C46"/>
                </a:solidFill>
                <a:latin typeface="Arial" pitchFamily="34" charset="0"/>
                <a:ea typeface="Arial" pitchFamily="34" charset="-122"/>
                <a:cs typeface="Arial" pitchFamily="34" charset="-120"/>
              </a:rPr>
              <a:t>Noviembre</a:t>
            </a:r>
            <a:endParaRPr lang="en-US" sz="800" kern="1200" dirty="0">
              <a:solidFill>
                <a:prstClr val="black"/>
              </a:solidFill>
              <a:latin typeface="Calibri" panose="020F0502020204030204"/>
              <a:ea typeface="+mn-ea"/>
              <a:cs typeface="+mn-cs"/>
            </a:endParaRPr>
          </a:p>
        </p:txBody>
      </p:sp>
      <p:sp>
        <p:nvSpPr>
          <p:cNvPr id="148" name="Shape 145"/>
          <p:cNvSpPr/>
          <p:nvPr/>
        </p:nvSpPr>
        <p:spPr>
          <a:xfrm>
            <a:off x="10159450" y="6146713"/>
            <a:ext cx="1683191" cy="7055"/>
          </a:xfrm>
          <a:prstGeom prst="rect">
            <a:avLst/>
          </a:prstGeom>
          <a:solidFill>
            <a:srgbClr val="9AA0AA"/>
          </a:solidFill>
          <a:ln/>
        </p:spPr>
        <p:txBody>
          <a:bodyPr/>
          <a:lstStyle/>
          <a:p>
            <a:endParaRPr lang="es-CL"/>
          </a:p>
        </p:txBody>
      </p:sp>
      <p:sp>
        <p:nvSpPr>
          <p:cNvPr id="149" name="Text 146"/>
          <p:cNvSpPr/>
          <p:nvPr/>
        </p:nvSpPr>
        <p:spPr>
          <a:xfrm>
            <a:off x="10075290" y="6166467"/>
            <a:ext cx="1851510" cy="138267"/>
          </a:xfrm>
          <a:prstGeom prst="rect">
            <a:avLst/>
          </a:prstGeom>
          <a:noFill/>
          <a:ln/>
        </p:spPr>
        <p:txBody>
          <a:bodyPr wrap="square" lIns="16933" tIns="16933" rIns="16933" bIns="16933" rtlCol="0" anchor="t">
            <a:normAutofit fontScale="92500" lnSpcReduction="10000"/>
          </a:bodyPr>
          <a:lstStyle/>
          <a:p>
            <a:pPr algn="ctr" defTabSz="609630">
              <a:buClrTx/>
            </a:pPr>
            <a:r>
              <a:rPr lang="en-US" sz="800" kern="1200" dirty="0">
                <a:solidFill>
                  <a:srgbClr val="373C46"/>
                </a:solidFill>
                <a:latin typeface="Arial" pitchFamily="34" charset="0"/>
                <a:ea typeface="Arial" pitchFamily="34" charset="-122"/>
                <a:cs typeface="Arial" pitchFamily="34" charset="-120"/>
              </a:rPr>
              <a:t>Diciembre</a:t>
            </a:r>
            <a:endParaRPr lang="en-US" sz="800" kern="1200" dirty="0">
              <a:solidFill>
                <a:prstClr val="black"/>
              </a:solidFill>
              <a:latin typeface="Calibri" panose="020F0502020204030204"/>
              <a:ea typeface="+mn-ea"/>
              <a:cs typeface="+mn-cs"/>
            </a:endParaRPr>
          </a:p>
        </p:txBody>
      </p:sp>
      <p:sp>
        <p:nvSpPr>
          <p:cNvPr id="150" name="Shape 147"/>
          <p:cNvSpPr/>
          <p:nvPr/>
        </p:nvSpPr>
        <p:spPr>
          <a:xfrm>
            <a:off x="6134035" y="1663678"/>
            <a:ext cx="7055" cy="4572001"/>
          </a:xfrm>
          <a:prstGeom prst="rect">
            <a:avLst/>
          </a:prstGeom>
          <a:solidFill>
            <a:srgbClr val="D9DCE3"/>
          </a:solidFill>
          <a:ln/>
        </p:spPr>
        <p:txBody>
          <a:bodyPr/>
          <a:lstStyle/>
          <a:p>
            <a:endParaRPr lang="es-CL"/>
          </a:p>
        </p:txBody>
      </p:sp>
      <p:sp>
        <p:nvSpPr>
          <p:cNvPr id="151" name="Text 148"/>
          <p:cNvSpPr/>
          <p:nvPr/>
        </p:nvSpPr>
        <p:spPr>
          <a:xfrm>
            <a:off x="6559507" y="6426179"/>
            <a:ext cx="5308601" cy="159455"/>
          </a:xfrm>
          <a:prstGeom prst="rect">
            <a:avLst/>
          </a:prstGeom>
          <a:noFill/>
          <a:ln/>
        </p:spPr>
        <p:txBody>
          <a:bodyPr wrap="square" lIns="16933" tIns="16933" rIns="16933" bIns="16933" rtlCol="0" anchor="t">
            <a:normAutofit lnSpcReduction="10000"/>
          </a:bodyPr>
          <a:lstStyle/>
          <a:p>
            <a:pPr algn="r" defTabSz="609630">
              <a:buClrTx/>
            </a:pPr>
            <a:r>
              <a:rPr lang="en-US" sz="900" kern="1200" dirty="0">
                <a:solidFill>
                  <a:srgbClr val="373C46"/>
                </a:solidFill>
                <a:latin typeface="Arial" pitchFamily="34" charset="0"/>
                <a:ea typeface="Arial" pitchFamily="34" charset="-122"/>
                <a:cs typeface="Arial" pitchFamily="34" charset="-120"/>
              </a:rPr>
              <a:t>Fuente: Agenda_ejecutivos_2026-09-25 · Potencial ST anual en MM$</a:t>
            </a:r>
            <a:endParaRPr lang="en-US" sz="900" kern="1200" dirty="0">
              <a:solidFill>
                <a:prstClr val="black"/>
              </a:solidFill>
              <a:latin typeface="Calibri" panose="020F0502020204030204"/>
              <a:ea typeface="+mn-ea"/>
              <a:cs typeface="+mn-cs"/>
            </a:endParaRPr>
          </a:p>
        </p:txBody>
      </p:sp>
      <p:pic>
        <p:nvPicPr>
          <p:cNvPr id="152" name="Image 1" descr="preencoded.png"/>
          <p:cNvPicPr>
            <a:picLocks noChangeAspect="1"/>
          </p:cNvPicPr>
          <p:nvPr/>
        </p:nvPicPr>
        <p:blipFill>
          <a:blip r:embed="rId4"/>
          <a:stretch>
            <a:fillRect/>
          </a:stretch>
        </p:blipFill>
        <p:spPr>
          <a:xfrm>
            <a:off x="330178" y="6400712"/>
            <a:ext cx="1225462" cy="279356"/>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93678" y="184106"/>
            <a:ext cx="11874501" cy="444434"/>
          </a:xfrm>
          <a:prstGeom prst="rect">
            <a:avLst/>
          </a:prstGeom>
          <a:noFill/>
          <a:ln/>
        </p:spPr>
        <p:txBody>
          <a:bodyPr wrap="square" lIns="16933" tIns="16933" rIns="16933" bIns="16933" rtlCol="0" anchor="ctr">
            <a:normAutofit lnSpcReduction="10000"/>
          </a:bodyPr>
          <a:lstStyle/>
          <a:p>
            <a:pPr defTabSz="609630">
              <a:buClrTx/>
            </a:pPr>
            <a:r>
              <a:rPr lang="en-US" sz="2700" b="1" kern="1200" dirty="0">
                <a:solidFill>
                  <a:srgbClr val="33448D"/>
                </a:solidFill>
                <a:latin typeface="Arial" pitchFamily="34" charset="0"/>
                <a:ea typeface="Arial" pitchFamily="34" charset="-122"/>
                <a:cs typeface="Arial" pitchFamily="34" charset="-120"/>
              </a:rPr>
              <a:t>Segmentación de cartera por región</a:t>
            </a:r>
            <a:endParaRPr lang="en-US" sz="2700" kern="1200" dirty="0">
              <a:solidFill>
                <a:prstClr val="black"/>
              </a:solidFill>
              <a:latin typeface="Calibri" panose="020F0502020204030204"/>
              <a:ea typeface="+mn-ea"/>
              <a:cs typeface="+mn-cs"/>
            </a:endParaRPr>
          </a:p>
        </p:txBody>
      </p:sp>
      <p:pic>
        <p:nvPicPr>
          <p:cNvPr id="3" name="Image 0" descr="preencoded.png"/>
          <p:cNvPicPr>
            <a:picLocks noChangeAspect="1"/>
          </p:cNvPicPr>
          <p:nvPr/>
        </p:nvPicPr>
        <p:blipFill>
          <a:blip r:embed="rId3"/>
          <a:stretch>
            <a:fillRect/>
          </a:stretch>
        </p:blipFill>
        <p:spPr>
          <a:xfrm>
            <a:off x="11417213" y="127000"/>
            <a:ext cx="469856" cy="469856"/>
          </a:xfrm>
          <a:prstGeom prst="rect">
            <a:avLst/>
          </a:prstGeom>
        </p:spPr>
      </p:pic>
      <p:sp>
        <p:nvSpPr>
          <p:cNvPr id="4" name="Shape 1"/>
          <p:cNvSpPr/>
          <p:nvPr/>
        </p:nvSpPr>
        <p:spPr>
          <a:xfrm>
            <a:off x="469856" y="1085784"/>
            <a:ext cx="7721534" cy="419034"/>
          </a:xfrm>
          <a:prstGeom prst="rect">
            <a:avLst/>
          </a:prstGeom>
          <a:solidFill>
            <a:srgbClr val="28D2C3"/>
          </a:solidFill>
          <a:ln w="21167">
            <a:solidFill>
              <a:srgbClr val="06201D"/>
            </a:solidFill>
            <a:prstDash val="solid"/>
          </a:ln>
        </p:spPr>
        <p:txBody>
          <a:bodyPr/>
          <a:lstStyle/>
          <a:p>
            <a:endParaRPr lang="es-CL"/>
          </a:p>
        </p:txBody>
      </p:sp>
      <p:sp>
        <p:nvSpPr>
          <p:cNvPr id="5" name="Text 2"/>
          <p:cNvSpPr/>
          <p:nvPr/>
        </p:nvSpPr>
        <p:spPr>
          <a:xfrm>
            <a:off x="368144" y="1099895"/>
            <a:ext cx="7924958" cy="416212"/>
          </a:xfrm>
          <a:prstGeom prst="rect">
            <a:avLst/>
          </a:prstGeom>
          <a:noFill/>
          <a:ln/>
        </p:spPr>
        <p:txBody>
          <a:bodyPr wrap="square" lIns="16933" tIns="16933" rIns="16933" bIns="16933" rtlCol="0" anchor="ctr">
            <a:normAutofit/>
          </a:bodyPr>
          <a:lstStyle/>
          <a:p>
            <a:pPr algn="ctr" defTabSz="609630">
              <a:buClrTx/>
            </a:pPr>
            <a:r>
              <a:rPr lang="en-US" b="1" kern="1200" dirty="0">
                <a:solidFill>
                  <a:srgbClr val="FFFFFF"/>
                </a:solidFill>
                <a:latin typeface="Arial" pitchFamily="34" charset="0"/>
                <a:ea typeface="Arial" pitchFamily="34" charset="-122"/>
                <a:cs typeface="Arial" pitchFamily="34" charset="-120"/>
              </a:rPr>
              <a:t>Cartera ST por región · 758 clientes · Potencial MM$2.099,9</a:t>
            </a:r>
            <a:endParaRPr lang="en-US" kern="1200" dirty="0">
              <a:solidFill>
                <a:prstClr val="black"/>
              </a:solidFill>
              <a:latin typeface="Calibri" panose="020F0502020204030204"/>
              <a:ea typeface="+mn-ea"/>
              <a:cs typeface="+mn-cs"/>
            </a:endParaRPr>
          </a:p>
        </p:txBody>
      </p:sp>
      <p:sp>
        <p:nvSpPr>
          <p:cNvPr id="6" name="Shape 3"/>
          <p:cNvSpPr/>
          <p:nvPr/>
        </p:nvSpPr>
        <p:spPr>
          <a:xfrm>
            <a:off x="8445501" y="1085784"/>
            <a:ext cx="3416212" cy="419034"/>
          </a:xfrm>
          <a:prstGeom prst="rect">
            <a:avLst/>
          </a:prstGeom>
          <a:solidFill>
            <a:srgbClr val="28D2C3"/>
          </a:solidFill>
          <a:ln w="21167">
            <a:solidFill>
              <a:srgbClr val="06201D"/>
            </a:solidFill>
            <a:prstDash val="solid"/>
          </a:ln>
        </p:spPr>
        <p:txBody>
          <a:bodyPr/>
          <a:lstStyle/>
          <a:p>
            <a:endParaRPr lang="es-CL"/>
          </a:p>
        </p:txBody>
      </p:sp>
      <p:sp>
        <p:nvSpPr>
          <p:cNvPr id="7" name="Text 4"/>
          <p:cNvSpPr/>
          <p:nvPr/>
        </p:nvSpPr>
        <p:spPr>
          <a:xfrm>
            <a:off x="8408369" y="1099895"/>
            <a:ext cx="3490476" cy="416212"/>
          </a:xfrm>
          <a:prstGeom prst="rect">
            <a:avLst/>
          </a:prstGeom>
          <a:noFill/>
          <a:ln/>
        </p:spPr>
        <p:txBody>
          <a:bodyPr wrap="square" lIns="16933" tIns="16933" rIns="16933" bIns="16933" rtlCol="0" anchor="ctr">
            <a:normAutofit/>
          </a:bodyPr>
          <a:lstStyle/>
          <a:p>
            <a:pPr algn="ctr" defTabSz="609630">
              <a:buClrTx/>
            </a:pPr>
            <a:r>
              <a:rPr lang="en-US" b="1" kern="1200" dirty="0">
                <a:solidFill>
                  <a:srgbClr val="FFFFFF"/>
                </a:solidFill>
                <a:latin typeface="Arial" pitchFamily="34" charset="0"/>
                <a:ea typeface="Arial" pitchFamily="34" charset="-122"/>
                <a:cs typeface="Arial" pitchFamily="34" charset="-120"/>
              </a:rPr>
              <a:t>Asignación por ejecutivo</a:t>
            </a:r>
            <a:endParaRPr lang="en-US" kern="1200" dirty="0">
              <a:solidFill>
                <a:prstClr val="black"/>
              </a:solidFill>
              <a:latin typeface="Calibri" panose="020F0502020204030204"/>
              <a:ea typeface="+mn-ea"/>
              <a:cs typeface="+mn-cs"/>
            </a:endParaRPr>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0"/>
            <a:ext cx="12192001" cy="6858000"/>
          </a:xfrm>
          <a:prstGeom prst="rect">
            <a:avLst/>
          </a:prstGeom>
        </p:spPr>
      </p:pic>
      <p:sp>
        <p:nvSpPr>
          <p:cNvPr id="9" name="Shape 5"/>
          <p:cNvSpPr/>
          <p:nvPr/>
        </p:nvSpPr>
        <p:spPr>
          <a:xfrm>
            <a:off x="2667001" y="1825185"/>
            <a:ext cx="1307923" cy="7055"/>
          </a:xfrm>
          <a:prstGeom prst="rect">
            <a:avLst/>
          </a:prstGeom>
          <a:solidFill>
            <a:srgbClr val="06201D"/>
          </a:solidFill>
          <a:ln/>
        </p:spPr>
        <p:txBody>
          <a:bodyPr/>
          <a:lstStyle/>
          <a:p>
            <a:endParaRPr lang="es-CL"/>
          </a:p>
        </p:txBody>
      </p:sp>
      <p:sp>
        <p:nvSpPr>
          <p:cNvPr id="10" name="Text 6"/>
          <p:cNvSpPr/>
          <p:nvPr/>
        </p:nvSpPr>
        <p:spPr>
          <a:xfrm>
            <a:off x="2717800" y="1663678"/>
            <a:ext cx="1337116" cy="148806"/>
          </a:xfrm>
          <a:prstGeom prst="rect">
            <a:avLst/>
          </a:prstGeom>
          <a:noFill/>
          <a:ln/>
        </p:spPr>
        <p:txBody>
          <a:bodyPr wrap="square" lIns="16933" tIns="16933" rIns="16933" bIns="16933" rtlCol="0" anchor="ctr">
            <a:normAutofit fontScale="92500" lnSpcReduction="10000"/>
          </a:bodyPr>
          <a:lstStyle/>
          <a:p>
            <a:pPr defTabSz="609630">
              <a:buClrTx/>
            </a:pPr>
            <a:r>
              <a:rPr lang="en-US" sz="850" b="1" kern="1200" dirty="0">
                <a:solidFill>
                  <a:srgbClr val="33448D"/>
                </a:solidFill>
                <a:latin typeface="Arial" pitchFamily="34" charset="0"/>
                <a:ea typeface="Arial" pitchFamily="34" charset="-122"/>
                <a:cs typeface="Arial" pitchFamily="34" charset="-120"/>
              </a:rPr>
              <a:t>Región</a:t>
            </a:r>
            <a:endParaRPr lang="en-US" sz="850" kern="1200" dirty="0">
              <a:solidFill>
                <a:prstClr val="black"/>
              </a:solidFill>
              <a:latin typeface="Calibri" panose="020F0502020204030204"/>
              <a:ea typeface="+mn-ea"/>
              <a:cs typeface="+mn-cs"/>
            </a:endParaRPr>
          </a:p>
        </p:txBody>
      </p:sp>
      <p:sp>
        <p:nvSpPr>
          <p:cNvPr id="11" name="Shape 7"/>
          <p:cNvSpPr/>
          <p:nvPr/>
        </p:nvSpPr>
        <p:spPr>
          <a:xfrm>
            <a:off x="3974924" y="1825185"/>
            <a:ext cx="1212673" cy="7055"/>
          </a:xfrm>
          <a:prstGeom prst="rect">
            <a:avLst/>
          </a:prstGeom>
          <a:solidFill>
            <a:srgbClr val="06201D"/>
          </a:solidFill>
          <a:ln/>
        </p:spPr>
        <p:txBody>
          <a:bodyPr/>
          <a:lstStyle/>
          <a:p>
            <a:endParaRPr lang="es-CL"/>
          </a:p>
        </p:txBody>
      </p:sp>
      <p:sp>
        <p:nvSpPr>
          <p:cNvPr id="12" name="Text 8"/>
          <p:cNvSpPr/>
          <p:nvPr/>
        </p:nvSpPr>
        <p:spPr>
          <a:xfrm>
            <a:off x="4025724" y="1663678"/>
            <a:ext cx="1232341" cy="148806"/>
          </a:xfrm>
          <a:prstGeom prst="rect">
            <a:avLst/>
          </a:prstGeom>
          <a:noFill/>
          <a:ln/>
        </p:spPr>
        <p:txBody>
          <a:bodyPr wrap="square" lIns="16933" tIns="16933" rIns="16933" bIns="16933" rtlCol="0" anchor="ctr">
            <a:normAutofit fontScale="92500" lnSpcReduction="10000"/>
          </a:bodyPr>
          <a:lstStyle/>
          <a:p>
            <a:pPr defTabSz="609630">
              <a:buClrTx/>
            </a:pPr>
            <a:r>
              <a:rPr lang="en-US" sz="850" b="1" kern="1200" dirty="0">
                <a:solidFill>
                  <a:srgbClr val="33448D"/>
                </a:solidFill>
                <a:latin typeface="Arial" pitchFamily="34" charset="0"/>
                <a:ea typeface="Arial" pitchFamily="34" charset="-122"/>
                <a:cs typeface="Arial" pitchFamily="34" charset="-120"/>
              </a:rPr>
              <a:t>Ejecutivo</a:t>
            </a:r>
            <a:endParaRPr lang="en-US" sz="850" kern="1200" dirty="0">
              <a:solidFill>
                <a:prstClr val="black"/>
              </a:solidFill>
              <a:latin typeface="Calibri" panose="020F0502020204030204"/>
              <a:ea typeface="+mn-ea"/>
              <a:cs typeface="+mn-cs"/>
            </a:endParaRPr>
          </a:p>
        </p:txBody>
      </p:sp>
      <p:sp>
        <p:nvSpPr>
          <p:cNvPr id="13" name="Shape 9"/>
          <p:cNvSpPr/>
          <p:nvPr/>
        </p:nvSpPr>
        <p:spPr>
          <a:xfrm>
            <a:off x="5187598" y="1825185"/>
            <a:ext cx="545923" cy="7055"/>
          </a:xfrm>
          <a:prstGeom prst="rect">
            <a:avLst/>
          </a:prstGeom>
          <a:solidFill>
            <a:srgbClr val="06201D"/>
          </a:solidFill>
          <a:ln/>
        </p:spPr>
        <p:txBody>
          <a:bodyPr/>
          <a:lstStyle/>
          <a:p>
            <a:endParaRPr lang="es-CL"/>
          </a:p>
        </p:txBody>
      </p:sp>
      <p:sp>
        <p:nvSpPr>
          <p:cNvPr id="14" name="Text 10"/>
          <p:cNvSpPr/>
          <p:nvPr/>
        </p:nvSpPr>
        <p:spPr>
          <a:xfrm>
            <a:off x="5183805" y="1663678"/>
            <a:ext cx="498916" cy="148806"/>
          </a:xfrm>
          <a:prstGeom prst="rect">
            <a:avLst/>
          </a:prstGeom>
          <a:noFill/>
          <a:ln/>
        </p:spPr>
        <p:txBody>
          <a:bodyPr wrap="square" lIns="16933" tIns="16933" rIns="16933" bIns="16933" rtlCol="0" anchor="ctr">
            <a:normAutofit fontScale="92500" lnSpcReduction="10000"/>
          </a:bodyPr>
          <a:lstStyle/>
          <a:p>
            <a:pPr algn="r" defTabSz="609630">
              <a:buClrTx/>
            </a:pPr>
            <a:r>
              <a:rPr lang="en-US" sz="850" b="1" kern="1200" dirty="0">
                <a:solidFill>
                  <a:srgbClr val="33448D"/>
                </a:solidFill>
                <a:latin typeface="Arial" pitchFamily="34" charset="0"/>
                <a:ea typeface="Arial" pitchFamily="34" charset="-122"/>
                <a:cs typeface="Arial" pitchFamily="34" charset="-120"/>
              </a:rPr>
              <a:t>Clientes</a:t>
            </a:r>
            <a:endParaRPr lang="en-US" sz="850" kern="1200" dirty="0">
              <a:solidFill>
                <a:prstClr val="black"/>
              </a:solidFill>
              <a:latin typeface="Calibri" panose="020F0502020204030204"/>
              <a:ea typeface="+mn-ea"/>
              <a:cs typeface="+mn-cs"/>
            </a:endParaRPr>
          </a:p>
        </p:txBody>
      </p:sp>
      <p:sp>
        <p:nvSpPr>
          <p:cNvPr id="15" name="Shape 11"/>
          <p:cNvSpPr/>
          <p:nvPr/>
        </p:nvSpPr>
        <p:spPr>
          <a:xfrm>
            <a:off x="5733521" y="1825185"/>
            <a:ext cx="1688923" cy="7055"/>
          </a:xfrm>
          <a:prstGeom prst="rect">
            <a:avLst/>
          </a:prstGeom>
          <a:solidFill>
            <a:srgbClr val="06201D"/>
          </a:solidFill>
          <a:ln/>
        </p:spPr>
        <p:txBody>
          <a:bodyPr/>
          <a:lstStyle/>
          <a:p>
            <a:endParaRPr lang="es-CL"/>
          </a:p>
        </p:txBody>
      </p:sp>
      <p:sp>
        <p:nvSpPr>
          <p:cNvPr id="16" name="Text 12"/>
          <p:cNvSpPr/>
          <p:nvPr/>
        </p:nvSpPr>
        <p:spPr>
          <a:xfrm>
            <a:off x="5784321" y="1663678"/>
            <a:ext cx="1756216" cy="148806"/>
          </a:xfrm>
          <a:prstGeom prst="rect">
            <a:avLst/>
          </a:prstGeom>
          <a:noFill/>
          <a:ln/>
        </p:spPr>
        <p:txBody>
          <a:bodyPr wrap="square" lIns="16933" tIns="16933" rIns="16933" bIns="16933" rtlCol="0" anchor="ctr">
            <a:normAutofit fontScale="92500" lnSpcReduction="10000"/>
          </a:bodyPr>
          <a:lstStyle/>
          <a:p>
            <a:pPr defTabSz="609630">
              <a:buClrTx/>
            </a:pPr>
            <a:r>
              <a:rPr lang="en-US" sz="850" b="1" kern="1200" dirty="0">
                <a:solidFill>
                  <a:srgbClr val="33448D"/>
                </a:solidFill>
                <a:latin typeface="Arial" pitchFamily="34" charset="0"/>
                <a:ea typeface="Arial" pitchFamily="34" charset="-122"/>
                <a:cs typeface="Arial" pitchFamily="34" charset="-120"/>
              </a:rPr>
              <a:t>Potencial ST MM$</a:t>
            </a:r>
            <a:endParaRPr lang="en-US" sz="850" kern="1200" dirty="0">
              <a:solidFill>
                <a:prstClr val="black"/>
              </a:solidFill>
              <a:latin typeface="Calibri" panose="020F0502020204030204"/>
              <a:ea typeface="+mn-ea"/>
              <a:cs typeface="+mn-cs"/>
            </a:endParaRPr>
          </a:p>
        </p:txBody>
      </p:sp>
      <p:sp>
        <p:nvSpPr>
          <p:cNvPr id="17" name="Shape 13"/>
          <p:cNvSpPr/>
          <p:nvPr/>
        </p:nvSpPr>
        <p:spPr>
          <a:xfrm>
            <a:off x="7422445" y="1825185"/>
            <a:ext cx="610857" cy="7055"/>
          </a:xfrm>
          <a:prstGeom prst="rect">
            <a:avLst/>
          </a:prstGeom>
          <a:solidFill>
            <a:srgbClr val="06201D"/>
          </a:solidFill>
          <a:ln/>
        </p:spPr>
        <p:txBody>
          <a:bodyPr/>
          <a:lstStyle/>
          <a:p>
            <a:endParaRPr lang="es-CL"/>
          </a:p>
        </p:txBody>
      </p:sp>
      <p:sp>
        <p:nvSpPr>
          <p:cNvPr id="18" name="Text 14"/>
          <p:cNvSpPr/>
          <p:nvPr/>
        </p:nvSpPr>
        <p:spPr>
          <a:xfrm>
            <a:off x="7412159" y="1663678"/>
            <a:ext cx="570343" cy="148806"/>
          </a:xfrm>
          <a:prstGeom prst="rect">
            <a:avLst/>
          </a:prstGeom>
          <a:noFill/>
          <a:ln/>
        </p:spPr>
        <p:txBody>
          <a:bodyPr wrap="square" lIns="16933" tIns="16933" rIns="16933" bIns="16933" rtlCol="0" anchor="ctr">
            <a:normAutofit fontScale="92500" lnSpcReduction="10000"/>
          </a:bodyPr>
          <a:lstStyle/>
          <a:p>
            <a:pPr algn="r" defTabSz="609630">
              <a:buClrTx/>
            </a:pPr>
            <a:r>
              <a:rPr lang="en-US" sz="850" b="1" kern="1200" dirty="0">
                <a:solidFill>
                  <a:srgbClr val="33448D"/>
                </a:solidFill>
                <a:latin typeface="Arial" pitchFamily="34" charset="0"/>
                <a:ea typeface="Arial" pitchFamily="34" charset="-122"/>
                <a:cs typeface="Arial" pitchFamily="34" charset="-120"/>
              </a:rPr>
              <a:t>Contratos</a:t>
            </a:r>
            <a:endParaRPr lang="en-US" sz="850" kern="1200" dirty="0">
              <a:solidFill>
                <a:prstClr val="black"/>
              </a:solidFill>
              <a:latin typeface="Calibri" panose="020F0502020204030204"/>
              <a:ea typeface="+mn-ea"/>
              <a:cs typeface="+mn-cs"/>
            </a:endParaRPr>
          </a:p>
        </p:txBody>
      </p:sp>
      <p:sp>
        <p:nvSpPr>
          <p:cNvPr id="19" name="Shape 15"/>
          <p:cNvSpPr/>
          <p:nvPr/>
        </p:nvSpPr>
        <p:spPr>
          <a:xfrm>
            <a:off x="2667001" y="2067169"/>
            <a:ext cx="1307923" cy="7055"/>
          </a:xfrm>
          <a:prstGeom prst="rect">
            <a:avLst/>
          </a:prstGeom>
          <a:solidFill>
            <a:srgbClr val="D9DCE3"/>
          </a:solidFill>
          <a:ln/>
        </p:spPr>
        <p:txBody>
          <a:bodyPr/>
          <a:lstStyle/>
          <a:p>
            <a:endParaRPr lang="es-CL"/>
          </a:p>
        </p:txBody>
      </p:sp>
      <p:sp>
        <p:nvSpPr>
          <p:cNvPr id="20" name="Text 16"/>
          <p:cNvSpPr/>
          <p:nvPr/>
        </p:nvSpPr>
        <p:spPr>
          <a:xfrm>
            <a:off x="2717801" y="1832240"/>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Arica y Parinacota</a:t>
            </a:r>
            <a:endParaRPr lang="en-US" sz="950" kern="1200" dirty="0">
              <a:solidFill>
                <a:prstClr val="black"/>
              </a:solidFill>
              <a:latin typeface="Calibri" panose="020F0502020204030204"/>
              <a:ea typeface="+mn-ea"/>
              <a:cs typeface="+mn-cs"/>
            </a:endParaRPr>
          </a:p>
        </p:txBody>
      </p:sp>
      <p:sp>
        <p:nvSpPr>
          <p:cNvPr id="21" name="Shape 17"/>
          <p:cNvSpPr/>
          <p:nvPr/>
        </p:nvSpPr>
        <p:spPr>
          <a:xfrm>
            <a:off x="3974924" y="2067169"/>
            <a:ext cx="1212673" cy="7055"/>
          </a:xfrm>
          <a:prstGeom prst="rect">
            <a:avLst/>
          </a:prstGeom>
          <a:solidFill>
            <a:srgbClr val="D9DCE3"/>
          </a:solidFill>
          <a:ln/>
        </p:spPr>
        <p:txBody>
          <a:bodyPr/>
          <a:lstStyle/>
          <a:p>
            <a:endParaRPr lang="es-CL"/>
          </a:p>
        </p:txBody>
      </p:sp>
      <p:sp>
        <p:nvSpPr>
          <p:cNvPr id="22" name="Text 18"/>
          <p:cNvSpPr/>
          <p:nvPr/>
        </p:nvSpPr>
        <p:spPr>
          <a:xfrm>
            <a:off x="4025724" y="1832240"/>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23" name="Shape 19"/>
          <p:cNvSpPr/>
          <p:nvPr/>
        </p:nvSpPr>
        <p:spPr>
          <a:xfrm>
            <a:off x="5187598" y="2067169"/>
            <a:ext cx="545923" cy="7055"/>
          </a:xfrm>
          <a:prstGeom prst="rect">
            <a:avLst/>
          </a:prstGeom>
          <a:solidFill>
            <a:srgbClr val="D9DCE3"/>
          </a:solidFill>
          <a:ln/>
        </p:spPr>
        <p:txBody>
          <a:bodyPr/>
          <a:lstStyle/>
          <a:p>
            <a:endParaRPr lang="es-CL"/>
          </a:p>
        </p:txBody>
      </p:sp>
      <p:sp>
        <p:nvSpPr>
          <p:cNvPr id="24" name="Text 20"/>
          <p:cNvSpPr/>
          <p:nvPr/>
        </p:nvSpPr>
        <p:spPr>
          <a:xfrm>
            <a:off x="5187598" y="1832240"/>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10</a:t>
            </a:r>
            <a:endParaRPr lang="en-US" sz="950" kern="1200" dirty="0">
              <a:solidFill>
                <a:prstClr val="black"/>
              </a:solidFill>
              <a:latin typeface="Calibri" panose="020F0502020204030204"/>
              <a:ea typeface="+mn-ea"/>
              <a:cs typeface="+mn-cs"/>
            </a:endParaRPr>
          </a:p>
        </p:txBody>
      </p:sp>
      <p:sp>
        <p:nvSpPr>
          <p:cNvPr id="25" name="Shape 21"/>
          <p:cNvSpPr/>
          <p:nvPr/>
        </p:nvSpPr>
        <p:spPr>
          <a:xfrm>
            <a:off x="5733521" y="2067169"/>
            <a:ext cx="1688923" cy="7055"/>
          </a:xfrm>
          <a:prstGeom prst="rect">
            <a:avLst/>
          </a:prstGeom>
          <a:solidFill>
            <a:srgbClr val="D9DCE3"/>
          </a:solidFill>
          <a:ln/>
        </p:spPr>
        <p:txBody>
          <a:bodyPr/>
          <a:lstStyle/>
          <a:p>
            <a:endParaRPr lang="es-CL"/>
          </a:p>
        </p:txBody>
      </p:sp>
      <p:sp>
        <p:nvSpPr>
          <p:cNvPr id="26" name="Shape 22"/>
          <p:cNvSpPr/>
          <p:nvPr/>
        </p:nvSpPr>
        <p:spPr>
          <a:xfrm>
            <a:off x="5784233" y="1902354"/>
            <a:ext cx="25907" cy="101534"/>
          </a:xfrm>
          <a:prstGeom prst="rect">
            <a:avLst/>
          </a:prstGeom>
          <a:solidFill>
            <a:srgbClr val="28D2C3"/>
          </a:solidFill>
          <a:ln/>
        </p:spPr>
        <p:txBody>
          <a:bodyPr/>
          <a:lstStyle/>
          <a:p>
            <a:endParaRPr lang="es-CL"/>
          </a:p>
        </p:txBody>
      </p:sp>
      <p:sp>
        <p:nvSpPr>
          <p:cNvPr id="27" name="Text 23"/>
          <p:cNvSpPr/>
          <p:nvPr/>
        </p:nvSpPr>
        <p:spPr>
          <a:xfrm>
            <a:off x="5873640" y="1882621"/>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19,4</a:t>
            </a:r>
            <a:endParaRPr lang="en-US" sz="950" kern="1200" dirty="0">
              <a:solidFill>
                <a:prstClr val="black"/>
              </a:solidFill>
              <a:latin typeface="Calibri" panose="020F0502020204030204"/>
              <a:ea typeface="+mn-ea"/>
              <a:cs typeface="+mn-cs"/>
            </a:endParaRPr>
          </a:p>
        </p:txBody>
      </p:sp>
      <p:sp>
        <p:nvSpPr>
          <p:cNvPr id="28" name="Shape 24"/>
          <p:cNvSpPr/>
          <p:nvPr/>
        </p:nvSpPr>
        <p:spPr>
          <a:xfrm>
            <a:off x="7422445" y="2067169"/>
            <a:ext cx="610857" cy="7055"/>
          </a:xfrm>
          <a:prstGeom prst="rect">
            <a:avLst/>
          </a:prstGeom>
          <a:solidFill>
            <a:srgbClr val="D9DCE3"/>
          </a:solidFill>
          <a:ln/>
        </p:spPr>
        <p:txBody>
          <a:bodyPr/>
          <a:lstStyle/>
          <a:p>
            <a:endParaRPr lang="es-CL"/>
          </a:p>
        </p:txBody>
      </p:sp>
      <p:sp>
        <p:nvSpPr>
          <p:cNvPr id="29" name="Text 25"/>
          <p:cNvSpPr/>
          <p:nvPr/>
        </p:nvSpPr>
        <p:spPr>
          <a:xfrm>
            <a:off x="7422445" y="1832240"/>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a:t>
            </a:r>
            <a:endParaRPr lang="en-US" sz="950" kern="1200" dirty="0">
              <a:solidFill>
                <a:prstClr val="black"/>
              </a:solidFill>
              <a:latin typeface="Calibri" panose="020F0502020204030204"/>
              <a:ea typeface="+mn-ea"/>
              <a:cs typeface="+mn-cs"/>
            </a:endParaRPr>
          </a:p>
        </p:txBody>
      </p:sp>
      <p:sp>
        <p:nvSpPr>
          <p:cNvPr id="30" name="Shape 26"/>
          <p:cNvSpPr/>
          <p:nvPr/>
        </p:nvSpPr>
        <p:spPr>
          <a:xfrm>
            <a:off x="2667001" y="2309152"/>
            <a:ext cx="1307923" cy="7055"/>
          </a:xfrm>
          <a:prstGeom prst="rect">
            <a:avLst/>
          </a:prstGeom>
          <a:solidFill>
            <a:srgbClr val="D9DCE3"/>
          </a:solidFill>
          <a:ln/>
        </p:spPr>
        <p:txBody>
          <a:bodyPr/>
          <a:lstStyle/>
          <a:p>
            <a:endParaRPr lang="es-CL"/>
          </a:p>
        </p:txBody>
      </p:sp>
      <p:sp>
        <p:nvSpPr>
          <p:cNvPr id="31" name="Text 27"/>
          <p:cNvSpPr/>
          <p:nvPr/>
        </p:nvSpPr>
        <p:spPr>
          <a:xfrm>
            <a:off x="2717801" y="2074223"/>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Tarapacá</a:t>
            </a:r>
            <a:endParaRPr lang="en-US" sz="950" kern="1200" dirty="0">
              <a:solidFill>
                <a:prstClr val="black"/>
              </a:solidFill>
              <a:latin typeface="Calibri" panose="020F0502020204030204"/>
              <a:ea typeface="+mn-ea"/>
              <a:cs typeface="+mn-cs"/>
            </a:endParaRPr>
          </a:p>
        </p:txBody>
      </p:sp>
      <p:sp>
        <p:nvSpPr>
          <p:cNvPr id="32" name="Shape 28"/>
          <p:cNvSpPr/>
          <p:nvPr/>
        </p:nvSpPr>
        <p:spPr>
          <a:xfrm>
            <a:off x="3974924" y="2309152"/>
            <a:ext cx="1212673" cy="7055"/>
          </a:xfrm>
          <a:prstGeom prst="rect">
            <a:avLst/>
          </a:prstGeom>
          <a:solidFill>
            <a:srgbClr val="D9DCE3"/>
          </a:solidFill>
          <a:ln/>
        </p:spPr>
        <p:txBody>
          <a:bodyPr/>
          <a:lstStyle/>
          <a:p>
            <a:endParaRPr lang="es-CL"/>
          </a:p>
        </p:txBody>
      </p:sp>
      <p:sp>
        <p:nvSpPr>
          <p:cNvPr id="33" name="Text 29"/>
          <p:cNvSpPr/>
          <p:nvPr/>
        </p:nvSpPr>
        <p:spPr>
          <a:xfrm>
            <a:off x="4025724" y="2074223"/>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34" name="Shape 30"/>
          <p:cNvSpPr/>
          <p:nvPr/>
        </p:nvSpPr>
        <p:spPr>
          <a:xfrm>
            <a:off x="5187598" y="2309152"/>
            <a:ext cx="545923" cy="7055"/>
          </a:xfrm>
          <a:prstGeom prst="rect">
            <a:avLst/>
          </a:prstGeom>
          <a:solidFill>
            <a:srgbClr val="D9DCE3"/>
          </a:solidFill>
          <a:ln/>
        </p:spPr>
        <p:txBody>
          <a:bodyPr/>
          <a:lstStyle/>
          <a:p>
            <a:endParaRPr lang="es-CL"/>
          </a:p>
        </p:txBody>
      </p:sp>
      <p:sp>
        <p:nvSpPr>
          <p:cNvPr id="35" name="Text 31"/>
          <p:cNvSpPr/>
          <p:nvPr/>
        </p:nvSpPr>
        <p:spPr>
          <a:xfrm>
            <a:off x="5187598" y="2074223"/>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15</a:t>
            </a:r>
            <a:endParaRPr lang="en-US" sz="950" kern="1200" dirty="0">
              <a:solidFill>
                <a:prstClr val="black"/>
              </a:solidFill>
              <a:latin typeface="Calibri" panose="020F0502020204030204"/>
              <a:ea typeface="+mn-ea"/>
              <a:cs typeface="+mn-cs"/>
            </a:endParaRPr>
          </a:p>
        </p:txBody>
      </p:sp>
      <p:sp>
        <p:nvSpPr>
          <p:cNvPr id="36" name="Shape 32"/>
          <p:cNvSpPr/>
          <p:nvPr/>
        </p:nvSpPr>
        <p:spPr>
          <a:xfrm>
            <a:off x="5733521" y="2309152"/>
            <a:ext cx="1688923" cy="7055"/>
          </a:xfrm>
          <a:prstGeom prst="rect">
            <a:avLst/>
          </a:prstGeom>
          <a:solidFill>
            <a:srgbClr val="D9DCE3"/>
          </a:solidFill>
          <a:ln/>
        </p:spPr>
        <p:txBody>
          <a:bodyPr/>
          <a:lstStyle/>
          <a:p>
            <a:endParaRPr lang="es-CL"/>
          </a:p>
        </p:txBody>
      </p:sp>
      <p:sp>
        <p:nvSpPr>
          <p:cNvPr id="37" name="Shape 33"/>
          <p:cNvSpPr/>
          <p:nvPr/>
        </p:nvSpPr>
        <p:spPr>
          <a:xfrm>
            <a:off x="5784233" y="2144338"/>
            <a:ext cx="53247" cy="101534"/>
          </a:xfrm>
          <a:prstGeom prst="rect">
            <a:avLst/>
          </a:prstGeom>
          <a:solidFill>
            <a:srgbClr val="28D2C3"/>
          </a:solidFill>
          <a:ln/>
        </p:spPr>
        <p:txBody>
          <a:bodyPr/>
          <a:lstStyle/>
          <a:p>
            <a:endParaRPr lang="es-CL"/>
          </a:p>
        </p:txBody>
      </p:sp>
      <p:sp>
        <p:nvSpPr>
          <p:cNvPr id="38" name="Text 34"/>
          <p:cNvSpPr/>
          <p:nvPr/>
        </p:nvSpPr>
        <p:spPr>
          <a:xfrm>
            <a:off x="5900981" y="2124605"/>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39,8</a:t>
            </a:r>
            <a:endParaRPr lang="en-US" sz="950" kern="1200" dirty="0">
              <a:solidFill>
                <a:prstClr val="black"/>
              </a:solidFill>
              <a:latin typeface="Calibri" panose="020F0502020204030204"/>
              <a:ea typeface="+mn-ea"/>
              <a:cs typeface="+mn-cs"/>
            </a:endParaRPr>
          </a:p>
        </p:txBody>
      </p:sp>
      <p:sp>
        <p:nvSpPr>
          <p:cNvPr id="39" name="Shape 35"/>
          <p:cNvSpPr/>
          <p:nvPr/>
        </p:nvSpPr>
        <p:spPr>
          <a:xfrm>
            <a:off x="7422445" y="2309152"/>
            <a:ext cx="610857" cy="7055"/>
          </a:xfrm>
          <a:prstGeom prst="rect">
            <a:avLst/>
          </a:prstGeom>
          <a:solidFill>
            <a:srgbClr val="D9DCE3"/>
          </a:solidFill>
          <a:ln/>
        </p:spPr>
        <p:txBody>
          <a:bodyPr/>
          <a:lstStyle/>
          <a:p>
            <a:endParaRPr lang="es-CL"/>
          </a:p>
        </p:txBody>
      </p:sp>
      <p:sp>
        <p:nvSpPr>
          <p:cNvPr id="40" name="Text 36"/>
          <p:cNvSpPr/>
          <p:nvPr/>
        </p:nvSpPr>
        <p:spPr>
          <a:xfrm>
            <a:off x="7422445" y="2074223"/>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a:t>
            </a:r>
            <a:endParaRPr lang="en-US" sz="950" kern="1200" dirty="0">
              <a:solidFill>
                <a:prstClr val="black"/>
              </a:solidFill>
              <a:latin typeface="Calibri" panose="020F0502020204030204"/>
              <a:ea typeface="+mn-ea"/>
              <a:cs typeface="+mn-cs"/>
            </a:endParaRPr>
          </a:p>
        </p:txBody>
      </p:sp>
      <p:sp>
        <p:nvSpPr>
          <p:cNvPr id="41" name="Shape 37"/>
          <p:cNvSpPr/>
          <p:nvPr/>
        </p:nvSpPr>
        <p:spPr>
          <a:xfrm>
            <a:off x="2667001" y="2551135"/>
            <a:ext cx="1307923" cy="7055"/>
          </a:xfrm>
          <a:prstGeom prst="rect">
            <a:avLst/>
          </a:prstGeom>
          <a:solidFill>
            <a:srgbClr val="D9DCE3"/>
          </a:solidFill>
          <a:ln/>
        </p:spPr>
        <p:txBody>
          <a:bodyPr/>
          <a:lstStyle/>
          <a:p>
            <a:endParaRPr lang="es-CL"/>
          </a:p>
        </p:txBody>
      </p:sp>
      <p:sp>
        <p:nvSpPr>
          <p:cNvPr id="42" name="Text 38"/>
          <p:cNvSpPr/>
          <p:nvPr/>
        </p:nvSpPr>
        <p:spPr>
          <a:xfrm>
            <a:off x="2717801" y="2316207"/>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Antofagasta</a:t>
            </a:r>
            <a:endParaRPr lang="en-US" sz="950" kern="1200" dirty="0">
              <a:solidFill>
                <a:prstClr val="black"/>
              </a:solidFill>
              <a:latin typeface="Calibri" panose="020F0502020204030204"/>
              <a:ea typeface="+mn-ea"/>
              <a:cs typeface="+mn-cs"/>
            </a:endParaRPr>
          </a:p>
        </p:txBody>
      </p:sp>
      <p:sp>
        <p:nvSpPr>
          <p:cNvPr id="43" name="Shape 39"/>
          <p:cNvSpPr/>
          <p:nvPr/>
        </p:nvSpPr>
        <p:spPr>
          <a:xfrm>
            <a:off x="3974924" y="2551135"/>
            <a:ext cx="1212673" cy="7055"/>
          </a:xfrm>
          <a:prstGeom prst="rect">
            <a:avLst/>
          </a:prstGeom>
          <a:solidFill>
            <a:srgbClr val="D9DCE3"/>
          </a:solidFill>
          <a:ln/>
        </p:spPr>
        <p:txBody>
          <a:bodyPr/>
          <a:lstStyle/>
          <a:p>
            <a:endParaRPr lang="es-CL"/>
          </a:p>
        </p:txBody>
      </p:sp>
      <p:sp>
        <p:nvSpPr>
          <p:cNvPr id="44" name="Text 40"/>
          <p:cNvSpPr/>
          <p:nvPr/>
        </p:nvSpPr>
        <p:spPr>
          <a:xfrm>
            <a:off x="4025724" y="2316207"/>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45" name="Shape 41"/>
          <p:cNvSpPr/>
          <p:nvPr/>
        </p:nvSpPr>
        <p:spPr>
          <a:xfrm>
            <a:off x="5187598" y="2551135"/>
            <a:ext cx="545923" cy="7055"/>
          </a:xfrm>
          <a:prstGeom prst="rect">
            <a:avLst/>
          </a:prstGeom>
          <a:solidFill>
            <a:srgbClr val="D9DCE3"/>
          </a:solidFill>
          <a:ln/>
        </p:spPr>
        <p:txBody>
          <a:bodyPr/>
          <a:lstStyle/>
          <a:p>
            <a:endParaRPr lang="es-CL"/>
          </a:p>
        </p:txBody>
      </p:sp>
      <p:sp>
        <p:nvSpPr>
          <p:cNvPr id="46" name="Text 42"/>
          <p:cNvSpPr/>
          <p:nvPr/>
        </p:nvSpPr>
        <p:spPr>
          <a:xfrm>
            <a:off x="5187598" y="2316207"/>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17</a:t>
            </a:r>
            <a:endParaRPr lang="en-US" sz="950" kern="1200" dirty="0">
              <a:solidFill>
                <a:prstClr val="black"/>
              </a:solidFill>
              <a:latin typeface="Calibri" panose="020F0502020204030204"/>
              <a:ea typeface="+mn-ea"/>
              <a:cs typeface="+mn-cs"/>
            </a:endParaRPr>
          </a:p>
        </p:txBody>
      </p:sp>
      <p:sp>
        <p:nvSpPr>
          <p:cNvPr id="47" name="Shape 43"/>
          <p:cNvSpPr/>
          <p:nvPr/>
        </p:nvSpPr>
        <p:spPr>
          <a:xfrm>
            <a:off x="5733521" y="2551135"/>
            <a:ext cx="1688923" cy="7055"/>
          </a:xfrm>
          <a:prstGeom prst="rect">
            <a:avLst/>
          </a:prstGeom>
          <a:solidFill>
            <a:srgbClr val="D9DCE3"/>
          </a:solidFill>
          <a:ln/>
        </p:spPr>
        <p:txBody>
          <a:bodyPr/>
          <a:lstStyle/>
          <a:p>
            <a:endParaRPr lang="es-CL"/>
          </a:p>
        </p:txBody>
      </p:sp>
      <p:sp>
        <p:nvSpPr>
          <p:cNvPr id="48" name="Shape 44"/>
          <p:cNvSpPr/>
          <p:nvPr/>
        </p:nvSpPr>
        <p:spPr>
          <a:xfrm>
            <a:off x="5784233" y="2386322"/>
            <a:ext cx="78934" cy="101534"/>
          </a:xfrm>
          <a:prstGeom prst="rect">
            <a:avLst/>
          </a:prstGeom>
          <a:solidFill>
            <a:srgbClr val="28D2C3"/>
          </a:solidFill>
          <a:ln/>
        </p:spPr>
        <p:txBody>
          <a:bodyPr/>
          <a:lstStyle/>
          <a:p>
            <a:endParaRPr lang="es-CL"/>
          </a:p>
        </p:txBody>
      </p:sp>
      <p:sp>
        <p:nvSpPr>
          <p:cNvPr id="49" name="Text 45"/>
          <p:cNvSpPr/>
          <p:nvPr/>
        </p:nvSpPr>
        <p:spPr>
          <a:xfrm>
            <a:off x="5926667" y="2366589"/>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59,0</a:t>
            </a:r>
            <a:endParaRPr lang="en-US" sz="950" kern="1200" dirty="0">
              <a:solidFill>
                <a:prstClr val="black"/>
              </a:solidFill>
              <a:latin typeface="Calibri" panose="020F0502020204030204"/>
              <a:ea typeface="+mn-ea"/>
              <a:cs typeface="+mn-cs"/>
            </a:endParaRPr>
          </a:p>
        </p:txBody>
      </p:sp>
      <p:sp>
        <p:nvSpPr>
          <p:cNvPr id="50" name="Shape 46"/>
          <p:cNvSpPr/>
          <p:nvPr/>
        </p:nvSpPr>
        <p:spPr>
          <a:xfrm>
            <a:off x="7422445" y="2551135"/>
            <a:ext cx="610857" cy="7055"/>
          </a:xfrm>
          <a:prstGeom prst="rect">
            <a:avLst/>
          </a:prstGeom>
          <a:solidFill>
            <a:srgbClr val="D9DCE3"/>
          </a:solidFill>
          <a:ln/>
        </p:spPr>
        <p:txBody>
          <a:bodyPr/>
          <a:lstStyle/>
          <a:p>
            <a:endParaRPr lang="es-CL"/>
          </a:p>
        </p:txBody>
      </p:sp>
      <p:sp>
        <p:nvSpPr>
          <p:cNvPr id="51" name="Text 47"/>
          <p:cNvSpPr/>
          <p:nvPr/>
        </p:nvSpPr>
        <p:spPr>
          <a:xfrm>
            <a:off x="7422445" y="2316207"/>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a:t>
            </a:r>
            <a:endParaRPr lang="en-US" sz="950" kern="1200" dirty="0">
              <a:solidFill>
                <a:prstClr val="black"/>
              </a:solidFill>
              <a:latin typeface="Calibri" panose="020F0502020204030204"/>
              <a:ea typeface="+mn-ea"/>
              <a:cs typeface="+mn-cs"/>
            </a:endParaRPr>
          </a:p>
        </p:txBody>
      </p:sp>
      <p:sp>
        <p:nvSpPr>
          <p:cNvPr id="52" name="Shape 48"/>
          <p:cNvSpPr/>
          <p:nvPr/>
        </p:nvSpPr>
        <p:spPr>
          <a:xfrm>
            <a:off x="2667001" y="2793119"/>
            <a:ext cx="1307923" cy="7055"/>
          </a:xfrm>
          <a:prstGeom prst="rect">
            <a:avLst/>
          </a:prstGeom>
          <a:solidFill>
            <a:srgbClr val="D9DCE3"/>
          </a:solidFill>
          <a:ln/>
        </p:spPr>
        <p:txBody>
          <a:bodyPr/>
          <a:lstStyle/>
          <a:p>
            <a:endParaRPr lang="es-CL"/>
          </a:p>
        </p:txBody>
      </p:sp>
      <p:sp>
        <p:nvSpPr>
          <p:cNvPr id="53" name="Text 49"/>
          <p:cNvSpPr/>
          <p:nvPr/>
        </p:nvSpPr>
        <p:spPr>
          <a:xfrm>
            <a:off x="2717801" y="2558190"/>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Atacama</a:t>
            </a:r>
            <a:endParaRPr lang="en-US" sz="950" kern="1200" dirty="0">
              <a:solidFill>
                <a:prstClr val="black"/>
              </a:solidFill>
              <a:latin typeface="Calibri" panose="020F0502020204030204"/>
              <a:ea typeface="+mn-ea"/>
              <a:cs typeface="+mn-cs"/>
            </a:endParaRPr>
          </a:p>
        </p:txBody>
      </p:sp>
      <p:sp>
        <p:nvSpPr>
          <p:cNvPr id="54" name="Shape 50"/>
          <p:cNvSpPr/>
          <p:nvPr/>
        </p:nvSpPr>
        <p:spPr>
          <a:xfrm>
            <a:off x="3974924" y="2793119"/>
            <a:ext cx="1212673" cy="7055"/>
          </a:xfrm>
          <a:prstGeom prst="rect">
            <a:avLst/>
          </a:prstGeom>
          <a:solidFill>
            <a:srgbClr val="D9DCE3"/>
          </a:solidFill>
          <a:ln/>
        </p:spPr>
        <p:txBody>
          <a:bodyPr/>
          <a:lstStyle/>
          <a:p>
            <a:endParaRPr lang="es-CL"/>
          </a:p>
        </p:txBody>
      </p:sp>
      <p:sp>
        <p:nvSpPr>
          <p:cNvPr id="55" name="Text 51"/>
          <p:cNvSpPr/>
          <p:nvPr/>
        </p:nvSpPr>
        <p:spPr>
          <a:xfrm>
            <a:off x="4025724" y="2558190"/>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56" name="Shape 52"/>
          <p:cNvSpPr/>
          <p:nvPr/>
        </p:nvSpPr>
        <p:spPr>
          <a:xfrm>
            <a:off x="5187598" y="2793119"/>
            <a:ext cx="545923" cy="7055"/>
          </a:xfrm>
          <a:prstGeom prst="rect">
            <a:avLst/>
          </a:prstGeom>
          <a:solidFill>
            <a:srgbClr val="D9DCE3"/>
          </a:solidFill>
          <a:ln/>
        </p:spPr>
        <p:txBody>
          <a:bodyPr/>
          <a:lstStyle/>
          <a:p>
            <a:endParaRPr lang="es-CL"/>
          </a:p>
        </p:txBody>
      </p:sp>
      <p:sp>
        <p:nvSpPr>
          <p:cNvPr id="57" name="Text 53"/>
          <p:cNvSpPr/>
          <p:nvPr/>
        </p:nvSpPr>
        <p:spPr>
          <a:xfrm>
            <a:off x="5187598" y="2558190"/>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8</a:t>
            </a:r>
            <a:endParaRPr lang="en-US" sz="950" kern="1200" dirty="0">
              <a:solidFill>
                <a:prstClr val="black"/>
              </a:solidFill>
              <a:latin typeface="Calibri" panose="020F0502020204030204"/>
              <a:ea typeface="+mn-ea"/>
              <a:cs typeface="+mn-cs"/>
            </a:endParaRPr>
          </a:p>
        </p:txBody>
      </p:sp>
      <p:sp>
        <p:nvSpPr>
          <p:cNvPr id="58" name="Shape 54"/>
          <p:cNvSpPr/>
          <p:nvPr/>
        </p:nvSpPr>
        <p:spPr>
          <a:xfrm>
            <a:off x="5733521" y="2793119"/>
            <a:ext cx="1688923" cy="7055"/>
          </a:xfrm>
          <a:prstGeom prst="rect">
            <a:avLst/>
          </a:prstGeom>
          <a:solidFill>
            <a:srgbClr val="D9DCE3"/>
          </a:solidFill>
          <a:ln/>
        </p:spPr>
        <p:txBody>
          <a:bodyPr/>
          <a:lstStyle/>
          <a:p>
            <a:endParaRPr lang="es-CL"/>
          </a:p>
        </p:txBody>
      </p:sp>
      <p:sp>
        <p:nvSpPr>
          <p:cNvPr id="59" name="Shape 55"/>
          <p:cNvSpPr/>
          <p:nvPr/>
        </p:nvSpPr>
        <p:spPr>
          <a:xfrm>
            <a:off x="5784233" y="2628305"/>
            <a:ext cx="18962" cy="101534"/>
          </a:xfrm>
          <a:prstGeom prst="rect">
            <a:avLst/>
          </a:prstGeom>
          <a:solidFill>
            <a:srgbClr val="28D2C3"/>
          </a:solidFill>
          <a:ln/>
        </p:spPr>
        <p:txBody>
          <a:bodyPr/>
          <a:lstStyle/>
          <a:p>
            <a:endParaRPr lang="es-CL"/>
          </a:p>
        </p:txBody>
      </p:sp>
      <p:sp>
        <p:nvSpPr>
          <p:cNvPr id="60" name="Text 56"/>
          <p:cNvSpPr/>
          <p:nvPr/>
        </p:nvSpPr>
        <p:spPr>
          <a:xfrm>
            <a:off x="5866695" y="2608572"/>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12,1</a:t>
            </a:r>
            <a:endParaRPr lang="en-US" sz="950" kern="1200" dirty="0">
              <a:solidFill>
                <a:prstClr val="black"/>
              </a:solidFill>
              <a:latin typeface="Calibri" panose="020F0502020204030204"/>
              <a:ea typeface="+mn-ea"/>
              <a:cs typeface="+mn-cs"/>
            </a:endParaRPr>
          </a:p>
        </p:txBody>
      </p:sp>
      <p:sp>
        <p:nvSpPr>
          <p:cNvPr id="61" name="Shape 57"/>
          <p:cNvSpPr/>
          <p:nvPr/>
        </p:nvSpPr>
        <p:spPr>
          <a:xfrm>
            <a:off x="7422445" y="2793119"/>
            <a:ext cx="610857" cy="7055"/>
          </a:xfrm>
          <a:prstGeom prst="rect">
            <a:avLst/>
          </a:prstGeom>
          <a:solidFill>
            <a:srgbClr val="D9DCE3"/>
          </a:solidFill>
          <a:ln/>
        </p:spPr>
        <p:txBody>
          <a:bodyPr/>
          <a:lstStyle/>
          <a:p>
            <a:endParaRPr lang="es-CL"/>
          </a:p>
        </p:txBody>
      </p:sp>
      <p:sp>
        <p:nvSpPr>
          <p:cNvPr id="62" name="Text 58"/>
          <p:cNvSpPr/>
          <p:nvPr/>
        </p:nvSpPr>
        <p:spPr>
          <a:xfrm>
            <a:off x="7422445" y="2558190"/>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a:t>
            </a:r>
            <a:endParaRPr lang="en-US" sz="950" kern="1200" dirty="0">
              <a:solidFill>
                <a:prstClr val="black"/>
              </a:solidFill>
              <a:latin typeface="Calibri" panose="020F0502020204030204"/>
              <a:ea typeface="+mn-ea"/>
              <a:cs typeface="+mn-cs"/>
            </a:endParaRPr>
          </a:p>
        </p:txBody>
      </p:sp>
      <p:sp>
        <p:nvSpPr>
          <p:cNvPr id="63" name="Shape 59"/>
          <p:cNvSpPr/>
          <p:nvPr/>
        </p:nvSpPr>
        <p:spPr>
          <a:xfrm>
            <a:off x="2667001" y="3035102"/>
            <a:ext cx="1307923" cy="7055"/>
          </a:xfrm>
          <a:prstGeom prst="rect">
            <a:avLst/>
          </a:prstGeom>
          <a:solidFill>
            <a:srgbClr val="D9DCE3"/>
          </a:solidFill>
          <a:ln/>
        </p:spPr>
        <p:txBody>
          <a:bodyPr/>
          <a:lstStyle/>
          <a:p>
            <a:endParaRPr lang="es-CL"/>
          </a:p>
        </p:txBody>
      </p:sp>
      <p:sp>
        <p:nvSpPr>
          <p:cNvPr id="64" name="Text 60"/>
          <p:cNvSpPr/>
          <p:nvPr/>
        </p:nvSpPr>
        <p:spPr>
          <a:xfrm>
            <a:off x="2717801" y="2800173"/>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Coquimbo</a:t>
            </a:r>
            <a:endParaRPr lang="en-US" sz="950" kern="1200" dirty="0">
              <a:solidFill>
                <a:prstClr val="black"/>
              </a:solidFill>
              <a:latin typeface="Calibri" panose="020F0502020204030204"/>
              <a:ea typeface="+mn-ea"/>
              <a:cs typeface="+mn-cs"/>
            </a:endParaRPr>
          </a:p>
        </p:txBody>
      </p:sp>
      <p:sp>
        <p:nvSpPr>
          <p:cNvPr id="65" name="Shape 61"/>
          <p:cNvSpPr/>
          <p:nvPr/>
        </p:nvSpPr>
        <p:spPr>
          <a:xfrm>
            <a:off x="3974924" y="3035102"/>
            <a:ext cx="1212673" cy="7055"/>
          </a:xfrm>
          <a:prstGeom prst="rect">
            <a:avLst/>
          </a:prstGeom>
          <a:solidFill>
            <a:srgbClr val="D9DCE3"/>
          </a:solidFill>
          <a:ln/>
        </p:spPr>
        <p:txBody>
          <a:bodyPr/>
          <a:lstStyle/>
          <a:p>
            <a:endParaRPr lang="es-CL"/>
          </a:p>
        </p:txBody>
      </p:sp>
      <p:sp>
        <p:nvSpPr>
          <p:cNvPr id="66" name="Text 62"/>
          <p:cNvSpPr/>
          <p:nvPr/>
        </p:nvSpPr>
        <p:spPr>
          <a:xfrm>
            <a:off x="4025724" y="2800173"/>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67" name="Shape 63"/>
          <p:cNvSpPr/>
          <p:nvPr/>
        </p:nvSpPr>
        <p:spPr>
          <a:xfrm>
            <a:off x="5187598" y="3035102"/>
            <a:ext cx="545923" cy="7055"/>
          </a:xfrm>
          <a:prstGeom prst="rect">
            <a:avLst/>
          </a:prstGeom>
          <a:solidFill>
            <a:srgbClr val="D9DCE3"/>
          </a:solidFill>
          <a:ln/>
        </p:spPr>
        <p:txBody>
          <a:bodyPr/>
          <a:lstStyle/>
          <a:p>
            <a:endParaRPr lang="es-CL"/>
          </a:p>
        </p:txBody>
      </p:sp>
      <p:sp>
        <p:nvSpPr>
          <p:cNvPr id="68" name="Text 64"/>
          <p:cNvSpPr/>
          <p:nvPr/>
        </p:nvSpPr>
        <p:spPr>
          <a:xfrm>
            <a:off x="5187598" y="2800173"/>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43</a:t>
            </a:r>
            <a:endParaRPr lang="en-US" sz="950" kern="1200" dirty="0">
              <a:solidFill>
                <a:prstClr val="black"/>
              </a:solidFill>
              <a:latin typeface="Calibri" panose="020F0502020204030204"/>
              <a:ea typeface="+mn-ea"/>
              <a:cs typeface="+mn-cs"/>
            </a:endParaRPr>
          </a:p>
        </p:txBody>
      </p:sp>
      <p:sp>
        <p:nvSpPr>
          <p:cNvPr id="69" name="Shape 65"/>
          <p:cNvSpPr/>
          <p:nvPr/>
        </p:nvSpPr>
        <p:spPr>
          <a:xfrm>
            <a:off x="5733521" y="3035102"/>
            <a:ext cx="1688923" cy="7055"/>
          </a:xfrm>
          <a:prstGeom prst="rect">
            <a:avLst/>
          </a:prstGeom>
          <a:solidFill>
            <a:srgbClr val="D9DCE3"/>
          </a:solidFill>
          <a:ln/>
        </p:spPr>
        <p:txBody>
          <a:bodyPr/>
          <a:lstStyle/>
          <a:p>
            <a:endParaRPr lang="es-CL"/>
          </a:p>
        </p:txBody>
      </p:sp>
      <p:sp>
        <p:nvSpPr>
          <p:cNvPr id="70" name="Shape 66"/>
          <p:cNvSpPr/>
          <p:nvPr/>
        </p:nvSpPr>
        <p:spPr>
          <a:xfrm>
            <a:off x="5784233" y="2870289"/>
            <a:ext cx="116857" cy="101534"/>
          </a:xfrm>
          <a:prstGeom prst="rect">
            <a:avLst/>
          </a:prstGeom>
          <a:solidFill>
            <a:srgbClr val="28D2C3"/>
          </a:solidFill>
          <a:ln/>
        </p:spPr>
        <p:txBody>
          <a:bodyPr/>
          <a:lstStyle/>
          <a:p>
            <a:endParaRPr lang="es-CL"/>
          </a:p>
        </p:txBody>
      </p:sp>
      <p:sp>
        <p:nvSpPr>
          <p:cNvPr id="71" name="Text 67"/>
          <p:cNvSpPr/>
          <p:nvPr/>
        </p:nvSpPr>
        <p:spPr>
          <a:xfrm>
            <a:off x="5964591" y="2850555"/>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87,3</a:t>
            </a:r>
            <a:endParaRPr lang="en-US" sz="950" kern="1200" dirty="0">
              <a:solidFill>
                <a:prstClr val="black"/>
              </a:solidFill>
              <a:latin typeface="Calibri" panose="020F0502020204030204"/>
              <a:ea typeface="+mn-ea"/>
              <a:cs typeface="+mn-cs"/>
            </a:endParaRPr>
          </a:p>
        </p:txBody>
      </p:sp>
      <p:sp>
        <p:nvSpPr>
          <p:cNvPr id="72" name="Shape 68"/>
          <p:cNvSpPr/>
          <p:nvPr/>
        </p:nvSpPr>
        <p:spPr>
          <a:xfrm>
            <a:off x="7422445" y="3035102"/>
            <a:ext cx="610857" cy="7055"/>
          </a:xfrm>
          <a:prstGeom prst="rect">
            <a:avLst/>
          </a:prstGeom>
          <a:solidFill>
            <a:srgbClr val="D9DCE3"/>
          </a:solidFill>
          <a:ln/>
        </p:spPr>
        <p:txBody>
          <a:bodyPr/>
          <a:lstStyle/>
          <a:p>
            <a:endParaRPr lang="es-CL"/>
          </a:p>
        </p:txBody>
      </p:sp>
      <p:sp>
        <p:nvSpPr>
          <p:cNvPr id="73" name="Text 69"/>
          <p:cNvSpPr/>
          <p:nvPr/>
        </p:nvSpPr>
        <p:spPr>
          <a:xfrm>
            <a:off x="7422445" y="2800173"/>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5</a:t>
            </a:r>
            <a:endParaRPr lang="en-US" sz="950" kern="1200" dirty="0">
              <a:solidFill>
                <a:prstClr val="black"/>
              </a:solidFill>
              <a:latin typeface="Calibri" panose="020F0502020204030204"/>
              <a:ea typeface="+mn-ea"/>
              <a:cs typeface="+mn-cs"/>
            </a:endParaRPr>
          </a:p>
        </p:txBody>
      </p:sp>
      <p:sp>
        <p:nvSpPr>
          <p:cNvPr id="74" name="Shape 70"/>
          <p:cNvSpPr/>
          <p:nvPr/>
        </p:nvSpPr>
        <p:spPr>
          <a:xfrm>
            <a:off x="2667001" y="3277086"/>
            <a:ext cx="1307923" cy="7055"/>
          </a:xfrm>
          <a:prstGeom prst="rect">
            <a:avLst/>
          </a:prstGeom>
          <a:solidFill>
            <a:srgbClr val="D9DCE3"/>
          </a:solidFill>
          <a:ln/>
        </p:spPr>
        <p:txBody>
          <a:bodyPr/>
          <a:lstStyle/>
          <a:p>
            <a:endParaRPr lang="es-CL"/>
          </a:p>
        </p:txBody>
      </p:sp>
      <p:sp>
        <p:nvSpPr>
          <p:cNvPr id="75" name="Text 71"/>
          <p:cNvSpPr/>
          <p:nvPr/>
        </p:nvSpPr>
        <p:spPr>
          <a:xfrm>
            <a:off x="2717801" y="3042157"/>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Valparaíso</a:t>
            </a:r>
            <a:endParaRPr lang="en-US" sz="950" kern="1200" dirty="0">
              <a:solidFill>
                <a:prstClr val="black"/>
              </a:solidFill>
              <a:latin typeface="Calibri" panose="020F0502020204030204"/>
              <a:ea typeface="+mn-ea"/>
              <a:cs typeface="+mn-cs"/>
            </a:endParaRPr>
          </a:p>
        </p:txBody>
      </p:sp>
      <p:sp>
        <p:nvSpPr>
          <p:cNvPr id="76" name="Shape 72"/>
          <p:cNvSpPr/>
          <p:nvPr/>
        </p:nvSpPr>
        <p:spPr>
          <a:xfrm>
            <a:off x="3974924" y="3277086"/>
            <a:ext cx="1212673" cy="7055"/>
          </a:xfrm>
          <a:prstGeom prst="rect">
            <a:avLst/>
          </a:prstGeom>
          <a:solidFill>
            <a:srgbClr val="D9DCE3"/>
          </a:solidFill>
          <a:ln/>
        </p:spPr>
        <p:txBody>
          <a:bodyPr/>
          <a:lstStyle/>
          <a:p>
            <a:endParaRPr lang="es-CL"/>
          </a:p>
        </p:txBody>
      </p:sp>
      <p:sp>
        <p:nvSpPr>
          <p:cNvPr id="77" name="Text 73"/>
          <p:cNvSpPr/>
          <p:nvPr/>
        </p:nvSpPr>
        <p:spPr>
          <a:xfrm>
            <a:off x="4025724" y="3042157"/>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78" name="Shape 74"/>
          <p:cNvSpPr/>
          <p:nvPr/>
        </p:nvSpPr>
        <p:spPr>
          <a:xfrm>
            <a:off x="5187598" y="3277086"/>
            <a:ext cx="545923" cy="7055"/>
          </a:xfrm>
          <a:prstGeom prst="rect">
            <a:avLst/>
          </a:prstGeom>
          <a:solidFill>
            <a:srgbClr val="D9DCE3"/>
          </a:solidFill>
          <a:ln/>
        </p:spPr>
        <p:txBody>
          <a:bodyPr/>
          <a:lstStyle/>
          <a:p>
            <a:endParaRPr lang="es-CL"/>
          </a:p>
        </p:txBody>
      </p:sp>
      <p:sp>
        <p:nvSpPr>
          <p:cNvPr id="79" name="Text 75"/>
          <p:cNvSpPr/>
          <p:nvPr/>
        </p:nvSpPr>
        <p:spPr>
          <a:xfrm>
            <a:off x="5187598" y="3042157"/>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77</a:t>
            </a:r>
            <a:endParaRPr lang="en-US" sz="950" kern="1200" dirty="0">
              <a:solidFill>
                <a:prstClr val="black"/>
              </a:solidFill>
              <a:latin typeface="Calibri" panose="020F0502020204030204"/>
              <a:ea typeface="+mn-ea"/>
              <a:cs typeface="+mn-cs"/>
            </a:endParaRPr>
          </a:p>
        </p:txBody>
      </p:sp>
      <p:sp>
        <p:nvSpPr>
          <p:cNvPr id="80" name="Shape 76"/>
          <p:cNvSpPr/>
          <p:nvPr/>
        </p:nvSpPr>
        <p:spPr>
          <a:xfrm>
            <a:off x="5733521" y="3277086"/>
            <a:ext cx="1688923" cy="7055"/>
          </a:xfrm>
          <a:prstGeom prst="rect">
            <a:avLst/>
          </a:prstGeom>
          <a:solidFill>
            <a:srgbClr val="D9DCE3"/>
          </a:solidFill>
          <a:ln/>
        </p:spPr>
        <p:txBody>
          <a:bodyPr/>
          <a:lstStyle/>
          <a:p>
            <a:endParaRPr lang="es-CL"/>
          </a:p>
        </p:txBody>
      </p:sp>
      <p:sp>
        <p:nvSpPr>
          <p:cNvPr id="81" name="Shape 77"/>
          <p:cNvSpPr/>
          <p:nvPr/>
        </p:nvSpPr>
        <p:spPr>
          <a:xfrm>
            <a:off x="5784233" y="3112272"/>
            <a:ext cx="255433" cy="101534"/>
          </a:xfrm>
          <a:prstGeom prst="rect">
            <a:avLst/>
          </a:prstGeom>
          <a:solidFill>
            <a:srgbClr val="28D2C3"/>
          </a:solidFill>
          <a:ln/>
        </p:spPr>
        <p:txBody>
          <a:bodyPr/>
          <a:lstStyle/>
          <a:p>
            <a:endParaRPr lang="es-CL"/>
          </a:p>
        </p:txBody>
      </p:sp>
      <p:sp>
        <p:nvSpPr>
          <p:cNvPr id="82" name="Text 78"/>
          <p:cNvSpPr/>
          <p:nvPr/>
        </p:nvSpPr>
        <p:spPr>
          <a:xfrm>
            <a:off x="6103166" y="3092539"/>
            <a:ext cx="352756"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190,7</a:t>
            </a:r>
            <a:endParaRPr lang="en-US" sz="950" kern="1200" dirty="0">
              <a:solidFill>
                <a:prstClr val="black"/>
              </a:solidFill>
              <a:latin typeface="Calibri" panose="020F0502020204030204"/>
              <a:ea typeface="+mn-ea"/>
              <a:cs typeface="+mn-cs"/>
            </a:endParaRPr>
          </a:p>
        </p:txBody>
      </p:sp>
      <p:sp>
        <p:nvSpPr>
          <p:cNvPr id="83" name="Shape 79"/>
          <p:cNvSpPr/>
          <p:nvPr/>
        </p:nvSpPr>
        <p:spPr>
          <a:xfrm>
            <a:off x="7422445" y="3277086"/>
            <a:ext cx="610857" cy="7055"/>
          </a:xfrm>
          <a:prstGeom prst="rect">
            <a:avLst/>
          </a:prstGeom>
          <a:solidFill>
            <a:srgbClr val="D9DCE3"/>
          </a:solidFill>
          <a:ln/>
        </p:spPr>
        <p:txBody>
          <a:bodyPr/>
          <a:lstStyle/>
          <a:p>
            <a:endParaRPr lang="es-CL"/>
          </a:p>
        </p:txBody>
      </p:sp>
      <p:sp>
        <p:nvSpPr>
          <p:cNvPr id="84" name="Text 80"/>
          <p:cNvSpPr/>
          <p:nvPr/>
        </p:nvSpPr>
        <p:spPr>
          <a:xfrm>
            <a:off x="7422445" y="3042157"/>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9</a:t>
            </a:r>
            <a:endParaRPr lang="en-US" sz="950" kern="1200" dirty="0">
              <a:solidFill>
                <a:prstClr val="black"/>
              </a:solidFill>
              <a:latin typeface="Calibri" panose="020F0502020204030204"/>
              <a:ea typeface="+mn-ea"/>
              <a:cs typeface="+mn-cs"/>
            </a:endParaRPr>
          </a:p>
        </p:txBody>
      </p:sp>
      <p:sp>
        <p:nvSpPr>
          <p:cNvPr id="85" name="Shape 81"/>
          <p:cNvSpPr/>
          <p:nvPr/>
        </p:nvSpPr>
        <p:spPr>
          <a:xfrm>
            <a:off x="2667001" y="3519069"/>
            <a:ext cx="1307923" cy="7055"/>
          </a:xfrm>
          <a:prstGeom prst="rect">
            <a:avLst/>
          </a:prstGeom>
          <a:solidFill>
            <a:srgbClr val="D9DCE3"/>
          </a:solidFill>
          <a:ln/>
        </p:spPr>
        <p:txBody>
          <a:bodyPr/>
          <a:lstStyle/>
          <a:p>
            <a:endParaRPr lang="es-CL"/>
          </a:p>
        </p:txBody>
      </p:sp>
      <p:sp>
        <p:nvSpPr>
          <p:cNvPr id="86" name="Text 82"/>
          <p:cNvSpPr/>
          <p:nvPr/>
        </p:nvSpPr>
        <p:spPr>
          <a:xfrm>
            <a:off x="2717801" y="3284141"/>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Metropolitana</a:t>
            </a:r>
            <a:endParaRPr lang="en-US" sz="950" kern="1200" dirty="0">
              <a:solidFill>
                <a:prstClr val="black"/>
              </a:solidFill>
              <a:latin typeface="Calibri" panose="020F0502020204030204"/>
              <a:ea typeface="+mn-ea"/>
              <a:cs typeface="+mn-cs"/>
            </a:endParaRPr>
          </a:p>
        </p:txBody>
      </p:sp>
      <p:sp>
        <p:nvSpPr>
          <p:cNvPr id="87" name="Shape 83"/>
          <p:cNvSpPr/>
          <p:nvPr/>
        </p:nvSpPr>
        <p:spPr>
          <a:xfrm>
            <a:off x="3974924" y="3519069"/>
            <a:ext cx="1212673" cy="7055"/>
          </a:xfrm>
          <a:prstGeom prst="rect">
            <a:avLst/>
          </a:prstGeom>
          <a:solidFill>
            <a:srgbClr val="D9DCE3"/>
          </a:solidFill>
          <a:ln/>
        </p:spPr>
        <p:txBody>
          <a:bodyPr/>
          <a:lstStyle/>
          <a:p>
            <a:endParaRPr lang="es-CL"/>
          </a:p>
        </p:txBody>
      </p:sp>
      <p:sp>
        <p:nvSpPr>
          <p:cNvPr id="88" name="Text 84"/>
          <p:cNvSpPr/>
          <p:nvPr/>
        </p:nvSpPr>
        <p:spPr>
          <a:xfrm>
            <a:off x="4025724" y="3284141"/>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 Eglys</a:t>
            </a:r>
            <a:endParaRPr lang="en-US" sz="950" kern="1200" dirty="0">
              <a:solidFill>
                <a:prstClr val="black"/>
              </a:solidFill>
              <a:latin typeface="Calibri" panose="020F0502020204030204"/>
              <a:ea typeface="+mn-ea"/>
              <a:cs typeface="+mn-cs"/>
            </a:endParaRPr>
          </a:p>
        </p:txBody>
      </p:sp>
      <p:sp>
        <p:nvSpPr>
          <p:cNvPr id="89" name="Shape 85"/>
          <p:cNvSpPr/>
          <p:nvPr/>
        </p:nvSpPr>
        <p:spPr>
          <a:xfrm>
            <a:off x="5187598" y="3519069"/>
            <a:ext cx="545923" cy="7055"/>
          </a:xfrm>
          <a:prstGeom prst="rect">
            <a:avLst/>
          </a:prstGeom>
          <a:solidFill>
            <a:srgbClr val="D9DCE3"/>
          </a:solidFill>
          <a:ln/>
        </p:spPr>
        <p:txBody>
          <a:bodyPr/>
          <a:lstStyle/>
          <a:p>
            <a:endParaRPr lang="es-CL"/>
          </a:p>
        </p:txBody>
      </p:sp>
      <p:sp>
        <p:nvSpPr>
          <p:cNvPr id="90" name="Text 86"/>
          <p:cNvSpPr/>
          <p:nvPr/>
        </p:nvSpPr>
        <p:spPr>
          <a:xfrm>
            <a:off x="5187598" y="3284141"/>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303</a:t>
            </a:r>
            <a:endParaRPr lang="en-US" sz="950" kern="1200" dirty="0">
              <a:solidFill>
                <a:prstClr val="black"/>
              </a:solidFill>
              <a:latin typeface="Calibri" panose="020F0502020204030204"/>
              <a:ea typeface="+mn-ea"/>
              <a:cs typeface="+mn-cs"/>
            </a:endParaRPr>
          </a:p>
        </p:txBody>
      </p:sp>
      <p:sp>
        <p:nvSpPr>
          <p:cNvPr id="91" name="Shape 87"/>
          <p:cNvSpPr/>
          <p:nvPr/>
        </p:nvSpPr>
        <p:spPr>
          <a:xfrm>
            <a:off x="5733521" y="3519069"/>
            <a:ext cx="1688923" cy="7055"/>
          </a:xfrm>
          <a:prstGeom prst="rect">
            <a:avLst/>
          </a:prstGeom>
          <a:solidFill>
            <a:srgbClr val="D9DCE3"/>
          </a:solidFill>
          <a:ln/>
        </p:spPr>
        <p:txBody>
          <a:bodyPr/>
          <a:lstStyle/>
          <a:p>
            <a:endParaRPr lang="es-CL"/>
          </a:p>
        </p:txBody>
      </p:sp>
      <p:sp>
        <p:nvSpPr>
          <p:cNvPr id="92" name="Shape 88"/>
          <p:cNvSpPr/>
          <p:nvPr/>
        </p:nvSpPr>
        <p:spPr>
          <a:xfrm>
            <a:off x="5784233" y="3354256"/>
            <a:ext cx="1111250" cy="101534"/>
          </a:xfrm>
          <a:prstGeom prst="rect">
            <a:avLst/>
          </a:prstGeom>
          <a:solidFill>
            <a:srgbClr val="28D2C3"/>
          </a:solidFill>
          <a:ln/>
        </p:spPr>
        <p:txBody>
          <a:bodyPr/>
          <a:lstStyle/>
          <a:p>
            <a:endParaRPr lang="es-CL"/>
          </a:p>
        </p:txBody>
      </p:sp>
      <p:sp>
        <p:nvSpPr>
          <p:cNvPr id="93" name="Text 89"/>
          <p:cNvSpPr/>
          <p:nvPr/>
        </p:nvSpPr>
        <p:spPr>
          <a:xfrm>
            <a:off x="6958983" y="3334523"/>
            <a:ext cx="352756"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829,5</a:t>
            </a:r>
            <a:endParaRPr lang="en-US" sz="950" kern="1200" dirty="0">
              <a:solidFill>
                <a:prstClr val="black"/>
              </a:solidFill>
              <a:latin typeface="Calibri" panose="020F0502020204030204"/>
              <a:ea typeface="+mn-ea"/>
              <a:cs typeface="+mn-cs"/>
            </a:endParaRPr>
          </a:p>
        </p:txBody>
      </p:sp>
      <p:sp>
        <p:nvSpPr>
          <p:cNvPr id="94" name="Shape 90"/>
          <p:cNvSpPr/>
          <p:nvPr/>
        </p:nvSpPr>
        <p:spPr>
          <a:xfrm>
            <a:off x="7422445" y="3519069"/>
            <a:ext cx="610857" cy="7055"/>
          </a:xfrm>
          <a:prstGeom prst="rect">
            <a:avLst/>
          </a:prstGeom>
          <a:solidFill>
            <a:srgbClr val="D9DCE3"/>
          </a:solidFill>
          <a:ln/>
        </p:spPr>
        <p:txBody>
          <a:bodyPr/>
          <a:lstStyle/>
          <a:p>
            <a:endParaRPr lang="es-CL"/>
          </a:p>
        </p:txBody>
      </p:sp>
      <p:sp>
        <p:nvSpPr>
          <p:cNvPr id="95" name="Text 91"/>
          <p:cNvSpPr/>
          <p:nvPr/>
        </p:nvSpPr>
        <p:spPr>
          <a:xfrm>
            <a:off x="7422445" y="3284141"/>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28</a:t>
            </a:r>
            <a:endParaRPr lang="en-US" sz="950" kern="1200" dirty="0">
              <a:solidFill>
                <a:prstClr val="black"/>
              </a:solidFill>
              <a:latin typeface="Calibri" panose="020F0502020204030204"/>
              <a:ea typeface="+mn-ea"/>
              <a:cs typeface="+mn-cs"/>
            </a:endParaRPr>
          </a:p>
        </p:txBody>
      </p:sp>
      <p:sp>
        <p:nvSpPr>
          <p:cNvPr id="96" name="Shape 92"/>
          <p:cNvSpPr/>
          <p:nvPr/>
        </p:nvSpPr>
        <p:spPr>
          <a:xfrm>
            <a:off x="2667001" y="3761053"/>
            <a:ext cx="1307923" cy="7055"/>
          </a:xfrm>
          <a:prstGeom prst="rect">
            <a:avLst/>
          </a:prstGeom>
          <a:solidFill>
            <a:srgbClr val="D9DCE3"/>
          </a:solidFill>
          <a:ln/>
        </p:spPr>
        <p:txBody>
          <a:bodyPr/>
          <a:lstStyle/>
          <a:p>
            <a:endParaRPr lang="es-CL"/>
          </a:p>
        </p:txBody>
      </p:sp>
      <p:sp>
        <p:nvSpPr>
          <p:cNvPr id="97" name="Text 93"/>
          <p:cNvSpPr/>
          <p:nvPr/>
        </p:nvSpPr>
        <p:spPr>
          <a:xfrm>
            <a:off x="2717801" y="3526124"/>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O'Higgins</a:t>
            </a:r>
            <a:endParaRPr lang="en-US" sz="950" kern="1200" dirty="0">
              <a:solidFill>
                <a:prstClr val="black"/>
              </a:solidFill>
              <a:latin typeface="Calibri" panose="020F0502020204030204"/>
              <a:ea typeface="+mn-ea"/>
              <a:cs typeface="+mn-cs"/>
            </a:endParaRPr>
          </a:p>
        </p:txBody>
      </p:sp>
      <p:sp>
        <p:nvSpPr>
          <p:cNvPr id="98" name="Shape 94"/>
          <p:cNvSpPr/>
          <p:nvPr/>
        </p:nvSpPr>
        <p:spPr>
          <a:xfrm>
            <a:off x="3974924" y="3761053"/>
            <a:ext cx="1212673" cy="7055"/>
          </a:xfrm>
          <a:prstGeom prst="rect">
            <a:avLst/>
          </a:prstGeom>
          <a:solidFill>
            <a:srgbClr val="D9DCE3"/>
          </a:solidFill>
          <a:ln/>
        </p:spPr>
        <p:txBody>
          <a:bodyPr/>
          <a:lstStyle/>
          <a:p>
            <a:endParaRPr lang="es-CL"/>
          </a:p>
        </p:txBody>
      </p:sp>
      <p:sp>
        <p:nvSpPr>
          <p:cNvPr id="99" name="Text 95"/>
          <p:cNvSpPr/>
          <p:nvPr/>
        </p:nvSpPr>
        <p:spPr>
          <a:xfrm>
            <a:off x="4025724" y="3526124"/>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Eglys Ramírez</a:t>
            </a:r>
            <a:endParaRPr lang="en-US" sz="950" kern="1200" dirty="0">
              <a:solidFill>
                <a:prstClr val="black"/>
              </a:solidFill>
              <a:latin typeface="Calibri" panose="020F0502020204030204"/>
              <a:ea typeface="+mn-ea"/>
              <a:cs typeface="+mn-cs"/>
            </a:endParaRPr>
          </a:p>
        </p:txBody>
      </p:sp>
      <p:sp>
        <p:nvSpPr>
          <p:cNvPr id="100" name="Shape 96"/>
          <p:cNvSpPr/>
          <p:nvPr/>
        </p:nvSpPr>
        <p:spPr>
          <a:xfrm>
            <a:off x="5187598" y="3761053"/>
            <a:ext cx="545923" cy="7055"/>
          </a:xfrm>
          <a:prstGeom prst="rect">
            <a:avLst/>
          </a:prstGeom>
          <a:solidFill>
            <a:srgbClr val="D9DCE3"/>
          </a:solidFill>
          <a:ln/>
        </p:spPr>
        <p:txBody>
          <a:bodyPr/>
          <a:lstStyle/>
          <a:p>
            <a:endParaRPr lang="es-CL"/>
          </a:p>
        </p:txBody>
      </p:sp>
      <p:sp>
        <p:nvSpPr>
          <p:cNvPr id="101" name="Text 97"/>
          <p:cNvSpPr/>
          <p:nvPr/>
        </p:nvSpPr>
        <p:spPr>
          <a:xfrm>
            <a:off x="5187598" y="3526124"/>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32</a:t>
            </a:r>
            <a:endParaRPr lang="en-US" sz="950" kern="1200" dirty="0">
              <a:solidFill>
                <a:prstClr val="black"/>
              </a:solidFill>
              <a:latin typeface="Calibri" panose="020F0502020204030204"/>
              <a:ea typeface="+mn-ea"/>
              <a:cs typeface="+mn-cs"/>
            </a:endParaRPr>
          </a:p>
        </p:txBody>
      </p:sp>
      <p:sp>
        <p:nvSpPr>
          <p:cNvPr id="102" name="Shape 98"/>
          <p:cNvSpPr/>
          <p:nvPr/>
        </p:nvSpPr>
        <p:spPr>
          <a:xfrm>
            <a:off x="5733521" y="3761053"/>
            <a:ext cx="1688923" cy="7055"/>
          </a:xfrm>
          <a:prstGeom prst="rect">
            <a:avLst/>
          </a:prstGeom>
          <a:solidFill>
            <a:srgbClr val="D9DCE3"/>
          </a:solidFill>
          <a:ln/>
        </p:spPr>
        <p:txBody>
          <a:bodyPr/>
          <a:lstStyle/>
          <a:p>
            <a:endParaRPr lang="es-CL"/>
          </a:p>
        </p:txBody>
      </p:sp>
      <p:sp>
        <p:nvSpPr>
          <p:cNvPr id="103" name="Shape 99"/>
          <p:cNvSpPr/>
          <p:nvPr/>
        </p:nvSpPr>
        <p:spPr>
          <a:xfrm>
            <a:off x="5784233" y="3596240"/>
            <a:ext cx="95360" cy="101534"/>
          </a:xfrm>
          <a:prstGeom prst="rect">
            <a:avLst/>
          </a:prstGeom>
          <a:solidFill>
            <a:srgbClr val="282DF0"/>
          </a:solidFill>
          <a:ln/>
        </p:spPr>
        <p:txBody>
          <a:bodyPr/>
          <a:lstStyle/>
          <a:p>
            <a:endParaRPr lang="es-CL"/>
          </a:p>
        </p:txBody>
      </p:sp>
      <p:sp>
        <p:nvSpPr>
          <p:cNvPr id="104" name="Text 100"/>
          <p:cNvSpPr/>
          <p:nvPr/>
        </p:nvSpPr>
        <p:spPr>
          <a:xfrm>
            <a:off x="5943093" y="3576506"/>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71,2</a:t>
            </a:r>
            <a:endParaRPr lang="en-US" sz="950" kern="1200" dirty="0">
              <a:solidFill>
                <a:prstClr val="black"/>
              </a:solidFill>
              <a:latin typeface="Calibri" panose="020F0502020204030204"/>
              <a:ea typeface="+mn-ea"/>
              <a:cs typeface="+mn-cs"/>
            </a:endParaRPr>
          </a:p>
        </p:txBody>
      </p:sp>
      <p:sp>
        <p:nvSpPr>
          <p:cNvPr id="105" name="Shape 101"/>
          <p:cNvSpPr/>
          <p:nvPr/>
        </p:nvSpPr>
        <p:spPr>
          <a:xfrm>
            <a:off x="7422445" y="3761053"/>
            <a:ext cx="610857" cy="7055"/>
          </a:xfrm>
          <a:prstGeom prst="rect">
            <a:avLst/>
          </a:prstGeom>
          <a:solidFill>
            <a:srgbClr val="D9DCE3"/>
          </a:solidFill>
          <a:ln/>
        </p:spPr>
        <p:txBody>
          <a:bodyPr/>
          <a:lstStyle/>
          <a:p>
            <a:endParaRPr lang="es-CL"/>
          </a:p>
        </p:txBody>
      </p:sp>
      <p:sp>
        <p:nvSpPr>
          <p:cNvPr id="106" name="Text 102"/>
          <p:cNvSpPr/>
          <p:nvPr/>
        </p:nvSpPr>
        <p:spPr>
          <a:xfrm>
            <a:off x="7422445" y="3526124"/>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0</a:t>
            </a:r>
            <a:endParaRPr lang="en-US" sz="950" kern="1200" dirty="0">
              <a:solidFill>
                <a:prstClr val="black"/>
              </a:solidFill>
              <a:latin typeface="Calibri" panose="020F0502020204030204"/>
              <a:ea typeface="+mn-ea"/>
              <a:cs typeface="+mn-cs"/>
            </a:endParaRPr>
          </a:p>
        </p:txBody>
      </p:sp>
      <p:sp>
        <p:nvSpPr>
          <p:cNvPr id="107" name="Shape 103"/>
          <p:cNvSpPr/>
          <p:nvPr/>
        </p:nvSpPr>
        <p:spPr>
          <a:xfrm>
            <a:off x="2667001" y="4003037"/>
            <a:ext cx="1307923" cy="7055"/>
          </a:xfrm>
          <a:prstGeom prst="rect">
            <a:avLst/>
          </a:prstGeom>
          <a:solidFill>
            <a:srgbClr val="D9DCE3"/>
          </a:solidFill>
          <a:ln/>
        </p:spPr>
        <p:txBody>
          <a:bodyPr/>
          <a:lstStyle/>
          <a:p>
            <a:endParaRPr lang="es-CL"/>
          </a:p>
        </p:txBody>
      </p:sp>
      <p:sp>
        <p:nvSpPr>
          <p:cNvPr id="108" name="Text 104"/>
          <p:cNvSpPr/>
          <p:nvPr/>
        </p:nvSpPr>
        <p:spPr>
          <a:xfrm>
            <a:off x="2717801" y="3768108"/>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Maule</a:t>
            </a:r>
            <a:endParaRPr lang="en-US" sz="950" kern="1200" dirty="0">
              <a:solidFill>
                <a:prstClr val="black"/>
              </a:solidFill>
              <a:latin typeface="Calibri" panose="020F0502020204030204"/>
              <a:ea typeface="+mn-ea"/>
              <a:cs typeface="+mn-cs"/>
            </a:endParaRPr>
          </a:p>
        </p:txBody>
      </p:sp>
      <p:sp>
        <p:nvSpPr>
          <p:cNvPr id="109" name="Shape 105"/>
          <p:cNvSpPr/>
          <p:nvPr/>
        </p:nvSpPr>
        <p:spPr>
          <a:xfrm>
            <a:off x="3974924" y="4003037"/>
            <a:ext cx="1212673" cy="7055"/>
          </a:xfrm>
          <a:prstGeom prst="rect">
            <a:avLst/>
          </a:prstGeom>
          <a:solidFill>
            <a:srgbClr val="D9DCE3"/>
          </a:solidFill>
          <a:ln/>
        </p:spPr>
        <p:txBody>
          <a:bodyPr/>
          <a:lstStyle/>
          <a:p>
            <a:endParaRPr lang="es-CL"/>
          </a:p>
        </p:txBody>
      </p:sp>
      <p:sp>
        <p:nvSpPr>
          <p:cNvPr id="110" name="Text 106"/>
          <p:cNvSpPr/>
          <p:nvPr/>
        </p:nvSpPr>
        <p:spPr>
          <a:xfrm>
            <a:off x="4025724" y="3768108"/>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111" name="Shape 107"/>
          <p:cNvSpPr/>
          <p:nvPr/>
        </p:nvSpPr>
        <p:spPr>
          <a:xfrm>
            <a:off x="5187598" y="4003037"/>
            <a:ext cx="545923" cy="7055"/>
          </a:xfrm>
          <a:prstGeom prst="rect">
            <a:avLst/>
          </a:prstGeom>
          <a:solidFill>
            <a:srgbClr val="D9DCE3"/>
          </a:solidFill>
          <a:ln/>
        </p:spPr>
        <p:txBody>
          <a:bodyPr/>
          <a:lstStyle/>
          <a:p>
            <a:endParaRPr lang="es-CL"/>
          </a:p>
        </p:txBody>
      </p:sp>
      <p:sp>
        <p:nvSpPr>
          <p:cNvPr id="112" name="Text 108"/>
          <p:cNvSpPr/>
          <p:nvPr/>
        </p:nvSpPr>
        <p:spPr>
          <a:xfrm>
            <a:off x="5187598" y="3768108"/>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46</a:t>
            </a:r>
            <a:endParaRPr lang="en-US" sz="950" kern="1200" dirty="0">
              <a:solidFill>
                <a:prstClr val="black"/>
              </a:solidFill>
              <a:latin typeface="Calibri" panose="020F0502020204030204"/>
              <a:ea typeface="+mn-ea"/>
              <a:cs typeface="+mn-cs"/>
            </a:endParaRPr>
          </a:p>
        </p:txBody>
      </p:sp>
      <p:sp>
        <p:nvSpPr>
          <p:cNvPr id="113" name="Shape 109"/>
          <p:cNvSpPr/>
          <p:nvPr/>
        </p:nvSpPr>
        <p:spPr>
          <a:xfrm>
            <a:off x="5733521" y="4003037"/>
            <a:ext cx="1688923" cy="7055"/>
          </a:xfrm>
          <a:prstGeom prst="rect">
            <a:avLst/>
          </a:prstGeom>
          <a:solidFill>
            <a:srgbClr val="D9DCE3"/>
          </a:solidFill>
          <a:ln/>
        </p:spPr>
        <p:txBody>
          <a:bodyPr/>
          <a:lstStyle/>
          <a:p>
            <a:endParaRPr lang="es-CL"/>
          </a:p>
        </p:txBody>
      </p:sp>
      <p:sp>
        <p:nvSpPr>
          <p:cNvPr id="114" name="Shape 110"/>
          <p:cNvSpPr/>
          <p:nvPr/>
        </p:nvSpPr>
        <p:spPr>
          <a:xfrm>
            <a:off x="5784233" y="3838222"/>
            <a:ext cx="177161" cy="101534"/>
          </a:xfrm>
          <a:prstGeom prst="rect">
            <a:avLst/>
          </a:prstGeom>
          <a:solidFill>
            <a:srgbClr val="28D2C3"/>
          </a:solidFill>
          <a:ln/>
        </p:spPr>
        <p:txBody>
          <a:bodyPr/>
          <a:lstStyle/>
          <a:p>
            <a:endParaRPr lang="es-CL"/>
          </a:p>
        </p:txBody>
      </p:sp>
      <p:sp>
        <p:nvSpPr>
          <p:cNvPr id="115" name="Text 111"/>
          <p:cNvSpPr/>
          <p:nvPr/>
        </p:nvSpPr>
        <p:spPr>
          <a:xfrm>
            <a:off x="6024893" y="3818490"/>
            <a:ext cx="352756"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132,3</a:t>
            </a:r>
            <a:endParaRPr lang="en-US" sz="950" kern="1200" dirty="0">
              <a:solidFill>
                <a:prstClr val="black"/>
              </a:solidFill>
              <a:latin typeface="Calibri" panose="020F0502020204030204"/>
              <a:ea typeface="+mn-ea"/>
              <a:cs typeface="+mn-cs"/>
            </a:endParaRPr>
          </a:p>
        </p:txBody>
      </p:sp>
      <p:sp>
        <p:nvSpPr>
          <p:cNvPr id="116" name="Shape 112"/>
          <p:cNvSpPr/>
          <p:nvPr/>
        </p:nvSpPr>
        <p:spPr>
          <a:xfrm>
            <a:off x="7422445" y="4003037"/>
            <a:ext cx="610857" cy="7055"/>
          </a:xfrm>
          <a:prstGeom prst="rect">
            <a:avLst/>
          </a:prstGeom>
          <a:solidFill>
            <a:srgbClr val="D9DCE3"/>
          </a:solidFill>
          <a:ln/>
        </p:spPr>
        <p:txBody>
          <a:bodyPr/>
          <a:lstStyle/>
          <a:p>
            <a:endParaRPr lang="es-CL"/>
          </a:p>
        </p:txBody>
      </p:sp>
      <p:sp>
        <p:nvSpPr>
          <p:cNvPr id="117" name="Text 113"/>
          <p:cNvSpPr/>
          <p:nvPr/>
        </p:nvSpPr>
        <p:spPr>
          <a:xfrm>
            <a:off x="7422445" y="3768108"/>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2</a:t>
            </a:r>
            <a:endParaRPr lang="en-US" sz="950" kern="1200" dirty="0">
              <a:solidFill>
                <a:prstClr val="black"/>
              </a:solidFill>
              <a:latin typeface="Calibri" panose="020F0502020204030204"/>
              <a:ea typeface="+mn-ea"/>
              <a:cs typeface="+mn-cs"/>
            </a:endParaRPr>
          </a:p>
        </p:txBody>
      </p:sp>
      <p:sp>
        <p:nvSpPr>
          <p:cNvPr id="118" name="Shape 114"/>
          <p:cNvSpPr/>
          <p:nvPr/>
        </p:nvSpPr>
        <p:spPr>
          <a:xfrm>
            <a:off x="2667001" y="4245020"/>
            <a:ext cx="1307923" cy="7055"/>
          </a:xfrm>
          <a:prstGeom prst="rect">
            <a:avLst/>
          </a:prstGeom>
          <a:solidFill>
            <a:srgbClr val="D9DCE3"/>
          </a:solidFill>
          <a:ln/>
        </p:spPr>
        <p:txBody>
          <a:bodyPr/>
          <a:lstStyle/>
          <a:p>
            <a:endParaRPr lang="es-CL"/>
          </a:p>
        </p:txBody>
      </p:sp>
      <p:sp>
        <p:nvSpPr>
          <p:cNvPr id="119" name="Text 115"/>
          <p:cNvSpPr/>
          <p:nvPr/>
        </p:nvSpPr>
        <p:spPr>
          <a:xfrm>
            <a:off x="2717801" y="4010091"/>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Ñuble</a:t>
            </a:r>
            <a:endParaRPr lang="en-US" sz="950" kern="1200" dirty="0">
              <a:solidFill>
                <a:prstClr val="black"/>
              </a:solidFill>
              <a:latin typeface="Calibri" panose="020F0502020204030204"/>
              <a:ea typeface="+mn-ea"/>
              <a:cs typeface="+mn-cs"/>
            </a:endParaRPr>
          </a:p>
        </p:txBody>
      </p:sp>
      <p:sp>
        <p:nvSpPr>
          <p:cNvPr id="120" name="Shape 116"/>
          <p:cNvSpPr/>
          <p:nvPr/>
        </p:nvSpPr>
        <p:spPr>
          <a:xfrm>
            <a:off x="3974924" y="4245020"/>
            <a:ext cx="1212673" cy="7055"/>
          </a:xfrm>
          <a:prstGeom prst="rect">
            <a:avLst/>
          </a:prstGeom>
          <a:solidFill>
            <a:srgbClr val="D9DCE3"/>
          </a:solidFill>
          <a:ln/>
        </p:spPr>
        <p:txBody>
          <a:bodyPr/>
          <a:lstStyle/>
          <a:p>
            <a:endParaRPr lang="es-CL"/>
          </a:p>
        </p:txBody>
      </p:sp>
      <p:sp>
        <p:nvSpPr>
          <p:cNvPr id="121" name="Text 117"/>
          <p:cNvSpPr/>
          <p:nvPr/>
        </p:nvSpPr>
        <p:spPr>
          <a:xfrm>
            <a:off x="4025724" y="4010091"/>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Eglys Ramírez</a:t>
            </a:r>
            <a:endParaRPr lang="en-US" sz="950" kern="1200" dirty="0">
              <a:solidFill>
                <a:prstClr val="black"/>
              </a:solidFill>
              <a:latin typeface="Calibri" panose="020F0502020204030204"/>
              <a:ea typeface="+mn-ea"/>
              <a:cs typeface="+mn-cs"/>
            </a:endParaRPr>
          </a:p>
        </p:txBody>
      </p:sp>
      <p:sp>
        <p:nvSpPr>
          <p:cNvPr id="122" name="Shape 118"/>
          <p:cNvSpPr/>
          <p:nvPr/>
        </p:nvSpPr>
        <p:spPr>
          <a:xfrm>
            <a:off x="5187598" y="4245020"/>
            <a:ext cx="545923" cy="7055"/>
          </a:xfrm>
          <a:prstGeom prst="rect">
            <a:avLst/>
          </a:prstGeom>
          <a:solidFill>
            <a:srgbClr val="D9DCE3"/>
          </a:solidFill>
          <a:ln/>
        </p:spPr>
        <p:txBody>
          <a:bodyPr/>
          <a:lstStyle/>
          <a:p>
            <a:endParaRPr lang="es-CL"/>
          </a:p>
        </p:txBody>
      </p:sp>
      <p:sp>
        <p:nvSpPr>
          <p:cNvPr id="123" name="Text 119"/>
          <p:cNvSpPr/>
          <p:nvPr/>
        </p:nvSpPr>
        <p:spPr>
          <a:xfrm>
            <a:off x="5187598" y="4010091"/>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24</a:t>
            </a:r>
            <a:endParaRPr lang="en-US" sz="950" kern="1200" dirty="0">
              <a:solidFill>
                <a:prstClr val="black"/>
              </a:solidFill>
              <a:latin typeface="Calibri" panose="020F0502020204030204"/>
              <a:ea typeface="+mn-ea"/>
              <a:cs typeface="+mn-cs"/>
            </a:endParaRPr>
          </a:p>
        </p:txBody>
      </p:sp>
      <p:sp>
        <p:nvSpPr>
          <p:cNvPr id="124" name="Shape 120"/>
          <p:cNvSpPr/>
          <p:nvPr/>
        </p:nvSpPr>
        <p:spPr>
          <a:xfrm>
            <a:off x="5733521" y="4245020"/>
            <a:ext cx="1688923" cy="7055"/>
          </a:xfrm>
          <a:prstGeom prst="rect">
            <a:avLst/>
          </a:prstGeom>
          <a:solidFill>
            <a:srgbClr val="D9DCE3"/>
          </a:solidFill>
          <a:ln/>
        </p:spPr>
        <p:txBody>
          <a:bodyPr/>
          <a:lstStyle/>
          <a:p>
            <a:endParaRPr lang="es-CL"/>
          </a:p>
        </p:txBody>
      </p:sp>
      <p:sp>
        <p:nvSpPr>
          <p:cNvPr id="125" name="Shape 121"/>
          <p:cNvSpPr/>
          <p:nvPr/>
        </p:nvSpPr>
        <p:spPr>
          <a:xfrm>
            <a:off x="5784233" y="4080206"/>
            <a:ext cx="70555" cy="101534"/>
          </a:xfrm>
          <a:prstGeom prst="rect">
            <a:avLst/>
          </a:prstGeom>
          <a:solidFill>
            <a:srgbClr val="282DF0"/>
          </a:solidFill>
          <a:ln/>
        </p:spPr>
        <p:txBody>
          <a:bodyPr/>
          <a:lstStyle/>
          <a:p>
            <a:endParaRPr lang="es-CL"/>
          </a:p>
        </p:txBody>
      </p:sp>
      <p:sp>
        <p:nvSpPr>
          <p:cNvPr id="126" name="Text 122"/>
          <p:cNvSpPr/>
          <p:nvPr/>
        </p:nvSpPr>
        <p:spPr>
          <a:xfrm>
            <a:off x="5918289" y="4060473"/>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52,7</a:t>
            </a:r>
            <a:endParaRPr lang="en-US" sz="950" kern="1200" dirty="0">
              <a:solidFill>
                <a:prstClr val="black"/>
              </a:solidFill>
              <a:latin typeface="Calibri" panose="020F0502020204030204"/>
              <a:ea typeface="+mn-ea"/>
              <a:cs typeface="+mn-cs"/>
            </a:endParaRPr>
          </a:p>
        </p:txBody>
      </p:sp>
      <p:sp>
        <p:nvSpPr>
          <p:cNvPr id="127" name="Shape 123"/>
          <p:cNvSpPr/>
          <p:nvPr/>
        </p:nvSpPr>
        <p:spPr>
          <a:xfrm>
            <a:off x="7422445" y="4245020"/>
            <a:ext cx="610857" cy="7055"/>
          </a:xfrm>
          <a:prstGeom prst="rect">
            <a:avLst/>
          </a:prstGeom>
          <a:solidFill>
            <a:srgbClr val="D9DCE3"/>
          </a:solidFill>
          <a:ln/>
        </p:spPr>
        <p:txBody>
          <a:bodyPr/>
          <a:lstStyle/>
          <a:p>
            <a:endParaRPr lang="es-CL"/>
          </a:p>
        </p:txBody>
      </p:sp>
      <p:sp>
        <p:nvSpPr>
          <p:cNvPr id="128" name="Text 124"/>
          <p:cNvSpPr/>
          <p:nvPr/>
        </p:nvSpPr>
        <p:spPr>
          <a:xfrm>
            <a:off x="7422445" y="4010091"/>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a:t>
            </a:r>
            <a:endParaRPr lang="en-US" sz="950" kern="1200" dirty="0">
              <a:solidFill>
                <a:prstClr val="black"/>
              </a:solidFill>
              <a:latin typeface="Calibri" panose="020F0502020204030204"/>
              <a:ea typeface="+mn-ea"/>
              <a:cs typeface="+mn-cs"/>
            </a:endParaRPr>
          </a:p>
        </p:txBody>
      </p:sp>
      <p:sp>
        <p:nvSpPr>
          <p:cNvPr id="129" name="Shape 125"/>
          <p:cNvSpPr/>
          <p:nvPr/>
        </p:nvSpPr>
        <p:spPr>
          <a:xfrm>
            <a:off x="2667001" y="4487003"/>
            <a:ext cx="1307923" cy="7055"/>
          </a:xfrm>
          <a:prstGeom prst="rect">
            <a:avLst/>
          </a:prstGeom>
          <a:solidFill>
            <a:srgbClr val="D9DCE3"/>
          </a:solidFill>
          <a:ln/>
        </p:spPr>
        <p:txBody>
          <a:bodyPr/>
          <a:lstStyle/>
          <a:p>
            <a:endParaRPr lang="es-CL"/>
          </a:p>
        </p:txBody>
      </p:sp>
      <p:sp>
        <p:nvSpPr>
          <p:cNvPr id="130" name="Text 126"/>
          <p:cNvSpPr/>
          <p:nvPr/>
        </p:nvSpPr>
        <p:spPr>
          <a:xfrm>
            <a:off x="2717801" y="4252075"/>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Bío Bío</a:t>
            </a:r>
            <a:endParaRPr lang="en-US" sz="950" kern="1200" dirty="0">
              <a:solidFill>
                <a:prstClr val="black"/>
              </a:solidFill>
              <a:latin typeface="Calibri" panose="020F0502020204030204"/>
              <a:ea typeface="+mn-ea"/>
              <a:cs typeface="+mn-cs"/>
            </a:endParaRPr>
          </a:p>
        </p:txBody>
      </p:sp>
      <p:sp>
        <p:nvSpPr>
          <p:cNvPr id="131" name="Shape 127"/>
          <p:cNvSpPr/>
          <p:nvPr/>
        </p:nvSpPr>
        <p:spPr>
          <a:xfrm>
            <a:off x="3974924" y="4487003"/>
            <a:ext cx="1212673" cy="7055"/>
          </a:xfrm>
          <a:prstGeom prst="rect">
            <a:avLst/>
          </a:prstGeom>
          <a:solidFill>
            <a:srgbClr val="D9DCE3"/>
          </a:solidFill>
          <a:ln/>
        </p:spPr>
        <p:txBody>
          <a:bodyPr/>
          <a:lstStyle/>
          <a:p>
            <a:endParaRPr lang="es-CL"/>
          </a:p>
        </p:txBody>
      </p:sp>
      <p:sp>
        <p:nvSpPr>
          <p:cNvPr id="132" name="Text 128"/>
          <p:cNvSpPr/>
          <p:nvPr/>
        </p:nvSpPr>
        <p:spPr>
          <a:xfrm>
            <a:off x="4025724" y="4252075"/>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Cristián Pérez</a:t>
            </a:r>
            <a:endParaRPr lang="en-US" sz="950" kern="1200" dirty="0">
              <a:solidFill>
                <a:prstClr val="black"/>
              </a:solidFill>
              <a:latin typeface="Calibri" panose="020F0502020204030204"/>
              <a:ea typeface="+mn-ea"/>
              <a:cs typeface="+mn-cs"/>
            </a:endParaRPr>
          </a:p>
        </p:txBody>
      </p:sp>
      <p:sp>
        <p:nvSpPr>
          <p:cNvPr id="133" name="Shape 129"/>
          <p:cNvSpPr/>
          <p:nvPr/>
        </p:nvSpPr>
        <p:spPr>
          <a:xfrm>
            <a:off x="5187598" y="4487003"/>
            <a:ext cx="545923" cy="7055"/>
          </a:xfrm>
          <a:prstGeom prst="rect">
            <a:avLst/>
          </a:prstGeom>
          <a:solidFill>
            <a:srgbClr val="D9DCE3"/>
          </a:solidFill>
          <a:ln/>
        </p:spPr>
        <p:txBody>
          <a:bodyPr/>
          <a:lstStyle/>
          <a:p>
            <a:endParaRPr lang="es-CL"/>
          </a:p>
        </p:txBody>
      </p:sp>
      <p:sp>
        <p:nvSpPr>
          <p:cNvPr id="134" name="Text 130"/>
          <p:cNvSpPr/>
          <p:nvPr/>
        </p:nvSpPr>
        <p:spPr>
          <a:xfrm>
            <a:off x="5187598" y="4252075"/>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81</a:t>
            </a:r>
            <a:endParaRPr lang="en-US" sz="950" kern="1200" dirty="0">
              <a:solidFill>
                <a:prstClr val="black"/>
              </a:solidFill>
              <a:latin typeface="Calibri" panose="020F0502020204030204"/>
              <a:ea typeface="+mn-ea"/>
              <a:cs typeface="+mn-cs"/>
            </a:endParaRPr>
          </a:p>
        </p:txBody>
      </p:sp>
      <p:sp>
        <p:nvSpPr>
          <p:cNvPr id="135" name="Shape 131"/>
          <p:cNvSpPr/>
          <p:nvPr/>
        </p:nvSpPr>
        <p:spPr>
          <a:xfrm>
            <a:off x="5733521" y="4487003"/>
            <a:ext cx="1688923" cy="7055"/>
          </a:xfrm>
          <a:prstGeom prst="rect">
            <a:avLst/>
          </a:prstGeom>
          <a:solidFill>
            <a:srgbClr val="D9DCE3"/>
          </a:solidFill>
          <a:ln/>
        </p:spPr>
        <p:txBody>
          <a:bodyPr/>
          <a:lstStyle/>
          <a:p>
            <a:endParaRPr lang="es-CL"/>
          </a:p>
        </p:txBody>
      </p:sp>
      <p:sp>
        <p:nvSpPr>
          <p:cNvPr id="136" name="Shape 132"/>
          <p:cNvSpPr/>
          <p:nvPr/>
        </p:nvSpPr>
        <p:spPr>
          <a:xfrm>
            <a:off x="5784233" y="4322190"/>
            <a:ext cx="380779" cy="101534"/>
          </a:xfrm>
          <a:prstGeom prst="rect">
            <a:avLst/>
          </a:prstGeom>
          <a:solidFill>
            <a:srgbClr val="28D2C3"/>
          </a:solidFill>
          <a:ln/>
        </p:spPr>
        <p:txBody>
          <a:bodyPr/>
          <a:lstStyle/>
          <a:p>
            <a:endParaRPr lang="es-CL"/>
          </a:p>
        </p:txBody>
      </p:sp>
      <p:sp>
        <p:nvSpPr>
          <p:cNvPr id="137" name="Text 133"/>
          <p:cNvSpPr/>
          <p:nvPr/>
        </p:nvSpPr>
        <p:spPr>
          <a:xfrm>
            <a:off x="6228513" y="4302457"/>
            <a:ext cx="352756"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284,3</a:t>
            </a:r>
            <a:endParaRPr lang="en-US" sz="950" kern="1200" dirty="0">
              <a:solidFill>
                <a:prstClr val="black"/>
              </a:solidFill>
              <a:latin typeface="Calibri" panose="020F0502020204030204"/>
              <a:ea typeface="+mn-ea"/>
              <a:cs typeface="+mn-cs"/>
            </a:endParaRPr>
          </a:p>
        </p:txBody>
      </p:sp>
      <p:sp>
        <p:nvSpPr>
          <p:cNvPr id="138" name="Shape 134"/>
          <p:cNvSpPr/>
          <p:nvPr/>
        </p:nvSpPr>
        <p:spPr>
          <a:xfrm>
            <a:off x="7422445" y="4487003"/>
            <a:ext cx="610857" cy="7055"/>
          </a:xfrm>
          <a:prstGeom prst="rect">
            <a:avLst/>
          </a:prstGeom>
          <a:solidFill>
            <a:srgbClr val="D9DCE3"/>
          </a:solidFill>
          <a:ln/>
        </p:spPr>
        <p:txBody>
          <a:bodyPr/>
          <a:lstStyle/>
          <a:p>
            <a:endParaRPr lang="es-CL"/>
          </a:p>
        </p:txBody>
      </p:sp>
      <p:sp>
        <p:nvSpPr>
          <p:cNvPr id="139" name="Text 135"/>
          <p:cNvSpPr/>
          <p:nvPr/>
        </p:nvSpPr>
        <p:spPr>
          <a:xfrm>
            <a:off x="7422445" y="4252075"/>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11</a:t>
            </a:r>
            <a:endParaRPr lang="en-US" sz="950" kern="1200" dirty="0">
              <a:solidFill>
                <a:prstClr val="black"/>
              </a:solidFill>
              <a:latin typeface="Calibri" panose="020F0502020204030204"/>
              <a:ea typeface="+mn-ea"/>
              <a:cs typeface="+mn-cs"/>
            </a:endParaRPr>
          </a:p>
        </p:txBody>
      </p:sp>
      <p:sp>
        <p:nvSpPr>
          <p:cNvPr id="140" name="Shape 136"/>
          <p:cNvSpPr/>
          <p:nvPr/>
        </p:nvSpPr>
        <p:spPr>
          <a:xfrm>
            <a:off x="2667001" y="4728987"/>
            <a:ext cx="1307923" cy="7055"/>
          </a:xfrm>
          <a:prstGeom prst="rect">
            <a:avLst/>
          </a:prstGeom>
          <a:solidFill>
            <a:srgbClr val="D9DCE3"/>
          </a:solidFill>
          <a:ln/>
        </p:spPr>
        <p:txBody>
          <a:bodyPr/>
          <a:lstStyle/>
          <a:p>
            <a:endParaRPr lang="es-CL"/>
          </a:p>
        </p:txBody>
      </p:sp>
      <p:sp>
        <p:nvSpPr>
          <p:cNvPr id="141" name="Text 137"/>
          <p:cNvSpPr/>
          <p:nvPr/>
        </p:nvSpPr>
        <p:spPr>
          <a:xfrm>
            <a:off x="2717801" y="4494058"/>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Araucanía</a:t>
            </a:r>
            <a:endParaRPr lang="en-US" sz="950" kern="1200" dirty="0">
              <a:solidFill>
                <a:prstClr val="black"/>
              </a:solidFill>
              <a:latin typeface="Calibri" panose="020F0502020204030204"/>
              <a:ea typeface="+mn-ea"/>
              <a:cs typeface="+mn-cs"/>
            </a:endParaRPr>
          </a:p>
        </p:txBody>
      </p:sp>
      <p:sp>
        <p:nvSpPr>
          <p:cNvPr id="142" name="Shape 138"/>
          <p:cNvSpPr/>
          <p:nvPr/>
        </p:nvSpPr>
        <p:spPr>
          <a:xfrm>
            <a:off x="3974924" y="4728987"/>
            <a:ext cx="1212673" cy="7055"/>
          </a:xfrm>
          <a:prstGeom prst="rect">
            <a:avLst/>
          </a:prstGeom>
          <a:solidFill>
            <a:srgbClr val="D9DCE3"/>
          </a:solidFill>
          <a:ln/>
        </p:spPr>
        <p:txBody>
          <a:bodyPr/>
          <a:lstStyle/>
          <a:p>
            <a:endParaRPr lang="es-CL"/>
          </a:p>
        </p:txBody>
      </p:sp>
      <p:sp>
        <p:nvSpPr>
          <p:cNvPr id="143" name="Text 139"/>
          <p:cNvSpPr/>
          <p:nvPr/>
        </p:nvSpPr>
        <p:spPr>
          <a:xfrm>
            <a:off x="4025724" y="4494058"/>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Eglys Ramírez</a:t>
            </a:r>
            <a:endParaRPr lang="en-US" sz="950" kern="1200" dirty="0">
              <a:solidFill>
                <a:prstClr val="black"/>
              </a:solidFill>
              <a:latin typeface="Calibri" panose="020F0502020204030204"/>
              <a:ea typeface="+mn-ea"/>
              <a:cs typeface="+mn-cs"/>
            </a:endParaRPr>
          </a:p>
        </p:txBody>
      </p:sp>
      <p:sp>
        <p:nvSpPr>
          <p:cNvPr id="144" name="Shape 140"/>
          <p:cNvSpPr/>
          <p:nvPr/>
        </p:nvSpPr>
        <p:spPr>
          <a:xfrm>
            <a:off x="5187598" y="4728987"/>
            <a:ext cx="545923" cy="7055"/>
          </a:xfrm>
          <a:prstGeom prst="rect">
            <a:avLst/>
          </a:prstGeom>
          <a:solidFill>
            <a:srgbClr val="D9DCE3"/>
          </a:solidFill>
          <a:ln/>
        </p:spPr>
        <p:txBody>
          <a:bodyPr/>
          <a:lstStyle/>
          <a:p>
            <a:endParaRPr lang="es-CL"/>
          </a:p>
        </p:txBody>
      </p:sp>
      <p:sp>
        <p:nvSpPr>
          <p:cNvPr id="145" name="Text 141"/>
          <p:cNvSpPr/>
          <p:nvPr/>
        </p:nvSpPr>
        <p:spPr>
          <a:xfrm>
            <a:off x="5187598" y="4494058"/>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33</a:t>
            </a:r>
            <a:endParaRPr lang="en-US" sz="950" kern="1200" dirty="0">
              <a:solidFill>
                <a:prstClr val="black"/>
              </a:solidFill>
              <a:latin typeface="Calibri" panose="020F0502020204030204"/>
              <a:ea typeface="+mn-ea"/>
              <a:cs typeface="+mn-cs"/>
            </a:endParaRPr>
          </a:p>
        </p:txBody>
      </p:sp>
      <p:sp>
        <p:nvSpPr>
          <p:cNvPr id="146" name="Shape 142"/>
          <p:cNvSpPr/>
          <p:nvPr/>
        </p:nvSpPr>
        <p:spPr>
          <a:xfrm>
            <a:off x="5733521" y="4728987"/>
            <a:ext cx="1688923" cy="7055"/>
          </a:xfrm>
          <a:prstGeom prst="rect">
            <a:avLst/>
          </a:prstGeom>
          <a:solidFill>
            <a:srgbClr val="D9DCE3"/>
          </a:solidFill>
          <a:ln/>
        </p:spPr>
        <p:txBody>
          <a:bodyPr/>
          <a:lstStyle/>
          <a:p>
            <a:endParaRPr lang="es-CL"/>
          </a:p>
        </p:txBody>
      </p:sp>
      <p:sp>
        <p:nvSpPr>
          <p:cNvPr id="147" name="Shape 143"/>
          <p:cNvSpPr/>
          <p:nvPr/>
        </p:nvSpPr>
        <p:spPr>
          <a:xfrm>
            <a:off x="5784233" y="4564173"/>
            <a:ext cx="213210" cy="101534"/>
          </a:xfrm>
          <a:prstGeom prst="rect">
            <a:avLst/>
          </a:prstGeom>
          <a:solidFill>
            <a:srgbClr val="282DF0"/>
          </a:solidFill>
          <a:ln/>
        </p:spPr>
        <p:txBody>
          <a:bodyPr/>
          <a:lstStyle/>
          <a:p>
            <a:endParaRPr lang="es-CL"/>
          </a:p>
        </p:txBody>
      </p:sp>
      <p:sp>
        <p:nvSpPr>
          <p:cNvPr id="148" name="Text 144"/>
          <p:cNvSpPr/>
          <p:nvPr/>
        </p:nvSpPr>
        <p:spPr>
          <a:xfrm>
            <a:off x="6060943" y="4544440"/>
            <a:ext cx="352756"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159,2</a:t>
            </a:r>
            <a:endParaRPr lang="en-US" sz="950" kern="1200" dirty="0">
              <a:solidFill>
                <a:prstClr val="black"/>
              </a:solidFill>
              <a:latin typeface="Calibri" panose="020F0502020204030204"/>
              <a:ea typeface="+mn-ea"/>
              <a:cs typeface="+mn-cs"/>
            </a:endParaRPr>
          </a:p>
        </p:txBody>
      </p:sp>
      <p:sp>
        <p:nvSpPr>
          <p:cNvPr id="149" name="Shape 145"/>
          <p:cNvSpPr/>
          <p:nvPr/>
        </p:nvSpPr>
        <p:spPr>
          <a:xfrm>
            <a:off x="7422445" y="4728987"/>
            <a:ext cx="610857" cy="7055"/>
          </a:xfrm>
          <a:prstGeom prst="rect">
            <a:avLst/>
          </a:prstGeom>
          <a:solidFill>
            <a:srgbClr val="D9DCE3"/>
          </a:solidFill>
          <a:ln/>
        </p:spPr>
        <p:txBody>
          <a:bodyPr/>
          <a:lstStyle/>
          <a:p>
            <a:endParaRPr lang="es-CL"/>
          </a:p>
        </p:txBody>
      </p:sp>
      <p:sp>
        <p:nvSpPr>
          <p:cNvPr id="150" name="Text 146"/>
          <p:cNvSpPr/>
          <p:nvPr/>
        </p:nvSpPr>
        <p:spPr>
          <a:xfrm>
            <a:off x="7422445" y="4494058"/>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6</a:t>
            </a:r>
            <a:endParaRPr lang="en-US" sz="950" kern="1200" dirty="0">
              <a:solidFill>
                <a:prstClr val="black"/>
              </a:solidFill>
              <a:latin typeface="Calibri" panose="020F0502020204030204"/>
              <a:ea typeface="+mn-ea"/>
              <a:cs typeface="+mn-cs"/>
            </a:endParaRPr>
          </a:p>
        </p:txBody>
      </p:sp>
      <p:sp>
        <p:nvSpPr>
          <p:cNvPr id="151" name="Shape 147"/>
          <p:cNvSpPr/>
          <p:nvPr/>
        </p:nvSpPr>
        <p:spPr>
          <a:xfrm>
            <a:off x="2667001" y="4970971"/>
            <a:ext cx="1307923" cy="7055"/>
          </a:xfrm>
          <a:prstGeom prst="rect">
            <a:avLst/>
          </a:prstGeom>
          <a:solidFill>
            <a:srgbClr val="D9DCE3"/>
          </a:solidFill>
          <a:ln/>
        </p:spPr>
        <p:txBody>
          <a:bodyPr/>
          <a:lstStyle/>
          <a:p>
            <a:endParaRPr lang="es-CL"/>
          </a:p>
        </p:txBody>
      </p:sp>
      <p:sp>
        <p:nvSpPr>
          <p:cNvPr id="152" name="Text 148"/>
          <p:cNvSpPr/>
          <p:nvPr/>
        </p:nvSpPr>
        <p:spPr>
          <a:xfrm>
            <a:off x="2717801" y="4736042"/>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Los Ríos</a:t>
            </a:r>
            <a:endParaRPr lang="en-US" sz="950" kern="1200" dirty="0">
              <a:solidFill>
                <a:prstClr val="black"/>
              </a:solidFill>
              <a:latin typeface="Calibri" panose="020F0502020204030204"/>
              <a:ea typeface="+mn-ea"/>
              <a:cs typeface="+mn-cs"/>
            </a:endParaRPr>
          </a:p>
        </p:txBody>
      </p:sp>
      <p:sp>
        <p:nvSpPr>
          <p:cNvPr id="153" name="Shape 149"/>
          <p:cNvSpPr/>
          <p:nvPr/>
        </p:nvSpPr>
        <p:spPr>
          <a:xfrm>
            <a:off x="3974924" y="4970971"/>
            <a:ext cx="1212673" cy="7055"/>
          </a:xfrm>
          <a:prstGeom prst="rect">
            <a:avLst/>
          </a:prstGeom>
          <a:solidFill>
            <a:srgbClr val="D9DCE3"/>
          </a:solidFill>
          <a:ln/>
        </p:spPr>
        <p:txBody>
          <a:bodyPr/>
          <a:lstStyle/>
          <a:p>
            <a:endParaRPr lang="es-CL"/>
          </a:p>
        </p:txBody>
      </p:sp>
      <p:sp>
        <p:nvSpPr>
          <p:cNvPr id="154" name="Text 150"/>
          <p:cNvSpPr/>
          <p:nvPr/>
        </p:nvSpPr>
        <p:spPr>
          <a:xfrm>
            <a:off x="4025724" y="4736042"/>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Eglys Ramírez</a:t>
            </a:r>
            <a:endParaRPr lang="en-US" sz="950" kern="1200" dirty="0">
              <a:solidFill>
                <a:prstClr val="black"/>
              </a:solidFill>
              <a:latin typeface="Calibri" panose="020F0502020204030204"/>
              <a:ea typeface="+mn-ea"/>
              <a:cs typeface="+mn-cs"/>
            </a:endParaRPr>
          </a:p>
        </p:txBody>
      </p:sp>
      <p:sp>
        <p:nvSpPr>
          <p:cNvPr id="155" name="Shape 151"/>
          <p:cNvSpPr/>
          <p:nvPr/>
        </p:nvSpPr>
        <p:spPr>
          <a:xfrm>
            <a:off x="5187598" y="4970971"/>
            <a:ext cx="545923" cy="7055"/>
          </a:xfrm>
          <a:prstGeom prst="rect">
            <a:avLst/>
          </a:prstGeom>
          <a:solidFill>
            <a:srgbClr val="D9DCE3"/>
          </a:solidFill>
          <a:ln/>
        </p:spPr>
        <p:txBody>
          <a:bodyPr/>
          <a:lstStyle/>
          <a:p>
            <a:endParaRPr lang="es-CL"/>
          </a:p>
        </p:txBody>
      </p:sp>
      <p:sp>
        <p:nvSpPr>
          <p:cNvPr id="156" name="Text 152"/>
          <p:cNvSpPr/>
          <p:nvPr/>
        </p:nvSpPr>
        <p:spPr>
          <a:xfrm>
            <a:off x="5187598" y="4736042"/>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10</a:t>
            </a:r>
            <a:endParaRPr lang="en-US" sz="950" kern="1200" dirty="0">
              <a:solidFill>
                <a:prstClr val="black"/>
              </a:solidFill>
              <a:latin typeface="Calibri" panose="020F0502020204030204"/>
              <a:ea typeface="+mn-ea"/>
              <a:cs typeface="+mn-cs"/>
            </a:endParaRPr>
          </a:p>
        </p:txBody>
      </p:sp>
      <p:sp>
        <p:nvSpPr>
          <p:cNvPr id="157" name="Shape 153"/>
          <p:cNvSpPr/>
          <p:nvPr/>
        </p:nvSpPr>
        <p:spPr>
          <a:xfrm>
            <a:off x="5733521" y="4970971"/>
            <a:ext cx="1688923" cy="7055"/>
          </a:xfrm>
          <a:prstGeom prst="rect">
            <a:avLst/>
          </a:prstGeom>
          <a:solidFill>
            <a:srgbClr val="D9DCE3"/>
          </a:solidFill>
          <a:ln/>
        </p:spPr>
        <p:txBody>
          <a:bodyPr/>
          <a:lstStyle/>
          <a:p>
            <a:endParaRPr lang="es-CL"/>
          </a:p>
        </p:txBody>
      </p:sp>
      <p:sp>
        <p:nvSpPr>
          <p:cNvPr id="158" name="Shape 154"/>
          <p:cNvSpPr/>
          <p:nvPr/>
        </p:nvSpPr>
        <p:spPr>
          <a:xfrm>
            <a:off x="5784233" y="4806157"/>
            <a:ext cx="38034" cy="101534"/>
          </a:xfrm>
          <a:prstGeom prst="rect">
            <a:avLst/>
          </a:prstGeom>
          <a:solidFill>
            <a:srgbClr val="282DF0"/>
          </a:solidFill>
          <a:ln/>
        </p:spPr>
        <p:txBody>
          <a:bodyPr/>
          <a:lstStyle/>
          <a:p>
            <a:endParaRPr lang="es-CL"/>
          </a:p>
        </p:txBody>
      </p:sp>
      <p:sp>
        <p:nvSpPr>
          <p:cNvPr id="159" name="Text 155"/>
          <p:cNvSpPr/>
          <p:nvPr/>
        </p:nvSpPr>
        <p:spPr>
          <a:xfrm>
            <a:off x="5885767" y="4786423"/>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28,4</a:t>
            </a:r>
            <a:endParaRPr lang="en-US" sz="950" kern="1200" dirty="0">
              <a:solidFill>
                <a:prstClr val="black"/>
              </a:solidFill>
              <a:latin typeface="Calibri" panose="020F0502020204030204"/>
              <a:ea typeface="+mn-ea"/>
              <a:cs typeface="+mn-cs"/>
            </a:endParaRPr>
          </a:p>
        </p:txBody>
      </p:sp>
      <p:sp>
        <p:nvSpPr>
          <p:cNvPr id="160" name="Shape 156"/>
          <p:cNvSpPr/>
          <p:nvPr/>
        </p:nvSpPr>
        <p:spPr>
          <a:xfrm>
            <a:off x="7422445" y="4970971"/>
            <a:ext cx="610857" cy="7055"/>
          </a:xfrm>
          <a:prstGeom prst="rect">
            <a:avLst/>
          </a:prstGeom>
          <a:solidFill>
            <a:srgbClr val="D9DCE3"/>
          </a:solidFill>
          <a:ln/>
        </p:spPr>
        <p:txBody>
          <a:bodyPr/>
          <a:lstStyle/>
          <a:p>
            <a:endParaRPr lang="es-CL"/>
          </a:p>
        </p:txBody>
      </p:sp>
      <p:sp>
        <p:nvSpPr>
          <p:cNvPr id="161" name="Text 157"/>
          <p:cNvSpPr/>
          <p:nvPr/>
        </p:nvSpPr>
        <p:spPr>
          <a:xfrm>
            <a:off x="7422445" y="4736042"/>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0</a:t>
            </a:r>
            <a:endParaRPr lang="en-US" sz="950" kern="1200" dirty="0">
              <a:solidFill>
                <a:prstClr val="black"/>
              </a:solidFill>
              <a:latin typeface="Calibri" panose="020F0502020204030204"/>
              <a:ea typeface="+mn-ea"/>
              <a:cs typeface="+mn-cs"/>
            </a:endParaRPr>
          </a:p>
        </p:txBody>
      </p:sp>
      <p:sp>
        <p:nvSpPr>
          <p:cNvPr id="162" name="Shape 158"/>
          <p:cNvSpPr/>
          <p:nvPr/>
        </p:nvSpPr>
        <p:spPr>
          <a:xfrm>
            <a:off x="2667001" y="5212954"/>
            <a:ext cx="1307923" cy="7055"/>
          </a:xfrm>
          <a:prstGeom prst="rect">
            <a:avLst/>
          </a:prstGeom>
          <a:solidFill>
            <a:srgbClr val="D9DCE3"/>
          </a:solidFill>
          <a:ln/>
        </p:spPr>
        <p:txBody>
          <a:bodyPr/>
          <a:lstStyle/>
          <a:p>
            <a:endParaRPr lang="es-CL"/>
          </a:p>
        </p:txBody>
      </p:sp>
      <p:sp>
        <p:nvSpPr>
          <p:cNvPr id="163" name="Text 159"/>
          <p:cNvSpPr/>
          <p:nvPr/>
        </p:nvSpPr>
        <p:spPr>
          <a:xfrm>
            <a:off x="2717801" y="4978025"/>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Los Lagos</a:t>
            </a:r>
            <a:endParaRPr lang="en-US" sz="950" kern="1200" dirty="0">
              <a:solidFill>
                <a:prstClr val="black"/>
              </a:solidFill>
              <a:latin typeface="Calibri" panose="020F0502020204030204"/>
              <a:ea typeface="+mn-ea"/>
              <a:cs typeface="+mn-cs"/>
            </a:endParaRPr>
          </a:p>
        </p:txBody>
      </p:sp>
      <p:sp>
        <p:nvSpPr>
          <p:cNvPr id="164" name="Shape 160"/>
          <p:cNvSpPr/>
          <p:nvPr/>
        </p:nvSpPr>
        <p:spPr>
          <a:xfrm>
            <a:off x="3974924" y="5212954"/>
            <a:ext cx="1212673" cy="7055"/>
          </a:xfrm>
          <a:prstGeom prst="rect">
            <a:avLst/>
          </a:prstGeom>
          <a:solidFill>
            <a:srgbClr val="D9DCE3"/>
          </a:solidFill>
          <a:ln/>
        </p:spPr>
        <p:txBody>
          <a:bodyPr/>
          <a:lstStyle/>
          <a:p>
            <a:endParaRPr lang="es-CL"/>
          </a:p>
        </p:txBody>
      </p:sp>
      <p:sp>
        <p:nvSpPr>
          <p:cNvPr id="165" name="Text 161"/>
          <p:cNvSpPr/>
          <p:nvPr/>
        </p:nvSpPr>
        <p:spPr>
          <a:xfrm>
            <a:off x="4025724" y="4978025"/>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Eglys Ramírez</a:t>
            </a:r>
            <a:endParaRPr lang="en-US" sz="950" kern="1200" dirty="0">
              <a:solidFill>
                <a:prstClr val="black"/>
              </a:solidFill>
              <a:latin typeface="Calibri" panose="020F0502020204030204"/>
              <a:ea typeface="+mn-ea"/>
              <a:cs typeface="+mn-cs"/>
            </a:endParaRPr>
          </a:p>
        </p:txBody>
      </p:sp>
      <p:sp>
        <p:nvSpPr>
          <p:cNvPr id="166" name="Shape 162"/>
          <p:cNvSpPr/>
          <p:nvPr/>
        </p:nvSpPr>
        <p:spPr>
          <a:xfrm>
            <a:off x="5187598" y="5212954"/>
            <a:ext cx="545923" cy="7055"/>
          </a:xfrm>
          <a:prstGeom prst="rect">
            <a:avLst/>
          </a:prstGeom>
          <a:solidFill>
            <a:srgbClr val="D9DCE3"/>
          </a:solidFill>
          <a:ln/>
        </p:spPr>
        <p:txBody>
          <a:bodyPr/>
          <a:lstStyle/>
          <a:p>
            <a:endParaRPr lang="es-CL"/>
          </a:p>
        </p:txBody>
      </p:sp>
      <p:sp>
        <p:nvSpPr>
          <p:cNvPr id="167" name="Text 163"/>
          <p:cNvSpPr/>
          <p:nvPr/>
        </p:nvSpPr>
        <p:spPr>
          <a:xfrm>
            <a:off x="5187598" y="4978025"/>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40</a:t>
            </a:r>
            <a:endParaRPr lang="en-US" sz="950" kern="1200" dirty="0">
              <a:solidFill>
                <a:prstClr val="black"/>
              </a:solidFill>
              <a:latin typeface="Calibri" panose="020F0502020204030204"/>
              <a:ea typeface="+mn-ea"/>
              <a:cs typeface="+mn-cs"/>
            </a:endParaRPr>
          </a:p>
        </p:txBody>
      </p:sp>
      <p:sp>
        <p:nvSpPr>
          <p:cNvPr id="168" name="Shape 164"/>
          <p:cNvSpPr/>
          <p:nvPr/>
        </p:nvSpPr>
        <p:spPr>
          <a:xfrm>
            <a:off x="5733521" y="5212954"/>
            <a:ext cx="1688923" cy="7055"/>
          </a:xfrm>
          <a:prstGeom prst="rect">
            <a:avLst/>
          </a:prstGeom>
          <a:solidFill>
            <a:srgbClr val="D9DCE3"/>
          </a:solidFill>
          <a:ln/>
        </p:spPr>
        <p:txBody>
          <a:bodyPr/>
          <a:lstStyle/>
          <a:p>
            <a:endParaRPr lang="es-CL"/>
          </a:p>
        </p:txBody>
      </p:sp>
      <p:sp>
        <p:nvSpPr>
          <p:cNvPr id="169" name="Shape 165"/>
          <p:cNvSpPr/>
          <p:nvPr/>
        </p:nvSpPr>
        <p:spPr>
          <a:xfrm>
            <a:off x="5784233" y="5048140"/>
            <a:ext cx="104290" cy="101534"/>
          </a:xfrm>
          <a:prstGeom prst="rect">
            <a:avLst/>
          </a:prstGeom>
          <a:solidFill>
            <a:srgbClr val="282DF0"/>
          </a:solidFill>
          <a:ln/>
        </p:spPr>
        <p:txBody>
          <a:bodyPr/>
          <a:lstStyle/>
          <a:p>
            <a:endParaRPr lang="es-CL"/>
          </a:p>
        </p:txBody>
      </p:sp>
      <p:sp>
        <p:nvSpPr>
          <p:cNvPr id="170" name="Text 166"/>
          <p:cNvSpPr/>
          <p:nvPr/>
        </p:nvSpPr>
        <p:spPr>
          <a:xfrm>
            <a:off x="5952023" y="5028407"/>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77,9</a:t>
            </a:r>
            <a:endParaRPr lang="en-US" sz="950" kern="1200" dirty="0">
              <a:solidFill>
                <a:prstClr val="black"/>
              </a:solidFill>
              <a:latin typeface="Calibri" panose="020F0502020204030204"/>
              <a:ea typeface="+mn-ea"/>
              <a:cs typeface="+mn-cs"/>
            </a:endParaRPr>
          </a:p>
        </p:txBody>
      </p:sp>
      <p:sp>
        <p:nvSpPr>
          <p:cNvPr id="171" name="Shape 167"/>
          <p:cNvSpPr/>
          <p:nvPr/>
        </p:nvSpPr>
        <p:spPr>
          <a:xfrm>
            <a:off x="7422445" y="5212954"/>
            <a:ext cx="610857" cy="7055"/>
          </a:xfrm>
          <a:prstGeom prst="rect">
            <a:avLst/>
          </a:prstGeom>
          <a:solidFill>
            <a:srgbClr val="D9DCE3"/>
          </a:solidFill>
          <a:ln/>
        </p:spPr>
        <p:txBody>
          <a:bodyPr/>
          <a:lstStyle/>
          <a:p>
            <a:endParaRPr lang="es-CL"/>
          </a:p>
        </p:txBody>
      </p:sp>
      <p:sp>
        <p:nvSpPr>
          <p:cNvPr id="172" name="Text 168"/>
          <p:cNvSpPr/>
          <p:nvPr/>
        </p:nvSpPr>
        <p:spPr>
          <a:xfrm>
            <a:off x="7422445" y="4978025"/>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10</a:t>
            </a:r>
            <a:endParaRPr lang="en-US" sz="950" kern="1200" dirty="0">
              <a:solidFill>
                <a:prstClr val="black"/>
              </a:solidFill>
              <a:latin typeface="Calibri" panose="020F0502020204030204"/>
              <a:ea typeface="+mn-ea"/>
              <a:cs typeface="+mn-cs"/>
            </a:endParaRPr>
          </a:p>
        </p:txBody>
      </p:sp>
      <p:sp>
        <p:nvSpPr>
          <p:cNvPr id="173" name="Shape 169"/>
          <p:cNvSpPr/>
          <p:nvPr/>
        </p:nvSpPr>
        <p:spPr>
          <a:xfrm>
            <a:off x="2667001" y="5454937"/>
            <a:ext cx="1307923" cy="7055"/>
          </a:xfrm>
          <a:prstGeom prst="rect">
            <a:avLst/>
          </a:prstGeom>
          <a:solidFill>
            <a:srgbClr val="D9DCE3"/>
          </a:solidFill>
          <a:ln/>
        </p:spPr>
        <p:txBody>
          <a:bodyPr/>
          <a:lstStyle/>
          <a:p>
            <a:endParaRPr lang="es-CL"/>
          </a:p>
        </p:txBody>
      </p:sp>
      <p:sp>
        <p:nvSpPr>
          <p:cNvPr id="174" name="Text 170"/>
          <p:cNvSpPr/>
          <p:nvPr/>
        </p:nvSpPr>
        <p:spPr>
          <a:xfrm>
            <a:off x="2717801" y="5220009"/>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Aysén</a:t>
            </a:r>
            <a:endParaRPr lang="en-US" sz="950" kern="1200" dirty="0">
              <a:solidFill>
                <a:prstClr val="black"/>
              </a:solidFill>
              <a:latin typeface="Calibri" panose="020F0502020204030204"/>
              <a:ea typeface="+mn-ea"/>
              <a:cs typeface="+mn-cs"/>
            </a:endParaRPr>
          </a:p>
        </p:txBody>
      </p:sp>
      <p:sp>
        <p:nvSpPr>
          <p:cNvPr id="175" name="Shape 171"/>
          <p:cNvSpPr/>
          <p:nvPr/>
        </p:nvSpPr>
        <p:spPr>
          <a:xfrm>
            <a:off x="3974924" y="5454937"/>
            <a:ext cx="1212673" cy="7055"/>
          </a:xfrm>
          <a:prstGeom prst="rect">
            <a:avLst/>
          </a:prstGeom>
          <a:solidFill>
            <a:srgbClr val="D9DCE3"/>
          </a:solidFill>
          <a:ln/>
        </p:spPr>
        <p:txBody>
          <a:bodyPr/>
          <a:lstStyle/>
          <a:p>
            <a:endParaRPr lang="es-CL"/>
          </a:p>
        </p:txBody>
      </p:sp>
      <p:sp>
        <p:nvSpPr>
          <p:cNvPr id="176" name="Text 172"/>
          <p:cNvSpPr/>
          <p:nvPr/>
        </p:nvSpPr>
        <p:spPr>
          <a:xfrm>
            <a:off x="4025724" y="5220009"/>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Eglys Ramírez</a:t>
            </a:r>
            <a:endParaRPr lang="en-US" sz="950" kern="1200" dirty="0">
              <a:solidFill>
                <a:prstClr val="black"/>
              </a:solidFill>
              <a:latin typeface="Calibri" panose="020F0502020204030204"/>
              <a:ea typeface="+mn-ea"/>
              <a:cs typeface="+mn-cs"/>
            </a:endParaRPr>
          </a:p>
        </p:txBody>
      </p:sp>
      <p:sp>
        <p:nvSpPr>
          <p:cNvPr id="177" name="Shape 173"/>
          <p:cNvSpPr/>
          <p:nvPr/>
        </p:nvSpPr>
        <p:spPr>
          <a:xfrm>
            <a:off x="5187598" y="5454937"/>
            <a:ext cx="545923" cy="7055"/>
          </a:xfrm>
          <a:prstGeom prst="rect">
            <a:avLst/>
          </a:prstGeom>
          <a:solidFill>
            <a:srgbClr val="D9DCE3"/>
          </a:solidFill>
          <a:ln/>
        </p:spPr>
        <p:txBody>
          <a:bodyPr/>
          <a:lstStyle/>
          <a:p>
            <a:endParaRPr lang="es-CL"/>
          </a:p>
        </p:txBody>
      </p:sp>
      <p:sp>
        <p:nvSpPr>
          <p:cNvPr id="178" name="Text 174"/>
          <p:cNvSpPr/>
          <p:nvPr/>
        </p:nvSpPr>
        <p:spPr>
          <a:xfrm>
            <a:off x="5187598" y="5220009"/>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8</a:t>
            </a:r>
            <a:endParaRPr lang="en-US" sz="950" kern="1200" dirty="0">
              <a:solidFill>
                <a:prstClr val="black"/>
              </a:solidFill>
              <a:latin typeface="Calibri" panose="020F0502020204030204"/>
              <a:ea typeface="+mn-ea"/>
              <a:cs typeface="+mn-cs"/>
            </a:endParaRPr>
          </a:p>
        </p:txBody>
      </p:sp>
      <p:sp>
        <p:nvSpPr>
          <p:cNvPr id="179" name="Shape 175"/>
          <p:cNvSpPr/>
          <p:nvPr/>
        </p:nvSpPr>
        <p:spPr>
          <a:xfrm>
            <a:off x="5733521" y="5454937"/>
            <a:ext cx="1688923" cy="7055"/>
          </a:xfrm>
          <a:prstGeom prst="rect">
            <a:avLst/>
          </a:prstGeom>
          <a:solidFill>
            <a:srgbClr val="D9DCE3"/>
          </a:solidFill>
          <a:ln/>
        </p:spPr>
        <p:txBody>
          <a:bodyPr/>
          <a:lstStyle/>
          <a:p>
            <a:endParaRPr lang="es-CL"/>
          </a:p>
        </p:txBody>
      </p:sp>
      <p:sp>
        <p:nvSpPr>
          <p:cNvPr id="180" name="Shape 176"/>
          <p:cNvSpPr/>
          <p:nvPr/>
        </p:nvSpPr>
        <p:spPr>
          <a:xfrm>
            <a:off x="5784233" y="5290124"/>
            <a:ext cx="21387" cy="101534"/>
          </a:xfrm>
          <a:prstGeom prst="rect">
            <a:avLst/>
          </a:prstGeom>
          <a:solidFill>
            <a:srgbClr val="282DF0"/>
          </a:solidFill>
          <a:ln/>
        </p:spPr>
        <p:txBody>
          <a:bodyPr/>
          <a:lstStyle/>
          <a:p>
            <a:endParaRPr lang="es-CL"/>
          </a:p>
        </p:txBody>
      </p:sp>
      <p:sp>
        <p:nvSpPr>
          <p:cNvPr id="181" name="Text 177"/>
          <p:cNvSpPr/>
          <p:nvPr/>
        </p:nvSpPr>
        <p:spPr>
          <a:xfrm>
            <a:off x="5869120" y="5270391"/>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16,0</a:t>
            </a:r>
            <a:endParaRPr lang="en-US" sz="950" kern="1200" dirty="0">
              <a:solidFill>
                <a:prstClr val="black"/>
              </a:solidFill>
              <a:latin typeface="Calibri" panose="020F0502020204030204"/>
              <a:ea typeface="+mn-ea"/>
              <a:cs typeface="+mn-cs"/>
            </a:endParaRPr>
          </a:p>
        </p:txBody>
      </p:sp>
      <p:sp>
        <p:nvSpPr>
          <p:cNvPr id="182" name="Shape 178"/>
          <p:cNvSpPr/>
          <p:nvPr/>
        </p:nvSpPr>
        <p:spPr>
          <a:xfrm>
            <a:off x="7422445" y="5454937"/>
            <a:ext cx="610857" cy="7055"/>
          </a:xfrm>
          <a:prstGeom prst="rect">
            <a:avLst/>
          </a:prstGeom>
          <a:solidFill>
            <a:srgbClr val="D9DCE3"/>
          </a:solidFill>
          <a:ln/>
        </p:spPr>
        <p:txBody>
          <a:bodyPr/>
          <a:lstStyle/>
          <a:p>
            <a:endParaRPr lang="es-CL"/>
          </a:p>
        </p:txBody>
      </p:sp>
      <p:sp>
        <p:nvSpPr>
          <p:cNvPr id="183" name="Text 179"/>
          <p:cNvSpPr/>
          <p:nvPr/>
        </p:nvSpPr>
        <p:spPr>
          <a:xfrm>
            <a:off x="7422445" y="5220009"/>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a:t>
            </a:r>
            <a:endParaRPr lang="en-US" sz="950" kern="1200" dirty="0">
              <a:solidFill>
                <a:prstClr val="black"/>
              </a:solidFill>
              <a:latin typeface="Calibri" panose="020F0502020204030204"/>
              <a:ea typeface="+mn-ea"/>
              <a:cs typeface="+mn-cs"/>
            </a:endParaRPr>
          </a:p>
        </p:txBody>
      </p:sp>
      <p:sp>
        <p:nvSpPr>
          <p:cNvPr id="184" name="Shape 180"/>
          <p:cNvSpPr/>
          <p:nvPr/>
        </p:nvSpPr>
        <p:spPr>
          <a:xfrm>
            <a:off x="2667001" y="5696921"/>
            <a:ext cx="1307923" cy="7055"/>
          </a:xfrm>
          <a:prstGeom prst="rect">
            <a:avLst/>
          </a:prstGeom>
          <a:solidFill>
            <a:srgbClr val="D9DCE3"/>
          </a:solidFill>
          <a:ln/>
        </p:spPr>
        <p:txBody>
          <a:bodyPr/>
          <a:lstStyle/>
          <a:p>
            <a:endParaRPr lang="es-CL"/>
          </a:p>
        </p:txBody>
      </p:sp>
      <p:sp>
        <p:nvSpPr>
          <p:cNvPr id="185" name="Text 181"/>
          <p:cNvSpPr/>
          <p:nvPr/>
        </p:nvSpPr>
        <p:spPr>
          <a:xfrm>
            <a:off x="2717801" y="5461993"/>
            <a:ext cx="1257123" cy="260328"/>
          </a:xfrm>
          <a:prstGeom prst="rect">
            <a:avLst/>
          </a:prstGeom>
          <a:noFill/>
          <a:ln/>
        </p:spPr>
        <p:txBody>
          <a:bodyPr wrap="none" lIns="16933" tIns="16933" rIns="16933" bIns="16933" rtlCol="0" anchor="ctr">
            <a:normAutofit/>
          </a:bodyPr>
          <a:lstStyle/>
          <a:p>
            <a:pPr defTabSz="609630">
              <a:buClrTx/>
            </a:pPr>
            <a:r>
              <a:rPr lang="en-US" sz="950" b="1" kern="1200" dirty="0">
                <a:solidFill>
                  <a:srgbClr val="373C46"/>
                </a:solidFill>
                <a:latin typeface="Arial" pitchFamily="34" charset="0"/>
                <a:ea typeface="Arial" pitchFamily="34" charset="-122"/>
                <a:cs typeface="Arial" pitchFamily="34" charset="-120"/>
              </a:rPr>
              <a:t>Magallanes</a:t>
            </a:r>
            <a:endParaRPr lang="en-US" sz="950" kern="1200" dirty="0">
              <a:solidFill>
                <a:prstClr val="black"/>
              </a:solidFill>
              <a:latin typeface="Calibri" panose="020F0502020204030204"/>
              <a:ea typeface="+mn-ea"/>
              <a:cs typeface="+mn-cs"/>
            </a:endParaRPr>
          </a:p>
        </p:txBody>
      </p:sp>
      <p:sp>
        <p:nvSpPr>
          <p:cNvPr id="186" name="Shape 182"/>
          <p:cNvSpPr/>
          <p:nvPr/>
        </p:nvSpPr>
        <p:spPr>
          <a:xfrm>
            <a:off x="3974924" y="5696921"/>
            <a:ext cx="1212673" cy="7055"/>
          </a:xfrm>
          <a:prstGeom prst="rect">
            <a:avLst/>
          </a:prstGeom>
          <a:solidFill>
            <a:srgbClr val="D9DCE3"/>
          </a:solidFill>
          <a:ln/>
        </p:spPr>
        <p:txBody>
          <a:bodyPr/>
          <a:lstStyle/>
          <a:p>
            <a:endParaRPr lang="es-CL"/>
          </a:p>
        </p:txBody>
      </p:sp>
      <p:sp>
        <p:nvSpPr>
          <p:cNvPr id="187" name="Text 183"/>
          <p:cNvSpPr/>
          <p:nvPr/>
        </p:nvSpPr>
        <p:spPr>
          <a:xfrm>
            <a:off x="4025724" y="5461993"/>
            <a:ext cx="1161873" cy="260328"/>
          </a:xfrm>
          <a:prstGeom prst="rect">
            <a:avLst/>
          </a:prstGeom>
          <a:noFill/>
          <a:ln/>
        </p:spPr>
        <p:txBody>
          <a:bodyPr wrap="none" lIns="16933" tIns="16933" rIns="16933" bIns="16933" rtlCol="0" anchor="ctr">
            <a:normAutofit/>
          </a:bodyPr>
          <a:lstStyle/>
          <a:p>
            <a:pPr defTabSz="609630">
              <a:buClrTx/>
            </a:pPr>
            <a:r>
              <a:rPr lang="en-US" sz="950" kern="1200" dirty="0">
                <a:solidFill>
                  <a:srgbClr val="373C46"/>
                </a:solidFill>
                <a:latin typeface="Arial" pitchFamily="34" charset="0"/>
                <a:ea typeface="Arial" pitchFamily="34" charset="-122"/>
                <a:cs typeface="Arial" pitchFamily="34" charset="-120"/>
              </a:rPr>
              <a:t>Eglys Ramírez</a:t>
            </a:r>
            <a:endParaRPr lang="en-US" sz="950" kern="1200" dirty="0">
              <a:solidFill>
                <a:prstClr val="black"/>
              </a:solidFill>
              <a:latin typeface="Calibri" panose="020F0502020204030204"/>
              <a:ea typeface="+mn-ea"/>
              <a:cs typeface="+mn-cs"/>
            </a:endParaRPr>
          </a:p>
        </p:txBody>
      </p:sp>
      <p:sp>
        <p:nvSpPr>
          <p:cNvPr id="188" name="Shape 184"/>
          <p:cNvSpPr/>
          <p:nvPr/>
        </p:nvSpPr>
        <p:spPr>
          <a:xfrm>
            <a:off x="5187598" y="5696921"/>
            <a:ext cx="545923" cy="7055"/>
          </a:xfrm>
          <a:prstGeom prst="rect">
            <a:avLst/>
          </a:prstGeom>
          <a:solidFill>
            <a:srgbClr val="D9DCE3"/>
          </a:solidFill>
          <a:ln/>
        </p:spPr>
        <p:txBody>
          <a:bodyPr/>
          <a:lstStyle/>
          <a:p>
            <a:endParaRPr lang="es-CL"/>
          </a:p>
        </p:txBody>
      </p:sp>
      <p:sp>
        <p:nvSpPr>
          <p:cNvPr id="189" name="Text 185"/>
          <p:cNvSpPr/>
          <p:nvPr/>
        </p:nvSpPr>
        <p:spPr>
          <a:xfrm>
            <a:off x="5187598" y="5461993"/>
            <a:ext cx="495123"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11</a:t>
            </a:r>
            <a:endParaRPr lang="en-US" sz="950" kern="1200" dirty="0">
              <a:solidFill>
                <a:prstClr val="black"/>
              </a:solidFill>
              <a:latin typeface="Calibri" panose="020F0502020204030204"/>
              <a:ea typeface="+mn-ea"/>
              <a:cs typeface="+mn-cs"/>
            </a:endParaRPr>
          </a:p>
        </p:txBody>
      </p:sp>
      <p:sp>
        <p:nvSpPr>
          <p:cNvPr id="190" name="Shape 186"/>
          <p:cNvSpPr/>
          <p:nvPr/>
        </p:nvSpPr>
        <p:spPr>
          <a:xfrm>
            <a:off x="5733521" y="5696921"/>
            <a:ext cx="1688923" cy="7055"/>
          </a:xfrm>
          <a:prstGeom prst="rect">
            <a:avLst/>
          </a:prstGeom>
          <a:solidFill>
            <a:srgbClr val="D9DCE3"/>
          </a:solidFill>
          <a:ln/>
        </p:spPr>
        <p:txBody>
          <a:bodyPr/>
          <a:lstStyle/>
          <a:p>
            <a:endParaRPr lang="es-CL"/>
          </a:p>
        </p:txBody>
      </p:sp>
      <p:sp>
        <p:nvSpPr>
          <p:cNvPr id="191" name="Shape 187"/>
          <p:cNvSpPr/>
          <p:nvPr/>
        </p:nvSpPr>
        <p:spPr>
          <a:xfrm>
            <a:off x="5784233" y="5532107"/>
            <a:ext cx="53578" cy="101534"/>
          </a:xfrm>
          <a:prstGeom prst="rect">
            <a:avLst/>
          </a:prstGeom>
          <a:solidFill>
            <a:srgbClr val="282DF0"/>
          </a:solidFill>
          <a:ln/>
        </p:spPr>
        <p:txBody>
          <a:bodyPr/>
          <a:lstStyle/>
          <a:p>
            <a:endParaRPr lang="es-CL"/>
          </a:p>
        </p:txBody>
      </p:sp>
      <p:sp>
        <p:nvSpPr>
          <p:cNvPr id="192" name="Text 188"/>
          <p:cNvSpPr/>
          <p:nvPr/>
        </p:nvSpPr>
        <p:spPr>
          <a:xfrm>
            <a:off x="5901311" y="5512374"/>
            <a:ext cx="285728" cy="166511"/>
          </a:xfrm>
          <a:prstGeom prst="rect">
            <a:avLst/>
          </a:prstGeom>
          <a:noFill/>
          <a:ln/>
        </p:spPr>
        <p:txBody>
          <a:bodyPr wrap="none" lIns="16933" tIns="16933" rIns="16933" bIns="16933" rtlCol="0" anchor="t">
            <a:normAutofit lnSpcReduction="10000"/>
          </a:bodyPr>
          <a:lstStyle/>
          <a:p>
            <a:pPr defTabSz="609630">
              <a:buClrTx/>
            </a:pPr>
            <a:r>
              <a:rPr lang="en-US" sz="950" kern="1200" dirty="0">
                <a:solidFill>
                  <a:srgbClr val="373C46"/>
                </a:solidFill>
                <a:latin typeface="Arial" pitchFamily="34" charset="0"/>
                <a:ea typeface="Arial" pitchFamily="34" charset="-122"/>
                <a:cs typeface="Arial" pitchFamily="34" charset="-120"/>
              </a:rPr>
              <a:t>40,0</a:t>
            </a:r>
            <a:endParaRPr lang="en-US" sz="950" kern="1200" dirty="0">
              <a:solidFill>
                <a:prstClr val="black"/>
              </a:solidFill>
              <a:latin typeface="Calibri" panose="020F0502020204030204"/>
              <a:ea typeface="+mn-ea"/>
              <a:cs typeface="+mn-cs"/>
            </a:endParaRPr>
          </a:p>
        </p:txBody>
      </p:sp>
      <p:sp>
        <p:nvSpPr>
          <p:cNvPr id="193" name="Shape 189"/>
          <p:cNvSpPr/>
          <p:nvPr/>
        </p:nvSpPr>
        <p:spPr>
          <a:xfrm>
            <a:off x="7422445" y="5696921"/>
            <a:ext cx="610857" cy="7055"/>
          </a:xfrm>
          <a:prstGeom prst="rect">
            <a:avLst/>
          </a:prstGeom>
          <a:solidFill>
            <a:srgbClr val="D9DCE3"/>
          </a:solidFill>
          <a:ln/>
        </p:spPr>
        <p:txBody>
          <a:bodyPr/>
          <a:lstStyle/>
          <a:p>
            <a:endParaRPr lang="es-CL"/>
          </a:p>
        </p:txBody>
      </p:sp>
      <p:sp>
        <p:nvSpPr>
          <p:cNvPr id="194" name="Text 190"/>
          <p:cNvSpPr/>
          <p:nvPr/>
        </p:nvSpPr>
        <p:spPr>
          <a:xfrm>
            <a:off x="7422445" y="5461993"/>
            <a:ext cx="560057" cy="260328"/>
          </a:xfrm>
          <a:prstGeom prst="rect">
            <a:avLst/>
          </a:prstGeom>
          <a:noFill/>
          <a:ln/>
        </p:spPr>
        <p:txBody>
          <a:bodyPr wrap="none" lIns="16933" tIns="16933" rIns="16933" bIns="16933" rtlCol="0" anchor="ctr">
            <a:normAutofit/>
          </a:bodyPr>
          <a:lstStyle/>
          <a:p>
            <a:pPr algn="r" defTabSz="609630">
              <a:buClrTx/>
            </a:pPr>
            <a:r>
              <a:rPr lang="en-US" sz="950" kern="1200" dirty="0">
                <a:solidFill>
                  <a:srgbClr val="373C46"/>
                </a:solidFill>
                <a:latin typeface="Arial" pitchFamily="34" charset="0"/>
                <a:ea typeface="Arial" pitchFamily="34" charset="-122"/>
                <a:cs typeface="Arial" pitchFamily="34" charset="-120"/>
              </a:rPr>
              <a:t>1</a:t>
            </a:r>
            <a:endParaRPr lang="en-US" sz="950" kern="1200" dirty="0">
              <a:solidFill>
                <a:prstClr val="black"/>
              </a:solidFill>
              <a:latin typeface="Calibri" panose="020F0502020204030204"/>
              <a:ea typeface="+mn-ea"/>
              <a:cs typeface="+mn-cs"/>
            </a:endParaRPr>
          </a:p>
        </p:txBody>
      </p:sp>
      <p:sp>
        <p:nvSpPr>
          <p:cNvPr id="195" name="Shape 191"/>
          <p:cNvSpPr/>
          <p:nvPr/>
        </p:nvSpPr>
        <p:spPr>
          <a:xfrm>
            <a:off x="8445501" y="1663678"/>
            <a:ext cx="1206500" cy="2235178"/>
          </a:xfrm>
          <a:prstGeom prst="rect">
            <a:avLst/>
          </a:prstGeom>
          <a:solidFill>
            <a:srgbClr val="28D2C3"/>
          </a:solidFill>
          <a:ln w="21167">
            <a:solidFill>
              <a:srgbClr val="06201D"/>
            </a:solidFill>
            <a:prstDash val="solid"/>
          </a:ln>
        </p:spPr>
        <p:txBody>
          <a:bodyPr/>
          <a:lstStyle/>
          <a:p>
            <a:endParaRPr lang="es-CL"/>
          </a:p>
        </p:txBody>
      </p:sp>
      <p:sp>
        <p:nvSpPr>
          <p:cNvPr id="196" name="Text 192"/>
          <p:cNvSpPr/>
          <p:nvPr/>
        </p:nvSpPr>
        <p:spPr>
          <a:xfrm>
            <a:off x="8763398" y="2367359"/>
            <a:ext cx="570706" cy="360539"/>
          </a:xfrm>
          <a:prstGeom prst="rect">
            <a:avLst/>
          </a:prstGeom>
          <a:noFill/>
          <a:ln/>
        </p:spPr>
        <p:txBody>
          <a:bodyPr wrap="none" lIns="16933" tIns="16933" rIns="16933" bIns="16933" rtlCol="0" anchor="t">
            <a:normAutofit/>
          </a:bodyPr>
          <a:lstStyle/>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Cristián Pérez</a:t>
            </a:r>
            <a:endParaRPr lang="en-US" sz="1100" kern="1200" dirty="0">
              <a:solidFill>
                <a:prstClr val="black"/>
              </a:solidFill>
              <a:latin typeface="Calibri" panose="020F0502020204030204"/>
              <a:ea typeface="+mn-ea"/>
              <a:cs typeface="+mn-cs"/>
            </a:endParaRPr>
          </a:p>
        </p:txBody>
      </p:sp>
      <p:sp>
        <p:nvSpPr>
          <p:cNvPr id="197" name="Text 193"/>
          <p:cNvSpPr/>
          <p:nvPr/>
        </p:nvSpPr>
        <p:spPr>
          <a:xfrm>
            <a:off x="8790297" y="2740533"/>
            <a:ext cx="516907"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433</a:t>
            </a:r>
            <a:endParaRPr lang="en-US" sz="2200" kern="1200" dirty="0">
              <a:solidFill>
                <a:prstClr val="black"/>
              </a:solidFill>
              <a:latin typeface="Calibri" panose="020F0502020204030204"/>
              <a:ea typeface="+mn-ea"/>
              <a:cs typeface="+mn-cs"/>
            </a:endParaRPr>
          </a:p>
        </p:txBody>
      </p:sp>
      <p:sp>
        <p:nvSpPr>
          <p:cNvPr id="198" name="Text 194"/>
          <p:cNvSpPr/>
          <p:nvPr/>
        </p:nvSpPr>
        <p:spPr>
          <a:xfrm>
            <a:off x="8810581" y="3057922"/>
            <a:ext cx="476228" cy="162543"/>
          </a:xfrm>
          <a:prstGeom prst="rect">
            <a:avLst/>
          </a:prstGeom>
          <a:noFill/>
          <a:ln/>
        </p:spPr>
        <p:txBody>
          <a:bodyPr wrap="none" lIns="16933" tIns="16933" rIns="16933" bIns="16933" rtlCol="0" anchor="t">
            <a:normAutofit lnSpcReduction="10000"/>
          </a:bodyPr>
          <a:lstStyle/>
          <a:p>
            <a:pPr algn="ctr" defTabSz="609630">
              <a:lnSpc>
                <a:spcPct val="102316"/>
              </a:lnSpc>
              <a:buClrTx/>
            </a:pPr>
            <a:r>
              <a:rPr lang="en-US" sz="900" b="1" kern="1200" dirty="0">
                <a:solidFill>
                  <a:srgbClr val="FFFFFF"/>
                </a:solidFill>
                <a:latin typeface="Arial" pitchFamily="34" charset="0"/>
                <a:ea typeface="Arial" pitchFamily="34" charset="-122"/>
                <a:cs typeface="Arial" pitchFamily="34" charset="-120"/>
              </a:rPr>
              <a:t>clientes</a:t>
            </a:r>
            <a:endParaRPr lang="en-US" sz="900" kern="1200" dirty="0">
              <a:solidFill>
                <a:prstClr val="black"/>
              </a:solidFill>
              <a:latin typeface="Calibri" panose="020F0502020204030204"/>
              <a:ea typeface="+mn-ea"/>
              <a:cs typeface="+mn-cs"/>
            </a:endParaRPr>
          </a:p>
        </p:txBody>
      </p:sp>
      <p:sp>
        <p:nvSpPr>
          <p:cNvPr id="199" name="Shape 195"/>
          <p:cNvSpPr/>
          <p:nvPr/>
        </p:nvSpPr>
        <p:spPr>
          <a:xfrm>
            <a:off x="9779001" y="1663678"/>
            <a:ext cx="2082712" cy="2235178"/>
          </a:xfrm>
          <a:prstGeom prst="rect">
            <a:avLst/>
          </a:prstGeom>
          <a:ln w="21167">
            <a:solidFill>
              <a:srgbClr val="06201D"/>
            </a:solidFill>
            <a:prstDash val="solid"/>
          </a:ln>
        </p:spPr>
        <p:txBody>
          <a:bodyPr/>
          <a:lstStyle/>
          <a:p>
            <a:endParaRPr lang="es-CL"/>
          </a:p>
        </p:txBody>
      </p:sp>
      <p:sp>
        <p:nvSpPr>
          <p:cNvPr id="200" name="Text 196"/>
          <p:cNvSpPr/>
          <p:nvPr/>
        </p:nvSpPr>
        <p:spPr>
          <a:xfrm>
            <a:off x="9949868" y="2293055"/>
            <a:ext cx="1967373" cy="188119"/>
          </a:xfrm>
          <a:prstGeom prst="rect">
            <a:avLst/>
          </a:prstGeom>
          <a:noFill/>
          <a:ln/>
        </p:spPr>
        <p:txBody>
          <a:bodyPr wrap="square" lIns="16933" tIns="16933" rIns="16933" bIns="16933" rtlCol="0" anchor="t">
            <a:normAutofit lnSpcReduction="10000"/>
          </a:bodyPr>
          <a:lstStyle/>
          <a:p>
            <a:pPr marL="84460" indent="-84460" defTabSz="609630">
              <a:lnSpc>
                <a:spcPct val="115425"/>
              </a:lnSpc>
              <a:buClrTx/>
              <a:buSzPct val="100000"/>
              <a:buFontTx/>
              <a:buChar char="•"/>
            </a:pPr>
            <a:r>
              <a:rPr lang="en-US" sz="950" kern="1200" dirty="0">
                <a:solidFill>
                  <a:srgbClr val="373C46"/>
                </a:solidFill>
                <a:latin typeface="Arial" pitchFamily="34" charset="0"/>
                <a:ea typeface="Arial" pitchFamily="34" charset="-122"/>
                <a:cs typeface="Arial" pitchFamily="34" charset="-120"/>
              </a:rPr>
              <a:t>Potencial: </a:t>
            </a:r>
            <a:r>
              <a:rPr lang="en-US" sz="950" b="1" kern="1200" dirty="0">
                <a:solidFill>
                  <a:srgbClr val="33448D"/>
                </a:solidFill>
                <a:latin typeface="Arial" pitchFamily="34" charset="0"/>
                <a:ea typeface="Arial" pitchFamily="34" charset="-122"/>
                <a:cs typeface="Arial" pitchFamily="34" charset="-120"/>
              </a:rPr>
              <a:t>MM$1.133,2</a:t>
            </a:r>
            <a:endParaRPr lang="en-US" sz="950" kern="1200" dirty="0">
              <a:solidFill>
                <a:prstClr val="black"/>
              </a:solidFill>
              <a:latin typeface="Calibri" panose="020F0502020204030204"/>
              <a:ea typeface="+mn-ea"/>
              <a:cs typeface="+mn-cs"/>
            </a:endParaRPr>
          </a:p>
        </p:txBody>
      </p:sp>
      <p:sp>
        <p:nvSpPr>
          <p:cNvPr id="201" name="Text 197"/>
          <p:cNvSpPr/>
          <p:nvPr/>
        </p:nvSpPr>
        <p:spPr>
          <a:xfrm>
            <a:off x="9949869" y="2455774"/>
            <a:ext cx="1847551" cy="350837"/>
          </a:xfrm>
          <a:prstGeom prst="rect">
            <a:avLst/>
          </a:prstGeom>
          <a:noFill/>
          <a:ln/>
        </p:spPr>
        <p:txBody>
          <a:bodyPr wrap="square" lIns="16933" tIns="16933" rIns="16933" bIns="16933" rtlCol="0" anchor="t">
            <a:normAutofit lnSpcReduction="10000"/>
          </a:bodyPr>
          <a:lstStyle/>
          <a:p>
            <a:pPr marL="84460" indent="-84460" defTabSz="609630">
              <a:lnSpc>
                <a:spcPct val="115425"/>
              </a:lnSpc>
              <a:buClrTx/>
              <a:buSzPct val="100000"/>
              <a:buFontTx/>
              <a:buChar char="•"/>
              <a:tabLst>
                <a:tab pos="84460" algn="l"/>
              </a:tabLst>
            </a:pPr>
            <a:r>
              <a:rPr lang="en-US" sz="950" kern="1200" dirty="0">
                <a:solidFill>
                  <a:srgbClr val="373C46"/>
                </a:solidFill>
                <a:latin typeface="Arial" pitchFamily="34" charset="0"/>
                <a:ea typeface="Arial" pitchFamily="34" charset="-122"/>
                <a:cs typeface="Arial" pitchFamily="34" charset="-120"/>
              </a:rPr>
              <a:t>9 regiones · Norte, Valparaíso, RM, Maule y Bío Bío</a:t>
            </a:r>
            <a:endParaRPr lang="en-US" sz="950" kern="1200" dirty="0">
              <a:solidFill>
                <a:prstClr val="black"/>
              </a:solidFill>
              <a:latin typeface="Calibri" panose="020F0502020204030204"/>
              <a:ea typeface="+mn-ea"/>
              <a:cs typeface="+mn-cs"/>
            </a:endParaRPr>
          </a:p>
        </p:txBody>
      </p:sp>
      <p:sp>
        <p:nvSpPr>
          <p:cNvPr id="202" name="Text 198"/>
          <p:cNvSpPr/>
          <p:nvPr/>
        </p:nvSpPr>
        <p:spPr>
          <a:xfrm>
            <a:off x="9949868" y="2781212"/>
            <a:ext cx="1967373" cy="188119"/>
          </a:xfrm>
          <a:prstGeom prst="rect">
            <a:avLst/>
          </a:prstGeom>
          <a:noFill/>
          <a:ln/>
        </p:spPr>
        <p:txBody>
          <a:bodyPr wrap="square" lIns="16933" tIns="16933" rIns="16933" bIns="16933" rtlCol="0" anchor="t">
            <a:normAutofit lnSpcReduction="10000"/>
          </a:bodyPr>
          <a:lstStyle/>
          <a:p>
            <a:pPr marL="84460" indent="-84460" defTabSz="609630">
              <a:lnSpc>
                <a:spcPct val="115425"/>
              </a:lnSpc>
              <a:buClrTx/>
              <a:buSzPct val="100000"/>
              <a:buFontTx/>
              <a:buChar char="•"/>
              <a:tabLst>
                <a:tab pos="84460" algn="l"/>
              </a:tabLst>
            </a:pPr>
            <a:r>
              <a:rPr lang="en-US" sz="950" kern="1200" dirty="0">
                <a:solidFill>
                  <a:srgbClr val="373C46"/>
                </a:solidFill>
                <a:latin typeface="Arial" pitchFamily="34" charset="0"/>
                <a:ea typeface="Arial" pitchFamily="34" charset="-122"/>
                <a:cs typeface="Arial" pitchFamily="34" charset="-120"/>
              </a:rPr>
              <a:t>Contratos vigentes: 43</a:t>
            </a:r>
            <a:endParaRPr lang="en-US" sz="950" kern="1200" dirty="0">
              <a:solidFill>
                <a:prstClr val="black"/>
              </a:solidFill>
              <a:latin typeface="Calibri" panose="020F0502020204030204"/>
              <a:ea typeface="+mn-ea"/>
              <a:cs typeface="+mn-cs"/>
            </a:endParaRPr>
          </a:p>
        </p:txBody>
      </p:sp>
      <p:sp>
        <p:nvSpPr>
          <p:cNvPr id="203" name="Text 199"/>
          <p:cNvSpPr/>
          <p:nvPr/>
        </p:nvSpPr>
        <p:spPr>
          <a:xfrm>
            <a:off x="9949869" y="2943931"/>
            <a:ext cx="1847551" cy="350837"/>
          </a:xfrm>
          <a:prstGeom prst="rect">
            <a:avLst/>
          </a:prstGeom>
          <a:noFill/>
          <a:ln/>
        </p:spPr>
        <p:txBody>
          <a:bodyPr wrap="square" lIns="16933" tIns="16933" rIns="16933" bIns="16933" rtlCol="0" anchor="t">
            <a:normAutofit/>
          </a:bodyPr>
          <a:lstStyle/>
          <a:p>
            <a:pPr marL="84460" indent="-84460" defTabSz="609630">
              <a:lnSpc>
                <a:spcPct val="115425"/>
              </a:lnSpc>
              <a:buClrTx/>
              <a:buSzPct val="100000"/>
              <a:buFontTx/>
              <a:buChar char="•"/>
              <a:tabLst>
                <a:tab pos="84460" algn="l"/>
              </a:tabLst>
            </a:pPr>
            <a:r>
              <a:rPr lang="en-US" sz="950" kern="1200" dirty="0">
                <a:solidFill>
                  <a:srgbClr val="373C46"/>
                </a:solidFill>
                <a:latin typeface="Arial" pitchFamily="34" charset="0"/>
                <a:ea typeface="Arial" pitchFamily="34" charset="-122"/>
                <a:cs typeface="Arial" pitchFamily="34" charset="-120"/>
              </a:rPr>
              <a:t>Bío Bío: 81 clientes · MM$284,3</a:t>
            </a:r>
            <a:endParaRPr lang="en-US" sz="950" kern="1200" dirty="0">
              <a:solidFill>
                <a:prstClr val="black"/>
              </a:solidFill>
              <a:latin typeface="Calibri" panose="020F0502020204030204"/>
              <a:ea typeface="+mn-ea"/>
              <a:cs typeface="+mn-cs"/>
            </a:endParaRPr>
          </a:p>
        </p:txBody>
      </p:sp>
      <p:sp>
        <p:nvSpPr>
          <p:cNvPr id="204" name="Shape 200"/>
          <p:cNvSpPr/>
          <p:nvPr/>
        </p:nvSpPr>
        <p:spPr>
          <a:xfrm>
            <a:off x="8445501" y="4025856"/>
            <a:ext cx="1206500" cy="2235178"/>
          </a:xfrm>
          <a:prstGeom prst="rect">
            <a:avLst/>
          </a:prstGeom>
          <a:solidFill>
            <a:srgbClr val="282DF0"/>
          </a:solidFill>
          <a:ln w="21167">
            <a:solidFill>
              <a:srgbClr val="06201D"/>
            </a:solidFill>
            <a:prstDash val="solid"/>
          </a:ln>
        </p:spPr>
        <p:txBody>
          <a:bodyPr/>
          <a:lstStyle/>
          <a:p>
            <a:endParaRPr lang="es-CL"/>
          </a:p>
        </p:txBody>
      </p:sp>
      <p:sp>
        <p:nvSpPr>
          <p:cNvPr id="205" name="Text 201"/>
          <p:cNvSpPr/>
          <p:nvPr/>
        </p:nvSpPr>
        <p:spPr>
          <a:xfrm>
            <a:off x="8751712" y="4729538"/>
            <a:ext cx="594078" cy="360539"/>
          </a:xfrm>
          <a:prstGeom prst="rect">
            <a:avLst/>
          </a:prstGeom>
          <a:noFill/>
          <a:ln/>
        </p:spPr>
        <p:txBody>
          <a:bodyPr wrap="none" lIns="16933" tIns="16933" rIns="16933" bIns="16933" rtlCol="0" anchor="t">
            <a:normAutofit/>
          </a:bodyPr>
          <a:lstStyle/>
          <a:p>
            <a:pPr algn="ctr" defTabSz="609630">
              <a:lnSpc>
                <a:spcPct val="103304"/>
              </a:lnSpc>
              <a:buClrTx/>
            </a:pPr>
            <a:r>
              <a:rPr lang="en-US" sz="1100" b="1" kern="1200" dirty="0">
                <a:solidFill>
                  <a:srgbClr val="FFFFFF"/>
                </a:solidFill>
                <a:latin typeface="Arial" pitchFamily="34" charset="0"/>
                <a:ea typeface="Arial" pitchFamily="34" charset="-122"/>
                <a:cs typeface="Arial" pitchFamily="34" charset="-120"/>
              </a:rPr>
              <a:t>Eglys Ramírez</a:t>
            </a:r>
            <a:endParaRPr lang="en-US" sz="1100" kern="1200" dirty="0">
              <a:solidFill>
                <a:prstClr val="black"/>
              </a:solidFill>
              <a:latin typeface="Calibri" panose="020F0502020204030204"/>
              <a:ea typeface="+mn-ea"/>
              <a:cs typeface="+mn-cs"/>
            </a:endParaRPr>
          </a:p>
        </p:txBody>
      </p:sp>
      <p:sp>
        <p:nvSpPr>
          <p:cNvPr id="206" name="Text 202"/>
          <p:cNvSpPr/>
          <p:nvPr/>
        </p:nvSpPr>
        <p:spPr>
          <a:xfrm>
            <a:off x="8790297" y="5102710"/>
            <a:ext cx="516907" cy="304756"/>
          </a:xfrm>
          <a:prstGeom prst="rect">
            <a:avLst/>
          </a:prstGeom>
          <a:noFill/>
          <a:ln/>
        </p:spPr>
        <p:txBody>
          <a:bodyPr wrap="none" lIns="16933" tIns="16933" rIns="16933" bIns="16933" rtlCol="0" anchor="t">
            <a:normAutofit lnSpcReduction="10000"/>
          </a:bodyPr>
          <a:lstStyle/>
          <a:p>
            <a:pPr algn="ctr" defTabSz="609630">
              <a:lnSpc>
                <a:spcPct val="88000"/>
              </a:lnSpc>
              <a:buClrTx/>
            </a:pPr>
            <a:r>
              <a:rPr lang="en-US" sz="2200" b="1" kern="1200" dirty="0">
                <a:solidFill>
                  <a:srgbClr val="FFFFFF"/>
                </a:solidFill>
                <a:latin typeface="Arial" pitchFamily="34" charset="0"/>
                <a:ea typeface="Arial" pitchFamily="34" charset="-122"/>
                <a:cs typeface="Arial" pitchFamily="34" charset="-120"/>
              </a:rPr>
              <a:t>325</a:t>
            </a:r>
            <a:endParaRPr lang="en-US" sz="2200" kern="1200" dirty="0">
              <a:solidFill>
                <a:prstClr val="black"/>
              </a:solidFill>
              <a:latin typeface="Calibri" panose="020F0502020204030204"/>
              <a:ea typeface="+mn-ea"/>
              <a:cs typeface="+mn-cs"/>
            </a:endParaRPr>
          </a:p>
        </p:txBody>
      </p:sp>
      <p:sp>
        <p:nvSpPr>
          <p:cNvPr id="207" name="Text 203"/>
          <p:cNvSpPr/>
          <p:nvPr/>
        </p:nvSpPr>
        <p:spPr>
          <a:xfrm>
            <a:off x="8810581" y="5420100"/>
            <a:ext cx="476228" cy="162543"/>
          </a:xfrm>
          <a:prstGeom prst="rect">
            <a:avLst/>
          </a:prstGeom>
          <a:noFill/>
          <a:ln/>
        </p:spPr>
        <p:txBody>
          <a:bodyPr wrap="none" lIns="16933" tIns="16933" rIns="16933" bIns="16933" rtlCol="0" anchor="t">
            <a:normAutofit lnSpcReduction="10000"/>
          </a:bodyPr>
          <a:lstStyle/>
          <a:p>
            <a:pPr algn="ctr" defTabSz="609630">
              <a:lnSpc>
                <a:spcPct val="102316"/>
              </a:lnSpc>
              <a:buClrTx/>
            </a:pPr>
            <a:r>
              <a:rPr lang="en-US" sz="900" b="1" kern="1200" dirty="0">
                <a:solidFill>
                  <a:srgbClr val="FFFFFF"/>
                </a:solidFill>
                <a:latin typeface="Arial" pitchFamily="34" charset="0"/>
                <a:ea typeface="Arial" pitchFamily="34" charset="-122"/>
                <a:cs typeface="Arial" pitchFamily="34" charset="-120"/>
              </a:rPr>
              <a:t>clientes</a:t>
            </a:r>
            <a:endParaRPr lang="en-US" sz="900" kern="1200" dirty="0">
              <a:solidFill>
                <a:prstClr val="black"/>
              </a:solidFill>
              <a:latin typeface="Calibri" panose="020F0502020204030204"/>
              <a:ea typeface="+mn-ea"/>
              <a:cs typeface="+mn-cs"/>
            </a:endParaRPr>
          </a:p>
        </p:txBody>
      </p:sp>
      <p:sp>
        <p:nvSpPr>
          <p:cNvPr id="208" name="Shape 204"/>
          <p:cNvSpPr/>
          <p:nvPr/>
        </p:nvSpPr>
        <p:spPr>
          <a:xfrm>
            <a:off x="9779001" y="4025856"/>
            <a:ext cx="2082712" cy="2235178"/>
          </a:xfrm>
          <a:prstGeom prst="rect">
            <a:avLst/>
          </a:prstGeom>
          <a:ln w="21167">
            <a:solidFill>
              <a:srgbClr val="06201D"/>
            </a:solidFill>
            <a:prstDash val="solid"/>
          </a:ln>
        </p:spPr>
        <p:txBody>
          <a:bodyPr/>
          <a:lstStyle/>
          <a:p>
            <a:endParaRPr lang="es-CL"/>
          </a:p>
        </p:txBody>
      </p:sp>
      <p:sp>
        <p:nvSpPr>
          <p:cNvPr id="209" name="Text 205"/>
          <p:cNvSpPr/>
          <p:nvPr/>
        </p:nvSpPr>
        <p:spPr>
          <a:xfrm>
            <a:off x="9949868" y="4655234"/>
            <a:ext cx="1967373" cy="188119"/>
          </a:xfrm>
          <a:prstGeom prst="rect">
            <a:avLst/>
          </a:prstGeom>
          <a:noFill/>
          <a:ln/>
        </p:spPr>
        <p:txBody>
          <a:bodyPr wrap="square" lIns="16933" tIns="16933" rIns="16933" bIns="16933" rtlCol="0" anchor="t">
            <a:normAutofit lnSpcReduction="10000"/>
          </a:bodyPr>
          <a:lstStyle/>
          <a:p>
            <a:pPr marL="84460" indent="-84460" defTabSz="609630">
              <a:lnSpc>
                <a:spcPct val="115425"/>
              </a:lnSpc>
              <a:buClrTx/>
              <a:buSzPct val="100000"/>
              <a:buFontTx/>
              <a:buChar char="•"/>
            </a:pPr>
            <a:r>
              <a:rPr lang="en-US" sz="950" kern="1200" dirty="0">
                <a:solidFill>
                  <a:srgbClr val="373C46"/>
                </a:solidFill>
                <a:latin typeface="Arial" pitchFamily="34" charset="0"/>
                <a:ea typeface="Arial" pitchFamily="34" charset="-122"/>
                <a:cs typeface="Arial" pitchFamily="34" charset="-120"/>
              </a:rPr>
              <a:t>Potencial: </a:t>
            </a:r>
            <a:r>
              <a:rPr lang="en-US" sz="950" b="1" kern="1200" dirty="0">
                <a:solidFill>
                  <a:srgbClr val="33448D"/>
                </a:solidFill>
                <a:latin typeface="Arial" pitchFamily="34" charset="0"/>
                <a:ea typeface="Arial" pitchFamily="34" charset="-122"/>
                <a:cs typeface="Arial" pitchFamily="34" charset="-120"/>
              </a:rPr>
              <a:t>MM$966,7</a:t>
            </a:r>
            <a:endParaRPr lang="en-US" sz="950" kern="1200" dirty="0">
              <a:solidFill>
                <a:prstClr val="black"/>
              </a:solidFill>
              <a:latin typeface="Calibri" panose="020F0502020204030204"/>
              <a:ea typeface="+mn-ea"/>
              <a:cs typeface="+mn-cs"/>
            </a:endParaRPr>
          </a:p>
        </p:txBody>
      </p:sp>
      <p:sp>
        <p:nvSpPr>
          <p:cNvPr id="210" name="Text 206"/>
          <p:cNvSpPr/>
          <p:nvPr/>
        </p:nvSpPr>
        <p:spPr>
          <a:xfrm>
            <a:off x="9949869" y="4817953"/>
            <a:ext cx="1847551" cy="350837"/>
          </a:xfrm>
          <a:prstGeom prst="rect">
            <a:avLst/>
          </a:prstGeom>
          <a:noFill/>
          <a:ln/>
        </p:spPr>
        <p:txBody>
          <a:bodyPr wrap="square" lIns="16933" tIns="16933" rIns="16933" bIns="16933" rtlCol="0" anchor="t">
            <a:normAutofit lnSpcReduction="10000"/>
          </a:bodyPr>
          <a:lstStyle/>
          <a:p>
            <a:pPr marL="84460" indent="-84460" defTabSz="609630">
              <a:lnSpc>
                <a:spcPct val="115425"/>
              </a:lnSpc>
              <a:buClrTx/>
              <a:buSzPct val="100000"/>
              <a:buFontTx/>
              <a:buChar char="•"/>
              <a:tabLst>
                <a:tab pos="84460" algn="l"/>
              </a:tabLst>
            </a:pPr>
            <a:r>
              <a:rPr lang="en-US" sz="950" kern="1200" dirty="0">
                <a:solidFill>
                  <a:srgbClr val="373C46"/>
                </a:solidFill>
                <a:latin typeface="Arial" pitchFamily="34" charset="0"/>
                <a:ea typeface="Arial" pitchFamily="34" charset="-122"/>
                <a:cs typeface="Arial" pitchFamily="34" charset="-120"/>
              </a:rPr>
              <a:t>8 regiones · RM, O'Higgins, Ñuble y Sur</a:t>
            </a:r>
            <a:endParaRPr lang="en-US" sz="950" kern="1200" dirty="0">
              <a:solidFill>
                <a:prstClr val="black"/>
              </a:solidFill>
              <a:latin typeface="Calibri" panose="020F0502020204030204"/>
              <a:ea typeface="+mn-ea"/>
              <a:cs typeface="+mn-cs"/>
            </a:endParaRPr>
          </a:p>
        </p:txBody>
      </p:sp>
      <p:sp>
        <p:nvSpPr>
          <p:cNvPr id="211" name="Text 207"/>
          <p:cNvSpPr/>
          <p:nvPr/>
        </p:nvSpPr>
        <p:spPr>
          <a:xfrm>
            <a:off x="9949868" y="5143390"/>
            <a:ext cx="1967373" cy="188119"/>
          </a:xfrm>
          <a:prstGeom prst="rect">
            <a:avLst/>
          </a:prstGeom>
          <a:noFill/>
          <a:ln/>
        </p:spPr>
        <p:txBody>
          <a:bodyPr wrap="square" lIns="16933" tIns="16933" rIns="16933" bIns="16933" rtlCol="0" anchor="t">
            <a:normAutofit lnSpcReduction="10000"/>
          </a:bodyPr>
          <a:lstStyle/>
          <a:p>
            <a:pPr marL="84460" indent="-84460" defTabSz="609630">
              <a:lnSpc>
                <a:spcPct val="115425"/>
              </a:lnSpc>
              <a:buClrTx/>
              <a:buSzPct val="100000"/>
              <a:buFontTx/>
              <a:buChar char="•"/>
              <a:tabLst>
                <a:tab pos="84460" algn="l"/>
              </a:tabLst>
            </a:pPr>
            <a:r>
              <a:rPr lang="en-US" sz="950" kern="1200" dirty="0">
                <a:solidFill>
                  <a:srgbClr val="373C46"/>
                </a:solidFill>
                <a:latin typeface="Arial" pitchFamily="34" charset="0"/>
                <a:ea typeface="Arial" pitchFamily="34" charset="-122"/>
                <a:cs typeface="Arial" pitchFamily="34" charset="-120"/>
              </a:rPr>
              <a:t>Contratos vigentes: 35</a:t>
            </a:r>
            <a:endParaRPr lang="en-US" sz="950" kern="1200" dirty="0">
              <a:solidFill>
                <a:prstClr val="black"/>
              </a:solidFill>
              <a:latin typeface="Calibri" panose="020F0502020204030204"/>
              <a:ea typeface="+mn-ea"/>
              <a:cs typeface="+mn-cs"/>
            </a:endParaRPr>
          </a:p>
        </p:txBody>
      </p:sp>
      <p:sp>
        <p:nvSpPr>
          <p:cNvPr id="212" name="Text 208"/>
          <p:cNvSpPr/>
          <p:nvPr/>
        </p:nvSpPr>
        <p:spPr>
          <a:xfrm>
            <a:off x="9949869" y="5306109"/>
            <a:ext cx="1847551" cy="350837"/>
          </a:xfrm>
          <a:prstGeom prst="rect">
            <a:avLst/>
          </a:prstGeom>
          <a:noFill/>
          <a:ln/>
        </p:spPr>
        <p:txBody>
          <a:bodyPr wrap="square" lIns="16933" tIns="16933" rIns="16933" bIns="16933" rtlCol="0" anchor="t">
            <a:normAutofit lnSpcReduction="10000"/>
          </a:bodyPr>
          <a:lstStyle/>
          <a:p>
            <a:pPr marL="84460" indent="-84460" defTabSz="609630">
              <a:lnSpc>
                <a:spcPct val="115425"/>
              </a:lnSpc>
              <a:buClrTx/>
              <a:buSzPct val="100000"/>
              <a:buFontTx/>
              <a:buChar char="•"/>
              <a:tabLst>
                <a:tab pos="84460" algn="l"/>
              </a:tabLst>
            </a:pPr>
            <a:r>
              <a:rPr lang="en-US" sz="950" kern="1200" dirty="0">
                <a:solidFill>
                  <a:srgbClr val="373C46"/>
                </a:solidFill>
                <a:latin typeface="Arial" pitchFamily="34" charset="0"/>
                <a:ea typeface="Arial" pitchFamily="34" charset="-122"/>
                <a:cs typeface="Arial" pitchFamily="34" charset="-120"/>
              </a:rPr>
              <a:t>Araucanía: 33 clientes · MM$159,2</a:t>
            </a:r>
            <a:endParaRPr lang="en-US" sz="950" kern="1200" dirty="0">
              <a:solidFill>
                <a:prstClr val="black"/>
              </a:solidFill>
              <a:latin typeface="Calibri" panose="020F0502020204030204"/>
              <a:ea typeface="+mn-ea"/>
              <a:cs typeface="+mn-cs"/>
            </a:endParaRPr>
          </a:p>
        </p:txBody>
      </p:sp>
      <p:sp>
        <p:nvSpPr>
          <p:cNvPr id="213" name="Text 209"/>
          <p:cNvSpPr/>
          <p:nvPr/>
        </p:nvSpPr>
        <p:spPr>
          <a:xfrm>
            <a:off x="6559507" y="6426179"/>
            <a:ext cx="5308601" cy="159455"/>
          </a:xfrm>
          <a:prstGeom prst="rect">
            <a:avLst/>
          </a:prstGeom>
          <a:noFill/>
          <a:ln/>
        </p:spPr>
        <p:txBody>
          <a:bodyPr wrap="square" lIns="16933" tIns="16933" rIns="16933" bIns="16933" rtlCol="0" anchor="t">
            <a:normAutofit lnSpcReduction="10000"/>
          </a:bodyPr>
          <a:lstStyle/>
          <a:p>
            <a:pPr algn="r" defTabSz="609630">
              <a:buClrTx/>
            </a:pPr>
            <a:r>
              <a:rPr lang="en-US" sz="900" kern="1200" dirty="0">
                <a:solidFill>
                  <a:srgbClr val="373C46"/>
                </a:solidFill>
                <a:latin typeface="Arial" pitchFamily="34" charset="0"/>
                <a:ea typeface="Arial" pitchFamily="34" charset="-122"/>
                <a:cs typeface="Arial" pitchFamily="34" charset="-120"/>
              </a:rPr>
              <a:t>Fuente: Cartera_clientes_ST_2026-09-25 · Límites regionales aproximados</a:t>
            </a:r>
            <a:endParaRPr lang="en-US" sz="900" kern="1200" dirty="0">
              <a:solidFill>
                <a:prstClr val="black"/>
              </a:solidFill>
              <a:latin typeface="Calibri" panose="020F0502020204030204"/>
              <a:ea typeface="+mn-ea"/>
              <a:cs typeface="+mn-cs"/>
            </a:endParaRPr>
          </a:p>
        </p:txBody>
      </p:sp>
      <p:pic>
        <p:nvPicPr>
          <p:cNvPr id="214" name="Image 2" descr="preencoded.png"/>
          <p:cNvPicPr>
            <a:picLocks noChangeAspect="1"/>
          </p:cNvPicPr>
          <p:nvPr/>
        </p:nvPicPr>
        <p:blipFill>
          <a:blip r:embed="rId5"/>
          <a:stretch>
            <a:fillRect/>
          </a:stretch>
        </p:blipFill>
        <p:spPr>
          <a:xfrm>
            <a:off x="330178" y="6400712"/>
            <a:ext cx="1225462" cy="279356"/>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513">
          <a:extLst>
            <a:ext uri="{FF2B5EF4-FFF2-40B4-BE49-F238E27FC236}">
              <a16:creationId xmlns:a16="http://schemas.microsoft.com/office/drawing/2014/main" id="{1EB841FC-B618-1C11-FEF8-0DE525B274A1}"/>
            </a:ext>
          </a:extLst>
        </p:cNvPr>
        <p:cNvGrpSpPr/>
        <p:nvPr/>
      </p:nvGrpSpPr>
      <p:grpSpPr>
        <a:xfrm>
          <a:off x="0" y="0"/>
          <a:ext cx="0" cy="0"/>
          <a:chOff x="0" y="0"/>
          <a:chExt cx="0" cy="0"/>
        </a:xfrm>
      </p:grpSpPr>
      <p:sp>
        <p:nvSpPr>
          <p:cNvPr id="514" name="Google Shape;514;p41">
            <a:extLst>
              <a:ext uri="{FF2B5EF4-FFF2-40B4-BE49-F238E27FC236}">
                <a16:creationId xmlns:a16="http://schemas.microsoft.com/office/drawing/2014/main" id="{441C2153-BEE1-4D2F-3298-A424146E2ACE}"/>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dirty="0">
                <a:solidFill>
                  <a:srgbClr val="33448D"/>
                </a:solidFill>
                <a:latin typeface="Roboto"/>
                <a:ea typeface="Roboto"/>
                <a:cs typeface="Roboto"/>
                <a:sym typeface="Roboto"/>
              </a:rPr>
              <a:t>Plan RM y Valparaíso</a:t>
            </a:r>
            <a:endParaRPr dirty="0"/>
          </a:p>
        </p:txBody>
      </p:sp>
      <p:sp>
        <p:nvSpPr>
          <p:cNvPr id="9" name="Rectángulo 8">
            <a:extLst>
              <a:ext uri="{FF2B5EF4-FFF2-40B4-BE49-F238E27FC236}">
                <a16:creationId xmlns:a16="http://schemas.microsoft.com/office/drawing/2014/main" id="{42990234-17A8-D4B8-0A83-5BDBDB4B3C1E}"/>
              </a:ext>
            </a:extLst>
          </p:cNvPr>
          <p:cNvSpPr/>
          <p:nvPr/>
        </p:nvSpPr>
        <p:spPr>
          <a:xfrm>
            <a:off x="304408" y="5003065"/>
            <a:ext cx="11698084" cy="8683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De las propuestas anteriores, se reasignó con Foco en Valparaíso y Cristian la cartera de visitas y se les hizo un plan de visitas a cada uno de los 3 clientes para cubrir la totalidad del Potencial.</a:t>
            </a:r>
          </a:p>
          <a:p>
            <a:pPr marL="171450" lvl="1" indent="-171450">
              <a:buFont typeface="Arial" panose="020B0604020202020204" pitchFamily="34" charset="0"/>
              <a:buChar char="•"/>
            </a:pPr>
            <a:r>
              <a:rPr lang="es-MX" sz="900" dirty="0">
                <a:solidFill>
                  <a:schemeClr val="tx2"/>
                </a:solidFill>
              </a:rPr>
              <a:t>La Cartera completa se puede cubrir en 4 meses con un promedio de 3 visitas diarias </a:t>
            </a:r>
            <a:endParaRPr lang="es-CL" sz="1600" b="1" dirty="0">
              <a:solidFill>
                <a:schemeClr val="tx1"/>
              </a:solidFill>
            </a:endParaRPr>
          </a:p>
        </p:txBody>
      </p:sp>
      <p:pic>
        <p:nvPicPr>
          <p:cNvPr id="4" name="Imagen 3">
            <a:extLst>
              <a:ext uri="{FF2B5EF4-FFF2-40B4-BE49-F238E27FC236}">
                <a16:creationId xmlns:a16="http://schemas.microsoft.com/office/drawing/2014/main" id="{D69BC1F9-B081-E8C2-3D6C-3CC984165503}"/>
              </a:ext>
            </a:extLst>
          </p:cNvPr>
          <p:cNvPicPr>
            <a:picLocks noChangeAspect="1"/>
          </p:cNvPicPr>
          <p:nvPr/>
        </p:nvPicPr>
        <p:blipFill>
          <a:blip r:embed="rId3"/>
          <a:stretch>
            <a:fillRect/>
          </a:stretch>
        </p:blipFill>
        <p:spPr>
          <a:xfrm>
            <a:off x="291000" y="970340"/>
            <a:ext cx="11698084" cy="2905606"/>
          </a:xfrm>
          <a:prstGeom prst="rect">
            <a:avLst/>
          </a:prstGeom>
        </p:spPr>
      </p:pic>
    </p:spTree>
    <p:extLst>
      <p:ext uri="{BB962C8B-B14F-4D97-AF65-F5344CB8AC3E}">
        <p14:creationId xmlns:p14="http://schemas.microsoft.com/office/powerpoint/2010/main" val="314162506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626"/>
        <p:cNvGrpSpPr/>
        <p:nvPr/>
      </p:nvGrpSpPr>
      <p:grpSpPr>
        <a:xfrm>
          <a:off x="0" y="0"/>
          <a:ext cx="0" cy="0"/>
          <a:chOff x="0" y="0"/>
          <a:chExt cx="0" cy="0"/>
        </a:xfrm>
      </p:grpSpPr>
      <p:sp>
        <p:nvSpPr>
          <p:cNvPr id="627" name="Google Shape;627;p55"/>
          <p:cNvSpPr txBox="1">
            <a:spLocks noGrp="1"/>
          </p:cNvSpPr>
          <p:nvPr>
            <p:ph type="subTitle" idx="1"/>
          </p:nvPr>
        </p:nvSpPr>
        <p:spPr>
          <a:xfrm>
            <a:off x="928356" y="5044946"/>
            <a:ext cx="5036084" cy="553998"/>
          </a:xfrm>
          <a:prstGeom prst="rect">
            <a:avLst/>
          </a:prstGeom>
          <a:noFill/>
          <a:ln>
            <a:noFill/>
          </a:ln>
        </p:spPr>
        <p:txBody>
          <a:bodyPr spcFirstLastPara="1" wrap="square" lIns="91425" tIns="45700" rIns="91425" bIns="45700" anchor="t" anchorCtr="0">
            <a:normAutofit fontScale="85000" lnSpcReduction="20000"/>
          </a:bodyPr>
          <a:lstStyle/>
          <a:p>
            <a:pPr marL="0" lvl="0" indent="0" algn="l" rtl="0">
              <a:lnSpc>
                <a:spcPct val="90000"/>
              </a:lnSpc>
              <a:spcBef>
                <a:spcPts val="0"/>
              </a:spcBef>
              <a:spcAft>
                <a:spcPts val="0"/>
              </a:spcAft>
              <a:buClr>
                <a:srgbClr val="7F7F7F"/>
              </a:buClr>
              <a:buSzPct val="100000"/>
              <a:buNone/>
            </a:pPr>
            <a:r>
              <a:rPr lang="es-CL" sz="2000" b="1" dirty="0">
                <a:solidFill>
                  <a:srgbClr val="7F7F7F"/>
                </a:solidFill>
              </a:rPr>
              <a:t>Anexos</a:t>
            </a:r>
            <a:endParaRPr dirty="0"/>
          </a:p>
          <a:p>
            <a:pPr marL="0" lvl="0" indent="0" algn="l" rtl="0">
              <a:lnSpc>
                <a:spcPct val="90000"/>
              </a:lnSpc>
              <a:spcBef>
                <a:spcPts val="1000"/>
              </a:spcBef>
              <a:spcAft>
                <a:spcPts val="0"/>
              </a:spcAft>
              <a:buClr>
                <a:srgbClr val="7F7F7F"/>
              </a:buClr>
              <a:buSzPct val="100000"/>
              <a:buNone/>
            </a:pPr>
            <a:r>
              <a:rPr lang="es-CL" dirty="0">
                <a:solidFill>
                  <a:srgbClr val="7F7F7F"/>
                </a:solidFill>
              </a:rPr>
              <a:t>21 septiembre 2026</a:t>
            </a:r>
            <a:endParaRPr dirty="0"/>
          </a:p>
        </p:txBody>
      </p:sp>
      <p:sp>
        <p:nvSpPr>
          <p:cNvPr id="628" name="Google Shape;628;p55"/>
          <p:cNvSpPr/>
          <p:nvPr/>
        </p:nvSpPr>
        <p:spPr>
          <a:xfrm>
            <a:off x="8400256" y="6309320"/>
            <a:ext cx="4427984" cy="251094"/>
          </a:xfrm>
          <a:prstGeom prst="rect">
            <a:avLst/>
          </a:prstGeom>
          <a:noFill/>
          <a:ln>
            <a:noFill/>
          </a:ln>
        </p:spPr>
        <p:txBody>
          <a:bodyPr spcFirstLastPara="1" wrap="square" lIns="0" tIns="0" rIns="0" bIns="0" anchor="b" anchorCtr="0">
            <a:spAutoFit/>
          </a:bodyPr>
          <a:lstStyle/>
          <a:p>
            <a:pPr marL="0" marR="0" lvl="0" indent="0" algn="l" rtl="0">
              <a:lnSpc>
                <a:spcPct val="100000"/>
              </a:lnSpc>
              <a:spcBef>
                <a:spcPts val="0"/>
              </a:spcBef>
              <a:spcAft>
                <a:spcPts val="0"/>
              </a:spcAft>
              <a:buClr>
                <a:srgbClr val="33448D"/>
              </a:buClr>
              <a:buSzPts val="816"/>
              <a:buFont typeface="Calibri"/>
              <a:buNone/>
            </a:pPr>
            <a:r>
              <a:rPr lang="es-CL" sz="816" b="0" i="0" u="none" strike="noStrike" cap="none">
                <a:solidFill>
                  <a:srgbClr val="33448D"/>
                </a:solidFill>
                <a:latin typeface="Calibri"/>
                <a:ea typeface="Calibri"/>
                <a:cs typeface="Calibri"/>
                <a:sym typeface="Calibri"/>
              </a:rPr>
              <a:t>DOCUMENTO CONFIDENCIAL PROPIEDAD DE GEMCO S.A.</a:t>
            </a:r>
            <a:endParaRPr/>
          </a:p>
          <a:p>
            <a:pPr marL="0" marR="0" lvl="0" indent="0" algn="l" rtl="0">
              <a:lnSpc>
                <a:spcPct val="100000"/>
              </a:lnSpc>
              <a:spcBef>
                <a:spcPts val="0"/>
              </a:spcBef>
              <a:spcAft>
                <a:spcPts val="0"/>
              </a:spcAft>
              <a:buClr>
                <a:srgbClr val="33448D"/>
              </a:buClr>
              <a:buSzPts val="816"/>
              <a:buFont typeface="Calibri"/>
              <a:buNone/>
            </a:pPr>
            <a:r>
              <a:rPr lang="es-CL" sz="816" b="0" i="0" u="none" strike="noStrike" cap="none">
                <a:solidFill>
                  <a:srgbClr val="33448D"/>
                </a:solidFill>
                <a:latin typeface="Calibri"/>
                <a:ea typeface="Calibri"/>
                <a:cs typeface="Calibri"/>
                <a:sym typeface="Calibri"/>
              </a:rPr>
              <a:t>Queda prohibido su uso y distribución sin la autorización expresa de GEMCO S.A.</a:t>
            </a:r>
            <a:endParaRPr/>
          </a:p>
        </p:txBody>
      </p:sp>
      <p:pic>
        <p:nvPicPr>
          <p:cNvPr id="629" name="Google Shape;629;p55"/>
          <p:cNvPicPr preferRelativeResize="0"/>
          <p:nvPr/>
        </p:nvPicPr>
        <p:blipFill rotWithShape="1">
          <a:blip r:embed="rId3">
            <a:alphaModFix/>
          </a:blip>
          <a:srcRect t="11037"/>
          <a:stretch/>
        </p:blipFill>
        <p:spPr>
          <a:xfrm>
            <a:off x="10209845" y="2472568"/>
            <a:ext cx="1574786" cy="1490748"/>
          </a:xfrm>
          <a:prstGeom prst="rect">
            <a:avLst/>
          </a:prstGeom>
          <a:noFill/>
          <a:ln>
            <a:noFill/>
          </a:ln>
        </p:spPr>
      </p:pic>
      <p:sp>
        <p:nvSpPr>
          <p:cNvPr id="630" name="Google Shape;630;p55"/>
          <p:cNvSpPr/>
          <p:nvPr/>
        </p:nvSpPr>
        <p:spPr>
          <a:xfrm>
            <a:off x="0" y="6634290"/>
            <a:ext cx="12192000" cy="251094"/>
          </a:xfrm>
          <a:prstGeom prst="rect">
            <a:avLst/>
          </a:prstGeom>
          <a:solidFill>
            <a:srgbClr val="0000FF"/>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Arial"/>
              <a:buNone/>
            </a:pPr>
            <a:endParaRPr sz="1800" b="0" i="0" u="none" strike="noStrike" cap="none">
              <a:solidFill>
                <a:srgbClr val="33448D"/>
              </a:solidFill>
              <a:latin typeface="Arial"/>
              <a:ea typeface="Arial"/>
              <a:cs typeface="Arial"/>
              <a:sym typeface="Arial"/>
            </a:endParaRPr>
          </a:p>
        </p:txBody>
      </p:sp>
      <p:pic>
        <p:nvPicPr>
          <p:cNvPr id="631" name="Google Shape;631;p55"/>
          <p:cNvPicPr preferRelativeResize="0"/>
          <p:nvPr/>
        </p:nvPicPr>
        <p:blipFill rotWithShape="1">
          <a:blip r:embed="rId4">
            <a:alphaModFix/>
          </a:blip>
          <a:srcRect/>
          <a:stretch/>
        </p:blipFill>
        <p:spPr>
          <a:xfrm>
            <a:off x="839416" y="2546444"/>
            <a:ext cx="3668216" cy="1145440"/>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88">
          <a:extLst>
            <a:ext uri="{FF2B5EF4-FFF2-40B4-BE49-F238E27FC236}">
              <a16:creationId xmlns:a16="http://schemas.microsoft.com/office/drawing/2014/main" id="{E09B4B21-AFAE-2F87-9403-9732BC8FD60D}"/>
            </a:ext>
          </a:extLst>
        </p:cNvPr>
        <p:cNvGrpSpPr/>
        <p:nvPr/>
      </p:nvGrpSpPr>
      <p:grpSpPr>
        <a:xfrm>
          <a:off x="0" y="0"/>
          <a:ext cx="0" cy="0"/>
          <a:chOff x="0" y="0"/>
          <a:chExt cx="0" cy="0"/>
        </a:xfrm>
      </p:grpSpPr>
      <p:sp>
        <p:nvSpPr>
          <p:cNvPr id="489" name="Google Shape;489;p38">
            <a:extLst>
              <a:ext uri="{FF2B5EF4-FFF2-40B4-BE49-F238E27FC236}">
                <a16:creationId xmlns:a16="http://schemas.microsoft.com/office/drawing/2014/main" id="{9C89433C-9CE3-6CE8-BEEB-E04DFE2A2638}"/>
              </a:ext>
            </a:extLst>
          </p:cNvPr>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dirty="0">
                <a:solidFill>
                  <a:srgbClr val="33448D"/>
                </a:solidFill>
                <a:latin typeface="Roboto"/>
                <a:ea typeface="Roboto"/>
                <a:cs typeface="Roboto"/>
                <a:sym typeface="Roboto"/>
              </a:rPr>
              <a:t>Propuesta</a:t>
            </a:r>
            <a:endParaRPr dirty="0"/>
          </a:p>
        </p:txBody>
      </p:sp>
      <p:sp>
        <p:nvSpPr>
          <p:cNvPr id="3" name="Rectángulo 2">
            <a:extLst>
              <a:ext uri="{FF2B5EF4-FFF2-40B4-BE49-F238E27FC236}">
                <a16:creationId xmlns:a16="http://schemas.microsoft.com/office/drawing/2014/main" id="{7D319B1B-A781-DCC7-CA95-F8915EB147C5}"/>
              </a:ext>
            </a:extLst>
          </p:cNvPr>
          <p:cNvSpPr/>
          <p:nvPr/>
        </p:nvSpPr>
        <p:spPr>
          <a:xfrm>
            <a:off x="471000" y="1314000"/>
            <a:ext cx="4815000" cy="27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Potencial Región Metropolitana</a:t>
            </a:r>
            <a:endParaRPr lang="es-CL" sz="1100" b="1" dirty="0">
              <a:solidFill>
                <a:schemeClr val="tx1"/>
              </a:solidFill>
            </a:endParaRPr>
          </a:p>
        </p:txBody>
      </p:sp>
      <p:sp>
        <p:nvSpPr>
          <p:cNvPr id="5" name="Rectángulo 4">
            <a:extLst>
              <a:ext uri="{FF2B5EF4-FFF2-40B4-BE49-F238E27FC236}">
                <a16:creationId xmlns:a16="http://schemas.microsoft.com/office/drawing/2014/main" id="{5C7600A5-3E04-0EBE-F326-AF1FBD5E430E}"/>
              </a:ext>
            </a:extLst>
          </p:cNvPr>
          <p:cNvSpPr/>
          <p:nvPr/>
        </p:nvSpPr>
        <p:spPr>
          <a:xfrm>
            <a:off x="471000" y="3384000"/>
            <a:ext cx="4816800" cy="270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Región de Valparaíso</a:t>
            </a:r>
            <a:endParaRPr lang="es-CL" sz="1100" b="1" dirty="0">
              <a:solidFill>
                <a:schemeClr val="tx1"/>
              </a:solidFill>
            </a:endParaRPr>
          </a:p>
        </p:txBody>
      </p:sp>
      <p:sp>
        <p:nvSpPr>
          <p:cNvPr id="7" name="Rectángulo 6">
            <a:extLst>
              <a:ext uri="{FF2B5EF4-FFF2-40B4-BE49-F238E27FC236}">
                <a16:creationId xmlns:a16="http://schemas.microsoft.com/office/drawing/2014/main" id="{413B10CD-1511-1737-B231-C29B95F1598D}"/>
              </a:ext>
            </a:extLst>
          </p:cNvPr>
          <p:cNvSpPr/>
          <p:nvPr/>
        </p:nvSpPr>
        <p:spPr>
          <a:xfrm>
            <a:off x="471000" y="909927"/>
            <a:ext cx="1170000" cy="32328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1</a:t>
            </a:r>
            <a:endParaRPr lang="es-CL" sz="800" b="1" dirty="0">
              <a:solidFill>
                <a:schemeClr val="tx1"/>
              </a:solidFill>
            </a:endParaRPr>
          </a:p>
        </p:txBody>
      </p:sp>
      <p:sp>
        <p:nvSpPr>
          <p:cNvPr id="9" name="Rectángulo 8">
            <a:extLst>
              <a:ext uri="{FF2B5EF4-FFF2-40B4-BE49-F238E27FC236}">
                <a16:creationId xmlns:a16="http://schemas.microsoft.com/office/drawing/2014/main" id="{30F675D9-F543-88DD-7751-0A853BB3D42E}"/>
              </a:ext>
            </a:extLst>
          </p:cNvPr>
          <p:cNvSpPr/>
          <p:nvPr/>
        </p:nvSpPr>
        <p:spPr>
          <a:xfrm>
            <a:off x="1686000" y="909927"/>
            <a:ext cx="1170000" cy="323282"/>
          </a:xfrm>
          <a:prstGeom prst="rect">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2</a:t>
            </a:r>
            <a:endParaRPr lang="es-CL" sz="1100" b="1" dirty="0">
              <a:solidFill>
                <a:schemeClr val="tx1"/>
              </a:solidFill>
            </a:endParaRPr>
          </a:p>
        </p:txBody>
      </p:sp>
      <p:sp>
        <p:nvSpPr>
          <p:cNvPr id="11" name="Rectángulo 10">
            <a:extLst>
              <a:ext uri="{FF2B5EF4-FFF2-40B4-BE49-F238E27FC236}">
                <a16:creationId xmlns:a16="http://schemas.microsoft.com/office/drawing/2014/main" id="{6C14E108-8620-B259-4E10-4DACEB74CB1A}"/>
              </a:ext>
            </a:extLst>
          </p:cNvPr>
          <p:cNvSpPr/>
          <p:nvPr/>
        </p:nvSpPr>
        <p:spPr>
          <a:xfrm>
            <a:off x="2895500" y="909000"/>
            <a:ext cx="1310500" cy="323282"/>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1"/>
                </a:solidFill>
              </a:rPr>
              <a:t>Grupo 3</a:t>
            </a:r>
            <a:endParaRPr lang="es-CL" sz="1100" b="1" dirty="0">
              <a:solidFill>
                <a:schemeClr val="tx1"/>
              </a:solidFill>
            </a:endParaRPr>
          </a:p>
        </p:txBody>
      </p:sp>
      <p:sp>
        <p:nvSpPr>
          <p:cNvPr id="13" name="Rectángulo 12">
            <a:extLst>
              <a:ext uri="{FF2B5EF4-FFF2-40B4-BE49-F238E27FC236}">
                <a16:creationId xmlns:a16="http://schemas.microsoft.com/office/drawing/2014/main" id="{A227DE72-DA72-5717-250E-FD8D9244ED83}"/>
              </a:ext>
            </a:extLst>
          </p:cNvPr>
          <p:cNvSpPr/>
          <p:nvPr/>
        </p:nvSpPr>
        <p:spPr>
          <a:xfrm>
            <a:off x="471000" y="1629927"/>
            <a:ext cx="1170000" cy="1665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MM$255,9</a:t>
            </a:r>
          </a:p>
          <a:p>
            <a:pPr marL="171450" indent="-171450">
              <a:buFont typeface="Arial" panose="020B0604020202020204" pitchFamily="34" charset="0"/>
              <a:buChar char="•"/>
            </a:pPr>
            <a:r>
              <a:rPr lang="es-MX" sz="900" dirty="0">
                <a:solidFill>
                  <a:schemeClr val="tx2"/>
                </a:solidFill>
              </a:rPr>
              <a:t># Clientes: 10</a:t>
            </a:r>
          </a:p>
          <a:p>
            <a:pPr marL="171450" indent="-171450">
              <a:buFont typeface="Arial" panose="020B0604020202020204" pitchFamily="34" charset="0"/>
              <a:buChar char="•"/>
            </a:pPr>
            <a:r>
              <a:rPr lang="es-MX" sz="900" dirty="0">
                <a:solidFill>
                  <a:schemeClr val="tx2"/>
                </a:solidFill>
              </a:rPr>
              <a:t>Responsable: Cristián </a:t>
            </a:r>
            <a:r>
              <a:rPr lang="es-MX" sz="900" dirty="0" err="1">
                <a:solidFill>
                  <a:schemeClr val="tx2"/>
                </a:solidFill>
              </a:rPr>
              <a:t>Perez</a:t>
            </a:r>
            <a:endParaRPr lang="es-MX" sz="900" dirty="0">
              <a:solidFill>
                <a:schemeClr val="tx2"/>
              </a:solidFill>
            </a:endParaRPr>
          </a:p>
          <a:p>
            <a:pPr marL="171450" indent="-171450">
              <a:buFont typeface="Arial" panose="020B0604020202020204" pitchFamily="34" charset="0"/>
              <a:buChar char="•"/>
            </a:pPr>
            <a:r>
              <a:rPr lang="es-MX" sz="900" dirty="0">
                <a:solidFill>
                  <a:schemeClr val="tx2"/>
                </a:solidFill>
              </a:rPr>
              <a:t>Fecha de Ejecución: Sept – Oct</a:t>
            </a:r>
          </a:p>
          <a:p>
            <a:pPr marL="171450" indent="-171450">
              <a:buFont typeface="Arial" panose="020B0604020202020204" pitchFamily="34" charset="0"/>
              <a:buChar char="•"/>
            </a:pPr>
            <a:r>
              <a:rPr lang="es-MX" sz="900" dirty="0">
                <a:solidFill>
                  <a:schemeClr val="tx2"/>
                </a:solidFill>
              </a:rPr>
              <a:t>Plan detallado por cada uno </a:t>
            </a:r>
            <a:r>
              <a:rPr lang="es-MX" sz="1600" b="1" dirty="0">
                <a:solidFill>
                  <a:schemeClr val="tx1"/>
                </a:solidFill>
              </a:rPr>
              <a:t>MM$</a:t>
            </a:r>
            <a:endParaRPr lang="es-CL" sz="1050" b="1" dirty="0">
              <a:solidFill>
                <a:schemeClr val="tx1"/>
              </a:solidFill>
            </a:endParaRPr>
          </a:p>
        </p:txBody>
      </p:sp>
      <p:sp>
        <p:nvSpPr>
          <p:cNvPr id="15" name="Rectángulo 14">
            <a:extLst>
              <a:ext uri="{FF2B5EF4-FFF2-40B4-BE49-F238E27FC236}">
                <a16:creationId xmlns:a16="http://schemas.microsoft.com/office/drawing/2014/main" id="{22AD6056-81DB-572D-A826-6FB23C726F7C}"/>
              </a:ext>
            </a:extLst>
          </p:cNvPr>
          <p:cNvSpPr/>
          <p:nvPr/>
        </p:nvSpPr>
        <p:spPr>
          <a:xfrm>
            <a:off x="1686000" y="1629927"/>
            <a:ext cx="1170000" cy="1665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MM$47,8</a:t>
            </a:r>
          </a:p>
          <a:p>
            <a:pPr marL="171450" indent="-171450">
              <a:buFont typeface="Arial" panose="020B0604020202020204" pitchFamily="34" charset="0"/>
              <a:buChar char="•"/>
            </a:pPr>
            <a:r>
              <a:rPr lang="es-MX" sz="900" dirty="0">
                <a:solidFill>
                  <a:schemeClr val="tx2"/>
                </a:solidFill>
              </a:rPr>
              <a:t># Clientes: 15</a:t>
            </a:r>
          </a:p>
          <a:p>
            <a:pPr marL="171450" indent="-171450">
              <a:buFont typeface="Arial" panose="020B0604020202020204" pitchFamily="34" charset="0"/>
              <a:buChar char="•"/>
            </a:pPr>
            <a:r>
              <a:rPr lang="es-MX" sz="900" dirty="0">
                <a:solidFill>
                  <a:schemeClr val="tx2"/>
                </a:solidFill>
              </a:rPr>
              <a:t>Responsable: KAM 1 – Alexis Flores</a:t>
            </a:r>
          </a:p>
          <a:p>
            <a:pPr marL="171450" indent="-171450">
              <a:buFont typeface="Arial" panose="020B0604020202020204" pitchFamily="34" charset="0"/>
              <a:buChar char="•"/>
            </a:pPr>
            <a:r>
              <a:rPr lang="es-MX" sz="900" dirty="0">
                <a:solidFill>
                  <a:schemeClr val="tx2"/>
                </a:solidFill>
              </a:rPr>
              <a:t>Fecha de Ejecución: Sept – Oct</a:t>
            </a:r>
          </a:p>
          <a:p>
            <a:pPr marL="171450" indent="-171450">
              <a:buFont typeface="Arial" panose="020B0604020202020204" pitchFamily="34" charset="0"/>
              <a:buChar char="•"/>
            </a:pPr>
            <a:r>
              <a:rPr lang="es-MX" sz="900" dirty="0">
                <a:solidFill>
                  <a:schemeClr val="tx2"/>
                </a:solidFill>
              </a:rPr>
              <a:t>Plan detallado por cada uno</a:t>
            </a:r>
            <a:r>
              <a:rPr lang="es-MX" sz="900" b="1" dirty="0">
                <a:solidFill>
                  <a:schemeClr val="tx1"/>
                </a:solidFill>
              </a:rPr>
              <a:t> 2</a:t>
            </a:r>
            <a:endParaRPr lang="es-CL" sz="900" b="1" dirty="0">
              <a:solidFill>
                <a:schemeClr val="tx1"/>
              </a:solidFill>
            </a:endParaRPr>
          </a:p>
        </p:txBody>
      </p:sp>
      <p:sp>
        <p:nvSpPr>
          <p:cNvPr id="17" name="Rectángulo 16">
            <a:extLst>
              <a:ext uri="{FF2B5EF4-FFF2-40B4-BE49-F238E27FC236}">
                <a16:creationId xmlns:a16="http://schemas.microsoft.com/office/drawing/2014/main" id="{46DAFAF9-3F86-8916-7A90-053CB7D2A59A}"/>
              </a:ext>
            </a:extLst>
          </p:cNvPr>
          <p:cNvSpPr/>
          <p:nvPr/>
        </p:nvSpPr>
        <p:spPr>
          <a:xfrm>
            <a:off x="2895500" y="1629000"/>
            <a:ext cx="1310500" cy="1665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MM$484,1</a:t>
            </a:r>
          </a:p>
          <a:p>
            <a:pPr marL="171450" indent="-171450">
              <a:buFont typeface="Arial" panose="020B0604020202020204" pitchFamily="34" charset="0"/>
              <a:buChar char="•"/>
            </a:pPr>
            <a:r>
              <a:rPr lang="es-MX" sz="900" dirty="0">
                <a:solidFill>
                  <a:schemeClr val="tx2"/>
                </a:solidFill>
              </a:rPr>
              <a:t># Clientes: 245</a:t>
            </a:r>
          </a:p>
          <a:p>
            <a:pPr marL="171450" indent="-171450">
              <a:buFont typeface="Arial" panose="020B0604020202020204" pitchFamily="34" charset="0"/>
              <a:buChar char="•"/>
            </a:pPr>
            <a:r>
              <a:rPr lang="es-MX" sz="900" dirty="0">
                <a:solidFill>
                  <a:schemeClr val="tx2"/>
                </a:solidFill>
              </a:rPr>
              <a:t>Responsable: KAM 1-2</a:t>
            </a:r>
          </a:p>
          <a:p>
            <a:pPr marL="171450" indent="-171450">
              <a:buFont typeface="Arial" panose="020B0604020202020204" pitchFamily="34" charset="0"/>
              <a:buChar char="•"/>
            </a:pPr>
            <a:r>
              <a:rPr lang="es-MX" sz="900" dirty="0">
                <a:solidFill>
                  <a:schemeClr val="tx2"/>
                </a:solidFill>
              </a:rPr>
              <a:t>Fecha de Ejecución: Oct - Noviembre</a:t>
            </a:r>
          </a:p>
          <a:p>
            <a:pPr marL="171450" indent="-171450">
              <a:buFont typeface="Arial" panose="020B0604020202020204" pitchFamily="34" charset="0"/>
              <a:buChar char="•"/>
            </a:pPr>
            <a:r>
              <a:rPr lang="es-MX" sz="900" dirty="0">
                <a:solidFill>
                  <a:schemeClr val="tx2"/>
                </a:solidFill>
              </a:rPr>
              <a:t>Procesos de Prospección</a:t>
            </a:r>
            <a:r>
              <a:rPr lang="es-MX" sz="1600" b="1" dirty="0">
                <a:solidFill>
                  <a:schemeClr val="tx1"/>
                </a:solidFill>
              </a:rPr>
              <a:t>2</a:t>
            </a:r>
            <a:endParaRPr lang="es-CL" sz="1600" b="1" dirty="0">
              <a:solidFill>
                <a:schemeClr val="tx1"/>
              </a:solidFill>
            </a:endParaRPr>
          </a:p>
        </p:txBody>
      </p:sp>
      <p:sp>
        <p:nvSpPr>
          <p:cNvPr id="25" name="Rectángulo 24">
            <a:extLst>
              <a:ext uri="{FF2B5EF4-FFF2-40B4-BE49-F238E27FC236}">
                <a16:creationId xmlns:a16="http://schemas.microsoft.com/office/drawing/2014/main" id="{AD284749-6DB9-3697-1F8D-8102A17D62F9}"/>
              </a:ext>
            </a:extLst>
          </p:cNvPr>
          <p:cNvSpPr/>
          <p:nvPr/>
        </p:nvSpPr>
        <p:spPr>
          <a:xfrm>
            <a:off x="471000" y="3743999"/>
            <a:ext cx="1170000" cy="1980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MM$83,4</a:t>
            </a:r>
          </a:p>
          <a:p>
            <a:pPr marL="171450" indent="-171450">
              <a:buFont typeface="Arial" panose="020B0604020202020204" pitchFamily="34" charset="0"/>
              <a:buChar char="•"/>
            </a:pPr>
            <a:r>
              <a:rPr lang="es-MX" sz="900" dirty="0">
                <a:solidFill>
                  <a:schemeClr val="tx2"/>
                </a:solidFill>
              </a:rPr>
              <a:t># Clientes: 10</a:t>
            </a:r>
          </a:p>
          <a:p>
            <a:pPr marL="171450" indent="-171450">
              <a:buFont typeface="Arial" panose="020B0604020202020204" pitchFamily="34" charset="0"/>
              <a:buChar char="•"/>
            </a:pPr>
            <a:r>
              <a:rPr lang="es-MX" sz="900" dirty="0">
                <a:solidFill>
                  <a:schemeClr val="tx2"/>
                </a:solidFill>
              </a:rPr>
              <a:t>Responsable: </a:t>
            </a:r>
            <a:r>
              <a:rPr lang="es-MX" sz="900" dirty="0" err="1">
                <a:solidFill>
                  <a:schemeClr val="tx2"/>
                </a:solidFill>
              </a:rPr>
              <a:t>Eglys</a:t>
            </a:r>
            <a:r>
              <a:rPr lang="es-MX" sz="900" dirty="0">
                <a:solidFill>
                  <a:schemeClr val="tx2"/>
                </a:solidFill>
              </a:rPr>
              <a:t> Ramírez</a:t>
            </a:r>
          </a:p>
          <a:p>
            <a:pPr marL="171450" indent="-171450">
              <a:buFont typeface="Arial" panose="020B0604020202020204" pitchFamily="34" charset="0"/>
              <a:buChar char="•"/>
            </a:pPr>
            <a:r>
              <a:rPr lang="es-MX" sz="900" dirty="0">
                <a:solidFill>
                  <a:schemeClr val="tx2"/>
                </a:solidFill>
              </a:rPr>
              <a:t>Fecha de Ejecución: Sept – Oct</a:t>
            </a:r>
          </a:p>
          <a:p>
            <a:pPr marL="171450" indent="-171450">
              <a:buFont typeface="Arial" panose="020B0604020202020204" pitchFamily="34" charset="0"/>
              <a:buChar char="•"/>
            </a:pPr>
            <a:r>
              <a:rPr lang="es-MX" sz="900" dirty="0">
                <a:solidFill>
                  <a:schemeClr val="tx2"/>
                </a:solidFill>
              </a:rPr>
              <a:t>Plan detallado por cada uno </a:t>
            </a:r>
            <a:r>
              <a:rPr lang="es-MX" sz="1600" b="1" dirty="0">
                <a:solidFill>
                  <a:schemeClr val="tx1"/>
                </a:solidFill>
              </a:rPr>
              <a:t>MM$</a:t>
            </a:r>
            <a:endParaRPr lang="es-CL" sz="1050" b="1" dirty="0">
              <a:solidFill>
                <a:schemeClr val="tx1"/>
              </a:solidFill>
            </a:endParaRPr>
          </a:p>
        </p:txBody>
      </p:sp>
      <p:sp>
        <p:nvSpPr>
          <p:cNvPr id="27" name="Rectángulo 26">
            <a:extLst>
              <a:ext uri="{FF2B5EF4-FFF2-40B4-BE49-F238E27FC236}">
                <a16:creationId xmlns:a16="http://schemas.microsoft.com/office/drawing/2014/main" id="{5B65E494-5D32-5179-F68E-8CDC32CC36A5}"/>
              </a:ext>
            </a:extLst>
          </p:cNvPr>
          <p:cNvSpPr/>
          <p:nvPr/>
        </p:nvSpPr>
        <p:spPr>
          <a:xfrm>
            <a:off x="1686000" y="3743999"/>
            <a:ext cx="1170000" cy="1980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MM$31,9</a:t>
            </a:r>
          </a:p>
          <a:p>
            <a:pPr marL="171450" indent="-171450">
              <a:buFont typeface="Arial" panose="020B0604020202020204" pitchFamily="34" charset="0"/>
              <a:buChar char="•"/>
            </a:pPr>
            <a:r>
              <a:rPr lang="es-MX" sz="900" dirty="0">
                <a:solidFill>
                  <a:schemeClr val="tx2"/>
                </a:solidFill>
              </a:rPr>
              <a:t># Clientes: 15</a:t>
            </a:r>
          </a:p>
          <a:p>
            <a:pPr marL="171450" indent="-171450">
              <a:buFont typeface="Arial" panose="020B0604020202020204" pitchFamily="34" charset="0"/>
              <a:buChar char="•"/>
            </a:pPr>
            <a:r>
              <a:rPr lang="es-MX" sz="900" dirty="0">
                <a:solidFill>
                  <a:schemeClr val="tx2"/>
                </a:solidFill>
              </a:rPr>
              <a:t>Responsable: KAM 2 – Alexis Flores</a:t>
            </a:r>
          </a:p>
          <a:p>
            <a:pPr marL="171450" indent="-171450">
              <a:buFont typeface="Arial" panose="020B0604020202020204" pitchFamily="34" charset="0"/>
              <a:buChar char="•"/>
            </a:pPr>
            <a:r>
              <a:rPr lang="es-MX" sz="900" dirty="0">
                <a:solidFill>
                  <a:schemeClr val="tx2"/>
                </a:solidFill>
              </a:rPr>
              <a:t>Fecha de Ejecución: Sept – Oct</a:t>
            </a:r>
          </a:p>
          <a:p>
            <a:pPr marL="171450" indent="-171450">
              <a:buFont typeface="Arial" panose="020B0604020202020204" pitchFamily="34" charset="0"/>
              <a:buChar char="•"/>
            </a:pPr>
            <a:r>
              <a:rPr lang="es-MX" sz="900" dirty="0">
                <a:solidFill>
                  <a:schemeClr val="tx2"/>
                </a:solidFill>
              </a:rPr>
              <a:t>Plan detallado por cada uno</a:t>
            </a:r>
            <a:r>
              <a:rPr lang="es-MX" sz="900" b="1" dirty="0">
                <a:solidFill>
                  <a:schemeClr val="tx1"/>
                </a:solidFill>
              </a:rPr>
              <a:t> 2</a:t>
            </a:r>
            <a:endParaRPr lang="es-CL" sz="900" b="1" dirty="0">
              <a:solidFill>
                <a:schemeClr val="tx1"/>
              </a:solidFill>
            </a:endParaRPr>
          </a:p>
        </p:txBody>
      </p:sp>
      <p:sp>
        <p:nvSpPr>
          <p:cNvPr id="29" name="Rectángulo 28">
            <a:extLst>
              <a:ext uri="{FF2B5EF4-FFF2-40B4-BE49-F238E27FC236}">
                <a16:creationId xmlns:a16="http://schemas.microsoft.com/office/drawing/2014/main" id="{03667DE7-8627-3F85-175A-8A104C47BC96}"/>
              </a:ext>
            </a:extLst>
          </p:cNvPr>
          <p:cNvSpPr/>
          <p:nvPr/>
        </p:nvSpPr>
        <p:spPr>
          <a:xfrm>
            <a:off x="2895500" y="3743072"/>
            <a:ext cx="1310500" cy="1980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MM$69,6</a:t>
            </a:r>
          </a:p>
          <a:p>
            <a:pPr marL="171450" indent="-171450">
              <a:buFont typeface="Arial" panose="020B0604020202020204" pitchFamily="34" charset="0"/>
              <a:buChar char="•"/>
            </a:pPr>
            <a:r>
              <a:rPr lang="es-MX" sz="900" dirty="0">
                <a:solidFill>
                  <a:schemeClr val="tx2"/>
                </a:solidFill>
              </a:rPr>
              <a:t># Clientes: 40</a:t>
            </a:r>
          </a:p>
          <a:p>
            <a:pPr marL="171450" indent="-171450">
              <a:buFont typeface="Arial" panose="020B0604020202020204" pitchFamily="34" charset="0"/>
              <a:buChar char="•"/>
            </a:pPr>
            <a:r>
              <a:rPr lang="es-MX" sz="900" dirty="0">
                <a:solidFill>
                  <a:schemeClr val="tx2"/>
                </a:solidFill>
              </a:rPr>
              <a:t>Responsable: KAM 2</a:t>
            </a:r>
          </a:p>
          <a:p>
            <a:pPr marL="171450" indent="-171450">
              <a:buFont typeface="Arial" panose="020B0604020202020204" pitchFamily="34" charset="0"/>
              <a:buChar char="•"/>
            </a:pPr>
            <a:r>
              <a:rPr lang="es-MX" sz="900" dirty="0">
                <a:solidFill>
                  <a:schemeClr val="tx2"/>
                </a:solidFill>
              </a:rPr>
              <a:t>Fecha de Ejecución: Oct - Noviembre</a:t>
            </a:r>
          </a:p>
          <a:p>
            <a:pPr marL="171450" indent="-171450">
              <a:buFont typeface="Arial" panose="020B0604020202020204" pitchFamily="34" charset="0"/>
              <a:buChar char="•"/>
            </a:pPr>
            <a:r>
              <a:rPr lang="es-MX" sz="900" dirty="0">
                <a:solidFill>
                  <a:schemeClr val="tx2"/>
                </a:solidFill>
              </a:rPr>
              <a:t>Procesos de Prospección</a:t>
            </a:r>
            <a:r>
              <a:rPr lang="es-MX" sz="1600" b="1" dirty="0">
                <a:solidFill>
                  <a:schemeClr val="tx1"/>
                </a:solidFill>
              </a:rPr>
              <a:t>2</a:t>
            </a:r>
            <a:endParaRPr lang="es-CL" sz="1600" b="1" dirty="0">
              <a:solidFill>
                <a:schemeClr val="tx1"/>
              </a:solidFill>
            </a:endParaRPr>
          </a:p>
        </p:txBody>
      </p:sp>
      <p:sp>
        <p:nvSpPr>
          <p:cNvPr id="31" name="Rectángulo 30">
            <a:extLst>
              <a:ext uri="{FF2B5EF4-FFF2-40B4-BE49-F238E27FC236}">
                <a16:creationId xmlns:a16="http://schemas.microsoft.com/office/drawing/2014/main" id="{65D5F4BE-3DE9-479E-56D8-5148BBEBF8E3}"/>
              </a:ext>
            </a:extLst>
          </p:cNvPr>
          <p:cNvSpPr/>
          <p:nvPr/>
        </p:nvSpPr>
        <p:spPr>
          <a:xfrm>
            <a:off x="6108700" y="1470956"/>
            <a:ext cx="1546401" cy="190951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En 121 Clientes se concentra el 80% del Potencial de la Región Metropolitana (MM$634,5)</a:t>
            </a:r>
            <a:endParaRPr lang="es-CL" sz="1600" dirty="0">
              <a:solidFill>
                <a:schemeClr val="tx1"/>
              </a:solidFill>
            </a:endParaRPr>
          </a:p>
        </p:txBody>
      </p:sp>
      <p:sp>
        <p:nvSpPr>
          <p:cNvPr id="33" name="Triángulo isósceles 32">
            <a:extLst>
              <a:ext uri="{FF2B5EF4-FFF2-40B4-BE49-F238E27FC236}">
                <a16:creationId xmlns:a16="http://schemas.microsoft.com/office/drawing/2014/main" id="{ED54F256-508E-AFF5-BC74-F2115D5083FC}"/>
              </a:ext>
            </a:extLst>
          </p:cNvPr>
          <p:cNvSpPr/>
          <p:nvPr/>
        </p:nvSpPr>
        <p:spPr>
          <a:xfrm rot="5400000">
            <a:off x="4903500" y="2326501"/>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35" name="Rectángulo 34">
            <a:extLst>
              <a:ext uri="{FF2B5EF4-FFF2-40B4-BE49-F238E27FC236}">
                <a16:creationId xmlns:a16="http://schemas.microsoft.com/office/drawing/2014/main" id="{78D244A5-3572-CE36-750F-C3441AD99F31}"/>
              </a:ext>
            </a:extLst>
          </p:cNvPr>
          <p:cNvSpPr/>
          <p:nvPr/>
        </p:nvSpPr>
        <p:spPr>
          <a:xfrm>
            <a:off x="6132801" y="3846742"/>
            <a:ext cx="1546401" cy="17872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Mientras que Valparaíso en 35 clientes se concentra el 80% de potencial (MM$150,2)</a:t>
            </a:r>
            <a:endParaRPr lang="es-CL" sz="1600" dirty="0">
              <a:solidFill>
                <a:schemeClr val="tx1"/>
              </a:solidFill>
            </a:endParaRPr>
          </a:p>
        </p:txBody>
      </p:sp>
      <p:sp>
        <p:nvSpPr>
          <p:cNvPr id="37" name="Triángulo isósceles 36">
            <a:extLst>
              <a:ext uri="{FF2B5EF4-FFF2-40B4-BE49-F238E27FC236}">
                <a16:creationId xmlns:a16="http://schemas.microsoft.com/office/drawing/2014/main" id="{ABD6CB9F-F59D-B011-D6DB-3E84483AAC46}"/>
              </a:ext>
            </a:extLst>
          </p:cNvPr>
          <p:cNvSpPr/>
          <p:nvPr/>
        </p:nvSpPr>
        <p:spPr>
          <a:xfrm rot="5400000">
            <a:off x="4903500" y="4598072"/>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45" name="Triángulo isósceles 44">
            <a:extLst>
              <a:ext uri="{FF2B5EF4-FFF2-40B4-BE49-F238E27FC236}">
                <a16:creationId xmlns:a16="http://schemas.microsoft.com/office/drawing/2014/main" id="{8E8E6C9D-D3D4-4787-D84D-66A76E037395}"/>
              </a:ext>
            </a:extLst>
          </p:cNvPr>
          <p:cNvSpPr/>
          <p:nvPr/>
        </p:nvSpPr>
        <p:spPr>
          <a:xfrm rot="5400000">
            <a:off x="7108503" y="3384000"/>
            <a:ext cx="1665000" cy="270000"/>
          </a:xfrm>
          <a:prstGeom prst="triangle">
            <a:avLst/>
          </a:prstGeom>
          <a:solidFill>
            <a:schemeClr val="tx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51" name="Rectángulo 50">
            <a:extLst>
              <a:ext uri="{FF2B5EF4-FFF2-40B4-BE49-F238E27FC236}">
                <a16:creationId xmlns:a16="http://schemas.microsoft.com/office/drawing/2014/main" id="{6DA4D865-9D42-907F-08BA-A5672B255BDA}"/>
              </a:ext>
            </a:extLst>
          </p:cNvPr>
          <p:cNvSpPr/>
          <p:nvPr/>
        </p:nvSpPr>
        <p:spPr>
          <a:xfrm>
            <a:off x="8251300" y="1449000"/>
            <a:ext cx="3781501" cy="4185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lvl="1" indent="-171450">
              <a:buFont typeface="Arial" panose="020B0604020202020204" pitchFamily="34" charset="0"/>
              <a:buChar char="•"/>
            </a:pPr>
            <a:r>
              <a:rPr lang="es-MX" sz="900" dirty="0">
                <a:solidFill>
                  <a:schemeClr val="tx2"/>
                </a:solidFill>
              </a:rPr>
              <a:t>El Grupo 1 ya se encuentra abordado en ambas regiones por Cristian </a:t>
            </a:r>
            <a:r>
              <a:rPr lang="es-MX" sz="900" dirty="0" err="1">
                <a:solidFill>
                  <a:schemeClr val="tx2"/>
                </a:solidFill>
              </a:rPr>
              <a:t>Perez</a:t>
            </a:r>
            <a:r>
              <a:rPr lang="es-MX" sz="900" dirty="0">
                <a:solidFill>
                  <a:schemeClr val="tx2"/>
                </a:solidFill>
              </a:rPr>
              <a:t> y </a:t>
            </a:r>
            <a:r>
              <a:rPr lang="es-MX" sz="900" dirty="0" err="1">
                <a:solidFill>
                  <a:schemeClr val="tx2"/>
                </a:solidFill>
              </a:rPr>
              <a:t>Eglys</a:t>
            </a:r>
            <a:r>
              <a:rPr lang="es-MX" sz="900" dirty="0">
                <a:solidFill>
                  <a:schemeClr val="tx2"/>
                </a:solidFill>
              </a:rPr>
              <a:t> </a:t>
            </a:r>
            <a:r>
              <a:rPr lang="es-MX" sz="900" dirty="0" err="1">
                <a:solidFill>
                  <a:schemeClr val="tx2"/>
                </a:solidFill>
              </a:rPr>
              <a:t>Ramirez</a:t>
            </a:r>
            <a:r>
              <a:rPr lang="es-MX" sz="900" dirty="0">
                <a:solidFill>
                  <a:schemeClr val="tx2"/>
                </a:solidFill>
              </a:rPr>
              <a:t>  20 Clientes – MM$339,3 (34%)</a:t>
            </a:r>
          </a:p>
          <a:p>
            <a:pPr marL="171450" lvl="1" indent="-171450">
              <a:buFont typeface="Arial" panose="020B0604020202020204" pitchFamily="34" charset="0"/>
              <a:buChar char="•"/>
            </a:pPr>
            <a:r>
              <a:rPr lang="es-MX" sz="900" dirty="0">
                <a:solidFill>
                  <a:schemeClr val="tx2"/>
                </a:solidFill>
              </a:rPr>
              <a:t>Mientras que para los Grupos 2, se abarquen con un </a:t>
            </a:r>
            <a:r>
              <a:rPr lang="es-MX" sz="900" b="1" dirty="0">
                <a:solidFill>
                  <a:schemeClr val="tx2"/>
                </a:solidFill>
              </a:rPr>
              <a:t>KAM perfil técnico (30 clientes)</a:t>
            </a:r>
            <a:r>
              <a:rPr lang="es-MX" sz="900" dirty="0">
                <a:solidFill>
                  <a:schemeClr val="tx2"/>
                </a:solidFill>
              </a:rPr>
              <a:t> junto con Apoyo el Alexis Flores</a:t>
            </a:r>
          </a:p>
          <a:p>
            <a:pPr marL="171450" lvl="1" indent="-171450">
              <a:buFont typeface="Arial" panose="020B0604020202020204" pitchFamily="34" charset="0"/>
              <a:buChar char="•"/>
            </a:pPr>
            <a:r>
              <a:rPr lang="es-MX" sz="900" b="1" dirty="0">
                <a:solidFill>
                  <a:schemeClr val="tx2"/>
                </a:solidFill>
              </a:rPr>
              <a:t>Y ese KAM también abarque los 60 clientes más prioritarios del Grupo 3 entre las dos regiones de tal manera que la Cartera sea cubierta en un plazo de 2 meses</a:t>
            </a:r>
          </a:p>
          <a:p>
            <a:pPr marL="171450" lvl="1" indent="-171450">
              <a:buFont typeface="Arial" panose="020B0604020202020204" pitchFamily="34" charset="0"/>
              <a:buChar char="•"/>
            </a:pPr>
            <a:r>
              <a:rPr lang="es-MX" sz="900" b="1" dirty="0">
                <a:solidFill>
                  <a:schemeClr val="tx2"/>
                </a:solidFill>
              </a:rPr>
              <a:t>Con esto, considerando solo una persona adicional se cubre el 70% del Potencial en las Regiones Metropolitana y Valparaíso</a:t>
            </a:r>
          </a:p>
          <a:p>
            <a:pPr marL="171450" lvl="1" indent="-171450">
              <a:buFont typeface="Arial" panose="020B0604020202020204" pitchFamily="34" charset="0"/>
              <a:buChar char="•"/>
            </a:pPr>
            <a:endParaRPr lang="es-MX" sz="900" b="1" dirty="0">
              <a:solidFill>
                <a:schemeClr val="tx2"/>
              </a:solidFill>
            </a:endParaRPr>
          </a:p>
          <a:p>
            <a:pPr marL="171450" lvl="1" indent="-171450">
              <a:buFont typeface="Arial" panose="020B0604020202020204" pitchFamily="34" charset="0"/>
              <a:buChar char="•"/>
            </a:pPr>
            <a:r>
              <a:rPr lang="es-MX" sz="900" b="1" dirty="0">
                <a:solidFill>
                  <a:schemeClr val="tx2"/>
                </a:solidFill>
              </a:rPr>
              <a:t>En una segunda etapa, pasado este periodo de prospección existirán dos caminos: Contratación de un técnico para dar ejecución a los contratos conseguidos o un nuevo KAM para aumentar la prospección</a:t>
            </a:r>
          </a:p>
          <a:p>
            <a:pPr marL="171450" lvl="1" indent="-171450">
              <a:buFont typeface="Arial" panose="020B0604020202020204" pitchFamily="34" charset="0"/>
              <a:buChar char="•"/>
            </a:pPr>
            <a:endParaRPr lang="es-MX" sz="900" b="1" dirty="0">
              <a:solidFill>
                <a:schemeClr val="tx2"/>
              </a:solidFill>
            </a:endParaRPr>
          </a:p>
          <a:p>
            <a:pPr marL="171450" lvl="1" indent="-171450">
              <a:buFont typeface="Arial" panose="020B0604020202020204" pitchFamily="34" charset="0"/>
              <a:buChar char="•"/>
            </a:pPr>
            <a:r>
              <a:rPr lang="es-MX" sz="900" b="1" dirty="0" err="1">
                <a:solidFill>
                  <a:schemeClr val="tx2"/>
                </a:solidFill>
              </a:rPr>
              <a:t>Margenes</a:t>
            </a:r>
            <a:r>
              <a:rPr lang="es-MX" sz="900" b="1" dirty="0">
                <a:solidFill>
                  <a:schemeClr val="tx2"/>
                </a:solidFill>
              </a:rPr>
              <a:t> y potenciales están sujetos al levantamiento que realizará cada KAM en cada cliente</a:t>
            </a:r>
          </a:p>
          <a:p>
            <a:pPr marL="171450" lvl="1" indent="-171450">
              <a:buFont typeface="Arial" panose="020B0604020202020204" pitchFamily="34" charset="0"/>
              <a:buChar char="•"/>
            </a:pPr>
            <a:endParaRPr lang="es-MX" sz="900" b="1" dirty="0">
              <a:solidFill>
                <a:schemeClr val="tx2"/>
              </a:solidFill>
            </a:endParaRPr>
          </a:p>
          <a:p>
            <a:pPr marL="171450" lvl="1" indent="-171450">
              <a:buFont typeface="Arial" panose="020B0604020202020204" pitchFamily="34" charset="0"/>
              <a:buChar char="•"/>
            </a:pPr>
            <a:r>
              <a:rPr lang="es-MX" sz="900" b="1" dirty="0">
                <a:solidFill>
                  <a:schemeClr val="tx2"/>
                </a:solidFill>
              </a:rPr>
              <a:t>El KAM se pagará logrando un 10% de los Clientes </a:t>
            </a:r>
            <a:r>
              <a:rPr lang="es-MX" sz="900" b="1" dirty="0" err="1">
                <a:solidFill>
                  <a:schemeClr val="tx2"/>
                </a:solidFill>
              </a:rPr>
              <a:t>Potneciales</a:t>
            </a:r>
            <a:r>
              <a:rPr lang="es-MX" sz="900" b="1" dirty="0">
                <a:solidFill>
                  <a:schemeClr val="tx2"/>
                </a:solidFill>
              </a:rPr>
              <a:t> </a:t>
            </a:r>
            <a:r>
              <a:rPr lang="es-MX" sz="900" b="1" dirty="0" err="1">
                <a:solidFill>
                  <a:schemeClr val="tx2"/>
                </a:solidFill>
              </a:rPr>
              <a:t>estimdos</a:t>
            </a:r>
            <a:endParaRPr lang="es-MX" sz="900" b="1" dirty="0">
              <a:solidFill>
                <a:schemeClr val="tx2"/>
              </a:solidFill>
            </a:endParaRPr>
          </a:p>
        </p:txBody>
      </p:sp>
      <p:sp>
        <p:nvSpPr>
          <p:cNvPr id="53" name="Rectángulo 52">
            <a:extLst>
              <a:ext uri="{FF2B5EF4-FFF2-40B4-BE49-F238E27FC236}">
                <a16:creationId xmlns:a16="http://schemas.microsoft.com/office/drawing/2014/main" id="{30336DB1-29D3-C367-88E3-A79857E6CC3F}"/>
              </a:ext>
            </a:extLst>
          </p:cNvPr>
          <p:cNvSpPr/>
          <p:nvPr/>
        </p:nvSpPr>
        <p:spPr>
          <a:xfrm>
            <a:off x="4341000" y="909000"/>
            <a:ext cx="945000" cy="32328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MX" sz="1100" b="1" dirty="0">
                <a:solidFill>
                  <a:schemeClr val="tx2"/>
                </a:solidFill>
              </a:rPr>
              <a:t>Total</a:t>
            </a:r>
            <a:endParaRPr lang="es-CL" sz="1100" b="1" dirty="0">
              <a:solidFill>
                <a:schemeClr val="tx2"/>
              </a:solidFill>
            </a:endParaRPr>
          </a:p>
        </p:txBody>
      </p:sp>
      <p:sp>
        <p:nvSpPr>
          <p:cNvPr id="55" name="Rectángulo 54">
            <a:extLst>
              <a:ext uri="{FF2B5EF4-FFF2-40B4-BE49-F238E27FC236}">
                <a16:creationId xmlns:a16="http://schemas.microsoft.com/office/drawing/2014/main" id="{31313765-CF83-B6B2-1BD9-843D1297242D}"/>
              </a:ext>
            </a:extLst>
          </p:cNvPr>
          <p:cNvSpPr/>
          <p:nvPr/>
        </p:nvSpPr>
        <p:spPr>
          <a:xfrm>
            <a:off x="4356901" y="1628999"/>
            <a:ext cx="945999" cy="1665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MM$ 787,8</a:t>
            </a:r>
          </a:p>
          <a:p>
            <a:pPr marL="171450" indent="-171450">
              <a:buFont typeface="Arial" panose="020B0604020202020204" pitchFamily="34" charset="0"/>
              <a:buChar char="•"/>
            </a:pPr>
            <a:r>
              <a:rPr lang="es-MX" sz="900" b="1" dirty="0">
                <a:solidFill>
                  <a:schemeClr val="tx2"/>
                </a:solidFill>
              </a:rPr>
              <a:t>270 Clientes</a:t>
            </a:r>
            <a:endParaRPr lang="es-CL" sz="1600" b="1" dirty="0">
              <a:solidFill>
                <a:schemeClr val="tx1"/>
              </a:solidFill>
            </a:endParaRPr>
          </a:p>
        </p:txBody>
      </p:sp>
      <p:sp>
        <p:nvSpPr>
          <p:cNvPr id="57" name="Rectángulo 56">
            <a:extLst>
              <a:ext uri="{FF2B5EF4-FFF2-40B4-BE49-F238E27FC236}">
                <a16:creationId xmlns:a16="http://schemas.microsoft.com/office/drawing/2014/main" id="{FD3042F6-DF4F-BB10-96EE-C6E34C53E24F}"/>
              </a:ext>
            </a:extLst>
          </p:cNvPr>
          <p:cNvSpPr/>
          <p:nvPr/>
        </p:nvSpPr>
        <p:spPr>
          <a:xfrm>
            <a:off x="4341000" y="3743072"/>
            <a:ext cx="945999" cy="19800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dirty="0">
                <a:solidFill>
                  <a:schemeClr val="tx2"/>
                </a:solidFill>
              </a:rPr>
              <a:t>Potencial: MM$184,9</a:t>
            </a:r>
          </a:p>
          <a:p>
            <a:pPr marL="171450" indent="-171450">
              <a:buFont typeface="Arial" panose="020B0604020202020204" pitchFamily="34" charset="0"/>
              <a:buChar char="•"/>
            </a:pPr>
            <a:r>
              <a:rPr lang="es-MX" sz="900" b="1" dirty="0">
                <a:solidFill>
                  <a:schemeClr val="tx2"/>
                </a:solidFill>
              </a:rPr>
              <a:t>65 Clientes</a:t>
            </a:r>
            <a:endParaRPr lang="es-CL" sz="1600" b="1" dirty="0">
              <a:solidFill>
                <a:schemeClr val="tx1"/>
              </a:solidFill>
            </a:endParaRPr>
          </a:p>
        </p:txBody>
      </p:sp>
      <p:sp>
        <p:nvSpPr>
          <p:cNvPr id="59" name="Rectángulo 58">
            <a:extLst>
              <a:ext uri="{FF2B5EF4-FFF2-40B4-BE49-F238E27FC236}">
                <a16:creationId xmlns:a16="http://schemas.microsoft.com/office/drawing/2014/main" id="{E9B290C5-F2C2-85BC-6FB2-75288F55C4D6}"/>
              </a:ext>
            </a:extLst>
          </p:cNvPr>
          <p:cNvSpPr/>
          <p:nvPr/>
        </p:nvSpPr>
        <p:spPr>
          <a:xfrm>
            <a:off x="448500" y="5813999"/>
            <a:ext cx="1170000" cy="51750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b="1" dirty="0">
                <a:solidFill>
                  <a:schemeClr val="tx2"/>
                </a:solidFill>
              </a:rPr>
              <a:t>Pot: MM$339,3</a:t>
            </a:r>
          </a:p>
          <a:p>
            <a:pPr marL="171450" indent="-171450">
              <a:buFont typeface="Arial" panose="020B0604020202020204" pitchFamily="34" charset="0"/>
              <a:buChar char="•"/>
            </a:pPr>
            <a:r>
              <a:rPr lang="es-MX" sz="900" b="1" dirty="0">
                <a:solidFill>
                  <a:schemeClr val="tx2"/>
                </a:solidFill>
              </a:rPr>
              <a:t>20Clientes</a:t>
            </a:r>
            <a:r>
              <a:rPr lang="es-MX" sz="1600" b="1" dirty="0">
                <a:solidFill>
                  <a:schemeClr val="tx1"/>
                </a:solidFill>
              </a:rPr>
              <a:t>M</a:t>
            </a:r>
            <a:endParaRPr lang="es-CL" sz="1050" b="1" dirty="0">
              <a:solidFill>
                <a:schemeClr val="tx1"/>
              </a:solidFill>
            </a:endParaRPr>
          </a:p>
        </p:txBody>
      </p:sp>
      <p:sp>
        <p:nvSpPr>
          <p:cNvPr id="61" name="Rectángulo 60">
            <a:extLst>
              <a:ext uri="{FF2B5EF4-FFF2-40B4-BE49-F238E27FC236}">
                <a16:creationId xmlns:a16="http://schemas.microsoft.com/office/drawing/2014/main" id="{0958BC26-FD08-8CDF-71E9-8AD8152864FD}"/>
              </a:ext>
            </a:extLst>
          </p:cNvPr>
          <p:cNvSpPr/>
          <p:nvPr/>
        </p:nvSpPr>
        <p:spPr>
          <a:xfrm>
            <a:off x="1686000" y="5813999"/>
            <a:ext cx="1170000" cy="51750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b="1" dirty="0">
                <a:solidFill>
                  <a:schemeClr val="tx2"/>
                </a:solidFill>
              </a:rPr>
              <a:t>Pot: MM$79,19</a:t>
            </a:r>
          </a:p>
          <a:p>
            <a:pPr marL="171450" indent="-171450">
              <a:buFont typeface="Arial" panose="020B0604020202020204" pitchFamily="34" charset="0"/>
              <a:buChar char="•"/>
            </a:pPr>
            <a:r>
              <a:rPr lang="es-MX" sz="900" b="1" dirty="0">
                <a:solidFill>
                  <a:schemeClr val="tx2"/>
                </a:solidFill>
              </a:rPr>
              <a:t>30 </a:t>
            </a:r>
            <a:r>
              <a:rPr lang="es-MX" sz="900" b="1" dirty="0" err="1">
                <a:solidFill>
                  <a:schemeClr val="tx2"/>
                </a:solidFill>
              </a:rPr>
              <a:t>Clientes</a:t>
            </a:r>
            <a:r>
              <a:rPr lang="es-MX" sz="1600" b="1" dirty="0" err="1">
                <a:solidFill>
                  <a:schemeClr val="tx1"/>
                </a:solidFill>
              </a:rPr>
              <a:t>M</a:t>
            </a:r>
            <a:endParaRPr lang="es-CL" sz="1050" b="1" dirty="0">
              <a:solidFill>
                <a:schemeClr val="tx1"/>
              </a:solidFill>
            </a:endParaRPr>
          </a:p>
        </p:txBody>
      </p:sp>
      <p:sp>
        <p:nvSpPr>
          <p:cNvPr id="63" name="Rectángulo 62">
            <a:extLst>
              <a:ext uri="{FF2B5EF4-FFF2-40B4-BE49-F238E27FC236}">
                <a16:creationId xmlns:a16="http://schemas.microsoft.com/office/drawing/2014/main" id="{6F593A8E-08D4-C04E-7A91-2985F1EAF4C9}"/>
              </a:ext>
            </a:extLst>
          </p:cNvPr>
          <p:cNvSpPr/>
          <p:nvPr/>
        </p:nvSpPr>
        <p:spPr>
          <a:xfrm>
            <a:off x="2895500" y="5809810"/>
            <a:ext cx="1310500" cy="51750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900" b="1" dirty="0">
                <a:solidFill>
                  <a:schemeClr val="tx2"/>
                </a:solidFill>
              </a:rPr>
              <a:t>Pot: MM$553,7</a:t>
            </a:r>
          </a:p>
          <a:p>
            <a:pPr marL="171450" indent="-171450">
              <a:buFont typeface="Arial" panose="020B0604020202020204" pitchFamily="34" charset="0"/>
              <a:buChar char="•"/>
            </a:pPr>
            <a:r>
              <a:rPr lang="es-MX" sz="900" b="1" dirty="0">
                <a:solidFill>
                  <a:schemeClr val="tx2"/>
                </a:solidFill>
              </a:rPr>
              <a:t>285Clientes</a:t>
            </a:r>
            <a:endParaRPr lang="es-CL" sz="900" b="1" dirty="0">
              <a:solidFill>
                <a:schemeClr val="tx2"/>
              </a:solidFill>
            </a:endParaRPr>
          </a:p>
        </p:txBody>
      </p:sp>
      <p:sp>
        <p:nvSpPr>
          <p:cNvPr id="449" name="Rectángulo 448">
            <a:extLst>
              <a:ext uri="{FF2B5EF4-FFF2-40B4-BE49-F238E27FC236}">
                <a16:creationId xmlns:a16="http://schemas.microsoft.com/office/drawing/2014/main" id="{01287FEA-2769-9B74-619D-76E2746C5AA3}"/>
              </a:ext>
            </a:extLst>
          </p:cNvPr>
          <p:cNvSpPr/>
          <p:nvPr/>
        </p:nvSpPr>
        <p:spPr>
          <a:xfrm>
            <a:off x="4341000" y="5809810"/>
            <a:ext cx="961900" cy="51750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71450" indent="-171450">
              <a:buFont typeface="Arial" panose="020B0604020202020204" pitchFamily="34" charset="0"/>
              <a:buChar char="•"/>
            </a:pPr>
            <a:r>
              <a:rPr lang="es-MX" sz="800" b="1" dirty="0">
                <a:solidFill>
                  <a:schemeClr val="tx2"/>
                </a:solidFill>
              </a:rPr>
              <a:t>Pot: MM$972,7</a:t>
            </a:r>
          </a:p>
          <a:p>
            <a:pPr marL="171450" indent="-171450">
              <a:buFont typeface="Arial" panose="020B0604020202020204" pitchFamily="34" charset="0"/>
              <a:buChar char="•"/>
            </a:pPr>
            <a:r>
              <a:rPr lang="es-MX" sz="800" b="1" dirty="0">
                <a:solidFill>
                  <a:schemeClr val="tx2"/>
                </a:solidFill>
              </a:rPr>
              <a:t>335 Clientes</a:t>
            </a:r>
            <a:endParaRPr lang="es-CL" sz="800" b="1" dirty="0">
              <a:solidFill>
                <a:schemeClr val="tx2"/>
              </a:solidFill>
            </a:endParaRPr>
          </a:p>
        </p:txBody>
      </p:sp>
    </p:spTree>
    <p:extLst>
      <p:ext uri="{BB962C8B-B14F-4D97-AF65-F5344CB8AC3E}">
        <p14:creationId xmlns:p14="http://schemas.microsoft.com/office/powerpoint/2010/main" val="203891170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sp>
        <p:nvSpPr>
          <p:cNvPr id="489" name="Google Shape;489;p38"/>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Carta Gantt</a:t>
            </a:r>
            <a:endParaRPr/>
          </a:p>
        </p:txBody>
      </p:sp>
      <p:graphicFrame>
        <p:nvGraphicFramePr>
          <p:cNvPr id="490" name="Google Shape;490;p38"/>
          <p:cNvGraphicFramePr/>
          <p:nvPr>
            <p:extLst>
              <p:ext uri="{D42A27DB-BD31-4B8C-83A1-F6EECF244321}">
                <p14:modId xmlns:p14="http://schemas.microsoft.com/office/powerpoint/2010/main" val="1472118051"/>
              </p:ext>
            </p:extLst>
          </p:nvPr>
        </p:nvGraphicFramePr>
        <p:xfrm>
          <a:off x="620923" y="938703"/>
          <a:ext cx="9666100" cy="5211405"/>
        </p:xfrm>
        <a:graphic>
          <a:graphicData uri="http://schemas.openxmlformats.org/drawingml/2006/table">
            <a:tbl>
              <a:tblPr>
                <a:noFill/>
                <a:tableStyleId>{13D43741-7D58-4360-86AC-F6E32FA5FF39}</a:tableStyleId>
              </a:tblPr>
              <a:tblGrid>
                <a:gridCol w="473075">
                  <a:extLst>
                    <a:ext uri="{9D8B030D-6E8A-4147-A177-3AD203B41FA5}">
                      <a16:colId xmlns:a16="http://schemas.microsoft.com/office/drawing/2014/main" val="20000"/>
                    </a:ext>
                  </a:extLst>
                </a:gridCol>
                <a:gridCol w="1342500">
                  <a:extLst>
                    <a:ext uri="{9D8B030D-6E8A-4147-A177-3AD203B41FA5}">
                      <a16:colId xmlns:a16="http://schemas.microsoft.com/office/drawing/2014/main" val="20001"/>
                    </a:ext>
                  </a:extLst>
                </a:gridCol>
                <a:gridCol w="537000">
                  <a:extLst>
                    <a:ext uri="{9D8B030D-6E8A-4147-A177-3AD203B41FA5}">
                      <a16:colId xmlns:a16="http://schemas.microsoft.com/office/drawing/2014/main" val="20002"/>
                    </a:ext>
                  </a:extLst>
                </a:gridCol>
                <a:gridCol w="537000">
                  <a:extLst>
                    <a:ext uri="{9D8B030D-6E8A-4147-A177-3AD203B41FA5}">
                      <a16:colId xmlns:a16="http://schemas.microsoft.com/office/drawing/2014/main" val="20003"/>
                    </a:ext>
                  </a:extLst>
                </a:gridCol>
                <a:gridCol w="2416525">
                  <a:extLst>
                    <a:ext uri="{9D8B030D-6E8A-4147-A177-3AD203B41FA5}">
                      <a16:colId xmlns:a16="http://schemas.microsoft.com/office/drawing/2014/main" val="20004"/>
                    </a:ext>
                  </a:extLst>
                </a:gridCol>
                <a:gridCol w="843875">
                  <a:extLst>
                    <a:ext uri="{9D8B030D-6E8A-4147-A177-3AD203B41FA5}">
                      <a16:colId xmlns:a16="http://schemas.microsoft.com/office/drawing/2014/main" val="20005"/>
                    </a:ext>
                  </a:extLst>
                </a:gridCol>
                <a:gridCol w="703225">
                  <a:extLst>
                    <a:ext uri="{9D8B030D-6E8A-4147-A177-3AD203B41FA5}">
                      <a16:colId xmlns:a16="http://schemas.microsoft.com/office/drawing/2014/main" val="20006"/>
                    </a:ext>
                  </a:extLst>
                </a:gridCol>
                <a:gridCol w="703225">
                  <a:extLst>
                    <a:ext uri="{9D8B030D-6E8A-4147-A177-3AD203B41FA5}">
                      <a16:colId xmlns:a16="http://schemas.microsoft.com/office/drawing/2014/main" val="20007"/>
                    </a:ext>
                  </a:extLst>
                </a:gridCol>
                <a:gridCol w="703225">
                  <a:extLst>
                    <a:ext uri="{9D8B030D-6E8A-4147-A177-3AD203B41FA5}">
                      <a16:colId xmlns:a16="http://schemas.microsoft.com/office/drawing/2014/main" val="20008"/>
                    </a:ext>
                  </a:extLst>
                </a:gridCol>
                <a:gridCol w="703225">
                  <a:extLst>
                    <a:ext uri="{9D8B030D-6E8A-4147-A177-3AD203B41FA5}">
                      <a16:colId xmlns:a16="http://schemas.microsoft.com/office/drawing/2014/main" val="20009"/>
                    </a:ext>
                  </a:extLst>
                </a:gridCol>
                <a:gridCol w="703225">
                  <a:extLst>
                    <a:ext uri="{9D8B030D-6E8A-4147-A177-3AD203B41FA5}">
                      <a16:colId xmlns:a16="http://schemas.microsoft.com/office/drawing/2014/main" val="20010"/>
                    </a:ext>
                  </a:extLst>
                </a:gridCol>
              </a:tblGrid>
              <a:tr h="255175">
                <a:tc gridSpan="5">
                  <a:txBody>
                    <a:bodyPr/>
                    <a:lstStyle/>
                    <a:p>
                      <a:pPr marL="0" marR="0" lvl="0" indent="0" algn="l" rtl="0">
                        <a:spcBef>
                          <a:spcPts val="0"/>
                        </a:spcBef>
                        <a:spcAft>
                          <a:spcPts val="0"/>
                        </a:spcAft>
                        <a:buClr>
                          <a:srgbClr val="FFFFFF"/>
                        </a:buClr>
                        <a:buSzPts val="700"/>
                        <a:buFont typeface="Roboto"/>
                        <a:buNone/>
                      </a:pPr>
                      <a:r>
                        <a:rPr lang="es-CL" sz="900" b="1" i="0" u="none" strike="noStrike" cap="none">
                          <a:solidFill>
                            <a:srgbClr val="FFFFFF"/>
                          </a:solidFill>
                          <a:latin typeface="Roboto"/>
                          <a:ea typeface="Roboto"/>
                          <a:cs typeface="Roboto"/>
                          <a:sym typeface="Roboto"/>
                        </a:rPr>
                        <a:t>CARTA GANTT — PLAN TEMPORAL DE VISITAS TECSERVICE (SEP 2026 – FEB 2027)</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hMerge="1">
                  <a:txBody>
                    <a:bodyPr/>
                    <a:lstStyle/>
                    <a:p>
                      <a:endParaRPr lang="es-CL"/>
                    </a:p>
                  </a:txBody>
                  <a:tcPr/>
                </a:tc>
                <a:tc hMerge="1">
                  <a:txBody>
                    <a:bodyPr/>
                    <a:lstStyle/>
                    <a:p>
                      <a:endParaRPr lang="es-CL"/>
                    </a:p>
                  </a:txBody>
                  <a:tcPr/>
                </a:tc>
                <a:tc hMerge="1">
                  <a:txBody>
                    <a:bodyPr/>
                    <a:lstStyle/>
                    <a:p>
                      <a:endParaRPr lang="es-CL"/>
                    </a:p>
                  </a:txBody>
                  <a:tcPr/>
                </a:tc>
                <a:tc hMerge="1">
                  <a:txBody>
                    <a:bodyPr/>
                    <a:lstStyle/>
                    <a:p>
                      <a:endParaRPr lang="es-CL"/>
                    </a:p>
                  </a:txBody>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solidFill>
                      <a:srgbClr val="000000"/>
                    </a:solidFill>
                  </a:tcPr>
                </a:tc>
                <a:extLst>
                  <a:ext uri="{0D108BD9-81ED-4DB2-BD59-A6C34878D82A}">
                    <a16:rowId xmlns:a16="http://schemas.microsoft.com/office/drawing/2014/main" val="10000"/>
                  </a:ext>
                </a:extLst>
              </a:tr>
              <a:tr h="150075">
                <a:tc>
                  <a:txBody>
                    <a:bodyPr/>
                    <a:lstStyle/>
                    <a:p>
                      <a:pPr marL="0" marR="0" lvl="0" indent="0" algn="l" rtl="0">
                        <a:spcBef>
                          <a:spcPts val="0"/>
                        </a:spcBef>
                        <a:spcAft>
                          <a:spcPts val="0"/>
                        </a:spcAft>
                        <a:buClr>
                          <a:srgbClr val="FFFFFF"/>
                        </a:buClr>
                        <a:buSzPts val="500"/>
                        <a:buFont typeface="Roboto"/>
                        <a:buNone/>
                      </a:pPr>
                      <a:r>
                        <a:rPr lang="es-CL" sz="700" b="0" i="1"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l" rtl="0">
                        <a:spcBef>
                          <a:spcPts val="0"/>
                        </a:spcBef>
                        <a:spcAft>
                          <a:spcPts val="0"/>
                        </a:spcAft>
                        <a:buClr>
                          <a:srgbClr val="FFFFFF"/>
                        </a:buClr>
                        <a:buSzPts val="800"/>
                        <a:buFont typeface="Roboto"/>
                        <a:buNone/>
                      </a:pPr>
                      <a:r>
                        <a:rPr lang="es-CL" sz="1000" b="0" i="0" u="none" strike="noStrike" cap="none">
                          <a:solidFill>
                            <a:srgbClr val="FFFFFF"/>
                          </a:solidFill>
                          <a:latin typeface="Roboto"/>
                          <a:ea typeface="Roboto"/>
                          <a:cs typeface="Roboto"/>
                          <a:sym typeface="Roboto"/>
                        </a:rPr>
                        <a:t> </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extLst>
                  <a:ext uri="{0D108BD9-81ED-4DB2-BD59-A6C34878D82A}">
                    <a16:rowId xmlns:a16="http://schemas.microsoft.com/office/drawing/2014/main" val="10001"/>
                  </a:ext>
                </a:extLst>
              </a:tr>
              <a:tr h="341275">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Prior.</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Región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Eq.</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lgn="ctr">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Pot.</a:t>
                      </a:r>
                      <a:br>
                        <a:rPr lang="es-CL" sz="800" b="1" i="0" u="none" strike="noStrike" cap="none">
                          <a:solidFill>
                            <a:srgbClr val="FFFFFF"/>
                          </a:solidFill>
                          <a:latin typeface="Roboto"/>
                          <a:ea typeface="Roboto"/>
                          <a:cs typeface="Roboto"/>
                          <a:sym typeface="Roboto"/>
                        </a:rPr>
                      </a:br>
                      <a:r>
                        <a:rPr lang="es-CL" sz="800" b="1" i="0" u="none" strike="noStrike" cap="none">
                          <a:solidFill>
                            <a:srgbClr val="FFFFFF"/>
                          </a:solidFill>
                          <a:latin typeface="Roboto"/>
                          <a:ea typeface="Roboto"/>
                          <a:cs typeface="Roboto"/>
                          <a:sym typeface="Roboto"/>
                        </a:rPr>
                        <a:t>MM$</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lgn="ctr">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Acciones Clave</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Sep 2026</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Oct 2026</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Nov 2026</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Dic 2026</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Ene 2027</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Feb 2027</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0000"/>
                    </a:solidFill>
                  </a:tcPr>
                </a:tc>
                <a:extLst>
                  <a:ext uri="{0D108BD9-81ED-4DB2-BD59-A6C34878D82A}">
                    <a16:rowId xmlns:a16="http://schemas.microsoft.com/office/drawing/2014/main" val="10002"/>
                  </a:ext>
                </a:extLst>
              </a:tr>
              <a:tr h="213700">
                <a:tc>
                  <a:txBody>
                    <a:bodyPr/>
                    <a:lstStyle/>
                    <a:p>
                      <a:pPr marL="0" marR="0" lvl="0" indent="0" algn="ctr" rtl="0">
                        <a:spcBef>
                          <a:spcPts val="0"/>
                        </a:spcBef>
                        <a:spcAft>
                          <a:spcPts val="0"/>
                        </a:spcAft>
                        <a:buClr>
                          <a:srgbClr val="FFFFFF"/>
                        </a:buClr>
                        <a:buSzPts val="600"/>
                        <a:buFont typeface="Roboto"/>
                        <a:buNone/>
                      </a:pPr>
                      <a:r>
                        <a:rPr lang="es-CL" sz="800" b="1" i="0" u="none" strike="noStrike" cap="none">
                          <a:solidFill>
                            <a:srgbClr val="FFFFFF"/>
                          </a:solidFill>
                          <a:latin typeface="Roboto"/>
                          <a:ea typeface="Roboto"/>
                          <a:cs typeface="Roboto"/>
                          <a:sym typeface="Roboto"/>
                        </a:rPr>
                        <a:t>1</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C00000"/>
                    </a:solidFill>
                  </a:tcPr>
                </a:tc>
                <a:tc>
                  <a:txBody>
                    <a:bodyPr/>
                    <a:lstStyle/>
                    <a:p>
                      <a:pPr marL="0" marR="0" lvl="0" indent="0" algn="l" rtl="0">
                        <a:spcBef>
                          <a:spcPts val="0"/>
                        </a:spcBef>
                        <a:spcAft>
                          <a:spcPts val="0"/>
                        </a:spcAft>
                        <a:buClr>
                          <a:srgbClr val="1F1F1F"/>
                        </a:buClr>
                        <a:buSzPts val="600"/>
                        <a:buFont typeface="Roboto"/>
                        <a:buNone/>
                      </a:pPr>
                      <a:r>
                        <a:rPr lang="es-CL" sz="800" b="1" i="0" u="none" strike="noStrike" cap="none" dirty="0">
                          <a:solidFill>
                            <a:srgbClr val="1F1F1F"/>
                          </a:solidFill>
                          <a:latin typeface="Roboto"/>
                          <a:ea typeface="Roboto"/>
                          <a:cs typeface="Roboto"/>
                          <a:sym typeface="Roboto"/>
                        </a:rPr>
                        <a:t>Metropolitana</a:t>
                      </a:r>
                      <a:endParaRPr sz="1800" dirty="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CE4D6"/>
                    </a:solidFill>
                  </a:tcPr>
                </a:tc>
                <a:tc>
                  <a:txBody>
                    <a:bodyPr/>
                    <a:lstStyle/>
                    <a:p>
                      <a:pPr algn="ctr" fontAlgn="ctr">
                        <a:buNone/>
                      </a:pPr>
                      <a:r>
                        <a:rPr lang="es-CL" sz="1000" b="1" i="0" u="none" strike="noStrike" dirty="0">
                          <a:solidFill>
                            <a:srgbClr val="1F1F1F"/>
                          </a:solidFill>
                          <a:effectLst/>
                          <a:latin typeface="Roboto" panose="02000000000000000000" pitchFamily="2" charset="0"/>
                        </a:rPr>
                        <a:t>215</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CE4D6"/>
                    </a:solidFill>
                  </a:tcPr>
                </a:tc>
                <a:tc>
                  <a:txBody>
                    <a:bodyPr/>
                    <a:lstStyle/>
                    <a:p>
                      <a:pPr algn="ctr" fontAlgn="ctr">
                        <a:buNone/>
                      </a:pPr>
                      <a:r>
                        <a:rPr lang="es-CL" sz="1000" b="1" i="0" u="none" strike="noStrike">
                          <a:solidFill>
                            <a:srgbClr val="1F1F1F"/>
                          </a:solidFill>
                          <a:effectLst/>
                          <a:latin typeface="Roboto" panose="02000000000000000000" pitchFamily="2" charset="0"/>
                        </a:rPr>
                        <a:t>259,3</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CE4D6"/>
                    </a:solidFill>
                  </a:tcPr>
                </a:tc>
                <a:tc>
                  <a:txBody>
                    <a:bodyPr/>
                    <a:lstStyle/>
                    <a:p>
                      <a:pPr marL="0" marR="0" lvl="0" indent="0" algn="l" rtl="0">
                        <a:spcBef>
                          <a:spcPts val="0"/>
                        </a:spcBef>
                        <a:spcAft>
                          <a:spcPts val="0"/>
                        </a:spcAft>
                        <a:buClr>
                          <a:srgbClr val="1F1F1F"/>
                        </a:buClr>
                        <a:buSzPts val="500"/>
                        <a:buFont typeface="Roboto"/>
                        <a:buNone/>
                      </a:pPr>
                      <a:r>
                        <a:rPr lang="es-CL" sz="700" b="1" i="0" u="none" strike="noStrike" cap="none">
                          <a:solidFill>
                            <a:srgbClr val="1F1F1F"/>
                          </a:solidFill>
                          <a:latin typeface="Roboto"/>
                          <a:ea typeface="Roboto"/>
                          <a:cs typeface="Roboto"/>
                          <a:sym typeface="Roboto"/>
                        </a:rPr>
                        <a:t>Reunión / Visita gerencial · Levantamiento técnico · Auditoría</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CE4D6"/>
                    </a:solidFill>
                  </a:tcPr>
                </a:tc>
                <a:tc>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EN EJECUCIÓN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gridSpan="3">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SEGUIMIENTO</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2E5D9F"/>
                    </a:solidFill>
                  </a:tcPr>
                </a:tc>
                <a:tc hMerge="1">
                  <a:txBody>
                    <a:bodyPr/>
                    <a:lstStyle/>
                    <a:p>
                      <a:endParaRPr lang="es-CL"/>
                    </a:p>
                  </a:txBody>
                  <a:tcPr/>
                </a:tc>
                <a:tc hMerge="1">
                  <a:txBody>
                    <a:bodyPr/>
                    <a:lstStyle/>
                    <a:p>
                      <a:endParaRPr lang="es-CL"/>
                    </a:p>
                  </a:txBody>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03"/>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2</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Bío Bío</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ctr" fontAlgn="ctr">
                        <a:buNone/>
                      </a:pPr>
                      <a:r>
                        <a:rPr lang="es-CL" sz="1000" b="0" i="0" u="none" strike="noStrike">
                          <a:solidFill>
                            <a:srgbClr val="1F1F1F"/>
                          </a:solidFill>
                          <a:effectLst/>
                          <a:latin typeface="Roboto" panose="02000000000000000000" pitchFamily="2" charset="0"/>
                        </a:rPr>
                        <a:t>79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ctr" fontAlgn="ctr">
                        <a:buNone/>
                      </a:pPr>
                      <a:r>
                        <a:rPr lang="es-CL" sz="1000" b="0" i="0" u="none" strike="noStrike">
                          <a:solidFill>
                            <a:srgbClr val="1F1F1F"/>
                          </a:solidFill>
                          <a:effectLst/>
                          <a:latin typeface="Roboto" panose="02000000000000000000" pitchFamily="2" charset="0"/>
                        </a:rPr>
                        <a:t>125,4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Contrato prevent…</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EN EJECUCIÓN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3</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Araucanía</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ctr" fontAlgn="ctr">
                        <a:buNone/>
                      </a:pPr>
                      <a:r>
                        <a:rPr lang="es-CL" sz="1000" b="0" i="0" u="none" strike="noStrike">
                          <a:solidFill>
                            <a:srgbClr val="1F1F1F"/>
                          </a:solidFill>
                          <a:effectLst/>
                          <a:latin typeface="Roboto" panose="02000000000000000000" pitchFamily="2" charset="0"/>
                        </a:rPr>
                        <a:t>80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ctr" fontAlgn="ctr">
                        <a:buNone/>
                      </a:pPr>
                      <a:r>
                        <a:rPr lang="es-CL" sz="1000" b="0" i="0" u="none" strike="noStrike">
                          <a:solidFill>
                            <a:srgbClr val="1F1F1F"/>
                          </a:solidFill>
                          <a:effectLst/>
                          <a:latin typeface="Roboto" panose="02000000000000000000" pitchFamily="2" charset="0"/>
                        </a:rPr>
                        <a:t>123,7</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Contrato preventivo · Convenio insti…</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EN EJECUCIÓN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05"/>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4</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Los Lagos</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ctr" fontAlgn="ctr">
                        <a:buNone/>
                      </a:pPr>
                      <a:r>
                        <a:rPr lang="es-CL" sz="1000" b="0" i="0" u="none" strike="noStrike">
                          <a:solidFill>
                            <a:srgbClr val="1F1F1F"/>
                          </a:solidFill>
                          <a:effectLst/>
                          <a:latin typeface="Roboto" panose="02000000000000000000" pitchFamily="2" charset="0"/>
                        </a:rPr>
                        <a:t>29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ctr" fontAlgn="ctr">
                        <a:buNone/>
                      </a:pPr>
                      <a:r>
                        <a:rPr lang="es-CL" sz="1000" b="0" i="0" u="none" strike="noStrike">
                          <a:solidFill>
                            <a:srgbClr val="1F1F1F"/>
                          </a:solidFill>
                          <a:effectLst/>
                          <a:latin typeface="Roboto" panose="02000000000000000000" pitchFamily="2" charset="0"/>
                        </a:rPr>
                        <a:t>48,1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Reunión / Visita gerencial · Contrato preventivo · Programa …</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EN EJECUCIÓN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6</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Maule</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ctr" fontAlgn="ctr">
                        <a:buNone/>
                      </a:pPr>
                      <a:r>
                        <a:rPr lang="es-CL" sz="1000" b="0" i="0" u="none" strike="noStrike">
                          <a:solidFill>
                            <a:srgbClr val="1F1F1F"/>
                          </a:solidFill>
                          <a:effectLst/>
                          <a:latin typeface="Roboto" panose="02000000000000000000" pitchFamily="2" charset="0"/>
                        </a:rPr>
                        <a:t>49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ctr" fontAlgn="ctr">
                        <a:buNone/>
                      </a:pPr>
                      <a:r>
                        <a:rPr lang="es-CL" sz="1000" b="0" i="0" u="none" strike="noStrike">
                          <a:solidFill>
                            <a:srgbClr val="1F1F1F"/>
                          </a:solidFill>
                          <a:effectLst/>
                          <a:latin typeface="Roboto" panose="02000000000000000000" pitchFamily="2" charset="0"/>
                        </a:rPr>
                        <a:t>64,9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Contrato prevent…</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EN EJECUCIÓN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07"/>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12</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Ñuble</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ctr" fontAlgn="ctr">
                        <a:buNone/>
                      </a:pPr>
                      <a:r>
                        <a:rPr lang="es-CL" sz="1000" b="0" i="0" u="none" strike="noStrike">
                          <a:solidFill>
                            <a:srgbClr val="1F1F1F"/>
                          </a:solidFill>
                          <a:effectLst/>
                          <a:latin typeface="Roboto" panose="02000000000000000000" pitchFamily="2" charset="0"/>
                        </a:rPr>
                        <a:t>25</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ctr" fontAlgn="ctr">
                        <a:buNone/>
                      </a:pPr>
                      <a:r>
                        <a:rPr lang="es-CL" sz="1000" b="0" i="0" u="none" strike="noStrike">
                          <a:solidFill>
                            <a:srgbClr val="1F1F1F"/>
                          </a:solidFill>
                          <a:effectLst/>
                          <a:latin typeface="Roboto" panose="02000000000000000000" pitchFamily="2" charset="0"/>
                        </a:rPr>
                        <a:t>35,3</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Contrato prevent…</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EN EJECUCIÓN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13</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Los Ríos</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ctr" fontAlgn="ctr">
                        <a:buNone/>
                      </a:pPr>
                      <a:r>
                        <a:rPr lang="es-CL" sz="1000" b="0" i="0" u="none" strike="noStrike">
                          <a:solidFill>
                            <a:srgbClr val="1F1F1F"/>
                          </a:solidFill>
                          <a:effectLst/>
                          <a:latin typeface="Roboto" panose="02000000000000000000" pitchFamily="2" charset="0"/>
                        </a:rPr>
                        <a:t>15</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ctr" fontAlgn="ctr">
                        <a:buNone/>
                      </a:pPr>
                      <a:r>
                        <a:rPr lang="es-CL" sz="1000" b="0" i="0" u="none" strike="noStrike">
                          <a:solidFill>
                            <a:srgbClr val="1F1F1F"/>
                          </a:solidFill>
                          <a:effectLst/>
                          <a:latin typeface="Roboto" panose="02000000000000000000" pitchFamily="2" charset="0"/>
                        </a:rPr>
                        <a:t>26,4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Auditoría técnica · Convenio institucional · Programa preven…</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EN EJECUCIÓN</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 </a:t>
                      </a:r>
                      <a:endParaRPr sz="1800"/>
                    </a:p>
                  </a:txBody>
                  <a:tcPr marL="6850" marR="6850" marT="6850" marB="0" anchor="ctr">
                    <a:lnL w="9525" cap="flat" cmpd="sng">
                      <a:solidFill>
                        <a:srgbClr val="000000">
                          <a:alpha val="0"/>
                        </a:srgbClr>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6B3C"/>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09"/>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5</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Valparaíso</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ctr" fontAlgn="ctr">
                        <a:buNone/>
                      </a:pPr>
                      <a:r>
                        <a:rPr lang="es-CL" sz="1000" b="0" i="0" u="none" strike="noStrike">
                          <a:solidFill>
                            <a:srgbClr val="1F1F1F"/>
                          </a:solidFill>
                          <a:effectLst/>
                          <a:latin typeface="Roboto" panose="02000000000000000000" pitchFamily="2" charset="0"/>
                        </a:rPr>
                        <a:t>50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ctr" fontAlgn="ctr">
                        <a:buNone/>
                      </a:pPr>
                      <a:r>
                        <a:rPr lang="es-CL" sz="1000" b="0" i="0" u="none" strike="noStrike">
                          <a:solidFill>
                            <a:srgbClr val="1F1F1F"/>
                          </a:solidFill>
                          <a:effectLst/>
                          <a:latin typeface="Roboto" panose="02000000000000000000" pitchFamily="2" charset="0"/>
                        </a:rPr>
                        <a:t>77</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Contrato prevent…</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gridSpan="3">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CAMPAÑA</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7030A0"/>
                    </a:solidFill>
                  </a:tcPr>
                </a:tc>
                <a:tc hMerge="1">
                  <a:txBody>
                    <a:bodyPr/>
                    <a:lstStyle/>
                    <a:p>
                      <a:endParaRPr lang="es-CL"/>
                    </a:p>
                  </a:txBody>
                  <a:tcPr/>
                </a:tc>
                <a:tc hMerge="1">
                  <a:txBody>
                    <a:bodyPr/>
                    <a:lstStyle/>
                    <a:p>
                      <a:endParaRPr lang="es-CL"/>
                    </a:p>
                  </a:txBody>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10</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Magallanes</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ctr" fontAlgn="ctr">
                        <a:buNone/>
                      </a:pPr>
                      <a:r>
                        <a:rPr lang="es-CL" sz="1000" b="0" i="0" u="none" strike="noStrike">
                          <a:solidFill>
                            <a:srgbClr val="1F1F1F"/>
                          </a:solidFill>
                          <a:effectLst/>
                          <a:latin typeface="Roboto" panose="02000000000000000000" pitchFamily="2" charset="0"/>
                        </a:rPr>
                        <a:t>28</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ctr" fontAlgn="ctr">
                        <a:buNone/>
                      </a:pPr>
                      <a:r>
                        <a:rPr lang="es-CL" sz="1000" b="0" i="0" u="none" strike="noStrike">
                          <a:solidFill>
                            <a:srgbClr val="1F1F1F"/>
                          </a:solidFill>
                          <a:effectLst/>
                          <a:latin typeface="Roboto" panose="02000000000000000000" pitchFamily="2" charset="0"/>
                        </a:rPr>
                        <a:t>40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Convenio institu…</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rowSpan="2" gridSpan="3">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TÉC. SUR</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00B0F0"/>
                    </a:solidFill>
                  </a:tcPr>
                </a:tc>
                <a:tc rowSpan="2" hMerge="1">
                  <a:txBody>
                    <a:bodyPr/>
                    <a:lstStyle/>
                    <a:p>
                      <a:endParaRPr lang="es-CL"/>
                    </a:p>
                  </a:txBody>
                  <a:tcPr/>
                </a:tc>
                <a:tc rowSpan="2" hMerge="1">
                  <a:txBody>
                    <a:bodyPr/>
                    <a:lstStyle/>
                    <a:p>
                      <a:endParaRPr lang="es-CL"/>
                    </a:p>
                  </a:txBody>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11"/>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16</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Aysén</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ctr" fontAlgn="ctr">
                        <a:buNone/>
                      </a:pPr>
                      <a:r>
                        <a:rPr lang="es-CL" sz="1000" b="0" i="0" u="none" strike="noStrike">
                          <a:solidFill>
                            <a:srgbClr val="1F1F1F"/>
                          </a:solidFill>
                          <a:effectLst/>
                          <a:latin typeface="Roboto" panose="02000000000000000000" pitchFamily="2" charset="0"/>
                        </a:rPr>
                        <a:t>11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ctr" fontAlgn="ctr">
                        <a:buNone/>
                      </a:pPr>
                      <a:r>
                        <a:rPr lang="es-CL" sz="1000" b="0" i="0" u="none" strike="noStrike">
                          <a:solidFill>
                            <a:srgbClr val="1F1F1F"/>
                          </a:solidFill>
                          <a:effectLst/>
                          <a:latin typeface="Roboto" panose="02000000000000000000" pitchFamily="2" charset="0"/>
                        </a:rPr>
                        <a:t>14,2</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Programa preventivo · Evaluación de renovación</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gridSpan="3" vMerge="1">
                  <a:txBody>
                    <a:bodyPr/>
                    <a:lstStyle/>
                    <a:p>
                      <a:endParaRPr lang="es-CL"/>
                    </a:p>
                  </a:txBody>
                  <a:tcPr/>
                </a:tc>
                <a:tc hMerge="1" vMerge="1">
                  <a:txBody>
                    <a:bodyPr/>
                    <a:lstStyle/>
                    <a:p>
                      <a:endParaRPr lang="es-CL"/>
                    </a:p>
                  </a:txBody>
                  <a:tcPr/>
                </a:tc>
                <a:tc hMerge="1" vMerge="1">
                  <a:txBody>
                    <a:bodyPr/>
                    <a:lstStyle/>
                    <a:p>
                      <a:endParaRPr lang="es-CL"/>
                    </a:p>
                  </a:txBody>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7</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O'Higgins</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ctr" fontAlgn="ctr">
                        <a:buNone/>
                      </a:pPr>
                      <a:r>
                        <a:rPr lang="es-CL" sz="1000" b="0" i="0" u="none" strike="noStrike">
                          <a:solidFill>
                            <a:srgbClr val="1F1F1F"/>
                          </a:solidFill>
                          <a:effectLst/>
                          <a:latin typeface="Roboto" panose="02000000000000000000" pitchFamily="2" charset="0"/>
                        </a:rPr>
                        <a:t>47</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ctr" fontAlgn="ctr">
                        <a:buNone/>
                      </a:pPr>
                      <a:r>
                        <a:rPr lang="es-CL" sz="1000" b="0" i="0" u="none" strike="noStrike">
                          <a:solidFill>
                            <a:srgbClr val="1F1F1F"/>
                          </a:solidFill>
                          <a:effectLst/>
                          <a:latin typeface="Roboto" panose="02000000000000000000" pitchFamily="2" charset="0"/>
                        </a:rPr>
                        <a:t>46,8</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Convenio institu…</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gridSpan="2">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CAMPAÑA</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7030A0"/>
                    </a:solidFill>
                  </a:tcPr>
                </a:tc>
                <a:tc hMerge="1">
                  <a:txBody>
                    <a:bodyPr/>
                    <a:lstStyle/>
                    <a:p>
                      <a:endParaRPr lang="es-CL"/>
                    </a:p>
                  </a:txBody>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extLst>
                  <a:ext uri="{0D108BD9-81ED-4DB2-BD59-A6C34878D82A}">
                    <a16:rowId xmlns:a16="http://schemas.microsoft.com/office/drawing/2014/main" val="10013"/>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8</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Antofagasta</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ctr" fontAlgn="ctr">
                        <a:buNone/>
                      </a:pPr>
                      <a:r>
                        <a:rPr lang="es-CL" sz="1000" b="0" i="0" u="none" strike="noStrike">
                          <a:solidFill>
                            <a:srgbClr val="1F1F1F"/>
                          </a:solidFill>
                          <a:effectLst/>
                          <a:latin typeface="Roboto" panose="02000000000000000000" pitchFamily="2" charset="0"/>
                        </a:rPr>
                        <a:t>39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ctr" fontAlgn="ctr">
                        <a:buNone/>
                      </a:pPr>
                      <a:r>
                        <a:rPr lang="es-CL" sz="1000" b="0" i="0" u="none" strike="noStrike">
                          <a:solidFill>
                            <a:srgbClr val="1F1F1F"/>
                          </a:solidFill>
                          <a:effectLst/>
                          <a:latin typeface="Roboto" panose="02000000000000000000" pitchFamily="2" charset="0"/>
                        </a:rPr>
                        <a:t>46,2</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Programa prevent…</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rowSpan="3" gridSpan="2">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ZONA NORTE</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D7D31"/>
                    </a:solidFill>
                  </a:tcPr>
                </a:tc>
                <a:tc rowSpan="3" hMerge="1">
                  <a:txBody>
                    <a:bodyPr/>
                    <a:lstStyle/>
                    <a:p>
                      <a:endParaRPr lang="es-CL"/>
                    </a:p>
                  </a:txBody>
                  <a:tcPr/>
                </a:tc>
                <a:extLst>
                  <a:ext uri="{0D108BD9-81ED-4DB2-BD59-A6C34878D82A}">
                    <a16:rowId xmlns:a16="http://schemas.microsoft.com/office/drawing/2014/main" val="10014"/>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9</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Coquimbo</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ctr" fontAlgn="ctr">
                        <a:buNone/>
                      </a:pPr>
                      <a:r>
                        <a:rPr lang="es-CL" sz="1000" b="0" i="0" u="none" strike="noStrike">
                          <a:solidFill>
                            <a:srgbClr val="1F1F1F"/>
                          </a:solidFill>
                          <a:effectLst/>
                          <a:latin typeface="Roboto" panose="02000000000000000000" pitchFamily="2" charset="0"/>
                        </a:rPr>
                        <a:t>29</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ctr" fontAlgn="ctr">
                        <a:buNone/>
                      </a:pPr>
                      <a:r>
                        <a:rPr lang="es-CL" sz="1000" b="0" i="0" u="none" strike="noStrike">
                          <a:solidFill>
                            <a:srgbClr val="1F1F1F"/>
                          </a:solidFill>
                          <a:effectLst/>
                          <a:latin typeface="Roboto" panose="02000000000000000000" pitchFamily="2" charset="0"/>
                        </a:rPr>
                        <a:t>45,8</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Programa preventivo</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gridSpan="2" vMerge="1">
                  <a:txBody>
                    <a:bodyPr/>
                    <a:lstStyle/>
                    <a:p>
                      <a:endParaRPr lang="es-CL"/>
                    </a:p>
                  </a:txBody>
                  <a:tcPr/>
                </a:tc>
                <a:tc hMerge="1" vMerge="1">
                  <a:txBody>
                    <a:bodyPr/>
                    <a:lstStyle/>
                    <a:p>
                      <a:endParaRPr lang="es-CL"/>
                    </a:p>
                  </a:txBody>
                  <a:tcPr/>
                </a:tc>
                <a:extLst>
                  <a:ext uri="{0D108BD9-81ED-4DB2-BD59-A6C34878D82A}">
                    <a16:rowId xmlns:a16="http://schemas.microsoft.com/office/drawing/2014/main" val="10015"/>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11</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Tarapacá</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ctr" fontAlgn="ctr">
                        <a:buNone/>
                      </a:pPr>
                      <a:r>
                        <a:rPr lang="es-CL" sz="1000" b="0" i="0" u="none" strike="noStrike">
                          <a:solidFill>
                            <a:srgbClr val="1F1F1F"/>
                          </a:solidFill>
                          <a:effectLst/>
                          <a:latin typeface="Roboto" panose="02000000000000000000" pitchFamily="2" charset="0"/>
                        </a:rPr>
                        <a:t>26</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ctr" fontAlgn="ctr">
                        <a:buNone/>
                      </a:pPr>
                      <a:r>
                        <a:rPr lang="es-CL" sz="1000" b="0" i="0" u="none" strike="noStrike">
                          <a:solidFill>
                            <a:srgbClr val="1F1F1F"/>
                          </a:solidFill>
                          <a:effectLst/>
                          <a:latin typeface="Roboto" panose="02000000000000000000" pitchFamily="2" charset="0"/>
                        </a:rPr>
                        <a:t>37,4</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Contrato prevent…</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gridSpan="2" vMerge="1">
                  <a:txBody>
                    <a:bodyPr/>
                    <a:lstStyle/>
                    <a:p>
                      <a:endParaRPr lang="es-CL"/>
                    </a:p>
                  </a:txBody>
                  <a:tcPr/>
                </a:tc>
                <a:tc hMerge="1" vMerge="1">
                  <a:txBody>
                    <a:bodyPr/>
                    <a:lstStyle/>
                    <a:p>
                      <a:endParaRPr lang="es-CL"/>
                    </a:p>
                  </a:txBody>
                  <a:tcPr/>
                </a:tc>
                <a:extLst>
                  <a:ext uri="{0D108BD9-81ED-4DB2-BD59-A6C34878D82A}">
                    <a16:rowId xmlns:a16="http://schemas.microsoft.com/office/drawing/2014/main" val="10016"/>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14</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Arica y Parinacota</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ctr" fontAlgn="ctr">
                        <a:buNone/>
                      </a:pPr>
                      <a:r>
                        <a:rPr lang="es-CL" sz="1000" b="0" i="0" u="none" strike="noStrike">
                          <a:solidFill>
                            <a:srgbClr val="1F1F1F"/>
                          </a:solidFill>
                          <a:effectLst/>
                          <a:latin typeface="Roboto" panose="02000000000000000000" pitchFamily="2" charset="0"/>
                        </a:rPr>
                        <a:t>10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algn="ctr" fontAlgn="ctr">
                        <a:buNone/>
                      </a:pPr>
                      <a:r>
                        <a:rPr lang="es-CL" sz="1000" b="0" i="0" u="none" strike="noStrike">
                          <a:solidFill>
                            <a:srgbClr val="1F1F1F"/>
                          </a:solidFill>
                          <a:effectLst/>
                          <a:latin typeface="Roboto" panose="02000000000000000000" pitchFamily="2" charset="0"/>
                        </a:rPr>
                        <a:t>16,1</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Auditoría técnica · Convenio institucional · Programa preven…</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EF4FB"/>
                    </a:solidFill>
                  </a:tcPr>
                </a:tc>
                <a:tc>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ZONA NORTE</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D7D31"/>
                    </a:solidFill>
                  </a:tcPr>
                </a:tc>
                <a:extLst>
                  <a:ext uri="{0D108BD9-81ED-4DB2-BD59-A6C34878D82A}">
                    <a16:rowId xmlns:a16="http://schemas.microsoft.com/office/drawing/2014/main" val="10017"/>
                  </a:ext>
                </a:extLst>
              </a:tr>
              <a:tr h="213700">
                <a:tc>
                  <a:txBody>
                    <a:bodyPr/>
                    <a:lstStyle/>
                    <a:p>
                      <a:pPr marL="0" marR="0" lvl="0" indent="0" algn="ctr"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15</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Atacama</a:t>
                      </a:r>
                      <a:endParaRPr sz="1800"/>
                    </a:p>
                  </a:txBody>
                  <a:tcPr marL="6850" marR="6850" marT="6850" marB="0" anchor="ctr">
                    <a:lnL w="9525" cap="flat" cmpd="sng">
                      <a:solidFill>
                        <a:srgbClr val="BFBFBF"/>
                      </a:solidFill>
                      <a:prstDash val="solid"/>
                      <a:round/>
                      <a:headEnd type="none" w="sm" len="sm"/>
                      <a:tailEnd type="none" w="sm" len="sm"/>
                    </a:lnL>
                    <a:lnR w="9525" cap="flat" cmpd="sng" algn="ctr">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ctr" fontAlgn="ctr">
                        <a:buNone/>
                      </a:pPr>
                      <a:r>
                        <a:rPr lang="es-CL" sz="1000" b="0" i="0" u="none" strike="noStrike">
                          <a:solidFill>
                            <a:srgbClr val="1F1F1F"/>
                          </a:solidFill>
                          <a:effectLst/>
                          <a:latin typeface="Roboto" panose="02000000000000000000" pitchFamily="2" charset="0"/>
                        </a:rPr>
                        <a:t>7</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algn="ctr" fontAlgn="ctr">
                        <a:buNone/>
                      </a:pPr>
                      <a:r>
                        <a:rPr lang="es-CL" sz="1000" b="0" i="0" u="none" strike="noStrike" dirty="0">
                          <a:solidFill>
                            <a:srgbClr val="1F1F1F"/>
                          </a:solidFill>
                          <a:effectLst/>
                          <a:latin typeface="Roboto" panose="02000000000000000000" pitchFamily="2" charset="0"/>
                        </a:rPr>
                        <a:t>10</a:t>
                      </a:r>
                    </a:p>
                  </a:txBody>
                  <a:tcPr marL="9525" marR="9525" marT="9525"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F1F1F"/>
                        </a:buClr>
                        <a:buSzPts val="500"/>
                        <a:buFont typeface="Roboto"/>
                        <a:buNone/>
                      </a:pPr>
                      <a:r>
                        <a:rPr lang="es-CL" sz="700" b="0" i="0" u="none" strike="noStrike" cap="none">
                          <a:solidFill>
                            <a:srgbClr val="1F1F1F"/>
                          </a:solidFill>
                          <a:latin typeface="Roboto"/>
                          <a:ea typeface="Roboto"/>
                          <a:cs typeface="Roboto"/>
                          <a:sym typeface="Roboto"/>
                        </a:rPr>
                        <a:t>Levantamiento técnico · Auditoría técnica · Programa prevent…</a:t>
                      </a:r>
                      <a:endParaRPr sz="1800"/>
                    </a:p>
                  </a:txBody>
                  <a:tcPr marL="6850" marR="6850" marT="6850" marB="0" anchor="ctr">
                    <a:lnL w="9525" cap="flat" cmpd="sng" algn="ctr">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 </a:t>
                      </a:r>
                      <a:endParaRPr sz="1800"/>
                    </a:p>
                  </a:txBody>
                  <a:tcPr marL="6850" marR="6850" marT="6850" marB="0" anchor="b">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FFFFFF"/>
                    </a:solidFill>
                  </a:tcPr>
                </a:tc>
                <a:tc>
                  <a:txBody>
                    <a:bodyPr/>
                    <a:lstStyle/>
                    <a:p>
                      <a:pPr marL="0" marR="0" lvl="0" indent="0" algn="ctr" rtl="0">
                        <a:spcBef>
                          <a:spcPts val="0"/>
                        </a:spcBef>
                        <a:spcAft>
                          <a:spcPts val="0"/>
                        </a:spcAft>
                        <a:buClr>
                          <a:srgbClr val="FFFFFF"/>
                        </a:buClr>
                        <a:buSzPts val="500"/>
                        <a:buFont typeface="Roboto"/>
                        <a:buNone/>
                      </a:pPr>
                      <a:r>
                        <a:rPr lang="es-CL" sz="700" b="1" i="0" u="none" strike="noStrike" cap="none">
                          <a:solidFill>
                            <a:srgbClr val="FFFFFF"/>
                          </a:solidFill>
                          <a:latin typeface="Roboto"/>
                          <a:ea typeface="Roboto"/>
                          <a:cs typeface="Roboto"/>
                          <a:sym typeface="Roboto"/>
                        </a:rPr>
                        <a:t>ZONA NORTE</a:t>
                      </a:r>
                      <a:endParaRPr sz="1800"/>
                    </a:p>
                  </a:txBody>
                  <a:tcPr marL="6850" marR="6850" marT="6850" marB="0" anchor="ctr">
                    <a:lnL w="9525" cap="flat" cmpd="sng">
                      <a:solidFill>
                        <a:srgbClr val="BFBFBF"/>
                      </a:solidFill>
                      <a:prstDash val="solid"/>
                      <a:round/>
                      <a:headEnd type="none" w="sm" len="sm"/>
                      <a:tailEnd type="none" w="sm" len="sm"/>
                    </a:lnL>
                    <a:lnR w="9525" cap="flat" cmpd="sng">
                      <a:solidFill>
                        <a:srgbClr val="BFBFBF"/>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BFBFBF"/>
                      </a:solidFill>
                      <a:prstDash val="solid"/>
                      <a:round/>
                      <a:headEnd type="none" w="sm" len="sm"/>
                      <a:tailEnd type="none" w="sm" len="sm"/>
                    </a:lnB>
                    <a:solidFill>
                      <a:srgbClr val="ED7D31"/>
                    </a:solidFill>
                  </a:tcPr>
                </a:tc>
                <a:extLst>
                  <a:ext uri="{0D108BD9-81ED-4DB2-BD59-A6C34878D82A}">
                    <a16:rowId xmlns:a16="http://schemas.microsoft.com/office/drawing/2014/main" val="10018"/>
                  </a:ext>
                </a:extLst>
              </a:tr>
              <a:tr h="215300">
                <a:tc>
                  <a:txBody>
                    <a:bodyPr/>
                    <a:lstStyle/>
                    <a:p>
                      <a:pPr marL="0" marR="0" lvl="0" indent="0" algn="l"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Total</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lgn="ctr">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Clr>
                          <a:srgbClr val="000000"/>
                        </a:buClr>
                        <a:buSzPts val="800"/>
                        <a:buFont typeface="Roboto"/>
                        <a:buNone/>
                      </a:pPr>
                      <a:r>
                        <a:rPr lang="es-CL" sz="1000" b="0" i="0" u="none" strike="noStrike" cap="none">
                          <a:solidFill>
                            <a:srgbClr val="000000"/>
                          </a:solidFill>
                          <a:latin typeface="Roboto"/>
                          <a:ea typeface="Roboto"/>
                          <a:cs typeface="Roboto"/>
                          <a:sym typeface="Roboto"/>
                        </a:rPr>
                        <a:t>1.105,0</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lgn="ctr">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BFBFBF"/>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19"/>
                  </a:ext>
                </a:extLst>
              </a:tr>
              <a:tr h="150075">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20"/>
                  </a:ext>
                </a:extLst>
              </a:tr>
              <a:tr h="186600">
                <a:tc>
                  <a:txBody>
                    <a:bodyPr/>
                    <a:lstStyle/>
                    <a:p>
                      <a:pPr marL="0" marR="0" lvl="0" indent="0" algn="l" rtl="0">
                        <a:spcBef>
                          <a:spcPts val="0"/>
                        </a:spcBef>
                        <a:spcAft>
                          <a:spcPts val="0"/>
                        </a:spcAft>
                        <a:buClr>
                          <a:srgbClr val="006B3C"/>
                        </a:buClr>
                        <a:buSzPts val="1000"/>
                        <a:buFont typeface="Roboto"/>
                        <a:buNone/>
                      </a:pPr>
                      <a:r>
                        <a:rPr lang="es-CL" sz="1100" b="1" i="0" u="none" strike="noStrike" cap="none">
                          <a:solidFill>
                            <a:srgbClr val="006B3C"/>
                          </a:solidFill>
                          <a:latin typeface="Roboto"/>
                          <a:ea typeface="Roboto"/>
                          <a:cs typeface="Roboto"/>
                          <a:sym typeface="Roboto"/>
                        </a:rPr>
                        <a:t>■</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gridSpan="2">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EN EJECUCIÓN: Campaña ya iniciada</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hMerge="1">
                  <a:txBody>
                    <a:bodyPr/>
                    <a:lstStyle/>
                    <a:p>
                      <a:endParaRPr lang="es-CL"/>
                    </a:p>
                  </a:txBody>
                  <a:tcPr/>
                </a:tc>
                <a:tc>
                  <a:txBody>
                    <a:bodyPr/>
                    <a:lstStyle/>
                    <a:p>
                      <a:pPr marL="0" marR="0" lvl="0" indent="0" algn="l" rtl="0">
                        <a:spcBef>
                          <a:spcPts val="0"/>
                        </a:spcBef>
                        <a:spcAft>
                          <a:spcPts val="0"/>
                        </a:spcAft>
                        <a:buClr>
                          <a:srgbClr val="2E5D9F"/>
                        </a:buClr>
                        <a:buSzPts val="1000"/>
                        <a:buFont typeface="Roboto"/>
                        <a:buNone/>
                      </a:pPr>
                      <a:r>
                        <a:rPr lang="es-CL" sz="1100" b="1" i="0" u="none" strike="noStrike" cap="none">
                          <a:solidFill>
                            <a:srgbClr val="2E5D9F"/>
                          </a:solidFill>
                          <a:latin typeface="Roboto"/>
                          <a:ea typeface="Roboto"/>
                          <a:cs typeface="Roboto"/>
                          <a:sym typeface="Roboto"/>
                        </a:rPr>
                        <a:t>■</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SEGUIMIENTO: Región Metropolitana – continuo</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rgbClr val="7030A0"/>
                        </a:buClr>
                        <a:buSzPts val="1000"/>
                        <a:buFont typeface="Roboto"/>
                        <a:buNone/>
                      </a:pPr>
                      <a:r>
                        <a:rPr lang="es-CL" sz="1100" b="1" i="0" u="none" strike="noStrike" cap="none">
                          <a:solidFill>
                            <a:srgbClr val="7030A0"/>
                          </a:solidFill>
                          <a:latin typeface="Roboto"/>
                          <a:ea typeface="Roboto"/>
                          <a:cs typeface="Roboto"/>
                          <a:sym typeface="Roboto"/>
                        </a:rPr>
                        <a:t>■</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gridSpan="3">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CAMPAÑA: Campaña programada</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hMerge="1">
                  <a:txBody>
                    <a:bodyPr/>
                    <a:lstStyle/>
                    <a:p>
                      <a:endParaRPr lang="es-CL"/>
                    </a:p>
                  </a:txBody>
                  <a:tcPr/>
                </a:tc>
                <a:tc hMerge="1">
                  <a:txBody>
                    <a:bodyPr/>
                    <a:lstStyle/>
                    <a:p>
                      <a:endParaRPr lang="es-CL"/>
                    </a:p>
                  </a:txBody>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21"/>
                  </a:ext>
                </a:extLst>
              </a:tr>
              <a:tr h="221150">
                <a:tc>
                  <a:txBody>
                    <a:bodyPr/>
                    <a:lstStyle/>
                    <a:p>
                      <a:pPr marL="0" marR="0" lvl="0" indent="0" algn="l" rtl="0">
                        <a:spcBef>
                          <a:spcPts val="0"/>
                        </a:spcBef>
                        <a:spcAft>
                          <a:spcPts val="0"/>
                        </a:spcAft>
                        <a:buClr>
                          <a:srgbClr val="00B0F0"/>
                        </a:buClr>
                        <a:buSzPts val="1000"/>
                        <a:buFont typeface="Roboto"/>
                        <a:buNone/>
                      </a:pPr>
                      <a:r>
                        <a:rPr lang="es-CL" sz="1100" b="1" i="0" u="none" strike="noStrike" cap="none">
                          <a:solidFill>
                            <a:srgbClr val="00B0F0"/>
                          </a:solidFill>
                          <a:latin typeface="Roboto"/>
                          <a:ea typeface="Roboto"/>
                          <a:cs typeface="Roboto"/>
                          <a:sym typeface="Roboto"/>
                        </a:rPr>
                        <a:t>■</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gridSpan="2">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TÉC. SUR: Apoya técnico de la zona sur</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hMerge="1">
                  <a:txBody>
                    <a:bodyPr/>
                    <a:lstStyle/>
                    <a:p>
                      <a:endParaRPr lang="es-CL"/>
                    </a:p>
                  </a:txBody>
                  <a:tcPr/>
                </a:tc>
                <a:tc>
                  <a:txBody>
                    <a:bodyPr/>
                    <a:lstStyle/>
                    <a:p>
                      <a:pPr marL="0" marR="0" lvl="0" indent="0" algn="l" rtl="0">
                        <a:spcBef>
                          <a:spcPts val="0"/>
                        </a:spcBef>
                        <a:spcAft>
                          <a:spcPts val="0"/>
                        </a:spcAft>
                        <a:buClr>
                          <a:srgbClr val="C00000"/>
                        </a:buClr>
                        <a:buSzPts val="1000"/>
                        <a:buFont typeface="Roboto"/>
                        <a:buNone/>
                      </a:pPr>
                      <a:r>
                        <a:rPr lang="es-CL" sz="1100" b="1" i="0" u="none" strike="noStrike" cap="none">
                          <a:solidFill>
                            <a:srgbClr val="C00000"/>
                          </a:solidFill>
                          <a:latin typeface="Roboto"/>
                          <a:ea typeface="Roboto"/>
                          <a:cs typeface="Roboto"/>
                          <a:sym typeface="Roboto"/>
                        </a:rPr>
                        <a:t>■</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gridSpan="2">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TÉC. NORTE: Propuesta: técnico norte (base La Serena)</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hMerge="1">
                  <a:txBody>
                    <a:bodyPr/>
                    <a:lstStyle/>
                    <a:p>
                      <a:endParaRPr lang="es-CL"/>
                    </a:p>
                  </a:txBody>
                  <a:tcPr/>
                </a:tc>
                <a:tc>
                  <a:txBody>
                    <a:bodyPr/>
                    <a:lstStyle/>
                    <a:p>
                      <a:pPr marL="0" marR="0" lvl="0" indent="0" algn="l" rtl="0">
                        <a:spcBef>
                          <a:spcPts val="0"/>
                        </a:spcBef>
                        <a:spcAft>
                          <a:spcPts val="0"/>
                        </a:spcAft>
                        <a:buClr>
                          <a:srgbClr val="ED7D31"/>
                        </a:buClr>
                        <a:buSzPts val="1000"/>
                        <a:buFont typeface="Roboto"/>
                        <a:buNone/>
                      </a:pPr>
                      <a:r>
                        <a:rPr lang="es-CL" sz="1100" b="1" i="0" u="none" strike="noStrike" cap="none">
                          <a:solidFill>
                            <a:srgbClr val="ED7D31"/>
                          </a:solidFill>
                          <a:latin typeface="Roboto"/>
                          <a:ea typeface="Roboto"/>
                          <a:cs typeface="Roboto"/>
                          <a:sym typeface="Roboto"/>
                        </a:rPr>
                        <a:t>■</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gridSpan="4">
                  <a:txBody>
                    <a:bodyPr/>
                    <a:lstStyle/>
                    <a:p>
                      <a:pPr marL="0" marR="0" lvl="0" indent="0" algn="l" rtl="0">
                        <a:spcBef>
                          <a:spcPts val="0"/>
                        </a:spcBef>
                        <a:spcAft>
                          <a:spcPts val="0"/>
                        </a:spcAft>
                        <a:buClr>
                          <a:srgbClr val="1F1F1F"/>
                        </a:buClr>
                        <a:buSzPts val="600"/>
                        <a:buFont typeface="Roboto"/>
                        <a:buNone/>
                      </a:pPr>
                      <a:r>
                        <a:rPr lang="es-CL" sz="800" b="0" i="0" u="none" strike="noStrike" cap="none">
                          <a:solidFill>
                            <a:srgbClr val="1F1F1F"/>
                          </a:solidFill>
                          <a:latin typeface="Roboto"/>
                          <a:ea typeface="Roboto"/>
                          <a:cs typeface="Roboto"/>
                          <a:sym typeface="Roboto"/>
                        </a:rPr>
                        <a:t>ZONA NORTE: Ronda zona norte coordinada</a:t>
                      </a:r>
                      <a:endParaRPr sz="1800"/>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hMerge="1">
                  <a:txBody>
                    <a:bodyPr/>
                    <a:lstStyle/>
                    <a:p>
                      <a:endParaRPr lang="es-CL"/>
                    </a:p>
                  </a:txBody>
                  <a:tcPr/>
                </a:tc>
                <a:tc hMerge="1">
                  <a:txBody>
                    <a:bodyPr/>
                    <a:lstStyle/>
                    <a:p>
                      <a:endParaRPr lang="es-CL"/>
                    </a:p>
                  </a:txBody>
                  <a:tcPr/>
                </a:tc>
                <a:tc hMerge="1">
                  <a:txBody>
                    <a:bodyPr/>
                    <a:lstStyle/>
                    <a:p>
                      <a:endParaRPr lang="es-CL"/>
                    </a:p>
                  </a:txBody>
                  <a:tcPr/>
                </a:tc>
                <a:extLst>
                  <a:ext uri="{0D108BD9-81ED-4DB2-BD59-A6C34878D82A}">
                    <a16:rowId xmlns:a16="http://schemas.microsoft.com/office/drawing/2014/main" val="10022"/>
                  </a:ext>
                </a:extLst>
              </a:tr>
              <a:tr h="169575">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spcBef>
                          <a:spcPts val="0"/>
                        </a:spcBef>
                        <a:spcAft>
                          <a:spcPts val="0"/>
                        </a:spcAft>
                        <a:buClr>
                          <a:schemeClr val="dk1"/>
                        </a:buClr>
                        <a:buSzPts val="800"/>
                        <a:buFont typeface="Arial"/>
                        <a:buNone/>
                      </a:pPr>
                      <a:endParaRPr sz="1000" b="0" i="0" u="none" strike="noStrike" cap="none" dirty="0">
                        <a:solidFill>
                          <a:srgbClr val="000000"/>
                        </a:solidFill>
                        <a:latin typeface="Roboto"/>
                        <a:ea typeface="Roboto"/>
                        <a:cs typeface="Roboto"/>
                        <a:sym typeface="Roboto"/>
                      </a:endParaRPr>
                    </a:p>
                  </a:txBody>
                  <a:tcPr marL="6850" marR="6850" marT="6850" marB="0" anchor="b">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23"/>
                  </a:ext>
                </a:extLst>
              </a:tr>
            </a:tbl>
          </a:graphicData>
        </a:graphic>
      </p:graphicFrame>
      <p:sp>
        <p:nvSpPr>
          <p:cNvPr id="491" name="Google Shape;491;p38"/>
          <p:cNvSpPr/>
          <p:nvPr/>
        </p:nvSpPr>
        <p:spPr>
          <a:xfrm>
            <a:off x="8706809" y="3492910"/>
            <a:ext cx="1759789" cy="2251494"/>
          </a:xfrm>
          <a:prstGeom prst="rect">
            <a:avLst/>
          </a:prstGeom>
          <a:noFill/>
          <a:ln w="19050" cap="flat" cmpd="sng">
            <a:solidFill>
              <a:schemeClr val="accent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492" name="Google Shape;492;p38"/>
          <p:cNvSpPr/>
          <p:nvPr/>
        </p:nvSpPr>
        <p:spPr>
          <a:xfrm>
            <a:off x="10843404" y="3348687"/>
            <a:ext cx="1252030" cy="2539939"/>
          </a:xfrm>
          <a:prstGeom prst="rect">
            <a:avLst/>
          </a:prstGeom>
          <a:solidFill>
            <a:schemeClr val="dk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1"/>
              </a:buClr>
              <a:buSzPts val="1200"/>
              <a:buFont typeface="Arial"/>
              <a:buChar char="•"/>
            </a:pPr>
            <a:r>
              <a:rPr lang="es-CL" sz="1200">
                <a:solidFill>
                  <a:schemeClr val="lt1"/>
                </a:solidFill>
                <a:latin typeface="Arial"/>
                <a:ea typeface="Arial"/>
                <a:cs typeface="Arial"/>
                <a:sym typeface="Arial"/>
              </a:rPr>
              <a:t>En análisis, mismo técnico dedicado a operación de HLS (oct-27), puede generar prospección con anticipación de la zona norte</a:t>
            </a:r>
            <a:endParaRPr/>
          </a:p>
        </p:txBody>
      </p:sp>
      <p:sp>
        <p:nvSpPr>
          <p:cNvPr id="493" name="Google Shape;493;p38"/>
          <p:cNvSpPr/>
          <p:nvPr/>
        </p:nvSpPr>
        <p:spPr>
          <a:xfrm rot="5400000">
            <a:off x="10394831" y="4373594"/>
            <a:ext cx="586597" cy="215660"/>
          </a:xfrm>
          <a:prstGeom prst="triangle">
            <a:avLst>
              <a:gd name="adj" fmla="val 50000"/>
            </a:avLst>
          </a:prstGeom>
          <a:solidFill>
            <a:schemeClr val="accent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97"/>
        <p:cNvGrpSpPr/>
        <p:nvPr/>
      </p:nvGrpSpPr>
      <p:grpSpPr>
        <a:xfrm>
          <a:off x="0" y="0"/>
          <a:ext cx="0" cy="0"/>
          <a:chOff x="0" y="0"/>
          <a:chExt cx="0" cy="0"/>
        </a:xfrm>
      </p:grpSpPr>
      <p:sp>
        <p:nvSpPr>
          <p:cNvPr id="498" name="Google Shape;498;p39"/>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499" name="Google Shape;499;p39"/>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00" name="Google Shape;500;p39"/>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Metropolitana</a:t>
            </a:r>
            <a:endParaRPr/>
          </a:p>
        </p:txBody>
      </p:sp>
      <p:graphicFrame>
        <p:nvGraphicFramePr>
          <p:cNvPr id="3" name="Tabla 2">
            <a:extLst>
              <a:ext uri="{FF2B5EF4-FFF2-40B4-BE49-F238E27FC236}">
                <a16:creationId xmlns:a16="http://schemas.microsoft.com/office/drawing/2014/main" id="{8A49E7DC-669E-A5A1-E945-6F05BB672194}"/>
              </a:ext>
            </a:extLst>
          </p:cNvPr>
          <p:cNvGraphicFramePr>
            <a:graphicFrameLocks noGrp="1"/>
          </p:cNvGraphicFramePr>
          <p:nvPr>
            <p:extLst>
              <p:ext uri="{D42A27DB-BD31-4B8C-83A1-F6EECF244321}">
                <p14:modId xmlns:p14="http://schemas.microsoft.com/office/powerpoint/2010/main" val="1696117403"/>
              </p:ext>
            </p:extLst>
          </p:nvPr>
        </p:nvGraphicFramePr>
        <p:xfrm>
          <a:off x="476250" y="1299602"/>
          <a:ext cx="10515600" cy="4673645"/>
        </p:xfrm>
        <a:graphic>
          <a:graphicData uri="http://schemas.openxmlformats.org/drawingml/2006/table">
            <a:tbl>
              <a:tblPr/>
              <a:tblGrid>
                <a:gridCol w="2033331">
                  <a:extLst>
                    <a:ext uri="{9D8B030D-6E8A-4147-A177-3AD203B41FA5}">
                      <a16:colId xmlns:a16="http://schemas.microsoft.com/office/drawing/2014/main" val="868699452"/>
                    </a:ext>
                  </a:extLst>
                </a:gridCol>
                <a:gridCol w="534181">
                  <a:extLst>
                    <a:ext uri="{9D8B030D-6E8A-4147-A177-3AD203B41FA5}">
                      <a16:colId xmlns:a16="http://schemas.microsoft.com/office/drawing/2014/main" val="667893877"/>
                    </a:ext>
                  </a:extLst>
                </a:gridCol>
                <a:gridCol w="536334">
                  <a:extLst>
                    <a:ext uri="{9D8B030D-6E8A-4147-A177-3AD203B41FA5}">
                      <a16:colId xmlns:a16="http://schemas.microsoft.com/office/drawing/2014/main" val="3922950112"/>
                    </a:ext>
                  </a:extLst>
                </a:gridCol>
                <a:gridCol w="534181">
                  <a:extLst>
                    <a:ext uri="{9D8B030D-6E8A-4147-A177-3AD203B41FA5}">
                      <a16:colId xmlns:a16="http://schemas.microsoft.com/office/drawing/2014/main" val="2015536459"/>
                    </a:ext>
                  </a:extLst>
                </a:gridCol>
                <a:gridCol w="536334">
                  <a:extLst>
                    <a:ext uri="{9D8B030D-6E8A-4147-A177-3AD203B41FA5}">
                      <a16:colId xmlns:a16="http://schemas.microsoft.com/office/drawing/2014/main" val="82018761"/>
                    </a:ext>
                  </a:extLst>
                </a:gridCol>
                <a:gridCol w="534181">
                  <a:extLst>
                    <a:ext uri="{9D8B030D-6E8A-4147-A177-3AD203B41FA5}">
                      <a16:colId xmlns:a16="http://schemas.microsoft.com/office/drawing/2014/main" val="2752959678"/>
                    </a:ext>
                  </a:extLst>
                </a:gridCol>
                <a:gridCol w="536334">
                  <a:extLst>
                    <a:ext uri="{9D8B030D-6E8A-4147-A177-3AD203B41FA5}">
                      <a16:colId xmlns:a16="http://schemas.microsoft.com/office/drawing/2014/main" val="1864361789"/>
                    </a:ext>
                  </a:extLst>
                </a:gridCol>
                <a:gridCol w="628954">
                  <a:extLst>
                    <a:ext uri="{9D8B030D-6E8A-4147-A177-3AD203B41FA5}">
                      <a16:colId xmlns:a16="http://schemas.microsoft.com/office/drawing/2014/main" val="2144115479"/>
                    </a:ext>
                  </a:extLst>
                </a:gridCol>
                <a:gridCol w="626800">
                  <a:extLst>
                    <a:ext uri="{9D8B030D-6E8A-4147-A177-3AD203B41FA5}">
                      <a16:colId xmlns:a16="http://schemas.microsoft.com/office/drawing/2014/main" val="2248943678"/>
                    </a:ext>
                  </a:extLst>
                </a:gridCol>
                <a:gridCol w="947740">
                  <a:extLst>
                    <a:ext uri="{9D8B030D-6E8A-4147-A177-3AD203B41FA5}">
                      <a16:colId xmlns:a16="http://schemas.microsoft.com/office/drawing/2014/main" val="980898685"/>
                    </a:ext>
                  </a:extLst>
                </a:gridCol>
                <a:gridCol w="947740">
                  <a:extLst>
                    <a:ext uri="{9D8B030D-6E8A-4147-A177-3AD203B41FA5}">
                      <a16:colId xmlns:a16="http://schemas.microsoft.com/office/drawing/2014/main" val="3573969723"/>
                    </a:ext>
                  </a:extLst>
                </a:gridCol>
                <a:gridCol w="2119490">
                  <a:extLst>
                    <a:ext uri="{9D8B030D-6E8A-4147-A177-3AD203B41FA5}">
                      <a16:colId xmlns:a16="http://schemas.microsoft.com/office/drawing/2014/main" val="1867066501"/>
                    </a:ext>
                  </a:extLst>
                </a:gridCol>
              </a:tblGrid>
              <a:tr h="180037">
                <a:tc rowSpan="2">
                  <a:txBody>
                    <a:bodyPr/>
                    <a:lstStyle/>
                    <a:p>
                      <a:pPr algn="ctr" fontAlgn="ctr">
                        <a:buNone/>
                      </a:pPr>
                      <a:r>
                        <a:rPr lang="es-CL" sz="800" b="1" i="0" u="none" strike="noStrike" dirty="0">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768299180"/>
                  </a:ext>
                </a:extLst>
              </a:tr>
              <a:tr h="268712">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283072463"/>
                  </a:ext>
                </a:extLst>
              </a:tr>
              <a:tr h="644909">
                <a:tc>
                  <a:txBody>
                    <a:bodyPr/>
                    <a:lstStyle/>
                    <a:p>
                      <a:pPr algn="l" fontAlgn="ctr">
                        <a:buNone/>
                      </a:pPr>
                      <a:r>
                        <a:rPr lang="es-CL" sz="800" b="0" i="0" u="none" strike="noStrike" dirty="0">
                          <a:solidFill>
                            <a:schemeClr val="accent2"/>
                          </a:solidFill>
                          <a:effectLst/>
                          <a:latin typeface="Calibri" panose="020F0502020204030204" pitchFamily="34" charset="0"/>
                        </a:rPr>
                        <a:t>CLINICA MOVIL CENTINELA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153,5%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58,3%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107,9%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140,6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77,3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Reunión gerencial.</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Levantamiento técnico completo.</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Oferta corporativa multiequipamiento.</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Contrato marco trianual.</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Programa de renovación escalonada para los equipos más antiguos.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591916942"/>
                  </a:ext>
                </a:extLst>
              </a:tr>
              <a:tr h="322454">
                <a:tc>
                  <a:txBody>
                    <a:bodyPr/>
                    <a:lstStyle/>
                    <a:p>
                      <a:pPr algn="l" fontAlgn="ctr">
                        <a:buNone/>
                      </a:pPr>
                      <a:r>
                        <a:rPr lang="es-CL" sz="800" b="0" i="0" u="none" strike="noStrike" dirty="0">
                          <a:solidFill>
                            <a:schemeClr val="accent2"/>
                          </a:solidFill>
                          <a:effectLst/>
                          <a:latin typeface="Calibri" panose="020F0502020204030204" pitchFamily="34" charset="0"/>
                        </a:rPr>
                        <a:t>HOSPITAL CLINICO SAN BORJA-ARRIARAN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86,9%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95,9%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22,5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Visita conjunta Comercial + Servicio.</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Presentar análisis de riesgo asociado a antigüedad.</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Contrato preventivo por familias tecnológicas.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414299899"/>
                  </a:ext>
                </a:extLst>
              </a:tr>
              <a:tr h="322454">
                <a:tc>
                  <a:txBody>
                    <a:bodyPr/>
                    <a:lstStyle/>
                    <a:p>
                      <a:pPr algn="l" fontAlgn="ctr">
                        <a:buNone/>
                      </a:pPr>
                      <a:r>
                        <a:rPr lang="es-CL" sz="800" b="0" i="0" u="none" strike="noStrike">
                          <a:solidFill>
                            <a:schemeClr val="accent2"/>
                          </a:solidFill>
                          <a:effectLst/>
                          <a:latin typeface="Calibri" panose="020F0502020204030204" pitchFamily="34" charset="0"/>
                        </a:rPr>
                        <a:t>CLINICA ALEMANA DE SANTIAGO S 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64,6%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71,9%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52,2%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18,2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Revisión de equipos sin cobertura.</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Presentar indicadores de disponibilidad.</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Buscar acuerdo marco de mantenimiento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290052276"/>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HOSPITAL SAN JUAN DE DIOS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84,4%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92,8%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81,9%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87,6%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15,2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técnico completo y propuesta de cobertura institucional.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058372964"/>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JUNAEB ESCUELA NUEVA ZELANDIA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130,1%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57,6%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122,8%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14,5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anual, capacitación a usuarios y seguimiento para futuras renovaciones.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092035198"/>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CESFAM STEGGER</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Integrar a rutas programadas de mantenimiento y oferta preventiva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13809553"/>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MUTUAL DE SEGURIDAD SANTIAGO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59,4%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59,4%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de disponibilidad operacional y mantenimiento preventivo periódico.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713908344"/>
                  </a:ext>
                </a:extLst>
              </a:tr>
              <a:tr h="429939">
                <a:tc>
                  <a:txBody>
                    <a:bodyPr/>
                    <a:lstStyle/>
                    <a:p>
                      <a:pPr algn="l" fontAlgn="ctr">
                        <a:buNone/>
                      </a:pPr>
                      <a:r>
                        <a:rPr lang="es-CL" sz="800" b="0" i="0" u="none" strike="noStrike">
                          <a:solidFill>
                            <a:schemeClr val="accent2"/>
                          </a:solidFill>
                          <a:effectLst/>
                          <a:latin typeface="Calibri" panose="020F0502020204030204" pitchFamily="34" charset="0"/>
                        </a:rPr>
                        <a:t>CLINICA HOGAR BUENA SALUD S.P.A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47,3%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66,9%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8,8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Recuperación de activos sin cobertura.</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Contrato preventivo anual.</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Presentación de indicadores de disponibilidad.</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Identificación de oportunidades de renovación.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125929470"/>
                  </a:ext>
                </a:extLst>
              </a:tr>
              <a:tr h="429939">
                <a:tc>
                  <a:txBody>
                    <a:bodyPr/>
                    <a:lstStyle/>
                    <a:p>
                      <a:pPr algn="l" fontAlgn="ctr">
                        <a:buNone/>
                      </a:pPr>
                      <a:r>
                        <a:rPr lang="es-CL" sz="800" b="0" i="0" u="none" strike="noStrike">
                          <a:solidFill>
                            <a:schemeClr val="accent2"/>
                          </a:solidFill>
                          <a:effectLst/>
                          <a:latin typeface="Calibri" panose="020F0502020204030204" pitchFamily="34" charset="0"/>
                        </a:rPr>
                        <a:t>EJERCITO DE CHILE CENTRAL ODONTOLOGICA D</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59,4%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42,7%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46,0%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4,8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Convenio institucional.</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Programa preventivo para equipamiento odontológico.</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Evaluación de renovación tecnológica.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Definición de equipamiento crítico.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388894736"/>
                  </a:ext>
                </a:extLst>
              </a:tr>
              <a:tr h="429939">
                <a:tc>
                  <a:txBody>
                    <a:bodyPr/>
                    <a:lstStyle/>
                    <a:p>
                      <a:pPr algn="l" fontAlgn="ctr">
                        <a:buNone/>
                      </a:pPr>
                      <a:r>
                        <a:rPr lang="es-CL" sz="800" b="0" i="0" u="none" strike="noStrike">
                          <a:solidFill>
                            <a:schemeClr val="accent2"/>
                          </a:solidFill>
                          <a:effectLst/>
                          <a:latin typeface="Calibri" panose="020F0502020204030204" pitchFamily="34" charset="0"/>
                        </a:rPr>
                        <a:t>NORDEN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70,3%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70,3%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Auditoría técnica.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Programa preventivo anual.</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Contrato de mantenimiento </a:t>
                      </a:r>
                      <a:r>
                        <a:rPr lang="es-CL" sz="800" b="0" i="0" u="none" strike="noStrike" dirty="0" err="1">
                          <a:solidFill>
                            <a:schemeClr val="accent2"/>
                          </a:solidFill>
                          <a:effectLst/>
                          <a:latin typeface="Calibri" panose="020F0502020204030204" pitchFamily="34" charset="0"/>
                        </a:rPr>
                        <a:t>multiequipamiento</a:t>
                      </a:r>
                      <a:r>
                        <a:rPr lang="es-CL" sz="800" b="0" i="0" u="none" strike="noStrike" dirty="0">
                          <a:solidFill>
                            <a:schemeClr val="accent2"/>
                          </a:solidFill>
                          <a:effectLst/>
                          <a:latin typeface="Calibri" panose="020F0502020204030204" pitchFamily="34" charset="0"/>
                        </a:rPr>
                        <a:t>.</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Seguimiento comercial trimestral.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389915397"/>
                  </a:ext>
                </a:extLst>
              </a:tr>
              <a:tr h="134356">
                <a:tc>
                  <a:txBody>
                    <a:bodyPr/>
                    <a:lstStyle/>
                    <a:p>
                      <a:pPr algn="l" fontAlgn="ctr">
                        <a:buNone/>
                      </a:pPr>
                      <a:r>
                        <a:rPr lang="es-CL" sz="800" b="1" i="0" u="none" strike="noStrike">
                          <a:solidFill>
                            <a:srgbClr val="FFFFFF"/>
                          </a:solidFill>
                          <a:effectLst/>
                          <a:latin typeface="Calibri" panose="020F0502020204030204" pitchFamily="34" charset="0"/>
                        </a:rPr>
                        <a:t>TOTAL · 10 clientes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109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140,6%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85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63,8%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55,1%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215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99,0%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259,3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142,7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1774882238"/>
                  </a:ext>
                </a:extLst>
              </a:tr>
            </a:tbl>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40"/>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08" name="Google Shape;508;p40"/>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09" name="Google Shape;509;p40"/>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del Bío Bío</a:t>
            </a:r>
            <a:endParaRPr sz="1400">
              <a:solidFill>
                <a:srgbClr val="33448D"/>
              </a:solidFill>
              <a:latin typeface="Roboto"/>
              <a:ea typeface="Roboto"/>
              <a:cs typeface="Roboto"/>
              <a:sym typeface="Roboto"/>
            </a:endParaRPr>
          </a:p>
        </p:txBody>
      </p:sp>
      <p:graphicFrame>
        <p:nvGraphicFramePr>
          <p:cNvPr id="5" name="Tabla 4">
            <a:extLst>
              <a:ext uri="{FF2B5EF4-FFF2-40B4-BE49-F238E27FC236}">
                <a16:creationId xmlns:a16="http://schemas.microsoft.com/office/drawing/2014/main" id="{678458B1-D0D1-7FAE-8826-02558BAB2A26}"/>
              </a:ext>
            </a:extLst>
          </p:cNvPr>
          <p:cNvGraphicFramePr>
            <a:graphicFrameLocks noGrp="1"/>
          </p:cNvGraphicFramePr>
          <p:nvPr>
            <p:extLst>
              <p:ext uri="{D42A27DB-BD31-4B8C-83A1-F6EECF244321}">
                <p14:modId xmlns:p14="http://schemas.microsoft.com/office/powerpoint/2010/main" val="1621174682"/>
              </p:ext>
            </p:extLst>
          </p:nvPr>
        </p:nvGraphicFramePr>
        <p:xfrm>
          <a:off x="476250" y="1509152"/>
          <a:ext cx="10515600" cy="4551725"/>
        </p:xfrm>
        <a:graphic>
          <a:graphicData uri="http://schemas.openxmlformats.org/drawingml/2006/table">
            <a:tbl>
              <a:tblPr/>
              <a:tblGrid>
                <a:gridCol w="2033331">
                  <a:extLst>
                    <a:ext uri="{9D8B030D-6E8A-4147-A177-3AD203B41FA5}">
                      <a16:colId xmlns:a16="http://schemas.microsoft.com/office/drawing/2014/main" val="2170294125"/>
                    </a:ext>
                  </a:extLst>
                </a:gridCol>
                <a:gridCol w="534181">
                  <a:extLst>
                    <a:ext uri="{9D8B030D-6E8A-4147-A177-3AD203B41FA5}">
                      <a16:colId xmlns:a16="http://schemas.microsoft.com/office/drawing/2014/main" val="24606291"/>
                    </a:ext>
                  </a:extLst>
                </a:gridCol>
                <a:gridCol w="536334">
                  <a:extLst>
                    <a:ext uri="{9D8B030D-6E8A-4147-A177-3AD203B41FA5}">
                      <a16:colId xmlns:a16="http://schemas.microsoft.com/office/drawing/2014/main" val="474151117"/>
                    </a:ext>
                  </a:extLst>
                </a:gridCol>
                <a:gridCol w="534181">
                  <a:extLst>
                    <a:ext uri="{9D8B030D-6E8A-4147-A177-3AD203B41FA5}">
                      <a16:colId xmlns:a16="http://schemas.microsoft.com/office/drawing/2014/main" val="1599266791"/>
                    </a:ext>
                  </a:extLst>
                </a:gridCol>
                <a:gridCol w="536334">
                  <a:extLst>
                    <a:ext uri="{9D8B030D-6E8A-4147-A177-3AD203B41FA5}">
                      <a16:colId xmlns:a16="http://schemas.microsoft.com/office/drawing/2014/main" val="4124901652"/>
                    </a:ext>
                  </a:extLst>
                </a:gridCol>
                <a:gridCol w="534181">
                  <a:extLst>
                    <a:ext uri="{9D8B030D-6E8A-4147-A177-3AD203B41FA5}">
                      <a16:colId xmlns:a16="http://schemas.microsoft.com/office/drawing/2014/main" val="2594711402"/>
                    </a:ext>
                  </a:extLst>
                </a:gridCol>
                <a:gridCol w="536334">
                  <a:extLst>
                    <a:ext uri="{9D8B030D-6E8A-4147-A177-3AD203B41FA5}">
                      <a16:colId xmlns:a16="http://schemas.microsoft.com/office/drawing/2014/main" val="953242487"/>
                    </a:ext>
                  </a:extLst>
                </a:gridCol>
                <a:gridCol w="628954">
                  <a:extLst>
                    <a:ext uri="{9D8B030D-6E8A-4147-A177-3AD203B41FA5}">
                      <a16:colId xmlns:a16="http://schemas.microsoft.com/office/drawing/2014/main" val="1854090624"/>
                    </a:ext>
                  </a:extLst>
                </a:gridCol>
                <a:gridCol w="626800">
                  <a:extLst>
                    <a:ext uri="{9D8B030D-6E8A-4147-A177-3AD203B41FA5}">
                      <a16:colId xmlns:a16="http://schemas.microsoft.com/office/drawing/2014/main" val="1368969871"/>
                    </a:ext>
                  </a:extLst>
                </a:gridCol>
                <a:gridCol w="947740">
                  <a:extLst>
                    <a:ext uri="{9D8B030D-6E8A-4147-A177-3AD203B41FA5}">
                      <a16:colId xmlns:a16="http://schemas.microsoft.com/office/drawing/2014/main" val="883503361"/>
                    </a:ext>
                  </a:extLst>
                </a:gridCol>
                <a:gridCol w="947740">
                  <a:extLst>
                    <a:ext uri="{9D8B030D-6E8A-4147-A177-3AD203B41FA5}">
                      <a16:colId xmlns:a16="http://schemas.microsoft.com/office/drawing/2014/main" val="1930234578"/>
                    </a:ext>
                  </a:extLst>
                </a:gridCol>
                <a:gridCol w="2119490">
                  <a:extLst>
                    <a:ext uri="{9D8B030D-6E8A-4147-A177-3AD203B41FA5}">
                      <a16:colId xmlns:a16="http://schemas.microsoft.com/office/drawing/2014/main" val="1781097718"/>
                    </a:ext>
                  </a:extLst>
                </a:gridCol>
              </a:tblGrid>
              <a:tr h="180037">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1144615544"/>
                  </a:ext>
                </a:extLst>
              </a:tr>
              <a:tr h="268712">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4106371041"/>
                  </a:ext>
                </a:extLst>
              </a:tr>
              <a:tr h="322454">
                <a:tc>
                  <a:txBody>
                    <a:bodyPr/>
                    <a:lstStyle/>
                    <a:p>
                      <a:pPr algn="l" fontAlgn="ctr">
                        <a:buNone/>
                      </a:pPr>
                      <a:r>
                        <a:rPr lang="es-CL" sz="800" b="0" i="0" u="none" strike="noStrike" dirty="0">
                          <a:solidFill>
                            <a:schemeClr val="accent2"/>
                          </a:solidFill>
                          <a:effectLst/>
                          <a:latin typeface="Calibri" panose="020F0502020204030204" pitchFamily="34" charset="0"/>
                        </a:rPr>
                        <a:t>CLINICA SANATORIO ALEMAN S.A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114,6%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75,1%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80,7%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26,6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13,3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Presentar riesgos de obsolescencia.</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Paquete PM + correctivos.</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Potenciar venta de repuestos.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325308979"/>
                  </a:ext>
                </a:extLst>
              </a:tr>
              <a:tr h="214970">
                <a:tc>
                  <a:txBody>
                    <a:bodyPr/>
                    <a:lstStyle/>
                    <a:p>
                      <a:pPr algn="l" fontAlgn="ctr">
                        <a:buNone/>
                      </a:pPr>
                      <a:r>
                        <a:rPr lang="es-CL" sz="800" b="0" i="0" u="none" strike="noStrike" dirty="0">
                          <a:solidFill>
                            <a:schemeClr val="accent2"/>
                          </a:solidFill>
                          <a:effectLst/>
                          <a:latin typeface="Calibri" panose="020F0502020204030204" pitchFamily="34" charset="0"/>
                        </a:rPr>
                        <a:t>CE LOS TILOS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77,1%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59,0%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61,3%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14,9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Convenio de soporte, auditoría técnica y programa preventivo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769322115"/>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UNIVERSIDAD DEL DESARROLLO CONCEPCION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79,1%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57,2%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76,8%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Convenio académico y de soporte.</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Cobertura para laboratorios y simulación.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987845089"/>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CENTRAL ODONTOLGICA II ZONA NAVAL TALCAHUANO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anual preventivo, gestión institucional y stock de repuestos críticos.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680221571"/>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CONSULTORIO NORTE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Incorporación a rutas regionales y programa preventivo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051595546"/>
                  </a:ext>
                </a:extLst>
              </a:tr>
              <a:tr h="752394">
                <a:tc>
                  <a:txBody>
                    <a:bodyPr/>
                    <a:lstStyle/>
                    <a:p>
                      <a:pPr algn="l" fontAlgn="ctr">
                        <a:buNone/>
                      </a:pPr>
                      <a:r>
                        <a:rPr lang="es-CL" sz="800" b="0" i="0" u="none" strike="noStrike">
                          <a:solidFill>
                            <a:schemeClr val="accent2"/>
                          </a:solidFill>
                          <a:effectLst/>
                          <a:latin typeface="Calibri" panose="020F0502020204030204" pitchFamily="34" charset="0"/>
                        </a:rPr>
                        <a:t>CLINICA UNIVERSITARIA CONCEPCION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67,9%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67,9%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10,2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Auditoría técnica completa de todos los equipos.</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Identificación de equipos fuera de cobertura.</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Presentación de contrato preventivo anual.</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Programa de visitas semestrales desde la base Biobío.</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Propuesta de stock crítico de repuestos.</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Construcción de indicadores de disponibilidad para la administración clínica.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109143283"/>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UNIVERSIDAD DE CONCEPCION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5,1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de toda la base instalada.</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Recuperar equipos sin seguimiento técnico.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392914468"/>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LABORATORIO CLINICO CENTRAL LTDA.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66,7%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66,7%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Programa de disponibilidad operacional y mantenimiento preventivo.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06598332"/>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CLINICA BIO BIO SPA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76,4%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63,0%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Auditoría técnica y propuesta de contrato preventivo.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866904605"/>
                  </a:ext>
                </a:extLst>
              </a:tr>
              <a:tr h="752394">
                <a:tc>
                  <a:txBody>
                    <a:bodyPr/>
                    <a:lstStyle/>
                    <a:p>
                      <a:pPr algn="l" fontAlgn="ctr">
                        <a:buNone/>
                      </a:pPr>
                      <a:r>
                        <a:rPr lang="es-CL" sz="800" b="0" i="0" u="none" strike="noStrike">
                          <a:solidFill>
                            <a:schemeClr val="accent2"/>
                          </a:solidFill>
                          <a:effectLst/>
                          <a:latin typeface="Calibri" panose="020F0502020204030204" pitchFamily="34" charset="0"/>
                        </a:rPr>
                        <a:t>I MUNICIPALIDAD DE TALCAHUANO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441,7%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441,7%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Convenio institucional de mantenimiento.</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Auditoría técnica de la base instalada.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Programa preventivo anual.</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Identificación de equipos fuera de cobertura.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Gestión de repuestos críticos.</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Evaluación de renovación tecnológica.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Seguimiento comercial semestral.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84960716"/>
                  </a:ext>
                </a:extLst>
              </a:tr>
              <a:tr h="134356">
                <a:tc>
                  <a:txBody>
                    <a:bodyPr/>
                    <a:lstStyle/>
                    <a:p>
                      <a:pPr algn="l" fontAlgn="ctr">
                        <a:buNone/>
                      </a:pPr>
                      <a:r>
                        <a:rPr lang="es-CL" sz="800" b="1" i="0" u="none" strike="noStrike">
                          <a:solidFill>
                            <a:srgbClr val="FFFFFF"/>
                          </a:solidFill>
                          <a:effectLst/>
                          <a:latin typeface="Calibri" panose="020F0502020204030204" pitchFamily="34" charset="0"/>
                        </a:rPr>
                        <a:t>TOTAL · 10 clientes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99,5%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51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70,2%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76,4%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83,7%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125,4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62,7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1193138384"/>
                  </a:ext>
                </a:extLst>
              </a:tr>
            </a:tbl>
          </a:graphicData>
        </a:graphic>
      </p:graphicFrame>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513"/>
        <p:cNvGrpSpPr/>
        <p:nvPr/>
      </p:nvGrpSpPr>
      <p:grpSpPr>
        <a:xfrm>
          <a:off x="0" y="0"/>
          <a:ext cx="0" cy="0"/>
          <a:chOff x="0" y="0"/>
          <a:chExt cx="0" cy="0"/>
        </a:xfrm>
      </p:grpSpPr>
      <p:sp>
        <p:nvSpPr>
          <p:cNvPr id="514" name="Google Shape;514;p41"/>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Plan de Acción Para Clientes por Región </a:t>
            </a:r>
            <a:endParaRPr/>
          </a:p>
        </p:txBody>
      </p:sp>
      <p:cxnSp>
        <p:nvCxnSpPr>
          <p:cNvPr id="516" name="Google Shape;516;p41"/>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17" name="Google Shape;517;p41"/>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33448D"/>
              </a:buClr>
              <a:buSzPts val="1400"/>
              <a:buFont typeface="Roboto"/>
              <a:buNone/>
            </a:pPr>
            <a:r>
              <a:rPr lang="es-CL" sz="1400" b="0" i="0" u="none" strike="noStrike" cap="none">
                <a:solidFill>
                  <a:srgbClr val="33448D"/>
                </a:solidFill>
                <a:latin typeface="Roboto"/>
                <a:ea typeface="Roboto"/>
                <a:cs typeface="Roboto"/>
                <a:sym typeface="Roboto"/>
              </a:rPr>
              <a:t>Región de Valparaíso</a:t>
            </a:r>
            <a:endParaRPr/>
          </a:p>
        </p:txBody>
      </p:sp>
      <p:graphicFrame>
        <p:nvGraphicFramePr>
          <p:cNvPr id="3" name="Tabla 2">
            <a:extLst>
              <a:ext uri="{FF2B5EF4-FFF2-40B4-BE49-F238E27FC236}">
                <a16:creationId xmlns:a16="http://schemas.microsoft.com/office/drawing/2014/main" id="{3D42D46C-05DC-0D0D-6EF7-1A97B558A6B3}"/>
              </a:ext>
            </a:extLst>
          </p:cNvPr>
          <p:cNvGraphicFramePr>
            <a:graphicFrameLocks noGrp="1"/>
          </p:cNvGraphicFramePr>
          <p:nvPr>
            <p:extLst>
              <p:ext uri="{D42A27DB-BD31-4B8C-83A1-F6EECF244321}">
                <p14:modId xmlns:p14="http://schemas.microsoft.com/office/powerpoint/2010/main" val="4012638825"/>
              </p:ext>
            </p:extLst>
          </p:nvPr>
        </p:nvGraphicFramePr>
        <p:xfrm>
          <a:off x="304368" y="1412493"/>
          <a:ext cx="10515600" cy="3088685"/>
        </p:xfrm>
        <a:graphic>
          <a:graphicData uri="http://schemas.openxmlformats.org/drawingml/2006/table">
            <a:tbl>
              <a:tblPr/>
              <a:tblGrid>
                <a:gridCol w="2033331">
                  <a:extLst>
                    <a:ext uri="{9D8B030D-6E8A-4147-A177-3AD203B41FA5}">
                      <a16:colId xmlns:a16="http://schemas.microsoft.com/office/drawing/2014/main" val="2575788441"/>
                    </a:ext>
                  </a:extLst>
                </a:gridCol>
                <a:gridCol w="534181">
                  <a:extLst>
                    <a:ext uri="{9D8B030D-6E8A-4147-A177-3AD203B41FA5}">
                      <a16:colId xmlns:a16="http://schemas.microsoft.com/office/drawing/2014/main" val="1543417955"/>
                    </a:ext>
                  </a:extLst>
                </a:gridCol>
                <a:gridCol w="536334">
                  <a:extLst>
                    <a:ext uri="{9D8B030D-6E8A-4147-A177-3AD203B41FA5}">
                      <a16:colId xmlns:a16="http://schemas.microsoft.com/office/drawing/2014/main" val="927633647"/>
                    </a:ext>
                  </a:extLst>
                </a:gridCol>
                <a:gridCol w="534181">
                  <a:extLst>
                    <a:ext uri="{9D8B030D-6E8A-4147-A177-3AD203B41FA5}">
                      <a16:colId xmlns:a16="http://schemas.microsoft.com/office/drawing/2014/main" val="3964416628"/>
                    </a:ext>
                  </a:extLst>
                </a:gridCol>
                <a:gridCol w="536334">
                  <a:extLst>
                    <a:ext uri="{9D8B030D-6E8A-4147-A177-3AD203B41FA5}">
                      <a16:colId xmlns:a16="http://schemas.microsoft.com/office/drawing/2014/main" val="3486690187"/>
                    </a:ext>
                  </a:extLst>
                </a:gridCol>
                <a:gridCol w="534181">
                  <a:extLst>
                    <a:ext uri="{9D8B030D-6E8A-4147-A177-3AD203B41FA5}">
                      <a16:colId xmlns:a16="http://schemas.microsoft.com/office/drawing/2014/main" val="1868253624"/>
                    </a:ext>
                  </a:extLst>
                </a:gridCol>
                <a:gridCol w="536334">
                  <a:extLst>
                    <a:ext uri="{9D8B030D-6E8A-4147-A177-3AD203B41FA5}">
                      <a16:colId xmlns:a16="http://schemas.microsoft.com/office/drawing/2014/main" val="137649689"/>
                    </a:ext>
                  </a:extLst>
                </a:gridCol>
                <a:gridCol w="628954">
                  <a:extLst>
                    <a:ext uri="{9D8B030D-6E8A-4147-A177-3AD203B41FA5}">
                      <a16:colId xmlns:a16="http://schemas.microsoft.com/office/drawing/2014/main" val="1097560110"/>
                    </a:ext>
                  </a:extLst>
                </a:gridCol>
                <a:gridCol w="626800">
                  <a:extLst>
                    <a:ext uri="{9D8B030D-6E8A-4147-A177-3AD203B41FA5}">
                      <a16:colId xmlns:a16="http://schemas.microsoft.com/office/drawing/2014/main" val="3394696793"/>
                    </a:ext>
                  </a:extLst>
                </a:gridCol>
                <a:gridCol w="947740">
                  <a:extLst>
                    <a:ext uri="{9D8B030D-6E8A-4147-A177-3AD203B41FA5}">
                      <a16:colId xmlns:a16="http://schemas.microsoft.com/office/drawing/2014/main" val="525573804"/>
                    </a:ext>
                  </a:extLst>
                </a:gridCol>
                <a:gridCol w="947740">
                  <a:extLst>
                    <a:ext uri="{9D8B030D-6E8A-4147-A177-3AD203B41FA5}">
                      <a16:colId xmlns:a16="http://schemas.microsoft.com/office/drawing/2014/main" val="420370545"/>
                    </a:ext>
                  </a:extLst>
                </a:gridCol>
                <a:gridCol w="2119490">
                  <a:extLst>
                    <a:ext uri="{9D8B030D-6E8A-4147-A177-3AD203B41FA5}">
                      <a16:colId xmlns:a16="http://schemas.microsoft.com/office/drawing/2014/main" val="2842353628"/>
                    </a:ext>
                  </a:extLst>
                </a:gridCol>
              </a:tblGrid>
              <a:tr h="180037">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3816558854"/>
                  </a:ext>
                </a:extLst>
              </a:tr>
              <a:tr h="268712">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2932210538"/>
                  </a:ext>
                </a:extLst>
              </a:tr>
              <a:tr h="214970">
                <a:tc>
                  <a:txBody>
                    <a:bodyPr/>
                    <a:lstStyle/>
                    <a:p>
                      <a:pPr algn="l" fontAlgn="ctr">
                        <a:buNone/>
                      </a:pPr>
                      <a:r>
                        <a:rPr lang="es-CL" sz="800" b="0" i="0" u="none" strike="noStrike" dirty="0">
                          <a:solidFill>
                            <a:schemeClr val="accent2"/>
                          </a:solidFill>
                          <a:effectLst/>
                          <a:latin typeface="Calibri" panose="020F0502020204030204" pitchFamily="34" charset="0"/>
                        </a:rPr>
                        <a:t>CLINICA REÑACA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54,3%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54,3%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Auditoría preventiva.</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Contrato anual de mantenimiento.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655197405"/>
                  </a:ext>
                </a:extLst>
              </a:tr>
              <a:tr h="214970">
                <a:tc>
                  <a:txBody>
                    <a:bodyPr/>
                    <a:lstStyle/>
                    <a:p>
                      <a:pPr algn="l" fontAlgn="ctr">
                        <a:buNone/>
                      </a:pPr>
                      <a:r>
                        <a:rPr lang="es-CL" sz="800" b="0" i="0" u="none" strike="noStrike" dirty="0">
                          <a:solidFill>
                            <a:schemeClr val="accent2"/>
                          </a:solidFill>
                          <a:effectLst/>
                          <a:latin typeface="Calibri" panose="020F0502020204030204" pitchFamily="34" charset="0"/>
                        </a:rPr>
                        <a:t>CENTRAL ODONTOLOGICA PRIMERA ZONA NAVAL VIÑA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58,6%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58,6%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Convenio institucional de mantenimiento y soporte especializado.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487689128"/>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CENT. ODONT. DE VALPARAISO 1° ZONA NAVAL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74,2%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anual y fortalecimiento de vínculo institucional.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914886151"/>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HOSPITAL CLINICO IST VIÑA DEL MAR</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69,5%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69,5%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técnico y propuesta de cobertura preventiva.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085754633"/>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RAUL SILVA HENRIQUEZ</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84,9%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84,9%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Gestión mediante ruta regional preventiva programada.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560288912"/>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HOSPITAL DE QUILLOTA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85,4%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84,0%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78,1%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3,0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de equipos.</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Contrato parcial por criticidad.</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891586994"/>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LLOLLEO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63,8%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63,8%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Cobertura preventiva mediante planificación de rutas.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447930788"/>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LA LIGUA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97,4%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85,6%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Levantamiento técnico y propuesta preventiva básica.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087440914"/>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HOSPITAL DE QUILPUE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71,9%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71,9%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Evaluación de cobertura y propuesta de mantenimiento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4349370"/>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DE HANGA ROA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Programa preventivo anual coordinado desde Santiago.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771717645"/>
                  </a:ext>
                </a:extLst>
              </a:tr>
              <a:tr h="134356">
                <a:tc>
                  <a:txBody>
                    <a:bodyPr/>
                    <a:lstStyle/>
                    <a:p>
                      <a:pPr algn="l" fontAlgn="ctr">
                        <a:buNone/>
                      </a:pPr>
                      <a:r>
                        <a:rPr lang="es-CL" sz="800" b="1" i="0" u="none" strike="noStrike">
                          <a:solidFill>
                            <a:srgbClr val="FFFFFF"/>
                          </a:solidFill>
                          <a:effectLst/>
                          <a:latin typeface="Calibri" panose="020F0502020204030204" pitchFamily="34" charset="0"/>
                        </a:rPr>
                        <a:t>TOTAL · 10 clientes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76,3%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65,5%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69,5%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50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69,2%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77,0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38,5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2868816125"/>
                  </a:ext>
                </a:extLst>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521"/>
        <p:cNvGrpSpPr/>
        <p:nvPr/>
      </p:nvGrpSpPr>
      <p:grpSpPr>
        <a:xfrm>
          <a:off x="0" y="0"/>
          <a:ext cx="0" cy="0"/>
          <a:chOff x="0" y="0"/>
          <a:chExt cx="0" cy="0"/>
        </a:xfrm>
      </p:grpSpPr>
      <p:sp>
        <p:nvSpPr>
          <p:cNvPr id="522" name="Google Shape;522;p42"/>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23" name="Google Shape;523;p42"/>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24" name="Google Shape;524;p42"/>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la Araucanía</a:t>
            </a:r>
            <a:endParaRPr/>
          </a:p>
        </p:txBody>
      </p:sp>
      <p:graphicFrame>
        <p:nvGraphicFramePr>
          <p:cNvPr id="2" name="Tabla 1">
            <a:extLst>
              <a:ext uri="{FF2B5EF4-FFF2-40B4-BE49-F238E27FC236}">
                <a16:creationId xmlns:a16="http://schemas.microsoft.com/office/drawing/2014/main" id="{FDA81806-3802-B39E-9532-ABF5DEAA928A}"/>
              </a:ext>
            </a:extLst>
          </p:cNvPr>
          <p:cNvGraphicFramePr>
            <a:graphicFrameLocks noGrp="1"/>
          </p:cNvGraphicFramePr>
          <p:nvPr>
            <p:extLst>
              <p:ext uri="{D42A27DB-BD31-4B8C-83A1-F6EECF244321}">
                <p14:modId xmlns:p14="http://schemas.microsoft.com/office/powerpoint/2010/main" val="3992067627"/>
              </p:ext>
            </p:extLst>
          </p:nvPr>
        </p:nvGraphicFramePr>
        <p:xfrm>
          <a:off x="323850" y="1412677"/>
          <a:ext cx="10515600" cy="3239195"/>
        </p:xfrm>
        <a:graphic>
          <a:graphicData uri="http://schemas.openxmlformats.org/drawingml/2006/table">
            <a:tbl>
              <a:tblPr/>
              <a:tblGrid>
                <a:gridCol w="2033331">
                  <a:extLst>
                    <a:ext uri="{9D8B030D-6E8A-4147-A177-3AD203B41FA5}">
                      <a16:colId xmlns:a16="http://schemas.microsoft.com/office/drawing/2014/main" val="1144199533"/>
                    </a:ext>
                  </a:extLst>
                </a:gridCol>
                <a:gridCol w="534181">
                  <a:extLst>
                    <a:ext uri="{9D8B030D-6E8A-4147-A177-3AD203B41FA5}">
                      <a16:colId xmlns:a16="http://schemas.microsoft.com/office/drawing/2014/main" val="116906216"/>
                    </a:ext>
                  </a:extLst>
                </a:gridCol>
                <a:gridCol w="536334">
                  <a:extLst>
                    <a:ext uri="{9D8B030D-6E8A-4147-A177-3AD203B41FA5}">
                      <a16:colId xmlns:a16="http://schemas.microsoft.com/office/drawing/2014/main" val="2285819894"/>
                    </a:ext>
                  </a:extLst>
                </a:gridCol>
                <a:gridCol w="534181">
                  <a:extLst>
                    <a:ext uri="{9D8B030D-6E8A-4147-A177-3AD203B41FA5}">
                      <a16:colId xmlns:a16="http://schemas.microsoft.com/office/drawing/2014/main" val="1148912652"/>
                    </a:ext>
                  </a:extLst>
                </a:gridCol>
                <a:gridCol w="536334">
                  <a:extLst>
                    <a:ext uri="{9D8B030D-6E8A-4147-A177-3AD203B41FA5}">
                      <a16:colId xmlns:a16="http://schemas.microsoft.com/office/drawing/2014/main" val="1693041395"/>
                    </a:ext>
                  </a:extLst>
                </a:gridCol>
                <a:gridCol w="534181">
                  <a:extLst>
                    <a:ext uri="{9D8B030D-6E8A-4147-A177-3AD203B41FA5}">
                      <a16:colId xmlns:a16="http://schemas.microsoft.com/office/drawing/2014/main" val="1039202303"/>
                    </a:ext>
                  </a:extLst>
                </a:gridCol>
                <a:gridCol w="536334">
                  <a:extLst>
                    <a:ext uri="{9D8B030D-6E8A-4147-A177-3AD203B41FA5}">
                      <a16:colId xmlns:a16="http://schemas.microsoft.com/office/drawing/2014/main" val="839585326"/>
                    </a:ext>
                  </a:extLst>
                </a:gridCol>
                <a:gridCol w="628954">
                  <a:extLst>
                    <a:ext uri="{9D8B030D-6E8A-4147-A177-3AD203B41FA5}">
                      <a16:colId xmlns:a16="http://schemas.microsoft.com/office/drawing/2014/main" val="67270238"/>
                    </a:ext>
                  </a:extLst>
                </a:gridCol>
                <a:gridCol w="626800">
                  <a:extLst>
                    <a:ext uri="{9D8B030D-6E8A-4147-A177-3AD203B41FA5}">
                      <a16:colId xmlns:a16="http://schemas.microsoft.com/office/drawing/2014/main" val="2279381670"/>
                    </a:ext>
                  </a:extLst>
                </a:gridCol>
                <a:gridCol w="947740">
                  <a:extLst>
                    <a:ext uri="{9D8B030D-6E8A-4147-A177-3AD203B41FA5}">
                      <a16:colId xmlns:a16="http://schemas.microsoft.com/office/drawing/2014/main" val="2971662669"/>
                    </a:ext>
                  </a:extLst>
                </a:gridCol>
                <a:gridCol w="947740">
                  <a:extLst>
                    <a:ext uri="{9D8B030D-6E8A-4147-A177-3AD203B41FA5}">
                      <a16:colId xmlns:a16="http://schemas.microsoft.com/office/drawing/2014/main" val="3630663816"/>
                    </a:ext>
                  </a:extLst>
                </a:gridCol>
                <a:gridCol w="2119490">
                  <a:extLst>
                    <a:ext uri="{9D8B030D-6E8A-4147-A177-3AD203B41FA5}">
                      <a16:colId xmlns:a16="http://schemas.microsoft.com/office/drawing/2014/main" val="4126198284"/>
                    </a:ext>
                  </a:extLst>
                </a:gridCol>
              </a:tblGrid>
              <a:tr h="180037">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1470740399"/>
                  </a:ext>
                </a:extLst>
              </a:tr>
              <a:tr h="268712">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3043133897"/>
                  </a:ext>
                </a:extLst>
              </a:tr>
              <a:tr h="322454">
                <a:tc>
                  <a:txBody>
                    <a:bodyPr/>
                    <a:lstStyle/>
                    <a:p>
                      <a:pPr algn="l" fontAlgn="ctr">
                        <a:buNone/>
                      </a:pPr>
                      <a:r>
                        <a:rPr lang="es-CL" sz="800" b="0" i="0" u="none" strike="noStrike" dirty="0">
                          <a:solidFill>
                            <a:schemeClr val="accent2"/>
                          </a:solidFill>
                          <a:effectLst/>
                          <a:latin typeface="Calibri" panose="020F0502020204030204" pitchFamily="34" charset="0"/>
                        </a:rPr>
                        <a:t>HOSPITAL DE ANGOL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59,7%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75,6%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28,4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Campaña de recuperación de BI.</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Oferta de contrato preventivo.</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Identificación de equipos cercanos a renovación.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210368266"/>
                  </a:ext>
                </a:extLst>
              </a:tr>
              <a:tr h="214970">
                <a:tc>
                  <a:txBody>
                    <a:bodyPr/>
                    <a:lstStyle/>
                    <a:p>
                      <a:pPr algn="l" fontAlgn="ctr">
                        <a:buNone/>
                      </a:pPr>
                      <a:r>
                        <a:rPr lang="es-CL" sz="800" b="0" i="0" u="none" strike="noStrike" dirty="0">
                          <a:solidFill>
                            <a:schemeClr val="accent2"/>
                          </a:solidFill>
                          <a:effectLst/>
                          <a:latin typeface="Calibri" panose="020F0502020204030204" pitchFamily="34" charset="0"/>
                        </a:rPr>
                        <a:t>UNIVERSIDAD DE LA FRONTERA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55,6%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29,5%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42,5%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27,2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13,6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Convenio institucional.</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Cobertura preventiva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317030912"/>
                  </a:ext>
                </a:extLst>
              </a:tr>
              <a:tr h="214970">
                <a:tc>
                  <a:txBody>
                    <a:bodyPr/>
                    <a:lstStyle/>
                    <a:p>
                      <a:pPr algn="l" fontAlgn="ctr">
                        <a:buNone/>
                      </a:pPr>
                      <a:r>
                        <a:rPr lang="es-CL" sz="800" b="0" i="0" u="none" strike="noStrike">
                          <a:solidFill>
                            <a:schemeClr val="accent2"/>
                          </a:solidFill>
                          <a:effectLst/>
                          <a:latin typeface="Calibri" panose="020F0502020204030204" pitchFamily="34" charset="0"/>
                        </a:rPr>
                        <a:t>HOSPITAL DE LAUTARO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127,8%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127,8%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Evaluación de riesgo operativo y propuesta de mantenimiento.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017727521"/>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VICTORIA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86,3%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80,2%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anual y reuniones periódicas.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072567070"/>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PUCON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Cobertura regional preventiva programada.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744804311"/>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DE TRAIGUEN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55,0%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62,8%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58,9%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técnico y cobertura planificada.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526472049"/>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COLLIPULLI</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56,8%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y evaluación de renovación.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912296580"/>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DE LONQUIMAY</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26,5%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26,5%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Incorporación a rutas regionales de soporte.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860875842"/>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ERCILLA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69,4%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69,4%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básico.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306529989"/>
                  </a:ext>
                </a:extLst>
              </a:tr>
              <a:tr h="752394">
                <a:tc>
                  <a:txBody>
                    <a:bodyPr/>
                    <a:lstStyle/>
                    <a:p>
                      <a:pPr algn="l" fontAlgn="ctr">
                        <a:buNone/>
                      </a:pPr>
                      <a:r>
                        <a:rPr lang="es-CL" sz="800" b="0" i="0" u="none" strike="noStrike">
                          <a:solidFill>
                            <a:schemeClr val="accent2"/>
                          </a:solidFill>
                          <a:effectLst/>
                          <a:latin typeface="Calibri" panose="020F0502020204030204" pitchFamily="34" charset="0"/>
                        </a:rPr>
                        <a:t>GOBIERNO REGIONAL DE LA ARAUCANIA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Reunión institucional.</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Auditoría técnica de base instalada.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Convenio institucional de mantenimiento.</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Programa preventivo anual.</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Evaluación de renovación tecnológica.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Identificación de proyectos de inversión regional.</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Seguimiento comercial semestral.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396103016"/>
                  </a:ext>
                </a:extLst>
              </a:tr>
              <a:tr h="134356">
                <a:tc>
                  <a:txBody>
                    <a:bodyPr/>
                    <a:lstStyle/>
                    <a:p>
                      <a:pPr algn="l" fontAlgn="ctr">
                        <a:buNone/>
                      </a:pPr>
                      <a:r>
                        <a:rPr lang="es-CL" sz="800" b="1" i="0" u="none" strike="noStrike">
                          <a:solidFill>
                            <a:srgbClr val="FFFFFF"/>
                          </a:solidFill>
                          <a:effectLst/>
                          <a:latin typeface="Calibri" panose="020F0502020204030204" pitchFamily="34" charset="0"/>
                        </a:rPr>
                        <a:t>TOTAL · 10 clientes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68,1%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52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65,2%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80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70,4%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123,7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61,9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351495482"/>
                  </a:ext>
                </a:extLst>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529"/>
        <p:cNvGrpSpPr/>
        <p:nvPr/>
      </p:nvGrpSpPr>
      <p:grpSpPr>
        <a:xfrm>
          <a:off x="0" y="0"/>
          <a:ext cx="0" cy="0"/>
          <a:chOff x="0" y="0"/>
          <a:chExt cx="0" cy="0"/>
        </a:xfrm>
      </p:grpSpPr>
      <p:sp>
        <p:nvSpPr>
          <p:cNvPr id="530" name="Google Shape;530;p43"/>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31" name="Google Shape;531;p43"/>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32" name="Google Shape;532;p43"/>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del Maule</a:t>
            </a:r>
            <a:endParaRPr/>
          </a:p>
        </p:txBody>
      </p:sp>
      <p:graphicFrame>
        <p:nvGraphicFramePr>
          <p:cNvPr id="3" name="Tabla 2">
            <a:extLst>
              <a:ext uri="{FF2B5EF4-FFF2-40B4-BE49-F238E27FC236}">
                <a16:creationId xmlns:a16="http://schemas.microsoft.com/office/drawing/2014/main" id="{48D8B932-BB4A-D0DE-8A97-71C2444A7142}"/>
              </a:ext>
            </a:extLst>
          </p:cNvPr>
          <p:cNvGraphicFramePr>
            <a:graphicFrameLocks noGrp="1"/>
          </p:cNvGraphicFramePr>
          <p:nvPr>
            <p:extLst>
              <p:ext uri="{D42A27DB-BD31-4B8C-83A1-F6EECF244321}">
                <p14:modId xmlns:p14="http://schemas.microsoft.com/office/powerpoint/2010/main" val="3493804173"/>
              </p:ext>
            </p:extLst>
          </p:nvPr>
        </p:nvGraphicFramePr>
        <p:xfrm>
          <a:off x="323850" y="1436501"/>
          <a:ext cx="10515600" cy="2275271"/>
        </p:xfrm>
        <a:graphic>
          <a:graphicData uri="http://schemas.openxmlformats.org/drawingml/2006/table">
            <a:tbl>
              <a:tblPr/>
              <a:tblGrid>
                <a:gridCol w="2033331">
                  <a:extLst>
                    <a:ext uri="{9D8B030D-6E8A-4147-A177-3AD203B41FA5}">
                      <a16:colId xmlns:a16="http://schemas.microsoft.com/office/drawing/2014/main" val="3923036779"/>
                    </a:ext>
                  </a:extLst>
                </a:gridCol>
                <a:gridCol w="534181">
                  <a:extLst>
                    <a:ext uri="{9D8B030D-6E8A-4147-A177-3AD203B41FA5}">
                      <a16:colId xmlns:a16="http://schemas.microsoft.com/office/drawing/2014/main" val="359970525"/>
                    </a:ext>
                  </a:extLst>
                </a:gridCol>
                <a:gridCol w="536334">
                  <a:extLst>
                    <a:ext uri="{9D8B030D-6E8A-4147-A177-3AD203B41FA5}">
                      <a16:colId xmlns:a16="http://schemas.microsoft.com/office/drawing/2014/main" val="1735463668"/>
                    </a:ext>
                  </a:extLst>
                </a:gridCol>
                <a:gridCol w="534181">
                  <a:extLst>
                    <a:ext uri="{9D8B030D-6E8A-4147-A177-3AD203B41FA5}">
                      <a16:colId xmlns:a16="http://schemas.microsoft.com/office/drawing/2014/main" val="2715575203"/>
                    </a:ext>
                  </a:extLst>
                </a:gridCol>
                <a:gridCol w="536334">
                  <a:extLst>
                    <a:ext uri="{9D8B030D-6E8A-4147-A177-3AD203B41FA5}">
                      <a16:colId xmlns:a16="http://schemas.microsoft.com/office/drawing/2014/main" val="4093221359"/>
                    </a:ext>
                  </a:extLst>
                </a:gridCol>
                <a:gridCol w="534181">
                  <a:extLst>
                    <a:ext uri="{9D8B030D-6E8A-4147-A177-3AD203B41FA5}">
                      <a16:colId xmlns:a16="http://schemas.microsoft.com/office/drawing/2014/main" val="853004140"/>
                    </a:ext>
                  </a:extLst>
                </a:gridCol>
                <a:gridCol w="536334">
                  <a:extLst>
                    <a:ext uri="{9D8B030D-6E8A-4147-A177-3AD203B41FA5}">
                      <a16:colId xmlns:a16="http://schemas.microsoft.com/office/drawing/2014/main" val="2164696636"/>
                    </a:ext>
                  </a:extLst>
                </a:gridCol>
                <a:gridCol w="628954">
                  <a:extLst>
                    <a:ext uri="{9D8B030D-6E8A-4147-A177-3AD203B41FA5}">
                      <a16:colId xmlns:a16="http://schemas.microsoft.com/office/drawing/2014/main" val="3950083552"/>
                    </a:ext>
                  </a:extLst>
                </a:gridCol>
                <a:gridCol w="626800">
                  <a:extLst>
                    <a:ext uri="{9D8B030D-6E8A-4147-A177-3AD203B41FA5}">
                      <a16:colId xmlns:a16="http://schemas.microsoft.com/office/drawing/2014/main" val="875517337"/>
                    </a:ext>
                  </a:extLst>
                </a:gridCol>
                <a:gridCol w="947740">
                  <a:extLst>
                    <a:ext uri="{9D8B030D-6E8A-4147-A177-3AD203B41FA5}">
                      <a16:colId xmlns:a16="http://schemas.microsoft.com/office/drawing/2014/main" val="789934390"/>
                    </a:ext>
                  </a:extLst>
                </a:gridCol>
                <a:gridCol w="947740">
                  <a:extLst>
                    <a:ext uri="{9D8B030D-6E8A-4147-A177-3AD203B41FA5}">
                      <a16:colId xmlns:a16="http://schemas.microsoft.com/office/drawing/2014/main" val="4140069937"/>
                    </a:ext>
                  </a:extLst>
                </a:gridCol>
                <a:gridCol w="2119490">
                  <a:extLst>
                    <a:ext uri="{9D8B030D-6E8A-4147-A177-3AD203B41FA5}">
                      <a16:colId xmlns:a16="http://schemas.microsoft.com/office/drawing/2014/main" val="23211011"/>
                    </a:ext>
                  </a:extLst>
                </a:gridCol>
              </a:tblGrid>
              <a:tr h="180037">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4259996314"/>
                  </a:ext>
                </a:extLst>
              </a:tr>
              <a:tr h="268712">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1603735766"/>
                  </a:ext>
                </a:extLst>
              </a:tr>
              <a:tr h="134356">
                <a:tc>
                  <a:txBody>
                    <a:bodyPr/>
                    <a:lstStyle/>
                    <a:p>
                      <a:pPr algn="l" fontAlgn="b">
                        <a:buNone/>
                      </a:pPr>
                      <a:r>
                        <a:rPr lang="es-CL" sz="800" b="0" i="0" u="none" strike="noStrike" dirty="0">
                          <a:solidFill>
                            <a:schemeClr val="accent2"/>
                          </a:solidFill>
                          <a:effectLst/>
                          <a:latin typeface="Calibri" panose="020F0502020204030204" pitchFamily="34" charset="0"/>
                        </a:rPr>
                        <a:t>I. MUNICIPALIDAD DE PARRAL - DPTO SALUD</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90,6%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61,9%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66,7%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12,9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Convenio institucional y programa preventivo anual.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540005901"/>
                  </a:ext>
                </a:extLst>
              </a:tr>
              <a:tr h="200190">
                <a:tc>
                  <a:txBody>
                    <a:bodyPr/>
                    <a:lstStyle/>
                    <a:p>
                      <a:pPr algn="l" fontAlgn="b">
                        <a:buNone/>
                      </a:pPr>
                      <a:r>
                        <a:rPr lang="es-CL" sz="800" b="0" i="0" u="none" strike="noStrike">
                          <a:solidFill>
                            <a:schemeClr val="accent2"/>
                          </a:solidFill>
                          <a:effectLst/>
                          <a:latin typeface="Calibri" panose="020F0502020204030204" pitchFamily="34" charset="0"/>
                        </a:rPr>
                        <a:t>HOSPITAL DE CURICO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63,5%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58,2%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10,4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Levantamiento técnico institucional y propuesta de cobertura anual.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164051319"/>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HOSPITAL BASE CURICO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89,4%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89,4%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Contrato preventivo institucional y soporte programado.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72948992"/>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CARABINEROS CURICO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66,7%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66,7%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Convenio institucional de soporte técnico.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864026312"/>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LONGAVI</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100,8%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100,8%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Incorporación a rutas preventivas regionales.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925707064"/>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COLBUN</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84,4%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113,8%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104,0%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y seguimiento anual.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881927348"/>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RIO CLARO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66,7%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58,9%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61,5%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Cobertura preventiva básica.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760495458"/>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YERBAS BUENAS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85,4%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66,2%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73,9%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anual de mantenimiento.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228514512"/>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LAS AMERICAS TALCA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33,1%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33,1%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Cobertura preventiva regional.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103037941"/>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CLINICA PICHIMAPU SPA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155,6%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155,6%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Auditoría técnica y propuesta preventiva.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366871791"/>
                  </a:ext>
                </a:extLst>
              </a:tr>
              <a:tr h="134356">
                <a:tc>
                  <a:txBody>
                    <a:bodyPr/>
                    <a:lstStyle/>
                    <a:p>
                      <a:pPr algn="l" fontAlgn="b">
                        <a:buNone/>
                      </a:pPr>
                      <a:r>
                        <a:rPr lang="es-CL" sz="800" b="1" i="0" u="none" strike="noStrike">
                          <a:solidFill>
                            <a:srgbClr val="FFFFFF"/>
                          </a:solidFill>
                          <a:effectLst/>
                          <a:latin typeface="Calibri" panose="020F0502020204030204" pitchFamily="34" charset="0"/>
                        </a:rPr>
                        <a:t>TOTAL · 10 clientes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23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72,9%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24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71,4%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20,8%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49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69,8%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64,9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32,6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b">
                        <a:buNone/>
                      </a:pPr>
                      <a:r>
                        <a:rPr lang="es-CL" sz="800" b="1" i="0" u="none" strike="noStrike" dirty="0">
                          <a:solidFill>
                            <a:srgbClr val="FFFFFF"/>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1853692144"/>
                  </a:ext>
                </a:extLst>
              </a:tr>
            </a:tbl>
          </a:graphicData>
        </a:graphic>
      </p:graphicFrame>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537"/>
        <p:cNvGrpSpPr/>
        <p:nvPr/>
      </p:nvGrpSpPr>
      <p:grpSpPr>
        <a:xfrm>
          <a:off x="0" y="0"/>
          <a:ext cx="0" cy="0"/>
          <a:chOff x="0" y="0"/>
          <a:chExt cx="0" cy="0"/>
        </a:xfrm>
      </p:grpSpPr>
      <p:sp>
        <p:nvSpPr>
          <p:cNvPr id="538" name="Google Shape;538;p44"/>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39" name="Google Shape;539;p44"/>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40" name="Google Shape;540;p44"/>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Los Lagos</a:t>
            </a:r>
            <a:endParaRPr/>
          </a:p>
        </p:txBody>
      </p:sp>
      <p:graphicFrame>
        <p:nvGraphicFramePr>
          <p:cNvPr id="4" name="Tabla 3">
            <a:extLst>
              <a:ext uri="{FF2B5EF4-FFF2-40B4-BE49-F238E27FC236}">
                <a16:creationId xmlns:a16="http://schemas.microsoft.com/office/drawing/2014/main" id="{F2EC0A13-5A9A-307A-3B9F-42D79B2C9CFD}"/>
              </a:ext>
            </a:extLst>
          </p:cNvPr>
          <p:cNvGraphicFramePr>
            <a:graphicFrameLocks noGrp="1"/>
          </p:cNvGraphicFramePr>
          <p:nvPr>
            <p:extLst>
              <p:ext uri="{D42A27DB-BD31-4B8C-83A1-F6EECF244321}">
                <p14:modId xmlns:p14="http://schemas.microsoft.com/office/powerpoint/2010/main" val="1769976062"/>
              </p:ext>
            </p:extLst>
          </p:nvPr>
        </p:nvGraphicFramePr>
        <p:xfrm>
          <a:off x="321854" y="1283475"/>
          <a:ext cx="10515600" cy="2391473"/>
        </p:xfrm>
        <a:graphic>
          <a:graphicData uri="http://schemas.openxmlformats.org/drawingml/2006/table">
            <a:tbl>
              <a:tblPr/>
              <a:tblGrid>
                <a:gridCol w="2033331">
                  <a:extLst>
                    <a:ext uri="{9D8B030D-6E8A-4147-A177-3AD203B41FA5}">
                      <a16:colId xmlns:a16="http://schemas.microsoft.com/office/drawing/2014/main" val="1838834232"/>
                    </a:ext>
                  </a:extLst>
                </a:gridCol>
                <a:gridCol w="534181">
                  <a:extLst>
                    <a:ext uri="{9D8B030D-6E8A-4147-A177-3AD203B41FA5}">
                      <a16:colId xmlns:a16="http://schemas.microsoft.com/office/drawing/2014/main" val="2051577177"/>
                    </a:ext>
                  </a:extLst>
                </a:gridCol>
                <a:gridCol w="536334">
                  <a:extLst>
                    <a:ext uri="{9D8B030D-6E8A-4147-A177-3AD203B41FA5}">
                      <a16:colId xmlns:a16="http://schemas.microsoft.com/office/drawing/2014/main" val="2202877435"/>
                    </a:ext>
                  </a:extLst>
                </a:gridCol>
                <a:gridCol w="534181">
                  <a:extLst>
                    <a:ext uri="{9D8B030D-6E8A-4147-A177-3AD203B41FA5}">
                      <a16:colId xmlns:a16="http://schemas.microsoft.com/office/drawing/2014/main" val="1750240823"/>
                    </a:ext>
                  </a:extLst>
                </a:gridCol>
                <a:gridCol w="536334">
                  <a:extLst>
                    <a:ext uri="{9D8B030D-6E8A-4147-A177-3AD203B41FA5}">
                      <a16:colId xmlns:a16="http://schemas.microsoft.com/office/drawing/2014/main" val="2009161650"/>
                    </a:ext>
                  </a:extLst>
                </a:gridCol>
                <a:gridCol w="534181">
                  <a:extLst>
                    <a:ext uri="{9D8B030D-6E8A-4147-A177-3AD203B41FA5}">
                      <a16:colId xmlns:a16="http://schemas.microsoft.com/office/drawing/2014/main" val="682114829"/>
                    </a:ext>
                  </a:extLst>
                </a:gridCol>
                <a:gridCol w="536334">
                  <a:extLst>
                    <a:ext uri="{9D8B030D-6E8A-4147-A177-3AD203B41FA5}">
                      <a16:colId xmlns:a16="http://schemas.microsoft.com/office/drawing/2014/main" val="1814091358"/>
                    </a:ext>
                  </a:extLst>
                </a:gridCol>
                <a:gridCol w="628954">
                  <a:extLst>
                    <a:ext uri="{9D8B030D-6E8A-4147-A177-3AD203B41FA5}">
                      <a16:colId xmlns:a16="http://schemas.microsoft.com/office/drawing/2014/main" val="2225516356"/>
                    </a:ext>
                  </a:extLst>
                </a:gridCol>
                <a:gridCol w="626800">
                  <a:extLst>
                    <a:ext uri="{9D8B030D-6E8A-4147-A177-3AD203B41FA5}">
                      <a16:colId xmlns:a16="http://schemas.microsoft.com/office/drawing/2014/main" val="4219516696"/>
                    </a:ext>
                  </a:extLst>
                </a:gridCol>
                <a:gridCol w="947740">
                  <a:extLst>
                    <a:ext uri="{9D8B030D-6E8A-4147-A177-3AD203B41FA5}">
                      <a16:colId xmlns:a16="http://schemas.microsoft.com/office/drawing/2014/main" val="3723427803"/>
                    </a:ext>
                  </a:extLst>
                </a:gridCol>
                <a:gridCol w="947740">
                  <a:extLst>
                    <a:ext uri="{9D8B030D-6E8A-4147-A177-3AD203B41FA5}">
                      <a16:colId xmlns:a16="http://schemas.microsoft.com/office/drawing/2014/main" val="3003473656"/>
                    </a:ext>
                  </a:extLst>
                </a:gridCol>
                <a:gridCol w="2119490">
                  <a:extLst>
                    <a:ext uri="{9D8B030D-6E8A-4147-A177-3AD203B41FA5}">
                      <a16:colId xmlns:a16="http://schemas.microsoft.com/office/drawing/2014/main" val="2851395898"/>
                    </a:ext>
                  </a:extLst>
                </a:gridCol>
              </a:tblGrid>
              <a:tr h="180037">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351650837"/>
                  </a:ext>
                </a:extLst>
              </a:tr>
              <a:tr h="268712">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2470153671"/>
                  </a:ext>
                </a:extLst>
              </a:tr>
              <a:tr h="134356">
                <a:tc>
                  <a:txBody>
                    <a:bodyPr/>
                    <a:lstStyle/>
                    <a:p>
                      <a:pPr algn="l" fontAlgn="b">
                        <a:buNone/>
                      </a:pPr>
                      <a:r>
                        <a:rPr lang="es-CL" sz="800" b="0" i="0" u="none" strike="noStrike" dirty="0">
                          <a:solidFill>
                            <a:schemeClr val="accent2"/>
                          </a:solidFill>
                          <a:effectLst/>
                          <a:latin typeface="Calibri" panose="020F0502020204030204" pitchFamily="34" charset="0"/>
                        </a:rPr>
                        <a:t>CESFAM ALERCE</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27,8%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27,8%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utilizando base Puerto Montt.</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552831656"/>
                  </a:ext>
                </a:extLst>
              </a:tr>
              <a:tr h="134356">
                <a:tc>
                  <a:txBody>
                    <a:bodyPr/>
                    <a:lstStyle/>
                    <a:p>
                      <a:pPr algn="l" fontAlgn="b">
                        <a:buNone/>
                      </a:pPr>
                      <a:r>
                        <a:rPr lang="es-CL" sz="800" b="0" i="0" u="none" strike="noStrike" dirty="0">
                          <a:solidFill>
                            <a:schemeClr val="accent2"/>
                          </a:solidFill>
                          <a:effectLst/>
                          <a:latin typeface="Calibri" panose="020F0502020204030204" pitchFamily="34" charset="0"/>
                        </a:rPr>
                        <a:t>JUNAEB MODULO FRUTILLAR</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126,4%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51,9%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111,6%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anual y capacitación usuarios.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41090004"/>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HOSPITAL FUTALEUFU</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82,9%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82,9%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Cobertura programada en rondas regionales.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937839931"/>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CHUYACA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11,9%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11,9%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Cobertura preventiva programada desde Osorno.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810130704"/>
                  </a:ext>
                </a:extLst>
              </a:tr>
              <a:tr h="200190">
                <a:tc>
                  <a:txBody>
                    <a:bodyPr/>
                    <a:lstStyle/>
                    <a:p>
                      <a:pPr algn="l" fontAlgn="b">
                        <a:buNone/>
                      </a:pPr>
                      <a:r>
                        <a:rPr lang="es-CL" sz="800" b="0" i="0" u="none" strike="noStrike">
                          <a:solidFill>
                            <a:schemeClr val="accent2"/>
                          </a:solidFill>
                          <a:effectLst/>
                          <a:latin typeface="Calibri" panose="020F0502020204030204" pitchFamily="34" charset="0"/>
                        </a:rPr>
                        <a:t>REDSALUD PUERTO MONTT</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61,9%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61,9%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Recuperación de activos sin cobertura.</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Contrato preventivo programado.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272980215"/>
                  </a:ext>
                </a:extLst>
              </a:tr>
              <a:tr h="200190">
                <a:tc>
                  <a:txBody>
                    <a:bodyPr/>
                    <a:lstStyle/>
                    <a:p>
                      <a:pPr algn="l" fontAlgn="b">
                        <a:buNone/>
                      </a:pPr>
                      <a:r>
                        <a:rPr lang="es-CL" sz="800" b="0" i="0" u="none" strike="noStrike">
                          <a:solidFill>
                            <a:schemeClr val="accent2"/>
                          </a:solidFill>
                          <a:effectLst/>
                          <a:latin typeface="Calibri" panose="020F0502020204030204" pitchFamily="34" charset="0"/>
                        </a:rPr>
                        <a:t>HOSPITAL DE FRUTILLAR</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77,6%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77,6%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4,1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Ruta técnica trimestral.</a:t>
                      </a:r>
                      <a:br>
                        <a:rPr lang="es-CL" sz="800" b="0" i="0" u="none" strike="noStrike">
                          <a:solidFill>
                            <a:schemeClr val="accent2"/>
                          </a:solidFill>
                          <a:effectLst/>
                          <a:latin typeface="Calibri" panose="020F0502020204030204" pitchFamily="34" charset="0"/>
                        </a:rPr>
                      </a:br>
                      <a:r>
                        <a:rPr lang="es-CL" sz="800" b="0" i="0" u="none" strike="noStrike">
                          <a:solidFill>
                            <a:schemeClr val="accent2"/>
                          </a:solidFill>
                          <a:effectLst/>
                          <a:latin typeface="Calibri" panose="020F0502020204030204" pitchFamily="34" charset="0"/>
                        </a:rPr>
                        <a:t>Programa de inspección preventiva.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485234734"/>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ANTONIO VARAS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99,7%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99,7%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Integración en rutas técnicas programadas.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759774229"/>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POSTA CHAUCHIL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103,1%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82,8%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93,0%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Cobertura preventiva regional.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606346411"/>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POLICLINICO NAVAL DE PUERTO MONTT</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67,2%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67,2%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Cobertura preventiva regional.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262555446"/>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CESFAM ENTRE LAGOS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117,5%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117,5%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Cobertura preventiva regional.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582995755"/>
                  </a:ext>
                </a:extLst>
              </a:tr>
              <a:tr h="134356">
                <a:tc>
                  <a:txBody>
                    <a:bodyPr/>
                    <a:lstStyle/>
                    <a:p>
                      <a:pPr algn="l" fontAlgn="b">
                        <a:buNone/>
                      </a:pPr>
                      <a:r>
                        <a:rPr lang="es-CL" sz="800" b="1" i="0" u="none" strike="noStrike" dirty="0">
                          <a:solidFill>
                            <a:srgbClr val="FFFFFF"/>
                          </a:solidFill>
                          <a:effectLst/>
                          <a:latin typeface="Calibri" panose="020F0502020204030204" pitchFamily="34" charset="0"/>
                        </a:rPr>
                        <a:t>TOTAL · 10 clientes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123,8%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21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61,1%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29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80,3%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48,1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24,0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b">
                        <a:buNone/>
                      </a:pPr>
                      <a:r>
                        <a:rPr lang="es-CL" sz="800" b="1" i="0" u="none" strike="noStrike" dirty="0">
                          <a:solidFill>
                            <a:srgbClr val="FFFFFF"/>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3065322363"/>
                  </a:ext>
                </a:extLst>
              </a:tr>
            </a:tbl>
          </a:graphicData>
        </a:graphic>
      </p:graphicFrame>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545"/>
        <p:cNvGrpSpPr/>
        <p:nvPr/>
      </p:nvGrpSpPr>
      <p:grpSpPr>
        <a:xfrm>
          <a:off x="0" y="0"/>
          <a:ext cx="0" cy="0"/>
          <a:chOff x="0" y="0"/>
          <a:chExt cx="0" cy="0"/>
        </a:xfrm>
      </p:grpSpPr>
      <p:sp>
        <p:nvSpPr>
          <p:cNvPr id="546" name="Google Shape;546;p45"/>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47" name="Google Shape;547;p45"/>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48" name="Google Shape;548;p45"/>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O’Higgins</a:t>
            </a:r>
            <a:endParaRPr/>
          </a:p>
        </p:txBody>
      </p:sp>
      <p:graphicFrame>
        <p:nvGraphicFramePr>
          <p:cNvPr id="3" name="Tabla 2">
            <a:extLst>
              <a:ext uri="{FF2B5EF4-FFF2-40B4-BE49-F238E27FC236}">
                <a16:creationId xmlns:a16="http://schemas.microsoft.com/office/drawing/2014/main" id="{7F711AEB-9048-C99A-BE11-216CCFEEEFCD}"/>
              </a:ext>
            </a:extLst>
          </p:cNvPr>
          <p:cNvGraphicFramePr>
            <a:graphicFrameLocks noGrp="1"/>
          </p:cNvGraphicFramePr>
          <p:nvPr>
            <p:extLst>
              <p:ext uri="{D42A27DB-BD31-4B8C-83A1-F6EECF244321}">
                <p14:modId xmlns:p14="http://schemas.microsoft.com/office/powerpoint/2010/main" val="1951201851"/>
              </p:ext>
            </p:extLst>
          </p:nvPr>
        </p:nvGraphicFramePr>
        <p:xfrm>
          <a:off x="390749" y="1413559"/>
          <a:ext cx="10515600" cy="2375437"/>
        </p:xfrm>
        <a:graphic>
          <a:graphicData uri="http://schemas.openxmlformats.org/drawingml/2006/table">
            <a:tbl>
              <a:tblPr/>
              <a:tblGrid>
                <a:gridCol w="2033331">
                  <a:extLst>
                    <a:ext uri="{9D8B030D-6E8A-4147-A177-3AD203B41FA5}">
                      <a16:colId xmlns:a16="http://schemas.microsoft.com/office/drawing/2014/main" val="15181618"/>
                    </a:ext>
                  </a:extLst>
                </a:gridCol>
                <a:gridCol w="534181">
                  <a:extLst>
                    <a:ext uri="{9D8B030D-6E8A-4147-A177-3AD203B41FA5}">
                      <a16:colId xmlns:a16="http://schemas.microsoft.com/office/drawing/2014/main" val="48032846"/>
                    </a:ext>
                  </a:extLst>
                </a:gridCol>
                <a:gridCol w="536334">
                  <a:extLst>
                    <a:ext uri="{9D8B030D-6E8A-4147-A177-3AD203B41FA5}">
                      <a16:colId xmlns:a16="http://schemas.microsoft.com/office/drawing/2014/main" val="2379226943"/>
                    </a:ext>
                  </a:extLst>
                </a:gridCol>
                <a:gridCol w="534181">
                  <a:extLst>
                    <a:ext uri="{9D8B030D-6E8A-4147-A177-3AD203B41FA5}">
                      <a16:colId xmlns:a16="http://schemas.microsoft.com/office/drawing/2014/main" val="2670224940"/>
                    </a:ext>
                  </a:extLst>
                </a:gridCol>
                <a:gridCol w="536334">
                  <a:extLst>
                    <a:ext uri="{9D8B030D-6E8A-4147-A177-3AD203B41FA5}">
                      <a16:colId xmlns:a16="http://schemas.microsoft.com/office/drawing/2014/main" val="4266877745"/>
                    </a:ext>
                  </a:extLst>
                </a:gridCol>
                <a:gridCol w="534181">
                  <a:extLst>
                    <a:ext uri="{9D8B030D-6E8A-4147-A177-3AD203B41FA5}">
                      <a16:colId xmlns:a16="http://schemas.microsoft.com/office/drawing/2014/main" val="13358072"/>
                    </a:ext>
                  </a:extLst>
                </a:gridCol>
                <a:gridCol w="536334">
                  <a:extLst>
                    <a:ext uri="{9D8B030D-6E8A-4147-A177-3AD203B41FA5}">
                      <a16:colId xmlns:a16="http://schemas.microsoft.com/office/drawing/2014/main" val="2000226942"/>
                    </a:ext>
                  </a:extLst>
                </a:gridCol>
                <a:gridCol w="628954">
                  <a:extLst>
                    <a:ext uri="{9D8B030D-6E8A-4147-A177-3AD203B41FA5}">
                      <a16:colId xmlns:a16="http://schemas.microsoft.com/office/drawing/2014/main" val="2045031694"/>
                    </a:ext>
                  </a:extLst>
                </a:gridCol>
                <a:gridCol w="626800">
                  <a:extLst>
                    <a:ext uri="{9D8B030D-6E8A-4147-A177-3AD203B41FA5}">
                      <a16:colId xmlns:a16="http://schemas.microsoft.com/office/drawing/2014/main" val="259336079"/>
                    </a:ext>
                  </a:extLst>
                </a:gridCol>
                <a:gridCol w="947740">
                  <a:extLst>
                    <a:ext uri="{9D8B030D-6E8A-4147-A177-3AD203B41FA5}">
                      <a16:colId xmlns:a16="http://schemas.microsoft.com/office/drawing/2014/main" val="3291935040"/>
                    </a:ext>
                  </a:extLst>
                </a:gridCol>
                <a:gridCol w="947740">
                  <a:extLst>
                    <a:ext uri="{9D8B030D-6E8A-4147-A177-3AD203B41FA5}">
                      <a16:colId xmlns:a16="http://schemas.microsoft.com/office/drawing/2014/main" val="3544664881"/>
                    </a:ext>
                  </a:extLst>
                </a:gridCol>
                <a:gridCol w="2119490">
                  <a:extLst>
                    <a:ext uri="{9D8B030D-6E8A-4147-A177-3AD203B41FA5}">
                      <a16:colId xmlns:a16="http://schemas.microsoft.com/office/drawing/2014/main" val="1267436647"/>
                    </a:ext>
                  </a:extLst>
                </a:gridCol>
              </a:tblGrid>
              <a:tr h="221973">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3365435494"/>
                  </a:ext>
                </a:extLst>
              </a:tr>
              <a:tr h="331303">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551713494"/>
                  </a:ext>
                </a:extLst>
              </a:tr>
              <a:tr h="165651">
                <a:tc>
                  <a:txBody>
                    <a:bodyPr/>
                    <a:lstStyle/>
                    <a:p>
                      <a:pPr algn="l" fontAlgn="b">
                        <a:buNone/>
                      </a:pPr>
                      <a:r>
                        <a:rPr lang="es-CL" sz="800" b="0" i="0" u="none" strike="noStrike" dirty="0">
                          <a:solidFill>
                            <a:schemeClr val="accent2"/>
                          </a:solidFill>
                          <a:effectLst/>
                          <a:latin typeface="Calibri" panose="020F0502020204030204" pitchFamily="34" charset="0"/>
                        </a:rPr>
                        <a:t>CESFAM </a:t>
                      </a:r>
                      <a:r>
                        <a:rPr lang="es-CL" sz="800" b="0" i="0" u="none" strike="noStrike" dirty="0" err="1">
                          <a:solidFill>
                            <a:schemeClr val="accent2"/>
                          </a:solidFill>
                          <a:effectLst/>
                          <a:latin typeface="Calibri" panose="020F0502020204030204" pitchFamily="34" charset="0"/>
                        </a:rPr>
                        <a:t>N°</a:t>
                      </a:r>
                      <a:r>
                        <a:rPr lang="es-CL" sz="800" b="0" i="0" u="none" strike="noStrike" dirty="0">
                          <a:solidFill>
                            <a:schemeClr val="accent2"/>
                          </a:solidFill>
                          <a:effectLst/>
                          <a:latin typeface="Calibri" panose="020F0502020204030204" pitchFamily="34" charset="0"/>
                        </a:rPr>
                        <a:t> 2 RANCAGUA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160,1%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160,1%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12,3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Levantamiento técnico y propuesta institucional.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982496516"/>
                  </a:ext>
                </a:extLst>
              </a:tr>
              <a:tr h="165651">
                <a:tc>
                  <a:txBody>
                    <a:bodyPr/>
                    <a:lstStyle/>
                    <a:p>
                      <a:pPr algn="l" fontAlgn="b">
                        <a:buNone/>
                      </a:pPr>
                      <a:r>
                        <a:rPr lang="es-CL" sz="800" b="0" i="0" u="none" strike="noStrike" dirty="0">
                          <a:solidFill>
                            <a:schemeClr val="accent2"/>
                          </a:solidFill>
                          <a:effectLst/>
                          <a:latin typeface="Calibri" panose="020F0502020204030204" pitchFamily="34" charset="0"/>
                        </a:rPr>
                        <a:t>REDSALUD RANCAGUA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64,3%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64,3%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Contrato institucional preventivo.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583700165"/>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HOSPITAL REGIONAL DE RANCAGUA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31,3%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45,0%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38,1%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Auditoría técnica y propuesta de soporte anual.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768330118"/>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HOSPITAL SAN VICENTE TAGUA TAGUA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75,5%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75,5%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Cobertura preventiva programada.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855390530"/>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CESFAM N°1 RANCAGUA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80,7%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80,7%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básico.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11200350"/>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POSTA PAILIMO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62,5%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62,5%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Evaluación de activos y propuesta preventiva.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246897832"/>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HOSPITAL DE RENGO</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64,6%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88,5%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72,6%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Cobertura regional preventiva.</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669278644"/>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CESFAM RENGO ORIENTE</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63,3%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95,0%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79,2%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2,7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anual.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802349743"/>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HOSPITAL LITUECHE</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154,9%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154,9%</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2,5</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Convenio institucional regional.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585632303"/>
                  </a:ext>
                </a:extLst>
              </a:tr>
              <a:tr h="165651">
                <a:tc>
                  <a:txBody>
                    <a:bodyPr/>
                    <a:lstStyle/>
                    <a:p>
                      <a:pPr algn="l" fontAlgn="b">
                        <a:buNone/>
                      </a:pPr>
                      <a:r>
                        <a:rPr lang="es-CL" sz="800" b="0" i="0" u="none" strike="noStrike">
                          <a:solidFill>
                            <a:schemeClr val="accent2"/>
                          </a:solidFill>
                          <a:effectLst/>
                          <a:latin typeface="Calibri" panose="020F0502020204030204" pitchFamily="34" charset="0"/>
                        </a:rPr>
                        <a:t>SERVICIO SALUD O'HIGGINS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123,3%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123,3%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Cobertura preventiva regional.</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506406501"/>
                  </a:ext>
                </a:extLst>
              </a:tr>
              <a:tr h="165651">
                <a:tc>
                  <a:txBody>
                    <a:bodyPr/>
                    <a:lstStyle/>
                    <a:p>
                      <a:pPr algn="l" fontAlgn="b">
                        <a:buNone/>
                      </a:pPr>
                      <a:r>
                        <a:rPr lang="es-CL" sz="800" b="1" i="0" u="none" strike="noStrike" dirty="0">
                          <a:solidFill>
                            <a:srgbClr val="FFFFFF"/>
                          </a:solidFill>
                          <a:effectLst/>
                          <a:latin typeface="Calibri" panose="020F0502020204030204" pitchFamily="34" charset="0"/>
                        </a:rPr>
                        <a:t>TOTAL · 10 clientes</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32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140,6%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12</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74,6%</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47</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125,3%</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46,8</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23,5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b">
                        <a:buNone/>
                      </a:pPr>
                      <a:r>
                        <a:rPr lang="es-CL" sz="800" b="1" i="0" u="none" strike="noStrike" dirty="0">
                          <a:solidFill>
                            <a:srgbClr val="FFFFFF"/>
                          </a:solidFill>
                          <a:effectLst/>
                          <a:latin typeface="Calibri" panose="020F0502020204030204" pitchFamily="34" charset="0"/>
                        </a:rPr>
                        <a:t> </a:t>
                      </a:r>
                    </a:p>
                  </a:txBody>
                  <a:tcPr marL="6718" marR="6718" marT="6718" marB="0" anchor="b">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1867733724"/>
                  </a:ext>
                </a:extLst>
              </a:tr>
            </a:tbl>
          </a:graphicData>
        </a:graphic>
      </p:graphicFrame>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553"/>
        <p:cNvGrpSpPr/>
        <p:nvPr/>
      </p:nvGrpSpPr>
      <p:grpSpPr>
        <a:xfrm>
          <a:off x="0" y="0"/>
          <a:ext cx="0" cy="0"/>
          <a:chOff x="0" y="0"/>
          <a:chExt cx="0" cy="0"/>
        </a:xfrm>
      </p:grpSpPr>
      <p:sp>
        <p:nvSpPr>
          <p:cNvPr id="554" name="Google Shape;554;p46"/>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55" name="Google Shape;555;p46"/>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56" name="Google Shape;556;p46"/>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Coquimbo</a:t>
            </a:r>
            <a:endParaRPr/>
          </a:p>
        </p:txBody>
      </p:sp>
      <p:graphicFrame>
        <p:nvGraphicFramePr>
          <p:cNvPr id="2" name="Tabla 1">
            <a:extLst>
              <a:ext uri="{FF2B5EF4-FFF2-40B4-BE49-F238E27FC236}">
                <a16:creationId xmlns:a16="http://schemas.microsoft.com/office/drawing/2014/main" id="{8FE44CF1-AB4F-9774-28C2-E530BB12DB16}"/>
              </a:ext>
            </a:extLst>
          </p:cNvPr>
          <p:cNvGraphicFramePr>
            <a:graphicFrameLocks noGrp="1"/>
          </p:cNvGraphicFramePr>
          <p:nvPr>
            <p:extLst>
              <p:ext uri="{D42A27DB-BD31-4B8C-83A1-F6EECF244321}">
                <p14:modId xmlns:p14="http://schemas.microsoft.com/office/powerpoint/2010/main" val="2233078090"/>
              </p:ext>
            </p:extLst>
          </p:nvPr>
        </p:nvGraphicFramePr>
        <p:xfrm>
          <a:off x="323850" y="1309814"/>
          <a:ext cx="10515600" cy="2159069"/>
        </p:xfrm>
        <a:graphic>
          <a:graphicData uri="http://schemas.openxmlformats.org/drawingml/2006/table">
            <a:tbl>
              <a:tblPr/>
              <a:tblGrid>
                <a:gridCol w="2033331">
                  <a:extLst>
                    <a:ext uri="{9D8B030D-6E8A-4147-A177-3AD203B41FA5}">
                      <a16:colId xmlns:a16="http://schemas.microsoft.com/office/drawing/2014/main" val="3891420176"/>
                    </a:ext>
                  </a:extLst>
                </a:gridCol>
                <a:gridCol w="534181">
                  <a:extLst>
                    <a:ext uri="{9D8B030D-6E8A-4147-A177-3AD203B41FA5}">
                      <a16:colId xmlns:a16="http://schemas.microsoft.com/office/drawing/2014/main" val="3862622323"/>
                    </a:ext>
                  </a:extLst>
                </a:gridCol>
                <a:gridCol w="536334">
                  <a:extLst>
                    <a:ext uri="{9D8B030D-6E8A-4147-A177-3AD203B41FA5}">
                      <a16:colId xmlns:a16="http://schemas.microsoft.com/office/drawing/2014/main" val="2560929326"/>
                    </a:ext>
                  </a:extLst>
                </a:gridCol>
                <a:gridCol w="534181">
                  <a:extLst>
                    <a:ext uri="{9D8B030D-6E8A-4147-A177-3AD203B41FA5}">
                      <a16:colId xmlns:a16="http://schemas.microsoft.com/office/drawing/2014/main" val="2384940147"/>
                    </a:ext>
                  </a:extLst>
                </a:gridCol>
                <a:gridCol w="536334">
                  <a:extLst>
                    <a:ext uri="{9D8B030D-6E8A-4147-A177-3AD203B41FA5}">
                      <a16:colId xmlns:a16="http://schemas.microsoft.com/office/drawing/2014/main" val="1096656461"/>
                    </a:ext>
                  </a:extLst>
                </a:gridCol>
                <a:gridCol w="534181">
                  <a:extLst>
                    <a:ext uri="{9D8B030D-6E8A-4147-A177-3AD203B41FA5}">
                      <a16:colId xmlns:a16="http://schemas.microsoft.com/office/drawing/2014/main" val="1607479385"/>
                    </a:ext>
                  </a:extLst>
                </a:gridCol>
                <a:gridCol w="536334">
                  <a:extLst>
                    <a:ext uri="{9D8B030D-6E8A-4147-A177-3AD203B41FA5}">
                      <a16:colId xmlns:a16="http://schemas.microsoft.com/office/drawing/2014/main" val="4200936384"/>
                    </a:ext>
                  </a:extLst>
                </a:gridCol>
                <a:gridCol w="628954">
                  <a:extLst>
                    <a:ext uri="{9D8B030D-6E8A-4147-A177-3AD203B41FA5}">
                      <a16:colId xmlns:a16="http://schemas.microsoft.com/office/drawing/2014/main" val="1640230141"/>
                    </a:ext>
                  </a:extLst>
                </a:gridCol>
                <a:gridCol w="626800">
                  <a:extLst>
                    <a:ext uri="{9D8B030D-6E8A-4147-A177-3AD203B41FA5}">
                      <a16:colId xmlns:a16="http://schemas.microsoft.com/office/drawing/2014/main" val="596251000"/>
                    </a:ext>
                  </a:extLst>
                </a:gridCol>
                <a:gridCol w="947740">
                  <a:extLst>
                    <a:ext uri="{9D8B030D-6E8A-4147-A177-3AD203B41FA5}">
                      <a16:colId xmlns:a16="http://schemas.microsoft.com/office/drawing/2014/main" val="1889200339"/>
                    </a:ext>
                  </a:extLst>
                </a:gridCol>
                <a:gridCol w="947740">
                  <a:extLst>
                    <a:ext uri="{9D8B030D-6E8A-4147-A177-3AD203B41FA5}">
                      <a16:colId xmlns:a16="http://schemas.microsoft.com/office/drawing/2014/main" val="4030447220"/>
                    </a:ext>
                  </a:extLst>
                </a:gridCol>
                <a:gridCol w="2119490">
                  <a:extLst>
                    <a:ext uri="{9D8B030D-6E8A-4147-A177-3AD203B41FA5}">
                      <a16:colId xmlns:a16="http://schemas.microsoft.com/office/drawing/2014/main" val="3242137848"/>
                    </a:ext>
                  </a:extLst>
                </a:gridCol>
              </a:tblGrid>
              <a:tr h="180037">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2013994973"/>
                  </a:ext>
                </a:extLst>
              </a:tr>
              <a:tr h="268712">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278839089"/>
                  </a:ext>
                </a:extLst>
              </a:tr>
              <a:tr h="214970">
                <a:tc>
                  <a:txBody>
                    <a:bodyPr/>
                    <a:lstStyle/>
                    <a:p>
                      <a:pPr algn="l" fontAlgn="ctr">
                        <a:buNone/>
                      </a:pPr>
                      <a:r>
                        <a:rPr lang="es-CL" sz="800" b="0" i="0" u="none" strike="noStrike" dirty="0">
                          <a:solidFill>
                            <a:schemeClr val="accent2"/>
                          </a:solidFill>
                          <a:effectLst/>
                          <a:latin typeface="Calibri" panose="020F0502020204030204" pitchFamily="34" charset="0"/>
                        </a:rPr>
                        <a:t>HOSPITAL LA SERENA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147,9%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122,8%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126,4%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Desarrollo de cuenta estratégica y propuesta institucional.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417807311"/>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EL SAUCE COQUIMBO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73,9%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73,9%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96575634"/>
                  </a:ext>
                </a:extLst>
              </a:tr>
              <a:tr h="134356">
                <a:tc>
                  <a:txBody>
                    <a:bodyPr/>
                    <a:lstStyle/>
                    <a:p>
                      <a:pPr algn="l" fontAlgn="ctr">
                        <a:buNone/>
                      </a:pPr>
                      <a:r>
                        <a:rPr lang="es-CL" sz="800" b="0" i="0" u="none" strike="noStrike" dirty="0">
                          <a:solidFill>
                            <a:schemeClr val="accent2"/>
                          </a:solidFill>
                          <a:effectLst/>
                          <a:latin typeface="Calibri" panose="020F0502020204030204" pitchFamily="34" charset="0"/>
                        </a:rPr>
                        <a:t>HOSPITAL DE OVALLE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103,8%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Evaluación completa de base instalada.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093714756"/>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VENTA ENDOSCOPIA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33,8%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33,8%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comercial y generación de contratos.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815246611"/>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SAN JUAN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100,0%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75,8%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87,9%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Incorporación a rutas regionales.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650811904"/>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LILA CORTES (TIERRAS BLANCAS)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52,2%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52,2%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841971880"/>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PUNITAQUI</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206,7%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148,8%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Cobertura preventiva programada.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141084253"/>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DE SALAMANCA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65,6%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65,6%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institucional.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017428613"/>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URBANO III OVALLE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79,2%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95,8%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Programa preventivo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229057298"/>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CESFAM FRAY JORGE OVALLE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68,1%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86,1%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Cobertura preventiva programada.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864367028"/>
                  </a:ext>
                </a:extLst>
              </a:tr>
              <a:tr h="134356">
                <a:tc>
                  <a:txBody>
                    <a:bodyPr/>
                    <a:lstStyle/>
                    <a:p>
                      <a:pPr algn="l" fontAlgn="ctr">
                        <a:buNone/>
                      </a:pPr>
                      <a:r>
                        <a:rPr lang="es-CL" sz="800" b="1" i="0" u="none" strike="noStrike">
                          <a:solidFill>
                            <a:srgbClr val="FFFFFF"/>
                          </a:solidFill>
                          <a:effectLst/>
                          <a:latin typeface="Calibri" panose="020F0502020204030204" pitchFamily="34" charset="0"/>
                        </a:rPr>
                        <a:t>TOTAL · 10 clientes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121,5%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90,2%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33,8%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94,3%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45,8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22,9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668316983"/>
                  </a:ext>
                </a:extLst>
              </a:tr>
            </a:tbl>
          </a:graphicData>
        </a:graphic>
      </p:graphicFrame>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561"/>
        <p:cNvGrpSpPr/>
        <p:nvPr/>
      </p:nvGrpSpPr>
      <p:grpSpPr>
        <a:xfrm>
          <a:off x="0" y="0"/>
          <a:ext cx="0" cy="0"/>
          <a:chOff x="0" y="0"/>
          <a:chExt cx="0" cy="0"/>
        </a:xfrm>
      </p:grpSpPr>
      <p:sp>
        <p:nvSpPr>
          <p:cNvPr id="562" name="Google Shape;562;p47"/>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63" name="Google Shape;563;p47"/>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64" name="Google Shape;564;p47"/>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Antofagasta</a:t>
            </a:r>
            <a:endParaRPr/>
          </a:p>
        </p:txBody>
      </p:sp>
      <p:graphicFrame>
        <p:nvGraphicFramePr>
          <p:cNvPr id="4" name="Tabla 3">
            <a:extLst>
              <a:ext uri="{FF2B5EF4-FFF2-40B4-BE49-F238E27FC236}">
                <a16:creationId xmlns:a16="http://schemas.microsoft.com/office/drawing/2014/main" id="{298ED0F2-620E-A309-BE64-F501D7B6D29D}"/>
              </a:ext>
            </a:extLst>
          </p:cNvPr>
          <p:cNvGraphicFramePr>
            <a:graphicFrameLocks noGrp="1"/>
          </p:cNvGraphicFramePr>
          <p:nvPr>
            <p:extLst>
              <p:ext uri="{D42A27DB-BD31-4B8C-83A1-F6EECF244321}">
                <p14:modId xmlns:p14="http://schemas.microsoft.com/office/powerpoint/2010/main" val="1819080364"/>
              </p:ext>
            </p:extLst>
          </p:nvPr>
        </p:nvGraphicFramePr>
        <p:xfrm>
          <a:off x="323850" y="1319145"/>
          <a:ext cx="10515600" cy="2391473"/>
        </p:xfrm>
        <a:graphic>
          <a:graphicData uri="http://schemas.openxmlformats.org/drawingml/2006/table">
            <a:tbl>
              <a:tblPr/>
              <a:tblGrid>
                <a:gridCol w="2033331">
                  <a:extLst>
                    <a:ext uri="{9D8B030D-6E8A-4147-A177-3AD203B41FA5}">
                      <a16:colId xmlns:a16="http://schemas.microsoft.com/office/drawing/2014/main" val="1726478162"/>
                    </a:ext>
                  </a:extLst>
                </a:gridCol>
                <a:gridCol w="534181">
                  <a:extLst>
                    <a:ext uri="{9D8B030D-6E8A-4147-A177-3AD203B41FA5}">
                      <a16:colId xmlns:a16="http://schemas.microsoft.com/office/drawing/2014/main" val="1643316585"/>
                    </a:ext>
                  </a:extLst>
                </a:gridCol>
                <a:gridCol w="536334">
                  <a:extLst>
                    <a:ext uri="{9D8B030D-6E8A-4147-A177-3AD203B41FA5}">
                      <a16:colId xmlns:a16="http://schemas.microsoft.com/office/drawing/2014/main" val="243648078"/>
                    </a:ext>
                  </a:extLst>
                </a:gridCol>
                <a:gridCol w="534181">
                  <a:extLst>
                    <a:ext uri="{9D8B030D-6E8A-4147-A177-3AD203B41FA5}">
                      <a16:colId xmlns:a16="http://schemas.microsoft.com/office/drawing/2014/main" val="997510466"/>
                    </a:ext>
                  </a:extLst>
                </a:gridCol>
                <a:gridCol w="536334">
                  <a:extLst>
                    <a:ext uri="{9D8B030D-6E8A-4147-A177-3AD203B41FA5}">
                      <a16:colId xmlns:a16="http://schemas.microsoft.com/office/drawing/2014/main" val="1924322014"/>
                    </a:ext>
                  </a:extLst>
                </a:gridCol>
                <a:gridCol w="534181">
                  <a:extLst>
                    <a:ext uri="{9D8B030D-6E8A-4147-A177-3AD203B41FA5}">
                      <a16:colId xmlns:a16="http://schemas.microsoft.com/office/drawing/2014/main" val="2246762991"/>
                    </a:ext>
                  </a:extLst>
                </a:gridCol>
                <a:gridCol w="536334">
                  <a:extLst>
                    <a:ext uri="{9D8B030D-6E8A-4147-A177-3AD203B41FA5}">
                      <a16:colId xmlns:a16="http://schemas.microsoft.com/office/drawing/2014/main" val="2776244872"/>
                    </a:ext>
                  </a:extLst>
                </a:gridCol>
                <a:gridCol w="628954">
                  <a:extLst>
                    <a:ext uri="{9D8B030D-6E8A-4147-A177-3AD203B41FA5}">
                      <a16:colId xmlns:a16="http://schemas.microsoft.com/office/drawing/2014/main" val="4135850488"/>
                    </a:ext>
                  </a:extLst>
                </a:gridCol>
                <a:gridCol w="626800">
                  <a:extLst>
                    <a:ext uri="{9D8B030D-6E8A-4147-A177-3AD203B41FA5}">
                      <a16:colId xmlns:a16="http://schemas.microsoft.com/office/drawing/2014/main" val="2992904081"/>
                    </a:ext>
                  </a:extLst>
                </a:gridCol>
                <a:gridCol w="947740">
                  <a:extLst>
                    <a:ext uri="{9D8B030D-6E8A-4147-A177-3AD203B41FA5}">
                      <a16:colId xmlns:a16="http://schemas.microsoft.com/office/drawing/2014/main" val="1234134"/>
                    </a:ext>
                  </a:extLst>
                </a:gridCol>
                <a:gridCol w="947740">
                  <a:extLst>
                    <a:ext uri="{9D8B030D-6E8A-4147-A177-3AD203B41FA5}">
                      <a16:colId xmlns:a16="http://schemas.microsoft.com/office/drawing/2014/main" val="1275206250"/>
                    </a:ext>
                  </a:extLst>
                </a:gridCol>
                <a:gridCol w="2119490">
                  <a:extLst>
                    <a:ext uri="{9D8B030D-6E8A-4147-A177-3AD203B41FA5}">
                      <a16:colId xmlns:a16="http://schemas.microsoft.com/office/drawing/2014/main" val="4193712710"/>
                    </a:ext>
                  </a:extLst>
                </a:gridCol>
              </a:tblGrid>
              <a:tr h="180037">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3042356748"/>
                  </a:ext>
                </a:extLst>
              </a:tr>
              <a:tr h="268712">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912421110"/>
                  </a:ext>
                </a:extLst>
              </a:tr>
              <a:tr h="214970">
                <a:tc>
                  <a:txBody>
                    <a:bodyPr/>
                    <a:lstStyle/>
                    <a:p>
                      <a:pPr algn="l" fontAlgn="ctr">
                        <a:buNone/>
                      </a:pPr>
                      <a:r>
                        <a:rPr lang="es-CL" sz="800" b="0" i="0" u="none" strike="noStrike" dirty="0">
                          <a:solidFill>
                            <a:schemeClr val="accent2"/>
                          </a:solidFill>
                          <a:effectLst/>
                          <a:latin typeface="Calibri" panose="020F0502020204030204" pitchFamily="34" charset="0"/>
                        </a:rPr>
                        <a:t>HOSPITAL REGIONAL DE ANTOFAGASTA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113,7%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Cuenta estratégica regional y propuesta integral de mantenimiento.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993012900"/>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CARLOS CISTERNA DE CALAMA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172,4%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83,6%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93,6%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técnico y cobertura institucional.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432504285"/>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DIAGNORAD ANTOFAGASTA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169,8%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169,8%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Cobertura preventiva y disponibilidad operacional.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311667420"/>
                  </a:ext>
                </a:extLst>
              </a:tr>
              <a:tr h="134356">
                <a:tc>
                  <a:txBody>
                    <a:bodyPr/>
                    <a:lstStyle/>
                    <a:p>
                      <a:pPr algn="l" fontAlgn="ctr">
                        <a:buNone/>
                      </a:pPr>
                      <a:r>
                        <a:rPr lang="es-CL" sz="800" b="0" i="0" u="none" strike="noStrike" dirty="0">
                          <a:solidFill>
                            <a:schemeClr val="accent2"/>
                          </a:solidFill>
                          <a:effectLst/>
                          <a:latin typeface="Calibri" panose="020F0502020204030204" pitchFamily="34" charset="0"/>
                        </a:rPr>
                        <a:t>CLINICA REGIONAL LA PORTADA DE ANTOFAGASTA S.A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36,7%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36,7%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Auditoría técnica y propuesta preventiva.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625179594"/>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HOSPITAL MEJILLONES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88,3%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88,3%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regional.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328901290"/>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SOCIEDAD VERDEJO Y VERDEJO LIMITADA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81,7%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básico de mantenimiento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234194011"/>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CENTRO OFTALMOLOGICO LASER CEOLA ANTOFAGASTA S.A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62,8%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62,8%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y soporte especializado.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14190907"/>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E.CL S.A.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73,3%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73,3%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Levantamiento técnico y seguimiento comercial.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692035308"/>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POSTA RURAL CALETA PAPOSO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78,6%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78,7%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Cobertura programada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937198136"/>
                  </a:ext>
                </a:extLst>
              </a:tr>
              <a:tr h="134356">
                <a:tc>
                  <a:txBody>
                    <a:bodyPr/>
                    <a:lstStyle/>
                    <a:p>
                      <a:pPr algn="l" fontAlgn="ctr">
                        <a:buNone/>
                      </a:pPr>
                      <a:r>
                        <a:rPr lang="es-CL" sz="800" b="0" i="0" u="none" strike="noStrike">
                          <a:solidFill>
                            <a:schemeClr val="accent2"/>
                          </a:solidFill>
                          <a:effectLst/>
                          <a:latin typeface="Calibri" panose="020F0502020204030204" pitchFamily="34" charset="0"/>
                        </a:rPr>
                        <a:t>CENTRO CLINICO BIOIMAGEN DENTAL Y CIA LTDA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63,5%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63,5%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0,3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Servicio preventivo y soporte técnico.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165726022"/>
                  </a:ext>
                </a:extLst>
              </a:tr>
              <a:tr h="134356">
                <a:tc>
                  <a:txBody>
                    <a:bodyPr/>
                    <a:lstStyle/>
                    <a:p>
                      <a:pPr algn="l" fontAlgn="ctr">
                        <a:buNone/>
                      </a:pPr>
                      <a:r>
                        <a:rPr lang="es-CL" sz="800" b="1" i="0" u="none" strike="noStrike">
                          <a:solidFill>
                            <a:srgbClr val="FFFFFF"/>
                          </a:solidFill>
                          <a:effectLst/>
                          <a:latin typeface="Calibri" panose="020F0502020204030204" pitchFamily="34" charset="0"/>
                        </a:rPr>
                        <a:t>TOTAL · 10 clientes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141,7%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89,9%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56,9%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98,5%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46,2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23,0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452502360"/>
                  </a:ext>
                </a:extLst>
              </a:tr>
            </a:tbl>
          </a:graphicData>
        </a:graphic>
      </p:graphicFrame>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569"/>
        <p:cNvGrpSpPr/>
        <p:nvPr/>
      </p:nvGrpSpPr>
      <p:grpSpPr>
        <a:xfrm>
          <a:off x="0" y="0"/>
          <a:ext cx="0" cy="0"/>
          <a:chOff x="0" y="0"/>
          <a:chExt cx="0" cy="0"/>
        </a:xfrm>
      </p:grpSpPr>
      <p:sp>
        <p:nvSpPr>
          <p:cNvPr id="570" name="Google Shape;570;p48"/>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71" name="Google Shape;571;p48"/>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72" name="Google Shape;572;p48"/>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Ñuble</a:t>
            </a:r>
            <a:endParaRPr/>
          </a:p>
        </p:txBody>
      </p:sp>
      <p:graphicFrame>
        <p:nvGraphicFramePr>
          <p:cNvPr id="4" name="Tabla 3">
            <a:extLst>
              <a:ext uri="{FF2B5EF4-FFF2-40B4-BE49-F238E27FC236}">
                <a16:creationId xmlns:a16="http://schemas.microsoft.com/office/drawing/2014/main" id="{03C4ED3A-0984-9E66-0985-699052E54AB7}"/>
              </a:ext>
            </a:extLst>
          </p:cNvPr>
          <p:cNvGraphicFramePr>
            <a:graphicFrameLocks noGrp="1"/>
          </p:cNvGraphicFramePr>
          <p:nvPr>
            <p:extLst>
              <p:ext uri="{D42A27DB-BD31-4B8C-83A1-F6EECF244321}">
                <p14:modId xmlns:p14="http://schemas.microsoft.com/office/powerpoint/2010/main" val="1575691112"/>
              </p:ext>
            </p:extLst>
          </p:nvPr>
        </p:nvGraphicFramePr>
        <p:xfrm>
          <a:off x="476250" y="1428436"/>
          <a:ext cx="10515599" cy="3095035"/>
        </p:xfrm>
        <a:graphic>
          <a:graphicData uri="http://schemas.openxmlformats.org/drawingml/2006/table">
            <a:tbl>
              <a:tblPr/>
              <a:tblGrid>
                <a:gridCol w="2263792">
                  <a:extLst>
                    <a:ext uri="{9D8B030D-6E8A-4147-A177-3AD203B41FA5}">
                      <a16:colId xmlns:a16="http://schemas.microsoft.com/office/drawing/2014/main" val="3430187272"/>
                    </a:ext>
                  </a:extLst>
                </a:gridCol>
                <a:gridCol w="594725">
                  <a:extLst>
                    <a:ext uri="{9D8B030D-6E8A-4147-A177-3AD203B41FA5}">
                      <a16:colId xmlns:a16="http://schemas.microsoft.com/office/drawing/2014/main" val="1044766397"/>
                    </a:ext>
                  </a:extLst>
                </a:gridCol>
                <a:gridCol w="597123">
                  <a:extLst>
                    <a:ext uri="{9D8B030D-6E8A-4147-A177-3AD203B41FA5}">
                      <a16:colId xmlns:a16="http://schemas.microsoft.com/office/drawing/2014/main" val="738969346"/>
                    </a:ext>
                  </a:extLst>
                </a:gridCol>
                <a:gridCol w="594725">
                  <a:extLst>
                    <a:ext uri="{9D8B030D-6E8A-4147-A177-3AD203B41FA5}">
                      <a16:colId xmlns:a16="http://schemas.microsoft.com/office/drawing/2014/main" val="3984064383"/>
                    </a:ext>
                  </a:extLst>
                </a:gridCol>
                <a:gridCol w="597123">
                  <a:extLst>
                    <a:ext uri="{9D8B030D-6E8A-4147-A177-3AD203B41FA5}">
                      <a16:colId xmlns:a16="http://schemas.microsoft.com/office/drawing/2014/main" val="3145917264"/>
                    </a:ext>
                  </a:extLst>
                </a:gridCol>
                <a:gridCol w="700240">
                  <a:extLst>
                    <a:ext uri="{9D8B030D-6E8A-4147-A177-3AD203B41FA5}">
                      <a16:colId xmlns:a16="http://schemas.microsoft.com/office/drawing/2014/main" val="3530027917"/>
                    </a:ext>
                  </a:extLst>
                </a:gridCol>
                <a:gridCol w="697842">
                  <a:extLst>
                    <a:ext uri="{9D8B030D-6E8A-4147-A177-3AD203B41FA5}">
                      <a16:colId xmlns:a16="http://schemas.microsoft.com/office/drawing/2014/main" val="356107017"/>
                    </a:ext>
                  </a:extLst>
                </a:gridCol>
                <a:gridCol w="1055157">
                  <a:extLst>
                    <a:ext uri="{9D8B030D-6E8A-4147-A177-3AD203B41FA5}">
                      <a16:colId xmlns:a16="http://schemas.microsoft.com/office/drawing/2014/main" val="3527424686"/>
                    </a:ext>
                  </a:extLst>
                </a:gridCol>
                <a:gridCol w="1055157">
                  <a:extLst>
                    <a:ext uri="{9D8B030D-6E8A-4147-A177-3AD203B41FA5}">
                      <a16:colId xmlns:a16="http://schemas.microsoft.com/office/drawing/2014/main" val="1254778409"/>
                    </a:ext>
                  </a:extLst>
                </a:gridCol>
                <a:gridCol w="2359715">
                  <a:extLst>
                    <a:ext uri="{9D8B030D-6E8A-4147-A177-3AD203B41FA5}">
                      <a16:colId xmlns:a16="http://schemas.microsoft.com/office/drawing/2014/main" val="275367435"/>
                    </a:ext>
                  </a:extLst>
                </a:gridCol>
              </a:tblGrid>
              <a:tr h="199400">
                <a:tc rowSpan="2">
                  <a:txBody>
                    <a:bodyPr/>
                    <a:lstStyle/>
                    <a:p>
                      <a:pPr algn="ctr" fontAlgn="ctr">
                        <a:buNone/>
                      </a:pPr>
                      <a:r>
                        <a:rPr lang="es-CL" sz="800" b="1" i="0" u="none" strike="noStrike" dirty="0">
                          <a:solidFill>
                            <a:srgbClr val="FFFFFF"/>
                          </a:solidFill>
                          <a:effectLst/>
                          <a:latin typeface="Calibri" panose="020F0502020204030204" pitchFamily="34" charset="0"/>
                        </a:rPr>
                        <a:t>Cliente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2895400681"/>
                  </a:ext>
                </a:extLst>
              </a:tr>
              <a:tr h="297611">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1604755345"/>
                  </a:ext>
                </a:extLst>
              </a:tr>
              <a:tr h="357134">
                <a:tc>
                  <a:txBody>
                    <a:bodyPr/>
                    <a:lstStyle/>
                    <a:p>
                      <a:pPr algn="l" fontAlgn="ctr">
                        <a:buNone/>
                      </a:pPr>
                      <a:r>
                        <a:rPr lang="es-CL" sz="800" b="0" i="0" u="none" strike="noStrike" dirty="0">
                          <a:solidFill>
                            <a:schemeClr val="accent2"/>
                          </a:solidFill>
                          <a:effectLst/>
                          <a:latin typeface="Calibri" panose="020F0502020204030204" pitchFamily="34" charset="0"/>
                        </a:rPr>
                        <a:t>CLINICA ANDES SALUD CHILLAN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35,3%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35,3%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Auditoría técnica de base instalada, propuesta de mantenimiento preventivo anual y presentación de indicadores de continuidad operacional.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19488602"/>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HOSPITAL CLINICO HERMINDA MARTIN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42,7%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110,0%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56,2%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técnico institucional, identificación de equipos sin cobertura y propuesta de contrato preventivo.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787818555"/>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CESFAM COBQUECURA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Incorporación a rutas preventivas regionales y programa anual de mantención.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665588280"/>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CESFAM SAN NICOLAS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anual y seguimiento de necesidades de renovación.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812995085"/>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CESFAM PORTEZUELO ÑUBLE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71,9%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60,7%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Cobertura preventiva mediante visitas programadas.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96701547"/>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CESFAM ULTRAESTACION CHILLAN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42,7%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42,7%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Integración a rutas técnicas regionales y programa de inspección preventiva.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385465429"/>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HOSPITAL EL CARMEN DE CHILLAN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40,0%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75,7%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Evaluación de base instalada y propuesta de cobertura institucional.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266410278"/>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JUNAEB SAN NICOLAS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anual, capacitación de usuarios y preparación para futuras renovaciones.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403617668"/>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POSTA ÑUBLE SAN NICOLAS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Programa preventivo básico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723300227"/>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CESFAM CHILLAN VIEJO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Programa preventivo básico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377760255"/>
                  </a:ext>
                </a:extLst>
              </a:tr>
              <a:tr h="148806">
                <a:tc>
                  <a:txBody>
                    <a:bodyPr/>
                    <a:lstStyle/>
                    <a:p>
                      <a:pPr algn="l" fontAlgn="ctr">
                        <a:buNone/>
                      </a:pPr>
                      <a:r>
                        <a:rPr lang="es-CL" sz="800" b="1" i="0" u="none" strike="noStrike">
                          <a:solidFill>
                            <a:srgbClr val="FFFFFF"/>
                          </a:solidFill>
                          <a:effectLst/>
                          <a:latin typeface="Calibri" panose="020F0502020204030204" pitchFamily="34" charset="0"/>
                        </a:rPr>
                        <a:t>TOTAL · 10 clientes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48,5%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44,0%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49,1%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35,3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17,7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645298756"/>
                  </a:ext>
                </a:extLst>
              </a:tr>
            </a:tbl>
          </a:graphicData>
        </a:graphic>
      </p:graphicFrame>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577"/>
        <p:cNvGrpSpPr/>
        <p:nvPr/>
      </p:nvGrpSpPr>
      <p:grpSpPr>
        <a:xfrm>
          <a:off x="0" y="0"/>
          <a:ext cx="0" cy="0"/>
          <a:chOff x="0" y="0"/>
          <a:chExt cx="0" cy="0"/>
        </a:xfrm>
      </p:grpSpPr>
      <p:sp>
        <p:nvSpPr>
          <p:cNvPr id="578" name="Google Shape;578;p49"/>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79" name="Google Shape;579;p49"/>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80" name="Google Shape;580;p49"/>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Magallanes</a:t>
            </a:r>
            <a:endParaRPr/>
          </a:p>
        </p:txBody>
      </p:sp>
      <p:graphicFrame>
        <p:nvGraphicFramePr>
          <p:cNvPr id="2" name="Tabla 1">
            <a:extLst>
              <a:ext uri="{FF2B5EF4-FFF2-40B4-BE49-F238E27FC236}">
                <a16:creationId xmlns:a16="http://schemas.microsoft.com/office/drawing/2014/main" id="{DCD5F107-DD79-41A3-596E-35D2E9CC4B73}"/>
              </a:ext>
            </a:extLst>
          </p:cNvPr>
          <p:cNvGraphicFramePr>
            <a:graphicFrameLocks noGrp="1"/>
          </p:cNvGraphicFramePr>
          <p:nvPr>
            <p:extLst>
              <p:ext uri="{D42A27DB-BD31-4B8C-83A1-F6EECF244321}">
                <p14:modId xmlns:p14="http://schemas.microsoft.com/office/powerpoint/2010/main" val="3331705424"/>
              </p:ext>
            </p:extLst>
          </p:nvPr>
        </p:nvGraphicFramePr>
        <p:xfrm>
          <a:off x="323850" y="1318080"/>
          <a:ext cx="10515599" cy="2543773"/>
        </p:xfrm>
        <a:graphic>
          <a:graphicData uri="http://schemas.openxmlformats.org/drawingml/2006/table">
            <a:tbl>
              <a:tblPr/>
              <a:tblGrid>
                <a:gridCol w="2263792">
                  <a:extLst>
                    <a:ext uri="{9D8B030D-6E8A-4147-A177-3AD203B41FA5}">
                      <a16:colId xmlns:a16="http://schemas.microsoft.com/office/drawing/2014/main" val="4030419861"/>
                    </a:ext>
                  </a:extLst>
                </a:gridCol>
                <a:gridCol w="594725">
                  <a:extLst>
                    <a:ext uri="{9D8B030D-6E8A-4147-A177-3AD203B41FA5}">
                      <a16:colId xmlns:a16="http://schemas.microsoft.com/office/drawing/2014/main" val="941585729"/>
                    </a:ext>
                  </a:extLst>
                </a:gridCol>
                <a:gridCol w="597123">
                  <a:extLst>
                    <a:ext uri="{9D8B030D-6E8A-4147-A177-3AD203B41FA5}">
                      <a16:colId xmlns:a16="http://schemas.microsoft.com/office/drawing/2014/main" val="339634820"/>
                    </a:ext>
                  </a:extLst>
                </a:gridCol>
                <a:gridCol w="594725">
                  <a:extLst>
                    <a:ext uri="{9D8B030D-6E8A-4147-A177-3AD203B41FA5}">
                      <a16:colId xmlns:a16="http://schemas.microsoft.com/office/drawing/2014/main" val="3699224793"/>
                    </a:ext>
                  </a:extLst>
                </a:gridCol>
                <a:gridCol w="597123">
                  <a:extLst>
                    <a:ext uri="{9D8B030D-6E8A-4147-A177-3AD203B41FA5}">
                      <a16:colId xmlns:a16="http://schemas.microsoft.com/office/drawing/2014/main" val="3207084613"/>
                    </a:ext>
                  </a:extLst>
                </a:gridCol>
                <a:gridCol w="700240">
                  <a:extLst>
                    <a:ext uri="{9D8B030D-6E8A-4147-A177-3AD203B41FA5}">
                      <a16:colId xmlns:a16="http://schemas.microsoft.com/office/drawing/2014/main" val="720940389"/>
                    </a:ext>
                  </a:extLst>
                </a:gridCol>
                <a:gridCol w="697842">
                  <a:extLst>
                    <a:ext uri="{9D8B030D-6E8A-4147-A177-3AD203B41FA5}">
                      <a16:colId xmlns:a16="http://schemas.microsoft.com/office/drawing/2014/main" val="334068349"/>
                    </a:ext>
                  </a:extLst>
                </a:gridCol>
                <a:gridCol w="1055157">
                  <a:extLst>
                    <a:ext uri="{9D8B030D-6E8A-4147-A177-3AD203B41FA5}">
                      <a16:colId xmlns:a16="http://schemas.microsoft.com/office/drawing/2014/main" val="3904029512"/>
                    </a:ext>
                  </a:extLst>
                </a:gridCol>
                <a:gridCol w="1055157">
                  <a:extLst>
                    <a:ext uri="{9D8B030D-6E8A-4147-A177-3AD203B41FA5}">
                      <a16:colId xmlns:a16="http://schemas.microsoft.com/office/drawing/2014/main" val="2409117679"/>
                    </a:ext>
                  </a:extLst>
                </a:gridCol>
                <a:gridCol w="2359715">
                  <a:extLst>
                    <a:ext uri="{9D8B030D-6E8A-4147-A177-3AD203B41FA5}">
                      <a16:colId xmlns:a16="http://schemas.microsoft.com/office/drawing/2014/main" val="2406755295"/>
                    </a:ext>
                  </a:extLst>
                </a:gridCol>
              </a:tblGrid>
              <a:tr h="199400">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1034833503"/>
                  </a:ext>
                </a:extLst>
              </a:tr>
              <a:tr h="297611">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451425375"/>
                  </a:ext>
                </a:extLst>
              </a:tr>
              <a:tr h="148806">
                <a:tc>
                  <a:txBody>
                    <a:bodyPr/>
                    <a:lstStyle/>
                    <a:p>
                      <a:pPr algn="l" fontAlgn="ctr">
                        <a:buNone/>
                      </a:pPr>
                      <a:r>
                        <a:rPr lang="es-CL" sz="800" b="0" i="0" u="none" strike="noStrike" dirty="0">
                          <a:solidFill>
                            <a:schemeClr val="accent2"/>
                          </a:solidFill>
                          <a:effectLst/>
                          <a:latin typeface="Calibri" panose="020F0502020204030204" pitchFamily="34" charset="0"/>
                        </a:rPr>
                        <a:t>CESFAM THOMAS FENTON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163,5%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40,8%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139,0%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anual y soporte remoto prioritario.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730067166"/>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SOCIEDAD CMA-COSTANERA S.A.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92,7%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45,8%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57,6%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técnico y propuesta preventiva.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334732556"/>
                  </a:ext>
                </a:extLst>
              </a:tr>
              <a:tr h="148806">
                <a:tc>
                  <a:txBody>
                    <a:bodyPr/>
                    <a:lstStyle/>
                    <a:p>
                      <a:pPr algn="l" fontAlgn="ctr">
                        <a:buNone/>
                      </a:pPr>
                      <a:r>
                        <a:rPr lang="es-CL" sz="800" b="0" i="0" u="none" strike="noStrike" dirty="0">
                          <a:solidFill>
                            <a:schemeClr val="accent2"/>
                          </a:solidFill>
                          <a:effectLst/>
                          <a:latin typeface="Calibri" panose="020F0502020204030204" pitchFamily="34" charset="0"/>
                        </a:rPr>
                        <a:t>SERVICIOS ODONTOLOGICOS AMAR SPA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69,3%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69,3%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y seguimiento comercial.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941109109"/>
                  </a:ext>
                </a:extLst>
              </a:tr>
              <a:tr h="238089">
                <a:tc>
                  <a:txBody>
                    <a:bodyPr/>
                    <a:lstStyle/>
                    <a:p>
                      <a:pPr algn="l" fontAlgn="ctr">
                        <a:buNone/>
                      </a:pPr>
                      <a:r>
                        <a:rPr lang="es-CL" sz="800" b="0" i="0" u="none" strike="noStrike" dirty="0">
                          <a:solidFill>
                            <a:schemeClr val="accent2"/>
                          </a:solidFill>
                          <a:effectLst/>
                          <a:latin typeface="Calibri" panose="020F0502020204030204" pitchFamily="34" charset="0"/>
                        </a:rPr>
                        <a:t>HOSPITAL CLINICO DE MAGALLANES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77,1%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77,5%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Contrato institucional de mantenimiento y continuidad operacional.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694025177"/>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HOSPITAL  PUERTO WILLIAMS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100,5%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100,5%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Cobertura preventiva anual programada.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754086698"/>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HOSPITAL PUERTO NATALES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114,4%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114,4%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periódico y evaluación de renovación.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887693699"/>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HOSPITAL DE PORVENIR</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102,5%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102,5%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Cobertura preventiva mediante visitas programadas.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207958725"/>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SERVICIO SALUD MAGALLANES, HOSPITAL DE PUNTA ARENA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Convenio institucional regional para soporte técnico y renovación tecnológica futura.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699399627"/>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CLINICA MAGALLANES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Auditoría técnica y propuesta anual de soporte.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941931321"/>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CENTROS MEDICO IMET</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43,3%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43,3%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Programa de disponibilidad operacional y mantenimiento preventivo.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613748700"/>
                  </a:ext>
                </a:extLst>
              </a:tr>
              <a:tr h="148806">
                <a:tc>
                  <a:txBody>
                    <a:bodyPr/>
                    <a:lstStyle/>
                    <a:p>
                      <a:pPr algn="l" fontAlgn="ctr">
                        <a:buNone/>
                      </a:pPr>
                      <a:r>
                        <a:rPr lang="es-CL" sz="800" b="1" i="0" u="none" strike="noStrike" dirty="0">
                          <a:solidFill>
                            <a:srgbClr val="FFFFFF"/>
                          </a:solidFill>
                          <a:effectLst/>
                          <a:latin typeface="Calibri" panose="020F0502020204030204" pitchFamily="34" charset="0"/>
                        </a:rPr>
                        <a:t>TOTAL · 10 clientes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117,2%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71,7%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88,1%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40,0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19,9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4078850515"/>
                  </a:ext>
                </a:extLst>
              </a:tr>
            </a:tbl>
          </a:graphicData>
        </a:graphic>
      </p:graphicFrame>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585"/>
        <p:cNvGrpSpPr/>
        <p:nvPr/>
      </p:nvGrpSpPr>
      <p:grpSpPr>
        <a:xfrm>
          <a:off x="0" y="0"/>
          <a:ext cx="0" cy="0"/>
          <a:chOff x="0" y="0"/>
          <a:chExt cx="0" cy="0"/>
        </a:xfrm>
      </p:grpSpPr>
      <p:sp>
        <p:nvSpPr>
          <p:cNvPr id="586" name="Google Shape;586;p50"/>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87" name="Google Shape;587;p50"/>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88" name="Google Shape;588;p50"/>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Tarapacá</a:t>
            </a:r>
            <a:endParaRPr/>
          </a:p>
        </p:txBody>
      </p:sp>
      <p:graphicFrame>
        <p:nvGraphicFramePr>
          <p:cNvPr id="2" name="Tabla 1">
            <a:extLst>
              <a:ext uri="{FF2B5EF4-FFF2-40B4-BE49-F238E27FC236}">
                <a16:creationId xmlns:a16="http://schemas.microsoft.com/office/drawing/2014/main" id="{EDB6F010-B599-FF21-6265-23C2FF1B7A28}"/>
              </a:ext>
            </a:extLst>
          </p:cNvPr>
          <p:cNvGraphicFramePr>
            <a:graphicFrameLocks noGrp="1"/>
          </p:cNvGraphicFramePr>
          <p:nvPr>
            <p:extLst>
              <p:ext uri="{D42A27DB-BD31-4B8C-83A1-F6EECF244321}">
                <p14:modId xmlns:p14="http://schemas.microsoft.com/office/powerpoint/2010/main" val="865722124"/>
              </p:ext>
            </p:extLst>
          </p:nvPr>
        </p:nvGraphicFramePr>
        <p:xfrm>
          <a:off x="323850" y="1308749"/>
          <a:ext cx="10515599" cy="2543773"/>
        </p:xfrm>
        <a:graphic>
          <a:graphicData uri="http://schemas.openxmlformats.org/drawingml/2006/table">
            <a:tbl>
              <a:tblPr/>
              <a:tblGrid>
                <a:gridCol w="2263792">
                  <a:extLst>
                    <a:ext uri="{9D8B030D-6E8A-4147-A177-3AD203B41FA5}">
                      <a16:colId xmlns:a16="http://schemas.microsoft.com/office/drawing/2014/main" val="3441848844"/>
                    </a:ext>
                  </a:extLst>
                </a:gridCol>
                <a:gridCol w="594725">
                  <a:extLst>
                    <a:ext uri="{9D8B030D-6E8A-4147-A177-3AD203B41FA5}">
                      <a16:colId xmlns:a16="http://schemas.microsoft.com/office/drawing/2014/main" val="1226010762"/>
                    </a:ext>
                  </a:extLst>
                </a:gridCol>
                <a:gridCol w="597123">
                  <a:extLst>
                    <a:ext uri="{9D8B030D-6E8A-4147-A177-3AD203B41FA5}">
                      <a16:colId xmlns:a16="http://schemas.microsoft.com/office/drawing/2014/main" val="1269131149"/>
                    </a:ext>
                  </a:extLst>
                </a:gridCol>
                <a:gridCol w="594725">
                  <a:extLst>
                    <a:ext uri="{9D8B030D-6E8A-4147-A177-3AD203B41FA5}">
                      <a16:colId xmlns:a16="http://schemas.microsoft.com/office/drawing/2014/main" val="1228548099"/>
                    </a:ext>
                  </a:extLst>
                </a:gridCol>
                <a:gridCol w="597123">
                  <a:extLst>
                    <a:ext uri="{9D8B030D-6E8A-4147-A177-3AD203B41FA5}">
                      <a16:colId xmlns:a16="http://schemas.microsoft.com/office/drawing/2014/main" val="1180520315"/>
                    </a:ext>
                  </a:extLst>
                </a:gridCol>
                <a:gridCol w="700240">
                  <a:extLst>
                    <a:ext uri="{9D8B030D-6E8A-4147-A177-3AD203B41FA5}">
                      <a16:colId xmlns:a16="http://schemas.microsoft.com/office/drawing/2014/main" val="3001520902"/>
                    </a:ext>
                  </a:extLst>
                </a:gridCol>
                <a:gridCol w="697842">
                  <a:extLst>
                    <a:ext uri="{9D8B030D-6E8A-4147-A177-3AD203B41FA5}">
                      <a16:colId xmlns:a16="http://schemas.microsoft.com/office/drawing/2014/main" val="3018181497"/>
                    </a:ext>
                  </a:extLst>
                </a:gridCol>
                <a:gridCol w="1055157">
                  <a:extLst>
                    <a:ext uri="{9D8B030D-6E8A-4147-A177-3AD203B41FA5}">
                      <a16:colId xmlns:a16="http://schemas.microsoft.com/office/drawing/2014/main" val="2655266897"/>
                    </a:ext>
                  </a:extLst>
                </a:gridCol>
                <a:gridCol w="1055157">
                  <a:extLst>
                    <a:ext uri="{9D8B030D-6E8A-4147-A177-3AD203B41FA5}">
                      <a16:colId xmlns:a16="http://schemas.microsoft.com/office/drawing/2014/main" val="1698330111"/>
                    </a:ext>
                  </a:extLst>
                </a:gridCol>
                <a:gridCol w="2359715">
                  <a:extLst>
                    <a:ext uri="{9D8B030D-6E8A-4147-A177-3AD203B41FA5}">
                      <a16:colId xmlns:a16="http://schemas.microsoft.com/office/drawing/2014/main" val="1291896348"/>
                    </a:ext>
                  </a:extLst>
                </a:gridCol>
              </a:tblGrid>
              <a:tr h="199400">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3280517247"/>
                  </a:ext>
                </a:extLst>
              </a:tr>
              <a:tr h="297611">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3100418635"/>
                  </a:ext>
                </a:extLst>
              </a:tr>
              <a:tr h="238089">
                <a:tc>
                  <a:txBody>
                    <a:bodyPr/>
                    <a:lstStyle/>
                    <a:p>
                      <a:pPr algn="l" fontAlgn="ctr">
                        <a:buNone/>
                      </a:pPr>
                      <a:r>
                        <a:rPr lang="es-CL" sz="800" b="0" i="0" u="none" strike="noStrike" dirty="0">
                          <a:solidFill>
                            <a:schemeClr val="accent2"/>
                          </a:solidFill>
                          <a:effectLst/>
                          <a:latin typeface="Calibri" panose="020F0502020204030204" pitchFamily="34" charset="0"/>
                        </a:rPr>
                        <a:t>HOSPITAL DE IQUIQUE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45,8%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45,8%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Levantamiento completo de activos, propuesta institucional de mantenimiento y análisis de criticidad.</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704703303"/>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HOSPITAL DOCTOR ERNESTO TORRES GALDAMES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85,4%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48,2%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57,5%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institucional y evaluación de renovación tecnológica.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269453491"/>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CESFAM PICA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Cobertura preventiva programada durante rondas zonales.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222431298"/>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POSTA PACHICA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67,2%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básico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906923637"/>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SERVICIO SALUD IQUIQUE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84,0%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84,0%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Convenio institucional regional y soporte para futuros proyectos.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085179144"/>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SERVICLINICA IQUIQUE INMOBILIARIA S.A.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79,2%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79,2%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Auditoría técnica y propuesta de contrato preventivo.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208674531"/>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CESFAM PEDRO PULGAR DE ALTO HOSPICIO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93,8%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93,8%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y seguimiento de activos.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778678535"/>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POSTA HUARA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134,1%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134,1%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Cobertura preventiva programada.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795477734"/>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FACHS IQUIQUE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Convenio institucional y planificación anual de servicios.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008743210"/>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CESFAM DR. PEDRO PULGAR MELGAREJO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175,0%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175,0%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Programa preventivo y seguimiento de activos.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726951354"/>
                  </a:ext>
                </a:extLst>
              </a:tr>
              <a:tr h="148806">
                <a:tc>
                  <a:txBody>
                    <a:bodyPr/>
                    <a:lstStyle/>
                    <a:p>
                      <a:pPr algn="l" fontAlgn="ctr">
                        <a:buNone/>
                      </a:pPr>
                      <a:r>
                        <a:rPr lang="es-CL" sz="800" b="1" i="0" u="none" strike="noStrike">
                          <a:solidFill>
                            <a:srgbClr val="FFFFFF"/>
                          </a:solidFill>
                          <a:effectLst/>
                          <a:latin typeface="Calibri" panose="020F0502020204030204" pitchFamily="34" charset="0"/>
                        </a:rPr>
                        <a:t>TOTAL · 10 clientes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131,2%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54,2%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89,2%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37,4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18,6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2368709775"/>
                  </a:ext>
                </a:extLst>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593"/>
        <p:cNvGrpSpPr/>
        <p:nvPr/>
      </p:nvGrpSpPr>
      <p:grpSpPr>
        <a:xfrm>
          <a:off x="0" y="0"/>
          <a:ext cx="0" cy="0"/>
          <a:chOff x="0" y="0"/>
          <a:chExt cx="0" cy="0"/>
        </a:xfrm>
      </p:grpSpPr>
      <p:sp>
        <p:nvSpPr>
          <p:cNvPr id="594" name="Google Shape;594;p51"/>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595" name="Google Shape;595;p51"/>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596" name="Google Shape;596;p51"/>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Los Ríos</a:t>
            </a:r>
            <a:endParaRPr/>
          </a:p>
        </p:txBody>
      </p:sp>
      <p:graphicFrame>
        <p:nvGraphicFramePr>
          <p:cNvPr id="2" name="Tabla 1">
            <a:extLst>
              <a:ext uri="{FF2B5EF4-FFF2-40B4-BE49-F238E27FC236}">
                <a16:creationId xmlns:a16="http://schemas.microsoft.com/office/drawing/2014/main" id="{A8483040-33A1-89BB-8D0E-32ADB0080E1D}"/>
              </a:ext>
            </a:extLst>
          </p:cNvPr>
          <p:cNvGraphicFramePr>
            <a:graphicFrameLocks noGrp="1"/>
          </p:cNvGraphicFramePr>
          <p:nvPr>
            <p:extLst>
              <p:ext uri="{D42A27DB-BD31-4B8C-83A1-F6EECF244321}">
                <p14:modId xmlns:p14="http://schemas.microsoft.com/office/powerpoint/2010/main" val="3361117720"/>
              </p:ext>
            </p:extLst>
          </p:nvPr>
        </p:nvGraphicFramePr>
        <p:xfrm>
          <a:off x="323850" y="1299602"/>
          <a:ext cx="10515599" cy="2599915"/>
        </p:xfrm>
        <a:graphic>
          <a:graphicData uri="http://schemas.openxmlformats.org/drawingml/2006/table">
            <a:tbl>
              <a:tblPr/>
              <a:tblGrid>
                <a:gridCol w="2263792">
                  <a:extLst>
                    <a:ext uri="{9D8B030D-6E8A-4147-A177-3AD203B41FA5}">
                      <a16:colId xmlns:a16="http://schemas.microsoft.com/office/drawing/2014/main" val="2820101251"/>
                    </a:ext>
                  </a:extLst>
                </a:gridCol>
                <a:gridCol w="594725">
                  <a:extLst>
                    <a:ext uri="{9D8B030D-6E8A-4147-A177-3AD203B41FA5}">
                      <a16:colId xmlns:a16="http://schemas.microsoft.com/office/drawing/2014/main" val="491253071"/>
                    </a:ext>
                  </a:extLst>
                </a:gridCol>
                <a:gridCol w="597123">
                  <a:extLst>
                    <a:ext uri="{9D8B030D-6E8A-4147-A177-3AD203B41FA5}">
                      <a16:colId xmlns:a16="http://schemas.microsoft.com/office/drawing/2014/main" val="3173380450"/>
                    </a:ext>
                  </a:extLst>
                </a:gridCol>
                <a:gridCol w="594725">
                  <a:extLst>
                    <a:ext uri="{9D8B030D-6E8A-4147-A177-3AD203B41FA5}">
                      <a16:colId xmlns:a16="http://schemas.microsoft.com/office/drawing/2014/main" val="3797686792"/>
                    </a:ext>
                  </a:extLst>
                </a:gridCol>
                <a:gridCol w="597123">
                  <a:extLst>
                    <a:ext uri="{9D8B030D-6E8A-4147-A177-3AD203B41FA5}">
                      <a16:colId xmlns:a16="http://schemas.microsoft.com/office/drawing/2014/main" val="2832477432"/>
                    </a:ext>
                  </a:extLst>
                </a:gridCol>
                <a:gridCol w="700240">
                  <a:extLst>
                    <a:ext uri="{9D8B030D-6E8A-4147-A177-3AD203B41FA5}">
                      <a16:colId xmlns:a16="http://schemas.microsoft.com/office/drawing/2014/main" val="3907585856"/>
                    </a:ext>
                  </a:extLst>
                </a:gridCol>
                <a:gridCol w="697842">
                  <a:extLst>
                    <a:ext uri="{9D8B030D-6E8A-4147-A177-3AD203B41FA5}">
                      <a16:colId xmlns:a16="http://schemas.microsoft.com/office/drawing/2014/main" val="851550535"/>
                    </a:ext>
                  </a:extLst>
                </a:gridCol>
                <a:gridCol w="1055157">
                  <a:extLst>
                    <a:ext uri="{9D8B030D-6E8A-4147-A177-3AD203B41FA5}">
                      <a16:colId xmlns:a16="http://schemas.microsoft.com/office/drawing/2014/main" val="1918643782"/>
                    </a:ext>
                  </a:extLst>
                </a:gridCol>
                <a:gridCol w="1055157">
                  <a:extLst>
                    <a:ext uri="{9D8B030D-6E8A-4147-A177-3AD203B41FA5}">
                      <a16:colId xmlns:a16="http://schemas.microsoft.com/office/drawing/2014/main" val="1225611388"/>
                    </a:ext>
                  </a:extLst>
                </a:gridCol>
                <a:gridCol w="2359715">
                  <a:extLst>
                    <a:ext uri="{9D8B030D-6E8A-4147-A177-3AD203B41FA5}">
                      <a16:colId xmlns:a16="http://schemas.microsoft.com/office/drawing/2014/main" val="35765935"/>
                    </a:ext>
                  </a:extLst>
                </a:gridCol>
              </a:tblGrid>
              <a:tr h="199400">
                <a:tc rowSpan="2">
                  <a:txBody>
                    <a:bodyPr/>
                    <a:lstStyle/>
                    <a:p>
                      <a:pPr algn="ctr" fontAlgn="ctr">
                        <a:buNone/>
                      </a:pPr>
                      <a:r>
                        <a:rPr lang="es-CL" sz="800" b="1" i="0" u="none" strike="noStrike" dirty="0">
                          <a:solidFill>
                            <a:srgbClr val="FFFFFF"/>
                          </a:solidFill>
                          <a:effectLst/>
                          <a:latin typeface="Calibri" panose="020F0502020204030204" pitchFamily="34" charset="0"/>
                        </a:rPr>
                        <a:t>Cliente,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1796172640"/>
                  </a:ext>
                </a:extLst>
              </a:tr>
              <a:tr h="297611">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2251249633"/>
                  </a:ext>
                </a:extLst>
              </a:tr>
              <a:tr h="238089">
                <a:tc>
                  <a:txBody>
                    <a:bodyPr/>
                    <a:lstStyle/>
                    <a:p>
                      <a:pPr algn="l" fontAlgn="ctr">
                        <a:buNone/>
                      </a:pPr>
                      <a:r>
                        <a:rPr lang="es-CL" sz="800" b="0" i="0" u="none" strike="noStrike" dirty="0">
                          <a:solidFill>
                            <a:schemeClr val="accent2"/>
                          </a:solidFill>
                          <a:effectLst/>
                          <a:latin typeface="Calibri" panose="020F0502020204030204" pitchFamily="34" charset="0"/>
                        </a:rPr>
                        <a:t>HOSPITAL DE LANCO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96,9%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94,8%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95,7%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6,7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Evaluación técnica de activos y propuesta preventiva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51054881"/>
                  </a:ext>
                </a:extLst>
              </a:tr>
              <a:tr h="238089">
                <a:tc>
                  <a:txBody>
                    <a:bodyPr/>
                    <a:lstStyle/>
                    <a:p>
                      <a:pPr algn="l" fontAlgn="ctr">
                        <a:buNone/>
                      </a:pPr>
                      <a:r>
                        <a:rPr lang="es-CL" sz="800" b="0" i="0" u="none" strike="noStrike" dirty="0">
                          <a:solidFill>
                            <a:schemeClr val="accent2"/>
                          </a:solidFill>
                          <a:effectLst/>
                          <a:latin typeface="Calibri" panose="020F0502020204030204" pitchFamily="34" charset="0"/>
                        </a:rPr>
                        <a:t>HOSPITAL BASE DE VALDIVIA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231,7%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58,3%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116,1%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Cuenta estratégica regional, propuesta integral de mantenimiento y plan de renovación tecnológica.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528187759"/>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CLINICA COSTANERA VALDIVIA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26,7%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26,7%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Auditoría técnica y propuesta preventiva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340684854"/>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I.MUNICIPALIDAD DE LA UNION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115,6%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72,9%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107,9%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Convenio institucional para soporte de equipamiento y servicios asociados.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322623695"/>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HOSPITAL DE LA UNION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128,3%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y fortalecimiento de relación institucional.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071866989"/>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SOCIEDAD DE SERVICIOS MEDICOS Y ODONTOLOGICOS MERI</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78,3%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a:solidFill>
                            <a:schemeClr val="accent2"/>
                          </a:solidFill>
                          <a:effectLst/>
                          <a:latin typeface="Calibri" panose="020F0502020204030204" pitchFamily="34" charset="0"/>
                        </a:rPr>
                        <a:t>Programa preventivo básico y soporte programado.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476452572"/>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CLINICA ALEMANA DE VALDIVIA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104,2%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104,2%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Auditoría preventiva y propuesta de cobertura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743300512"/>
                  </a:ext>
                </a:extLst>
              </a:tr>
              <a:tr h="238089">
                <a:tc>
                  <a:txBody>
                    <a:bodyPr/>
                    <a:lstStyle/>
                    <a:p>
                      <a:pPr algn="l" fontAlgn="ctr">
                        <a:buNone/>
                      </a:pPr>
                      <a:r>
                        <a:rPr lang="es-CL" sz="800" b="0" i="0" u="none" strike="noStrike">
                          <a:solidFill>
                            <a:schemeClr val="accent2"/>
                          </a:solidFill>
                          <a:effectLst/>
                          <a:latin typeface="Calibri" panose="020F0502020204030204" pitchFamily="34" charset="0"/>
                        </a:rPr>
                        <a:t>UNIVERSIDAD AUSTRAL DE VALDIVIA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37,8%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37,8%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Convenio institucional, soporte para laboratorios y cobertura preventiva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466342004"/>
                  </a:ext>
                </a:extLst>
              </a:tr>
              <a:tr h="148806">
                <a:tc>
                  <a:txBody>
                    <a:bodyPr/>
                    <a:lstStyle/>
                    <a:p>
                      <a:pPr algn="l" fontAlgn="ctr">
                        <a:buNone/>
                      </a:pPr>
                      <a:r>
                        <a:rPr lang="es-CL" sz="800" b="0" i="0" u="none" strike="noStrike">
                          <a:solidFill>
                            <a:schemeClr val="accent2"/>
                          </a:solidFill>
                          <a:effectLst/>
                          <a:latin typeface="Calibri" panose="020F0502020204030204" pitchFamily="34" charset="0"/>
                        </a:rPr>
                        <a:t>CESFAM FUTRONO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161,5%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161,5%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ctr">
                        <a:buNone/>
                      </a:pPr>
                      <a:r>
                        <a:rPr lang="es-CL" sz="800" b="0" i="0" u="none" strike="noStrike" dirty="0">
                          <a:solidFill>
                            <a:schemeClr val="accent2"/>
                          </a:solidFill>
                          <a:effectLst/>
                          <a:latin typeface="Calibri" panose="020F0502020204030204" pitchFamily="34" charset="0"/>
                        </a:rPr>
                        <a:t>Integración a rutas regionales programadas.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774807896"/>
                  </a:ext>
                </a:extLst>
              </a:tr>
              <a:tr h="148806">
                <a:tc>
                  <a:txBody>
                    <a:bodyPr/>
                    <a:lstStyle/>
                    <a:p>
                      <a:pPr algn="l" fontAlgn="ctr">
                        <a:buNone/>
                      </a:pPr>
                      <a:r>
                        <a:rPr lang="es-CL" sz="800" b="1" i="0" u="none" strike="noStrike">
                          <a:solidFill>
                            <a:srgbClr val="FFFFFF"/>
                          </a:solidFill>
                          <a:effectLst/>
                          <a:latin typeface="Calibri" panose="020F0502020204030204" pitchFamily="34" charset="0"/>
                        </a:rPr>
                        <a:t>TOTAL · 9 clientes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123,2%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78,2%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101,5%</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26,4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ctr">
                        <a:buNone/>
                      </a:pPr>
                      <a:r>
                        <a:rPr lang="es-CL" sz="800" b="1" i="0" u="none" strike="noStrike">
                          <a:solidFill>
                            <a:srgbClr val="FFFFFF"/>
                          </a:solidFill>
                          <a:effectLst/>
                          <a:latin typeface="Calibri" panose="020F0502020204030204" pitchFamily="34" charset="0"/>
                        </a:rPr>
                        <a:t>13,1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ctr">
                        <a:buNone/>
                      </a:pPr>
                      <a:r>
                        <a:rPr lang="es-CL" sz="800" b="1" i="0" u="none" strike="noStrike" dirty="0">
                          <a:solidFill>
                            <a:srgbClr val="FFFFFF"/>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3849189824"/>
                  </a:ext>
                </a:extLst>
              </a:tr>
            </a:tbl>
          </a:graphicData>
        </a:graphic>
      </p:graphicFrame>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sp>
        <p:nvSpPr>
          <p:cNvPr id="602" name="Google Shape;602;p52"/>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603" name="Google Shape;603;p52"/>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604" name="Google Shape;604;p52"/>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Arica y Parinacota</a:t>
            </a:r>
            <a:endParaRPr/>
          </a:p>
        </p:txBody>
      </p:sp>
      <p:graphicFrame>
        <p:nvGraphicFramePr>
          <p:cNvPr id="2" name="Tabla 1">
            <a:extLst>
              <a:ext uri="{FF2B5EF4-FFF2-40B4-BE49-F238E27FC236}">
                <a16:creationId xmlns:a16="http://schemas.microsoft.com/office/drawing/2014/main" id="{99BA2EC5-1EBA-470A-0BCB-97A78F52A8E5}"/>
              </a:ext>
            </a:extLst>
          </p:cNvPr>
          <p:cNvGraphicFramePr>
            <a:graphicFrameLocks noGrp="1"/>
          </p:cNvGraphicFramePr>
          <p:nvPr>
            <p:extLst>
              <p:ext uri="{D42A27DB-BD31-4B8C-83A1-F6EECF244321}">
                <p14:modId xmlns:p14="http://schemas.microsoft.com/office/powerpoint/2010/main" val="2010619502"/>
              </p:ext>
            </p:extLst>
          </p:nvPr>
        </p:nvGraphicFramePr>
        <p:xfrm>
          <a:off x="323850" y="1297178"/>
          <a:ext cx="10515599" cy="1948549"/>
        </p:xfrm>
        <a:graphic>
          <a:graphicData uri="http://schemas.openxmlformats.org/drawingml/2006/table">
            <a:tbl>
              <a:tblPr/>
              <a:tblGrid>
                <a:gridCol w="2263792">
                  <a:extLst>
                    <a:ext uri="{9D8B030D-6E8A-4147-A177-3AD203B41FA5}">
                      <a16:colId xmlns:a16="http://schemas.microsoft.com/office/drawing/2014/main" val="422538422"/>
                    </a:ext>
                  </a:extLst>
                </a:gridCol>
                <a:gridCol w="594725">
                  <a:extLst>
                    <a:ext uri="{9D8B030D-6E8A-4147-A177-3AD203B41FA5}">
                      <a16:colId xmlns:a16="http://schemas.microsoft.com/office/drawing/2014/main" val="8497601"/>
                    </a:ext>
                  </a:extLst>
                </a:gridCol>
                <a:gridCol w="597123">
                  <a:extLst>
                    <a:ext uri="{9D8B030D-6E8A-4147-A177-3AD203B41FA5}">
                      <a16:colId xmlns:a16="http://schemas.microsoft.com/office/drawing/2014/main" val="1840429145"/>
                    </a:ext>
                  </a:extLst>
                </a:gridCol>
                <a:gridCol w="594725">
                  <a:extLst>
                    <a:ext uri="{9D8B030D-6E8A-4147-A177-3AD203B41FA5}">
                      <a16:colId xmlns:a16="http://schemas.microsoft.com/office/drawing/2014/main" val="455852777"/>
                    </a:ext>
                  </a:extLst>
                </a:gridCol>
                <a:gridCol w="597123">
                  <a:extLst>
                    <a:ext uri="{9D8B030D-6E8A-4147-A177-3AD203B41FA5}">
                      <a16:colId xmlns:a16="http://schemas.microsoft.com/office/drawing/2014/main" val="449927079"/>
                    </a:ext>
                  </a:extLst>
                </a:gridCol>
                <a:gridCol w="700240">
                  <a:extLst>
                    <a:ext uri="{9D8B030D-6E8A-4147-A177-3AD203B41FA5}">
                      <a16:colId xmlns:a16="http://schemas.microsoft.com/office/drawing/2014/main" val="1810792471"/>
                    </a:ext>
                  </a:extLst>
                </a:gridCol>
                <a:gridCol w="697842">
                  <a:extLst>
                    <a:ext uri="{9D8B030D-6E8A-4147-A177-3AD203B41FA5}">
                      <a16:colId xmlns:a16="http://schemas.microsoft.com/office/drawing/2014/main" val="2941640246"/>
                    </a:ext>
                  </a:extLst>
                </a:gridCol>
                <a:gridCol w="1055157">
                  <a:extLst>
                    <a:ext uri="{9D8B030D-6E8A-4147-A177-3AD203B41FA5}">
                      <a16:colId xmlns:a16="http://schemas.microsoft.com/office/drawing/2014/main" val="1126836219"/>
                    </a:ext>
                  </a:extLst>
                </a:gridCol>
                <a:gridCol w="1055157">
                  <a:extLst>
                    <a:ext uri="{9D8B030D-6E8A-4147-A177-3AD203B41FA5}">
                      <a16:colId xmlns:a16="http://schemas.microsoft.com/office/drawing/2014/main" val="3075327234"/>
                    </a:ext>
                  </a:extLst>
                </a:gridCol>
                <a:gridCol w="2359715">
                  <a:extLst>
                    <a:ext uri="{9D8B030D-6E8A-4147-A177-3AD203B41FA5}">
                      <a16:colId xmlns:a16="http://schemas.microsoft.com/office/drawing/2014/main" val="1700607171"/>
                    </a:ext>
                  </a:extLst>
                </a:gridCol>
              </a:tblGrid>
              <a:tr h="199400">
                <a:tc rowSpan="2">
                  <a:txBody>
                    <a:bodyPr/>
                    <a:lstStyle/>
                    <a:p>
                      <a:pPr algn="ctr" fontAlgn="ctr">
                        <a:buNone/>
                      </a:pPr>
                      <a:r>
                        <a:rPr lang="es-CL" sz="800" b="1" i="0" u="none" strike="noStrike">
                          <a:solidFill>
                            <a:srgbClr val="FFFFFF"/>
                          </a:solidFill>
                          <a:effectLst/>
                          <a:latin typeface="Calibri" panose="020F0502020204030204" pitchFamily="34" charset="0"/>
                        </a:rPr>
                        <a:t>Cliente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800" b="1" i="0" u="none" strike="noStrike">
                          <a:solidFill>
                            <a:srgbClr val="1A1A1A"/>
                          </a:solidFill>
                          <a:effectLst/>
                          <a:latin typeface="Calibri" panose="020F0502020204030204" pitchFamily="34" charset="0"/>
                        </a:rPr>
                        <a:t>Dental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Esterilización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800" b="1" i="0" u="none" strike="noStrike">
                          <a:solidFill>
                            <a:srgbClr val="FFFFFF"/>
                          </a:solidFill>
                          <a:effectLst/>
                          <a:latin typeface="Calibri" panose="020F0502020204030204" pitchFamily="34" charset="0"/>
                        </a:rPr>
                        <a:t>Base Instalada Total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800" b="1" i="0" u="none" strike="noStrike">
                          <a:solidFill>
                            <a:srgbClr val="FFFFFF"/>
                          </a:solidFill>
                          <a:effectLst/>
                          <a:latin typeface="Calibri" panose="020F0502020204030204" pitchFamily="34" charset="0"/>
                        </a:rPr>
                        <a:t>Pot. Mantenimiento MM$</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Roboto" panose="02000000000000000000" pitchFamily="2" charset="0"/>
                        </a:rPr>
                        <a:t>Margen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800" b="1" i="0" u="none" strike="noStrike">
                          <a:solidFill>
                            <a:srgbClr val="FFFFFF"/>
                          </a:solidFill>
                          <a:effectLst/>
                          <a:latin typeface="Calibri" panose="020F0502020204030204" pitchFamily="34" charset="0"/>
                        </a:rPr>
                        <a:t>Plan de Acción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2350163206"/>
                  </a:ext>
                </a:extLst>
              </a:tr>
              <a:tr h="297611">
                <a:tc vMerge="1">
                  <a:txBody>
                    <a:bodyPr/>
                    <a:lstStyle/>
                    <a:p>
                      <a:endParaRPr lang="es-CL"/>
                    </a:p>
                  </a:txBody>
                  <a:tcPr/>
                </a:tc>
                <a:tc>
                  <a:txBody>
                    <a:bodyPr/>
                    <a:lstStyle/>
                    <a:p>
                      <a:pPr algn="ctr" fontAlgn="ctr">
                        <a:buNone/>
                      </a:pPr>
                      <a:r>
                        <a:rPr lang="es-CL" sz="800" b="1" i="0" u="none" strike="noStrike">
                          <a:solidFill>
                            <a:srgbClr val="1A1A1A"/>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1A1A1A"/>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8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2440841576"/>
                  </a:ext>
                </a:extLst>
              </a:tr>
              <a:tr h="221720">
                <a:tc>
                  <a:txBody>
                    <a:bodyPr/>
                    <a:lstStyle/>
                    <a:p>
                      <a:pPr algn="l" fontAlgn="b">
                        <a:buNone/>
                      </a:pPr>
                      <a:r>
                        <a:rPr lang="es-CL" sz="800" b="0" i="0" u="none" strike="noStrike" dirty="0">
                          <a:solidFill>
                            <a:schemeClr val="accent2"/>
                          </a:solidFill>
                          <a:effectLst/>
                          <a:latin typeface="Calibri" panose="020F0502020204030204" pitchFamily="34" charset="0"/>
                        </a:rPr>
                        <a:t>CENTRO CLINICO MILITAR ARICA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84,9%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84,9%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8,2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Convenio institucional y programa anual de mantenimiento preventivo.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1873533108"/>
                  </a:ext>
                </a:extLst>
              </a:tr>
              <a:tr h="221720">
                <a:tc>
                  <a:txBody>
                    <a:bodyPr/>
                    <a:lstStyle/>
                    <a:p>
                      <a:pPr algn="l" fontAlgn="b">
                        <a:buNone/>
                      </a:pPr>
                      <a:r>
                        <a:rPr lang="es-CL" sz="800" b="0" i="0" u="none" strike="noStrike" dirty="0">
                          <a:solidFill>
                            <a:schemeClr val="accent2"/>
                          </a:solidFill>
                          <a:effectLst/>
                          <a:latin typeface="Calibri" panose="020F0502020204030204" pitchFamily="34" charset="0"/>
                        </a:rPr>
                        <a:t>SOCIEDAD ARICA SALUD LTDA. (ARICA)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73,3%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73,3%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Auditoría técnica de equipos e identificación de oportunidades de contrato.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835105546"/>
                  </a:ext>
                </a:extLst>
              </a:tr>
              <a:tr h="148806">
                <a:tc>
                  <a:txBody>
                    <a:bodyPr/>
                    <a:lstStyle/>
                    <a:p>
                      <a:pPr algn="l" fontAlgn="b">
                        <a:buNone/>
                      </a:pPr>
                      <a:r>
                        <a:rPr lang="es-CL" sz="800" b="0" i="0" u="none" strike="noStrike">
                          <a:solidFill>
                            <a:schemeClr val="accent2"/>
                          </a:solidFill>
                          <a:effectLst/>
                          <a:latin typeface="Calibri" panose="020F0502020204030204" pitchFamily="34" charset="0"/>
                        </a:rPr>
                        <a:t>ARICALAB SPA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dirty="0">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78,3%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78,3%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básico anual.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475071051"/>
                  </a:ext>
                </a:extLst>
              </a:tr>
              <a:tr h="148806">
                <a:tc>
                  <a:txBody>
                    <a:bodyPr/>
                    <a:lstStyle/>
                    <a:p>
                      <a:pPr algn="l" fontAlgn="b">
                        <a:buNone/>
                      </a:pPr>
                      <a:r>
                        <a:rPr lang="es-CL" sz="800" b="0" i="0" u="none" strike="noStrike">
                          <a:solidFill>
                            <a:schemeClr val="accent2"/>
                          </a:solidFill>
                          <a:effectLst/>
                          <a:latin typeface="Calibri" panose="020F0502020204030204" pitchFamily="34" charset="0"/>
                        </a:rPr>
                        <a:t>POLICLINICO GENARMERIA DE ARICA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83,3%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dirty="0">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dirty="0">
                          <a:solidFill>
                            <a:schemeClr val="accent2"/>
                          </a:solidFill>
                          <a:effectLst/>
                          <a:latin typeface="Calibri" panose="020F0502020204030204" pitchFamily="34" charset="0"/>
                        </a:rPr>
                        <a:t>83,3%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dirty="0">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Programa institucional de soporte técnico.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397444032"/>
                  </a:ext>
                </a:extLst>
              </a:tr>
              <a:tr h="148806">
                <a:tc>
                  <a:txBody>
                    <a:bodyPr/>
                    <a:lstStyle/>
                    <a:p>
                      <a:pPr algn="l" fontAlgn="b">
                        <a:buNone/>
                      </a:pPr>
                      <a:r>
                        <a:rPr lang="es-CL" sz="800" b="0" i="0" u="none" strike="noStrike">
                          <a:solidFill>
                            <a:schemeClr val="accent2"/>
                          </a:solidFill>
                          <a:effectLst/>
                          <a:latin typeface="Calibri" panose="020F0502020204030204" pitchFamily="34" charset="0"/>
                        </a:rPr>
                        <a:t>GENDARMERIA DE ARICA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57,3%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57,3%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dirty="0">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dirty="0">
                          <a:solidFill>
                            <a:schemeClr val="accent2"/>
                          </a:solidFill>
                          <a:effectLst/>
                          <a:latin typeface="Calibri" panose="020F0502020204030204" pitchFamily="34" charset="0"/>
                        </a:rPr>
                        <a:t>Convenio institucional y planificación anual de mantenimiento.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3311040315"/>
                  </a:ext>
                </a:extLst>
              </a:tr>
              <a:tr h="221720">
                <a:tc>
                  <a:txBody>
                    <a:bodyPr/>
                    <a:lstStyle/>
                    <a:p>
                      <a:pPr algn="l" fontAlgn="b">
                        <a:buNone/>
                      </a:pPr>
                      <a:r>
                        <a:rPr lang="es-CL" sz="800" b="0" i="0" u="none" strike="noStrike">
                          <a:solidFill>
                            <a:schemeClr val="accent2"/>
                          </a:solidFill>
                          <a:effectLst/>
                          <a:latin typeface="Calibri" panose="020F0502020204030204" pitchFamily="34" charset="0"/>
                        </a:rPr>
                        <a:t>REDSALUD ARICA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71,9%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71,9%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dirty="0">
                          <a:solidFill>
                            <a:schemeClr val="accent2"/>
                          </a:solidFill>
                          <a:effectLst/>
                          <a:latin typeface="Calibri" panose="020F0502020204030204" pitchFamily="34" charset="0"/>
                        </a:rPr>
                        <a:t>Evaluación de base instalada y generación de propuesta preventiva.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3692081457"/>
                  </a:ext>
                </a:extLst>
              </a:tr>
              <a:tr h="148806">
                <a:tc>
                  <a:txBody>
                    <a:bodyPr/>
                    <a:lstStyle/>
                    <a:p>
                      <a:pPr algn="l" fontAlgn="b">
                        <a:buNone/>
                      </a:pPr>
                      <a:r>
                        <a:rPr lang="es-CL" sz="800" b="1" i="0" u="none" strike="noStrike">
                          <a:solidFill>
                            <a:srgbClr val="FFFFFF"/>
                          </a:solidFill>
                          <a:effectLst/>
                          <a:latin typeface="Calibri" panose="020F0502020204030204" pitchFamily="34" charset="0"/>
                        </a:rPr>
                        <a:t>TOTAL · 6 clientes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70,8%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80,6%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77,7%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16,1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800" b="1" i="0" u="none" strike="noStrike">
                          <a:solidFill>
                            <a:srgbClr val="FFFFFF"/>
                          </a:solidFill>
                          <a:effectLst/>
                          <a:latin typeface="Calibri" panose="020F0502020204030204" pitchFamily="34" charset="0"/>
                        </a:rPr>
                        <a:t>8,1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b">
                        <a:buNone/>
                      </a:pPr>
                      <a:r>
                        <a:rPr lang="es-CL" sz="800" b="1" i="0" u="none" strike="noStrike" dirty="0">
                          <a:solidFill>
                            <a:srgbClr val="FFFFFF"/>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3298029992"/>
                  </a:ext>
                </a:extLst>
              </a:tr>
            </a:tbl>
          </a:graphicData>
        </a:graphic>
      </p:graphicFrame>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609"/>
        <p:cNvGrpSpPr/>
        <p:nvPr/>
      </p:nvGrpSpPr>
      <p:grpSpPr>
        <a:xfrm>
          <a:off x="0" y="0"/>
          <a:ext cx="0" cy="0"/>
          <a:chOff x="0" y="0"/>
          <a:chExt cx="0" cy="0"/>
        </a:xfrm>
      </p:grpSpPr>
      <p:sp>
        <p:nvSpPr>
          <p:cNvPr id="610" name="Google Shape;610;p53"/>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611" name="Google Shape;611;p53"/>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612" name="Google Shape;612;p53"/>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de Atacama</a:t>
            </a:r>
            <a:endParaRPr/>
          </a:p>
        </p:txBody>
      </p:sp>
      <p:graphicFrame>
        <p:nvGraphicFramePr>
          <p:cNvPr id="2" name="Tabla 1">
            <a:extLst>
              <a:ext uri="{FF2B5EF4-FFF2-40B4-BE49-F238E27FC236}">
                <a16:creationId xmlns:a16="http://schemas.microsoft.com/office/drawing/2014/main" id="{DE170ECF-9D56-9595-8A3E-3D19E2B9E65D}"/>
              </a:ext>
            </a:extLst>
          </p:cNvPr>
          <p:cNvGraphicFramePr>
            <a:graphicFrameLocks noGrp="1"/>
          </p:cNvGraphicFramePr>
          <p:nvPr>
            <p:extLst>
              <p:ext uri="{D42A27DB-BD31-4B8C-83A1-F6EECF244321}">
                <p14:modId xmlns:p14="http://schemas.microsoft.com/office/powerpoint/2010/main" val="3642189925"/>
              </p:ext>
            </p:extLst>
          </p:nvPr>
        </p:nvGraphicFramePr>
        <p:xfrm>
          <a:off x="323850" y="1412677"/>
          <a:ext cx="10515599" cy="1846075"/>
        </p:xfrm>
        <a:graphic>
          <a:graphicData uri="http://schemas.openxmlformats.org/drawingml/2006/table">
            <a:tbl>
              <a:tblPr/>
              <a:tblGrid>
                <a:gridCol w="2263792">
                  <a:extLst>
                    <a:ext uri="{9D8B030D-6E8A-4147-A177-3AD203B41FA5}">
                      <a16:colId xmlns:a16="http://schemas.microsoft.com/office/drawing/2014/main" val="3916290276"/>
                    </a:ext>
                  </a:extLst>
                </a:gridCol>
                <a:gridCol w="594725">
                  <a:extLst>
                    <a:ext uri="{9D8B030D-6E8A-4147-A177-3AD203B41FA5}">
                      <a16:colId xmlns:a16="http://schemas.microsoft.com/office/drawing/2014/main" val="1437198727"/>
                    </a:ext>
                  </a:extLst>
                </a:gridCol>
                <a:gridCol w="597123">
                  <a:extLst>
                    <a:ext uri="{9D8B030D-6E8A-4147-A177-3AD203B41FA5}">
                      <a16:colId xmlns:a16="http://schemas.microsoft.com/office/drawing/2014/main" val="2928435468"/>
                    </a:ext>
                  </a:extLst>
                </a:gridCol>
                <a:gridCol w="594725">
                  <a:extLst>
                    <a:ext uri="{9D8B030D-6E8A-4147-A177-3AD203B41FA5}">
                      <a16:colId xmlns:a16="http://schemas.microsoft.com/office/drawing/2014/main" val="1122068939"/>
                    </a:ext>
                  </a:extLst>
                </a:gridCol>
                <a:gridCol w="597123">
                  <a:extLst>
                    <a:ext uri="{9D8B030D-6E8A-4147-A177-3AD203B41FA5}">
                      <a16:colId xmlns:a16="http://schemas.microsoft.com/office/drawing/2014/main" val="1003033973"/>
                    </a:ext>
                  </a:extLst>
                </a:gridCol>
                <a:gridCol w="700240">
                  <a:extLst>
                    <a:ext uri="{9D8B030D-6E8A-4147-A177-3AD203B41FA5}">
                      <a16:colId xmlns:a16="http://schemas.microsoft.com/office/drawing/2014/main" val="1648238007"/>
                    </a:ext>
                  </a:extLst>
                </a:gridCol>
                <a:gridCol w="697842">
                  <a:extLst>
                    <a:ext uri="{9D8B030D-6E8A-4147-A177-3AD203B41FA5}">
                      <a16:colId xmlns:a16="http://schemas.microsoft.com/office/drawing/2014/main" val="591027855"/>
                    </a:ext>
                  </a:extLst>
                </a:gridCol>
                <a:gridCol w="1055157">
                  <a:extLst>
                    <a:ext uri="{9D8B030D-6E8A-4147-A177-3AD203B41FA5}">
                      <a16:colId xmlns:a16="http://schemas.microsoft.com/office/drawing/2014/main" val="2925456750"/>
                    </a:ext>
                  </a:extLst>
                </a:gridCol>
                <a:gridCol w="1055157">
                  <a:extLst>
                    <a:ext uri="{9D8B030D-6E8A-4147-A177-3AD203B41FA5}">
                      <a16:colId xmlns:a16="http://schemas.microsoft.com/office/drawing/2014/main" val="3897000090"/>
                    </a:ext>
                  </a:extLst>
                </a:gridCol>
                <a:gridCol w="2359715">
                  <a:extLst>
                    <a:ext uri="{9D8B030D-6E8A-4147-A177-3AD203B41FA5}">
                      <a16:colId xmlns:a16="http://schemas.microsoft.com/office/drawing/2014/main" val="3926348349"/>
                    </a:ext>
                  </a:extLst>
                </a:gridCol>
              </a:tblGrid>
              <a:tr h="199400">
                <a:tc rowSpan="2">
                  <a:txBody>
                    <a:bodyPr/>
                    <a:lstStyle/>
                    <a:p>
                      <a:pPr algn="ctr" fontAlgn="ctr">
                        <a:buNone/>
                      </a:pPr>
                      <a:r>
                        <a:rPr lang="es-CL" sz="700" b="1" i="0" u="none" strike="noStrike">
                          <a:solidFill>
                            <a:srgbClr val="FFFFFF"/>
                          </a:solidFill>
                          <a:effectLst/>
                          <a:latin typeface="Calibri" panose="020F0502020204030204" pitchFamily="34" charset="0"/>
                        </a:rPr>
                        <a:t>Cliente</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700" b="1" i="0" u="none" strike="noStrike">
                          <a:solidFill>
                            <a:srgbClr val="1A1A1A"/>
                          </a:solidFill>
                          <a:effectLst/>
                          <a:latin typeface="Calibri" panose="020F0502020204030204" pitchFamily="34" charset="0"/>
                        </a:rPr>
                        <a:t>Dental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700" b="1" i="0" u="none" strike="noStrike">
                          <a:solidFill>
                            <a:srgbClr val="FFFFFF"/>
                          </a:solidFill>
                          <a:effectLst/>
                          <a:latin typeface="Calibri" panose="020F0502020204030204" pitchFamily="34" charset="0"/>
                        </a:rPr>
                        <a:t>Esterilización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700" b="1" i="0" u="none" strike="noStrike">
                          <a:solidFill>
                            <a:srgbClr val="FFFFFF"/>
                          </a:solidFill>
                          <a:effectLst/>
                          <a:latin typeface="Calibri" panose="020F0502020204030204" pitchFamily="34" charset="0"/>
                        </a:rPr>
                        <a:t>Base Instalada Total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700" b="1" i="0" u="none" strike="noStrike">
                          <a:solidFill>
                            <a:srgbClr val="FFFFFF"/>
                          </a:solidFill>
                          <a:effectLst/>
                          <a:latin typeface="Calibri" panose="020F0502020204030204" pitchFamily="34" charset="0"/>
                        </a:rPr>
                        <a:t>Pot. Mantenimiento MM$</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700" b="1" i="0" u="none" strike="noStrike">
                          <a:solidFill>
                            <a:srgbClr val="FFFFFF"/>
                          </a:solidFill>
                          <a:effectLst/>
                          <a:latin typeface="Roboto" panose="02000000000000000000" pitchFamily="2" charset="0"/>
                        </a:rPr>
                        <a:t>Margen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700" b="1" i="0" u="none" strike="noStrike">
                          <a:solidFill>
                            <a:srgbClr val="FFFFFF"/>
                          </a:solidFill>
                          <a:effectLst/>
                          <a:latin typeface="Calibri" panose="020F0502020204030204" pitchFamily="34" charset="0"/>
                        </a:rPr>
                        <a:t>Plan de Acción</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2194801861"/>
                  </a:ext>
                </a:extLst>
              </a:tr>
              <a:tr h="297611">
                <a:tc vMerge="1">
                  <a:txBody>
                    <a:bodyPr/>
                    <a:lstStyle/>
                    <a:p>
                      <a:endParaRPr lang="es-CL"/>
                    </a:p>
                  </a:txBody>
                  <a:tcPr/>
                </a:tc>
                <a:tc>
                  <a:txBody>
                    <a:bodyPr/>
                    <a:lstStyle/>
                    <a:p>
                      <a:pPr algn="ctr" fontAlgn="ctr">
                        <a:buNone/>
                      </a:pPr>
                      <a:r>
                        <a:rPr lang="es-CL" sz="700" b="1" i="0" u="none" strike="noStrike">
                          <a:solidFill>
                            <a:srgbClr val="1A1A1A"/>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700" b="1" i="0" u="none" strike="noStrike">
                          <a:solidFill>
                            <a:srgbClr val="1A1A1A"/>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7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7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700" b="1" i="0" u="none" strike="noStrike">
                          <a:solidFill>
                            <a:srgbClr val="FFFFFF"/>
                          </a:solidFill>
                          <a:effectLst/>
                          <a:latin typeface="Calibri" panose="020F0502020204030204" pitchFamily="34" charset="0"/>
                        </a:rPr>
                        <a:t>Equipos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700" b="1" i="0" u="none" strike="noStrike">
                          <a:solidFill>
                            <a:srgbClr val="FFFFFF"/>
                          </a:solidFill>
                          <a:effectLst/>
                          <a:latin typeface="Calibri" panose="020F0502020204030204" pitchFamily="34" charset="0"/>
                        </a:rPr>
                        <a:t>% Vida Útil</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1341389207"/>
                  </a:ext>
                </a:extLst>
              </a:tr>
              <a:tr h="221720">
                <a:tc>
                  <a:txBody>
                    <a:bodyPr/>
                    <a:lstStyle/>
                    <a:p>
                      <a:pPr algn="l" fontAlgn="b">
                        <a:buNone/>
                      </a:pPr>
                      <a:r>
                        <a:rPr lang="es-CL" sz="800" b="0" i="0" u="none" strike="noStrike" dirty="0">
                          <a:solidFill>
                            <a:schemeClr val="accent2"/>
                          </a:solidFill>
                          <a:effectLst/>
                          <a:latin typeface="Calibri" panose="020F0502020204030204" pitchFamily="34" charset="0"/>
                        </a:rPr>
                        <a:t>CLINICA ATACAMA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65,6%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65,6%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Auditoría técnica, propuesta preventiva y evaluación de renovación tecnológica.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3565266961"/>
                  </a:ext>
                </a:extLst>
              </a:tr>
              <a:tr h="148806">
                <a:tc>
                  <a:txBody>
                    <a:bodyPr/>
                    <a:lstStyle/>
                    <a:p>
                      <a:pPr algn="l" fontAlgn="b">
                        <a:buNone/>
                      </a:pPr>
                      <a:r>
                        <a:rPr lang="es-CL" sz="800" b="0" i="0" u="none" strike="noStrike">
                          <a:solidFill>
                            <a:schemeClr val="accent2"/>
                          </a:solidFill>
                          <a:effectLst/>
                          <a:latin typeface="Calibri" panose="020F0502020204030204" pitchFamily="34" charset="0"/>
                        </a:rPr>
                        <a:t>CESFAM PEDRO LEON GALLO COPIAPO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104,2%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104,2%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anual y seguimiento técnico.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2319818823"/>
                  </a:ext>
                </a:extLst>
              </a:tr>
              <a:tr h="148806">
                <a:tc>
                  <a:txBody>
                    <a:bodyPr/>
                    <a:lstStyle/>
                    <a:p>
                      <a:pPr algn="l" fontAlgn="b">
                        <a:buNone/>
                      </a:pPr>
                      <a:r>
                        <a:rPr lang="es-CL" sz="800" b="0" i="0" u="none" strike="noStrike" dirty="0">
                          <a:solidFill>
                            <a:schemeClr val="accent2"/>
                          </a:solidFill>
                          <a:effectLst/>
                          <a:latin typeface="Calibri" panose="020F0502020204030204" pitchFamily="34" charset="0"/>
                        </a:rPr>
                        <a:t>HOSPITAL DE VALLENAR</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76,1%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76,1%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Levantamiento institucional y propuesta anual de cobertura.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1617533554"/>
                  </a:ext>
                </a:extLst>
              </a:tr>
              <a:tr h="148806">
                <a:tc>
                  <a:txBody>
                    <a:bodyPr/>
                    <a:lstStyle/>
                    <a:p>
                      <a:pPr algn="l" fontAlgn="b">
                        <a:buNone/>
                      </a:pPr>
                      <a:r>
                        <a:rPr lang="es-CL" sz="800" b="0" i="0" u="none" strike="noStrike">
                          <a:solidFill>
                            <a:schemeClr val="accent2"/>
                          </a:solidFill>
                          <a:effectLst/>
                          <a:latin typeface="Calibri" panose="020F0502020204030204" pitchFamily="34" charset="0"/>
                        </a:rPr>
                        <a:t>VARGAS ROJAS SOC.RESP. LTDA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70,0%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dirty="0">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70,0%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1,0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Programa básico de mantenimiento preventivo.</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26358115"/>
                  </a:ext>
                </a:extLst>
              </a:tr>
              <a:tr h="148806">
                <a:tc>
                  <a:txBody>
                    <a:bodyPr/>
                    <a:lstStyle/>
                    <a:p>
                      <a:pPr algn="l" fontAlgn="b">
                        <a:buNone/>
                      </a:pPr>
                      <a:r>
                        <a:rPr lang="es-CL" sz="800" b="0" i="0" u="none" strike="noStrike">
                          <a:solidFill>
                            <a:schemeClr val="accent2"/>
                          </a:solidFill>
                          <a:effectLst/>
                          <a:latin typeface="Calibri" panose="020F0502020204030204" pitchFamily="34" charset="0"/>
                        </a:rPr>
                        <a:t>HOSPITAL FLORENCIO VARGAS DIAZ</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65,8%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65,8%</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FFF"/>
                    </a:solidFill>
                  </a:tcPr>
                </a:tc>
                <a:tc>
                  <a:txBody>
                    <a:bodyPr/>
                    <a:lstStyle/>
                    <a:p>
                      <a:pPr algn="r" fontAlgn="b">
                        <a:buNone/>
                      </a:pPr>
                      <a:r>
                        <a:rPr lang="es-CL" sz="800" b="0" i="0" u="none" strike="noStrike">
                          <a:solidFill>
                            <a:schemeClr val="accent2"/>
                          </a:solidFill>
                          <a:effectLst/>
                          <a:latin typeface="Calibri" panose="020F0502020204030204" pitchFamily="34" charset="0"/>
                        </a:rPr>
                        <a:t>1,2</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dirty="0">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institucional y análisis de criticidad.</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3998735227"/>
                  </a:ext>
                </a:extLst>
              </a:tr>
              <a:tr h="148806">
                <a:tc>
                  <a:txBody>
                    <a:bodyPr/>
                    <a:lstStyle/>
                    <a:p>
                      <a:pPr algn="l" fontAlgn="b">
                        <a:buNone/>
                      </a:pPr>
                      <a:r>
                        <a:rPr lang="es-CL" sz="800" b="0" i="0" u="none" strike="noStrike">
                          <a:solidFill>
                            <a:schemeClr val="accent2"/>
                          </a:solidFill>
                          <a:effectLst/>
                          <a:latin typeface="Calibri" panose="020F0502020204030204" pitchFamily="34" charset="0"/>
                        </a:rPr>
                        <a:t>CESFAM FREIRINA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231,7%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231,7%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7F9FC"/>
                    </a:solidFill>
                  </a:tcPr>
                </a:tc>
                <a:tc>
                  <a:txBody>
                    <a:bodyPr/>
                    <a:lstStyle/>
                    <a:p>
                      <a:pPr algn="r" fontAlgn="b">
                        <a:buNone/>
                      </a:pPr>
                      <a:r>
                        <a:rPr lang="es-CL" sz="800" b="0" i="0" u="none" strike="noStrike">
                          <a:solidFill>
                            <a:schemeClr val="accent2"/>
                          </a:solidFill>
                          <a:effectLst/>
                          <a:latin typeface="Calibri" panose="020F0502020204030204" pitchFamily="34" charset="0"/>
                        </a:rPr>
                        <a:t>0,6</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E8F5EC"/>
                    </a:solidFill>
                  </a:tcPr>
                </a:tc>
                <a:tc>
                  <a:txBody>
                    <a:bodyPr/>
                    <a:lstStyle/>
                    <a:p>
                      <a:pPr algn="l" fontAlgn="b">
                        <a:buNone/>
                      </a:pPr>
                      <a:r>
                        <a:rPr lang="es-CL" sz="800" b="0" i="0" u="none" strike="noStrike" dirty="0">
                          <a:solidFill>
                            <a:schemeClr val="accent2"/>
                          </a:solidFill>
                          <a:effectLst/>
                          <a:latin typeface="Calibri" panose="020F0502020204030204" pitchFamily="34" charset="0"/>
                        </a:rPr>
                        <a:t>Cobertura preventiva programada.</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F8E1"/>
                    </a:solidFill>
                  </a:tcPr>
                </a:tc>
                <a:extLst>
                  <a:ext uri="{0D108BD9-81ED-4DB2-BD59-A6C34878D82A}">
                    <a16:rowId xmlns:a16="http://schemas.microsoft.com/office/drawing/2014/main" val="929640758"/>
                  </a:ext>
                </a:extLst>
              </a:tr>
              <a:tr h="148806">
                <a:tc>
                  <a:txBody>
                    <a:bodyPr/>
                    <a:lstStyle/>
                    <a:p>
                      <a:pPr algn="l" fontAlgn="b">
                        <a:buNone/>
                      </a:pPr>
                      <a:r>
                        <a:rPr lang="es-CL" sz="700" b="1" i="0" u="none" strike="noStrike">
                          <a:solidFill>
                            <a:srgbClr val="FFFFFF"/>
                          </a:solidFill>
                          <a:effectLst/>
                          <a:latin typeface="Calibri" panose="020F0502020204030204" pitchFamily="34" charset="0"/>
                        </a:rPr>
                        <a:t>TOTAL · 6 clientes</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121,1%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4</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76,3%</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7</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93,1%</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10,0</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700" b="1" i="0" u="none" strike="noStrike">
                          <a:solidFill>
                            <a:srgbClr val="FFFFFF"/>
                          </a:solidFill>
                          <a:effectLst/>
                          <a:latin typeface="Calibri" panose="020F0502020204030204" pitchFamily="34" charset="0"/>
                        </a:rPr>
                        <a:t>4,9</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b">
                        <a:buNone/>
                      </a:pPr>
                      <a:r>
                        <a:rPr lang="es-CL" sz="700" b="1" i="0" u="none" strike="noStrike" dirty="0">
                          <a:solidFill>
                            <a:srgbClr val="FFFFFF"/>
                          </a:solidFill>
                          <a:effectLst/>
                          <a:latin typeface="Calibri" panose="020F0502020204030204" pitchFamily="34" charset="0"/>
                        </a:rPr>
                        <a:t> </a:t>
                      </a:r>
                    </a:p>
                  </a:txBody>
                  <a:tcPr marL="7440" marR="7440" marT="7440"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3426452126"/>
                  </a:ext>
                </a:extLst>
              </a:tr>
            </a:tbl>
          </a:graphicData>
        </a:graphic>
      </p:graphicFrame>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54"/>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None/>
            </a:pPr>
            <a:r>
              <a:rPr lang="es-CL" sz="2700" b="1">
                <a:solidFill>
                  <a:srgbClr val="33448D"/>
                </a:solidFill>
                <a:latin typeface="Roboto"/>
                <a:ea typeface="Roboto"/>
                <a:cs typeface="Roboto"/>
                <a:sym typeface="Roboto"/>
              </a:rPr>
              <a:t>Plan de Acción Para Clientes por Región </a:t>
            </a:r>
            <a:endParaRPr/>
          </a:p>
        </p:txBody>
      </p:sp>
      <p:cxnSp>
        <p:nvCxnSpPr>
          <p:cNvPr id="619" name="Google Shape;619;p54"/>
          <p:cNvCxnSpPr/>
          <p:nvPr/>
        </p:nvCxnSpPr>
        <p:spPr>
          <a:xfrm>
            <a:off x="323850" y="1104900"/>
            <a:ext cx="5410200" cy="0"/>
          </a:xfrm>
          <a:prstGeom prst="straightConnector1">
            <a:avLst/>
          </a:prstGeom>
          <a:noFill/>
          <a:ln w="19050" cap="flat" cmpd="sng">
            <a:solidFill>
              <a:schemeClr val="accent1"/>
            </a:solidFill>
            <a:prstDash val="solid"/>
            <a:miter lim="8000"/>
            <a:headEnd type="none" w="sm" len="sm"/>
            <a:tailEnd type="none" w="sm" len="sm"/>
          </a:ln>
        </p:spPr>
      </p:cxnSp>
      <p:sp>
        <p:nvSpPr>
          <p:cNvPr id="620" name="Google Shape;620;p54"/>
          <p:cNvSpPr txBox="1"/>
          <p:nvPr/>
        </p:nvSpPr>
        <p:spPr>
          <a:xfrm>
            <a:off x="323850" y="797123"/>
            <a:ext cx="36576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L" sz="1400">
                <a:solidFill>
                  <a:srgbClr val="33448D"/>
                </a:solidFill>
                <a:latin typeface="Roboto"/>
                <a:ea typeface="Roboto"/>
                <a:cs typeface="Roboto"/>
                <a:sym typeface="Roboto"/>
              </a:rPr>
              <a:t>Región Aysén</a:t>
            </a:r>
            <a:endParaRPr/>
          </a:p>
        </p:txBody>
      </p:sp>
      <p:graphicFrame>
        <p:nvGraphicFramePr>
          <p:cNvPr id="4" name="Tabla 3">
            <a:extLst>
              <a:ext uri="{FF2B5EF4-FFF2-40B4-BE49-F238E27FC236}">
                <a16:creationId xmlns:a16="http://schemas.microsoft.com/office/drawing/2014/main" id="{E316565C-4A78-7F68-2873-F51136F11703}"/>
              </a:ext>
            </a:extLst>
          </p:cNvPr>
          <p:cNvGraphicFramePr>
            <a:graphicFrameLocks noGrp="1"/>
          </p:cNvGraphicFramePr>
          <p:nvPr>
            <p:extLst>
              <p:ext uri="{D42A27DB-BD31-4B8C-83A1-F6EECF244321}">
                <p14:modId xmlns:p14="http://schemas.microsoft.com/office/powerpoint/2010/main" val="941366969"/>
              </p:ext>
            </p:extLst>
          </p:nvPr>
        </p:nvGraphicFramePr>
        <p:xfrm>
          <a:off x="330230" y="1390526"/>
          <a:ext cx="10515600" cy="2696053"/>
        </p:xfrm>
        <a:graphic>
          <a:graphicData uri="http://schemas.openxmlformats.org/drawingml/2006/table">
            <a:tbl>
              <a:tblPr/>
              <a:tblGrid>
                <a:gridCol w="2033331">
                  <a:extLst>
                    <a:ext uri="{9D8B030D-6E8A-4147-A177-3AD203B41FA5}">
                      <a16:colId xmlns:a16="http://schemas.microsoft.com/office/drawing/2014/main" val="3774879871"/>
                    </a:ext>
                  </a:extLst>
                </a:gridCol>
                <a:gridCol w="534181">
                  <a:extLst>
                    <a:ext uri="{9D8B030D-6E8A-4147-A177-3AD203B41FA5}">
                      <a16:colId xmlns:a16="http://schemas.microsoft.com/office/drawing/2014/main" val="2619755888"/>
                    </a:ext>
                  </a:extLst>
                </a:gridCol>
                <a:gridCol w="536334">
                  <a:extLst>
                    <a:ext uri="{9D8B030D-6E8A-4147-A177-3AD203B41FA5}">
                      <a16:colId xmlns:a16="http://schemas.microsoft.com/office/drawing/2014/main" val="3902245419"/>
                    </a:ext>
                  </a:extLst>
                </a:gridCol>
                <a:gridCol w="534181">
                  <a:extLst>
                    <a:ext uri="{9D8B030D-6E8A-4147-A177-3AD203B41FA5}">
                      <a16:colId xmlns:a16="http://schemas.microsoft.com/office/drawing/2014/main" val="3102648205"/>
                    </a:ext>
                  </a:extLst>
                </a:gridCol>
                <a:gridCol w="536334">
                  <a:extLst>
                    <a:ext uri="{9D8B030D-6E8A-4147-A177-3AD203B41FA5}">
                      <a16:colId xmlns:a16="http://schemas.microsoft.com/office/drawing/2014/main" val="4020945144"/>
                    </a:ext>
                  </a:extLst>
                </a:gridCol>
                <a:gridCol w="534181">
                  <a:extLst>
                    <a:ext uri="{9D8B030D-6E8A-4147-A177-3AD203B41FA5}">
                      <a16:colId xmlns:a16="http://schemas.microsoft.com/office/drawing/2014/main" val="2756601262"/>
                    </a:ext>
                  </a:extLst>
                </a:gridCol>
                <a:gridCol w="536334">
                  <a:extLst>
                    <a:ext uri="{9D8B030D-6E8A-4147-A177-3AD203B41FA5}">
                      <a16:colId xmlns:a16="http://schemas.microsoft.com/office/drawing/2014/main" val="992327153"/>
                    </a:ext>
                  </a:extLst>
                </a:gridCol>
                <a:gridCol w="628954">
                  <a:extLst>
                    <a:ext uri="{9D8B030D-6E8A-4147-A177-3AD203B41FA5}">
                      <a16:colId xmlns:a16="http://schemas.microsoft.com/office/drawing/2014/main" val="930332273"/>
                    </a:ext>
                  </a:extLst>
                </a:gridCol>
                <a:gridCol w="626800">
                  <a:extLst>
                    <a:ext uri="{9D8B030D-6E8A-4147-A177-3AD203B41FA5}">
                      <a16:colId xmlns:a16="http://schemas.microsoft.com/office/drawing/2014/main" val="2730243090"/>
                    </a:ext>
                  </a:extLst>
                </a:gridCol>
                <a:gridCol w="947740">
                  <a:extLst>
                    <a:ext uri="{9D8B030D-6E8A-4147-A177-3AD203B41FA5}">
                      <a16:colId xmlns:a16="http://schemas.microsoft.com/office/drawing/2014/main" val="124650231"/>
                    </a:ext>
                  </a:extLst>
                </a:gridCol>
                <a:gridCol w="947740">
                  <a:extLst>
                    <a:ext uri="{9D8B030D-6E8A-4147-A177-3AD203B41FA5}">
                      <a16:colId xmlns:a16="http://schemas.microsoft.com/office/drawing/2014/main" val="2949787827"/>
                    </a:ext>
                  </a:extLst>
                </a:gridCol>
                <a:gridCol w="2119490">
                  <a:extLst>
                    <a:ext uri="{9D8B030D-6E8A-4147-A177-3AD203B41FA5}">
                      <a16:colId xmlns:a16="http://schemas.microsoft.com/office/drawing/2014/main" val="77911662"/>
                    </a:ext>
                  </a:extLst>
                </a:gridCol>
              </a:tblGrid>
              <a:tr h="180037">
                <a:tc rowSpan="2">
                  <a:txBody>
                    <a:bodyPr/>
                    <a:lstStyle/>
                    <a:p>
                      <a:pPr algn="ctr" fontAlgn="ctr">
                        <a:buNone/>
                      </a:pPr>
                      <a:r>
                        <a:rPr lang="es-CL" sz="600" b="1" i="0" u="none" strike="noStrike">
                          <a:solidFill>
                            <a:srgbClr val="FFFFFF"/>
                          </a:solidFill>
                          <a:effectLst/>
                          <a:latin typeface="Calibri" panose="020F0502020204030204" pitchFamily="34" charset="0"/>
                        </a:rPr>
                        <a:t>Cliente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gridSpan="2">
                  <a:txBody>
                    <a:bodyPr/>
                    <a:lstStyle/>
                    <a:p>
                      <a:pPr algn="ctr" fontAlgn="ctr">
                        <a:buNone/>
                      </a:pPr>
                      <a:r>
                        <a:rPr lang="es-CL" sz="600" b="1" i="0" u="none" strike="noStrike">
                          <a:solidFill>
                            <a:srgbClr val="1A1A1A"/>
                          </a:solidFill>
                          <a:effectLst/>
                          <a:latin typeface="Calibri" panose="020F0502020204030204" pitchFamily="34" charset="0"/>
                        </a:rPr>
                        <a:t>Dental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hMerge="1">
                  <a:txBody>
                    <a:bodyPr/>
                    <a:lstStyle/>
                    <a:p>
                      <a:endParaRPr lang="es-CL"/>
                    </a:p>
                  </a:txBody>
                  <a:tcPr/>
                </a:tc>
                <a:tc gridSpan="2">
                  <a:txBody>
                    <a:bodyPr/>
                    <a:lstStyle/>
                    <a:p>
                      <a:pPr algn="ctr" fontAlgn="ctr">
                        <a:buNone/>
                      </a:pPr>
                      <a:r>
                        <a:rPr lang="es-CL" sz="600" b="1" i="0" u="none" strike="noStrike">
                          <a:solidFill>
                            <a:srgbClr val="FFFFFF"/>
                          </a:solidFill>
                          <a:effectLst/>
                          <a:latin typeface="Calibri" panose="020F0502020204030204" pitchFamily="34" charset="0"/>
                        </a:rPr>
                        <a:t>Esterilización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gridSpan="2">
                  <a:txBody>
                    <a:bodyPr/>
                    <a:lstStyle/>
                    <a:p>
                      <a:pPr algn="ctr" fontAlgn="ctr">
                        <a:buNone/>
                      </a:pPr>
                      <a:r>
                        <a:rPr lang="es-CL" sz="600" b="1" i="0" u="none" strike="noStrike">
                          <a:solidFill>
                            <a:srgbClr val="1A1A1A"/>
                          </a:solidFill>
                          <a:effectLst/>
                          <a:latin typeface="Calibri" panose="020F0502020204030204" pitchFamily="34" charset="0"/>
                        </a:rPr>
                        <a:t>Endoscopía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hMerge="1">
                  <a:txBody>
                    <a:bodyPr/>
                    <a:lstStyle/>
                    <a:p>
                      <a:endParaRPr lang="es-CL"/>
                    </a:p>
                  </a:txBody>
                  <a:tcPr/>
                </a:tc>
                <a:tc gridSpan="2">
                  <a:txBody>
                    <a:bodyPr/>
                    <a:lstStyle/>
                    <a:p>
                      <a:pPr algn="ctr" fontAlgn="ctr">
                        <a:buNone/>
                      </a:pPr>
                      <a:r>
                        <a:rPr lang="es-CL" sz="600" b="1" i="0" u="none" strike="noStrike">
                          <a:solidFill>
                            <a:srgbClr val="FFFFFF"/>
                          </a:solidFill>
                          <a:effectLst/>
                          <a:latin typeface="Calibri" panose="020F0502020204030204" pitchFamily="34" charset="0"/>
                        </a:rPr>
                        <a:t>Base Instalada Total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hMerge="1">
                  <a:txBody>
                    <a:bodyPr/>
                    <a:lstStyle/>
                    <a:p>
                      <a:endParaRPr lang="es-CL"/>
                    </a:p>
                  </a:txBody>
                  <a:tcPr/>
                </a:tc>
                <a:tc rowSpan="2">
                  <a:txBody>
                    <a:bodyPr/>
                    <a:lstStyle/>
                    <a:p>
                      <a:pPr algn="ctr" fontAlgn="ctr">
                        <a:buNone/>
                      </a:pPr>
                      <a:r>
                        <a:rPr lang="es-CL" sz="600" b="1" i="0" u="none" strike="noStrike">
                          <a:solidFill>
                            <a:srgbClr val="FFFFFF"/>
                          </a:solidFill>
                          <a:effectLst/>
                          <a:latin typeface="Calibri" panose="020F0502020204030204" pitchFamily="34" charset="0"/>
                        </a:rPr>
                        <a:t>Pot. Mantenimiento MM$</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600" b="1" i="0" u="none" strike="noStrike">
                          <a:solidFill>
                            <a:srgbClr val="FFFFFF"/>
                          </a:solidFill>
                          <a:effectLst/>
                          <a:latin typeface="Roboto" panose="02000000000000000000" pitchFamily="2" charset="0"/>
                        </a:rPr>
                        <a:t>Margen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rowSpan="2">
                  <a:txBody>
                    <a:bodyPr/>
                    <a:lstStyle/>
                    <a:p>
                      <a:pPr algn="ctr" fontAlgn="ctr">
                        <a:buNone/>
                      </a:pPr>
                      <a:r>
                        <a:rPr lang="es-CL" sz="600" b="1" i="0" u="none" strike="noStrike">
                          <a:solidFill>
                            <a:srgbClr val="FFFFFF"/>
                          </a:solidFill>
                          <a:effectLst/>
                          <a:latin typeface="Calibri" panose="020F0502020204030204" pitchFamily="34" charset="0"/>
                        </a:rPr>
                        <a:t>Plan de Acción</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B26A00"/>
                    </a:solidFill>
                  </a:tcPr>
                </a:tc>
                <a:extLst>
                  <a:ext uri="{0D108BD9-81ED-4DB2-BD59-A6C34878D82A}">
                    <a16:rowId xmlns:a16="http://schemas.microsoft.com/office/drawing/2014/main" val="3429533828"/>
                  </a:ext>
                </a:extLst>
              </a:tr>
              <a:tr h="268712">
                <a:tc vMerge="1">
                  <a:txBody>
                    <a:bodyPr/>
                    <a:lstStyle/>
                    <a:p>
                      <a:endParaRPr lang="es-CL"/>
                    </a:p>
                  </a:txBody>
                  <a:tcPr/>
                </a:tc>
                <a:tc>
                  <a:txBody>
                    <a:bodyPr/>
                    <a:lstStyle/>
                    <a:p>
                      <a:pPr algn="ctr" fontAlgn="ctr">
                        <a:buNone/>
                      </a:pPr>
                      <a:r>
                        <a:rPr lang="es-CL" sz="6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6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FFC000"/>
                    </a:solidFill>
                  </a:tcPr>
                </a:tc>
                <a:tc>
                  <a:txBody>
                    <a:bodyPr/>
                    <a:lstStyle/>
                    <a:p>
                      <a:pPr algn="ctr" fontAlgn="ctr">
                        <a:buNone/>
                      </a:pPr>
                      <a:r>
                        <a:rPr lang="es-CL" sz="6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6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600" b="1" i="0" u="none" strike="noStrike">
                          <a:solidFill>
                            <a:srgbClr val="1A1A1A"/>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600" b="1" i="0" u="none" strike="noStrike">
                          <a:solidFill>
                            <a:srgbClr val="1A1A1A"/>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28D2C3"/>
                    </a:solidFill>
                  </a:tcPr>
                </a:tc>
                <a:tc>
                  <a:txBody>
                    <a:bodyPr/>
                    <a:lstStyle/>
                    <a:p>
                      <a:pPr algn="ctr" fontAlgn="ctr">
                        <a:buNone/>
                      </a:pPr>
                      <a:r>
                        <a:rPr lang="es-CL" sz="600" b="1" i="0" u="none" strike="noStrike">
                          <a:solidFill>
                            <a:srgbClr val="FFFFFF"/>
                          </a:solidFill>
                          <a:effectLst/>
                          <a:latin typeface="Calibri" panose="020F0502020204030204" pitchFamily="34" charset="0"/>
                        </a:rPr>
                        <a:t>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a:txBody>
                    <a:bodyPr/>
                    <a:lstStyle/>
                    <a:p>
                      <a:pPr algn="ctr" fontAlgn="ctr">
                        <a:buNone/>
                      </a:pPr>
                      <a:r>
                        <a:rPr lang="es-CL" sz="600" b="1" i="0" u="none" strike="noStrike">
                          <a:solidFill>
                            <a:srgbClr val="FFFFFF"/>
                          </a:solidFill>
                          <a:effectLst/>
                          <a:latin typeface="Calibri" panose="020F0502020204030204" pitchFamily="34" charset="0"/>
                        </a:rPr>
                        <a:t>% Vida Útil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02D73"/>
                    </a:solidFill>
                  </a:tcPr>
                </a:tc>
                <a:tc vMerge="1">
                  <a:txBody>
                    <a:bodyPr/>
                    <a:lstStyle/>
                    <a:p>
                      <a:endParaRPr lang="es-CL"/>
                    </a:p>
                  </a:txBody>
                  <a:tcPr/>
                </a:tc>
                <a:tc vMerge="1">
                  <a:txBody>
                    <a:bodyPr/>
                    <a:lstStyle/>
                    <a:p>
                      <a:endParaRPr lang="es-CL"/>
                    </a:p>
                  </a:txBody>
                  <a:tcPr/>
                </a:tc>
                <a:tc vMerge="1">
                  <a:txBody>
                    <a:bodyPr/>
                    <a:lstStyle/>
                    <a:p>
                      <a:endParaRPr lang="es-CL"/>
                    </a:p>
                  </a:txBody>
                  <a:tcPr/>
                </a:tc>
                <a:extLst>
                  <a:ext uri="{0D108BD9-81ED-4DB2-BD59-A6C34878D82A}">
                    <a16:rowId xmlns:a16="http://schemas.microsoft.com/office/drawing/2014/main" val="2644057400"/>
                  </a:ext>
                </a:extLst>
              </a:tr>
              <a:tr h="134356">
                <a:tc>
                  <a:txBody>
                    <a:bodyPr/>
                    <a:lstStyle/>
                    <a:p>
                      <a:pPr algn="l" fontAlgn="b">
                        <a:buNone/>
                      </a:pPr>
                      <a:r>
                        <a:rPr lang="es-CL" sz="800" b="0" i="0" u="none" strike="noStrike" dirty="0">
                          <a:solidFill>
                            <a:schemeClr val="accent2"/>
                          </a:solidFill>
                          <a:effectLst/>
                          <a:latin typeface="Calibri" panose="020F0502020204030204" pitchFamily="34" charset="0"/>
                        </a:rPr>
                        <a:t>HOSPITAL DE COCHRANE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59,7%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59,7%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anual y evaluación periódica de equipos.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098556037"/>
                  </a:ext>
                </a:extLst>
              </a:tr>
              <a:tr h="200190">
                <a:tc>
                  <a:txBody>
                    <a:bodyPr/>
                    <a:lstStyle/>
                    <a:p>
                      <a:pPr algn="l" fontAlgn="b">
                        <a:buNone/>
                      </a:pPr>
                      <a:r>
                        <a:rPr lang="es-CL" sz="800" b="0" i="0" u="none" strike="noStrike" dirty="0">
                          <a:solidFill>
                            <a:schemeClr val="accent2"/>
                          </a:solidFill>
                          <a:effectLst/>
                          <a:latin typeface="Calibri" panose="020F0502020204030204" pitchFamily="34" charset="0"/>
                        </a:rPr>
                        <a:t>CESFAM LA JUNTA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175,0%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68,3%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121,7%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3,9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a:solidFill>
                            <a:schemeClr val="accent2"/>
                          </a:solidFill>
                          <a:effectLst/>
                          <a:latin typeface="Calibri" panose="020F0502020204030204" pitchFamily="34" charset="0"/>
                        </a:rPr>
                        <a:t>Programa preventivo programado e integración a rutas regionales.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2657335236"/>
                  </a:ext>
                </a:extLst>
              </a:tr>
              <a:tr h="759112">
                <a:tc>
                  <a:txBody>
                    <a:bodyPr/>
                    <a:lstStyle/>
                    <a:p>
                      <a:pPr algn="l" fontAlgn="b">
                        <a:buNone/>
                      </a:pPr>
                      <a:r>
                        <a:rPr lang="es-CL" sz="800" b="0" i="0" u="none" strike="noStrike">
                          <a:solidFill>
                            <a:schemeClr val="accent2"/>
                          </a:solidFill>
                          <a:effectLst/>
                          <a:latin typeface="Calibri" panose="020F0502020204030204" pitchFamily="34" charset="0"/>
                        </a:rPr>
                        <a:t>MUN. DE CHILE CHICO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48,3%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48,3%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dirty="0">
                          <a:solidFill>
                            <a:schemeClr val="accent2"/>
                          </a:solidFill>
                          <a:effectLst/>
                          <a:latin typeface="Calibri" panose="020F0502020204030204" pitchFamily="34" charset="0"/>
                        </a:rPr>
                        <a:t>2,9</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Auditoría técnica de base instalada.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Programa preventivo anual.</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Incorporación a rutas regionales programadas.</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Convenio institucional de soporte técnico.</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Evaluación de renovación tecnológica.</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Seguimiento de continuidad operacional.</a:t>
                      </a:r>
                      <a:br>
                        <a:rPr lang="es-CL" sz="800" b="0" i="0" u="none" strike="noStrike" dirty="0">
                          <a:solidFill>
                            <a:schemeClr val="accent2"/>
                          </a:solidFill>
                          <a:effectLst/>
                          <a:latin typeface="Calibri" panose="020F0502020204030204" pitchFamily="34" charset="0"/>
                        </a:rPr>
                      </a:br>
                      <a:r>
                        <a:rPr lang="es-CL" sz="800" b="0" i="0" u="none" strike="noStrike" dirty="0">
                          <a:solidFill>
                            <a:schemeClr val="accent2"/>
                          </a:solidFill>
                          <a:effectLst/>
                          <a:latin typeface="Calibri" panose="020F0502020204030204" pitchFamily="34" charset="0"/>
                        </a:rPr>
                        <a:t>Revisión de equipos fuera de cobertura.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493998745"/>
                  </a:ext>
                </a:extLst>
              </a:tr>
              <a:tr h="200190">
                <a:tc>
                  <a:txBody>
                    <a:bodyPr/>
                    <a:lstStyle/>
                    <a:p>
                      <a:pPr algn="l" fontAlgn="b">
                        <a:buNone/>
                      </a:pPr>
                      <a:r>
                        <a:rPr lang="es-CL" sz="800" b="0" i="0" u="none" strike="noStrike">
                          <a:solidFill>
                            <a:schemeClr val="accent2"/>
                          </a:solidFill>
                          <a:effectLst/>
                          <a:latin typeface="Calibri" panose="020F0502020204030204" pitchFamily="34" charset="0"/>
                        </a:rPr>
                        <a:t>HOSPITAL DE COYHAIQUE</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68,4%</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2,0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dirty="0">
                          <a:solidFill>
                            <a:schemeClr val="accent2"/>
                          </a:solidFill>
                          <a:effectLst/>
                          <a:latin typeface="Calibri" panose="020F0502020204030204" pitchFamily="34" charset="0"/>
                        </a:rPr>
                        <a:t>1,0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Cuenta regional principal, propuesta institucional de mantenimiento y renovación tecnológica.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1644238658"/>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CECOSF CHACABUCO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171,7%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171,7%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Mantención preventiva básica y seguimiento anual.</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4277507492"/>
                  </a:ext>
                </a:extLst>
              </a:tr>
              <a:tr h="134356">
                <a:tc>
                  <a:txBody>
                    <a:bodyPr/>
                    <a:lstStyle/>
                    <a:p>
                      <a:pPr algn="l" fontAlgn="b">
                        <a:buNone/>
                      </a:pPr>
                      <a:r>
                        <a:rPr lang="es-CL" sz="800" b="0" i="0" u="none" strike="noStrike">
                          <a:solidFill>
                            <a:schemeClr val="accent2"/>
                          </a:solidFill>
                          <a:effectLst/>
                          <a:latin typeface="Calibri" panose="020F0502020204030204" pitchFamily="34" charset="0"/>
                        </a:rPr>
                        <a:t>POSTA BAHÍA MURTA</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76,0%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76,0%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b">
                        <a:buNone/>
                      </a:pPr>
                      <a:r>
                        <a:rPr lang="es-CL" sz="800" b="0" i="0" u="none" strike="noStrike">
                          <a:solidFill>
                            <a:schemeClr val="accent2"/>
                          </a:solidFill>
                          <a:effectLst/>
                          <a:latin typeface="Calibri" panose="020F0502020204030204" pitchFamily="34" charset="0"/>
                        </a:rPr>
                        <a:t>0,6</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r" fontAlgn="ctr">
                        <a:buNone/>
                      </a:pPr>
                      <a:r>
                        <a:rPr lang="es-CL" sz="800" b="0" i="0" u="none" strike="noStrike">
                          <a:solidFill>
                            <a:schemeClr val="accent2"/>
                          </a:solidFill>
                          <a:effectLst/>
                          <a:latin typeface="Calibri" panose="020F0502020204030204" pitchFamily="34" charset="0"/>
                        </a:rPr>
                        <a:t>0,3</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tc>
                  <a:txBody>
                    <a:bodyPr/>
                    <a:lstStyle/>
                    <a:p>
                      <a:pPr algn="l" fontAlgn="b">
                        <a:buNone/>
                      </a:pPr>
                      <a:r>
                        <a:rPr lang="es-CL" sz="800" b="0" i="0" u="none" strike="noStrike" dirty="0">
                          <a:solidFill>
                            <a:schemeClr val="accent2"/>
                          </a:solidFill>
                          <a:effectLst/>
                          <a:latin typeface="Calibri" panose="020F0502020204030204" pitchFamily="34" charset="0"/>
                        </a:rPr>
                        <a:t>Cobertura preventiva anual y soporte remoto prioritario.</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noFill/>
                  </a:tcPr>
                </a:tc>
                <a:extLst>
                  <a:ext uri="{0D108BD9-81ED-4DB2-BD59-A6C34878D82A}">
                    <a16:rowId xmlns:a16="http://schemas.microsoft.com/office/drawing/2014/main" val="338730499"/>
                  </a:ext>
                </a:extLst>
              </a:tr>
              <a:tr h="134356">
                <a:tc>
                  <a:txBody>
                    <a:bodyPr/>
                    <a:lstStyle/>
                    <a:p>
                      <a:pPr algn="l" fontAlgn="b">
                        <a:buNone/>
                      </a:pPr>
                      <a:r>
                        <a:rPr lang="es-CL" sz="600" b="1" i="0" u="none" strike="noStrike">
                          <a:solidFill>
                            <a:srgbClr val="FFFFFF"/>
                          </a:solidFill>
                          <a:effectLst/>
                          <a:latin typeface="Calibri" panose="020F0502020204030204" pitchFamily="34" charset="0"/>
                        </a:rPr>
                        <a:t>TOTAL · 6 clientes</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124,7%</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5</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59,0%</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11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81,8%</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14,2</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r" fontAlgn="b">
                        <a:buNone/>
                      </a:pPr>
                      <a:r>
                        <a:rPr lang="es-CL" sz="600" b="1" i="0" u="none" strike="noStrike">
                          <a:solidFill>
                            <a:srgbClr val="FFFFFF"/>
                          </a:solidFill>
                          <a:effectLst/>
                          <a:latin typeface="Calibri" panose="020F0502020204030204" pitchFamily="34" charset="0"/>
                        </a:rPr>
                        <a:t>7,1</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tc>
                  <a:txBody>
                    <a:bodyPr/>
                    <a:lstStyle/>
                    <a:p>
                      <a:pPr algn="l" fontAlgn="b">
                        <a:buNone/>
                      </a:pPr>
                      <a:r>
                        <a:rPr lang="es-CL" sz="600" b="1" i="0" u="none" strike="noStrike" dirty="0">
                          <a:solidFill>
                            <a:srgbClr val="FFFFFF"/>
                          </a:solidFill>
                          <a:effectLst/>
                          <a:latin typeface="Calibri" panose="020F0502020204030204" pitchFamily="34" charset="0"/>
                        </a:rPr>
                        <a:t> </a:t>
                      </a:r>
                    </a:p>
                  </a:txBody>
                  <a:tcPr marL="6718" marR="6718" marT="6718" marB="0" anchor="ctr">
                    <a:lnL w="6350" cap="flat" cmpd="sng" algn="ctr">
                      <a:solidFill>
                        <a:srgbClr val="D4D5E8"/>
                      </a:solidFill>
                      <a:prstDash val="solid"/>
                      <a:round/>
                      <a:headEnd type="none" w="med" len="med"/>
                      <a:tailEnd type="none" w="med" len="med"/>
                    </a:lnL>
                    <a:lnR w="6350" cap="flat" cmpd="sng" algn="ctr">
                      <a:solidFill>
                        <a:srgbClr val="D4D5E8"/>
                      </a:solidFill>
                      <a:prstDash val="solid"/>
                      <a:round/>
                      <a:headEnd type="none" w="med" len="med"/>
                      <a:tailEnd type="none" w="med" len="med"/>
                    </a:lnR>
                    <a:lnT w="6350" cap="flat" cmpd="sng" algn="ctr">
                      <a:solidFill>
                        <a:srgbClr val="D4D5E8"/>
                      </a:solidFill>
                      <a:prstDash val="solid"/>
                      <a:round/>
                      <a:headEnd type="none" w="med" len="med"/>
                      <a:tailEnd type="none" w="med" len="med"/>
                    </a:lnT>
                    <a:lnB w="6350" cap="flat" cmpd="sng" algn="ctr">
                      <a:solidFill>
                        <a:srgbClr val="D4D5E8"/>
                      </a:solidFill>
                      <a:prstDash val="solid"/>
                      <a:round/>
                      <a:headEnd type="none" w="med" len="med"/>
                      <a:tailEnd type="none" w="med" len="med"/>
                    </a:lnB>
                    <a:solidFill>
                      <a:srgbClr val="0E2D55"/>
                    </a:solidFill>
                  </a:tcPr>
                </a:tc>
                <a:extLst>
                  <a:ext uri="{0D108BD9-81ED-4DB2-BD59-A6C34878D82A}">
                    <a16:rowId xmlns:a16="http://schemas.microsoft.com/office/drawing/2014/main" val="3905395208"/>
                  </a:ext>
                </a:extLst>
              </a:tr>
            </a:tbl>
          </a:graphicData>
        </a:graphic>
      </p:graphicFrame>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635"/>
        <p:cNvGrpSpPr/>
        <p:nvPr/>
      </p:nvGrpSpPr>
      <p:grpSpPr>
        <a:xfrm>
          <a:off x="0" y="0"/>
          <a:ext cx="0" cy="0"/>
          <a:chOff x="0" y="0"/>
          <a:chExt cx="0" cy="0"/>
        </a:xfrm>
      </p:grpSpPr>
      <p:sp>
        <p:nvSpPr>
          <p:cNvPr id="636" name="Google Shape;636;p56"/>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Estructura Operativa 2026</a:t>
            </a:r>
            <a:endParaRPr sz="2700" b="0" i="0" u="none" strike="noStrike" cap="none">
              <a:solidFill>
                <a:srgbClr val="FFFFFF"/>
              </a:solidFill>
              <a:latin typeface="Roboto"/>
              <a:ea typeface="Roboto"/>
              <a:cs typeface="Roboto"/>
              <a:sym typeface="Roboto"/>
            </a:endParaRPr>
          </a:p>
        </p:txBody>
      </p:sp>
      <p:sp>
        <p:nvSpPr>
          <p:cNvPr id="637" name="Google Shape;637;p56"/>
          <p:cNvSpPr/>
          <p:nvPr/>
        </p:nvSpPr>
        <p:spPr>
          <a:xfrm>
            <a:off x="4810504" y="810883"/>
            <a:ext cx="2716380" cy="777240"/>
          </a:xfrm>
          <a:prstGeom prst="roundRect">
            <a:avLst>
              <a:gd name="adj" fmla="val 5882"/>
            </a:avLst>
          </a:prstGeom>
          <a:solidFill>
            <a:srgbClr val="21295C"/>
          </a:solidFill>
          <a:ln w="12700" cap="flat" cmpd="sng">
            <a:solidFill>
              <a:srgbClr val="21295C"/>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38" name="Google Shape;638;p56"/>
          <p:cNvSpPr/>
          <p:nvPr/>
        </p:nvSpPr>
        <p:spPr>
          <a:xfrm>
            <a:off x="4212184" y="789615"/>
            <a:ext cx="3931920" cy="77724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C9D3F0"/>
              </a:buClr>
              <a:buSzPts val="1050"/>
              <a:buFont typeface="Calibri"/>
              <a:buNone/>
            </a:pPr>
            <a:r>
              <a:rPr lang="es-CL" sz="1050" b="1">
                <a:solidFill>
                  <a:srgbClr val="C9D3F0"/>
                </a:solidFill>
                <a:latin typeface="Calibri"/>
                <a:ea typeface="Calibri"/>
                <a:cs typeface="Calibri"/>
                <a:sym typeface="Calibri"/>
              </a:rPr>
              <a:t>LIDERAZGO EJECUTIVO</a:t>
            </a:r>
            <a:endParaRPr sz="10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1150"/>
              <a:buFont typeface="Calibri"/>
              <a:buNone/>
            </a:pPr>
            <a:r>
              <a:rPr lang="es-CL" sz="1150" b="1">
                <a:solidFill>
                  <a:srgbClr val="FFFFFF"/>
                </a:solidFill>
                <a:latin typeface="Calibri"/>
                <a:ea typeface="Calibri"/>
                <a:cs typeface="Calibri"/>
                <a:sym typeface="Calibri"/>
              </a:rPr>
              <a:t>Marcelo Ruminot — Gerente General</a:t>
            </a:r>
            <a:endParaRPr sz="1050">
              <a:solidFill>
                <a:schemeClr val="dk1"/>
              </a:solidFill>
              <a:latin typeface="Arial"/>
              <a:ea typeface="Arial"/>
              <a:cs typeface="Arial"/>
              <a:sym typeface="Arial"/>
            </a:endParaRPr>
          </a:p>
        </p:txBody>
      </p:sp>
      <p:cxnSp>
        <p:nvCxnSpPr>
          <p:cNvPr id="639" name="Google Shape;639;p56"/>
          <p:cNvCxnSpPr/>
          <p:nvPr/>
        </p:nvCxnSpPr>
        <p:spPr>
          <a:xfrm>
            <a:off x="6095848" y="2524089"/>
            <a:ext cx="0" cy="274320"/>
          </a:xfrm>
          <a:prstGeom prst="straightConnector1">
            <a:avLst/>
          </a:prstGeom>
          <a:noFill/>
          <a:ln w="15875" cap="flat" cmpd="sng">
            <a:solidFill>
              <a:srgbClr val="94A3B8"/>
            </a:solidFill>
            <a:prstDash val="solid"/>
            <a:round/>
            <a:headEnd type="none" w="sm" len="sm"/>
            <a:tailEnd type="none" w="sm" len="sm"/>
          </a:ln>
        </p:spPr>
      </p:cxnSp>
      <p:cxnSp>
        <p:nvCxnSpPr>
          <p:cNvPr id="640" name="Google Shape;640;p56"/>
          <p:cNvCxnSpPr/>
          <p:nvPr/>
        </p:nvCxnSpPr>
        <p:spPr>
          <a:xfrm>
            <a:off x="1802740" y="2798409"/>
            <a:ext cx="8586216" cy="0"/>
          </a:xfrm>
          <a:prstGeom prst="straightConnector1">
            <a:avLst/>
          </a:prstGeom>
          <a:noFill/>
          <a:ln w="15875" cap="flat" cmpd="sng">
            <a:solidFill>
              <a:srgbClr val="94A3B8"/>
            </a:solidFill>
            <a:prstDash val="solid"/>
            <a:round/>
            <a:headEnd type="none" w="sm" len="sm"/>
            <a:tailEnd type="none" w="sm" len="sm"/>
          </a:ln>
        </p:spPr>
      </p:cxnSp>
      <p:cxnSp>
        <p:nvCxnSpPr>
          <p:cNvPr id="641" name="Google Shape;641;p56"/>
          <p:cNvCxnSpPr/>
          <p:nvPr/>
        </p:nvCxnSpPr>
        <p:spPr>
          <a:xfrm>
            <a:off x="1802740" y="2798409"/>
            <a:ext cx="0" cy="91440"/>
          </a:xfrm>
          <a:prstGeom prst="straightConnector1">
            <a:avLst/>
          </a:prstGeom>
          <a:noFill/>
          <a:ln w="15875" cap="flat" cmpd="sng">
            <a:solidFill>
              <a:srgbClr val="94A3B8"/>
            </a:solidFill>
            <a:prstDash val="solid"/>
            <a:round/>
            <a:headEnd type="none" w="sm" len="sm"/>
            <a:tailEnd type="none" w="sm" len="sm"/>
          </a:ln>
        </p:spPr>
      </p:cxnSp>
      <p:cxnSp>
        <p:nvCxnSpPr>
          <p:cNvPr id="642" name="Google Shape;642;p56"/>
          <p:cNvCxnSpPr/>
          <p:nvPr/>
        </p:nvCxnSpPr>
        <p:spPr>
          <a:xfrm>
            <a:off x="4664812" y="2798409"/>
            <a:ext cx="0" cy="91440"/>
          </a:xfrm>
          <a:prstGeom prst="straightConnector1">
            <a:avLst/>
          </a:prstGeom>
          <a:noFill/>
          <a:ln w="15875" cap="flat" cmpd="sng">
            <a:solidFill>
              <a:srgbClr val="94A3B8"/>
            </a:solidFill>
            <a:prstDash val="solid"/>
            <a:round/>
            <a:headEnd type="none" w="sm" len="sm"/>
            <a:tailEnd type="none" w="sm" len="sm"/>
          </a:ln>
        </p:spPr>
      </p:cxnSp>
      <p:cxnSp>
        <p:nvCxnSpPr>
          <p:cNvPr id="643" name="Google Shape;643;p56"/>
          <p:cNvCxnSpPr/>
          <p:nvPr/>
        </p:nvCxnSpPr>
        <p:spPr>
          <a:xfrm>
            <a:off x="7526884" y="2798409"/>
            <a:ext cx="0" cy="91440"/>
          </a:xfrm>
          <a:prstGeom prst="straightConnector1">
            <a:avLst/>
          </a:prstGeom>
          <a:noFill/>
          <a:ln w="15875" cap="flat" cmpd="sng">
            <a:solidFill>
              <a:srgbClr val="94A3B8"/>
            </a:solidFill>
            <a:prstDash val="solid"/>
            <a:round/>
            <a:headEnd type="none" w="sm" len="sm"/>
            <a:tailEnd type="none" w="sm" len="sm"/>
          </a:ln>
        </p:spPr>
      </p:cxnSp>
      <p:cxnSp>
        <p:nvCxnSpPr>
          <p:cNvPr id="644" name="Google Shape;644;p56"/>
          <p:cNvCxnSpPr/>
          <p:nvPr/>
        </p:nvCxnSpPr>
        <p:spPr>
          <a:xfrm>
            <a:off x="10388956" y="2798409"/>
            <a:ext cx="0" cy="91440"/>
          </a:xfrm>
          <a:prstGeom prst="straightConnector1">
            <a:avLst/>
          </a:prstGeom>
          <a:noFill/>
          <a:ln w="15875" cap="flat" cmpd="sng">
            <a:solidFill>
              <a:srgbClr val="94A3B8"/>
            </a:solidFill>
            <a:prstDash val="solid"/>
            <a:round/>
            <a:headEnd type="none" w="sm" len="sm"/>
            <a:tailEnd type="none" w="sm" len="sm"/>
          </a:ln>
        </p:spPr>
      </p:cxnSp>
      <p:sp>
        <p:nvSpPr>
          <p:cNvPr id="645" name="Google Shape;645;p56"/>
          <p:cNvSpPr/>
          <p:nvPr/>
        </p:nvSpPr>
        <p:spPr>
          <a:xfrm>
            <a:off x="454000" y="2889849"/>
            <a:ext cx="2697480" cy="960120"/>
          </a:xfrm>
          <a:prstGeom prst="roundRect">
            <a:avLst>
              <a:gd name="adj" fmla="val 4762"/>
            </a:avLst>
          </a:prstGeom>
          <a:solidFill>
            <a:srgbClr val="065A82"/>
          </a:solidFill>
          <a:ln w="12700" cap="flat" cmpd="sng">
            <a:solidFill>
              <a:srgbClr val="065A82"/>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46" name="Google Shape;646;p56"/>
          <p:cNvSpPr/>
          <p:nvPr/>
        </p:nvSpPr>
        <p:spPr>
          <a:xfrm>
            <a:off x="499720" y="2889849"/>
            <a:ext cx="2606040" cy="96012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BFE3F0"/>
              </a:buClr>
              <a:buSzPts val="950"/>
              <a:buFont typeface="Calibri"/>
              <a:buNone/>
            </a:pPr>
            <a:r>
              <a:rPr lang="es-CL" sz="950" b="1">
                <a:solidFill>
                  <a:srgbClr val="BFE3F0"/>
                </a:solidFill>
                <a:latin typeface="Calibri"/>
                <a:ea typeface="Calibri"/>
                <a:cs typeface="Calibri"/>
                <a:sym typeface="Calibri"/>
              </a:rPr>
              <a:t>INGENIERÍA DE PROYECTOS</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1100"/>
              <a:buFont typeface="Calibri"/>
              <a:buNone/>
            </a:pPr>
            <a:r>
              <a:rPr lang="es-CL" sz="1100" b="1">
                <a:solidFill>
                  <a:srgbClr val="FFFFFF"/>
                </a:solidFill>
                <a:latin typeface="Calibri"/>
                <a:ea typeface="Calibri"/>
                <a:cs typeface="Calibri"/>
                <a:sym typeface="Calibri"/>
              </a:rPr>
              <a:t>Camilo Alexis Morales Aguilera</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00"/>
              <a:buFont typeface="Calibri"/>
              <a:buNone/>
            </a:pPr>
            <a:r>
              <a:rPr lang="es-CL" sz="900">
                <a:solidFill>
                  <a:srgbClr val="FFFFFF"/>
                </a:solidFill>
                <a:latin typeface="Calibri"/>
                <a:ea typeface="Calibri"/>
                <a:cs typeface="Calibri"/>
                <a:sym typeface="Calibri"/>
              </a:rPr>
              <a:t>Ingeniero de Soluciones Estratégicas</a:t>
            </a:r>
            <a:endParaRPr sz="950">
              <a:solidFill>
                <a:schemeClr val="dk1"/>
              </a:solidFill>
              <a:latin typeface="Arial"/>
              <a:ea typeface="Arial"/>
              <a:cs typeface="Arial"/>
              <a:sym typeface="Arial"/>
            </a:endParaRPr>
          </a:p>
        </p:txBody>
      </p:sp>
      <p:sp>
        <p:nvSpPr>
          <p:cNvPr id="647" name="Google Shape;647;p56"/>
          <p:cNvSpPr/>
          <p:nvPr/>
        </p:nvSpPr>
        <p:spPr>
          <a:xfrm>
            <a:off x="3316072" y="2889849"/>
            <a:ext cx="2697480" cy="960120"/>
          </a:xfrm>
          <a:prstGeom prst="roundRect">
            <a:avLst>
              <a:gd name="adj" fmla="val 4762"/>
            </a:avLst>
          </a:prstGeom>
          <a:solidFill>
            <a:srgbClr val="065A82"/>
          </a:solidFill>
          <a:ln w="12700" cap="flat" cmpd="sng">
            <a:solidFill>
              <a:srgbClr val="065A82"/>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48" name="Google Shape;648;p56"/>
          <p:cNvSpPr/>
          <p:nvPr/>
        </p:nvSpPr>
        <p:spPr>
          <a:xfrm>
            <a:off x="3361792" y="2889849"/>
            <a:ext cx="2606040" cy="96012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BFE3F0"/>
              </a:buClr>
              <a:buSzPts val="950"/>
              <a:buFont typeface="Calibri"/>
              <a:buNone/>
            </a:pPr>
            <a:r>
              <a:rPr lang="es-CL" sz="950" b="1">
                <a:solidFill>
                  <a:srgbClr val="BFE3F0"/>
                </a:solidFill>
                <a:latin typeface="Calibri"/>
                <a:ea typeface="Calibri"/>
                <a:cs typeface="Calibri"/>
                <a:sym typeface="Calibri"/>
              </a:rPr>
              <a:t>GESTIÓN COMERCIAL (KAM SERVICIOS)</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50"/>
              <a:buFont typeface="Calibri"/>
              <a:buNone/>
            </a:pPr>
            <a:r>
              <a:rPr lang="es-CL" sz="950" b="1">
                <a:solidFill>
                  <a:srgbClr val="FFFFFF"/>
                </a:solidFill>
                <a:latin typeface="Calibri"/>
                <a:ea typeface="Calibri"/>
                <a:cs typeface="Calibri"/>
                <a:sym typeface="Calibri"/>
              </a:rPr>
              <a:t>Cristian Silvano Pérez Ramirez — Ejec. de Servicio</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50"/>
              <a:buFont typeface="Calibri"/>
              <a:buNone/>
            </a:pPr>
            <a:r>
              <a:rPr lang="es-CL" sz="950" b="1">
                <a:solidFill>
                  <a:srgbClr val="FFFFFF"/>
                </a:solidFill>
                <a:latin typeface="Calibri"/>
                <a:ea typeface="Calibri"/>
                <a:cs typeface="Calibri"/>
                <a:sym typeface="Calibri"/>
              </a:rPr>
              <a:t>Eglys Anadris Ramirez Caraballo — Ejec. de Servicio</a:t>
            </a:r>
            <a:endParaRPr sz="950">
              <a:solidFill>
                <a:schemeClr val="dk1"/>
              </a:solidFill>
              <a:latin typeface="Arial"/>
              <a:ea typeface="Arial"/>
              <a:cs typeface="Arial"/>
              <a:sym typeface="Arial"/>
            </a:endParaRPr>
          </a:p>
        </p:txBody>
      </p:sp>
      <p:sp>
        <p:nvSpPr>
          <p:cNvPr id="649" name="Google Shape;649;p56"/>
          <p:cNvSpPr/>
          <p:nvPr/>
        </p:nvSpPr>
        <p:spPr>
          <a:xfrm>
            <a:off x="6178144" y="2889849"/>
            <a:ext cx="2697480" cy="960120"/>
          </a:xfrm>
          <a:prstGeom prst="roundRect">
            <a:avLst>
              <a:gd name="adj" fmla="val 4762"/>
            </a:avLst>
          </a:prstGeom>
          <a:solidFill>
            <a:srgbClr val="065A82"/>
          </a:solidFill>
          <a:ln w="12700" cap="flat" cmpd="sng">
            <a:solidFill>
              <a:srgbClr val="065A82"/>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50" name="Google Shape;650;p56"/>
          <p:cNvSpPr/>
          <p:nvPr/>
        </p:nvSpPr>
        <p:spPr>
          <a:xfrm>
            <a:off x="6223864" y="2889849"/>
            <a:ext cx="2606040" cy="96012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BFE3F0"/>
              </a:buClr>
              <a:buSzPts val="950"/>
              <a:buFont typeface="Calibri"/>
              <a:buNone/>
            </a:pPr>
            <a:r>
              <a:rPr lang="es-CL" sz="950" b="1">
                <a:solidFill>
                  <a:srgbClr val="BFE3F0"/>
                </a:solidFill>
                <a:latin typeface="Calibri"/>
                <a:ea typeface="Calibri"/>
                <a:cs typeface="Calibri"/>
                <a:sym typeface="Calibri"/>
              </a:rPr>
              <a:t>ATENCIÓN AL CLIENTE</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1100"/>
              <a:buFont typeface="Calibri"/>
              <a:buNone/>
            </a:pPr>
            <a:r>
              <a:rPr lang="es-CL" sz="1100" b="1">
                <a:solidFill>
                  <a:srgbClr val="FFFFFF"/>
                </a:solidFill>
                <a:latin typeface="Calibri"/>
                <a:ea typeface="Calibri"/>
                <a:cs typeface="Calibri"/>
                <a:sym typeface="Calibri"/>
              </a:rPr>
              <a:t>Matilde Rebeca Carrillo Castillo</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00"/>
              <a:buFont typeface="Calibri"/>
              <a:buNone/>
            </a:pPr>
            <a:r>
              <a:rPr lang="es-CL" sz="900">
                <a:solidFill>
                  <a:srgbClr val="FFFFFF"/>
                </a:solidFill>
                <a:latin typeface="Calibri"/>
                <a:ea typeface="Calibri"/>
                <a:cs typeface="Calibri"/>
                <a:sym typeface="Calibri"/>
              </a:rPr>
              <a:t>Jefe de Servicio al Cliente</a:t>
            </a:r>
            <a:endParaRPr sz="950">
              <a:solidFill>
                <a:schemeClr val="dk1"/>
              </a:solidFill>
              <a:latin typeface="Arial"/>
              <a:ea typeface="Arial"/>
              <a:cs typeface="Arial"/>
              <a:sym typeface="Arial"/>
            </a:endParaRPr>
          </a:p>
        </p:txBody>
      </p:sp>
      <p:sp>
        <p:nvSpPr>
          <p:cNvPr id="651" name="Google Shape;651;p56"/>
          <p:cNvSpPr/>
          <p:nvPr/>
        </p:nvSpPr>
        <p:spPr>
          <a:xfrm>
            <a:off x="9040216" y="2889849"/>
            <a:ext cx="2697480" cy="960120"/>
          </a:xfrm>
          <a:prstGeom prst="roundRect">
            <a:avLst>
              <a:gd name="adj" fmla="val 4762"/>
            </a:avLst>
          </a:prstGeom>
          <a:solidFill>
            <a:srgbClr val="065A82"/>
          </a:solidFill>
          <a:ln w="12700" cap="flat" cmpd="sng">
            <a:solidFill>
              <a:srgbClr val="065A82"/>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52" name="Google Shape;652;p56"/>
          <p:cNvSpPr/>
          <p:nvPr/>
        </p:nvSpPr>
        <p:spPr>
          <a:xfrm>
            <a:off x="9085936" y="2889849"/>
            <a:ext cx="2606040" cy="96012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BFE3F0"/>
              </a:buClr>
              <a:buSzPts val="950"/>
              <a:buFont typeface="Calibri"/>
              <a:buNone/>
            </a:pPr>
            <a:r>
              <a:rPr lang="es-CL" sz="950" b="1">
                <a:solidFill>
                  <a:srgbClr val="BFE3F0"/>
                </a:solidFill>
                <a:latin typeface="Calibri"/>
                <a:ea typeface="Calibri"/>
                <a:cs typeface="Calibri"/>
                <a:sym typeface="Calibri"/>
              </a:rPr>
              <a:t>SOPORTE OPERATIVO</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1100"/>
              <a:buFont typeface="Calibri"/>
              <a:buNone/>
            </a:pPr>
            <a:r>
              <a:rPr lang="es-CL" sz="1100" b="1">
                <a:solidFill>
                  <a:srgbClr val="FFFFFF"/>
                </a:solidFill>
                <a:latin typeface="Calibri"/>
                <a:ea typeface="Calibri"/>
                <a:cs typeface="Calibri"/>
                <a:sym typeface="Calibri"/>
              </a:rPr>
              <a:t>Edson De Morais</a:t>
            </a:r>
            <a:endParaRPr sz="95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00"/>
              <a:buFont typeface="Calibri"/>
              <a:buNone/>
            </a:pPr>
            <a:r>
              <a:rPr lang="es-CL" sz="900">
                <a:solidFill>
                  <a:srgbClr val="FFFFFF"/>
                </a:solidFill>
                <a:latin typeface="Calibri"/>
                <a:ea typeface="Calibri"/>
                <a:cs typeface="Calibri"/>
                <a:sym typeface="Calibri"/>
              </a:rPr>
              <a:t>Asistente de Coordinación</a:t>
            </a:r>
            <a:endParaRPr sz="950">
              <a:solidFill>
                <a:schemeClr val="dk1"/>
              </a:solidFill>
              <a:latin typeface="Arial"/>
              <a:ea typeface="Arial"/>
              <a:cs typeface="Arial"/>
              <a:sym typeface="Arial"/>
            </a:endParaRPr>
          </a:p>
        </p:txBody>
      </p:sp>
      <p:cxnSp>
        <p:nvCxnSpPr>
          <p:cNvPr id="653" name="Google Shape;653;p56"/>
          <p:cNvCxnSpPr/>
          <p:nvPr/>
        </p:nvCxnSpPr>
        <p:spPr>
          <a:xfrm>
            <a:off x="7526884" y="3849969"/>
            <a:ext cx="0" cy="274320"/>
          </a:xfrm>
          <a:prstGeom prst="straightConnector1">
            <a:avLst/>
          </a:prstGeom>
          <a:noFill/>
          <a:ln w="15875" cap="flat" cmpd="sng">
            <a:solidFill>
              <a:srgbClr val="94A3B8"/>
            </a:solidFill>
            <a:prstDash val="solid"/>
            <a:round/>
            <a:headEnd type="none" w="sm" len="sm"/>
            <a:tailEnd type="none" w="sm" len="sm"/>
          </a:ln>
        </p:spPr>
      </p:cxnSp>
      <p:cxnSp>
        <p:nvCxnSpPr>
          <p:cNvPr id="654" name="Google Shape;654;p56"/>
          <p:cNvCxnSpPr/>
          <p:nvPr/>
        </p:nvCxnSpPr>
        <p:spPr>
          <a:xfrm>
            <a:off x="1802740" y="4124289"/>
            <a:ext cx="8586216" cy="0"/>
          </a:xfrm>
          <a:prstGeom prst="straightConnector1">
            <a:avLst/>
          </a:prstGeom>
          <a:noFill/>
          <a:ln w="15875" cap="flat" cmpd="sng">
            <a:solidFill>
              <a:srgbClr val="94A3B8"/>
            </a:solidFill>
            <a:prstDash val="solid"/>
            <a:round/>
            <a:headEnd type="none" w="sm" len="sm"/>
            <a:tailEnd type="none" w="sm" len="sm"/>
          </a:ln>
        </p:spPr>
      </p:cxnSp>
      <p:cxnSp>
        <p:nvCxnSpPr>
          <p:cNvPr id="655" name="Google Shape;655;p56"/>
          <p:cNvCxnSpPr/>
          <p:nvPr/>
        </p:nvCxnSpPr>
        <p:spPr>
          <a:xfrm>
            <a:off x="1802740" y="4124289"/>
            <a:ext cx="0" cy="182880"/>
          </a:xfrm>
          <a:prstGeom prst="straightConnector1">
            <a:avLst/>
          </a:prstGeom>
          <a:noFill/>
          <a:ln w="15875" cap="flat" cmpd="sng">
            <a:solidFill>
              <a:srgbClr val="94A3B8"/>
            </a:solidFill>
            <a:prstDash val="solid"/>
            <a:round/>
            <a:headEnd type="none" w="sm" len="sm"/>
            <a:tailEnd type="none" w="sm" len="sm"/>
          </a:ln>
        </p:spPr>
      </p:cxnSp>
      <p:cxnSp>
        <p:nvCxnSpPr>
          <p:cNvPr id="656" name="Google Shape;656;p56"/>
          <p:cNvCxnSpPr/>
          <p:nvPr/>
        </p:nvCxnSpPr>
        <p:spPr>
          <a:xfrm>
            <a:off x="4664812" y="4124289"/>
            <a:ext cx="0" cy="182880"/>
          </a:xfrm>
          <a:prstGeom prst="straightConnector1">
            <a:avLst/>
          </a:prstGeom>
          <a:noFill/>
          <a:ln w="15875" cap="flat" cmpd="sng">
            <a:solidFill>
              <a:srgbClr val="94A3B8"/>
            </a:solidFill>
            <a:prstDash val="solid"/>
            <a:round/>
            <a:headEnd type="none" w="sm" len="sm"/>
            <a:tailEnd type="none" w="sm" len="sm"/>
          </a:ln>
        </p:spPr>
      </p:cxnSp>
      <p:cxnSp>
        <p:nvCxnSpPr>
          <p:cNvPr id="657" name="Google Shape;657;p56"/>
          <p:cNvCxnSpPr/>
          <p:nvPr/>
        </p:nvCxnSpPr>
        <p:spPr>
          <a:xfrm>
            <a:off x="7526884" y="4124289"/>
            <a:ext cx="0" cy="182880"/>
          </a:xfrm>
          <a:prstGeom prst="straightConnector1">
            <a:avLst/>
          </a:prstGeom>
          <a:noFill/>
          <a:ln w="15875" cap="flat" cmpd="sng">
            <a:solidFill>
              <a:srgbClr val="94A3B8"/>
            </a:solidFill>
            <a:prstDash val="solid"/>
            <a:round/>
            <a:headEnd type="none" w="sm" len="sm"/>
            <a:tailEnd type="none" w="sm" len="sm"/>
          </a:ln>
        </p:spPr>
      </p:cxnSp>
      <p:cxnSp>
        <p:nvCxnSpPr>
          <p:cNvPr id="658" name="Google Shape;658;p56"/>
          <p:cNvCxnSpPr/>
          <p:nvPr/>
        </p:nvCxnSpPr>
        <p:spPr>
          <a:xfrm>
            <a:off x="10388956" y="4124289"/>
            <a:ext cx="0" cy="182880"/>
          </a:xfrm>
          <a:prstGeom prst="straightConnector1">
            <a:avLst/>
          </a:prstGeom>
          <a:noFill/>
          <a:ln w="15875" cap="flat" cmpd="sng">
            <a:solidFill>
              <a:srgbClr val="94A3B8"/>
            </a:solidFill>
            <a:prstDash val="solid"/>
            <a:round/>
            <a:headEnd type="none" w="sm" len="sm"/>
            <a:tailEnd type="none" w="sm" len="sm"/>
          </a:ln>
        </p:spPr>
      </p:cxnSp>
      <p:sp>
        <p:nvSpPr>
          <p:cNvPr id="659" name="Google Shape;659;p56"/>
          <p:cNvSpPr/>
          <p:nvPr/>
        </p:nvSpPr>
        <p:spPr>
          <a:xfrm>
            <a:off x="454000" y="4307169"/>
            <a:ext cx="2697480" cy="1737360"/>
          </a:xfrm>
          <a:prstGeom prst="roundRect">
            <a:avLst>
              <a:gd name="adj" fmla="val 2632"/>
            </a:avLst>
          </a:prstGeom>
          <a:solidFill>
            <a:srgbClr val="1C7293"/>
          </a:solidFill>
          <a:ln w="12700" cap="flat" cmpd="sng">
            <a:solidFill>
              <a:srgbClr val="1C7293"/>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60" name="Google Shape;660;p56"/>
          <p:cNvSpPr/>
          <p:nvPr/>
        </p:nvSpPr>
        <p:spPr>
          <a:xfrm>
            <a:off x="499720" y="4307169"/>
            <a:ext cx="2606040" cy="173736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D8F0EC"/>
              </a:buClr>
              <a:buSzPts val="900"/>
              <a:buFont typeface="Calibri"/>
              <a:buNone/>
            </a:pPr>
            <a:r>
              <a:rPr lang="es-CL" sz="900" b="1">
                <a:solidFill>
                  <a:srgbClr val="D8F0EC"/>
                </a:solidFill>
                <a:latin typeface="Calibri"/>
                <a:ea typeface="Calibri"/>
                <a:cs typeface="Calibri"/>
                <a:sym typeface="Calibri"/>
              </a:rPr>
              <a:t>EQUIPO ATENCIÓN AL CLIENTE</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50"/>
              <a:buFont typeface="Calibri"/>
              <a:buNone/>
            </a:pPr>
            <a:r>
              <a:rPr lang="es-CL" sz="950">
                <a:solidFill>
                  <a:srgbClr val="FFFFFF"/>
                </a:solidFill>
                <a:latin typeface="Calibri"/>
                <a:ea typeface="Calibri"/>
                <a:cs typeface="Calibri"/>
                <a:sym typeface="Calibri"/>
              </a:rPr>
              <a:t>C. Alvarado, P. Guzman,</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50"/>
              <a:buFont typeface="Calibri"/>
              <a:buNone/>
            </a:pPr>
            <a:r>
              <a:rPr lang="es-CL" sz="950">
                <a:solidFill>
                  <a:srgbClr val="FFFFFF"/>
                </a:solidFill>
                <a:latin typeface="Calibri"/>
                <a:ea typeface="Calibri"/>
                <a:cs typeface="Calibri"/>
                <a:sym typeface="Calibri"/>
              </a:rPr>
              <a:t>M.A. Colina, E. Galvez</a:t>
            </a:r>
            <a:endParaRPr sz="900">
              <a:solidFill>
                <a:schemeClr val="dk1"/>
              </a:solidFill>
              <a:latin typeface="Arial"/>
              <a:ea typeface="Arial"/>
              <a:cs typeface="Arial"/>
              <a:sym typeface="Arial"/>
            </a:endParaRPr>
          </a:p>
        </p:txBody>
      </p:sp>
      <p:sp>
        <p:nvSpPr>
          <p:cNvPr id="661" name="Google Shape;661;p56"/>
          <p:cNvSpPr/>
          <p:nvPr/>
        </p:nvSpPr>
        <p:spPr>
          <a:xfrm>
            <a:off x="3316072" y="4307169"/>
            <a:ext cx="2697480" cy="1737360"/>
          </a:xfrm>
          <a:prstGeom prst="roundRect">
            <a:avLst>
              <a:gd name="adj" fmla="val 2632"/>
            </a:avLst>
          </a:prstGeom>
          <a:solidFill>
            <a:srgbClr val="1C7293"/>
          </a:solidFill>
          <a:ln w="12700" cap="flat" cmpd="sng">
            <a:solidFill>
              <a:srgbClr val="1C7293"/>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62" name="Google Shape;662;p56"/>
          <p:cNvSpPr/>
          <p:nvPr/>
        </p:nvSpPr>
        <p:spPr>
          <a:xfrm>
            <a:off x="3361792" y="4307169"/>
            <a:ext cx="2606040" cy="173736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D8F0EC"/>
              </a:buClr>
              <a:buSzPts val="900"/>
              <a:buFont typeface="Calibri"/>
              <a:buNone/>
            </a:pPr>
            <a:r>
              <a:rPr lang="es-CL" sz="900" b="1">
                <a:solidFill>
                  <a:srgbClr val="D8F0EC"/>
                </a:solidFill>
                <a:latin typeface="Calibri"/>
                <a:ea typeface="Calibri"/>
                <a:cs typeface="Calibri"/>
                <a:sym typeface="Calibri"/>
              </a:rPr>
              <a:t>SUPERVISIÓN TÉCNICA A</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1000"/>
              <a:buFont typeface="Calibri"/>
              <a:buNone/>
            </a:pPr>
            <a:r>
              <a:rPr lang="es-CL" sz="1000" b="1">
                <a:solidFill>
                  <a:srgbClr val="FFFFFF"/>
                </a:solidFill>
                <a:latin typeface="Calibri"/>
                <a:ea typeface="Calibri"/>
                <a:cs typeface="Calibri"/>
                <a:sym typeface="Calibri"/>
              </a:rPr>
              <a:t>Jonathan Valerio Sumoza Ávila</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50"/>
              <a:buFont typeface="Calibri"/>
              <a:buNone/>
            </a:pPr>
            <a:r>
              <a:rPr lang="es-CL" sz="850">
                <a:solidFill>
                  <a:srgbClr val="FFFFFF"/>
                </a:solidFill>
                <a:latin typeface="Calibri"/>
                <a:ea typeface="Calibri"/>
                <a:cs typeface="Calibri"/>
                <a:sym typeface="Calibri"/>
              </a:rPr>
              <a:t>Supervisor Técnico</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00"/>
              <a:buFont typeface="Calibri"/>
              <a:buNone/>
            </a:pPr>
            <a:r>
              <a:rPr lang="es-CL" sz="800">
                <a:solidFill>
                  <a:srgbClr val="FFFFFF"/>
                </a:solidFill>
                <a:latin typeface="Calibri"/>
                <a:ea typeface="Calibri"/>
                <a:cs typeface="Calibri"/>
                <a:sym typeface="Calibri"/>
              </a:rPr>
              <a:t>10 Técnicos: J. Pino, L. Quezada, M. Cerpa,</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00"/>
              <a:buFont typeface="Calibri"/>
              <a:buNone/>
            </a:pPr>
            <a:r>
              <a:rPr lang="es-CL" sz="800">
                <a:solidFill>
                  <a:srgbClr val="FFFFFF"/>
                </a:solidFill>
                <a:latin typeface="Calibri"/>
                <a:ea typeface="Calibri"/>
                <a:cs typeface="Calibri"/>
                <a:sym typeface="Calibri"/>
              </a:rPr>
              <a:t>I. Muñoz, M. Gutiérrez, P. Esteves, F. Toloza,</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00"/>
              <a:buFont typeface="Calibri"/>
              <a:buNone/>
            </a:pPr>
            <a:r>
              <a:rPr lang="es-CL" sz="800">
                <a:solidFill>
                  <a:srgbClr val="FFFFFF"/>
                </a:solidFill>
                <a:latin typeface="Calibri"/>
                <a:ea typeface="Calibri"/>
                <a:cs typeface="Calibri"/>
                <a:sym typeface="Calibri"/>
              </a:rPr>
              <a:t>M. Montenegro, I. Miranda, D. Torres</a:t>
            </a:r>
            <a:endParaRPr sz="900">
              <a:solidFill>
                <a:schemeClr val="dk1"/>
              </a:solidFill>
              <a:latin typeface="Arial"/>
              <a:ea typeface="Arial"/>
              <a:cs typeface="Arial"/>
              <a:sym typeface="Arial"/>
            </a:endParaRPr>
          </a:p>
        </p:txBody>
      </p:sp>
      <p:sp>
        <p:nvSpPr>
          <p:cNvPr id="663" name="Google Shape;663;p56"/>
          <p:cNvSpPr/>
          <p:nvPr/>
        </p:nvSpPr>
        <p:spPr>
          <a:xfrm>
            <a:off x="6178144" y="4307169"/>
            <a:ext cx="2697480" cy="1737360"/>
          </a:xfrm>
          <a:prstGeom prst="roundRect">
            <a:avLst>
              <a:gd name="adj" fmla="val 2632"/>
            </a:avLst>
          </a:prstGeom>
          <a:solidFill>
            <a:srgbClr val="1C7293"/>
          </a:solidFill>
          <a:ln w="12700" cap="flat" cmpd="sng">
            <a:solidFill>
              <a:srgbClr val="1C7293"/>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64" name="Google Shape;664;p56"/>
          <p:cNvSpPr/>
          <p:nvPr/>
        </p:nvSpPr>
        <p:spPr>
          <a:xfrm>
            <a:off x="6223864" y="4307169"/>
            <a:ext cx="2606040" cy="173736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D8F0EC"/>
              </a:buClr>
              <a:buSzPts val="900"/>
              <a:buFont typeface="Calibri"/>
              <a:buNone/>
            </a:pPr>
            <a:r>
              <a:rPr lang="es-CL" sz="900" b="1">
                <a:solidFill>
                  <a:srgbClr val="D8F0EC"/>
                </a:solidFill>
                <a:latin typeface="Calibri"/>
                <a:ea typeface="Calibri"/>
                <a:cs typeface="Calibri"/>
                <a:sym typeface="Calibri"/>
              </a:rPr>
              <a:t>SUPERVISIÓN TÉCNICA B</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1000"/>
              <a:buFont typeface="Calibri"/>
              <a:buNone/>
            </a:pPr>
            <a:r>
              <a:rPr lang="es-CL" sz="1000" b="1">
                <a:solidFill>
                  <a:srgbClr val="FFFFFF"/>
                </a:solidFill>
                <a:latin typeface="Calibri"/>
                <a:ea typeface="Calibri"/>
                <a:cs typeface="Calibri"/>
                <a:sym typeface="Calibri"/>
              </a:rPr>
              <a:t>Cristian Rohr Toro</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50"/>
              <a:buFont typeface="Calibri"/>
              <a:buNone/>
            </a:pPr>
            <a:r>
              <a:rPr lang="es-CL" sz="850">
                <a:solidFill>
                  <a:srgbClr val="FFFFFF"/>
                </a:solidFill>
                <a:latin typeface="Calibri"/>
                <a:ea typeface="Calibri"/>
                <a:cs typeface="Calibri"/>
                <a:sym typeface="Calibri"/>
              </a:rPr>
              <a:t>Supervisor Técnico</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00"/>
              <a:buFont typeface="Calibri"/>
              <a:buNone/>
            </a:pPr>
            <a:r>
              <a:rPr lang="es-CL" sz="800">
                <a:solidFill>
                  <a:srgbClr val="FFFFFF"/>
                </a:solidFill>
                <a:latin typeface="Calibri"/>
                <a:ea typeface="Calibri"/>
                <a:cs typeface="Calibri"/>
                <a:sym typeface="Calibri"/>
              </a:rPr>
              <a:t>9 Técnicos: R. Leiva, E. Valle, C. Castro,</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00"/>
              <a:buFont typeface="Calibri"/>
              <a:buNone/>
            </a:pPr>
            <a:r>
              <a:rPr lang="es-CL" sz="800">
                <a:solidFill>
                  <a:srgbClr val="FFFFFF"/>
                </a:solidFill>
                <a:latin typeface="Calibri"/>
                <a:ea typeface="Calibri"/>
                <a:cs typeface="Calibri"/>
                <a:sym typeface="Calibri"/>
              </a:rPr>
              <a:t>A. Labado, N. Rodríguez</a:t>
            </a:r>
            <a:r>
              <a:rPr lang="es-CL" sz="800" b="1">
                <a:solidFill>
                  <a:srgbClr val="FF0000"/>
                </a:solidFill>
                <a:latin typeface="Calibri"/>
                <a:ea typeface="Calibri"/>
                <a:cs typeface="Calibri"/>
                <a:sym typeface="Calibri"/>
              </a:rPr>
              <a:t>, T. Rojas</a:t>
            </a:r>
            <a:r>
              <a:rPr lang="es-CL" sz="800">
                <a:solidFill>
                  <a:srgbClr val="FFFFFF"/>
                </a:solidFill>
                <a:latin typeface="Calibri"/>
                <a:ea typeface="Calibri"/>
                <a:cs typeface="Calibri"/>
                <a:sym typeface="Calibri"/>
              </a:rPr>
              <a:t>,</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800"/>
              <a:buFont typeface="Calibri"/>
              <a:buNone/>
            </a:pPr>
            <a:r>
              <a:rPr lang="es-CL" sz="800">
                <a:solidFill>
                  <a:srgbClr val="FFFFFF"/>
                </a:solidFill>
                <a:latin typeface="Calibri"/>
                <a:ea typeface="Calibri"/>
                <a:cs typeface="Calibri"/>
                <a:sym typeface="Calibri"/>
              </a:rPr>
              <a:t>A. Arnaiz, E. Acevedo, C. Mayorga</a:t>
            </a:r>
            <a:endParaRPr sz="900">
              <a:solidFill>
                <a:schemeClr val="dk1"/>
              </a:solidFill>
              <a:latin typeface="Arial"/>
              <a:ea typeface="Arial"/>
              <a:cs typeface="Arial"/>
              <a:sym typeface="Arial"/>
            </a:endParaRPr>
          </a:p>
        </p:txBody>
      </p:sp>
      <p:sp>
        <p:nvSpPr>
          <p:cNvPr id="665" name="Google Shape;665;p56"/>
          <p:cNvSpPr/>
          <p:nvPr/>
        </p:nvSpPr>
        <p:spPr>
          <a:xfrm>
            <a:off x="9040216" y="4307169"/>
            <a:ext cx="2697480" cy="1737360"/>
          </a:xfrm>
          <a:prstGeom prst="roundRect">
            <a:avLst>
              <a:gd name="adj" fmla="val 2632"/>
            </a:avLst>
          </a:prstGeom>
          <a:solidFill>
            <a:srgbClr val="1C7293"/>
          </a:solidFill>
          <a:ln w="12700" cap="flat" cmpd="sng">
            <a:solidFill>
              <a:srgbClr val="1C7293"/>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66" name="Google Shape;666;p56"/>
          <p:cNvSpPr/>
          <p:nvPr/>
        </p:nvSpPr>
        <p:spPr>
          <a:xfrm>
            <a:off x="9085936" y="4307169"/>
            <a:ext cx="2606040" cy="1737360"/>
          </a:xfrm>
          <a:prstGeom prst="rect">
            <a:avLst/>
          </a:prstGeom>
          <a:noFill/>
          <a:ln>
            <a:noFill/>
          </a:ln>
        </p:spPr>
        <p:txBody>
          <a:bodyPr spcFirstLastPara="1" wrap="square" lIns="25400" tIns="25400" rIns="25400" bIns="25400" anchor="ctr" anchorCtr="0">
            <a:noAutofit/>
          </a:bodyPr>
          <a:lstStyle/>
          <a:p>
            <a:pPr marL="0" marR="0" lvl="0" indent="0" algn="ctr" rtl="0">
              <a:lnSpc>
                <a:spcPct val="105000"/>
              </a:lnSpc>
              <a:spcBef>
                <a:spcPts val="0"/>
              </a:spcBef>
              <a:spcAft>
                <a:spcPts val="0"/>
              </a:spcAft>
              <a:buClr>
                <a:srgbClr val="D8F0EC"/>
              </a:buClr>
              <a:buSzPts val="900"/>
              <a:buFont typeface="Calibri"/>
              <a:buNone/>
            </a:pPr>
            <a:r>
              <a:rPr lang="es-CL" sz="900" b="1">
                <a:solidFill>
                  <a:srgbClr val="D8F0EC"/>
                </a:solidFill>
                <a:latin typeface="Calibri"/>
                <a:ea typeface="Calibri"/>
                <a:cs typeface="Calibri"/>
                <a:sym typeface="Calibri"/>
              </a:rPr>
              <a:t>ESPECIALIDAD ENDOSCOPIA</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50"/>
              <a:buFont typeface="Calibri"/>
              <a:buNone/>
            </a:pPr>
            <a:r>
              <a:rPr lang="es-CL" sz="950">
                <a:solidFill>
                  <a:srgbClr val="FFFFFF"/>
                </a:solidFill>
                <a:latin typeface="Calibri"/>
                <a:ea typeface="Calibri"/>
                <a:cs typeface="Calibri"/>
                <a:sym typeface="Calibri"/>
              </a:rPr>
              <a:t>G. Ramirez, N. Martinez,</a:t>
            </a:r>
            <a:endParaRPr sz="900">
              <a:solidFill>
                <a:schemeClr val="dk1"/>
              </a:solidFill>
              <a:latin typeface="Arial"/>
              <a:ea typeface="Arial"/>
              <a:cs typeface="Arial"/>
              <a:sym typeface="Arial"/>
            </a:endParaRPr>
          </a:p>
          <a:p>
            <a:pPr marL="0" marR="0" lvl="0" indent="0" algn="ctr" rtl="0">
              <a:lnSpc>
                <a:spcPct val="105000"/>
              </a:lnSpc>
              <a:spcBef>
                <a:spcPts val="0"/>
              </a:spcBef>
              <a:spcAft>
                <a:spcPts val="0"/>
              </a:spcAft>
              <a:buClr>
                <a:srgbClr val="FFFFFF"/>
              </a:buClr>
              <a:buSzPts val="950"/>
              <a:buFont typeface="Calibri"/>
              <a:buNone/>
            </a:pPr>
            <a:r>
              <a:rPr lang="es-CL" sz="950">
                <a:solidFill>
                  <a:srgbClr val="FFFFFF"/>
                </a:solidFill>
                <a:latin typeface="Calibri"/>
                <a:ea typeface="Calibri"/>
                <a:cs typeface="Calibri"/>
                <a:sym typeface="Calibri"/>
              </a:rPr>
              <a:t>N. Técnico (En Contratación)</a:t>
            </a:r>
            <a:endParaRPr sz="900">
              <a:solidFill>
                <a:schemeClr val="dk1"/>
              </a:solidFill>
              <a:latin typeface="Arial"/>
              <a:ea typeface="Arial"/>
              <a:cs typeface="Arial"/>
              <a:sym typeface="Arial"/>
            </a:endParaRPr>
          </a:p>
        </p:txBody>
      </p:sp>
      <p:sp>
        <p:nvSpPr>
          <p:cNvPr id="667" name="Google Shape;667;p56"/>
          <p:cNvSpPr/>
          <p:nvPr/>
        </p:nvSpPr>
        <p:spPr>
          <a:xfrm>
            <a:off x="4810504" y="1862443"/>
            <a:ext cx="2697480" cy="661646"/>
          </a:xfrm>
          <a:prstGeom prst="roundRect">
            <a:avLst>
              <a:gd name="adj" fmla="val 4762"/>
            </a:avLst>
          </a:prstGeom>
          <a:solidFill>
            <a:srgbClr val="065A82"/>
          </a:solidFill>
          <a:ln w="12700" cap="flat" cmpd="sng">
            <a:solidFill>
              <a:srgbClr val="065A82"/>
            </a:solidFill>
            <a:prstDash val="solid"/>
            <a:round/>
            <a:headEnd type="none" w="sm" len="sm"/>
            <a:tailEnd type="none" w="sm" len="sm"/>
          </a:ln>
          <a:effectLst>
            <a:outerShdw blurRad="63500" dist="25400" dir="2700000" algn="bl" rotWithShape="0">
              <a:srgbClr val="000000">
                <a:alpha val="12941"/>
              </a:srgbClr>
            </a:outerShdw>
          </a:effectLst>
        </p:spPr>
        <p:txBody>
          <a:bodyPr spcFirstLastPara="1" wrap="square" lIns="91425" tIns="45700" rIns="91425" bIns="45700" anchor="ctr" anchorCtr="0">
            <a:noAutofit/>
          </a:bodyPr>
          <a:lstStyle/>
          <a:p>
            <a:pPr marL="0" marR="0" lvl="0" indent="0" algn="ctr" rtl="0">
              <a:lnSpc>
                <a:spcPct val="105000"/>
              </a:lnSpc>
              <a:spcBef>
                <a:spcPts val="0"/>
              </a:spcBef>
              <a:spcAft>
                <a:spcPts val="0"/>
              </a:spcAft>
              <a:buNone/>
            </a:pPr>
            <a:r>
              <a:rPr lang="es-CL" sz="1150" b="1">
                <a:solidFill>
                  <a:srgbClr val="BFE3F0"/>
                </a:solidFill>
                <a:latin typeface="Calibri"/>
                <a:ea typeface="Calibri"/>
                <a:cs typeface="Calibri"/>
                <a:sym typeface="Calibri"/>
              </a:rPr>
              <a:t>Alexis Flores — Sub Gerente Técnico</a:t>
            </a:r>
            <a:endParaRPr/>
          </a:p>
        </p:txBody>
      </p:sp>
      <p:cxnSp>
        <p:nvCxnSpPr>
          <p:cNvPr id="668" name="Google Shape;668;p56"/>
          <p:cNvCxnSpPr/>
          <p:nvPr/>
        </p:nvCxnSpPr>
        <p:spPr>
          <a:xfrm>
            <a:off x="6095848" y="1588123"/>
            <a:ext cx="0" cy="274320"/>
          </a:xfrm>
          <a:prstGeom prst="straightConnector1">
            <a:avLst/>
          </a:prstGeom>
          <a:noFill/>
          <a:ln w="15875" cap="flat" cmpd="sng">
            <a:solidFill>
              <a:srgbClr val="94A3B8"/>
            </a:solidFill>
            <a:prstDash val="solid"/>
            <a:round/>
            <a:headEnd type="none" w="sm" len="sm"/>
            <a:tailEnd type="none" w="sm" len="sm"/>
          </a:ln>
        </p:spPr>
      </p:cxn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30179" y="177712"/>
            <a:ext cx="9993907" cy="469900"/>
          </a:xfrm>
          <a:prstGeom prst="rect">
            <a:avLst/>
          </a:prstGeom>
          <a:noFill/>
          <a:ln/>
        </p:spPr>
        <p:txBody>
          <a:bodyPr wrap="square" lIns="16933" tIns="16933" rIns="16933" bIns="16933" rtlCol="0" anchor="ctr">
            <a:normAutofit/>
          </a:bodyPr>
          <a:lstStyle/>
          <a:p>
            <a:pPr defTabSz="609630">
              <a:buClrTx/>
            </a:pPr>
            <a:r>
              <a:rPr lang="en-US" sz="1800" b="1" kern="1200" dirty="0">
                <a:solidFill>
                  <a:srgbClr val="373C46"/>
                </a:solidFill>
                <a:latin typeface="Figtree" pitchFamily="34" charset="0"/>
                <a:ea typeface="Figtree" pitchFamily="34" charset="-122"/>
                <a:cs typeface="Figtree" pitchFamily="34" charset="-120"/>
              </a:rPr>
              <a:t>Cómo funciona el plan de carrera de técnicos de servicio</a:t>
            </a:r>
            <a:endParaRPr lang="en-US" sz="1800" kern="1200" dirty="0">
              <a:solidFill>
                <a:prstClr val="black"/>
              </a:solidFill>
              <a:latin typeface="Calibri" panose="020F0502020204030204"/>
              <a:ea typeface="+mn-ea"/>
              <a:cs typeface="+mn-cs"/>
            </a:endParaRPr>
          </a:p>
        </p:txBody>
      </p:sp>
      <p:pic>
        <p:nvPicPr>
          <p:cNvPr id="3" name="Image 0" descr="preencoded.png"/>
          <p:cNvPicPr>
            <a:picLocks noChangeAspect="1"/>
          </p:cNvPicPr>
          <p:nvPr/>
        </p:nvPicPr>
        <p:blipFill>
          <a:blip r:embed="rId3"/>
          <a:stretch>
            <a:fillRect/>
          </a:stretch>
        </p:blipFill>
        <p:spPr>
          <a:xfrm>
            <a:off x="10622030" y="139678"/>
            <a:ext cx="377031" cy="381000"/>
          </a:xfrm>
          <a:prstGeom prst="rect">
            <a:avLst/>
          </a:prstGeom>
        </p:spPr>
      </p:pic>
      <p:pic>
        <p:nvPicPr>
          <p:cNvPr id="4" name="Image 1" descr="preencoded.png"/>
          <p:cNvPicPr>
            <a:picLocks noChangeAspect="1"/>
          </p:cNvPicPr>
          <p:nvPr/>
        </p:nvPicPr>
        <p:blipFill>
          <a:blip r:embed="rId4"/>
          <a:stretch>
            <a:fillRect/>
          </a:stretch>
        </p:blipFill>
        <p:spPr>
          <a:xfrm>
            <a:off x="11100595" y="139678"/>
            <a:ext cx="381000" cy="381000"/>
          </a:xfrm>
          <a:prstGeom prst="rect">
            <a:avLst/>
          </a:prstGeom>
        </p:spPr>
      </p:pic>
      <p:pic>
        <p:nvPicPr>
          <p:cNvPr id="5" name="Image 2" descr="preencoded.png"/>
          <p:cNvPicPr>
            <a:picLocks noChangeAspect="1"/>
          </p:cNvPicPr>
          <p:nvPr/>
        </p:nvPicPr>
        <p:blipFill>
          <a:blip r:embed="rId5"/>
          <a:stretch>
            <a:fillRect/>
          </a:stretch>
        </p:blipFill>
        <p:spPr>
          <a:xfrm>
            <a:off x="11583128" y="139678"/>
            <a:ext cx="354873" cy="381000"/>
          </a:xfrm>
          <a:prstGeom prst="rect">
            <a:avLst/>
          </a:prstGeom>
        </p:spPr>
      </p:pic>
      <p:sp>
        <p:nvSpPr>
          <p:cNvPr id="6" name="Shape 1"/>
          <p:cNvSpPr/>
          <p:nvPr/>
        </p:nvSpPr>
        <p:spPr>
          <a:xfrm>
            <a:off x="0" y="717462"/>
            <a:ext cx="12192001" cy="57106"/>
          </a:xfrm>
          <a:prstGeom prst="rect">
            <a:avLst/>
          </a:prstGeom>
          <a:solidFill>
            <a:srgbClr val="28D2C3"/>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 name="Shape 2"/>
          <p:cNvSpPr/>
          <p:nvPr/>
        </p:nvSpPr>
        <p:spPr>
          <a:xfrm>
            <a:off x="635000" y="1036505"/>
            <a:ext cx="2635250" cy="21167"/>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 name="Text 3"/>
          <p:cNvSpPr/>
          <p:nvPr/>
        </p:nvSpPr>
        <p:spPr>
          <a:xfrm>
            <a:off x="635001" y="1210029"/>
            <a:ext cx="2898775" cy="222955"/>
          </a:xfrm>
          <a:prstGeom prst="rect">
            <a:avLst/>
          </a:prstGeom>
          <a:noFill/>
          <a:ln/>
        </p:spPr>
        <p:txBody>
          <a:bodyPr wrap="square" lIns="16933" tIns="16933" rIns="16933" bIns="16933" rtlCol="0" anchor="t">
            <a:normAutofit lnSpcReduction="10000"/>
          </a:bodyPr>
          <a:lstStyle/>
          <a:p>
            <a:pPr defTabSz="609630">
              <a:buClrTx/>
            </a:pPr>
            <a:r>
              <a:rPr lang="en-US" sz="1300" b="1" kern="1200" dirty="0">
                <a:solidFill>
                  <a:srgbClr val="282DF0"/>
                </a:solidFill>
                <a:latin typeface="Figtree" pitchFamily="34" charset="0"/>
                <a:ea typeface="Figtree" pitchFamily="34" charset="-122"/>
                <a:cs typeface="Figtree" pitchFamily="34" charset="-120"/>
              </a:rPr>
              <a:t>1 · Ingreso</a:t>
            </a:r>
            <a:endParaRPr lang="en-US" sz="1300" kern="1200" dirty="0">
              <a:solidFill>
                <a:prstClr val="black"/>
              </a:solidFill>
              <a:latin typeface="Calibri" panose="020F0502020204030204"/>
              <a:ea typeface="+mn-ea"/>
              <a:cs typeface="+mn-cs"/>
            </a:endParaRPr>
          </a:p>
        </p:txBody>
      </p:sp>
      <p:sp>
        <p:nvSpPr>
          <p:cNvPr id="9" name="Text 4"/>
          <p:cNvSpPr/>
          <p:nvPr/>
        </p:nvSpPr>
        <p:spPr>
          <a:xfrm>
            <a:off x="635000" y="1496440"/>
            <a:ext cx="2714308" cy="642210"/>
          </a:xfrm>
          <a:prstGeom prst="rect">
            <a:avLst/>
          </a:prstGeom>
          <a:noFill/>
          <a:ln/>
        </p:spPr>
        <p:txBody>
          <a:bodyPr wrap="square" lIns="16933" tIns="16933" rIns="16933" bIns="16933" rtlCol="0" anchor="t">
            <a:normAutofit/>
          </a:bodyPr>
          <a:lstStyle/>
          <a:p>
            <a:pPr defTabSz="609630">
              <a:lnSpc>
                <a:spcPct val="112154"/>
              </a:lnSpc>
              <a:buClrTx/>
            </a:pPr>
            <a:r>
              <a:rPr lang="en-US" sz="1200" kern="1200" dirty="0">
                <a:solidFill>
                  <a:srgbClr val="373C46"/>
                </a:solidFill>
                <a:latin typeface="Figtree" pitchFamily="34" charset="0"/>
                <a:ea typeface="Figtree" pitchFamily="34" charset="-122"/>
                <a:cs typeface="Figtree" pitchFamily="34" charset="-120"/>
              </a:rPr>
              <a:t>Todo técnico ingresa como Trainee y comienza su formación y las evaluaciones del área.</a:t>
            </a:r>
            <a:endParaRPr lang="en-US" sz="1200" kern="1200" dirty="0">
              <a:solidFill>
                <a:prstClr val="black"/>
              </a:solidFill>
              <a:latin typeface="Calibri" panose="020F0502020204030204"/>
              <a:ea typeface="+mn-ea"/>
              <a:cs typeface="+mn-cs"/>
            </a:endParaRPr>
          </a:p>
        </p:txBody>
      </p:sp>
      <p:sp>
        <p:nvSpPr>
          <p:cNvPr id="10" name="Shape 5"/>
          <p:cNvSpPr/>
          <p:nvPr/>
        </p:nvSpPr>
        <p:spPr>
          <a:xfrm>
            <a:off x="3397250" y="1036505"/>
            <a:ext cx="2635250" cy="21167"/>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1" name="Text 6"/>
          <p:cNvSpPr/>
          <p:nvPr/>
        </p:nvSpPr>
        <p:spPr>
          <a:xfrm>
            <a:off x="3397251" y="1210029"/>
            <a:ext cx="2898775" cy="222955"/>
          </a:xfrm>
          <a:prstGeom prst="rect">
            <a:avLst/>
          </a:prstGeom>
          <a:noFill/>
          <a:ln/>
        </p:spPr>
        <p:txBody>
          <a:bodyPr wrap="square" lIns="16933" tIns="16933" rIns="16933" bIns="16933" rtlCol="0" anchor="t">
            <a:normAutofit lnSpcReduction="10000"/>
          </a:bodyPr>
          <a:lstStyle/>
          <a:p>
            <a:pPr defTabSz="609630">
              <a:buClrTx/>
            </a:pPr>
            <a:r>
              <a:rPr lang="en-US" sz="1300" b="1" kern="1200" dirty="0">
                <a:solidFill>
                  <a:srgbClr val="282DF0"/>
                </a:solidFill>
                <a:latin typeface="Figtree" pitchFamily="34" charset="0"/>
                <a:ea typeface="Figtree" pitchFamily="34" charset="-122"/>
                <a:cs typeface="Figtree" pitchFamily="34" charset="-120"/>
              </a:rPr>
              <a:t>2 · Cumplimiento</a:t>
            </a:r>
            <a:endParaRPr lang="en-US" sz="1300" kern="1200" dirty="0">
              <a:solidFill>
                <a:prstClr val="black"/>
              </a:solidFill>
              <a:latin typeface="Calibri" panose="020F0502020204030204"/>
              <a:ea typeface="+mn-ea"/>
              <a:cs typeface="+mn-cs"/>
            </a:endParaRPr>
          </a:p>
        </p:txBody>
      </p:sp>
      <p:sp>
        <p:nvSpPr>
          <p:cNvPr id="12" name="Text 7"/>
          <p:cNvSpPr/>
          <p:nvPr/>
        </p:nvSpPr>
        <p:spPr>
          <a:xfrm>
            <a:off x="3397250" y="1496440"/>
            <a:ext cx="2714308" cy="642210"/>
          </a:xfrm>
          <a:prstGeom prst="rect">
            <a:avLst/>
          </a:prstGeom>
          <a:noFill/>
          <a:ln/>
        </p:spPr>
        <p:txBody>
          <a:bodyPr wrap="square" lIns="16933" tIns="16933" rIns="16933" bIns="16933" rtlCol="0" anchor="t">
            <a:normAutofit/>
          </a:bodyPr>
          <a:lstStyle/>
          <a:p>
            <a:pPr defTabSz="609630">
              <a:lnSpc>
                <a:spcPct val="112154"/>
              </a:lnSpc>
              <a:buClrTx/>
            </a:pPr>
            <a:r>
              <a:rPr lang="en-US" sz="1200" kern="1200" dirty="0">
                <a:solidFill>
                  <a:srgbClr val="373C46"/>
                </a:solidFill>
                <a:latin typeface="Figtree" pitchFamily="34" charset="0"/>
                <a:ea typeface="Figtree" pitchFamily="34" charset="-122"/>
                <a:cs typeface="Figtree" pitchFamily="34" charset="-120"/>
              </a:rPr>
              <a:t>Para subir debe cumplir todos los requisitos del nivel siguiente. No basta con cumplir solo algunos.</a:t>
            </a:r>
            <a:endParaRPr lang="en-US" sz="1200" kern="1200" dirty="0">
              <a:solidFill>
                <a:prstClr val="black"/>
              </a:solidFill>
              <a:latin typeface="Calibri" panose="020F0502020204030204"/>
              <a:ea typeface="+mn-ea"/>
              <a:cs typeface="+mn-cs"/>
            </a:endParaRPr>
          </a:p>
        </p:txBody>
      </p:sp>
      <p:sp>
        <p:nvSpPr>
          <p:cNvPr id="13" name="Shape 8"/>
          <p:cNvSpPr/>
          <p:nvPr/>
        </p:nvSpPr>
        <p:spPr>
          <a:xfrm>
            <a:off x="6159501" y="1036505"/>
            <a:ext cx="2635250" cy="21167"/>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 name="Text 9"/>
          <p:cNvSpPr/>
          <p:nvPr/>
        </p:nvSpPr>
        <p:spPr>
          <a:xfrm>
            <a:off x="6159501" y="1210029"/>
            <a:ext cx="2898775" cy="222955"/>
          </a:xfrm>
          <a:prstGeom prst="rect">
            <a:avLst/>
          </a:prstGeom>
          <a:noFill/>
          <a:ln/>
        </p:spPr>
        <p:txBody>
          <a:bodyPr wrap="square" lIns="16933" tIns="16933" rIns="16933" bIns="16933" rtlCol="0" anchor="t">
            <a:normAutofit lnSpcReduction="10000"/>
          </a:bodyPr>
          <a:lstStyle/>
          <a:p>
            <a:pPr defTabSz="609630">
              <a:buClrTx/>
            </a:pPr>
            <a:r>
              <a:rPr lang="en-US" sz="1300" b="1" kern="1200" dirty="0">
                <a:solidFill>
                  <a:srgbClr val="282DF0"/>
                </a:solidFill>
                <a:latin typeface="Figtree" pitchFamily="34" charset="0"/>
                <a:ea typeface="Figtree" pitchFamily="34" charset="-122"/>
                <a:cs typeface="Figtree" pitchFamily="34" charset="-120"/>
              </a:rPr>
              <a:t>3 · Cambio de tramo</a:t>
            </a:r>
            <a:endParaRPr lang="en-US" sz="1300" kern="1200" dirty="0">
              <a:solidFill>
                <a:prstClr val="black"/>
              </a:solidFill>
              <a:latin typeface="Calibri" panose="020F0502020204030204"/>
              <a:ea typeface="+mn-ea"/>
              <a:cs typeface="+mn-cs"/>
            </a:endParaRPr>
          </a:p>
        </p:txBody>
      </p:sp>
      <p:sp>
        <p:nvSpPr>
          <p:cNvPr id="15" name="Text 10"/>
          <p:cNvSpPr/>
          <p:nvPr/>
        </p:nvSpPr>
        <p:spPr>
          <a:xfrm>
            <a:off x="6159501" y="1496439"/>
            <a:ext cx="2714308" cy="436607"/>
          </a:xfrm>
          <a:prstGeom prst="rect">
            <a:avLst/>
          </a:prstGeom>
          <a:noFill/>
          <a:ln/>
        </p:spPr>
        <p:txBody>
          <a:bodyPr wrap="square" lIns="16933" tIns="16933" rIns="16933" bIns="16933" rtlCol="0" anchor="t">
            <a:normAutofit/>
          </a:bodyPr>
          <a:lstStyle/>
          <a:p>
            <a:pPr defTabSz="609630">
              <a:lnSpc>
                <a:spcPct val="112154"/>
              </a:lnSpc>
              <a:buClrTx/>
            </a:pPr>
            <a:r>
              <a:rPr lang="en-US" sz="1200" kern="1200" dirty="0">
                <a:solidFill>
                  <a:srgbClr val="373C46"/>
                </a:solidFill>
                <a:latin typeface="Figtree" pitchFamily="34" charset="0"/>
                <a:ea typeface="Figtree" pitchFamily="34" charset="-122"/>
                <a:cs typeface="Figtree" pitchFamily="34" charset="-120"/>
              </a:rPr>
              <a:t>Se avanza un nivel a la vez y el sueldo pasa a la banda salarial del nuevo nivel.</a:t>
            </a:r>
            <a:endParaRPr lang="en-US" sz="1200" kern="1200" dirty="0">
              <a:solidFill>
                <a:prstClr val="black"/>
              </a:solidFill>
              <a:latin typeface="Calibri" panose="020F0502020204030204"/>
              <a:ea typeface="+mn-ea"/>
              <a:cs typeface="+mn-cs"/>
            </a:endParaRPr>
          </a:p>
        </p:txBody>
      </p:sp>
      <p:sp>
        <p:nvSpPr>
          <p:cNvPr id="16" name="Shape 11"/>
          <p:cNvSpPr/>
          <p:nvPr/>
        </p:nvSpPr>
        <p:spPr>
          <a:xfrm>
            <a:off x="8921751" y="1036505"/>
            <a:ext cx="2635250" cy="21167"/>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7" name="Text 12"/>
          <p:cNvSpPr/>
          <p:nvPr/>
        </p:nvSpPr>
        <p:spPr>
          <a:xfrm>
            <a:off x="8921751" y="1210029"/>
            <a:ext cx="2898775" cy="222955"/>
          </a:xfrm>
          <a:prstGeom prst="rect">
            <a:avLst/>
          </a:prstGeom>
          <a:noFill/>
          <a:ln/>
        </p:spPr>
        <p:txBody>
          <a:bodyPr wrap="square" lIns="16933" tIns="16933" rIns="16933" bIns="16933" rtlCol="0" anchor="t">
            <a:normAutofit lnSpcReduction="10000"/>
          </a:bodyPr>
          <a:lstStyle/>
          <a:p>
            <a:pPr defTabSz="609630">
              <a:buClrTx/>
            </a:pPr>
            <a:r>
              <a:rPr lang="en-US" sz="1300" b="1" kern="1200" dirty="0">
                <a:solidFill>
                  <a:srgbClr val="282DF0"/>
                </a:solidFill>
                <a:latin typeface="Figtree" pitchFamily="34" charset="0"/>
                <a:ea typeface="Figtree" pitchFamily="34" charset="-122"/>
                <a:cs typeface="Figtree" pitchFamily="34" charset="-120"/>
              </a:rPr>
              <a:t>4 · Bono</a:t>
            </a:r>
            <a:endParaRPr lang="en-US" sz="1300" kern="1200" dirty="0">
              <a:solidFill>
                <a:prstClr val="black"/>
              </a:solidFill>
              <a:latin typeface="Calibri" panose="020F0502020204030204"/>
              <a:ea typeface="+mn-ea"/>
              <a:cs typeface="+mn-cs"/>
            </a:endParaRPr>
          </a:p>
        </p:txBody>
      </p:sp>
      <p:sp>
        <p:nvSpPr>
          <p:cNvPr id="18" name="Text 13"/>
          <p:cNvSpPr/>
          <p:nvPr/>
        </p:nvSpPr>
        <p:spPr>
          <a:xfrm>
            <a:off x="8921751" y="1496440"/>
            <a:ext cx="2714308" cy="642210"/>
          </a:xfrm>
          <a:prstGeom prst="rect">
            <a:avLst/>
          </a:prstGeom>
          <a:noFill/>
          <a:ln/>
        </p:spPr>
        <p:txBody>
          <a:bodyPr wrap="square" lIns="16933" tIns="16933" rIns="16933" bIns="16933" rtlCol="0" anchor="t">
            <a:normAutofit/>
          </a:bodyPr>
          <a:lstStyle/>
          <a:p>
            <a:pPr defTabSz="609630">
              <a:lnSpc>
                <a:spcPct val="112154"/>
              </a:lnSpc>
              <a:buClrTx/>
            </a:pPr>
            <a:r>
              <a:rPr lang="en-US" sz="1200" kern="1200" dirty="0">
                <a:solidFill>
                  <a:srgbClr val="373C46"/>
                </a:solidFill>
                <a:latin typeface="Figtree" pitchFamily="34" charset="0"/>
                <a:ea typeface="Figtree" pitchFamily="34" charset="-122"/>
                <a:cs typeface="Figtree" pitchFamily="34" charset="-120"/>
              </a:rPr>
              <a:t>Al subir a Intermedio o a Senior se paga un bono único por el cambio de tramo.</a:t>
            </a:r>
            <a:endParaRPr lang="en-US" sz="1200" kern="1200" dirty="0">
              <a:solidFill>
                <a:prstClr val="black"/>
              </a:solidFill>
              <a:latin typeface="Calibri" panose="020F0502020204030204"/>
              <a:ea typeface="+mn-ea"/>
              <a:cs typeface="+mn-cs"/>
            </a:endParaRPr>
          </a:p>
        </p:txBody>
      </p:sp>
      <p:sp>
        <p:nvSpPr>
          <p:cNvPr id="19" name="Shape 14"/>
          <p:cNvSpPr/>
          <p:nvPr/>
        </p:nvSpPr>
        <p:spPr>
          <a:xfrm>
            <a:off x="635000" y="3649927"/>
            <a:ext cx="2635250" cy="1892212"/>
          </a:xfrm>
          <a:prstGeom prst="rect">
            <a:avLst/>
          </a:prstGeom>
          <a:solidFill>
            <a:srgbClr val="BFF2ED"/>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0" name="Text 15"/>
          <p:cNvSpPr/>
          <p:nvPr/>
        </p:nvSpPr>
        <p:spPr>
          <a:xfrm>
            <a:off x="812712" y="3802283"/>
            <a:ext cx="2507809" cy="300567"/>
          </a:xfrm>
          <a:prstGeom prst="rect">
            <a:avLst/>
          </a:prstGeom>
          <a:noFill/>
          <a:ln/>
        </p:spPr>
        <p:txBody>
          <a:bodyPr wrap="square" lIns="16933" tIns="16933" rIns="16933" bIns="16933" rtlCol="0" anchor="t">
            <a:normAutofit lnSpcReduction="10000"/>
          </a:bodyPr>
          <a:lstStyle/>
          <a:p>
            <a:pPr defTabSz="609630">
              <a:buClrTx/>
            </a:pPr>
            <a:r>
              <a:rPr lang="en-US" sz="1800" b="1" kern="1200" dirty="0">
                <a:solidFill>
                  <a:srgbClr val="0F5E57"/>
                </a:solidFill>
                <a:latin typeface="Figtree" pitchFamily="34" charset="0"/>
                <a:ea typeface="Figtree" pitchFamily="34" charset="-122"/>
                <a:cs typeface="Figtree" pitchFamily="34" charset="-120"/>
              </a:rPr>
              <a:t>Trainee</a:t>
            </a:r>
            <a:endParaRPr lang="en-US" sz="1800" kern="1200" dirty="0">
              <a:solidFill>
                <a:prstClr val="black"/>
              </a:solidFill>
              <a:latin typeface="Calibri" panose="020F0502020204030204"/>
              <a:ea typeface="+mn-ea"/>
              <a:cs typeface="+mn-cs"/>
            </a:endParaRPr>
          </a:p>
        </p:txBody>
      </p:sp>
      <p:sp>
        <p:nvSpPr>
          <p:cNvPr id="21" name="Text 16"/>
          <p:cNvSpPr/>
          <p:nvPr/>
        </p:nvSpPr>
        <p:spPr>
          <a:xfrm>
            <a:off x="812712" y="4140950"/>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5E57"/>
                </a:solidFill>
                <a:latin typeface="Figtree" pitchFamily="34" charset="0"/>
                <a:ea typeface="Figtree" pitchFamily="34" charset="-122"/>
                <a:cs typeface="Figtree" pitchFamily="34" charset="-120"/>
              </a:rPr>
              <a:t>Nivel de ingreso</a:t>
            </a:r>
            <a:endParaRPr lang="en-US" sz="1200" kern="1200" dirty="0">
              <a:solidFill>
                <a:prstClr val="black"/>
              </a:solidFill>
              <a:latin typeface="Calibri" panose="020F0502020204030204"/>
              <a:ea typeface="+mn-ea"/>
              <a:cs typeface="+mn-cs"/>
            </a:endParaRPr>
          </a:p>
        </p:txBody>
      </p:sp>
      <p:sp>
        <p:nvSpPr>
          <p:cNvPr id="22" name="Text 17"/>
          <p:cNvSpPr/>
          <p:nvPr/>
        </p:nvSpPr>
        <p:spPr>
          <a:xfrm>
            <a:off x="812712" y="4959394"/>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0F5E57"/>
                </a:solidFill>
                <a:latin typeface="Figtree" pitchFamily="34" charset="0"/>
                <a:ea typeface="Figtree" pitchFamily="34" charset="-122"/>
                <a:cs typeface="Figtree" pitchFamily="34" charset="-120"/>
              </a:rPr>
              <a:t>Sin requisitos de entrada</a:t>
            </a:r>
            <a:endParaRPr lang="en-US" sz="1200" kern="1200" dirty="0">
              <a:solidFill>
                <a:prstClr val="black"/>
              </a:solidFill>
              <a:latin typeface="Calibri" panose="020F0502020204030204"/>
              <a:ea typeface="+mn-ea"/>
              <a:cs typeface="+mn-cs"/>
            </a:endParaRPr>
          </a:p>
        </p:txBody>
      </p:sp>
      <p:sp>
        <p:nvSpPr>
          <p:cNvPr id="23" name="Text 18"/>
          <p:cNvSpPr/>
          <p:nvPr/>
        </p:nvSpPr>
        <p:spPr>
          <a:xfrm>
            <a:off x="812712" y="5206339"/>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0F5E57"/>
                </a:solidFill>
                <a:latin typeface="Figtree" pitchFamily="34" charset="0"/>
                <a:ea typeface="Figtree" pitchFamily="34" charset="-122"/>
                <a:cs typeface="Figtree" pitchFamily="34" charset="-120"/>
              </a:rPr>
              <a:t>Sin banda definida</a:t>
            </a:r>
            <a:endParaRPr lang="en-US" sz="1200" kern="1200" dirty="0">
              <a:solidFill>
                <a:prstClr val="black"/>
              </a:solidFill>
              <a:latin typeface="Calibri" panose="020F0502020204030204"/>
              <a:ea typeface="+mn-ea"/>
              <a:cs typeface="+mn-cs"/>
            </a:endParaRPr>
          </a:p>
        </p:txBody>
      </p:sp>
      <p:sp>
        <p:nvSpPr>
          <p:cNvPr id="24" name="Shape 19"/>
          <p:cNvSpPr/>
          <p:nvPr/>
        </p:nvSpPr>
        <p:spPr>
          <a:xfrm>
            <a:off x="3397250" y="3205427"/>
            <a:ext cx="2635250" cy="2336712"/>
          </a:xfrm>
          <a:prstGeom prst="rect">
            <a:avLst/>
          </a:prstGeom>
          <a:solidFill>
            <a:srgbClr val="7FE4DB"/>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5" name="Text 20"/>
          <p:cNvSpPr/>
          <p:nvPr/>
        </p:nvSpPr>
        <p:spPr>
          <a:xfrm>
            <a:off x="3574962" y="3357783"/>
            <a:ext cx="2507809" cy="300567"/>
          </a:xfrm>
          <a:prstGeom prst="rect">
            <a:avLst/>
          </a:prstGeom>
          <a:noFill/>
          <a:ln/>
        </p:spPr>
        <p:txBody>
          <a:bodyPr wrap="square" lIns="16933" tIns="16933" rIns="16933" bIns="16933" rtlCol="0" anchor="t">
            <a:normAutofit lnSpcReduction="10000"/>
          </a:bodyPr>
          <a:lstStyle/>
          <a:p>
            <a:pPr defTabSz="609630">
              <a:buClrTx/>
            </a:pPr>
            <a:r>
              <a:rPr lang="en-US" sz="1800" b="1" kern="1200" dirty="0">
                <a:solidFill>
                  <a:srgbClr val="0F3D39"/>
                </a:solidFill>
                <a:latin typeface="Figtree" pitchFamily="34" charset="0"/>
                <a:ea typeface="Figtree" pitchFamily="34" charset="-122"/>
                <a:cs typeface="Figtree" pitchFamily="34" charset="-120"/>
              </a:rPr>
              <a:t>Junior</a:t>
            </a:r>
            <a:endParaRPr lang="en-US" sz="1800" kern="1200" dirty="0">
              <a:solidFill>
                <a:prstClr val="black"/>
              </a:solidFill>
              <a:latin typeface="Calibri" panose="020F0502020204030204"/>
              <a:ea typeface="+mn-ea"/>
              <a:cs typeface="+mn-cs"/>
            </a:endParaRPr>
          </a:p>
        </p:txBody>
      </p:sp>
      <p:sp>
        <p:nvSpPr>
          <p:cNvPr id="26" name="Text 21"/>
          <p:cNvSpPr/>
          <p:nvPr/>
        </p:nvSpPr>
        <p:spPr>
          <a:xfrm>
            <a:off x="3574962" y="3696450"/>
            <a:ext cx="2507809" cy="215900"/>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 6 meses de antigüedad</a:t>
            </a:r>
            <a:endParaRPr lang="en-US" sz="1200" kern="1200" dirty="0">
              <a:solidFill>
                <a:prstClr val="black"/>
              </a:solidFill>
              <a:latin typeface="Calibri" panose="020F0502020204030204"/>
              <a:ea typeface="+mn-ea"/>
              <a:cs typeface="+mn-cs"/>
            </a:endParaRPr>
          </a:p>
        </p:txBody>
      </p:sp>
      <p:sp>
        <p:nvSpPr>
          <p:cNvPr id="27" name="Text 22"/>
          <p:cNvSpPr/>
          <p:nvPr/>
        </p:nvSpPr>
        <p:spPr>
          <a:xfrm>
            <a:off x="3574962" y="4338505"/>
            <a:ext cx="2507809" cy="215900"/>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0F3D39"/>
                </a:solidFill>
                <a:latin typeface="Figtree" pitchFamily="34" charset="0"/>
                <a:ea typeface="Figtree" pitchFamily="34" charset="-122"/>
                <a:cs typeface="Figtree" pitchFamily="34" charset="-120"/>
              </a:rPr>
              <a:t>Productividad ≥ 1,4</a:t>
            </a:r>
            <a:endParaRPr lang="en-US" sz="1200" kern="1200" dirty="0">
              <a:solidFill>
                <a:prstClr val="black"/>
              </a:solidFill>
              <a:latin typeface="Calibri" panose="020F0502020204030204"/>
              <a:ea typeface="+mn-ea"/>
              <a:cs typeface="+mn-cs"/>
            </a:endParaRPr>
          </a:p>
        </p:txBody>
      </p:sp>
      <p:sp>
        <p:nvSpPr>
          <p:cNvPr id="28" name="Text 23"/>
          <p:cNvSpPr/>
          <p:nvPr/>
        </p:nvSpPr>
        <p:spPr>
          <a:xfrm>
            <a:off x="3574962" y="4592506"/>
            <a:ext cx="2348221" cy="575733"/>
          </a:xfrm>
          <a:prstGeom prst="rect">
            <a:avLst/>
          </a:prstGeom>
          <a:noFill/>
          <a:ln/>
        </p:spPr>
        <p:txBody>
          <a:bodyPr wrap="square" lIns="16933" tIns="16933" rIns="16933" bIns="16933" rtlCol="0" anchor="t">
            <a:normAutofit/>
          </a:bodyPr>
          <a:lstStyle/>
          <a:p>
            <a:pPr defTabSz="609630">
              <a:buClrTx/>
            </a:pPr>
            <a:r>
              <a:rPr lang="en-US" sz="1200" kern="1200" dirty="0">
                <a:solidFill>
                  <a:srgbClr val="0F3D39"/>
                </a:solidFill>
                <a:latin typeface="Figtree" pitchFamily="34" charset="0"/>
                <a:ea typeface="Figtree" pitchFamily="34" charset="-122"/>
                <a:cs typeface="Figtree" pitchFamily="34" charset="-120"/>
              </a:rPr>
              <a:t>Preventivo (50) · Correctivo/Diag. (30) · 1 especialidad</a:t>
            </a:r>
            <a:endParaRPr lang="en-US" sz="1200" kern="1200" dirty="0">
              <a:solidFill>
                <a:prstClr val="black"/>
              </a:solidFill>
              <a:latin typeface="Calibri" panose="020F0502020204030204"/>
              <a:ea typeface="+mn-ea"/>
              <a:cs typeface="+mn-cs"/>
            </a:endParaRPr>
          </a:p>
        </p:txBody>
      </p:sp>
      <p:sp>
        <p:nvSpPr>
          <p:cNvPr id="29" name="Text 24"/>
          <p:cNvSpPr/>
          <p:nvPr/>
        </p:nvSpPr>
        <p:spPr>
          <a:xfrm>
            <a:off x="3574962" y="5206339"/>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0F3D39"/>
                </a:solidFill>
                <a:latin typeface="Figtree" pitchFamily="34" charset="0"/>
                <a:ea typeface="Figtree" pitchFamily="34" charset="-122"/>
                <a:cs typeface="Figtree" pitchFamily="34" charset="-120"/>
              </a:rPr>
              <a:t>Sin banda definida</a:t>
            </a:r>
            <a:endParaRPr lang="en-US" sz="1200" kern="1200" dirty="0">
              <a:solidFill>
                <a:prstClr val="black"/>
              </a:solidFill>
              <a:latin typeface="Calibri" panose="020F0502020204030204"/>
              <a:ea typeface="+mn-ea"/>
              <a:cs typeface="+mn-cs"/>
            </a:endParaRPr>
          </a:p>
        </p:txBody>
      </p:sp>
      <p:sp>
        <p:nvSpPr>
          <p:cNvPr id="30" name="Shape 25"/>
          <p:cNvSpPr/>
          <p:nvPr/>
        </p:nvSpPr>
        <p:spPr>
          <a:xfrm>
            <a:off x="6159501" y="2760927"/>
            <a:ext cx="2635250" cy="2781212"/>
          </a:xfrm>
          <a:prstGeom prst="rect">
            <a:avLst/>
          </a:prstGeom>
          <a:solidFill>
            <a:srgbClr val="28D2C3"/>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1" name="Text 26"/>
          <p:cNvSpPr/>
          <p:nvPr/>
        </p:nvSpPr>
        <p:spPr>
          <a:xfrm>
            <a:off x="6337212" y="2913283"/>
            <a:ext cx="2507809" cy="300567"/>
          </a:xfrm>
          <a:prstGeom prst="rect">
            <a:avLst/>
          </a:prstGeom>
          <a:noFill/>
          <a:ln/>
        </p:spPr>
        <p:txBody>
          <a:bodyPr wrap="square" lIns="16933" tIns="16933" rIns="16933" bIns="16933" rtlCol="0" anchor="t">
            <a:normAutofit lnSpcReduction="10000"/>
          </a:bodyPr>
          <a:lstStyle/>
          <a:p>
            <a:pPr defTabSz="609630">
              <a:buClrTx/>
            </a:pPr>
            <a:r>
              <a:rPr lang="en-US" sz="1800" b="1" kern="1200" dirty="0">
                <a:solidFill>
                  <a:srgbClr val="0F3D39"/>
                </a:solidFill>
                <a:latin typeface="Figtree" pitchFamily="34" charset="0"/>
                <a:ea typeface="Figtree" pitchFamily="34" charset="-122"/>
                <a:cs typeface="Figtree" pitchFamily="34" charset="-120"/>
              </a:rPr>
              <a:t>Intermedio</a:t>
            </a:r>
            <a:endParaRPr lang="en-US" sz="1800" kern="1200" dirty="0">
              <a:solidFill>
                <a:prstClr val="black"/>
              </a:solidFill>
              <a:latin typeface="Calibri" panose="020F0502020204030204"/>
              <a:ea typeface="+mn-ea"/>
              <a:cs typeface="+mn-cs"/>
            </a:endParaRPr>
          </a:p>
        </p:txBody>
      </p:sp>
      <p:sp>
        <p:nvSpPr>
          <p:cNvPr id="32" name="Text 27"/>
          <p:cNvSpPr/>
          <p:nvPr/>
        </p:nvSpPr>
        <p:spPr>
          <a:xfrm>
            <a:off x="6337212" y="3251950"/>
            <a:ext cx="2507809" cy="215900"/>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 8 meses · contrato indefinido</a:t>
            </a:r>
            <a:endParaRPr lang="en-US" sz="1200" kern="1200" dirty="0">
              <a:solidFill>
                <a:prstClr val="black"/>
              </a:solidFill>
              <a:latin typeface="Calibri" panose="020F0502020204030204"/>
              <a:ea typeface="+mn-ea"/>
              <a:cs typeface="+mn-cs"/>
            </a:endParaRPr>
          </a:p>
        </p:txBody>
      </p:sp>
      <p:sp>
        <p:nvSpPr>
          <p:cNvPr id="33" name="Text 28"/>
          <p:cNvSpPr/>
          <p:nvPr/>
        </p:nvSpPr>
        <p:spPr>
          <a:xfrm>
            <a:off x="6337212" y="3908117"/>
            <a:ext cx="2507809" cy="215900"/>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0F3D39"/>
                </a:solidFill>
                <a:latin typeface="Figtree" pitchFamily="34" charset="0"/>
                <a:ea typeface="Figtree" pitchFamily="34" charset="-122"/>
                <a:cs typeface="Figtree" pitchFamily="34" charset="-120"/>
              </a:rPr>
              <a:t>Productividad ≥ 1,6</a:t>
            </a:r>
            <a:endParaRPr lang="en-US" sz="1200" kern="1200" dirty="0">
              <a:solidFill>
                <a:prstClr val="black"/>
              </a:solidFill>
              <a:latin typeface="Calibri" panose="020F0502020204030204"/>
              <a:ea typeface="+mn-ea"/>
              <a:cs typeface="+mn-cs"/>
            </a:endParaRPr>
          </a:p>
        </p:txBody>
      </p:sp>
      <p:sp>
        <p:nvSpPr>
          <p:cNvPr id="34" name="Text 29"/>
          <p:cNvSpPr/>
          <p:nvPr/>
        </p:nvSpPr>
        <p:spPr>
          <a:xfrm>
            <a:off x="6337212" y="4162117"/>
            <a:ext cx="2348221" cy="759178"/>
          </a:xfrm>
          <a:prstGeom prst="rect">
            <a:avLst/>
          </a:prstGeom>
          <a:noFill/>
          <a:ln/>
        </p:spPr>
        <p:txBody>
          <a:bodyPr wrap="square" lIns="16933" tIns="16933" rIns="16933" bIns="16933" rtlCol="0" anchor="t">
            <a:normAutofit/>
          </a:bodyPr>
          <a:lstStyle/>
          <a:p>
            <a:pPr defTabSz="609630">
              <a:buClrTx/>
            </a:pPr>
            <a:r>
              <a:rPr lang="en-US" sz="1200" kern="1200" dirty="0">
                <a:solidFill>
                  <a:srgbClr val="0F3D39"/>
                </a:solidFill>
                <a:latin typeface="Figtree" pitchFamily="34" charset="0"/>
                <a:ea typeface="Figtree" pitchFamily="34" charset="-122"/>
                <a:cs typeface="Figtree" pitchFamily="34" charset="-120"/>
              </a:rPr>
              <a:t>Preventivo (80) · Correctivo/Diag. (80) · Instalaciones (2) · 2 especialidades</a:t>
            </a:r>
            <a:endParaRPr lang="en-US" sz="1200" kern="1200" dirty="0">
              <a:solidFill>
                <a:prstClr val="black"/>
              </a:solidFill>
              <a:latin typeface="Calibri" panose="020F0502020204030204"/>
              <a:ea typeface="+mn-ea"/>
              <a:cs typeface="+mn-cs"/>
            </a:endParaRPr>
          </a:p>
        </p:txBody>
      </p:sp>
      <p:sp>
        <p:nvSpPr>
          <p:cNvPr id="35" name="Text 30"/>
          <p:cNvSpPr/>
          <p:nvPr/>
        </p:nvSpPr>
        <p:spPr>
          <a:xfrm>
            <a:off x="6337212" y="4959394"/>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$1.350.000 – $1.500.000</a:t>
            </a:r>
            <a:endParaRPr lang="en-US" sz="1200" kern="1200" dirty="0">
              <a:solidFill>
                <a:prstClr val="black"/>
              </a:solidFill>
              <a:latin typeface="Calibri" panose="020F0502020204030204"/>
              <a:ea typeface="+mn-ea"/>
              <a:cs typeface="+mn-cs"/>
            </a:endParaRPr>
          </a:p>
        </p:txBody>
      </p:sp>
      <p:sp>
        <p:nvSpPr>
          <p:cNvPr id="36" name="Text 31"/>
          <p:cNvSpPr/>
          <p:nvPr/>
        </p:nvSpPr>
        <p:spPr>
          <a:xfrm>
            <a:off x="6337212" y="5206339"/>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Bono $300.000</a:t>
            </a:r>
            <a:endParaRPr lang="en-US" sz="1200" kern="1200" dirty="0">
              <a:solidFill>
                <a:prstClr val="black"/>
              </a:solidFill>
              <a:latin typeface="Calibri" panose="020F0502020204030204"/>
              <a:ea typeface="+mn-ea"/>
              <a:cs typeface="+mn-cs"/>
            </a:endParaRPr>
          </a:p>
        </p:txBody>
      </p:sp>
      <p:sp>
        <p:nvSpPr>
          <p:cNvPr id="37" name="Shape 32"/>
          <p:cNvSpPr/>
          <p:nvPr/>
        </p:nvSpPr>
        <p:spPr>
          <a:xfrm>
            <a:off x="8921751" y="2316427"/>
            <a:ext cx="2635250" cy="3225712"/>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8" name="Text 33"/>
          <p:cNvSpPr/>
          <p:nvPr/>
        </p:nvSpPr>
        <p:spPr>
          <a:xfrm>
            <a:off x="9099463" y="2468783"/>
            <a:ext cx="2507809" cy="300567"/>
          </a:xfrm>
          <a:prstGeom prst="rect">
            <a:avLst/>
          </a:prstGeom>
          <a:noFill/>
          <a:ln/>
        </p:spPr>
        <p:txBody>
          <a:bodyPr wrap="square" lIns="16933" tIns="16933" rIns="16933" bIns="16933" rtlCol="0" anchor="t">
            <a:normAutofit lnSpcReduction="10000"/>
          </a:bodyPr>
          <a:lstStyle/>
          <a:p>
            <a:pPr defTabSz="609630">
              <a:buClrTx/>
            </a:pPr>
            <a:r>
              <a:rPr lang="en-US" sz="1800" b="1" kern="1200" dirty="0">
                <a:solidFill>
                  <a:srgbClr val="FFFFFF"/>
                </a:solidFill>
                <a:latin typeface="Figtree" pitchFamily="34" charset="0"/>
                <a:ea typeface="Figtree" pitchFamily="34" charset="-122"/>
                <a:cs typeface="Figtree" pitchFamily="34" charset="-120"/>
              </a:rPr>
              <a:t>Senior</a:t>
            </a:r>
            <a:endParaRPr lang="en-US" sz="1800" kern="1200" dirty="0">
              <a:solidFill>
                <a:prstClr val="black"/>
              </a:solidFill>
              <a:latin typeface="Calibri" panose="020F0502020204030204"/>
              <a:ea typeface="+mn-ea"/>
              <a:cs typeface="+mn-cs"/>
            </a:endParaRPr>
          </a:p>
        </p:txBody>
      </p:sp>
      <p:sp>
        <p:nvSpPr>
          <p:cNvPr id="39" name="Text 34"/>
          <p:cNvSpPr/>
          <p:nvPr/>
        </p:nvSpPr>
        <p:spPr>
          <a:xfrm>
            <a:off x="9099463" y="2807450"/>
            <a:ext cx="2507809" cy="215900"/>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 18 meses · contrato indefinido</a:t>
            </a:r>
            <a:endParaRPr lang="en-US" sz="1200" kern="1200" dirty="0">
              <a:solidFill>
                <a:prstClr val="black"/>
              </a:solidFill>
              <a:latin typeface="Calibri" panose="020F0502020204030204"/>
              <a:ea typeface="+mn-ea"/>
              <a:cs typeface="+mn-cs"/>
            </a:endParaRPr>
          </a:p>
        </p:txBody>
      </p:sp>
      <p:sp>
        <p:nvSpPr>
          <p:cNvPr id="40" name="Text 35"/>
          <p:cNvSpPr/>
          <p:nvPr/>
        </p:nvSpPr>
        <p:spPr>
          <a:xfrm>
            <a:off x="9099463" y="3908117"/>
            <a:ext cx="2507809" cy="215900"/>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FFFFFF"/>
                </a:solidFill>
                <a:latin typeface="Figtree" pitchFamily="34" charset="0"/>
                <a:ea typeface="Figtree" pitchFamily="34" charset="-122"/>
                <a:cs typeface="Figtree" pitchFamily="34" charset="-120"/>
              </a:rPr>
              <a:t>Productividad ≥ 1,8</a:t>
            </a:r>
            <a:endParaRPr lang="en-US" sz="1200" kern="1200" dirty="0">
              <a:solidFill>
                <a:prstClr val="black"/>
              </a:solidFill>
              <a:latin typeface="Calibri" panose="020F0502020204030204"/>
              <a:ea typeface="+mn-ea"/>
              <a:cs typeface="+mn-cs"/>
            </a:endParaRPr>
          </a:p>
        </p:txBody>
      </p:sp>
      <p:sp>
        <p:nvSpPr>
          <p:cNvPr id="41" name="Text 36"/>
          <p:cNvSpPr/>
          <p:nvPr/>
        </p:nvSpPr>
        <p:spPr>
          <a:xfrm>
            <a:off x="9099463" y="4162117"/>
            <a:ext cx="2348221" cy="759178"/>
          </a:xfrm>
          <a:prstGeom prst="rect">
            <a:avLst/>
          </a:prstGeom>
          <a:noFill/>
          <a:ln/>
        </p:spPr>
        <p:txBody>
          <a:bodyPr wrap="square" lIns="16933" tIns="16933" rIns="16933" bIns="16933" rtlCol="0" anchor="t">
            <a:normAutofit/>
          </a:bodyPr>
          <a:lstStyle/>
          <a:p>
            <a:pPr defTabSz="609630">
              <a:buClrTx/>
            </a:pPr>
            <a:r>
              <a:rPr lang="en-US" sz="1200" kern="1200" dirty="0">
                <a:solidFill>
                  <a:srgbClr val="FFFFFF"/>
                </a:solidFill>
                <a:latin typeface="Figtree" pitchFamily="34" charset="0"/>
                <a:ea typeface="Figtree" pitchFamily="34" charset="-122"/>
                <a:cs typeface="Figtree" pitchFamily="34" charset="-120"/>
              </a:rPr>
              <a:t>Preventivo (100) · Correctivo/Diag. (200) · Instalaciones (5) · 3 especialidades</a:t>
            </a:r>
            <a:endParaRPr lang="en-US" sz="1200" kern="1200" dirty="0">
              <a:solidFill>
                <a:prstClr val="black"/>
              </a:solidFill>
              <a:latin typeface="Calibri" panose="020F0502020204030204"/>
              <a:ea typeface="+mn-ea"/>
              <a:cs typeface="+mn-cs"/>
            </a:endParaRPr>
          </a:p>
        </p:txBody>
      </p:sp>
      <p:sp>
        <p:nvSpPr>
          <p:cNvPr id="42" name="Text 37"/>
          <p:cNvSpPr/>
          <p:nvPr/>
        </p:nvSpPr>
        <p:spPr>
          <a:xfrm>
            <a:off x="9099463" y="4959394"/>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$1.550.000 – $1.850.000</a:t>
            </a:r>
            <a:endParaRPr lang="en-US" sz="1200" kern="1200" dirty="0">
              <a:solidFill>
                <a:prstClr val="black"/>
              </a:solidFill>
              <a:latin typeface="Calibri" panose="020F0502020204030204"/>
              <a:ea typeface="+mn-ea"/>
              <a:cs typeface="+mn-cs"/>
            </a:endParaRPr>
          </a:p>
        </p:txBody>
      </p:sp>
      <p:sp>
        <p:nvSpPr>
          <p:cNvPr id="43" name="Text 38"/>
          <p:cNvSpPr/>
          <p:nvPr/>
        </p:nvSpPr>
        <p:spPr>
          <a:xfrm>
            <a:off x="9099463" y="5206339"/>
            <a:ext cx="2507809" cy="208845"/>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Bono $400.000</a:t>
            </a:r>
            <a:endParaRPr lang="en-US" sz="1200" kern="1200" dirty="0">
              <a:solidFill>
                <a:prstClr val="black"/>
              </a:solidFill>
              <a:latin typeface="Calibri" panose="020F0502020204030204"/>
              <a:ea typeface="+mn-ea"/>
              <a:cs typeface="+mn-cs"/>
            </a:endParaRPr>
          </a:p>
        </p:txBody>
      </p:sp>
      <p:sp>
        <p:nvSpPr>
          <p:cNvPr id="44" name="Shape 39"/>
          <p:cNvSpPr/>
          <p:nvPr/>
        </p:nvSpPr>
        <p:spPr>
          <a:xfrm>
            <a:off x="635000" y="5745317"/>
            <a:ext cx="10922001" cy="393568"/>
          </a:xfrm>
          <a:prstGeom prst="rect">
            <a:avLst/>
          </a:prstGeom>
          <a:solidFill>
            <a:srgbClr val="F2F3F5"/>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5" name="Text 40"/>
          <p:cNvSpPr/>
          <p:nvPr/>
        </p:nvSpPr>
        <p:spPr>
          <a:xfrm>
            <a:off x="812712" y="5850379"/>
            <a:ext cx="1522754" cy="208845"/>
          </a:xfrm>
          <a:prstGeom prst="rect">
            <a:avLst/>
          </a:prstGeom>
          <a:noFill/>
          <a:ln/>
        </p:spPr>
        <p:txBody>
          <a:bodyPr wrap="non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En todos los niveles</a:t>
            </a:r>
            <a:endParaRPr lang="en-US" sz="1200" kern="1200" dirty="0">
              <a:solidFill>
                <a:prstClr val="black"/>
              </a:solidFill>
              <a:latin typeface="Calibri" panose="020F0502020204030204"/>
              <a:ea typeface="+mn-ea"/>
              <a:cs typeface="+mn-cs"/>
            </a:endParaRPr>
          </a:p>
        </p:txBody>
      </p:sp>
      <p:sp>
        <p:nvSpPr>
          <p:cNvPr id="46" name="Text 41"/>
          <p:cNvSpPr/>
          <p:nvPr/>
        </p:nvSpPr>
        <p:spPr>
          <a:xfrm>
            <a:off x="2374746" y="5846851"/>
            <a:ext cx="2635746"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Desempeño ≥ acorde a lo esperado</a:t>
            </a:r>
            <a:endParaRPr lang="en-US" sz="1200" kern="1200" dirty="0">
              <a:solidFill>
                <a:prstClr val="black"/>
              </a:solidFill>
              <a:latin typeface="Calibri" panose="020F0502020204030204"/>
              <a:ea typeface="+mn-ea"/>
              <a:cs typeface="+mn-cs"/>
            </a:endParaRPr>
          </a:p>
        </p:txBody>
      </p:sp>
      <p:sp>
        <p:nvSpPr>
          <p:cNvPr id="47" name="Text 42"/>
          <p:cNvSpPr/>
          <p:nvPr/>
        </p:nvSpPr>
        <p:spPr>
          <a:xfrm>
            <a:off x="4948591" y="5846851"/>
            <a:ext cx="1289800"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Formación ≥ 95%</a:t>
            </a:r>
            <a:endParaRPr lang="en-US" sz="1200" kern="1200" dirty="0">
              <a:solidFill>
                <a:prstClr val="black"/>
              </a:solidFill>
              <a:latin typeface="Calibri" panose="020F0502020204030204"/>
              <a:ea typeface="+mn-ea"/>
              <a:cs typeface="+mn-cs"/>
            </a:endParaRPr>
          </a:p>
        </p:txBody>
      </p:sp>
      <p:sp>
        <p:nvSpPr>
          <p:cNvPr id="48" name="Text 43"/>
          <p:cNvSpPr/>
          <p:nvPr/>
        </p:nvSpPr>
        <p:spPr>
          <a:xfrm>
            <a:off x="6298848" y="5846851"/>
            <a:ext cx="1302533"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Ev. teórica ≥ 80%</a:t>
            </a:r>
            <a:endParaRPr lang="en-US" sz="1200" kern="1200" dirty="0">
              <a:solidFill>
                <a:prstClr val="black"/>
              </a:solidFill>
              <a:latin typeface="Calibri" panose="020F0502020204030204"/>
              <a:ea typeface="+mn-ea"/>
              <a:cs typeface="+mn-cs"/>
            </a:endParaRPr>
          </a:p>
        </p:txBody>
      </p:sp>
      <p:sp>
        <p:nvSpPr>
          <p:cNvPr id="49" name="Text 44"/>
          <p:cNvSpPr/>
          <p:nvPr/>
        </p:nvSpPr>
        <p:spPr>
          <a:xfrm>
            <a:off x="7660680" y="5846851"/>
            <a:ext cx="1381357"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Ev. práctica ≥ 90%</a:t>
            </a:r>
            <a:endParaRPr lang="en-US" sz="1200" kern="1200" dirty="0">
              <a:solidFill>
                <a:prstClr val="black"/>
              </a:solidFill>
              <a:latin typeface="Calibri" panose="020F0502020204030204"/>
              <a:ea typeface="+mn-ea"/>
              <a:cs typeface="+mn-cs"/>
            </a:endParaRPr>
          </a:p>
        </p:txBody>
      </p:sp>
      <p:pic>
        <p:nvPicPr>
          <p:cNvPr id="50" name="Image 3" descr="preencoded.png"/>
          <p:cNvPicPr>
            <a:picLocks noChangeAspect="1"/>
          </p:cNvPicPr>
          <p:nvPr/>
        </p:nvPicPr>
        <p:blipFill>
          <a:blip r:embed="rId6"/>
          <a:stretch>
            <a:fillRect/>
          </a:stretch>
        </p:blipFill>
        <p:spPr>
          <a:xfrm>
            <a:off x="279356" y="6477111"/>
            <a:ext cx="884590" cy="165034"/>
          </a:xfrm>
          <a:prstGeom prst="rect">
            <a:avLst/>
          </a:prstGeom>
        </p:spPr>
      </p:pic>
      <p:pic>
        <p:nvPicPr>
          <p:cNvPr id="51" name="Image 4" descr="preencoded.png"/>
          <p:cNvPicPr>
            <a:picLocks noChangeAspect="1"/>
          </p:cNvPicPr>
          <p:nvPr/>
        </p:nvPicPr>
        <p:blipFill>
          <a:blip r:embed="rId7"/>
          <a:stretch>
            <a:fillRect/>
          </a:stretch>
        </p:blipFill>
        <p:spPr>
          <a:xfrm>
            <a:off x="1316302" y="6492985"/>
            <a:ext cx="789451" cy="133284"/>
          </a:xfrm>
          <a:prstGeom prst="rect">
            <a:avLst/>
          </a:prstGeom>
        </p:spPr>
      </p:pic>
      <p:pic>
        <p:nvPicPr>
          <p:cNvPr id="52" name="Image 5" descr="preencoded.png"/>
          <p:cNvPicPr>
            <a:picLocks noChangeAspect="1"/>
          </p:cNvPicPr>
          <p:nvPr/>
        </p:nvPicPr>
        <p:blipFill>
          <a:blip r:embed="rId8"/>
          <a:stretch>
            <a:fillRect/>
          </a:stretch>
        </p:blipFill>
        <p:spPr>
          <a:xfrm>
            <a:off x="2258109" y="6496073"/>
            <a:ext cx="549121" cy="127000"/>
          </a:xfrm>
          <a:prstGeom prst="rect">
            <a:avLst/>
          </a:prstGeom>
        </p:spPr>
      </p:pic>
      <p:sp>
        <p:nvSpPr>
          <p:cNvPr id="53" name="Text 45"/>
          <p:cNvSpPr/>
          <p:nvPr/>
        </p:nvSpPr>
        <p:spPr>
          <a:xfrm>
            <a:off x="11798874" y="6484056"/>
            <a:ext cx="113749"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a:t>
            </a:r>
            <a:endParaRPr lang="en-US" sz="1200" kern="1200" dirty="0">
              <a:solidFill>
                <a:prstClr val="black"/>
              </a:solidFill>
              <a:latin typeface="Calibri" panose="020F0502020204030204"/>
              <a:ea typeface="+mn-ea"/>
              <a:cs typeface="+mn-cs"/>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30179" y="177712"/>
            <a:ext cx="9993907" cy="469900"/>
          </a:xfrm>
          <a:prstGeom prst="rect">
            <a:avLst/>
          </a:prstGeom>
          <a:noFill/>
          <a:ln/>
        </p:spPr>
        <p:txBody>
          <a:bodyPr wrap="square" lIns="16933" tIns="16933" rIns="16933" bIns="16933" rtlCol="0" anchor="ctr">
            <a:normAutofit/>
          </a:bodyPr>
          <a:lstStyle/>
          <a:p>
            <a:pPr defTabSz="609630">
              <a:buClrTx/>
            </a:pPr>
            <a:r>
              <a:rPr lang="en-US" sz="1800" b="1" kern="1200" dirty="0">
                <a:solidFill>
                  <a:srgbClr val="373C46"/>
                </a:solidFill>
                <a:latin typeface="Figtree" pitchFamily="34" charset="0"/>
                <a:ea typeface="Figtree" pitchFamily="34" charset="-122"/>
                <a:cs typeface="Figtree" pitchFamily="34" charset="-120"/>
              </a:rPr>
              <a:t>Status de cada técnico en el plan de carrera</a:t>
            </a:r>
            <a:endParaRPr lang="en-US" sz="1800" kern="1200" dirty="0">
              <a:solidFill>
                <a:prstClr val="black"/>
              </a:solidFill>
              <a:latin typeface="Calibri" panose="020F0502020204030204"/>
              <a:ea typeface="+mn-ea"/>
              <a:cs typeface="+mn-cs"/>
            </a:endParaRPr>
          </a:p>
        </p:txBody>
      </p:sp>
      <p:pic>
        <p:nvPicPr>
          <p:cNvPr id="3" name="Image 0" descr="preencoded.png"/>
          <p:cNvPicPr>
            <a:picLocks noChangeAspect="1"/>
          </p:cNvPicPr>
          <p:nvPr/>
        </p:nvPicPr>
        <p:blipFill>
          <a:blip r:embed="rId3"/>
          <a:stretch>
            <a:fillRect/>
          </a:stretch>
        </p:blipFill>
        <p:spPr>
          <a:xfrm>
            <a:off x="10622030" y="139678"/>
            <a:ext cx="377031" cy="381000"/>
          </a:xfrm>
          <a:prstGeom prst="rect">
            <a:avLst/>
          </a:prstGeom>
        </p:spPr>
      </p:pic>
      <p:pic>
        <p:nvPicPr>
          <p:cNvPr id="4" name="Image 1" descr="preencoded.png"/>
          <p:cNvPicPr>
            <a:picLocks noChangeAspect="1"/>
          </p:cNvPicPr>
          <p:nvPr/>
        </p:nvPicPr>
        <p:blipFill>
          <a:blip r:embed="rId4"/>
          <a:stretch>
            <a:fillRect/>
          </a:stretch>
        </p:blipFill>
        <p:spPr>
          <a:xfrm>
            <a:off x="11100595" y="139678"/>
            <a:ext cx="381000" cy="381000"/>
          </a:xfrm>
          <a:prstGeom prst="rect">
            <a:avLst/>
          </a:prstGeom>
        </p:spPr>
      </p:pic>
      <p:pic>
        <p:nvPicPr>
          <p:cNvPr id="5" name="Image 2" descr="preencoded.png"/>
          <p:cNvPicPr>
            <a:picLocks noChangeAspect="1"/>
          </p:cNvPicPr>
          <p:nvPr/>
        </p:nvPicPr>
        <p:blipFill>
          <a:blip r:embed="rId5"/>
          <a:stretch>
            <a:fillRect/>
          </a:stretch>
        </p:blipFill>
        <p:spPr>
          <a:xfrm>
            <a:off x="11583128" y="139678"/>
            <a:ext cx="354873" cy="381000"/>
          </a:xfrm>
          <a:prstGeom prst="rect">
            <a:avLst/>
          </a:prstGeom>
        </p:spPr>
      </p:pic>
      <p:sp>
        <p:nvSpPr>
          <p:cNvPr id="6" name="Shape 1"/>
          <p:cNvSpPr/>
          <p:nvPr/>
        </p:nvSpPr>
        <p:spPr>
          <a:xfrm>
            <a:off x="0" y="717462"/>
            <a:ext cx="12192001" cy="57106"/>
          </a:xfrm>
          <a:prstGeom prst="rect">
            <a:avLst/>
          </a:prstGeom>
          <a:solidFill>
            <a:srgbClr val="28D2C3"/>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 name="Shape 2"/>
          <p:cNvSpPr/>
          <p:nvPr/>
        </p:nvSpPr>
        <p:spPr>
          <a:xfrm>
            <a:off x="635000" y="1246519"/>
            <a:ext cx="20955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 name="Text 3"/>
          <p:cNvSpPr/>
          <p:nvPr/>
        </p:nvSpPr>
        <p:spPr>
          <a:xfrm>
            <a:off x="635000" y="986896"/>
            <a:ext cx="2158365"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Técnico</a:t>
            </a:r>
            <a:endParaRPr lang="en-US" sz="1200" kern="1200" dirty="0">
              <a:solidFill>
                <a:prstClr val="black"/>
              </a:solidFill>
              <a:latin typeface="Calibri" panose="020F0502020204030204"/>
              <a:ea typeface="+mn-ea"/>
              <a:cs typeface="+mn-cs"/>
            </a:endParaRPr>
          </a:p>
        </p:txBody>
      </p:sp>
      <p:sp>
        <p:nvSpPr>
          <p:cNvPr id="9" name="Shape 4"/>
          <p:cNvSpPr/>
          <p:nvPr/>
        </p:nvSpPr>
        <p:spPr>
          <a:xfrm>
            <a:off x="2730500" y="1246519"/>
            <a:ext cx="12065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 name="Text 5"/>
          <p:cNvSpPr/>
          <p:nvPr/>
        </p:nvSpPr>
        <p:spPr>
          <a:xfrm>
            <a:off x="2730500" y="986896"/>
            <a:ext cx="125730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Nivel actual</a:t>
            </a:r>
            <a:endParaRPr lang="en-US" sz="1200" kern="1200" dirty="0">
              <a:solidFill>
                <a:prstClr val="black"/>
              </a:solidFill>
              <a:latin typeface="Calibri" panose="020F0502020204030204"/>
              <a:ea typeface="+mn-ea"/>
              <a:cs typeface="+mn-cs"/>
            </a:endParaRPr>
          </a:p>
        </p:txBody>
      </p:sp>
      <p:sp>
        <p:nvSpPr>
          <p:cNvPr id="11" name="Shape 6"/>
          <p:cNvSpPr/>
          <p:nvPr/>
        </p:nvSpPr>
        <p:spPr>
          <a:xfrm>
            <a:off x="3937000" y="1246519"/>
            <a:ext cx="1651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 name="Text 7"/>
          <p:cNvSpPr/>
          <p:nvPr/>
        </p:nvSpPr>
        <p:spPr>
          <a:xfrm>
            <a:off x="3937000" y="986896"/>
            <a:ext cx="170180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Supervisor</a:t>
            </a:r>
            <a:endParaRPr lang="en-US" sz="1200" kern="1200" dirty="0">
              <a:solidFill>
                <a:prstClr val="black"/>
              </a:solidFill>
              <a:latin typeface="Calibri" panose="020F0502020204030204"/>
              <a:ea typeface="+mn-ea"/>
              <a:cs typeface="+mn-cs"/>
            </a:endParaRPr>
          </a:p>
        </p:txBody>
      </p:sp>
      <p:sp>
        <p:nvSpPr>
          <p:cNvPr id="13" name="Shape 8"/>
          <p:cNvSpPr/>
          <p:nvPr/>
        </p:nvSpPr>
        <p:spPr>
          <a:xfrm>
            <a:off x="5588001" y="1246519"/>
            <a:ext cx="1270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 name="Text 9"/>
          <p:cNvSpPr/>
          <p:nvPr/>
        </p:nvSpPr>
        <p:spPr>
          <a:xfrm>
            <a:off x="5588001" y="986896"/>
            <a:ext cx="132080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Próximo nivel</a:t>
            </a:r>
            <a:endParaRPr lang="en-US" sz="1200" kern="1200" dirty="0">
              <a:solidFill>
                <a:prstClr val="black"/>
              </a:solidFill>
              <a:latin typeface="Calibri" panose="020F0502020204030204"/>
              <a:ea typeface="+mn-ea"/>
              <a:cs typeface="+mn-cs"/>
            </a:endParaRPr>
          </a:p>
        </p:txBody>
      </p:sp>
      <p:sp>
        <p:nvSpPr>
          <p:cNvPr id="15" name="Shape 10"/>
          <p:cNvSpPr/>
          <p:nvPr/>
        </p:nvSpPr>
        <p:spPr>
          <a:xfrm>
            <a:off x="6858000" y="1246519"/>
            <a:ext cx="2794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6" name="Text 11"/>
          <p:cNvSpPr/>
          <p:nvPr/>
        </p:nvSpPr>
        <p:spPr>
          <a:xfrm>
            <a:off x="6858000" y="986896"/>
            <a:ext cx="287782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Para subir necesita</a:t>
            </a:r>
            <a:endParaRPr lang="en-US" sz="1200" kern="1200" dirty="0">
              <a:solidFill>
                <a:prstClr val="black"/>
              </a:solidFill>
              <a:latin typeface="Calibri" panose="020F0502020204030204"/>
              <a:ea typeface="+mn-ea"/>
              <a:cs typeface="+mn-cs"/>
            </a:endParaRPr>
          </a:p>
        </p:txBody>
      </p:sp>
      <p:sp>
        <p:nvSpPr>
          <p:cNvPr id="17" name="Shape 12"/>
          <p:cNvSpPr/>
          <p:nvPr/>
        </p:nvSpPr>
        <p:spPr>
          <a:xfrm>
            <a:off x="9652001" y="1246519"/>
            <a:ext cx="1905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8" name="Text 13"/>
          <p:cNvSpPr/>
          <p:nvPr/>
        </p:nvSpPr>
        <p:spPr>
          <a:xfrm>
            <a:off x="9652001" y="986896"/>
            <a:ext cx="196215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Al subir</a:t>
            </a:r>
            <a:endParaRPr lang="en-US" sz="1200" kern="1200" dirty="0">
              <a:solidFill>
                <a:prstClr val="black"/>
              </a:solidFill>
              <a:latin typeface="Calibri" panose="020F0502020204030204"/>
              <a:ea typeface="+mn-ea"/>
              <a:cs typeface="+mn-cs"/>
            </a:endParaRPr>
          </a:p>
        </p:txBody>
      </p:sp>
      <p:sp>
        <p:nvSpPr>
          <p:cNvPr id="19" name="Shape 14"/>
          <p:cNvSpPr/>
          <p:nvPr/>
        </p:nvSpPr>
        <p:spPr>
          <a:xfrm>
            <a:off x="635000" y="1554759"/>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0" name="Text 15"/>
          <p:cNvSpPr/>
          <p:nvPr/>
        </p:nvSpPr>
        <p:spPr>
          <a:xfrm>
            <a:off x="635000" y="1314251"/>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Eduardo Acevedo</a:t>
            </a:r>
            <a:endParaRPr lang="en-US" sz="1200" kern="1200" dirty="0">
              <a:solidFill>
                <a:prstClr val="black"/>
              </a:solidFill>
              <a:latin typeface="Calibri" panose="020F0502020204030204"/>
              <a:ea typeface="+mn-ea"/>
              <a:cs typeface="+mn-cs"/>
            </a:endParaRPr>
          </a:p>
        </p:txBody>
      </p:sp>
      <p:sp>
        <p:nvSpPr>
          <p:cNvPr id="21" name="Shape 16"/>
          <p:cNvSpPr/>
          <p:nvPr/>
        </p:nvSpPr>
        <p:spPr>
          <a:xfrm>
            <a:off x="2730500" y="1554759"/>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2" name="Shape 17"/>
          <p:cNvSpPr/>
          <p:nvPr/>
        </p:nvSpPr>
        <p:spPr>
          <a:xfrm>
            <a:off x="2730500" y="1295246"/>
            <a:ext cx="669727" cy="221368"/>
          </a:xfrm>
          <a:prstGeom prst="rect">
            <a:avLst/>
          </a:prstGeom>
          <a:solidFill>
            <a:srgbClr val="BFF2ED"/>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3" name="Text 18"/>
          <p:cNvSpPr/>
          <p:nvPr/>
        </p:nvSpPr>
        <p:spPr>
          <a:xfrm>
            <a:off x="2806701" y="1314296"/>
            <a:ext cx="584299"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5E57"/>
                </a:solidFill>
                <a:latin typeface="Figtree" pitchFamily="34" charset="0"/>
                <a:ea typeface="Figtree" pitchFamily="34" charset="-122"/>
                <a:cs typeface="Figtree" pitchFamily="34" charset="-120"/>
              </a:rPr>
              <a:t>Trainee</a:t>
            </a:r>
            <a:endParaRPr lang="en-US" sz="1200" kern="1200" dirty="0">
              <a:solidFill>
                <a:prstClr val="black"/>
              </a:solidFill>
              <a:latin typeface="Calibri" panose="020F0502020204030204"/>
              <a:ea typeface="+mn-ea"/>
              <a:cs typeface="+mn-cs"/>
            </a:endParaRPr>
          </a:p>
        </p:txBody>
      </p:sp>
      <p:sp>
        <p:nvSpPr>
          <p:cNvPr id="24" name="Shape 19"/>
          <p:cNvSpPr/>
          <p:nvPr/>
        </p:nvSpPr>
        <p:spPr>
          <a:xfrm>
            <a:off x="3937000" y="1554759"/>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5" name="Text 20"/>
          <p:cNvSpPr/>
          <p:nvPr/>
        </p:nvSpPr>
        <p:spPr>
          <a:xfrm>
            <a:off x="3937000" y="1314251"/>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Sin asignar</a:t>
            </a:r>
            <a:endParaRPr lang="en-US" sz="1200" kern="1200" dirty="0">
              <a:solidFill>
                <a:prstClr val="black"/>
              </a:solidFill>
              <a:latin typeface="Calibri" panose="020F0502020204030204"/>
              <a:ea typeface="+mn-ea"/>
              <a:cs typeface="+mn-cs"/>
            </a:endParaRPr>
          </a:p>
        </p:txBody>
      </p:sp>
      <p:sp>
        <p:nvSpPr>
          <p:cNvPr id="26" name="Shape 21"/>
          <p:cNvSpPr/>
          <p:nvPr/>
        </p:nvSpPr>
        <p:spPr>
          <a:xfrm>
            <a:off x="5588001" y="1554759"/>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7" name="Text 22"/>
          <p:cNvSpPr/>
          <p:nvPr/>
        </p:nvSpPr>
        <p:spPr>
          <a:xfrm>
            <a:off x="5588001" y="1314251"/>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28" name="Shape 23"/>
          <p:cNvSpPr/>
          <p:nvPr/>
        </p:nvSpPr>
        <p:spPr>
          <a:xfrm>
            <a:off x="6858000" y="1558287"/>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9" name="Text 24"/>
          <p:cNvSpPr/>
          <p:nvPr/>
        </p:nvSpPr>
        <p:spPr>
          <a:xfrm>
            <a:off x="6858000" y="1310724"/>
            <a:ext cx="2877820" cy="2158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6 meses · prod. ≥ 1,4 · challenge Junior</a:t>
            </a:r>
            <a:endParaRPr lang="en-US" sz="1200" kern="1200" dirty="0">
              <a:solidFill>
                <a:prstClr val="black"/>
              </a:solidFill>
              <a:latin typeface="Calibri" panose="020F0502020204030204"/>
              <a:ea typeface="+mn-ea"/>
              <a:cs typeface="+mn-cs"/>
            </a:endParaRPr>
          </a:p>
        </p:txBody>
      </p:sp>
      <p:sp>
        <p:nvSpPr>
          <p:cNvPr id="30" name="Shape 25"/>
          <p:cNvSpPr/>
          <p:nvPr/>
        </p:nvSpPr>
        <p:spPr>
          <a:xfrm>
            <a:off x="9652001" y="1554759"/>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1" name="Text 26"/>
          <p:cNvSpPr/>
          <p:nvPr/>
        </p:nvSpPr>
        <p:spPr>
          <a:xfrm>
            <a:off x="9652001" y="1314251"/>
            <a:ext cx="196215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Sin banda definida</a:t>
            </a:r>
            <a:endParaRPr lang="en-US" sz="1200" kern="1200" dirty="0">
              <a:solidFill>
                <a:prstClr val="black"/>
              </a:solidFill>
              <a:latin typeface="Calibri" panose="020F0502020204030204"/>
              <a:ea typeface="+mn-ea"/>
              <a:cs typeface="+mn-cs"/>
            </a:endParaRPr>
          </a:p>
        </p:txBody>
      </p:sp>
      <p:sp>
        <p:nvSpPr>
          <p:cNvPr id="32" name="Shape 27"/>
          <p:cNvSpPr/>
          <p:nvPr/>
        </p:nvSpPr>
        <p:spPr>
          <a:xfrm>
            <a:off x="635000" y="1866526"/>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3" name="Text 28"/>
          <p:cNvSpPr/>
          <p:nvPr/>
        </p:nvSpPr>
        <p:spPr>
          <a:xfrm>
            <a:off x="635000" y="1626019"/>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Daniel Torres</a:t>
            </a:r>
            <a:endParaRPr lang="en-US" sz="1200" kern="1200" dirty="0">
              <a:solidFill>
                <a:prstClr val="black"/>
              </a:solidFill>
              <a:latin typeface="Calibri" panose="020F0502020204030204"/>
              <a:ea typeface="+mn-ea"/>
              <a:cs typeface="+mn-cs"/>
            </a:endParaRPr>
          </a:p>
        </p:txBody>
      </p:sp>
      <p:sp>
        <p:nvSpPr>
          <p:cNvPr id="34" name="Shape 29"/>
          <p:cNvSpPr/>
          <p:nvPr/>
        </p:nvSpPr>
        <p:spPr>
          <a:xfrm>
            <a:off x="2730500" y="1866526"/>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5" name="Shape 30"/>
          <p:cNvSpPr/>
          <p:nvPr/>
        </p:nvSpPr>
        <p:spPr>
          <a:xfrm>
            <a:off x="2730500" y="1607013"/>
            <a:ext cx="669727" cy="221368"/>
          </a:xfrm>
          <a:prstGeom prst="rect">
            <a:avLst/>
          </a:prstGeom>
          <a:solidFill>
            <a:srgbClr val="BFF2ED"/>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6" name="Text 31"/>
          <p:cNvSpPr/>
          <p:nvPr/>
        </p:nvSpPr>
        <p:spPr>
          <a:xfrm>
            <a:off x="2806701" y="1626063"/>
            <a:ext cx="584299"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5E57"/>
                </a:solidFill>
                <a:latin typeface="Figtree" pitchFamily="34" charset="0"/>
                <a:ea typeface="Figtree" pitchFamily="34" charset="-122"/>
                <a:cs typeface="Figtree" pitchFamily="34" charset="-120"/>
              </a:rPr>
              <a:t>Trainee</a:t>
            </a:r>
            <a:endParaRPr lang="en-US" sz="1200" kern="1200" dirty="0">
              <a:solidFill>
                <a:prstClr val="black"/>
              </a:solidFill>
              <a:latin typeface="Calibri" panose="020F0502020204030204"/>
              <a:ea typeface="+mn-ea"/>
              <a:cs typeface="+mn-cs"/>
            </a:endParaRPr>
          </a:p>
        </p:txBody>
      </p:sp>
      <p:sp>
        <p:nvSpPr>
          <p:cNvPr id="37" name="Shape 32"/>
          <p:cNvSpPr/>
          <p:nvPr/>
        </p:nvSpPr>
        <p:spPr>
          <a:xfrm>
            <a:off x="3937000" y="1866526"/>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8" name="Text 33"/>
          <p:cNvSpPr/>
          <p:nvPr/>
        </p:nvSpPr>
        <p:spPr>
          <a:xfrm>
            <a:off x="3937000" y="1626019"/>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Sin asignar</a:t>
            </a:r>
            <a:endParaRPr lang="en-US" sz="1200" kern="1200" dirty="0">
              <a:solidFill>
                <a:prstClr val="black"/>
              </a:solidFill>
              <a:latin typeface="Calibri" panose="020F0502020204030204"/>
              <a:ea typeface="+mn-ea"/>
              <a:cs typeface="+mn-cs"/>
            </a:endParaRPr>
          </a:p>
        </p:txBody>
      </p:sp>
      <p:sp>
        <p:nvSpPr>
          <p:cNvPr id="39" name="Shape 34"/>
          <p:cNvSpPr/>
          <p:nvPr/>
        </p:nvSpPr>
        <p:spPr>
          <a:xfrm>
            <a:off x="5588001" y="1866526"/>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0" name="Text 35"/>
          <p:cNvSpPr/>
          <p:nvPr/>
        </p:nvSpPr>
        <p:spPr>
          <a:xfrm>
            <a:off x="5588001" y="1626019"/>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41" name="Shape 36"/>
          <p:cNvSpPr/>
          <p:nvPr/>
        </p:nvSpPr>
        <p:spPr>
          <a:xfrm>
            <a:off x="6858000" y="1870054"/>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2" name="Text 37"/>
          <p:cNvSpPr/>
          <p:nvPr/>
        </p:nvSpPr>
        <p:spPr>
          <a:xfrm>
            <a:off x="6858000" y="1622491"/>
            <a:ext cx="2877820" cy="2158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6 meses · prod. ≥ 1,4 · challenge Junior</a:t>
            </a:r>
            <a:endParaRPr lang="en-US" sz="1200" kern="1200" dirty="0">
              <a:solidFill>
                <a:prstClr val="black"/>
              </a:solidFill>
              <a:latin typeface="Calibri" panose="020F0502020204030204"/>
              <a:ea typeface="+mn-ea"/>
              <a:cs typeface="+mn-cs"/>
            </a:endParaRPr>
          </a:p>
        </p:txBody>
      </p:sp>
      <p:sp>
        <p:nvSpPr>
          <p:cNvPr id="43" name="Shape 38"/>
          <p:cNvSpPr/>
          <p:nvPr/>
        </p:nvSpPr>
        <p:spPr>
          <a:xfrm>
            <a:off x="9652001" y="1866526"/>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4" name="Text 39"/>
          <p:cNvSpPr/>
          <p:nvPr/>
        </p:nvSpPr>
        <p:spPr>
          <a:xfrm>
            <a:off x="9652001" y="1626019"/>
            <a:ext cx="196215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Sin banda definida</a:t>
            </a:r>
            <a:endParaRPr lang="en-US" sz="1200" kern="1200" dirty="0">
              <a:solidFill>
                <a:prstClr val="black"/>
              </a:solidFill>
              <a:latin typeface="Calibri" panose="020F0502020204030204"/>
              <a:ea typeface="+mn-ea"/>
              <a:cs typeface="+mn-cs"/>
            </a:endParaRPr>
          </a:p>
        </p:txBody>
      </p:sp>
      <p:sp>
        <p:nvSpPr>
          <p:cNvPr id="45" name="Shape 40"/>
          <p:cNvSpPr/>
          <p:nvPr/>
        </p:nvSpPr>
        <p:spPr>
          <a:xfrm>
            <a:off x="635000" y="2178293"/>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6" name="Text 41"/>
          <p:cNvSpPr/>
          <p:nvPr/>
        </p:nvSpPr>
        <p:spPr>
          <a:xfrm>
            <a:off x="635000" y="1937787"/>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Christopher Amesty</a:t>
            </a:r>
            <a:endParaRPr lang="en-US" sz="1200" kern="1200" dirty="0">
              <a:solidFill>
                <a:prstClr val="black"/>
              </a:solidFill>
              <a:latin typeface="Calibri" panose="020F0502020204030204"/>
              <a:ea typeface="+mn-ea"/>
              <a:cs typeface="+mn-cs"/>
            </a:endParaRPr>
          </a:p>
        </p:txBody>
      </p:sp>
      <p:sp>
        <p:nvSpPr>
          <p:cNvPr id="47" name="Shape 42"/>
          <p:cNvSpPr/>
          <p:nvPr/>
        </p:nvSpPr>
        <p:spPr>
          <a:xfrm>
            <a:off x="2730500" y="2178293"/>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8" name="Shape 43"/>
          <p:cNvSpPr/>
          <p:nvPr/>
        </p:nvSpPr>
        <p:spPr>
          <a:xfrm>
            <a:off x="2730500" y="1918781"/>
            <a:ext cx="669727" cy="221368"/>
          </a:xfrm>
          <a:prstGeom prst="rect">
            <a:avLst/>
          </a:prstGeom>
          <a:solidFill>
            <a:srgbClr val="BFF2ED"/>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9" name="Text 44"/>
          <p:cNvSpPr/>
          <p:nvPr/>
        </p:nvSpPr>
        <p:spPr>
          <a:xfrm>
            <a:off x="2806701" y="1937831"/>
            <a:ext cx="584299"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5E57"/>
                </a:solidFill>
                <a:latin typeface="Figtree" pitchFamily="34" charset="0"/>
                <a:ea typeface="Figtree" pitchFamily="34" charset="-122"/>
                <a:cs typeface="Figtree" pitchFamily="34" charset="-120"/>
              </a:rPr>
              <a:t>Trainee</a:t>
            </a:r>
            <a:endParaRPr lang="en-US" sz="1200" kern="1200" dirty="0">
              <a:solidFill>
                <a:prstClr val="black"/>
              </a:solidFill>
              <a:latin typeface="Calibri" panose="020F0502020204030204"/>
              <a:ea typeface="+mn-ea"/>
              <a:cs typeface="+mn-cs"/>
            </a:endParaRPr>
          </a:p>
        </p:txBody>
      </p:sp>
      <p:sp>
        <p:nvSpPr>
          <p:cNvPr id="50" name="Shape 45"/>
          <p:cNvSpPr/>
          <p:nvPr/>
        </p:nvSpPr>
        <p:spPr>
          <a:xfrm>
            <a:off x="3937000" y="2178293"/>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1" name="Text 46"/>
          <p:cNvSpPr/>
          <p:nvPr/>
        </p:nvSpPr>
        <p:spPr>
          <a:xfrm>
            <a:off x="3937000" y="1937787"/>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Sin asignar</a:t>
            </a:r>
            <a:endParaRPr lang="en-US" sz="1200" kern="1200" dirty="0">
              <a:solidFill>
                <a:prstClr val="black"/>
              </a:solidFill>
              <a:latin typeface="Calibri" panose="020F0502020204030204"/>
              <a:ea typeface="+mn-ea"/>
              <a:cs typeface="+mn-cs"/>
            </a:endParaRPr>
          </a:p>
        </p:txBody>
      </p:sp>
      <p:sp>
        <p:nvSpPr>
          <p:cNvPr id="52" name="Shape 47"/>
          <p:cNvSpPr/>
          <p:nvPr/>
        </p:nvSpPr>
        <p:spPr>
          <a:xfrm>
            <a:off x="5588001" y="2178293"/>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3" name="Text 48"/>
          <p:cNvSpPr/>
          <p:nvPr/>
        </p:nvSpPr>
        <p:spPr>
          <a:xfrm>
            <a:off x="5588001" y="1937787"/>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54" name="Shape 49"/>
          <p:cNvSpPr/>
          <p:nvPr/>
        </p:nvSpPr>
        <p:spPr>
          <a:xfrm>
            <a:off x="6858000" y="2181821"/>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5" name="Text 50"/>
          <p:cNvSpPr/>
          <p:nvPr/>
        </p:nvSpPr>
        <p:spPr>
          <a:xfrm>
            <a:off x="6858000" y="1934259"/>
            <a:ext cx="2877820" cy="2158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6 meses · prod. ≥ 1,4 · challenge Junior</a:t>
            </a:r>
            <a:endParaRPr lang="en-US" sz="1200" kern="1200" dirty="0">
              <a:solidFill>
                <a:prstClr val="black"/>
              </a:solidFill>
              <a:latin typeface="Calibri" panose="020F0502020204030204"/>
              <a:ea typeface="+mn-ea"/>
              <a:cs typeface="+mn-cs"/>
            </a:endParaRPr>
          </a:p>
        </p:txBody>
      </p:sp>
      <p:sp>
        <p:nvSpPr>
          <p:cNvPr id="56" name="Shape 51"/>
          <p:cNvSpPr/>
          <p:nvPr/>
        </p:nvSpPr>
        <p:spPr>
          <a:xfrm>
            <a:off x="9652001" y="2178293"/>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7" name="Text 52"/>
          <p:cNvSpPr/>
          <p:nvPr/>
        </p:nvSpPr>
        <p:spPr>
          <a:xfrm>
            <a:off x="9652001" y="1937787"/>
            <a:ext cx="196215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Sin banda definida</a:t>
            </a:r>
            <a:endParaRPr lang="en-US" sz="1200" kern="1200" dirty="0">
              <a:solidFill>
                <a:prstClr val="black"/>
              </a:solidFill>
              <a:latin typeface="Calibri" panose="020F0502020204030204"/>
              <a:ea typeface="+mn-ea"/>
              <a:cs typeface="+mn-cs"/>
            </a:endParaRPr>
          </a:p>
        </p:txBody>
      </p:sp>
      <p:sp>
        <p:nvSpPr>
          <p:cNvPr id="58" name="Shape 53"/>
          <p:cNvSpPr/>
          <p:nvPr/>
        </p:nvSpPr>
        <p:spPr>
          <a:xfrm>
            <a:off x="635000" y="2490061"/>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9" name="Text 54"/>
          <p:cNvSpPr/>
          <p:nvPr/>
        </p:nvSpPr>
        <p:spPr>
          <a:xfrm>
            <a:off x="635000" y="2249554"/>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Danko Vasquez</a:t>
            </a:r>
            <a:endParaRPr lang="en-US" sz="1200" kern="1200" dirty="0">
              <a:solidFill>
                <a:prstClr val="black"/>
              </a:solidFill>
              <a:latin typeface="Calibri" panose="020F0502020204030204"/>
              <a:ea typeface="+mn-ea"/>
              <a:cs typeface="+mn-cs"/>
            </a:endParaRPr>
          </a:p>
        </p:txBody>
      </p:sp>
      <p:sp>
        <p:nvSpPr>
          <p:cNvPr id="60" name="Shape 55"/>
          <p:cNvSpPr/>
          <p:nvPr/>
        </p:nvSpPr>
        <p:spPr>
          <a:xfrm>
            <a:off x="2730500" y="2490061"/>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1" name="Shape 56"/>
          <p:cNvSpPr/>
          <p:nvPr/>
        </p:nvSpPr>
        <p:spPr>
          <a:xfrm>
            <a:off x="2730500" y="2230548"/>
            <a:ext cx="669727" cy="221368"/>
          </a:xfrm>
          <a:prstGeom prst="rect">
            <a:avLst/>
          </a:prstGeom>
          <a:solidFill>
            <a:srgbClr val="BFF2ED"/>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2" name="Text 57"/>
          <p:cNvSpPr/>
          <p:nvPr/>
        </p:nvSpPr>
        <p:spPr>
          <a:xfrm>
            <a:off x="2806701" y="2249598"/>
            <a:ext cx="584299"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5E57"/>
                </a:solidFill>
                <a:latin typeface="Figtree" pitchFamily="34" charset="0"/>
                <a:ea typeface="Figtree" pitchFamily="34" charset="-122"/>
                <a:cs typeface="Figtree" pitchFamily="34" charset="-120"/>
              </a:rPr>
              <a:t>Trainee</a:t>
            </a:r>
            <a:endParaRPr lang="en-US" sz="1200" kern="1200" dirty="0">
              <a:solidFill>
                <a:prstClr val="black"/>
              </a:solidFill>
              <a:latin typeface="Calibri" panose="020F0502020204030204"/>
              <a:ea typeface="+mn-ea"/>
              <a:cs typeface="+mn-cs"/>
            </a:endParaRPr>
          </a:p>
        </p:txBody>
      </p:sp>
      <p:sp>
        <p:nvSpPr>
          <p:cNvPr id="63" name="Shape 58"/>
          <p:cNvSpPr/>
          <p:nvPr/>
        </p:nvSpPr>
        <p:spPr>
          <a:xfrm>
            <a:off x="3937000" y="2490061"/>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4" name="Text 59"/>
          <p:cNvSpPr/>
          <p:nvPr/>
        </p:nvSpPr>
        <p:spPr>
          <a:xfrm>
            <a:off x="3937000" y="2249554"/>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Sin asignar</a:t>
            </a:r>
            <a:endParaRPr lang="en-US" sz="1200" kern="1200" dirty="0">
              <a:solidFill>
                <a:prstClr val="black"/>
              </a:solidFill>
              <a:latin typeface="Calibri" panose="020F0502020204030204"/>
              <a:ea typeface="+mn-ea"/>
              <a:cs typeface="+mn-cs"/>
            </a:endParaRPr>
          </a:p>
        </p:txBody>
      </p:sp>
      <p:sp>
        <p:nvSpPr>
          <p:cNvPr id="65" name="Shape 60"/>
          <p:cNvSpPr/>
          <p:nvPr/>
        </p:nvSpPr>
        <p:spPr>
          <a:xfrm>
            <a:off x="5588001" y="2490061"/>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6" name="Text 61"/>
          <p:cNvSpPr/>
          <p:nvPr/>
        </p:nvSpPr>
        <p:spPr>
          <a:xfrm>
            <a:off x="5588001" y="2249554"/>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67" name="Shape 62"/>
          <p:cNvSpPr/>
          <p:nvPr/>
        </p:nvSpPr>
        <p:spPr>
          <a:xfrm>
            <a:off x="6858000" y="2493589"/>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8" name="Text 63"/>
          <p:cNvSpPr/>
          <p:nvPr/>
        </p:nvSpPr>
        <p:spPr>
          <a:xfrm>
            <a:off x="6858000" y="2246026"/>
            <a:ext cx="2877820" cy="2158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6 meses · prod. ≥ 1,4 · challenge Junior</a:t>
            </a:r>
            <a:endParaRPr lang="en-US" sz="1200" kern="1200" dirty="0">
              <a:solidFill>
                <a:prstClr val="black"/>
              </a:solidFill>
              <a:latin typeface="Calibri" panose="020F0502020204030204"/>
              <a:ea typeface="+mn-ea"/>
              <a:cs typeface="+mn-cs"/>
            </a:endParaRPr>
          </a:p>
        </p:txBody>
      </p:sp>
      <p:sp>
        <p:nvSpPr>
          <p:cNvPr id="69" name="Shape 64"/>
          <p:cNvSpPr/>
          <p:nvPr/>
        </p:nvSpPr>
        <p:spPr>
          <a:xfrm>
            <a:off x="9652001" y="2490061"/>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0" name="Text 65"/>
          <p:cNvSpPr/>
          <p:nvPr/>
        </p:nvSpPr>
        <p:spPr>
          <a:xfrm>
            <a:off x="9652001" y="2249554"/>
            <a:ext cx="196215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Sin banda definida</a:t>
            </a:r>
            <a:endParaRPr lang="en-US" sz="1200" kern="1200" dirty="0">
              <a:solidFill>
                <a:prstClr val="black"/>
              </a:solidFill>
              <a:latin typeface="Calibri" panose="020F0502020204030204"/>
              <a:ea typeface="+mn-ea"/>
              <a:cs typeface="+mn-cs"/>
            </a:endParaRPr>
          </a:p>
        </p:txBody>
      </p:sp>
      <p:sp>
        <p:nvSpPr>
          <p:cNvPr id="71" name="Shape 66"/>
          <p:cNvSpPr/>
          <p:nvPr/>
        </p:nvSpPr>
        <p:spPr>
          <a:xfrm>
            <a:off x="635000" y="2801828"/>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2" name="Text 67"/>
          <p:cNvSpPr/>
          <p:nvPr/>
        </p:nvSpPr>
        <p:spPr>
          <a:xfrm>
            <a:off x="635000" y="2561321"/>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Gabriel Gomez</a:t>
            </a:r>
            <a:endParaRPr lang="en-US" sz="1200" kern="1200" dirty="0">
              <a:solidFill>
                <a:prstClr val="black"/>
              </a:solidFill>
              <a:latin typeface="Calibri" panose="020F0502020204030204"/>
              <a:ea typeface="+mn-ea"/>
              <a:cs typeface="+mn-cs"/>
            </a:endParaRPr>
          </a:p>
        </p:txBody>
      </p:sp>
      <p:sp>
        <p:nvSpPr>
          <p:cNvPr id="73" name="Shape 68"/>
          <p:cNvSpPr/>
          <p:nvPr/>
        </p:nvSpPr>
        <p:spPr>
          <a:xfrm>
            <a:off x="2730500" y="2801828"/>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4" name="Shape 69"/>
          <p:cNvSpPr/>
          <p:nvPr/>
        </p:nvSpPr>
        <p:spPr>
          <a:xfrm>
            <a:off x="2730500" y="2542315"/>
            <a:ext cx="669727" cy="221368"/>
          </a:xfrm>
          <a:prstGeom prst="rect">
            <a:avLst/>
          </a:prstGeom>
          <a:solidFill>
            <a:srgbClr val="BFF2ED"/>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5" name="Text 70"/>
          <p:cNvSpPr/>
          <p:nvPr/>
        </p:nvSpPr>
        <p:spPr>
          <a:xfrm>
            <a:off x="2806701" y="2561365"/>
            <a:ext cx="584299"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5E57"/>
                </a:solidFill>
                <a:latin typeface="Figtree" pitchFamily="34" charset="0"/>
                <a:ea typeface="Figtree" pitchFamily="34" charset="-122"/>
                <a:cs typeface="Figtree" pitchFamily="34" charset="-120"/>
              </a:rPr>
              <a:t>Trainee</a:t>
            </a:r>
            <a:endParaRPr lang="en-US" sz="1200" kern="1200" dirty="0">
              <a:solidFill>
                <a:prstClr val="black"/>
              </a:solidFill>
              <a:latin typeface="Calibri" panose="020F0502020204030204"/>
              <a:ea typeface="+mn-ea"/>
              <a:cs typeface="+mn-cs"/>
            </a:endParaRPr>
          </a:p>
        </p:txBody>
      </p:sp>
      <p:sp>
        <p:nvSpPr>
          <p:cNvPr id="76" name="Shape 71"/>
          <p:cNvSpPr/>
          <p:nvPr/>
        </p:nvSpPr>
        <p:spPr>
          <a:xfrm>
            <a:off x="3937000" y="2801828"/>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7" name="Text 72"/>
          <p:cNvSpPr/>
          <p:nvPr/>
        </p:nvSpPr>
        <p:spPr>
          <a:xfrm>
            <a:off x="3937000" y="2561321"/>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Sin asignar</a:t>
            </a:r>
            <a:endParaRPr lang="en-US" sz="1200" kern="1200" dirty="0">
              <a:solidFill>
                <a:prstClr val="black"/>
              </a:solidFill>
              <a:latin typeface="Calibri" panose="020F0502020204030204"/>
              <a:ea typeface="+mn-ea"/>
              <a:cs typeface="+mn-cs"/>
            </a:endParaRPr>
          </a:p>
        </p:txBody>
      </p:sp>
      <p:sp>
        <p:nvSpPr>
          <p:cNvPr id="78" name="Shape 73"/>
          <p:cNvSpPr/>
          <p:nvPr/>
        </p:nvSpPr>
        <p:spPr>
          <a:xfrm>
            <a:off x="5588001" y="2801828"/>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9" name="Text 74"/>
          <p:cNvSpPr/>
          <p:nvPr/>
        </p:nvSpPr>
        <p:spPr>
          <a:xfrm>
            <a:off x="5588001" y="2561321"/>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80" name="Shape 75"/>
          <p:cNvSpPr/>
          <p:nvPr/>
        </p:nvSpPr>
        <p:spPr>
          <a:xfrm>
            <a:off x="6858000" y="2805356"/>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1" name="Text 76"/>
          <p:cNvSpPr/>
          <p:nvPr/>
        </p:nvSpPr>
        <p:spPr>
          <a:xfrm>
            <a:off x="6858000" y="2557793"/>
            <a:ext cx="2877820" cy="215812"/>
          </a:xfrm>
          <a:prstGeom prst="rect">
            <a:avLst/>
          </a:prstGeom>
          <a:noFill/>
          <a:ln/>
        </p:spPr>
        <p:txBody>
          <a:bodyPr wrap="square" lIns="16933" tIns="16933" rIns="16933" bIns="16933" rtlCol="0" anchor="t">
            <a:normAutofit fontScale="925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6 meses · prod. ≥ 1,4 · challenge Junior</a:t>
            </a:r>
            <a:endParaRPr lang="en-US" sz="1200" kern="1200" dirty="0">
              <a:solidFill>
                <a:prstClr val="black"/>
              </a:solidFill>
              <a:latin typeface="Calibri" panose="020F0502020204030204"/>
              <a:ea typeface="+mn-ea"/>
              <a:cs typeface="+mn-cs"/>
            </a:endParaRPr>
          </a:p>
        </p:txBody>
      </p:sp>
      <p:sp>
        <p:nvSpPr>
          <p:cNvPr id="82" name="Shape 77"/>
          <p:cNvSpPr/>
          <p:nvPr/>
        </p:nvSpPr>
        <p:spPr>
          <a:xfrm>
            <a:off x="9652001" y="2801828"/>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3" name="Text 78"/>
          <p:cNvSpPr/>
          <p:nvPr/>
        </p:nvSpPr>
        <p:spPr>
          <a:xfrm>
            <a:off x="9652001" y="2561321"/>
            <a:ext cx="196215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Sin banda definida</a:t>
            </a:r>
            <a:endParaRPr lang="en-US" sz="1200" kern="1200" dirty="0">
              <a:solidFill>
                <a:prstClr val="black"/>
              </a:solidFill>
              <a:latin typeface="Calibri" panose="020F0502020204030204"/>
              <a:ea typeface="+mn-ea"/>
              <a:cs typeface="+mn-cs"/>
            </a:endParaRPr>
          </a:p>
        </p:txBody>
      </p:sp>
      <p:sp>
        <p:nvSpPr>
          <p:cNvPr id="84" name="Shape 79"/>
          <p:cNvSpPr/>
          <p:nvPr/>
        </p:nvSpPr>
        <p:spPr>
          <a:xfrm>
            <a:off x="635000" y="3205317"/>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5" name="Text 80"/>
          <p:cNvSpPr/>
          <p:nvPr/>
        </p:nvSpPr>
        <p:spPr>
          <a:xfrm>
            <a:off x="635000" y="2964811"/>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Maximiliano Cerpa</a:t>
            </a:r>
            <a:endParaRPr lang="en-US" sz="1200" kern="1200" dirty="0">
              <a:solidFill>
                <a:prstClr val="black"/>
              </a:solidFill>
              <a:latin typeface="Calibri" panose="020F0502020204030204"/>
              <a:ea typeface="+mn-ea"/>
              <a:cs typeface="+mn-cs"/>
            </a:endParaRPr>
          </a:p>
        </p:txBody>
      </p:sp>
      <p:sp>
        <p:nvSpPr>
          <p:cNvPr id="86" name="Shape 81"/>
          <p:cNvSpPr/>
          <p:nvPr/>
        </p:nvSpPr>
        <p:spPr>
          <a:xfrm>
            <a:off x="2730500" y="3205317"/>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7" name="Shape 82"/>
          <p:cNvSpPr/>
          <p:nvPr/>
        </p:nvSpPr>
        <p:spPr>
          <a:xfrm>
            <a:off x="2730501" y="2945805"/>
            <a:ext cx="595643" cy="221368"/>
          </a:xfrm>
          <a:prstGeom prst="rect">
            <a:avLst/>
          </a:prstGeom>
          <a:solidFill>
            <a:srgbClr val="7FE4DB"/>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8" name="Text 83"/>
          <p:cNvSpPr/>
          <p:nvPr/>
        </p:nvSpPr>
        <p:spPr>
          <a:xfrm>
            <a:off x="2806701" y="2964855"/>
            <a:ext cx="502807"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89" name="Shape 84"/>
          <p:cNvSpPr/>
          <p:nvPr/>
        </p:nvSpPr>
        <p:spPr>
          <a:xfrm>
            <a:off x="3937000" y="3205317"/>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0" name="Text 85"/>
          <p:cNvSpPr/>
          <p:nvPr/>
        </p:nvSpPr>
        <p:spPr>
          <a:xfrm>
            <a:off x="3937000" y="2964811"/>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91" name="Shape 86"/>
          <p:cNvSpPr/>
          <p:nvPr/>
        </p:nvSpPr>
        <p:spPr>
          <a:xfrm>
            <a:off x="5588001" y="3205317"/>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2" name="Text 87"/>
          <p:cNvSpPr/>
          <p:nvPr/>
        </p:nvSpPr>
        <p:spPr>
          <a:xfrm>
            <a:off x="5588001" y="2964811"/>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93" name="Shape 88"/>
          <p:cNvSpPr/>
          <p:nvPr/>
        </p:nvSpPr>
        <p:spPr>
          <a:xfrm>
            <a:off x="6858000" y="3300567"/>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4" name="Text 89"/>
          <p:cNvSpPr/>
          <p:nvPr/>
        </p:nvSpPr>
        <p:spPr>
          <a:xfrm>
            <a:off x="6858000" y="2869561"/>
            <a:ext cx="2877820" cy="3992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Indefinido · ≥ 8 meses · prod. ≥ 1,6 · challenge Intermedio</a:t>
            </a:r>
            <a:endParaRPr lang="en-US" sz="1200" kern="1200" dirty="0">
              <a:solidFill>
                <a:prstClr val="black"/>
              </a:solidFill>
              <a:latin typeface="Calibri" panose="020F0502020204030204"/>
              <a:ea typeface="+mn-ea"/>
              <a:cs typeface="+mn-cs"/>
            </a:endParaRPr>
          </a:p>
        </p:txBody>
      </p:sp>
      <p:sp>
        <p:nvSpPr>
          <p:cNvPr id="95" name="Shape 90"/>
          <p:cNvSpPr/>
          <p:nvPr/>
        </p:nvSpPr>
        <p:spPr>
          <a:xfrm>
            <a:off x="9652001" y="3297040"/>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6" name="Text 91"/>
          <p:cNvSpPr/>
          <p:nvPr/>
        </p:nvSpPr>
        <p:spPr>
          <a:xfrm>
            <a:off x="9652001" y="2873089"/>
            <a:ext cx="1962150" cy="392201"/>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$1,35–1,5 MM · bono $300 mil</a:t>
            </a:r>
            <a:endParaRPr lang="en-US" sz="1200" kern="1200" dirty="0">
              <a:solidFill>
                <a:prstClr val="black"/>
              </a:solidFill>
              <a:latin typeface="Calibri" panose="020F0502020204030204"/>
              <a:ea typeface="+mn-ea"/>
              <a:cs typeface="+mn-cs"/>
            </a:endParaRPr>
          </a:p>
        </p:txBody>
      </p:sp>
      <p:sp>
        <p:nvSpPr>
          <p:cNvPr id="97" name="Shape 92"/>
          <p:cNvSpPr/>
          <p:nvPr/>
        </p:nvSpPr>
        <p:spPr>
          <a:xfrm>
            <a:off x="635000" y="3700529"/>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8" name="Text 93"/>
          <p:cNvSpPr/>
          <p:nvPr/>
        </p:nvSpPr>
        <p:spPr>
          <a:xfrm>
            <a:off x="635000" y="3460023"/>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Nicolás Rodriguez</a:t>
            </a:r>
            <a:endParaRPr lang="en-US" sz="1200" kern="1200" dirty="0">
              <a:solidFill>
                <a:prstClr val="black"/>
              </a:solidFill>
              <a:latin typeface="Calibri" panose="020F0502020204030204"/>
              <a:ea typeface="+mn-ea"/>
              <a:cs typeface="+mn-cs"/>
            </a:endParaRPr>
          </a:p>
        </p:txBody>
      </p:sp>
      <p:sp>
        <p:nvSpPr>
          <p:cNvPr id="99" name="Shape 94"/>
          <p:cNvSpPr/>
          <p:nvPr/>
        </p:nvSpPr>
        <p:spPr>
          <a:xfrm>
            <a:off x="2730500" y="3700529"/>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0" name="Shape 95"/>
          <p:cNvSpPr/>
          <p:nvPr/>
        </p:nvSpPr>
        <p:spPr>
          <a:xfrm>
            <a:off x="2730501" y="3441017"/>
            <a:ext cx="595643" cy="221368"/>
          </a:xfrm>
          <a:prstGeom prst="rect">
            <a:avLst/>
          </a:prstGeom>
          <a:solidFill>
            <a:srgbClr val="7FE4DB"/>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1" name="Text 96"/>
          <p:cNvSpPr/>
          <p:nvPr/>
        </p:nvSpPr>
        <p:spPr>
          <a:xfrm>
            <a:off x="2806701" y="3460067"/>
            <a:ext cx="502807"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102" name="Shape 97"/>
          <p:cNvSpPr/>
          <p:nvPr/>
        </p:nvSpPr>
        <p:spPr>
          <a:xfrm>
            <a:off x="3937000" y="3700529"/>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3" name="Text 98"/>
          <p:cNvSpPr/>
          <p:nvPr/>
        </p:nvSpPr>
        <p:spPr>
          <a:xfrm>
            <a:off x="3937000" y="3460023"/>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Cristian Rohr</a:t>
            </a:r>
            <a:endParaRPr lang="en-US" sz="1200" kern="1200" dirty="0">
              <a:solidFill>
                <a:prstClr val="black"/>
              </a:solidFill>
              <a:latin typeface="Calibri" panose="020F0502020204030204"/>
              <a:ea typeface="+mn-ea"/>
              <a:cs typeface="+mn-cs"/>
            </a:endParaRPr>
          </a:p>
        </p:txBody>
      </p:sp>
      <p:sp>
        <p:nvSpPr>
          <p:cNvPr id="104" name="Shape 99"/>
          <p:cNvSpPr/>
          <p:nvPr/>
        </p:nvSpPr>
        <p:spPr>
          <a:xfrm>
            <a:off x="5588001" y="3700529"/>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5" name="Text 100"/>
          <p:cNvSpPr/>
          <p:nvPr/>
        </p:nvSpPr>
        <p:spPr>
          <a:xfrm>
            <a:off x="5588001" y="3460023"/>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106" name="Shape 101"/>
          <p:cNvSpPr/>
          <p:nvPr/>
        </p:nvSpPr>
        <p:spPr>
          <a:xfrm>
            <a:off x="6858000" y="3795779"/>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7" name="Text 102"/>
          <p:cNvSpPr/>
          <p:nvPr/>
        </p:nvSpPr>
        <p:spPr>
          <a:xfrm>
            <a:off x="6858000" y="3364773"/>
            <a:ext cx="2877820" cy="3992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Indefinido · ≥ 8 meses · prod. ≥ 1,6 · challenge Intermedio</a:t>
            </a:r>
            <a:endParaRPr lang="en-US" sz="1200" kern="1200" dirty="0">
              <a:solidFill>
                <a:prstClr val="black"/>
              </a:solidFill>
              <a:latin typeface="Calibri" panose="020F0502020204030204"/>
              <a:ea typeface="+mn-ea"/>
              <a:cs typeface="+mn-cs"/>
            </a:endParaRPr>
          </a:p>
        </p:txBody>
      </p:sp>
      <p:sp>
        <p:nvSpPr>
          <p:cNvPr id="108" name="Shape 103"/>
          <p:cNvSpPr/>
          <p:nvPr/>
        </p:nvSpPr>
        <p:spPr>
          <a:xfrm>
            <a:off x="9652001" y="3792251"/>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9" name="Text 104"/>
          <p:cNvSpPr/>
          <p:nvPr/>
        </p:nvSpPr>
        <p:spPr>
          <a:xfrm>
            <a:off x="9652001" y="3368300"/>
            <a:ext cx="1962150" cy="392201"/>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$1,35–1,5 MM · bono $300 mil</a:t>
            </a:r>
            <a:endParaRPr lang="en-US" sz="1200" kern="1200" dirty="0">
              <a:solidFill>
                <a:prstClr val="black"/>
              </a:solidFill>
              <a:latin typeface="Calibri" panose="020F0502020204030204"/>
              <a:ea typeface="+mn-ea"/>
              <a:cs typeface="+mn-cs"/>
            </a:endParaRPr>
          </a:p>
        </p:txBody>
      </p:sp>
      <p:sp>
        <p:nvSpPr>
          <p:cNvPr id="110" name="Shape 105"/>
          <p:cNvSpPr/>
          <p:nvPr/>
        </p:nvSpPr>
        <p:spPr>
          <a:xfrm>
            <a:off x="635000" y="4195741"/>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11" name="Text 106"/>
          <p:cNvSpPr/>
          <p:nvPr/>
        </p:nvSpPr>
        <p:spPr>
          <a:xfrm>
            <a:off x="635000" y="3955235"/>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Ayron Arnaiz</a:t>
            </a:r>
            <a:endParaRPr lang="en-US" sz="1200" kern="1200" dirty="0">
              <a:solidFill>
                <a:prstClr val="black"/>
              </a:solidFill>
              <a:latin typeface="Calibri" panose="020F0502020204030204"/>
              <a:ea typeface="+mn-ea"/>
              <a:cs typeface="+mn-cs"/>
            </a:endParaRPr>
          </a:p>
        </p:txBody>
      </p:sp>
      <p:sp>
        <p:nvSpPr>
          <p:cNvPr id="112" name="Shape 107"/>
          <p:cNvSpPr/>
          <p:nvPr/>
        </p:nvSpPr>
        <p:spPr>
          <a:xfrm>
            <a:off x="2730500" y="4195741"/>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13" name="Shape 108"/>
          <p:cNvSpPr/>
          <p:nvPr/>
        </p:nvSpPr>
        <p:spPr>
          <a:xfrm>
            <a:off x="2730501" y="3936229"/>
            <a:ext cx="595643" cy="221368"/>
          </a:xfrm>
          <a:prstGeom prst="rect">
            <a:avLst/>
          </a:prstGeom>
          <a:solidFill>
            <a:srgbClr val="7FE4DB"/>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14" name="Text 109"/>
          <p:cNvSpPr/>
          <p:nvPr/>
        </p:nvSpPr>
        <p:spPr>
          <a:xfrm>
            <a:off x="2806701" y="3955279"/>
            <a:ext cx="502807"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115" name="Shape 110"/>
          <p:cNvSpPr/>
          <p:nvPr/>
        </p:nvSpPr>
        <p:spPr>
          <a:xfrm>
            <a:off x="3937000" y="4195741"/>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16" name="Text 111"/>
          <p:cNvSpPr/>
          <p:nvPr/>
        </p:nvSpPr>
        <p:spPr>
          <a:xfrm>
            <a:off x="3937000" y="3955235"/>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Cristian Rohr</a:t>
            </a:r>
            <a:endParaRPr lang="en-US" sz="1200" kern="1200" dirty="0">
              <a:solidFill>
                <a:prstClr val="black"/>
              </a:solidFill>
              <a:latin typeface="Calibri" panose="020F0502020204030204"/>
              <a:ea typeface="+mn-ea"/>
              <a:cs typeface="+mn-cs"/>
            </a:endParaRPr>
          </a:p>
        </p:txBody>
      </p:sp>
      <p:sp>
        <p:nvSpPr>
          <p:cNvPr id="117" name="Shape 112"/>
          <p:cNvSpPr/>
          <p:nvPr/>
        </p:nvSpPr>
        <p:spPr>
          <a:xfrm>
            <a:off x="5588001" y="4195741"/>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18" name="Text 113"/>
          <p:cNvSpPr/>
          <p:nvPr/>
        </p:nvSpPr>
        <p:spPr>
          <a:xfrm>
            <a:off x="5588001" y="3955235"/>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119" name="Shape 114"/>
          <p:cNvSpPr/>
          <p:nvPr/>
        </p:nvSpPr>
        <p:spPr>
          <a:xfrm>
            <a:off x="6858000" y="4290991"/>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0" name="Text 115"/>
          <p:cNvSpPr/>
          <p:nvPr/>
        </p:nvSpPr>
        <p:spPr>
          <a:xfrm>
            <a:off x="6858000" y="3859985"/>
            <a:ext cx="2877820" cy="3992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Indefinido · ≥ 8 meses · prod. ≥ 1,6 · challenge Intermedio</a:t>
            </a:r>
            <a:endParaRPr lang="en-US" sz="1200" kern="1200" dirty="0">
              <a:solidFill>
                <a:prstClr val="black"/>
              </a:solidFill>
              <a:latin typeface="Calibri" panose="020F0502020204030204"/>
              <a:ea typeface="+mn-ea"/>
              <a:cs typeface="+mn-cs"/>
            </a:endParaRPr>
          </a:p>
        </p:txBody>
      </p:sp>
      <p:sp>
        <p:nvSpPr>
          <p:cNvPr id="121" name="Shape 116"/>
          <p:cNvSpPr/>
          <p:nvPr/>
        </p:nvSpPr>
        <p:spPr>
          <a:xfrm>
            <a:off x="9652001" y="4287463"/>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2" name="Text 117"/>
          <p:cNvSpPr/>
          <p:nvPr/>
        </p:nvSpPr>
        <p:spPr>
          <a:xfrm>
            <a:off x="9652001" y="3863512"/>
            <a:ext cx="1962150" cy="392201"/>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$1,35–1,5 MM · bono $300 mil</a:t>
            </a:r>
            <a:endParaRPr lang="en-US" sz="1200" kern="1200" dirty="0">
              <a:solidFill>
                <a:prstClr val="black"/>
              </a:solidFill>
              <a:latin typeface="Calibri" panose="020F0502020204030204"/>
              <a:ea typeface="+mn-ea"/>
              <a:cs typeface="+mn-cs"/>
            </a:endParaRPr>
          </a:p>
        </p:txBody>
      </p:sp>
      <p:sp>
        <p:nvSpPr>
          <p:cNvPr id="123" name="Shape 118"/>
          <p:cNvSpPr/>
          <p:nvPr/>
        </p:nvSpPr>
        <p:spPr>
          <a:xfrm>
            <a:off x="635000" y="4690953"/>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4" name="Text 119"/>
          <p:cNvSpPr/>
          <p:nvPr/>
        </p:nvSpPr>
        <p:spPr>
          <a:xfrm>
            <a:off x="635000" y="4450446"/>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Luis Quezada</a:t>
            </a:r>
            <a:endParaRPr lang="en-US" sz="1200" kern="1200" dirty="0">
              <a:solidFill>
                <a:prstClr val="black"/>
              </a:solidFill>
              <a:latin typeface="Calibri" panose="020F0502020204030204"/>
              <a:ea typeface="+mn-ea"/>
              <a:cs typeface="+mn-cs"/>
            </a:endParaRPr>
          </a:p>
        </p:txBody>
      </p:sp>
      <p:sp>
        <p:nvSpPr>
          <p:cNvPr id="125" name="Shape 120"/>
          <p:cNvSpPr/>
          <p:nvPr/>
        </p:nvSpPr>
        <p:spPr>
          <a:xfrm>
            <a:off x="2730500" y="4690953"/>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6" name="Shape 121"/>
          <p:cNvSpPr/>
          <p:nvPr/>
        </p:nvSpPr>
        <p:spPr>
          <a:xfrm>
            <a:off x="2730501" y="4431441"/>
            <a:ext cx="921191" cy="221368"/>
          </a:xfrm>
          <a:prstGeom prst="rect">
            <a:avLst/>
          </a:prstGeom>
          <a:solidFill>
            <a:srgbClr val="28D2C3"/>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7" name="Text 122"/>
          <p:cNvSpPr/>
          <p:nvPr/>
        </p:nvSpPr>
        <p:spPr>
          <a:xfrm>
            <a:off x="2806700" y="4450491"/>
            <a:ext cx="86091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128" name="Shape 123"/>
          <p:cNvSpPr/>
          <p:nvPr/>
        </p:nvSpPr>
        <p:spPr>
          <a:xfrm>
            <a:off x="3937000" y="4690953"/>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9" name="Text 124"/>
          <p:cNvSpPr/>
          <p:nvPr/>
        </p:nvSpPr>
        <p:spPr>
          <a:xfrm>
            <a:off x="3937000" y="4450446"/>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130" name="Shape 125"/>
          <p:cNvSpPr/>
          <p:nvPr/>
        </p:nvSpPr>
        <p:spPr>
          <a:xfrm>
            <a:off x="5588001" y="4690953"/>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31" name="Text 126"/>
          <p:cNvSpPr/>
          <p:nvPr/>
        </p:nvSpPr>
        <p:spPr>
          <a:xfrm>
            <a:off x="5588001" y="4450446"/>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132" name="Shape 127"/>
          <p:cNvSpPr/>
          <p:nvPr/>
        </p:nvSpPr>
        <p:spPr>
          <a:xfrm>
            <a:off x="6858000" y="4786203"/>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33" name="Text 128"/>
          <p:cNvSpPr/>
          <p:nvPr/>
        </p:nvSpPr>
        <p:spPr>
          <a:xfrm>
            <a:off x="6858000" y="4355196"/>
            <a:ext cx="2877820" cy="399256"/>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18 meses · prod. ≥ 1,8 · challenge Senior</a:t>
            </a:r>
            <a:endParaRPr lang="en-US" sz="1200" kern="1200" dirty="0">
              <a:solidFill>
                <a:prstClr val="black"/>
              </a:solidFill>
              <a:latin typeface="Calibri" panose="020F0502020204030204"/>
              <a:ea typeface="+mn-ea"/>
              <a:cs typeface="+mn-cs"/>
            </a:endParaRPr>
          </a:p>
        </p:txBody>
      </p:sp>
      <p:sp>
        <p:nvSpPr>
          <p:cNvPr id="134" name="Shape 129"/>
          <p:cNvSpPr/>
          <p:nvPr/>
        </p:nvSpPr>
        <p:spPr>
          <a:xfrm>
            <a:off x="9652001" y="4782675"/>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35" name="Text 130"/>
          <p:cNvSpPr/>
          <p:nvPr/>
        </p:nvSpPr>
        <p:spPr>
          <a:xfrm>
            <a:off x="9652001" y="4358724"/>
            <a:ext cx="1962150" cy="392201"/>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$1,55–1,85 MM · bono $400 mil</a:t>
            </a:r>
            <a:endParaRPr lang="en-US" sz="1200" kern="1200" dirty="0">
              <a:solidFill>
                <a:prstClr val="black"/>
              </a:solidFill>
              <a:latin typeface="Calibri" panose="020F0502020204030204"/>
              <a:ea typeface="+mn-ea"/>
              <a:cs typeface="+mn-cs"/>
            </a:endParaRPr>
          </a:p>
        </p:txBody>
      </p:sp>
      <p:sp>
        <p:nvSpPr>
          <p:cNvPr id="136" name="Shape 131"/>
          <p:cNvSpPr/>
          <p:nvPr/>
        </p:nvSpPr>
        <p:spPr>
          <a:xfrm>
            <a:off x="635000" y="5186165"/>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37" name="Text 132"/>
          <p:cNvSpPr/>
          <p:nvPr/>
        </p:nvSpPr>
        <p:spPr>
          <a:xfrm>
            <a:off x="635000" y="4945658"/>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Enzo Valle</a:t>
            </a:r>
            <a:endParaRPr lang="en-US" sz="1200" kern="1200" dirty="0">
              <a:solidFill>
                <a:prstClr val="black"/>
              </a:solidFill>
              <a:latin typeface="Calibri" panose="020F0502020204030204"/>
              <a:ea typeface="+mn-ea"/>
              <a:cs typeface="+mn-cs"/>
            </a:endParaRPr>
          </a:p>
        </p:txBody>
      </p:sp>
      <p:sp>
        <p:nvSpPr>
          <p:cNvPr id="138" name="Shape 133"/>
          <p:cNvSpPr/>
          <p:nvPr/>
        </p:nvSpPr>
        <p:spPr>
          <a:xfrm>
            <a:off x="2730500" y="5186165"/>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39" name="Shape 134"/>
          <p:cNvSpPr/>
          <p:nvPr/>
        </p:nvSpPr>
        <p:spPr>
          <a:xfrm>
            <a:off x="2730501" y="4926652"/>
            <a:ext cx="921191" cy="221368"/>
          </a:xfrm>
          <a:prstGeom prst="rect">
            <a:avLst/>
          </a:prstGeom>
          <a:solidFill>
            <a:srgbClr val="28D2C3"/>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0" name="Text 135"/>
          <p:cNvSpPr/>
          <p:nvPr/>
        </p:nvSpPr>
        <p:spPr>
          <a:xfrm>
            <a:off x="2806700" y="4945702"/>
            <a:ext cx="86091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0F3D39"/>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141" name="Shape 136"/>
          <p:cNvSpPr/>
          <p:nvPr/>
        </p:nvSpPr>
        <p:spPr>
          <a:xfrm>
            <a:off x="3937000" y="5186165"/>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2" name="Text 137"/>
          <p:cNvSpPr/>
          <p:nvPr/>
        </p:nvSpPr>
        <p:spPr>
          <a:xfrm>
            <a:off x="3937000" y="4945658"/>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Cristian Rohr</a:t>
            </a:r>
            <a:endParaRPr lang="en-US" sz="1200" kern="1200" dirty="0">
              <a:solidFill>
                <a:prstClr val="black"/>
              </a:solidFill>
              <a:latin typeface="Calibri" panose="020F0502020204030204"/>
              <a:ea typeface="+mn-ea"/>
              <a:cs typeface="+mn-cs"/>
            </a:endParaRPr>
          </a:p>
        </p:txBody>
      </p:sp>
      <p:sp>
        <p:nvSpPr>
          <p:cNvPr id="143" name="Shape 138"/>
          <p:cNvSpPr/>
          <p:nvPr/>
        </p:nvSpPr>
        <p:spPr>
          <a:xfrm>
            <a:off x="5588001" y="5186165"/>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4" name="Text 139"/>
          <p:cNvSpPr/>
          <p:nvPr/>
        </p:nvSpPr>
        <p:spPr>
          <a:xfrm>
            <a:off x="5588001" y="4945658"/>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145" name="Shape 140"/>
          <p:cNvSpPr/>
          <p:nvPr/>
        </p:nvSpPr>
        <p:spPr>
          <a:xfrm>
            <a:off x="6858000" y="5281415"/>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6" name="Text 141"/>
          <p:cNvSpPr/>
          <p:nvPr/>
        </p:nvSpPr>
        <p:spPr>
          <a:xfrm>
            <a:off x="6858000" y="4850408"/>
            <a:ext cx="2877820" cy="3992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18 meses · prod. ≥ 1,8 · challenge Senior</a:t>
            </a:r>
            <a:endParaRPr lang="en-US" sz="1200" kern="1200" dirty="0">
              <a:solidFill>
                <a:prstClr val="black"/>
              </a:solidFill>
              <a:latin typeface="Calibri" panose="020F0502020204030204"/>
              <a:ea typeface="+mn-ea"/>
              <a:cs typeface="+mn-cs"/>
            </a:endParaRPr>
          </a:p>
        </p:txBody>
      </p:sp>
      <p:sp>
        <p:nvSpPr>
          <p:cNvPr id="147" name="Shape 142"/>
          <p:cNvSpPr/>
          <p:nvPr/>
        </p:nvSpPr>
        <p:spPr>
          <a:xfrm>
            <a:off x="9652001" y="5277887"/>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8" name="Text 143"/>
          <p:cNvSpPr/>
          <p:nvPr/>
        </p:nvSpPr>
        <p:spPr>
          <a:xfrm>
            <a:off x="9652001" y="4853936"/>
            <a:ext cx="1962150" cy="392201"/>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$1,55–1,85 MM · bono $400 mil</a:t>
            </a:r>
            <a:endParaRPr lang="en-US" sz="1200" kern="1200" dirty="0">
              <a:solidFill>
                <a:prstClr val="black"/>
              </a:solidFill>
              <a:latin typeface="Calibri" panose="020F0502020204030204"/>
              <a:ea typeface="+mn-ea"/>
              <a:cs typeface="+mn-cs"/>
            </a:endParaRPr>
          </a:p>
        </p:txBody>
      </p:sp>
      <p:sp>
        <p:nvSpPr>
          <p:cNvPr id="149" name="Shape 144"/>
          <p:cNvSpPr/>
          <p:nvPr/>
        </p:nvSpPr>
        <p:spPr>
          <a:xfrm>
            <a:off x="635000" y="5586127"/>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50" name="Text 145"/>
          <p:cNvSpPr/>
          <p:nvPr/>
        </p:nvSpPr>
        <p:spPr>
          <a:xfrm>
            <a:off x="635000" y="5345620"/>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Ricardo Leiva</a:t>
            </a:r>
            <a:endParaRPr lang="en-US" sz="1200" kern="1200" dirty="0">
              <a:solidFill>
                <a:prstClr val="black"/>
              </a:solidFill>
              <a:latin typeface="Calibri" panose="020F0502020204030204"/>
              <a:ea typeface="+mn-ea"/>
              <a:cs typeface="+mn-cs"/>
            </a:endParaRPr>
          </a:p>
        </p:txBody>
      </p:sp>
      <p:sp>
        <p:nvSpPr>
          <p:cNvPr id="151" name="Shape 146"/>
          <p:cNvSpPr/>
          <p:nvPr/>
        </p:nvSpPr>
        <p:spPr>
          <a:xfrm>
            <a:off x="2730500" y="5586127"/>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52" name="Shape 147"/>
          <p:cNvSpPr/>
          <p:nvPr/>
        </p:nvSpPr>
        <p:spPr>
          <a:xfrm>
            <a:off x="2730501" y="5326614"/>
            <a:ext cx="601927" cy="221368"/>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53" name="Text 148"/>
          <p:cNvSpPr/>
          <p:nvPr/>
        </p:nvSpPr>
        <p:spPr>
          <a:xfrm>
            <a:off x="2806700" y="5345664"/>
            <a:ext cx="50972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154" name="Shape 149"/>
          <p:cNvSpPr/>
          <p:nvPr/>
        </p:nvSpPr>
        <p:spPr>
          <a:xfrm>
            <a:off x="3937000" y="5586127"/>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55" name="Text 150"/>
          <p:cNvSpPr/>
          <p:nvPr/>
        </p:nvSpPr>
        <p:spPr>
          <a:xfrm>
            <a:off x="3937000" y="5345620"/>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Cristian Rohr</a:t>
            </a:r>
            <a:endParaRPr lang="en-US" sz="1200" kern="1200" dirty="0">
              <a:solidFill>
                <a:prstClr val="black"/>
              </a:solidFill>
              <a:latin typeface="Calibri" panose="020F0502020204030204"/>
              <a:ea typeface="+mn-ea"/>
              <a:cs typeface="+mn-cs"/>
            </a:endParaRPr>
          </a:p>
        </p:txBody>
      </p:sp>
      <p:sp>
        <p:nvSpPr>
          <p:cNvPr id="156" name="Shape 151"/>
          <p:cNvSpPr/>
          <p:nvPr/>
        </p:nvSpPr>
        <p:spPr>
          <a:xfrm>
            <a:off x="5588001" y="5586127"/>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57" name="Text 152"/>
          <p:cNvSpPr/>
          <p:nvPr/>
        </p:nvSpPr>
        <p:spPr>
          <a:xfrm>
            <a:off x="5588001" y="5345620"/>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Nivel máximo</a:t>
            </a:r>
            <a:endParaRPr lang="en-US" sz="1200" kern="1200" dirty="0">
              <a:solidFill>
                <a:prstClr val="black"/>
              </a:solidFill>
              <a:latin typeface="Calibri" panose="020F0502020204030204"/>
              <a:ea typeface="+mn-ea"/>
              <a:cs typeface="+mn-cs"/>
            </a:endParaRPr>
          </a:p>
        </p:txBody>
      </p:sp>
      <p:sp>
        <p:nvSpPr>
          <p:cNvPr id="158" name="Shape 153"/>
          <p:cNvSpPr/>
          <p:nvPr/>
        </p:nvSpPr>
        <p:spPr>
          <a:xfrm>
            <a:off x="6858000" y="5586127"/>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59" name="Text 154"/>
          <p:cNvSpPr/>
          <p:nvPr/>
        </p:nvSpPr>
        <p:spPr>
          <a:xfrm>
            <a:off x="6858000" y="5345620"/>
            <a:ext cx="287782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Mantener estándares Senior</a:t>
            </a:r>
            <a:endParaRPr lang="en-US" sz="1200" kern="1200" dirty="0">
              <a:solidFill>
                <a:prstClr val="black"/>
              </a:solidFill>
              <a:latin typeface="Calibri" panose="020F0502020204030204"/>
              <a:ea typeface="+mn-ea"/>
              <a:cs typeface="+mn-cs"/>
            </a:endParaRPr>
          </a:p>
        </p:txBody>
      </p:sp>
      <p:sp>
        <p:nvSpPr>
          <p:cNvPr id="160" name="Shape 155"/>
          <p:cNvSpPr/>
          <p:nvPr/>
        </p:nvSpPr>
        <p:spPr>
          <a:xfrm>
            <a:off x="9652001" y="5586127"/>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61" name="Text 156"/>
          <p:cNvSpPr/>
          <p:nvPr/>
        </p:nvSpPr>
        <p:spPr>
          <a:xfrm>
            <a:off x="9652001" y="5345620"/>
            <a:ext cx="196215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a:t>
            </a:r>
            <a:endParaRPr lang="en-US" sz="1200" kern="1200" dirty="0">
              <a:solidFill>
                <a:prstClr val="black"/>
              </a:solidFill>
              <a:latin typeface="Calibri" panose="020F0502020204030204"/>
              <a:ea typeface="+mn-ea"/>
              <a:cs typeface="+mn-cs"/>
            </a:endParaRPr>
          </a:p>
        </p:txBody>
      </p:sp>
      <p:sp>
        <p:nvSpPr>
          <p:cNvPr id="162" name="Text 157"/>
          <p:cNvSpPr/>
          <p:nvPr/>
        </p:nvSpPr>
        <p:spPr>
          <a:xfrm>
            <a:off x="635000" y="5650332"/>
            <a:ext cx="2158365" cy="208756"/>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Juan Pino</a:t>
            </a:r>
            <a:endParaRPr lang="en-US" sz="1200" kern="1200" dirty="0">
              <a:solidFill>
                <a:prstClr val="black"/>
              </a:solidFill>
              <a:latin typeface="Calibri" panose="020F0502020204030204"/>
              <a:ea typeface="+mn-ea"/>
              <a:cs typeface="+mn-cs"/>
            </a:endParaRPr>
          </a:p>
        </p:txBody>
      </p:sp>
      <p:sp>
        <p:nvSpPr>
          <p:cNvPr id="163" name="Shape 158"/>
          <p:cNvSpPr/>
          <p:nvPr/>
        </p:nvSpPr>
        <p:spPr>
          <a:xfrm>
            <a:off x="2730501" y="5631325"/>
            <a:ext cx="601927" cy="221368"/>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64" name="Text 159"/>
          <p:cNvSpPr/>
          <p:nvPr/>
        </p:nvSpPr>
        <p:spPr>
          <a:xfrm>
            <a:off x="2806700" y="5650375"/>
            <a:ext cx="50972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165" name="Text 160"/>
          <p:cNvSpPr/>
          <p:nvPr/>
        </p:nvSpPr>
        <p:spPr>
          <a:xfrm>
            <a:off x="3937000" y="5650332"/>
            <a:ext cx="1701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166" name="Text 161"/>
          <p:cNvSpPr/>
          <p:nvPr/>
        </p:nvSpPr>
        <p:spPr>
          <a:xfrm>
            <a:off x="5588001" y="5650332"/>
            <a:ext cx="132080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Nivel máximo</a:t>
            </a:r>
            <a:endParaRPr lang="en-US" sz="1200" kern="1200" dirty="0">
              <a:solidFill>
                <a:prstClr val="black"/>
              </a:solidFill>
              <a:latin typeface="Calibri" panose="020F0502020204030204"/>
              <a:ea typeface="+mn-ea"/>
              <a:cs typeface="+mn-cs"/>
            </a:endParaRPr>
          </a:p>
        </p:txBody>
      </p:sp>
      <p:sp>
        <p:nvSpPr>
          <p:cNvPr id="167" name="Text 162"/>
          <p:cNvSpPr/>
          <p:nvPr/>
        </p:nvSpPr>
        <p:spPr>
          <a:xfrm>
            <a:off x="6858000" y="5650332"/>
            <a:ext cx="287782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Mantener estándares Senior</a:t>
            </a:r>
            <a:endParaRPr lang="en-US" sz="1200" kern="1200" dirty="0">
              <a:solidFill>
                <a:prstClr val="black"/>
              </a:solidFill>
              <a:latin typeface="Calibri" panose="020F0502020204030204"/>
              <a:ea typeface="+mn-ea"/>
              <a:cs typeface="+mn-cs"/>
            </a:endParaRPr>
          </a:p>
        </p:txBody>
      </p:sp>
      <p:sp>
        <p:nvSpPr>
          <p:cNvPr id="168" name="Text 163"/>
          <p:cNvSpPr/>
          <p:nvPr/>
        </p:nvSpPr>
        <p:spPr>
          <a:xfrm>
            <a:off x="9652001" y="5650332"/>
            <a:ext cx="1962150" cy="208756"/>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a:t>
            </a:r>
            <a:endParaRPr lang="en-US" sz="1200" kern="1200" dirty="0">
              <a:solidFill>
                <a:prstClr val="black"/>
              </a:solidFill>
              <a:latin typeface="Calibri" panose="020F0502020204030204"/>
              <a:ea typeface="+mn-ea"/>
              <a:cs typeface="+mn-cs"/>
            </a:endParaRPr>
          </a:p>
        </p:txBody>
      </p:sp>
      <p:sp>
        <p:nvSpPr>
          <p:cNvPr id="169" name="Text 164"/>
          <p:cNvSpPr/>
          <p:nvPr/>
        </p:nvSpPr>
        <p:spPr>
          <a:xfrm>
            <a:off x="635000" y="6005050"/>
            <a:ext cx="12014201"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Challenge y requisitos comunes según lámina 1. El avance individual (meses cumplidos, productividad, evaluaciones) se completa con los datos de cada técnico.</a:t>
            </a:r>
            <a:endParaRPr lang="en-US" sz="1200" kern="1200" dirty="0">
              <a:solidFill>
                <a:prstClr val="black"/>
              </a:solidFill>
              <a:latin typeface="Calibri" panose="020F0502020204030204"/>
              <a:ea typeface="+mn-ea"/>
              <a:cs typeface="+mn-cs"/>
            </a:endParaRPr>
          </a:p>
        </p:txBody>
      </p:sp>
      <p:pic>
        <p:nvPicPr>
          <p:cNvPr id="170" name="Image 3" descr="preencoded.png"/>
          <p:cNvPicPr>
            <a:picLocks noChangeAspect="1"/>
          </p:cNvPicPr>
          <p:nvPr/>
        </p:nvPicPr>
        <p:blipFill>
          <a:blip r:embed="rId6"/>
          <a:stretch>
            <a:fillRect/>
          </a:stretch>
        </p:blipFill>
        <p:spPr>
          <a:xfrm>
            <a:off x="279356" y="6477111"/>
            <a:ext cx="884590" cy="165034"/>
          </a:xfrm>
          <a:prstGeom prst="rect">
            <a:avLst/>
          </a:prstGeom>
        </p:spPr>
      </p:pic>
      <p:pic>
        <p:nvPicPr>
          <p:cNvPr id="171" name="Image 4" descr="preencoded.png"/>
          <p:cNvPicPr>
            <a:picLocks noChangeAspect="1"/>
          </p:cNvPicPr>
          <p:nvPr/>
        </p:nvPicPr>
        <p:blipFill>
          <a:blip r:embed="rId7"/>
          <a:stretch>
            <a:fillRect/>
          </a:stretch>
        </p:blipFill>
        <p:spPr>
          <a:xfrm>
            <a:off x="1316302" y="6492985"/>
            <a:ext cx="789451" cy="133284"/>
          </a:xfrm>
          <a:prstGeom prst="rect">
            <a:avLst/>
          </a:prstGeom>
        </p:spPr>
      </p:pic>
      <p:pic>
        <p:nvPicPr>
          <p:cNvPr id="172" name="Image 5" descr="preencoded.png"/>
          <p:cNvPicPr>
            <a:picLocks noChangeAspect="1"/>
          </p:cNvPicPr>
          <p:nvPr/>
        </p:nvPicPr>
        <p:blipFill>
          <a:blip r:embed="rId8"/>
          <a:stretch>
            <a:fillRect/>
          </a:stretch>
        </p:blipFill>
        <p:spPr>
          <a:xfrm>
            <a:off x="2258109" y="6496073"/>
            <a:ext cx="549121" cy="127000"/>
          </a:xfrm>
          <a:prstGeom prst="rect">
            <a:avLst/>
          </a:prstGeom>
        </p:spPr>
      </p:pic>
      <p:sp>
        <p:nvSpPr>
          <p:cNvPr id="173" name="Text 165"/>
          <p:cNvSpPr/>
          <p:nvPr/>
        </p:nvSpPr>
        <p:spPr>
          <a:xfrm>
            <a:off x="11776605" y="6484056"/>
            <a:ext cx="136018"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2</a:t>
            </a:r>
            <a:endParaRPr lang="en-US" sz="1200" kern="1200" dirty="0">
              <a:solidFill>
                <a:prstClr val="black"/>
              </a:solidFill>
              <a:latin typeface="Calibri" panose="020F0502020204030204"/>
              <a:ea typeface="+mn-ea"/>
              <a:cs typeface="+mn-cs"/>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30179" y="177712"/>
            <a:ext cx="9993907" cy="469900"/>
          </a:xfrm>
          <a:prstGeom prst="rect">
            <a:avLst/>
          </a:prstGeom>
          <a:noFill/>
          <a:ln/>
        </p:spPr>
        <p:txBody>
          <a:bodyPr wrap="square" lIns="16933" tIns="16933" rIns="16933" bIns="16933" rtlCol="0" anchor="ctr">
            <a:normAutofit/>
          </a:bodyPr>
          <a:lstStyle/>
          <a:p>
            <a:pPr defTabSz="609630">
              <a:buClrTx/>
            </a:pPr>
            <a:r>
              <a:rPr lang="en-US" sz="1800" b="1" kern="1200" dirty="0">
                <a:solidFill>
                  <a:srgbClr val="373C46"/>
                </a:solidFill>
                <a:latin typeface="Figtree" pitchFamily="34" charset="0"/>
                <a:ea typeface="Figtree" pitchFamily="34" charset="-122"/>
                <a:cs typeface="Figtree" pitchFamily="34" charset="-120"/>
              </a:rPr>
              <a:t>Status de cada ingeniero de servicio en el plan de carrera</a:t>
            </a:r>
            <a:endParaRPr lang="en-US" sz="1800" kern="1200" dirty="0">
              <a:solidFill>
                <a:prstClr val="black"/>
              </a:solidFill>
              <a:latin typeface="Calibri" panose="020F0502020204030204"/>
              <a:ea typeface="+mn-ea"/>
              <a:cs typeface="+mn-cs"/>
            </a:endParaRPr>
          </a:p>
        </p:txBody>
      </p:sp>
      <p:pic>
        <p:nvPicPr>
          <p:cNvPr id="3" name="Image 0" descr="preencoded.png"/>
          <p:cNvPicPr>
            <a:picLocks noChangeAspect="1"/>
          </p:cNvPicPr>
          <p:nvPr/>
        </p:nvPicPr>
        <p:blipFill>
          <a:blip r:embed="rId3"/>
          <a:stretch>
            <a:fillRect/>
          </a:stretch>
        </p:blipFill>
        <p:spPr>
          <a:xfrm>
            <a:off x="10622030" y="139678"/>
            <a:ext cx="377031" cy="381000"/>
          </a:xfrm>
          <a:prstGeom prst="rect">
            <a:avLst/>
          </a:prstGeom>
        </p:spPr>
      </p:pic>
      <p:pic>
        <p:nvPicPr>
          <p:cNvPr id="4" name="Image 1" descr="preencoded.png"/>
          <p:cNvPicPr>
            <a:picLocks noChangeAspect="1"/>
          </p:cNvPicPr>
          <p:nvPr/>
        </p:nvPicPr>
        <p:blipFill>
          <a:blip r:embed="rId4"/>
          <a:stretch>
            <a:fillRect/>
          </a:stretch>
        </p:blipFill>
        <p:spPr>
          <a:xfrm>
            <a:off x="11100595" y="139678"/>
            <a:ext cx="381000" cy="381000"/>
          </a:xfrm>
          <a:prstGeom prst="rect">
            <a:avLst/>
          </a:prstGeom>
        </p:spPr>
      </p:pic>
      <p:pic>
        <p:nvPicPr>
          <p:cNvPr id="5" name="Image 2" descr="preencoded.png"/>
          <p:cNvPicPr>
            <a:picLocks noChangeAspect="1"/>
          </p:cNvPicPr>
          <p:nvPr/>
        </p:nvPicPr>
        <p:blipFill>
          <a:blip r:embed="rId5"/>
          <a:stretch>
            <a:fillRect/>
          </a:stretch>
        </p:blipFill>
        <p:spPr>
          <a:xfrm>
            <a:off x="11583128" y="139678"/>
            <a:ext cx="354873" cy="381000"/>
          </a:xfrm>
          <a:prstGeom prst="rect">
            <a:avLst/>
          </a:prstGeom>
        </p:spPr>
      </p:pic>
      <p:sp>
        <p:nvSpPr>
          <p:cNvPr id="6" name="Shape 1"/>
          <p:cNvSpPr/>
          <p:nvPr/>
        </p:nvSpPr>
        <p:spPr>
          <a:xfrm>
            <a:off x="0" y="717462"/>
            <a:ext cx="12192001" cy="57106"/>
          </a:xfrm>
          <a:prstGeom prst="rect">
            <a:avLst/>
          </a:prstGeom>
          <a:solidFill>
            <a:srgbClr val="28D2C3"/>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 name="Shape 2"/>
          <p:cNvSpPr/>
          <p:nvPr/>
        </p:nvSpPr>
        <p:spPr>
          <a:xfrm>
            <a:off x="635000" y="1232408"/>
            <a:ext cx="20955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 name="Text 3"/>
          <p:cNvSpPr/>
          <p:nvPr/>
        </p:nvSpPr>
        <p:spPr>
          <a:xfrm>
            <a:off x="635000" y="972785"/>
            <a:ext cx="2158365"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Ingeniero</a:t>
            </a:r>
            <a:endParaRPr lang="en-US" sz="1200" kern="1200" dirty="0">
              <a:solidFill>
                <a:prstClr val="black"/>
              </a:solidFill>
              <a:latin typeface="Calibri" panose="020F0502020204030204"/>
              <a:ea typeface="+mn-ea"/>
              <a:cs typeface="+mn-cs"/>
            </a:endParaRPr>
          </a:p>
        </p:txBody>
      </p:sp>
      <p:sp>
        <p:nvSpPr>
          <p:cNvPr id="9" name="Shape 4"/>
          <p:cNvSpPr/>
          <p:nvPr/>
        </p:nvSpPr>
        <p:spPr>
          <a:xfrm>
            <a:off x="2730500" y="1232408"/>
            <a:ext cx="12065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 name="Text 5"/>
          <p:cNvSpPr/>
          <p:nvPr/>
        </p:nvSpPr>
        <p:spPr>
          <a:xfrm>
            <a:off x="2730500" y="972785"/>
            <a:ext cx="125730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Nivel actual</a:t>
            </a:r>
            <a:endParaRPr lang="en-US" sz="1200" kern="1200" dirty="0">
              <a:solidFill>
                <a:prstClr val="black"/>
              </a:solidFill>
              <a:latin typeface="Calibri" panose="020F0502020204030204"/>
              <a:ea typeface="+mn-ea"/>
              <a:cs typeface="+mn-cs"/>
            </a:endParaRPr>
          </a:p>
        </p:txBody>
      </p:sp>
      <p:sp>
        <p:nvSpPr>
          <p:cNvPr id="11" name="Shape 6"/>
          <p:cNvSpPr/>
          <p:nvPr/>
        </p:nvSpPr>
        <p:spPr>
          <a:xfrm>
            <a:off x="3937000" y="1232408"/>
            <a:ext cx="1651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2" name="Text 7"/>
          <p:cNvSpPr/>
          <p:nvPr/>
        </p:nvSpPr>
        <p:spPr>
          <a:xfrm>
            <a:off x="3937000" y="972785"/>
            <a:ext cx="170180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Supervisor</a:t>
            </a:r>
            <a:endParaRPr lang="en-US" sz="1200" kern="1200" dirty="0">
              <a:solidFill>
                <a:prstClr val="black"/>
              </a:solidFill>
              <a:latin typeface="Calibri" panose="020F0502020204030204"/>
              <a:ea typeface="+mn-ea"/>
              <a:cs typeface="+mn-cs"/>
            </a:endParaRPr>
          </a:p>
        </p:txBody>
      </p:sp>
      <p:sp>
        <p:nvSpPr>
          <p:cNvPr id="13" name="Shape 8"/>
          <p:cNvSpPr/>
          <p:nvPr/>
        </p:nvSpPr>
        <p:spPr>
          <a:xfrm>
            <a:off x="5588001" y="1232408"/>
            <a:ext cx="1270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4" name="Text 9"/>
          <p:cNvSpPr/>
          <p:nvPr/>
        </p:nvSpPr>
        <p:spPr>
          <a:xfrm>
            <a:off x="5588001" y="972785"/>
            <a:ext cx="132080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Próximo nivel</a:t>
            </a:r>
            <a:endParaRPr lang="en-US" sz="1200" kern="1200" dirty="0">
              <a:solidFill>
                <a:prstClr val="black"/>
              </a:solidFill>
              <a:latin typeface="Calibri" panose="020F0502020204030204"/>
              <a:ea typeface="+mn-ea"/>
              <a:cs typeface="+mn-cs"/>
            </a:endParaRPr>
          </a:p>
        </p:txBody>
      </p:sp>
      <p:sp>
        <p:nvSpPr>
          <p:cNvPr id="15" name="Shape 10"/>
          <p:cNvSpPr/>
          <p:nvPr/>
        </p:nvSpPr>
        <p:spPr>
          <a:xfrm>
            <a:off x="6858000" y="1232408"/>
            <a:ext cx="2794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6" name="Text 11"/>
          <p:cNvSpPr/>
          <p:nvPr/>
        </p:nvSpPr>
        <p:spPr>
          <a:xfrm>
            <a:off x="6858000" y="972785"/>
            <a:ext cx="287782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Para subir necesita</a:t>
            </a:r>
            <a:endParaRPr lang="en-US" sz="1200" kern="1200" dirty="0">
              <a:solidFill>
                <a:prstClr val="black"/>
              </a:solidFill>
              <a:latin typeface="Calibri" panose="020F0502020204030204"/>
              <a:ea typeface="+mn-ea"/>
              <a:cs typeface="+mn-cs"/>
            </a:endParaRPr>
          </a:p>
        </p:txBody>
      </p:sp>
      <p:sp>
        <p:nvSpPr>
          <p:cNvPr id="17" name="Shape 12"/>
          <p:cNvSpPr/>
          <p:nvPr/>
        </p:nvSpPr>
        <p:spPr>
          <a:xfrm>
            <a:off x="9652001" y="1232408"/>
            <a:ext cx="1905000" cy="7055"/>
          </a:xfrm>
          <a:prstGeom prst="rect">
            <a:avLst/>
          </a:prstGeom>
          <a:solidFill>
            <a:srgbClr val="373C4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8" name="Text 13"/>
          <p:cNvSpPr/>
          <p:nvPr/>
        </p:nvSpPr>
        <p:spPr>
          <a:xfrm>
            <a:off x="9652001" y="972785"/>
            <a:ext cx="1962150" cy="208823"/>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6B707C"/>
                </a:solidFill>
                <a:latin typeface="Figtree" pitchFamily="34" charset="0"/>
                <a:ea typeface="Figtree" pitchFamily="34" charset="-122"/>
                <a:cs typeface="Figtree" pitchFamily="34" charset="-120"/>
              </a:rPr>
              <a:t>Al subir</a:t>
            </a:r>
            <a:endParaRPr lang="en-US" sz="1200" kern="1200" dirty="0">
              <a:solidFill>
                <a:prstClr val="black"/>
              </a:solidFill>
              <a:latin typeface="Calibri" panose="020F0502020204030204"/>
              <a:ea typeface="+mn-ea"/>
              <a:cs typeface="+mn-cs"/>
            </a:endParaRPr>
          </a:p>
        </p:txBody>
      </p:sp>
      <p:sp>
        <p:nvSpPr>
          <p:cNvPr id="19" name="Shape 14"/>
          <p:cNvSpPr/>
          <p:nvPr/>
        </p:nvSpPr>
        <p:spPr>
          <a:xfrm>
            <a:off x="635000" y="1721225"/>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0" name="Text 15"/>
          <p:cNvSpPr/>
          <p:nvPr/>
        </p:nvSpPr>
        <p:spPr>
          <a:xfrm>
            <a:off x="635000" y="1436313"/>
            <a:ext cx="2158365"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Ignacio Miranda</a:t>
            </a:r>
            <a:endParaRPr lang="en-US" sz="1200" kern="1200" dirty="0">
              <a:solidFill>
                <a:prstClr val="black"/>
              </a:solidFill>
              <a:latin typeface="Calibri" panose="020F0502020204030204"/>
              <a:ea typeface="+mn-ea"/>
              <a:cs typeface="+mn-cs"/>
            </a:endParaRPr>
          </a:p>
        </p:txBody>
      </p:sp>
      <p:sp>
        <p:nvSpPr>
          <p:cNvPr id="21" name="Shape 16"/>
          <p:cNvSpPr/>
          <p:nvPr/>
        </p:nvSpPr>
        <p:spPr>
          <a:xfrm>
            <a:off x="2730500" y="1721225"/>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2" name="Shape 17"/>
          <p:cNvSpPr/>
          <p:nvPr/>
        </p:nvSpPr>
        <p:spPr>
          <a:xfrm>
            <a:off x="2730500" y="1417285"/>
            <a:ext cx="669727" cy="221368"/>
          </a:xfrm>
          <a:prstGeom prst="rect">
            <a:avLst/>
          </a:prstGeom>
          <a:solidFill>
            <a:srgbClr val="C9CBFB"/>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3" name="Text 18"/>
          <p:cNvSpPr/>
          <p:nvPr/>
        </p:nvSpPr>
        <p:spPr>
          <a:xfrm>
            <a:off x="2806701" y="1436335"/>
            <a:ext cx="584299"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1E2190"/>
                </a:solidFill>
                <a:latin typeface="Figtree" pitchFamily="34" charset="0"/>
                <a:ea typeface="Figtree" pitchFamily="34" charset="-122"/>
                <a:cs typeface="Figtree" pitchFamily="34" charset="-120"/>
              </a:rPr>
              <a:t>Trainee</a:t>
            </a:r>
            <a:endParaRPr lang="en-US" sz="1200" kern="1200" dirty="0">
              <a:solidFill>
                <a:prstClr val="black"/>
              </a:solidFill>
              <a:latin typeface="Calibri" panose="020F0502020204030204"/>
              <a:ea typeface="+mn-ea"/>
              <a:cs typeface="+mn-cs"/>
            </a:endParaRPr>
          </a:p>
        </p:txBody>
      </p:sp>
      <p:sp>
        <p:nvSpPr>
          <p:cNvPr id="24" name="Shape 19"/>
          <p:cNvSpPr/>
          <p:nvPr/>
        </p:nvSpPr>
        <p:spPr>
          <a:xfrm>
            <a:off x="3937000" y="1721225"/>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5" name="Text 20"/>
          <p:cNvSpPr/>
          <p:nvPr/>
        </p:nvSpPr>
        <p:spPr>
          <a:xfrm>
            <a:off x="3937000" y="1436313"/>
            <a:ext cx="1701800" cy="2087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26" name="Shape 21"/>
          <p:cNvSpPr/>
          <p:nvPr/>
        </p:nvSpPr>
        <p:spPr>
          <a:xfrm>
            <a:off x="5588001" y="1721225"/>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7" name="Text 22"/>
          <p:cNvSpPr/>
          <p:nvPr/>
        </p:nvSpPr>
        <p:spPr>
          <a:xfrm>
            <a:off x="5588001" y="1436313"/>
            <a:ext cx="1320800"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28" name="Shape 23"/>
          <p:cNvSpPr/>
          <p:nvPr/>
        </p:nvSpPr>
        <p:spPr>
          <a:xfrm>
            <a:off x="6858000" y="1816475"/>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29" name="Text 24"/>
          <p:cNvSpPr/>
          <p:nvPr/>
        </p:nvSpPr>
        <p:spPr>
          <a:xfrm>
            <a:off x="6858000" y="1341063"/>
            <a:ext cx="2877820" cy="3992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Indefinido · ≥ 8 meses · prod. ≥ 1,4 · challenge Junior</a:t>
            </a:r>
            <a:endParaRPr lang="en-US" sz="1200" kern="1200" dirty="0">
              <a:solidFill>
                <a:prstClr val="black"/>
              </a:solidFill>
              <a:latin typeface="Calibri" panose="020F0502020204030204"/>
              <a:ea typeface="+mn-ea"/>
              <a:cs typeface="+mn-cs"/>
            </a:endParaRPr>
          </a:p>
        </p:txBody>
      </p:sp>
      <p:sp>
        <p:nvSpPr>
          <p:cNvPr id="30" name="Shape 25"/>
          <p:cNvSpPr/>
          <p:nvPr/>
        </p:nvSpPr>
        <p:spPr>
          <a:xfrm>
            <a:off x="9652001" y="1812948"/>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1" name="Text 26"/>
          <p:cNvSpPr/>
          <p:nvPr/>
        </p:nvSpPr>
        <p:spPr>
          <a:xfrm>
            <a:off x="9652001" y="1344591"/>
            <a:ext cx="1962150" cy="392157"/>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$1,35–1,5 MM · bono $400 mil</a:t>
            </a:r>
            <a:endParaRPr lang="en-US" sz="1200" kern="1200" dirty="0">
              <a:solidFill>
                <a:prstClr val="black"/>
              </a:solidFill>
              <a:latin typeface="Calibri" panose="020F0502020204030204"/>
              <a:ea typeface="+mn-ea"/>
              <a:cs typeface="+mn-cs"/>
            </a:endParaRPr>
          </a:p>
        </p:txBody>
      </p:sp>
      <p:sp>
        <p:nvSpPr>
          <p:cNvPr id="32" name="Shape 27"/>
          <p:cNvSpPr/>
          <p:nvPr/>
        </p:nvSpPr>
        <p:spPr>
          <a:xfrm>
            <a:off x="635000" y="2305293"/>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3" name="Text 28"/>
          <p:cNvSpPr/>
          <p:nvPr/>
        </p:nvSpPr>
        <p:spPr>
          <a:xfrm>
            <a:off x="635000" y="2020381"/>
            <a:ext cx="2158365"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Ignacio Muñoz</a:t>
            </a:r>
            <a:endParaRPr lang="en-US" sz="1200" kern="1200" dirty="0">
              <a:solidFill>
                <a:prstClr val="black"/>
              </a:solidFill>
              <a:latin typeface="Calibri" panose="020F0502020204030204"/>
              <a:ea typeface="+mn-ea"/>
              <a:cs typeface="+mn-cs"/>
            </a:endParaRPr>
          </a:p>
        </p:txBody>
      </p:sp>
      <p:sp>
        <p:nvSpPr>
          <p:cNvPr id="34" name="Shape 29"/>
          <p:cNvSpPr/>
          <p:nvPr/>
        </p:nvSpPr>
        <p:spPr>
          <a:xfrm>
            <a:off x="2730500" y="2305293"/>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5" name="Shape 30"/>
          <p:cNvSpPr/>
          <p:nvPr/>
        </p:nvSpPr>
        <p:spPr>
          <a:xfrm>
            <a:off x="2730501" y="2001353"/>
            <a:ext cx="595643" cy="221368"/>
          </a:xfrm>
          <a:prstGeom prst="rect">
            <a:avLst/>
          </a:prstGeom>
          <a:solidFill>
            <a:srgbClr val="8F93F6"/>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6" name="Text 31"/>
          <p:cNvSpPr/>
          <p:nvPr/>
        </p:nvSpPr>
        <p:spPr>
          <a:xfrm>
            <a:off x="2806701" y="2020403"/>
            <a:ext cx="502807"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Junior</a:t>
            </a:r>
            <a:endParaRPr lang="en-US" sz="1200" kern="1200" dirty="0">
              <a:solidFill>
                <a:prstClr val="black"/>
              </a:solidFill>
              <a:latin typeface="Calibri" panose="020F0502020204030204"/>
              <a:ea typeface="+mn-ea"/>
              <a:cs typeface="+mn-cs"/>
            </a:endParaRPr>
          </a:p>
        </p:txBody>
      </p:sp>
      <p:sp>
        <p:nvSpPr>
          <p:cNvPr id="37" name="Shape 32"/>
          <p:cNvSpPr/>
          <p:nvPr/>
        </p:nvSpPr>
        <p:spPr>
          <a:xfrm>
            <a:off x="3937000" y="2305293"/>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38" name="Text 33"/>
          <p:cNvSpPr/>
          <p:nvPr/>
        </p:nvSpPr>
        <p:spPr>
          <a:xfrm>
            <a:off x="3937000" y="2020381"/>
            <a:ext cx="1701800" cy="2087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39" name="Shape 34"/>
          <p:cNvSpPr/>
          <p:nvPr/>
        </p:nvSpPr>
        <p:spPr>
          <a:xfrm>
            <a:off x="5588001" y="2305293"/>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0" name="Text 35"/>
          <p:cNvSpPr/>
          <p:nvPr/>
        </p:nvSpPr>
        <p:spPr>
          <a:xfrm>
            <a:off x="5588001" y="2020381"/>
            <a:ext cx="1320800"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41" name="Shape 36"/>
          <p:cNvSpPr/>
          <p:nvPr/>
        </p:nvSpPr>
        <p:spPr>
          <a:xfrm>
            <a:off x="6858000" y="2400543"/>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2" name="Text 37"/>
          <p:cNvSpPr/>
          <p:nvPr/>
        </p:nvSpPr>
        <p:spPr>
          <a:xfrm>
            <a:off x="6858000" y="1925131"/>
            <a:ext cx="2877820" cy="3992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12 meses · prod. ≥ 1,6 · challenge Intermedio</a:t>
            </a:r>
            <a:endParaRPr lang="en-US" sz="1200" kern="1200" dirty="0">
              <a:solidFill>
                <a:prstClr val="black"/>
              </a:solidFill>
              <a:latin typeface="Calibri" panose="020F0502020204030204"/>
              <a:ea typeface="+mn-ea"/>
              <a:cs typeface="+mn-cs"/>
            </a:endParaRPr>
          </a:p>
        </p:txBody>
      </p:sp>
      <p:sp>
        <p:nvSpPr>
          <p:cNvPr id="43" name="Shape 38"/>
          <p:cNvSpPr/>
          <p:nvPr/>
        </p:nvSpPr>
        <p:spPr>
          <a:xfrm>
            <a:off x="9652001" y="2397015"/>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4" name="Text 39"/>
          <p:cNvSpPr/>
          <p:nvPr/>
        </p:nvSpPr>
        <p:spPr>
          <a:xfrm>
            <a:off x="9652001" y="1928658"/>
            <a:ext cx="1962150" cy="392157"/>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$1,55–1,8 MM · bono $400 mil</a:t>
            </a:r>
            <a:endParaRPr lang="en-US" sz="1200" kern="1200" dirty="0">
              <a:solidFill>
                <a:prstClr val="black"/>
              </a:solidFill>
              <a:latin typeface="Calibri" panose="020F0502020204030204"/>
              <a:ea typeface="+mn-ea"/>
              <a:cs typeface="+mn-cs"/>
            </a:endParaRPr>
          </a:p>
        </p:txBody>
      </p:sp>
      <p:sp>
        <p:nvSpPr>
          <p:cNvPr id="45" name="Shape 40"/>
          <p:cNvSpPr/>
          <p:nvPr/>
        </p:nvSpPr>
        <p:spPr>
          <a:xfrm>
            <a:off x="635000" y="2889361"/>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6" name="Text 41"/>
          <p:cNvSpPr/>
          <p:nvPr/>
        </p:nvSpPr>
        <p:spPr>
          <a:xfrm>
            <a:off x="635000" y="2604448"/>
            <a:ext cx="2158365"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Paulo Esteves</a:t>
            </a:r>
            <a:endParaRPr lang="en-US" sz="1200" kern="1200" dirty="0">
              <a:solidFill>
                <a:prstClr val="black"/>
              </a:solidFill>
              <a:latin typeface="Calibri" panose="020F0502020204030204"/>
              <a:ea typeface="+mn-ea"/>
              <a:cs typeface="+mn-cs"/>
            </a:endParaRPr>
          </a:p>
        </p:txBody>
      </p:sp>
      <p:sp>
        <p:nvSpPr>
          <p:cNvPr id="47" name="Shape 42"/>
          <p:cNvSpPr/>
          <p:nvPr/>
        </p:nvSpPr>
        <p:spPr>
          <a:xfrm>
            <a:off x="2730500" y="2889361"/>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8" name="Shape 43"/>
          <p:cNvSpPr/>
          <p:nvPr/>
        </p:nvSpPr>
        <p:spPr>
          <a:xfrm>
            <a:off x="2730501" y="2585420"/>
            <a:ext cx="921191" cy="221368"/>
          </a:xfrm>
          <a:prstGeom prst="rect">
            <a:avLst/>
          </a:prstGeom>
          <a:solidFill>
            <a:srgbClr val="282DF0"/>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49" name="Text 44"/>
          <p:cNvSpPr/>
          <p:nvPr/>
        </p:nvSpPr>
        <p:spPr>
          <a:xfrm>
            <a:off x="2806700" y="2604470"/>
            <a:ext cx="86091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50" name="Shape 45"/>
          <p:cNvSpPr/>
          <p:nvPr/>
        </p:nvSpPr>
        <p:spPr>
          <a:xfrm>
            <a:off x="3937000" y="2889361"/>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1" name="Text 46"/>
          <p:cNvSpPr/>
          <p:nvPr/>
        </p:nvSpPr>
        <p:spPr>
          <a:xfrm>
            <a:off x="3937000" y="2604448"/>
            <a:ext cx="1701800" cy="2087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52" name="Shape 47"/>
          <p:cNvSpPr/>
          <p:nvPr/>
        </p:nvSpPr>
        <p:spPr>
          <a:xfrm>
            <a:off x="5588001" y="2889361"/>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3" name="Text 48"/>
          <p:cNvSpPr/>
          <p:nvPr/>
        </p:nvSpPr>
        <p:spPr>
          <a:xfrm>
            <a:off x="5588001" y="2604448"/>
            <a:ext cx="1320800"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54" name="Shape 49"/>
          <p:cNvSpPr/>
          <p:nvPr/>
        </p:nvSpPr>
        <p:spPr>
          <a:xfrm>
            <a:off x="6858000" y="2984611"/>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5" name="Text 50"/>
          <p:cNvSpPr/>
          <p:nvPr/>
        </p:nvSpPr>
        <p:spPr>
          <a:xfrm>
            <a:off x="6858000" y="2509198"/>
            <a:ext cx="2877820" cy="399212"/>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18 meses · prod. ≥ 1,8 · challenge Senior</a:t>
            </a:r>
            <a:endParaRPr lang="en-US" sz="1200" kern="1200" dirty="0">
              <a:solidFill>
                <a:prstClr val="black"/>
              </a:solidFill>
              <a:latin typeface="Calibri" panose="020F0502020204030204"/>
              <a:ea typeface="+mn-ea"/>
              <a:cs typeface="+mn-cs"/>
            </a:endParaRPr>
          </a:p>
        </p:txBody>
      </p:sp>
      <p:sp>
        <p:nvSpPr>
          <p:cNvPr id="56" name="Shape 51"/>
          <p:cNvSpPr/>
          <p:nvPr/>
        </p:nvSpPr>
        <p:spPr>
          <a:xfrm>
            <a:off x="9652001" y="2981083"/>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7" name="Text 52"/>
          <p:cNvSpPr/>
          <p:nvPr/>
        </p:nvSpPr>
        <p:spPr>
          <a:xfrm>
            <a:off x="9652001" y="2512726"/>
            <a:ext cx="1962150" cy="392157"/>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$1,85–2,5 MM · bono $500 mil</a:t>
            </a:r>
            <a:endParaRPr lang="en-US" sz="1200" kern="1200" dirty="0">
              <a:solidFill>
                <a:prstClr val="black"/>
              </a:solidFill>
              <a:latin typeface="Calibri" panose="020F0502020204030204"/>
              <a:ea typeface="+mn-ea"/>
              <a:cs typeface="+mn-cs"/>
            </a:endParaRPr>
          </a:p>
        </p:txBody>
      </p:sp>
      <p:sp>
        <p:nvSpPr>
          <p:cNvPr id="58" name="Shape 53"/>
          <p:cNvSpPr/>
          <p:nvPr/>
        </p:nvSpPr>
        <p:spPr>
          <a:xfrm>
            <a:off x="635000" y="3473429"/>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59" name="Text 54"/>
          <p:cNvSpPr/>
          <p:nvPr/>
        </p:nvSpPr>
        <p:spPr>
          <a:xfrm>
            <a:off x="635000" y="3188516"/>
            <a:ext cx="2158365"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Maximiliano Gutierrez</a:t>
            </a:r>
            <a:endParaRPr lang="en-US" sz="1200" kern="1200" dirty="0">
              <a:solidFill>
                <a:prstClr val="black"/>
              </a:solidFill>
              <a:latin typeface="Calibri" panose="020F0502020204030204"/>
              <a:ea typeface="+mn-ea"/>
              <a:cs typeface="+mn-cs"/>
            </a:endParaRPr>
          </a:p>
        </p:txBody>
      </p:sp>
      <p:sp>
        <p:nvSpPr>
          <p:cNvPr id="60" name="Shape 55"/>
          <p:cNvSpPr/>
          <p:nvPr/>
        </p:nvSpPr>
        <p:spPr>
          <a:xfrm>
            <a:off x="2730500" y="3473429"/>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1" name="Shape 56"/>
          <p:cNvSpPr/>
          <p:nvPr/>
        </p:nvSpPr>
        <p:spPr>
          <a:xfrm>
            <a:off x="2730501" y="3169488"/>
            <a:ext cx="921191" cy="221368"/>
          </a:xfrm>
          <a:prstGeom prst="rect">
            <a:avLst/>
          </a:prstGeom>
          <a:solidFill>
            <a:srgbClr val="282DF0"/>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2" name="Text 57"/>
          <p:cNvSpPr/>
          <p:nvPr/>
        </p:nvSpPr>
        <p:spPr>
          <a:xfrm>
            <a:off x="2806700" y="3188538"/>
            <a:ext cx="86091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63" name="Shape 58"/>
          <p:cNvSpPr/>
          <p:nvPr/>
        </p:nvSpPr>
        <p:spPr>
          <a:xfrm>
            <a:off x="3937000" y="3473429"/>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4" name="Text 59"/>
          <p:cNvSpPr/>
          <p:nvPr/>
        </p:nvSpPr>
        <p:spPr>
          <a:xfrm>
            <a:off x="3937000" y="3188516"/>
            <a:ext cx="1701800" cy="2087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65" name="Shape 60"/>
          <p:cNvSpPr/>
          <p:nvPr/>
        </p:nvSpPr>
        <p:spPr>
          <a:xfrm>
            <a:off x="5588001" y="3473429"/>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6" name="Text 61"/>
          <p:cNvSpPr/>
          <p:nvPr/>
        </p:nvSpPr>
        <p:spPr>
          <a:xfrm>
            <a:off x="5588001" y="3188516"/>
            <a:ext cx="1320800"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67" name="Shape 62"/>
          <p:cNvSpPr/>
          <p:nvPr/>
        </p:nvSpPr>
        <p:spPr>
          <a:xfrm>
            <a:off x="6858000" y="3568679"/>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68" name="Text 63"/>
          <p:cNvSpPr/>
          <p:nvPr/>
        </p:nvSpPr>
        <p:spPr>
          <a:xfrm>
            <a:off x="6858000" y="3093266"/>
            <a:ext cx="2877820" cy="399212"/>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18 meses · prod. ≥ 1,8 · challenge Senior</a:t>
            </a:r>
            <a:endParaRPr lang="en-US" sz="1200" kern="1200" dirty="0">
              <a:solidFill>
                <a:prstClr val="black"/>
              </a:solidFill>
              <a:latin typeface="Calibri" panose="020F0502020204030204"/>
              <a:ea typeface="+mn-ea"/>
              <a:cs typeface="+mn-cs"/>
            </a:endParaRPr>
          </a:p>
        </p:txBody>
      </p:sp>
      <p:sp>
        <p:nvSpPr>
          <p:cNvPr id="69" name="Shape 64"/>
          <p:cNvSpPr/>
          <p:nvPr/>
        </p:nvSpPr>
        <p:spPr>
          <a:xfrm>
            <a:off x="9652001" y="3565151"/>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0" name="Text 65"/>
          <p:cNvSpPr/>
          <p:nvPr/>
        </p:nvSpPr>
        <p:spPr>
          <a:xfrm>
            <a:off x="9652001" y="3096794"/>
            <a:ext cx="1962150" cy="392157"/>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$1,85–2,5 MM · bono $500 mil</a:t>
            </a:r>
            <a:endParaRPr lang="en-US" sz="1200" kern="1200" dirty="0">
              <a:solidFill>
                <a:prstClr val="black"/>
              </a:solidFill>
              <a:latin typeface="Calibri" panose="020F0502020204030204"/>
              <a:ea typeface="+mn-ea"/>
              <a:cs typeface="+mn-cs"/>
            </a:endParaRPr>
          </a:p>
        </p:txBody>
      </p:sp>
      <p:sp>
        <p:nvSpPr>
          <p:cNvPr id="71" name="Shape 66"/>
          <p:cNvSpPr/>
          <p:nvPr/>
        </p:nvSpPr>
        <p:spPr>
          <a:xfrm>
            <a:off x="635000" y="4057497"/>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2" name="Text 67"/>
          <p:cNvSpPr/>
          <p:nvPr/>
        </p:nvSpPr>
        <p:spPr>
          <a:xfrm>
            <a:off x="635000" y="3772584"/>
            <a:ext cx="2158365"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Mario Montenegro</a:t>
            </a:r>
            <a:endParaRPr lang="en-US" sz="1200" kern="1200" dirty="0">
              <a:solidFill>
                <a:prstClr val="black"/>
              </a:solidFill>
              <a:latin typeface="Calibri" panose="020F0502020204030204"/>
              <a:ea typeface="+mn-ea"/>
              <a:cs typeface="+mn-cs"/>
            </a:endParaRPr>
          </a:p>
        </p:txBody>
      </p:sp>
      <p:sp>
        <p:nvSpPr>
          <p:cNvPr id="73" name="Shape 68"/>
          <p:cNvSpPr/>
          <p:nvPr/>
        </p:nvSpPr>
        <p:spPr>
          <a:xfrm>
            <a:off x="2730500" y="4057497"/>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4" name="Shape 69"/>
          <p:cNvSpPr/>
          <p:nvPr/>
        </p:nvSpPr>
        <p:spPr>
          <a:xfrm>
            <a:off x="2730501" y="3753556"/>
            <a:ext cx="921191" cy="221368"/>
          </a:xfrm>
          <a:prstGeom prst="rect">
            <a:avLst/>
          </a:prstGeom>
          <a:solidFill>
            <a:srgbClr val="282DF0"/>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5" name="Text 70"/>
          <p:cNvSpPr/>
          <p:nvPr/>
        </p:nvSpPr>
        <p:spPr>
          <a:xfrm>
            <a:off x="2806700" y="3772606"/>
            <a:ext cx="86091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76" name="Shape 71"/>
          <p:cNvSpPr/>
          <p:nvPr/>
        </p:nvSpPr>
        <p:spPr>
          <a:xfrm>
            <a:off x="3937000" y="4057497"/>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7" name="Text 72"/>
          <p:cNvSpPr/>
          <p:nvPr/>
        </p:nvSpPr>
        <p:spPr>
          <a:xfrm>
            <a:off x="3937000" y="3772584"/>
            <a:ext cx="1701800" cy="2087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Jonathan Sumoza</a:t>
            </a:r>
            <a:endParaRPr lang="en-US" sz="1200" kern="1200" dirty="0">
              <a:solidFill>
                <a:prstClr val="black"/>
              </a:solidFill>
              <a:latin typeface="Calibri" panose="020F0502020204030204"/>
              <a:ea typeface="+mn-ea"/>
              <a:cs typeface="+mn-cs"/>
            </a:endParaRPr>
          </a:p>
        </p:txBody>
      </p:sp>
      <p:sp>
        <p:nvSpPr>
          <p:cNvPr id="78" name="Shape 73"/>
          <p:cNvSpPr/>
          <p:nvPr/>
        </p:nvSpPr>
        <p:spPr>
          <a:xfrm>
            <a:off x="5588001" y="4057497"/>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79" name="Text 74"/>
          <p:cNvSpPr/>
          <p:nvPr/>
        </p:nvSpPr>
        <p:spPr>
          <a:xfrm>
            <a:off x="5588001" y="3772584"/>
            <a:ext cx="1320800"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80" name="Shape 75"/>
          <p:cNvSpPr/>
          <p:nvPr/>
        </p:nvSpPr>
        <p:spPr>
          <a:xfrm>
            <a:off x="6858000" y="4152747"/>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1" name="Text 76"/>
          <p:cNvSpPr/>
          <p:nvPr/>
        </p:nvSpPr>
        <p:spPr>
          <a:xfrm>
            <a:off x="6858000" y="3677334"/>
            <a:ext cx="2877820" cy="399212"/>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18 meses · prod. ≥ 1,8 · challenge Senior</a:t>
            </a:r>
            <a:endParaRPr lang="en-US" sz="1200" kern="1200" dirty="0">
              <a:solidFill>
                <a:prstClr val="black"/>
              </a:solidFill>
              <a:latin typeface="Calibri" panose="020F0502020204030204"/>
              <a:ea typeface="+mn-ea"/>
              <a:cs typeface="+mn-cs"/>
            </a:endParaRPr>
          </a:p>
        </p:txBody>
      </p:sp>
      <p:sp>
        <p:nvSpPr>
          <p:cNvPr id="82" name="Shape 77"/>
          <p:cNvSpPr/>
          <p:nvPr/>
        </p:nvSpPr>
        <p:spPr>
          <a:xfrm>
            <a:off x="9652001" y="4149219"/>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3" name="Text 78"/>
          <p:cNvSpPr/>
          <p:nvPr/>
        </p:nvSpPr>
        <p:spPr>
          <a:xfrm>
            <a:off x="9652001" y="3680862"/>
            <a:ext cx="1962150" cy="392157"/>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$1,85–2,5 MM · bono $500 mil</a:t>
            </a:r>
            <a:endParaRPr lang="en-US" sz="1200" kern="1200" dirty="0">
              <a:solidFill>
                <a:prstClr val="black"/>
              </a:solidFill>
              <a:latin typeface="Calibri" panose="020F0502020204030204"/>
              <a:ea typeface="+mn-ea"/>
              <a:cs typeface="+mn-cs"/>
            </a:endParaRPr>
          </a:p>
        </p:txBody>
      </p:sp>
      <p:sp>
        <p:nvSpPr>
          <p:cNvPr id="84" name="Shape 79"/>
          <p:cNvSpPr/>
          <p:nvPr/>
        </p:nvSpPr>
        <p:spPr>
          <a:xfrm>
            <a:off x="635000" y="4641565"/>
            <a:ext cx="2095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5" name="Text 80"/>
          <p:cNvSpPr/>
          <p:nvPr/>
        </p:nvSpPr>
        <p:spPr>
          <a:xfrm>
            <a:off x="635000" y="4356651"/>
            <a:ext cx="2158365"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Camila Castro</a:t>
            </a:r>
            <a:endParaRPr lang="en-US" sz="1200" kern="1200" dirty="0">
              <a:solidFill>
                <a:prstClr val="black"/>
              </a:solidFill>
              <a:latin typeface="Calibri" panose="020F0502020204030204"/>
              <a:ea typeface="+mn-ea"/>
              <a:cs typeface="+mn-cs"/>
            </a:endParaRPr>
          </a:p>
        </p:txBody>
      </p:sp>
      <p:sp>
        <p:nvSpPr>
          <p:cNvPr id="86" name="Shape 81"/>
          <p:cNvSpPr/>
          <p:nvPr/>
        </p:nvSpPr>
        <p:spPr>
          <a:xfrm>
            <a:off x="2730500" y="4641565"/>
            <a:ext cx="12065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7" name="Shape 82"/>
          <p:cNvSpPr/>
          <p:nvPr/>
        </p:nvSpPr>
        <p:spPr>
          <a:xfrm>
            <a:off x="2730501" y="4337623"/>
            <a:ext cx="921191" cy="221368"/>
          </a:xfrm>
          <a:prstGeom prst="rect">
            <a:avLst/>
          </a:prstGeom>
          <a:solidFill>
            <a:srgbClr val="282DF0"/>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88" name="Text 83"/>
          <p:cNvSpPr/>
          <p:nvPr/>
        </p:nvSpPr>
        <p:spPr>
          <a:xfrm>
            <a:off x="2806700" y="4356673"/>
            <a:ext cx="86091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89" name="Shape 84"/>
          <p:cNvSpPr/>
          <p:nvPr/>
        </p:nvSpPr>
        <p:spPr>
          <a:xfrm>
            <a:off x="3937000" y="4641565"/>
            <a:ext cx="1651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0" name="Text 85"/>
          <p:cNvSpPr/>
          <p:nvPr/>
        </p:nvSpPr>
        <p:spPr>
          <a:xfrm>
            <a:off x="3937000" y="4356651"/>
            <a:ext cx="1701800" cy="2087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Cristian Rohr</a:t>
            </a:r>
            <a:endParaRPr lang="en-US" sz="1200" kern="1200" dirty="0">
              <a:solidFill>
                <a:prstClr val="black"/>
              </a:solidFill>
              <a:latin typeface="Calibri" panose="020F0502020204030204"/>
              <a:ea typeface="+mn-ea"/>
              <a:cs typeface="+mn-cs"/>
            </a:endParaRPr>
          </a:p>
        </p:txBody>
      </p:sp>
      <p:sp>
        <p:nvSpPr>
          <p:cNvPr id="91" name="Shape 86"/>
          <p:cNvSpPr/>
          <p:nvPr/>
        </p:nvSpPr>
        <p:spPr>
          <a:xfrm>
            <a:off x="5588001" y="4641565"/>
            <a:ext cx="1270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2" name="Text 87"/>
          <p:cNvSpPr/>
          <p:nvPr/>
        </p:nvSpPr>
        <p:spPr>
          <a:xfrm>
            <a:off x="5588001" y="4356651"/>
            <a:ext cx="1320800"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93" name="Shape 88"/>
          <p:cNvSpPr/>
          <p:nvPr/>
        </p:nvSpPr>
        <p:spPr>
          <a:xfrm>
            <a:off x="6858000" y="4736815"/>
            <a:ext cx="2794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4" name="Text 89"/>
          <p:cNvSpPr/>
          <p:nvPr/>
        </p:nvSpPr>
        <p:spPr>
          <a:xfrm>
            <a:off x="6858000" y="4261401"/>
            <a:ext cx="2877820" cy="399212"/>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18 meses · prod. ≥ 1,8 · challenge Senior</a:t>
            </a:r>
            <a:endParaRPr lang="en-US" sz="1200" kern="1200" dirty="0">
              <a:solidFill>
                <a:prstClr val="black"/>
              </a:solidFill>
              <a:latin typeface="Calibri" panose="020F0502020204030204"/>
              <a:ea typeface="+mn-ea"/>
              <a:cs typeface="+mn-cs"/>
            </a:endParaRPr>
          </a:p>
        </p:txBody>
      </p:sp>
      <p:sp>
        <p:nvSpPr>
          <p:cNvPr id="95" name="Shape 90"/>
          <p:cNvSpPr/>
          <p:nvPr/>
        </p:nvSpPr>
        <p:spPr>
          <a:xfrm>
            <a:off x="9652001" y="4733287"/>
            <a:ext cx="1905000" cy="7055"/>
          </a:xfrm>
          <a:prstGeom prst="rect">
            <a:avLst/>
          </a:prstGeom>
          <a:solidFill>
            <a:srgbClr val="E3E5EA"/>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6" name="Text 91"/>
          <p:cNvSpPr/>
          <p:nvPr/>
        </p:nvSpPr>
        <p:spPr>
          <a:xfrm>
            <a:off x="9652001" y="4264930"/>
            <a:ext cx="1962150" cy="392157"/>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$1,85–2,5 MM · bono $500 mil</a:t>
            </a:r>
            <a:endParaRPr lang="en-US" sz="1200" kern="1200" dirty="0">
              <a:solidFill>
                <a:prstClr val="black"/>
              </a:solidFill>
              <a:latin typeface="Calibri" panose="020F0502020204030204"/>
              <a:ea typeface="+mn-ea"/>
              <a:cs typeface="+mn-cs"/>
            </a:endParaRPr>
          </a:p>
        </p:txBody>
      </p:sp>
      <p:sp>
        <p:nvSpPr>
          <p:cNvPr id="97" name="Text 92"/>
          <p:cNvSpPr/>
          <p:nvPr/>
        </p:nvSpPr>
        <p:spPr>
          <a:xfrm>
            <a:off x="635000" y="4940719"/>
            <a:ext cx="2158365"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Andrés Labado</a:t>
            </a:r>
            <a:endParaRPr lang="en-US" sz="1200" kern="1200" dirty="0">
              <a:solidFill>
                <a:prstClr val="black"/>
              </a:solidFill>
              <a:latin typeface="Calibri" panose="020F0502020204030204"/>
              <a:ea typeface="+mn-ea"/>
              <a:cs typeface="+mn-cs"/>
            </a:endParaRPr>
          </a:p>
        </p:txBody>
      </p:sp>
      <p:sp>
        <p:nvSpPr>
          <p:cNvPr id="98" name="Shape 93"/>
          <p:cNvSpPr/>
          <p:nvPr/>
        </p:nvSpPr>
        <p:spPr>
          <a:xfrm>
            <a:off x="2730501" y="4921691"/>
            <a:ext cx="921191" cy="221368"/>
          </a:xfrm>
          <a:prstGeom prst="rect">
            <a:avLst/>
          </a:prstGeom>
          <a:solidFill>
            <a:srgbClr val="282DF0"/>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99" name="Text 94"/>
          <p:cNvSpPr/>
          <p:nvPr/>
        </p:nvSpPr>
        <p:spPr>
          <a:xfrm>
            <a:off x="2806700" y="4940741"/>
            <a:ext cx="860910" cy="208668"/>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FFFFFF"/>
                </a:solidFill>
                <a:latin typeface="Figtree" pitchFamily="34" charset="0"/>
                <a:ea typeface="Figtree" pitchFamily="34" charset="-122"/>
                <a:cs typeface="Figtree" pitchFamily="34" charset="-120"/>
              </a:rPr>
              <a:t>Intermedio</a:t>
            </a:r>
            <a:endParaRPr lang="en-US" sz="1200" kern="1200" dirty="0">
              <a:solidFill>
                <a:prstClr val="black"/>
              </a:solidFill>
              <a:latin typeface="Calibri" panose="020F0502020204030204"/>
              <a:ea typeface="+mn-ea"/>
              <a:cs typeface="+mn-cs"/>
            </a:endParaRPr>
          </a:p>
        </p:txBody>
      </p:sp>
      <p:sp>
        <p:nvSpPr>
          <p:cNvPr id="100" name="Text 95"/>
          <p:cNvSpPr/>
          <p:nvPr/>
        </p:nvSpPr>
        <p:spPr>
          <a:xfrm>
            <a:off x="3937000" y="4940719"/>
            <a:ext cx="1701800" cy="208712"/>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Cristian Rohr</a:t>
            </a:r>
            <a:endParaRPr lang="en-US" sz="1200" kern="1200" dirty="0">
              <a:solidFill>
                <a:prstClr val="black"/>
              </a:solidFill>
              <a:latin typeface="Calibri" panose="020F0502020204030204"/>
              <a:ea typeface="+mn-ea"/>
              <a:cs typeface="+mn-cs"/>
            </a:endParaRPr>
          </a:p>
        </p:txBody>
      </p:sp>
      <p:sp>
        <p:nvSpPr>
          <p:cNvPr id="101" name="Text 96"/>
          <p:cNvSpPr/>
          <p:nvPr/>
        </p:nvSpPr>
        <p:spPr>
          <a:xfrm>
            <a:off x="5588001" y="4940719"/>
            <a:ext cx="1320800" cy="208712"/>
          </a:xfrm>
          <a:prstGeom prst="rect">
            <a:avLst/>
          </a:prstGeom>
          <a:noFill/>
          <a:ln/>
        </p:spPr>
        <p:txBody>
          <a:bodyPr wrap="squar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Senior</a:t>
            </a:r>
            <a:endParaRPr lang="en-US" sz="1200" kern="1200" dirty="0">
              <a:solidFill>
                <a:prstClr val="black"/>
              </a:solidFill>
              <a:latin typeface="Calibri" panose="020F0502020204030204"/>
              <a:ea typeface="+mn-ea"/>
              <a:cs typeface="+mn-cs"/>
            </a:endParaRPr>
          </a:p>
        </p:txBody>
      </p:sp>
      <p:sp>
        <p:nvSpPr>
          <p:cNvPr id="102" name="Text 97"/>
          <p:cNvSpPr/>
          <p:nvPr/>
        </p:nvSpPr>
        <p:spPr>
          <a:xfrm>
            <a:off x="6858000" y="4845469"/>
            <a:ext cx="2877820" cy="399212"/>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 18 meses · prod. ≥ 1,8 · challenge Senior</a:t>
            </a:r>
            <a:endParaRPr lang="en-US" sz="1200" kern="1200" dirty="0">
              <a:solidFill>
                <a:prstClr val="black"/>
              </a:solidFill>
              <a:latin typeface="Calibri" panose="020F0502020204030204"/>
              <a:ea typeface="+mn-ea"/>
              <a:cs typeface="+mn-cs"/>
            </a:endParaRPr>
          </a:p>
        </p:txBody>
      </p:sp>
      <p:sp>
        <p:nvSpPr>
          <p:cNvPr id="103" name="Text 98"/>
          <p:cNvSpPr/>
          <p:nvPr/>
        </p:nvSpPr>
        <p:spPr>
          <a:xfrm>
            <a:off x="9652001" y="4848998"/>
            <a:ext cx="1962150" cy="392157"/>
          </a:xfrm>
          <a:prstGeom prst="rect">
            <a:avLst/>
          </a:prstGeom>
          <a:noFill/>
          <a:ln/>
        </p:spPr>
        <p:txBody>
          <a:bodyPr wrap="square" lIns="16933" tIns="16933" rIns="16933" bIns="16933" rtlCol="0" anchor="t">
            <a:normAutofit/>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$1,85–2,5 MM · bono $500 mil</a:t>
            </a:r>
            <a:endParaRPr lang="en-US" sz="1200" kern="1200" dirty="0">
              <a:solidFill>
                <a:prstClr val="black"/>
              </a:solidFill>
              <a:latin typeface="Calibri" panose="020F0502020204030204"/>
              <a:ea typeface="+mn-ea"/>
              <a:cs typeface="+mn-cs"/>
            </a:endParaRPr>
          </a:p>
        </p:txBody>
      </p:sp>
      <p:sp>
        <p:nvSpPr>
          <p:cNvPr id="104" name="Shape 99"/>
          <p:cNvSpPr/>
          <p:nvPr/>
        </p:nvSpPr>
        <p:spPr>
          <a:xfrm>
            <a:off x="635000" y="5473237"/>
            <a:ext cx="10922001" cy="393568"/>
          </a:xfrm>
          <a:prstGeom prst="rect">
            <a:avLst/>
          </a:prstGeom>
          <a:solidFill>
            <a:srgbClr val="F2F3F5"/>
          </a:solidFill>
          <a:ln/>
        </p:spPr>
        <p:txBody>
          <a:bodyPr/>
          <a:lstStyle/>
          <a:p>
            <a:pPr defTabSz="609630">
              <a:buClrTx/>
            </a:pPr>
            <a:endParaRPr lang="es-CL" sz="1200" kern="1200">
              <a:solidFill>
                <a:prstClr val="black"/>
              </a:solidFill>
              <a:latin typeface="Calibri" panose="020F0502020204030204"/>
              <a:ea typeface="+mn-ea"/>
              <a:cs typeface="+mn-cs"/>
            </a:endParaRPr>
          </a:p>
        </p:txBody>
      </p:sp>
      <p:sp>
        <p:nvSpPr>
          <p:cNvPr id="105" name="Text 100"/>
          <p:cNvSpPr/>
          <p:nvPr/>
        </p:nvSpPr>
        <p:spPr>
          <a:xfrm>
            <a:off x="812712" y="5578300"/>
            <a:ext cx="1522754" cy="208845"/>
          </a:xfrm>
          <a:prstGeom prst="rect">
            <a:avLst/>
          </a:prstGeom>
          <a:noFill/>
          <a:ln/>
        </p:spPr>
        <p:txBody>
          <a:bodyPr wrap="none" lIns="16933" tIns="16933" rIns="16933" bIns="16933" rtlCol="0" anchor="t">
            <a:normAutofit lnSpcReduction="10000"/>
          </a:bodyPr>
          <a:lstStyle/>
          <a:p>
            <a:pPr defTabSz="609630">
              <a:buClrTx/>
            </a:pPr>
            <a:r>
              <a:rPr lang="en-US" sz="1200" b="1" kern="1200" dirty="0">
                <a:solidFill>
                  <a:srgbClr val="373C46"/>
                </a:solidFill>
                <a:latin typeface="Figtree" pitchFamily="34" charset="0"/>
                <a:ea typeface="Figtree" pitchFamily="34" charset="-122"/>
                <a:cs typeface="Figtree" pitchFamily="34" charset="-120"/>
              </a:rPr>
              <a:t>En todos los niveles</a:t>
            </a:r>
            <a:endParaRPr lang="en-US" sz="1200" kern="1200" dirty="0">
              <a:solidFill>
                <a:prstClr val="black"/>
              </a:solidFill>
              <a:latin typeface="Calibri" panose="020F0502020204030204"/>
              <a:ea typeface="+mn-ea"/>
              <a:cs typeface="+mn-cs"/>
            </a:endParaRPr>
          </a:p>
        </p:txBody>
      </p:sp>
      <p:sp>
        <p:nvSpPr>
          <p:cNvPr id="106" name="Text 101"/>
          <p:cNvSpPr/>
          <p:nvPr/>
        </p:nvSpPr>
        <p:spPr>
          <a:xfrm>
            <a:off x="2374746" y="5574771"/>
            <a:ext cx="2635746"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Desempeño ≥ acorde a lo esperado</a:t>
            </a:r>
            <a:endParaRPr lang="en-US" sz="1200" kern="1200" dirty="0">
              <a:solidFill>
                <a:prstClr val="black"/>
              </a:solidFill>
              <a:latin typeface="Calibri" panose="020F0502020204030204"/>
              <a:ea typeface="+mn-ea"/>
              <a:cs typeface="+mn-cs"/>
            </a:endParaRPr>
          </a:p>
        </p:txBody>
      </p:sp>
      <p:sp>
        <p:nvSpPr>
          <p:cNvPr id="107" name="Text 102"/>
          <p:cNvSpPr/>
          <p:nvPr/>
        </p:nvSpPr>
        <p:spPr>
          <a:xfrm>
            <a:off x="4948591" y="5574771"/>
            <a:ext cx="1289800"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Formación ≥ 95%</a:t>
            </a:r>
            <a:endParaRPr lang="en-US" sz="1200" kern="1200" dirty="0">
              <a:solidFill>
                <a:prstClr val="black"/>
              </a:solidFill>
              <a:latin typeface="Calibri" panose="020F0502020204030204"/>
              <a:ea typeface="+mn-ea"/>
              <a:cs typeface="+mn-cs"/>
            </a:endParaRPr>
          </a:p>
        </p:txBody>
      </p:sp>
      <p:sp>
        <p:nvSpPr>
          <p:cNvPr id="108" name="Text 103"/>
          <p:cNvSpPr/>
          <p:nvPr/>
        </p:nvSpPr>
        <p:spPr>
          <a:xfrm>
            <a:off x="6298848" y="5574771"/>
            <a:ext cx="1302533"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Ev. teórica ≥ 80%</a:t>
            </a:r>
            <a:endParaRPr lang="en-US" sz="1200" kern="1200" dirty="0">
              <a:solidFill>
                <a:prstClr val="black"/>
              </a:solidFill>
              <a:latin typeface="Calibri" panose="020F0502020204030204"/>
              <a:ea typeface="+mn-ea"/>
              <a:cs typeface="+mn-cs"/>
            </a:endParaRPr>
          </a:p>
        </p:txBody>
      </p:sp>
      <p:sp>
        <p:nvSpPr>
          <p:cNvPr id="109" name="Text 104"/>
          <p:cNvSpPr/>
          <p:nvPr/>
        </p:nvSpPr>
        <p:spPr>
          <a:xfrm>
            <a:off x="7660680" y="5574771"/>
            <a:ext cx="2599609" cy="215900"/>
          </a:xfrm>
          <a:prstGeom prst="rect">
            <a:avLst/>
          </a:prstGeom>
          <a:noFill/>
          <a:ln/>
        </p:spPr>
        <p:txBody>
          <a:bodyPr wrap="non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Ev. práctica ≥ 90% (Trainee ≥ 80%)</a:t>
            </a:r>
            <a:endParaRPr lang="en-US" sz="1200" kern="1200" dirty="0">
              <a:solidFill>
                <a:prstClr val="black"/>
              </a:solidFill>
              <a:latin typeface="Calibri" panose="020F0502020204030204"/>
              <a:ea typeface="+mn-ea"/>
              <a:cs typeface="+mn-cs"/>
            </a:endParaRPr>
          </a:p>
        </p:txBody>
      </p:sp>
      <p:sp>
        <p:nvSpPr>
          <p:cNvPr id="110" name="Text 105"/>
          <p:cNvSpPr/>
          <p:nvPr/>
        </p:nvSpPr>
        <p:spPr>
          <a:xfrm>
            <a:off x="635000" y="6019161"/>
            <a:ext cx="12014201"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6B707C"/>
                </a:solidFill>
                <a:latin typeface="Figtree" pitchFamily="34" charset="0"/>
                <a:ea typeface="Figtree" pitchFamily="34" charset="-122"/>
                <a:cs typeface="Figtree" pitchFamily="34" charset="-120"/>
              </a:rPr>
              <a:t>Hoy no hay ingenieros en nivel Senior. El avance individual se completa con los datos de cada ingeniero.</a:t>
            </a:r>
            <a:endParaRPr lang="en-US" sz="1200" kern="1200" dirty="0">
              <a:solidFill>
                <a:prstClr val="black"/>
              </a:solidFill>
              <a:latin typeface="Calibri" panose="020F0502020204030204"/>
              <a:ea typeface="+mn-ea"/>
              <a:cs typeface="+mn-cs"/>
            </a:endParaRPr>
          </a:p>
        </p:txBody>
      </p:sp>
      <p:pic>
        <p:nvPicPr>
          <p:cNvPr id="111" name="Image 3" descr="preencoded.png"/>
          <p:cNvPicPr>
            <a:picLocks noChangeAspect="1"/>
          </p:cNvPicPr>
          <p:nvPr/>
        </p:nvPicPr>
        <p:blipFill>
          <a:blip r:embed="rId6"/>
          <a:stretch>
            <a:fillRect/>
          </a:stretch>
        </p:blipFill>
        <p:spPr>
          <a:xfrm>
            <a:off x="279356" y="6477111"/>
            <a:ext cx="884590" cy="165034"/>
          </a:xfrm>
          <a:prstGeom prst="rect">
            <a:avLst/>
          </a:prstGeom>
        </p:spPr>
      </p:pic>
      <p:pic>
        <p:nvPicPr>
          <p:cNvPr id="112" name="Image 4" descr="preencoded.png"/>
          <p:cNvPicPr>
            <a:picLocks noChangeAspect="1"/>
          </p:cNvPicPr>
          <p:nvPr/>
        </p:nvPicPr>
        <p:blipFill>
          <a:blip r:embed="rId7"/>
          <a:stretch>
            <a:fillRect/>
          </a:stretch>
        </p:blipFill>
        <p:spPr>
          <a:xfrm>
            <a:off x="1316302" y="6492985"/>
            <a:ext cx="789451" cy="133284"/>
          </a:xfrm>
          <a:prstGeom prst="rect">
            <a:avLst/>
          </a:prstGeom>
        </p:spPr>
      </p:pic>
      <p:pic>
        <p:nvPicPr>
          <p:cNvPr id="113" name="Image 5" descr="preencoded.png"/>
          <p:cNvPicPr>
            <a:picLocks noChangeAspect="1"/>
          </p:cNvPicPr>
          <p:nvPr/>
        </p:nvPicPr>
        <p:blipFill>
          <a:blip r:embed="rId8"/>
          <a:stretch>
            <a:fillRect/>
          </a:stretch>
        </p:blipFill>
        <p:spPr>
          <a:xfrm>
            <a:off x="2258109" y="6496073"/>
            <a:ext cx="549121" cy="127000"/>
          </a:xfrm>
          <a:prstGeom prst="rect">
            <a:avLst/>
          </a:prstGeom>
        </p:spPr>
      </p:pic>
      <p:sp>
        <p:nvSpPr>
          <p:cNvPr id="114" name="Text 106"/>
          <p:cNvSpPr/>
          <p:nvPr/>
        </p:nvSpPr>
        <p:spPr>
          <a:xfrm>
            <a:off x="11778920" y="6484056"/>
            <a:ext cx="133703" cy="208845"/>
          </a:xfrm>
          <a:prstGeom prst="rect">
            <a:avLst/>
          </a:prstGeom>
          <a:noFill/>
          <a:ln/>
        </p:spPr>
        <p:txBody>
          <a:bodyPr wrap="square" lIns="16933" tIns="16933" rIns="16933" bIns="16933" rtlCol="0" anchor="t">
            <a:normAutofit lnSpcReduction="10000"/>
          </a:bodyPr>
          <a:lstStyle/>
          <a:p>
            <a:pPr defTabSz="609630">
              <a:buClrTx/>
            </a:pPr>
            <a:r>
              <a:rPr lang="en-US" sz="1200" kern="1200" dirty="0">
                <a:solidFill>
                  <a:srgbClr val="373C46"/>
                </a:solidFill>
                <a:latin typeface="Figtree" pitchFamily="34" charset="0"/>
                <a:ea typeface="Figtree" pitchFamily="34" charset="-122"/>
                <a:cs typeface="Figtree" pitchFamily="34" charset="-120"/>
              </a:rPr>
              <a:t>3</a:t>
            </a:r>
            <a:endParaRPr lang="en-US" sz="1200" kern="1200" dirty="0">
              <a:solidFill>
                <a:prstClr val="black"/>
              </a:solidFill>
              <a:latin typeface="Calibri" panose="020F0502020204030204"/>
              <a:ea typeface="+mn-ea"/>
              <a:cs typeface="+mn-cs"/>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dk1"/>
        </a:solidFill>
        <a:effectLst/>
      </p:bgPr>
    </p:bg>
    <p:spTree>
      <p:nvGrpSpPr>
        <p:cNvPr id="1" name="Shape 673"/>
        <p:cNvGrpSpPr/>
        <p:nvPr/>
      </p:nvGrpSpPr>
      <p:grpSpPr>
        <a:xfrm>
          <a:off x="0" y="0"/>
          <a:ext cx="0" cy="0"/>
          <a:chOff x="0" y="0"/>
          <a:chExt cx="0" cy="0"/>
        </a:xfrm>
      </p:grpSpPr>
      <p:sp>
        <p:nvSpPr>
          <p:cNvPr id="674" name="Google Shape;674;p57"/>
          <p:cNvSpPr/>
          <p:nvPr/>
        </p:nvSpPr>
        <p:spPr>
          <a:xfrm>
            <a:off x="274320" y="45720"/>
            <a:ext cx="11640312" cy="27432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303640"/>
              </a:buClr>
              <a:buSzPts val="1700"/>
              <a:buFont typeface="Calibri"/>
              <a:buNone/>
            </a:pPr>
            <a:r>
              <a:rPr lang="es-CL" sz="1700" b="1">
                <a:solidFill>
                  <a:srgbClr val="303640"/>
                </a:solidFill>
                <a:latin typeface="Calibri"/>
                <a:ea typeface="Calibri"/>
                <a:cs typeface="Calibri"/>
                <a:sym typeface="Calibri"/>
              </a:rPr>
              <a:t>Flujo de Atención al Cliente — Servicio Técnico</a:t>
            </a:r>
            <a:endParaRPr sz="1700">
              <a:solidFill>
                <a:schemeClr val="dk1"/>
              </a:solidFill>
              <a:latin typeface="Arial"/>
              <a:ea typeface="Arial"/>
              <a:cs typeface="Arial"/>
              <a:sym typeface="Arial"/>
            </a:endParaRPr>
          </a:p>
        </p:txBody>
      </p:sp>
      <p:sp>
        <p:nvSpPr>
          <p:cNvPr id="675" name="Google Shape;675;p57"/>
          <p:cNvSpPr/>
          <p:nvPr/>
        </p:nvSpPr>
        <p:spPr>
          <a:xfrm>
            <a:off x="3657600" y="374904"/>
            <a:ext cx="182880" cy="137160"/>
          </a:xfrm>
          <a:prstGeom prst="roundRect">
            <a:avLst>
              <a:gd name="adj" fmla="val 26667"/>
            </a:avLst>
          </a:prstGeom>
          <a:solidFill>
            <a:srgbClr val="3036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76" name="Google Shape;676;p57"/>
          <p:cNvSpPr/>
          <p:nvPr/>
        </p:nvSpPr>
        <p:spPr>
          <a:xfrm>
            <a:off x="3877056" y="329184"/>
            <a:ext cx="54864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A2E36"/>
              </a:buClr>
              <a:buSzPts val="750"/>
              <a:buFont typeface="Calibri"/>
              <a:buNone/>
            </a:pPr>
            <a:r>
              <a:rPr lang="es-CL" sz="750">
                <a:solidFill>
                  <a:srgbClr val="2A2E36"/>
                </a:solidFill>
                <a:latin typeface="Calibri"/>
                <a:ea typeface="Calibri"/>
                <a:cs typeface="Calibri"/>
                <a:sym typeface="Calibri"/>
              </a:rPr>
              <a:t>Paso</a:t>
            </a:r>
            <a:endParaRPr sz="750">
              <a:solidFill>
                <a:schemeClr val="dk1"/>
              </a:solidFill>
              <a:latin typeface="Arial"/>
              <a:ea typeface="Arial"/>
              <a:cs typeface="Arial"/>
              <a:sym typeface="Arial"/>
            </a:endParaRPr>
          </a:p>
        </p:txBody>
      </p:sp>
      <p:sp>
        <p:nvSpPr>
          <p:cNvPr id="677" name="Google Shape;677;p57"/>
          <p:cNvSpPr/>
          <p:nvPr/>
        </p:nvSpPr>
        <p:spPr>
          <a:xfrm>
            <a:off x="4572000" y="338328"/>
            <a:ext cx="201168" cy="201168"/>
          </a:xfrm>
          <a:prstGeom prst="diamond">
            <a:avLst/>
          </a:prstGeom>
          <a:solidFill>
            <a:srgbClr val="3036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78" name="Google Shape;678;p57"/>
          <p:cNvSpPr/>
          <p:nvPr/>
        </p:nvSpPr>
        <p:spPr>
          <a:xfrm>
            <a:off x="4809744" y="329184"/>
            <a:ext cx="73152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A2E36"/>
              </a:buClr>
              <a:buSzPts val="750"/>
              <a:buFont typeface="Calibri"/>
              <a:buNone/>
            </a:pPr>
            <a:r>
              <a:rPr lang="es-CL" sz="750">
                <a:solidFill>
                  <a:srgbClr val="2A2E36"/>
                </a:solidFill>
                <a:latin typeface="Calibri"/>
                <a:ea typeface="Calibri"/>
                <a:cs typeface="Calibri"/>
                <a:sym typeface="Calibri"/>
              </a:rPr>
              <a:t>Decisión</a:t>
            </a:r>
            <a:endParaRPr sz="750">
              <a:solidFill>
                <a:schemeClr val="dk1"/>
              </a:solidFill>
              <a:latin typeface="Arial"/>
              <a:ea typeface="Arial"/>
              <a:cs typeface="Arial"/>
              <a:sym typeface="Arial"/>
            </a:endParaRPr>
          </a:p>
        </p:txBody>
      </p:sp>
      <p:sp>
        <p:nvSpPr>
          <p:cNvPr id="679" name="Google Shape;679;p57"/>
          <p:cNvSpPr/>
          <p:nvPr/>
        </p:nvSpPr>
        <p:spPr>
          <a:xfrm>
            <a:off x="5669280" y="374904"/>
            <a:ext cx="274320" cy="137160"/>
          </a:xfrm>
          <a:prstGeom prst="roundRect">
            <a:avLst>
              <a:gd name="adj" fmla="val 46667"/>
            </a:avLst>
          </a:prstGeom>
          <a:solidFill>
            <a:srgbClr val="3AD1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80" name="Google Shape;680;p57"/>
          <p:cNvSpPr/>
          <p:nvPr/>
        </p:nvSpPr>
        <p:spPr>
          <a:xfrm>
            <a:off x="5989320" y="329184"/>
            <a:ext cx="192024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A2E36"/>
              </a:buClr>
              <a:buSzPts val="750"/>
              <a:buFont typeface="Calibri"/>
              <a:buNone/>
            </a:pPr>
            <a:r>
              <a:rPr lang="es-CL" sz="750">
                <a:solidFill>
                  <a:srgbClr val="2A2E36"/>
                </a:solidFill>
                <a:latin typeface="Calibri"/>
                <a:ea typeface="Calibri"/>
                <a:cs typeface="Calibri"/>
                <a:sym typeface="Calibri"/>
              </a:rPr>
              <a:t>SLA / tiempo de respuesta</a:t>
            </a:r>
            <a:endParaRPr sz="750">
              <a:solidFill>
                <a:schemeClr val="dk1"/>
              </a:solidFill>
              <a:latin typeface="Arial"/>
              <a:ea typeface="Arial"/>
              <a:cs typeface="Arial"/>
              <a:sym typeface="Arial"/>
            </a:endParaRPr>
          </a:p>
        </p:txBody>
      </p:sp>
      <p:sp>
        <p:nvSpPr>
          <p:cNvPr id="681" name="Google Shape;681;p57"/>
          <p:cNvSpPr/>
          <p:nvPr/>
        </p:nvSpPr>
        <p:spPr>
          <a:xfrm>
            <a:off x="274320" y="768096"/>
            <a:ext cx="914400" cy="457200"/>
          </a:xfrm>
          <a:prstGeom prst="ellipse">
            <a:avLst/>
          </a:prstGeom>
          <a:solidFill>
            <a:srgbClr val="303640"/>
          </a:solidFill>
          <a:ln w="1395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82" name="Google Shape;682;p57"/>
          <p:cNvSpPr/>
          <p:nvPr/>
        </p:nvSpPr>
        <p:spPr>
          <a:xfrm>
            <a:off x="274320" y="768096"/>
            <a:ext cx="9144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Calibri"/>
              <a:buNone/>
            </a:pPr>
            <a:r>
              <a:rPr lang="es-CL" sz="900" b="1">
                <a:solidFill>
                  <a:srgbClr val="FFFFFF"/>
                </a:solidFill>
                <a:latin typeface="Calibri"/>
                <a:ea typeface="Calibri"/>
                <a:cs typeface="Calibri"/>
                <a:sym typeface="Calibri"/>
              </a:rPr>
              <a:t>INICIO</a:t>
            </a:r>
            <a:endParaRPr sz="900">
              <a:solidFill>
                <a:schemeClr val="dk1"/>
              </a:solidFill>
              <a:latin typeface="Arial"/>
              <a:ea typeface="Arial"/>
              <a:cs typeface="Arial"/>
              <a:sym typeface="Arial"/>
            </a:endParaRPr>
          </a:p>
        </p:txBody>
      </p:sp>
      <p:cxnSp>
        <p:nvCxnSpPr>
          <p:cNvPr id="683" name="Google Shape;683;p57"/>
          <p:cNvCxnSpPr/>
          <p:nvPr/>
        </p:nvCxnSpPr>
        <p:spPr>
          <a:xfrm>
            <a:off x="1188720" y="996696"/>
            <a:ext cx="182880" cy="0"/>
          </a:xfrm>
          <a:prstGeom prst="straightConnector1">
            <a:avLst/>
          </a:prstGeom>
          <a:noFill/>
          <a:ln w="19050" cap="flat" cmpd="sng">
            <a:solidFill>
              <a:srgbClr val="303640"/>
            </a:solidFill>
            <a:prstDash val="solid"/>
            <a:round/>
            <a:headEnd type="none" w="sm" len="sm"/>
            <a:tailEnd type="triangle" w="med" len="med"/>
          </a:ln>
        </p:spPr>
      </p:cxnSp>
      <p:sp>
        <p:nvSpPr>
          <p:cNvPr id="684" name="Google Shape;684;p57"/>
          <p:cNvSpPr/>
          <p:nvPr/>
        </p:nvSpPr>
        <p:spPr>
          <a:xfrm>
            <a:off x="1371600" y="658368"/>
            <a:ext cx="2286000" cy="475488"/>
          </a:xfrm>
          <a:prstGeom prst="roundRect">
            <a:avLst>
              <a:gd name="adj" fmla="val 6316"/>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85" name="Google Shape;685;p57"/>
          <p:cNvSpPr/>
          <p:nvPr/>
        </p:nvSpPr>
        <p:spPr>
          <a:xfrm>
            <a:off x="1463040" y="704088"/>
            <a:ext cx="2103120" cy="7772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1. Recepción de requerimiento</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Asistente recibe el caso en Salesforce (mail/fono) y asigna Coordinador.</a:t>
            </a:r>
            <a:endParaRPr sz="840">
              <a:solidFill>
                <a:schemeClr val="dk1"/>
              </a:solidFill>
              <a:latin typeface="Arial"/>
              <a:ea typeface="Arial"/>
              <a:cs typeface="Arial"/>
              <a:sym typeface="Arial"/>
            </a:endParaRPr>
          </a:p>
        </p:txBody>
      </p:sp>
      <p:sp>
        <p:nvSpPr>
          <p:cNvPr id="686" name="Google Shape;686;p57"/>
          <p:cNvSpPr/>
          <p:nvPr/>
        </p:nvSpPr>
        <p:spPr>
          <a:xfrm>
            <a:off x="2971800" y="411480"/>
            <a:ext cx="685800" cy="201168"/>
          </a:xfrm>
          <a:prstGeom prst="roundRect">
            <a:avLst>
              <a:gd name="adj" fmla="val 54545"/>
            </a:avLst>
          </a:prstGeom>
          <a:solidFill>
            <a:srgbClr val="3AD1D1"/>
          </a:solidFill>
          <a:ln w="1270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87" name="Google Shape;687;p57"/>
          <p:cNvSpPr/>
          <p:nvPr/>
        </p:nvSpPr>
        <p:spPr>
          <a:xfrm>
            <a:off x="2971800" y="411480"/>
            <a:ext cx="685800" cy="20116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760"/>
              <a:buFont typeface="Calibri"/>
              <a:buNone/>
            </a:pPr>
            <a:r>
              <a:rPr lang="es-CL" sz="760" b="1">
                <a:solidFill>
                  <a:srgbClr val="20242C"/>
                </a:solidFill>
                <a:latin typeface="Calibri"/>
                <a:ea typeface="Calibri"/>
                <a:cs typeface="Calibri"/>
                <a:sym typeface="Calibri"/>
              </a:rPr>
              <a:t>60 min</a:t>
            </a:r>
            <a:endParaRPr sz="760">
              <a:solidFill>
                <a:schemeClr val="dk1"/>
              </a:solidFill>
              <a:latin typeface="Arial"/>
              <a:ea typeface="Arial"/>
              <a:cs typeface="Arial"/>
              <a:sym typeface="Arial"/>
            </a:endParaRPr>
          </a:p>
        </p:txBody>
      </p:sp>
      <p:cxnSp>
        <p:nvCxnSpPr>
          <p:cNvPr id="688" name="Google Shape;688;p57"/>
          <p:cNvCxnSpPr/>
          <p:nvPr/>
        </p:nvCxnSpPr>
        <p:spPr>
          <a:xfrm>
            <a:off x="3657600" y="996696"/>
            <a:ext cx="182880" cy="0"/>
          </a:xfrm>
          <a:prstGeom prst="straightConnector1">
            <a:avLst/>
          </a:prstGeom>
          <a:noFill/>
          <a:ln w="19050" cap="flat" cmpd="sng">
            <a:solidFill>
              <a:srgbClr val="303640"/>
            </a:solidFill>
            <a:prstDash val="solid"/>
            <a:round/>
            <a:headEnd type="none" w="sm" len="sm"/>
            <a:tailEnd type="triangle" w="med" len="med"/>
          </a:ln>
        </p:spPr>
      </p:cxnSp>
      <p:sp>
        <p:nvSpPr>
          <p:cNvPr id="689" name="Google Shape;689;p57"/>
          <p:cNvSpPr/>
          <p:nvPr/>
        </p:nvSpPr>
        <p:spPr>
          <a:xfrm>
            <a:off x="3840480" y="566928"/>
            <a:ext cx="1554480" cy="960120"/>
          </a:xfrm>
          <a:prstGeom prst="diamond">
            <a:avLst/>
          </a:prstGeom>
          <a:solidFill>
            <a:srgbClr val="303640"/>
          </a:solidFill>
          <a:ln w="15875"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90" name="Google Shape;690;p57"/>
          <p:cNvSpPr/>
          <p:nvPr/>
        </p:nvSpPr>
        <p:spPr>
          <a:xfrm>
            <a:off x="3895344" y="621792"/>
            <a:ext cx="1444752" cy="850392"/>
          </a:xfrm>
          <a:prstGeom prst="rect">
            <a:avLst/>
          </a:prstGeom>
          <a:noFill/>
          <a:ln>
            <a:noFill/>
          </a:ln>
        </p:spPr>
        <p:txBody>
          <a:bodyPr spcFirstLastPara="1" wrap="square" lIns="0" tIns="0" rIns="0" bIns="0" anchor="ctr" anchorCtr="0">
            <a:noAutofit/>
          </a:bodyPr>
          <a:lstStyle/>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¿Solicitud de</a:t>
            </a:r>
            <a:endParaRPr sz="760">
              <a:solidFill>
                <a:schemeClr val="dk1"/>
              </a:solidFill>
              <a:latin typeface="Arial"/>
              <a:ea typeface="Arial"/>
              <a:cs typeface="Arial"/>
              <a:sym typeface="Arial"/>
            </a:endParaRPr>
          </a:p>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visita técnica?</a:t>
            </a:r>
            <a:endParaRPr sz="760">
              <a:solidFill>
                <a:schemeClr val="dk1"/>
              </a:solidFill>
              <a:latin typeface="Arial"/>
              <a:ea typeface="Arial"/>
              <a:cs typeface="Arial"/>
              <a:sym typeface="Arial"/>
            </a:endParaRPr>
          </a:p>
        </p:txBody>
      </p:sp>
      <p:cxnSp>
        <p:nvCxnSpPr>
          <p:cNvPr id="691" name="Google Shape;691;p57"/>
          <p:cNvCxnSpPr/>
          <p:nvPr/>
        </p:nvCxnSpPr>
        <p:spPr>
          <a:xfrm>
            <a:off x="5120640" y="1042416"/>
            <a:ext cx="3383280" cy="0"/>
          </a:xfrm>
          <a:prstGeom prst="straightConnector1">
            <a:avLst/>
          </a:prstGeom>
          <a:noFill/>
          <a:ln w="19050" cap="flat" cmpd="sng">
            <a:solidFill>
              <a:srgbClr val="303640"/>
            </a:solidFill>
            <a:prstDash val="solid"/>
            <a:round/>
            <a:headEnd type="none" w="sm" len="sm"/>
            <a:tailEnd type="none" w="sm" len="sm"/>
          </a:ln>
        </p:spPr>
      </p:cxnSp>
      <p:cxnSp>
        <p:nvCxnSpPr>
          <p:cNvPr id="692" name="Google Shape;692;p57"/>
          <p:cNvCxnSpPr/>
          <p:nvPr/>
        </p:nvCxnSpPr>
        <p:spPr>
          <a:xfrm>
            <a:off x="8503920" y="1042416"/>
            <a:ext cx="0" cy="768096"/>
          </a:xfrm>
          <a:prstGeom prst="straightConnector1">
            <a:avLst/>
          </a:prstGeom>
          <a:noFill/>
          <a:ln w="19050" cap="flat" cmpd="sng">
            <a:solidFill>
              <a:srgbClr val="303640"/>
            </a:solidFill>
            <a:prstDash val="solid"/>
            <a:round/>
            <a:headEnd type="none" w="sm" len="sm"/>
            <a:tailEnd type="triangle" w="med" len="med"/>
          </a:ln>
        </p:spPr>
      </p:cxnSp>
      <p:sp>
        <p:nvSpPr>
          <p:cNvPr id="693" name="Google Shape;693;p57"/>
          <p:cNvSpPr/>
          <p:nvPr/>
        </p:nvSpPr>
        <p:spPr>
          <a:xfrm>
            <a:off x="8275320" y="1307592"/>
            <a:ext cx="365760" cy="219456"/>
          </a:xfrm>
          <a:prstGeom prst="roundRect">
            <a:avLst>
              <a:gd name="adj" fmla="val 25000"/>
            </a:avLst>
          </a:prstGeom>
          <a:solidFill>
            <a:srgbClr val="3AD1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94" name="Google Shape;694;p57"/>
          <p:cNvSpPr/>
          <p:nvPr/>
        </p:nvSpPr>
        <p:spPr>
          <a:xfrm>
            <a:off x="8275320" y="1307592"/>
            <a:ext cx="36576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850"/>
              <a:buFont typeface="Calibri"/>
              <a:buNone/>
            </a:pPr>
            <a:r>
              <a:rPr lang="es-CL" sz="850" b="1">
                <a:solidFill>
                  <a:srgbClr val="20242C"/>
                </a:solidFill>
                <a:latin typeface="Calibri"/>
                <a:ea typeface="Calibri"/>
                <a:cs typeface="Calibri"/>
                <a:sym typeface="Calibri"/>
              </a:rPr>
              <a:t>SÍ</a:t>
            </a:r>
            <a:endParaRPr sz="850">
              <a:solidFill>
                <a:schemeClr val="dk1"/>
              </a:solidFill>
              <a:latin typeface="Arial"/>
              <a:ea typeface="Arial"/>
              <a:cs typeface="Arial"/>
              <a:sym typeface="Arial"/>
            </a:endParaRPr>
          </a:p>
        </p:txBody>
      </p:sp>
      <p:cxnSp>
        <p:nvCxnSpPr>
          <p:cNvPr id="695" name="Google Shape;695;p57"/>
          <p:cNvCxnSpPr/>
          <p:nvPr/>
        </p:nvCxnSpPr>
        <p:spPr>
          <a:xfrm>
            <a:off x="960120" y="1225296"/>
            <a:ext cx="2880360" cy="0"/>
          </a:xfrm>
          <a:prstGeom prst="straightConnector1">
            <a:avLst/>
          </a:prstGeom>
          <a:noFill/>
          <a:ln w="19050" cap="flat" cmpd="sng">
            <a:solidFill>
              <a:srgbClr val="303640"/>
            </a:solidFill>
            <a:prstDash val="solid"/>
            <a:round/>
            <a:headEnd type="none" w="sm" len="sm"/>
            <a:tailEnd type="none" w="sm" len="sm"/>
          </a:ln>
        </p:spPr>
      </p:cxnSp>
      <p:cxnSp>
        <p:nvCxnSpPr>
          <p:cNvPr id="696" name="Google Shape;696;p57"/>
          <p:cNvCxnSpPr/>
          <p:nvPr/>
        </p:nvCxnSpPr>
        <p:spPr>
          <a:xfrm>
            <a:off x="960120" y="1225296"/>
            <a:ext cx="0" cy="3090672"/>
          </a:xfrm>
          <a:prstGeom prst="straightConnector1">
            <a:avLst/>
          </a:prstGeom>
          <a:noFill/>
          <a:ln w="19050" cap="flat" cmpd="sng">
            <a:solidFill>
              <a:srgbClr val="303640"/>
            </a:solidFill>
            <a:prstDash val="solid"/>
            <a:round/>
            <a:headEnd type="none" w="sm" len="sm"/>
            <a:tailEnd type="triangle" w="med" len="med"/>
          </a:ln>
        </p:spPr>
      </p:cxnSp>
      <p:sp>
        <p:nvSpPr>
          <p:cNvPr id="697" name="Google Shape;697;p57"/>
          <p:cNvSpPr/>
          <p:nvPr/>
        </p:nvSpPr>
        <p:spPr>
          <a:xfrm>
            <a:off x="749808" y="1371600"/>
            <a:ext cx="365760" cy="219456"/>
          </a:xfrm>
          <a:prstGeom prst="roundRect">
            <a:avLst>
              <a:gd name="adj" fmla="val 25000"/>
            </a:avLst>
          </a:prstGeom>
          <a:solidFill>
            <a:srgbClr val="3AD1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698" name="Google Shape;698;p57"/>
          <p:cNvSpPr/>
          <p:nvPr/>
        </p:nvSpPr>
        <p:spPr>
          <a:xfrm>
            <a:off x="749808" y="1371600"/>
            <a:ext cx="36576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850"/>
              <a:buFont typeface="Calibri"/>
              <a:buNone/>
            </a:pPr>
            <a:r>
              <a:rPr lang="es-CL" sz="850" b="1">
                <a:solidFill>
                  <a:srgbClr val="20242C"/>
                </a:solidFill>
                <a:latin typeface="Calibri"/>
                <a:ea typeface="Calibri"/>
                <a:cs typeface="Calibri"/>
                <a:sym typeface="Calibri"/>
              </a:rPr>
              <a:t>NO</a:t>
            </a:r>
            <a:endParaRPr sz="850">
              <a:solidFill>
                <a:schemeClr val="dk1"/>
              </a:solidFill>
              <a:latin typeface="Arial"/>
              <a:ea typeface="Arial"/>
              <a:cs typeface="Arial"/>
              <a:sym typeface="Arial"/>
            </a:endParaRPr>
          </a:p>
        </p:txBody>
      </p:sp>
      <p:sp>
        <p:nvSpPr>
          <p:cNvPr id="699" name="Google Shape;699;p57"/>
          <p:cNvSpPr/>
          <p:nvPr/>
        </p:nvSpPr>
        <p:spPr>
          <a:xfrm>
            <a:off x="4023360" y="1810512"/>
            <a:ext cx="7863840" cy="237744"/>
          </a:xfrm>
          <a:prstGeom prst="roundRect">
            <a:avLst>
              <a:gd name="adj" fmla="val 23077"/>
            </a:avLst>
          </a:prstGeom>
          <a:solidFill>
            <a:srgbClr val="30364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00" name="Google Shape;700;p57"/>
          <p:cNvSpPr/>
          <p:nvPr/>
        </p:nvSpPr>
        <p:spPr>
          <a:xfrm>
            <a:off x="4023360" y="1810512"/>
            <a:ext cx="7863840"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850"/>
              <a:buFont typeface="Calibri"/>
              <a:buNone/>
            </a:pPr>
            <a:r>
              <a:rPr lang="es-CL" sz="850" b="1">
                <a:solidFill>
                  <a:srgbClr val="FFFFFF"/>
                </a:solidFill>
                <a:latin typeface="Calibri"/>
                <a:ea typeface="Calibri"/>
                <a:cs typeface="Calibri"/>
                <a:sym typeface="Calibri"/>
              </a:rPr>
              <a:t>CAMINO A  ·  Visita técnica</a:t>
            </a:r>
            <a:endParaRPr sz="850">
              <a:solidFill>
                <a:schemeClr val="dk1"/>
              </a:solidFill>
              <a:latin typeface="Arial"/>
              <a:ea typeface="Arial"/>
              <a:cs typeface="Arial"/>
              <a:sym typeface="Arial"/>
            </a:endParaRPr>
          </a:p>
        </p:txBody>
      </p:sp>
      <p:sp>
        <p:nvSpPr>
          <p:cNvPr id="701" name="Google Shape;701;p57"/>
          <p:cNvSpPr/>
          <p:nvPr/>
        </p:nvSpPr>
        <p:spPr>
          <a:xfrm>
            <a:off x="4133088" y="2340864"/>
            <a:ext cx="1463040" cy="822960"/>
          </a:xfrm>
          <a:prstGeom prst="diamond">
            <a:avLst/>
          </a:prstGeom>
          <a:solidFill>
            <a:srgbClr val="303640"/>
          </a:solidFill>
          <a:ln w="15875"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02" name="Google Shape;702;p57"/>
          <p:cNvSpPr/>
          <p:nvPr/>
        </p:nvSpPr>
        <p:spPr>
          <a:xfrm>
            <a:off x="4187952" y="2395728"/>
            <a:ext cx="1353312" cy="713232"/>
          </a:xfrm>
          <a:prstGeom prst="rect">
            <a:avLst/>
          </a:prstGeom>
          <a:noFill/>
          <a:ln>
            <a:noFill/>
          </a:ln>
        </p:spPr>
        <p:txBody>
          <a:bodyPr spcFirstLastPara="1" wrap="square" lIns="0" tIns="0" rIns="0" bIns="0" anchor="ctr" anchorCtr="0">
            <a:noAutofit/>
          </a:bodyPr>
          <a:lstStyle/>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¿Contrato /</a:t>
            </a:r>
            <a:endParaRPr sz="760">
              <a:solidFill>
                <a:schemeClr val="dk1"/>
              </a:solidFill>
              <a:latin typeface="Arial"/>
              <a:ea typeface="Arial"/>
              <a:cs typeface="Arial"/>
              <a:sym typeface="Arial"/>
            </a:endParaRPr>
          </a:p>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Garantía?</a:t>
            </a:r>
            <a:endParaRPr sz="760">
              <a:solidFill>
                <a:schemeClr val="dk1"/>
              </a:solidFill>
              <a:latin typeface="Arial"/>
              <a:ea typeface="Arial"/>
              <a:cs typeface="Arial"/>
              <a:sym typeface="Arial"/>
            </a:endParaRPr>
          </a:p>
        </p:txBody>
      </p:sp>
      <p:cxnSp>
        <p:nvCxnSpPr>
          <p:cNvPr id="703" name="Google Shape;703;p57"/>
          <p:cNvCxnSpPr/>
          <p:nvPr/>
        </p:nvCxnSpPr>
        <p:spPr>
          <a:xfrm>
            <a:off x="5596128" y="2715768"/>
            <a:ext cx="301752" cy="0"/>
          </a:xfrm>
          <a:prstGeom prst="straightConnector1">
            <a:avLst/>
          </a:prstGeom>
          <a:noFill/>
          <a:ln w="19050" cap="flat" cmpd="sng">
            <a:solidFill>
              <a:srgbClr val="303640"/>
            </a:solidFill>
            <a:prstDash val="solid"/>
            <a:round/>
            <a:headEnd type="none" w="sm" len="sm"/>
            <a:tailEnd type="triangle" w="med" len="med"/>
          </a:ln>
        </p:spPr>
      </p:cxnSp>
      <p:sp>
        <p:nvSpPr>
          <p:cNvPr id="704" name="Google Shape;704;p57"/>
          <p:cNvSpPr/>
          <p:nvPr/>
        </p:nvSpPr>
        <p:spPr>
          <a:xfrm>
            <a:off x="5897880" y="2359152"/>
            <a:ext cx="1691640" cy="713232"/>
          </a:xfrm>
          <a:prstGeom prst="roundRect">
            <a:avLst>
              <a:gd name="adj" fmla="val 7692"/>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05" name="Google Shape;705;p57"/>
          <p:cNvSpPr/>
          <p:nvPr/>
        </p:nvSpPr>
        <p:spPr>
          <a:xfrm>
            <a:off x="5989320" y="2404872"/>
            <a:ext cx="1508760" cy="62179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2. Asignación</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Coordinador contacta y programa la visita.</a:t>
            </a:r>
            <a:endParaRPr sz="840">
              <a:solidFill>
                <a:schemeClr val="dk1"/>
              </a:solidFill>
              <a:latin typeface="Arial"/>
              <a:ea typeface="Arial"/>
              <a:cs typeface="Arial"/>
              <a:sym typeface="Arial"/>
            </a:endParaRPr>
          </a:p>
        </p:txBody>
      </p:sp>
      <p:sp>
        <p:nvSpPr>
          <p:cNvPr id="706" name="Google Shape;706;p57"/>
          <p:cNvSpPr/>
          <p:nvPr/>
        </p:nvSpPr>
        <p:spPr>
          <a:xfrm>
            <a:off x="6603797" y="2112264"/>
            <a:ext cx="985723" cy="201168"/>
          </a:xfrm>
          <a:prstGeom prst="roundRect">
            <a:avLst>
              <a:gd name="adj" fmla="val 54545"/>
            </a:avLst>
          </a:prstGeom>
          <a:solidFill>
            <a:srgbClr val="3AD1D1"/>
          </a:solidFill>
          <a:ln w="1270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07" name="Google Shape;707;p57"/>
          <p:cNvSpPr/>
          <p:nvPr/>
        </p:nvSpPr>
        <p:spPr>
          <a:xfrm>
            <a:off x="6603797" y="2112264"/>
            <a:ext cx="985723" cy="20116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760"/>
              <a:buFont typeface="Calibri"/>
              <a:buNone/>
            </a:pPr>
            <a:r>
              <a:rPr lang="es-CL" sz="760" b="1">
                <a:solidFill>
                  <a:srgbClr val="20242C"/>
                </a:solidFill>
                <a:latin typeface="Calibri"/>
                <a:ea typeface="Calibri"/>
                <a:cs typeface="Calibri"/>
                <a:sym typeface="Calibri"/>
              </a:rPr>
              <a:t>Según contrato</a:t>
            </a:r>
            <a:endParaRPr sz="760">
              <a:solidFill>
                <a:schemeClr val="dk1"/>
              </a:solidFill>
              <a:latin typeface="Arial"/>
              <a:ea typeface="Arial"/>
              <a:cs typeface="Arial"/>
              <a:sym typeface="Arial"/>
            </a:endParaRPr>
          </a:p>
        </p:txBody>
      </p:sp>
      <p:cxnSp>
        <p:nvCxnSpPr>
          <p:cNvPr id="708" name="Google Shape;708;p57"/>
          <p:cNvCxnSpPr/>
          <p:nvPr/>
        </p:nvCxnSpPr>
        <p:spPr>
          <a:xfrm>
            <a:off x="7589520" y="2715768"/>
            <a:ext cx="182880" cy="0"/>
          </a:xfrm>
          <a:prstGeom prst="straightConnector1">
            <a:avLst/>
          </a:prstGeom>
          <a:noFill/>
          <a:ln w="19050" cap="flat" cmpd="sng">
            <a:solidFill>
              <a:srgbClr val="303640"/>
            </a:solidFill>
            <a:prstDash val="solid"/>
            <a:round/>
            <a:headEnd type="none" w="sm" len="sm"/>
            <a:tailEnd type="triangle" w="med" len="med"/>
          </a:ln>
        </p:spPr>
      </p:cxnSp>
      <p:sp>
        <p:nvSpPr>
          <p:cNvPr id="709" name="Google Shape;709;p57"/>
          <p:cNvSpPr/>
          <p:nvPr/>
        </p:nvSpPr>
        <p:spPr>
          <a:xfrm>
            <a:off x="7772400" y="2359152"/>
            <a:ext cx="1691640" cy="713232"/>
          </a:xfrm>
          <a:prstGeom prst="roundRect">
            <a:avLst>
              <a:gd name="adj" fmla="val 7692"/>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10" name="Google Shape;710;p57"/>
          <p:cNvSpPr/>
          <p:nvPr/>
        </p:nvSpPr>
        <p:spPr>
          <a:xfrm>
            <a:off x="7863840" y="2404872"/>
            <a:ext cx="1508760" cy="62179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3. Agendamiento</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Consola de despachador Field Service.</a:t>
            </a:r>
            <a:endParaRPr sz="840">
              <a:solidFill>
                <a:schemeClr val="dk1"/>
              </a:solidFill>
              <a:latin typeface="Arial"/>
              <a:ea typeface="Arial"/>
              <a:cs typeface="Arial"/>
              <a:sym typeface="Arial"/>
            </a:endParaRPr>
          </a:p>
        </p:txBody>
      </p:sp>
      <p:sp>
        <p:nvSpPr>
          <p:cNvPr id="711" name="Google Shape;711;p57"/>
          <p:cNvSpPr/>
          <p:nvPr/>
        </p:nvSpPr>
        <p:spPr>
          <a:xfrm>
            <a:off x="8097926" y="2112264"/>
            <a:ext cx="1366114" cy="201168"/>
          </a:xfrm>
          <a:prstGeom prst="roundRect">
            <a:avLst>
              <a:gd name="adj" fmla="val 54545"/>
            </a:avLst>
          </a:prstGeom>
          <a:solidFill>
            <a:srgbClr val="3AD1D1"/>
          </a:solidFill>
          <a:ln w="1270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12" name="Google Shape;712;p57"/>
          <p:cNvSpPr/>
          <p:nvPr/>
        </p:nvSpPr>
        <p:spPr>
          <a:xfrm>
            <a:off x="8097926" y="2112264"/>
            <a:ext cx="1366114" cy="20116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760"/>
              <a:buFont typeface="Calibri"/>
              <a:buNone/>
            </a:pPr>
            <a:r>
              <a:rPr lang="es-CL" sz="760" b="1">
                <a:solidFill>
                  <a:srgbClr val="20242C"/>
                </a:solidFill>
                <a:latin typeface="Calibri"/>
                <a:ea typeface="Calibri"/>
                <a:cs typeface="Calibri"/>
                <a:sym typeface="Calibri"/>
              </a:rPr>
              <a:t>Contrato · si no, 96 h</a:t>
            </a:r>
            <a:endParaRPr sz="760">
              <a:solidFill>
                <a:schemeClr val="dk1"/>
              </a:solidFill>
              <a:latin typeface="Arial"/>
              <a:ea typeface="Arial"/>
              <a:cs typeface="Arial"/>
              <a:sym typeface="Arial"/>
            </a:endParaRPr>
          </a:p>
        </p:txBody>
      </p:sp>
      <p:cxnSp>
        <p:nvCxnSpPr>
          <p:cNvPr id="713" name="Google Shape;713;p57"/>
          <p:cNvCxnSpPr/>
          <p:nvPr/>
        </p:nvCxnSpPr>
        <p:spPr>
          <a:xfrm>
            <a:off x="9464040" y="2715768"/>
            <a:ext cx="182880" cy="0"/>
          </a:xfrm>
          <a:prstGeom prst="straightConnector1">
            <a:avLst/>
          </a:prstGeom>
          <a:noFill/>
          <a:ln w="19050" cap="flat" cmpd="sng">
            <a:solidFill>
              <a:srgbClr val="303640"/>
            </a:solidFill>
            <a:prstDash val="solid"/>
            <a:round/>
            <a:headEnd type="none" w="sm" len="sm"/>
            <a:tailEnd type="triangle" w="med" len="med"/>
          </a:ln>
        </p:spPr>
      </p:cxnSp>
      <p:sp>
        <p:nvSpPr>
          <p:cNvPr id="714" name="Google Shape;714;p57"/>
          <p:cNvSpPr/>
          <p:nvPr/>
        </p:nvSpPr>
        <p:spPr>
          <a:xfrm>
            <a:off x="9646920" y="2359152"/>
            <a:ext cx="1691640" cy="713232"/>
          </a:xfrm>
          <a:prstGeom prst="roundRect">
            <a:avLst>
              <a:gd name="adj" fmla="val 7692"/>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15" name="Google Shape;715;p57"/>
          <p:cNvSpPr/>
          <p:nvPr/>
        </p:nvSpPr>
        <p:spPr>
          <a:xfrm>
            <a:off x="9738360" y="2404872"/>
            <a:ext cx="1508760" cy="62179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4. Correo con OT y fecha</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Se envía la Orden de Trabajo y la fecha al cliente.</a:t>
            </a:r>
            <a:endParaRPr sz="840">
              <a:solidFill>
                <a:schemeClr val="dk1"/>
              </a:solidFill>
              <a:latin typeface="Arial"/>
              <a:ea typeface="Arial"/>
              <a:cs typeface="Arial"/>
              <a:sym typeface="Arial"/>
            </a:endParaRPr>
          </a:p>
        </p:txBody>
      </p:sp>
      <p:cxnSp>
        <p:nvCxnSpPr>
          <p:cNvPr id="716" name="Google Shape;716;p57"/>
          <p:cNvCxnSpPr/>
          <p:nvPr/>
        </p:nvCxnSpPr>
        <p:spPr>
          <a:xfrm>
            <a:off x="10492740" y="3072384"/>
            <a:ext cx="0" cy="347472"/>
          </a:xfrm>
          <a:prstGeom prst="straightConnector1">
            <a:avLst/>
          </a:prstGeom>
          <a:noFill/>
          <a:ln w="19050" cap="flat" cmpd="sng">
            <a:solidFill>
              <a:srgbClr val="303640"/>
            </a:solidFill>
            <a:prstDash val="solid"/>
            <a:round/>
            <a:headEnd type="none" w="sm" len="sm"/>
            <a:tailEnd type="triangle" w="med" len="med"/>
          </a:ln>
        </p:spPr>
      </p:cxnSp>
      <p:sp>
        <p:nvSpPr>
          <p:cNvPr id="717" name="Google Shape;717;p57"/>
          <p:cNvSpPr/>
          <p:nvPr/>
        </p:nvSpPr>
        <p:spPr>
          <a:xfrm>
            <a:off x="9646920" y="3419856"/>
            <a:ext cx="1691640" cy="713232"/>
          </a:xfrm>
          <a:prstGeom prst="roundRect">
            <a:avLst>
              <a:gd name="adj" fmla="val 7692"/>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18" name="Google Shape;718;p57"/>
          <p:cNvSpPr/>
          <p:nvPr/>
        </p:nvSpPr>
        <p:spPr>
          <a:xfrm>
            <a:off x="9738360" y="3465576"/>
            <a:ext cx="1508760" cy="62179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5. Cierre de caso</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Se cierra el caso y se notifica al cliente.</a:t>
            </a:r>
            <a:endParaRPr sz="840">
              <a:solidFill>
                <a:schemeClr val="dk1"/>
              </a:solidFill>
              <a:latin typeface="Arial"/>
              <a:ea typeface="Arial"/>
              <a:cs typeface="Arial"/>
              <a:sym typeface="Arial"/>
            </a:endParaRPr>
          </a:p>
        </p:txBody>
      </p:sp>
      <p:sp>
        <p:nvSpPr>
          <p:cNvPr id="719" name="Google Shape;719;p57"/>
          <p:cNvSpPr/>
          <p:nvPr/>
        </p:nvSpPr>
        <p:spPr>
          <a:xfrm>
            <a:off x="10652760" y="3172968"/>
            <a:ext cx="685800" cy="201168"/>
          </a:xfrm>
          <a:prstGeom prst="roundRect">
            <a:avLst>
              <a:gd name="adj" fmla="val 54545"/>
            </a:avLst>
          </a:prstGeom>
          <a:solidFill>
            <a:srgbClr val="3AD1D1"/>
          </a:solidFill>
          <a:ln w="1270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20" name="Google Shape;720;p57"/>
          <p:cNvSpPr/>
          <p:nvPr/>
        </p:nvSpPr>
        <p:spPr>
          <a:xfrm>
            <a:off x="10652760" y="3172968"/>
            <a:ext cx="685800" cy="20116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760"/>
              <a:buFont typeface="Calibri"/>
              <a:buNone/>
            </a:pPr>
            <a:r>
              <a:rPr lang="es-CL" sz="760" b="1">
                <a:solidFill>
                  <a:srgbClr val="20242C"/>
                </a:solidFill>
                <a:latin typeface="Calibri"/>
                <a:ea typeface="Calibri"/>
                <a:cs typeface="Calibri"/>
                <a:sym typeface="Calibri"/>
              </a:rPr>
              <a:t>3 días</a:t>
            </a:r>
            <a:endParaRPr sz="760">
              <a:solidFill>
                <a:schemeClr val="dk1"/>
              </a:solidFill>
              <a:latin typeface="Arial"/>
              <a:ea typeface="Arial"/>
              <a:cs typeface="Arial"/>
              <a:sym typeface="Arial"/>
            </a:endParaRPr>
          </a:p>
        </p:txBody>
      </p:sp>
      <p:cxnSp>
        <p:nvCxnSpPr>
          <p:cNvPr id="721" name="Google Shape;721;p57"/>
          <p:cNvCxnSpPr/>
          <p:nvPr/>
        </p:nvCxnSpPr>
        <p:spPr>
          <a:xfrm>
            <a:off x="9464040" y="3776472"/>
            <a:ext cx="182880" cy="0"/>
          </a:xfrm>
          <a:prstGeom prst="straightConnector1">
            <a:avLst/>
          </a:prstGeom>
          <a:noFill/>
          <a:ln w="19050" cap="flat" cmpd="sng">
            <a:solidFill>
              <a:srgbClr val="303640"/>
            </a:solidFill>
            <a:prstDash val="solid"/>
            <a:round/>
            <a:headEnd type="triangle" w="med" len="med"/>
            <a:tailEnd type="none" w="sm" len="sm"/>
          </a:ln>
        </p:spPr>
      </p:cxnSp>
      <p:sp>
        <p:nvSpPr>
          <p:cNvPr id="722" name="Google Shape;722;p57"/>
          <p:cNvSpPr/>
          <p:nvPr/>
        </p:nvSpPr>
        <p:spPr>
          <a:xfrm>
            <a:off x="7772400" y="3419856"/>
            <a:ext cx="1691640" cy="713232"/>
          </a:xfrm>
          <a:prstGeom prst="roundRect">
            <a:avLst>
              <a:gd name="adj" fmla="val 7692"/>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23" name="Google Shape;723;p57"/>
          <p:cNvSpPr/>
          <p:nvPr/>
        </p:nvSpPr>
        <p:spPr>
          <a:xfrm>
            <a:off x="7863840" y="3465576"/>
            <a:ext cx="1508760" cy="62179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6. Gestión de Recursos</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Pasajes, hospedaje, vehículos y viáticos.</a:t>
            </a:r>
            <a:endParaRPr sz="840">
              <a:solidFill>
                <a:schemeClr val="dk1"/>
              </a:solidFill>
              <a:latin typeface="Arial"/>
              <a:ea typeface="Arial"/>
              <a:cs typeface="Arial"/>
              <a:sym typeface="Arial"/>
            </a:endParaRPr>
          </a:p>
        </p:txBody>
      </p:sp>
      <p:cxnSp>
        <p:nvCxnSpPr>
          <p:cNvPr id="724" name="Google Shape;724;p57"/>
          <p:cNvCxnSpPr/>
          <p:nvPr/>
        </p:nvCxnSpPr>
        <p:spPr>
          <a:xfrm>
            <a:off x="7589520" y="3776472"/>
            <a:ext cx="182880" cy="0"/>
          </a:xfrm>
          <a:prstGeom prst="straightConnector1">
            <a:avLst/>
          </a:prstGeom>
          <a:noFill/>
          <a:ln w="19050" cap="flat" cmpd="sng">
            <a:solidFill>
              <a:srgbClr val="303640"/>
            </a:solidFill>
            <a:prstDash val="solid"/>
            <a:round/>
            <a:headEnd type="triangle" w="med" len="med"/>
            <a:tailEnd type="none" w="sm" len="sm"/>
          </a:ln>
        </p:spPr>
      </p:cxnSp>
      <p:sp>
        <p:nvSpPr>
          <p:cNvPr id="725" name="Google Shape;725;p57"/>
          <p:cNvSpPr/>
          <p:nvPr/>
        </p:nvSpPr>
        <p:spPr>
          <a:xfrm>
            <a:off x="5897880" y="3419856"/>
            <a:ext cx="1691640" cy="713232"/>
          </a:xfrm>
          <a:prstGeom prst="roundRect">
            <a:avLst>
              <a:gd name="adj" fmla="val 7692"/>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26" name="Google Shape;726;p57"/>
          <p:cNvSpPr/>
          <p:nvPr/>
        </p:nvSpPr>
        <p:spPr>
          <a:xfrm>
            <a:off x="5989320" y="3465576"/>
            <a:ext cx="1508760" cy="62179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7. Planificación y Ejecución</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Ejecución del servicio técnico en terreno.</a:t>
            </a:r>
            <a:endParaRPr sz="840">
              <a:solidFill>
                <a:schemeClr val="dk1"/>
              </a:solidFill>
              <a:latin typeface="Arial"/>
              <a:ea typeface="Arial"/>
              <a:cs typeface="Arial"/>
              <a:sym typeface="Arial"/>
            </a:endParaRPr>
          </a:p>
        </p:txBody>
      </p:sp>
      <p:cxnSp>
        <p:nvCxnSpPr>
          <p:cNvPr id="727" name="Google Shape;727;p57"/>
          <p:cNvCxnSpPr/>
          <p:nvPr/>
        </p:nvCxnSpPr>
        <p:spPr>
          <a:xfrm>
            <a:off x="5596128" y="3776472"/>
            <a:ext cx="301752" cy="0"/>
          </a:xfrm>
          <a:prstGeom prst="straightConnector1">
            <a:avLst/>
          </a:prstGeom>
          <a:noFill/>
          <a:ln w="19050" cap="flat" cmpd="sng">
            <a:solidFill>
              <a:srgbClr val="303640"/>
            </a:solidFill>
            <a:prstDash val="solid"/>
            <a:round/>
            <a:headEnd type="triangle" w="med" len="med"/>
            <a:tailEnd type="none" w="sm" len="sm"/>
          </a:ln>
        </p:spPr>
      </p:cxnSp>
      <p:sp>
        <p:nvSpPr>
          <p:cNvPr id="728" name="Google Shape;728;p57"/>
          <p:cNvSpPr/>
          <p:nvPr/>
        </p:nvSpPr>
        <p:spPr>
          <a:xfrm>
            <a:off x="4023360" y="3419856"/>
            <a:ext cx="1572768" cy="713232"/>
          </a:xfrm>
          <a:prstGeom prst="roundRect">
            <a:avLst>
              <a:gd name="adj" fmla="val 7692"/>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29" name="Google Shape;729;p57"/>
          <p:cNvSpPr/>
          <p:nvPr/>
        </p:nvSpPr>
        <p:spPr>
          <a:xfrm>
            <a:off x="4114800" y="3465576"/>
            <a:ext cx="1389888" cy="621792"/>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8. Revisión y Cierre</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Revisión, facturación y cierre administrativo.</a:t>
            </a:r>
            <a:endParaRPr sz="840">
              <a:solidFill>
                <a:schemeClr val="dk1"/>
              </a:solidFill>
              <a:latin typeface="Arial"/>
              <a:ea typeface="Arial"/>
              <a:cs typeface="Arial"/>
              <a:sym typeface="Arial"/>
            </a:endParaRPr>
          </a:p>
        </p:txBody>
      </p:sp>
      <p:cxnSp>
        <p:nvCxnSpPr>
          <p:cNvPr id="730" name="Google Shape;730;p57"/>
          <p:cNvCxnSpPr/>
          <p:nvPr/>
        </p:nvCxnSpPr>
        <p:spPr>
          <a:xfrm>
            <a:off x="2148840" y="3776472"/>
            <a:ext cx="1874520" cy="0"/>
          </a:xfrm>
          <a:prstGeom prst="straightConnector1">
            <a:avLst/>
          </a:prstGeom>
          <a:noFill/>
          <a:ln w="19050" cap="flat" cmpd="sng">
            <a:solidFill>
              <a:srgbClr val="303640"/>
            </a:solidFill>
            <a:prstDash val="solid"/>
            <a:round/>
            <a:headEnd type="triangle" w="med" len="med"/>
            <a:tailEnd type="none" w="sm" len="sm"/>
          </a:ln>
        </p:spPr>
      </p:cxnSp>
      <p:sp>
        <p:nvSpPr>
          <p:cNvPr id="731" name="Google Shape;731;p57"/>
          <p:cNvSpPr/>
          <p:nvPr/>
        </p:nvSpPr>
        <p:spPr>
          <a:xfrm>
            <a:off x="1188720" y="3547872"/>
            <a:ext cx="914400" cy="457200"/>
          </a:xfrm>
          <a:prstGeom prst="ellipse">
            <a:avLst/>
          </a:prstGeom>
          <a:solidFill>
            <a:srgbClr val="303640"/>
          </a:solidFill>
          <a:ln w="1395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32" name="Google Shape;732;p57"/>
          <p:cNvSpPr/>
          <p:nvPr/>
        </p:nvSpPr>
        <p:spPr>
          <a:xfrm>
            <a:off x="1188720" y="3547872"/>
            <a:ext cx="91440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Calibri"/>
              <a:buNone/>
            </a:pPr>
            <a:r>
              <a:rPr lang="es-CL" sz="900" b="1">
                <a:solidFill>
                  <a:srgbClr val="FFFFFF"/>
                </a:solidFill>
                <a:latin typeface="Calibri"/>
                <a:ea typeface="Calibri"/>
                <a:cs typeface="Calibri"/>
                <a:sym typeface="Calibri"/>
              </a:rPr>
              <a:t>FIN</a:t>
            </a:r>
            <a:endParaRPr sz="900">
              <a:solidFill>
                <a:schemeClr val="dk1"/>
              </a:solidFill>
              <a:latin typeface="Arial"/>
              <a:ea typeface="Arial"/>
              <a:cs typeface="Arial"/>
              <a:sym typeface="Arial"/>
            </a:endParaRPr>
          </a:p>
        </p:txBody>
      </p:sp>
      <p:sp>
        <p:nvSpPr>
          <p:cNvPr id="733" name="Google Shape;733;p57"/>
          <p:cNvSpPr/>
          <p:nvPr/>
        </p:nvSpPr>
        <p:spPr>
          <a:xfrm>
            <a:off x="274320" y="4315968"/>
            <a:ext cx="7955280" cy="237744"/>
          </a:xfrm>
          <a:prstGeom prst="roundRect">
            <a:avLst>
              <a:gd name="adj" fmla="val 23077"/>
            </a:avLst>
          </a:prstGeom>
          <a:solidFill>
            <a:srgbClr val="3AD1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34" name="Google Shape;734;p57"/>
          <p:cNvSpPr/>
          <p:nvPr/>
        </p:nvSpPr>
        <p:spPr>
          <a:xfrm>
            <a:off x="274320" y="4315968"/>
            <a:ext cx="7955280" cy="237744"/>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850"/>
              <a:buFont typeface="Calibri"/>
              <a:buNone/>
            </a:pPr>
            <a:r>
              <a:rPr lang="es-CL" sz="850" b="1">
                <a:solidFill>
                  <a:srgbClr val="20242C"/>
                </a:solidFill>
                <a:latin typeface="Calibri"/>
                <a:ea typeface="Calibri"/>
                <a:cs typeface="Calibri"/>
                <a:sym typeface="Calibri"/>
              </a:rPr>
              <a:t>CAMINO B  ·  Solicitud de cotización</a:t>
            </a:r>
            <a:endParaRPr sz="850">
              <a:solidFill>
                <a:schemeClr val="dk1"/>
              </a:solidFill>
              <a:latin typeface="Arial"/>
              <a:ea typeface="Arial"/>
              <a:cs typeface="Arial"/>
              <a:sym typeface="Arial"/>
            </a:endParaRPr>
          </a:p>
        </p:txBody>
      </p:sp>
      <p:sp>
        <p:nvSpPr>
          <p:cNvPr id="735" name="Google Shape;735;p57"/>
          <p:cNvSpPr/>
          <p:nvPr/>
        </p:nvSpPr>
        <p:spPr>
          <a:xfrm>
            <a:off x="274320" y="4818888"/>
            <a:ext cx="1417320" cy="822960"/>
          </a:xfrm>
          <a:prstGeom prst="diamond">
            <a:avLst/>
          </a:prstGeom>
          <a:solidFill>
            <a:srgbClr val="303640"/>
          </a:solidFill>
          <a:ln w="15875"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36" name="Google Shape;736;p57"/>
          <p:cNvSpPr/>
          <p:nvPr/>
        </p:nvSpPr>
        <p:spPr>
          <a:xfrm>
            <a:off x="329184" y="4873752"/>
            <a:ext cx="1307592" cy="713232"/>
          </a:xfrm>
          <a:prstGeom prst="rect">
            <a:avLst/>
          </a:prstGeom>
          <a:noFill/>
          <a:ln>
            <a:noFill/>
          </a:ln>
        </p:spPr>
        <p:txBody>
          <a:bodyPr spcFirstLastPara="1" wrap="square" lIns="0" tIns="0" rIns="0" bIns="0" anchor="ctr" anchorCtr="0">
            <a:noAutofit/>
          </a:bodyPr>
          <a:lstStyle/>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¿Solicitud de</a:t>
            </a:r>
            <a:endParaRPr sz="760">
              <a:solidFill>
                <a:schemeClr val="dk1"/>
              </a:solidFill>
              <a:latin typeface="Arial"/>
              <a:ea typeface="Arial"/>
              <a:cs typeface="Arial"/>
              <a:sym typeface="Arial"/>
            </a:endParaRPr>
          </a:p>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cotización?</a:t>
            </a:r>
            <a:endParaRPr sz="760">
              <a:solidFill>
                <a:schemeClr val="dk1"/>
              </a:solidFill>
              <a:latin typeface="Arial"/>
              <a:ea typeface="Arial"/>
              <a:cs typeface="Arial"/>
              <a:sym typeface="Arial"/>
            </a:endParaRPr>
          </a:p>
        </p:txBody>
      </p:sp>
      <p:cxnSp>
        <p:nvCxnSpPr>
          <p:cNvPr id="737" name="Google Shape;737;p57"/>
          <p:cNvCxnSpPr/>
          <p:nvPr/>
        </p:nvCxnSpPr>
        <p:spPr>
          <a:xfrm>
            <a:off x="1691640" y="5184648"/>
            <a:ext cx="182880" cy="0"/>
          </a:xfrm>
          <a:prstGeom prst="straightConnector1">
            <a:avLst/>
          </a:prstGeom>
          <a:noFill/>
          <a:ln w="19050" cap="flat" cmpd="sng">
            <a:solidFill>
              <a:srgbClr val="303640"/>
            </a:solidFill>
            <a:prstDash val="solid"/>
            <a:round/>
            <a:headEnd type="none" w="sm" len="sm"/>
            <a:tailEnd type="triangle" w="med" len="med"/>
          </a:ln>
        </p:spPr>
      </p:cxnSp>
      <p:sp>
        <p:nvSpPr>
          <p:cNvPr id="738" name="Google Shape;738;p57"/>
          <p:cNvSpPr/>
          <p:nvPr/>
        </p:nvSpPr>
        <p:spPr>
          <a:xfrm>
            <a:off x="1874520" y="4864608"/>
            <a:ext cx="1920240" cy="640080"/>
          </a:xfrm>
          <a:prstGeom prst="roundRect">
            <a:avLst>
              <a:gd name="adj" fmla="val 8571"/>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39" name="Google Shape;739;p57"/>
          <p:cNvSpPr/>
          <p:nvPr/>
        </p:nvSpPr>
        <p:spPr>
          <a:xfrm>
            <a:off x="1965960" y="4910328"/>
            <a:ext cx="1737360"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Generar oportunidad</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Cotización en Salesforce enviada al cliente.</a:t>
            </a:r>
            <a:endParaRPr sz="840">
              <a:solidFill>
                <a:schemeClr val="dk1"/>
              </a:solidFill>
              <a:latin typeface="Arial"/>
              <a:ea typeface="Arial"/>
              <a:cs typeface="Arial"/>
              <a:sym typeface="Arial"/>
            </a:endParaRPr>
          </a:p>
        </p:txBody>
      </p:sp>
      <p:sp>
        <p:nvSpPr>
          <p:cNvPr id="740" name="Google Shape;740;p57"/>
          <p:cNvSpPr/>
          <p:nvPr/>
        </p:nvSpPr>
        <p:spPr>
          <a:xfrm>
            <a:off x="3108960" y="4617720"/>
            <a:ext cx="685800" cy="201168"/>
          </a:xfrm>
          <a:prstGeom prst="roundRect">
            <a:avLst>
              <a:gd name="adj" fmla="val 54545"/>
            </a:avLst>
          </a:prstGeom>
          <a:solidFill>
            <a:srgbClr val="3AD1D1"/>
          </a:solidFill>
          <a:ln w="1270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41" name="Google Shape;741;p57"/>
          <p:cNvSpPr/>
          <p:nvPr/>
        </p:nvSpPr>
        <p:spPr>
          <a:xfrm>
            <a:off x="3108960" y="4617720"/>
            <a:ext cx="685800" cy="20116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760"/>
              <a:buFont typeface="Calibri"/>
              <a:buNone/>
            </a:pPr>
            <a:r>
              <a:rPr lang="es-CL" sz="760" b="1">
                <a:solidFill>
                  <a:srgbClr val="20242C"/>
                </a:solidFill>
                <a:latin typeface="Calibri"/>
                <a:ea typeface="Calibri"/>
                <a:cs typeface="Calibri"/>
                <a:sym typeface="Calibri"/>
              </a:rPr>
              <a:t>24 h</a:t>
            </a:r>
            <a:endParaRPr sz="760">
              <a:solidFill>
                <a:schemeClr val="dk1"/>
              </a:solidFill>
              <a:latin typeface="Arial"/>
              <a:ea typeface="Arial"/>
              <a:cs typeface="Arial"/>
              <a:sym typeface="Arial"/>
            </a:endParaRPr>
          </a:p>
        </p:txBody>
      </p:sp>
      <p:cxnSp>
        <p:nvCxnSpPr>
          <p:cNvPr id="742" name="Google Shape;742;p57"/>
          <p:cNvCxnSpPr/>
          <p:nvPr/>
        </p:nvCxnSpPr>
        <p:spPr>
          <a:xfrm>
            <a:off x="3794760" y="5184648"/>
            <a:ext cx="182880" cy="0"/>
          </a:xfrm>
          <a:prstGeom prst="straightConnector1">
            <a:avLst/>
          </a:prstGeom>
          <a:noFill/>
          <a:ln w="19050" cap="flat" cmpd="sng">
            <a:solidFill>
              <a:srgbClr val="303640"/>
            </a:solidFill>
            <a:prstDash val="solid"/>
            <a:round/>
            <a:headEnd type="none" w="sm" len="sm"/>
            <a:tailEnd type="triangle" w="med" len="med"/>
          </a:ln>
        </p:spPr>
      </p:cxnSp>
      <p:sp>
        <p:nvSpPr>
          <p:cNvPr id="743" name="Google Shape;743;p57"/>
          <p:cNvSpPr/>
          <p:nvPr/>
        </p:nvSpPr>
        <p:spPr>
          <a:xfrm>
            <a:off x="3977640" y="4818888"/>
            <a:ext cx="1371600" cy="822960"/>
          </a:xfrm>
          <a:prstGeom prst="diamond">
            <a:avLst/>
          </a:prstGeom>
          <a:solidFill>
            <a:srgbClr val="303640"/>
          </a:solidFill>
          <a:ln w="15875"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44" name="Google Shape;744;p57"/>
          <p:cNvSpPr/>
          <p:nvPr/>
        </p:nvSpPr>
        <p:spPr>
          <a:xfrm>
            <a:off x="4032504" y="4873752"/>
            <a:ext cx="1261872" cy="713232"/>
          </a:xfrm>
          <a:prstGeom prst="rect">
            <a:avLst/>
          </a:prstGeom>
          <a:noFill/>
          <a:ln>
            <a:noFill/>
          </a:ln>
        </p:spPr>
        <p:txBody>
          <a:bodyPr spcFirstLastPara="1" wrap="square" lIns="0" tIns="0" rIns="0" bIns="0" anchor="ctr" anchorCtr="0">
            <a:noAutofit/>
          </a:bodyPr>
          <a:lstStyle/>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¿Cliente</a:t>
            </a:r>
            <a:endParaRPr sz="760">
              <a:solidFill>
                <a:schemeClr val="dk1"/>
              </a:solidFill>
              <a:latin typeface="Arial"/>
              <a:ea typeface="Arial"/>
              <a:cs typeface="Arial"/>
              <a:sym typeface="Arial"/>
            </a:endParaRPr>
          </a:p>
          <a:p>
            <a:pPr marL="0" marR="0" lvl="0" indent="0" algn="ctr" rtl="0">
              <a:lnSpc>
                <a:spcPct val="92000"/>
              </a:lnSpc>
              <a:spcBef>
                <a:spcPts val="0"/>
              </a:spcBef>
              <a:spcAft>
                <a:spcPts val="0"/>
              </a:spcAft>
              <a:buClr>
                <a:srgbClr val="FFFFFF"/>
              </a:buClr>
              <a:buSzPts val="760"/>
              <a:buFont typeface="Calibri"/>
              <a:buNone/>
            </a:pPr>
            <a:r>
              <a:rPr lang="es-CL" sz="760" b="1">
                <a:solidFill>
                  <a:srgbClr val="FFFFFF"/>
                </a:solidFill>
                <a:latin typeface="Calibri"/>
                <a:ea typeface="Calibri"/>
                <a:cs typeface="Calibri"/>
                <a:sym typeface="Calibri"/>
              </a:rPr>
              <a:t>acepta?</a:t>
            </a:r>
            <a:endParaRPr sz="760">
              <a:solidFill>
                <a:schemeClr val="dk1"/>
              </a:solidFill>
              <a:latin typeface="Arial"/>
              <a:ea typeface="Arial"/>
              <a:cs typeface="Arial"/>
              <a:sym typeface="Arial"/>
            </a:endParaRPr>
          </a:p>
        </p:txBody>
      </p:sp>
      <p:cxnSp>
        <p:nvCxnSpPr>
          <p:cNvPr id="745" name="Google Shape;745;p57"/>
          <p:cNvCxnSpPr/>
          <p:nvPr/>
        </p:nvCxnSpPr>
        <p:spPr>
          <a:xfrm>
            <a:off x="5349240" y="5184648"/>
            <a:ext cx="182880" cy="0"/>
          </a:xfrm>
          <a:prstGeom prst="straightConnector1">
            <a:avLst/>
          </a:prstGeom>
          <a:noFill/>
          <a:ln w="19050" cap="flat" cmpd="sng">
            <a:solidFill>
              <a:srgbClr val="303640"/>
            </a:solidFill>
            <a:prstDash val="solid"/>
            <a:round/>
            <a:headEnd type="none" w="sm" len="sm"/>
            <a:tailEnd type="triangle" w="med" len="med"/>
          </a:ln>
        </p:spPr>
      </p:cxnSp>
      <p:sp>
        <p:nvSpPr>
          <p:cNvPr id="746" name="Google Shape;746;p57"/>
          <p:cNvSpPr/>
          <p:nvPr/>
        </p:nvSpPr>
        <p:spPr>
          <a:xfrm>
            <a:off x="5532120" y="4864608"/>
            <a:ext cx="2148840" cy="640080"/>
          </a:xfrm>
          <a:prstGeom prst="roundRect">
            <a:avLst>
              <a:gd name="adj" fmla="val 8571"/>
            </a:avLst>
          </a:prstGeom>
          <a:solidFill>
            <a:srgbClr val="EAFBFB"/>
          </a:solidFill>
          <a:ln w="15875" cap="flat" cmpd="sng">
            <a:solidFill>
              <a:srgbClr val="3AD1D1"/>
            </a:solidFill>
            <a:prstDash val="dash"/>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47" name="Google Shape;747;p57"/>
          <p:cNvSpPr/>
          <p:nvPr/>
        </p:nvSpPr>
        <p:spPr>
          <a:xfrm>
            <a:off x="5669280" y="4864608"/>
            <a:ext cx="1874520" cy="64008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20242C"/>
              </a:buClr>
              <a:buSzPts val="760"/>
              <a:buFont typeface="Calibri"/>
              <a:buNone/>
            </a:pPr>
            <a:r>
              <a:rPr lang="es-CL" sz="760" b="1" i="1">
                <a:solidFill>
                  <a:srgbClr val="20242C"/>
                </a:solidFill>
                <a:latin typeface="Calibri"/>
                <a:ea typeface="Calibri"/>
                <a:cs typeface="Calibri"/>
                <a:sym typeface="Calibri"/>
              </a:rPr>
              <a:t>↳ Continúa en Camino A</a:t>
            </a:r>
            <a:endParaRPr sz="760">
              <a:solidFill>
                <a:schemeClr val="dk1"/>
              </a:solidFill>
              <a:latin typeface="Arial"/>
              <a:ea typeface="Arial"/>
              <a:cs typeface="Arial"/>
              <a:sym typeface="Arial"/>
            </a:endParaRPr>
          </a:p>
          <a:p>
            <a:pPr marL="0" marR="0" lvl="0" indent="0" algn="ctr" rtl="0">
              <a:lnSpc>
                <a:spcPct val="100000"/>
              </a:lnSpc>
              <a:spcBef>
                <a:spcPts val="0"/>
              </a:spcBef>
              <a:spcAft>
                <a:spcPts val="0"/>
              </a:spcAft>
              <a:buClr>
                <a:srgbClr val="20242C"/>
              </a:buClr>
              <a:buSzPts val="760"/>
              <a:buFont typeface="Calibri"/>
              <a:buNone/>
            </a:pPr>
            <a:r>
              <a:rPr lang="es-CL" sz="760" b="1" i="1">
                <a:solidFill>
                  <a:srgbClr val="20242C"/>
                </a:solidFill>
                <a:latin typeface="Calibri"/>
                <a:ea typeface="Calibri"/>
                <a:cs typeface="Calibri"/>
                <a:sym typeface="Calibri"/>
              </a:rPr>
              <a:t>2. Asignación</a:t>
            </a:r>
            <a:endParaRPr sz="760">
              <a:solidFill>
                <a:schemeClr val="dk1"/>
              </a:solidFill>
              <a:latin typeface="Arial"/>
              <a:ea typeface="Arial"/>
              <a:cs typeface="Arial"/>
              <a:sym typeface="Arial"/>
            </a:endParaRPr>
          </a:p>
        </p:txBody>
      </p:sp>
      <p:cxnSp>
        <p:nvCxnSpPr>
          <p:cNvPr id="748" name="Google Shape;748;p57"/>
          <p:cNvCxnSpPr/>
          <p:nvPr/>
        </p:nvCxnSpPr>
        <p:spPr>
          <a:xfrm>
            <a:off x="982980" y="5641848"/>
            <a:ext cx="0" cy="210312"/>
          </a:xfrm>
          <a:prstGeom prst="straightConnector1">
            <a:avLst/>
          </a:prstGeom>
          <a:noFill/>
          <a:ln w="19050" cap="flat" cmpd="sng">
            <a:solidFill>
              <a:srgbClr val="303640"/>
            </a:solidFill>
            <a:prstDash val="solid"/>
            <a:round/>
            <a:headEnd type="none" w="sm" len="sm"/>
            <a:tailEnd type="triangle" w="med" len="med"/>
          </a:ln>
        </p:spPr>
      </p:cxnSp>
      <p:sp>
        <p:nvSpPr>
          <p:cNvPr id="749" name="Google Shape;749;p57"/>
          <p:cNvSpPr/>
          <p:nvPr/>
        </p:nvSpPr>
        <p:spPr>
          <a:xfrm>
            <a:off x="274320" y="5852160"/>
            <a:ext cx="1783080" cy="640080"/>
          </a:xfrm>
          <a:prstGeom prst="roundRect">
            <a:avLst>
              <a:gd name="adj" fmla="val 8571"/>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50" name="Google Shape;750;p57"/>
          <p:cNvSpPr/>
          <p:nvPr/>
        </p:nvSpPr>
        <p:spPr>
          <a:xfrm>
            <a:off x="365760" y="5897880"/>
            <a:ext cx="1600200"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Cierre de caso</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Se notifica el cierre al cliente.</a:t>
            </a:r>
            <a:endParaRPr sz="840">
              <a:solidFill>
                <a:schemeClr val="dk1"/>
              </a:solidFill>
              <a:latin typeface="Arial"/>
              <a:ea typeface="Arial"/>
              <a:cs typeface="Arial"/>
              <a:sym typeface="Arial"/>
            </a:endParaRPr>
          </a:p>
        </p:txBody>
      </p:sp>
      <p:cxnSp>
        <p:nvCxnSpPr>
          <p:cNvPr id="751" name="Google Shape;751;p57"/>
          <p:cNvCxnSpPr/>
          <p:nvPr/>
        </p:nvCxnSpPr>
        <p:spPr>
          <a:xfrm>
            <a:off x="2057400" y="6172200"/>
            <a:ext cx="182880" cy="0"/>
          </a:xfrm>
          <a:prstGeom prst="straightConnector1">
            <a:avLst/>
          </a:prstGeom>
          <a:noFill/>
          <a:ln w="19050" cap="flat" cmpd="sng">
            <a:solidFill>
              <a:srgbClr val="303640"/>
            </a:solidFill>
            <a:prstDash val="solid"/>
            <a:round/>
            <a:headEnd type="none" w="sm" len="sm"/>
            <a:tailEnd type="triangle" w="med" len="med"/>
          </a:ln>
        </p:spPr>
      </p:cxnSp>
      <p:sp>
        <p:nvSpPr>
          <p:cNvPr id="752" name="Google Shape;752;p57"/>
          <p:cNvSpPr/>
          <p:nvPr/>
        </p:nvSpPr>
        <p:spPr>
          <a:xfrm>
            <a:off x="2240280" y="5943600"/>
            <a:ext cx="868680" cy="457200"/>
          </a:xfrm>
          <a:prstGeom prst="ellipse">
            <a:avLst/>
          </a:prstGeom>
          <a:solidFill>
            <a:srgbClr val="303640"/>
          </a:solidFill>
          <a:ln w="1395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53" name="Google Shape;753;p57"/>
          <p:cNvSpPr/>
          <p:nvPr/>
        </p:nvSpPr>
        <p:spPr>
          <a:xfrm>
            <a:off x="2240280" y="5943600"/>
            <a:ext cx="86868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Calibri"/>
              <a:buNone/>
            </a:pPr>
            <a:r>
              <a:rPr lang="es-CL" sz="900" b="1">
                <a:solidFill>
                  <a:srgbClr val="FFFFFF"/>
                </a:solidFill>
                <a:latin typeface="Calibri"/>
                <a:ea typeface="Calibri"/>
                <a:cs typeface="Calibri"/>
                <a:sym typeface="Calibri"/>
              </a:rPr>
              <a:t>FIN</a:t>
            </a:r>
            <a:endParaRPr sz="900">
              <a:solidFill>
                <a:schemeClr val="dk1"/>
              </a:solidFill>
              <a:latin typeface="Arial"/>
              <a:ea typeface="Arial"/>
              <a:cs typeface="Arial"/>
              <a:sym typeface="Arial"/>
            </a:endParaRPr>
          </a:p>
        </p:txBody>
      </p:sp>
      <p:cxnSp>
        <p:nvCxnSpPr>
          <p:cNvPr id="754" name="Google Shape;754;p57"/>
          <p:cNvCxnSpPr/>
          <p:nvPr/>
        </p:nvCxnSpPr>
        <p:spPr>
          <a:xfrm>
            <a:off x="4663440" y="5641848"/>
            <a:ext cx="0" cy="210312"/>
          </a:xfrm>
          <a:prstGeom prst="straightConnector1">
            <a:avLst/>
          </a:prstGeom>
          <a:noFill/>
          <a:ln w="19050" cap="flat" cmpd="sng">
            <a:solidFill>
              <a:srgbClr val="303640"/>
            </a:solidFill>
            <a:prstDash val="solid"/>
            <a:round/>
            <a:headEnd type="none" w="sm" len="sm"/>
            <a:tailEnd type="triangle" w="med" len="med"/>
          </a:ln>
        </p:spPr>
      </p:cxnSp>
      <p:sp>
        <p:nvSpPr>
          <p:cNvPr id="755" name="Google Shape;755;p57"/>
          <p:cNvSpPr/>
          <p:nvPr/>
        </p:nvSpPr>
        <p:spPr>
          <a:xfrm>
            <a:off x="3794760" y="5852160"/>
            <a:ext cx="1691640" cy="640080"/>
          </a:xfrm>
          <a:prstGeom prst="roundRect">
            <a:avLst>
              <a:gd name="adj" fmla="val 8571"/>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56" name="Google Shape;756;p57"/>
          <p:cNvSpPr/>
          <p:nvPr/>
        </p:nvSpPr>
        <p:spPr>
          <a:xfrm>
            <a:off x="3886200" y="5897880"/>
            <a:ext cx="1508760"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Oportunidad perdida</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Se cierra la oportunidad en Salesforce.</a:t>
            </a:r>
            <a:endParaRPr sz="840">
              <a:solidFill>
                <a:schemeClr val="dk1"/>
              </a:solidFill>
              <a:latin typeface="Arial"/>
              <a:ea typeface="Arial"/>
              <a:cs typeface="Arial"/>
              <a:sym typeface="Arial"/>
            </a:endParaRPr>
          </a:p>
        </p:txBody>
      </p:sp>
      <p:cxnSp>
        <p:nvCxnSpPr>
          <p:cNvPr id="757" name="Google Shape;757;p57"/>
          <p:cNvCxnSpPr/>
          <p:nvPr/>
        </p:nvCxnSpPr>
        <p:spPr>
          <a:xfrm>
            <a:off x="5486400" y="6172200"/>
            <a:ext cx="182880" cy="0"/>
          </a:xfrm>
          <a:prstGeom prst="straightConnector1">
            <a:avLst/>
          </a:prstGeom>
          <a:noFill/>
          <a:ln w="19050" cap="flat" cmpd="sng">
            <a:solidFill>
              <a:srgbClr val="303640"/>
            </a:solidFill>
            <a:prstDash val="solid"/>
            <a:round/>
            <a:headEnd type="none" w="sm" len="sm"/>
            <a:tailEnd type="triangle" w="med" len="med"/>
          </a:ln>
        </p:spPr>
      </p:cxnSp>
      <p:sp>
        <p:nvSpPr>
          <p:cNvPr id="758" name="Google Shape;758;p57"/>
          <p:cNvSpPr/>
          <p:nvPr/>
        </p:nvSpPr>
        <p:spPr>
          <a:xfrm>
            <a:off x="5669280" y="5852160"/>
            <a:ext cx="1783080" cy="640080"/>
          </a:xfrm>
          <a:prstGeom prst="roundRect">
            <a:avLst>
              <a:gd name="adj" fmla="val 8571"/>
            </a:avLst>
          </a:prstGeom>
          <a:solidFill>
            <a:srgbClr val="F3F5F6"/>
          </a:solidFill>
          <a:ln w="12700" cap="flat" cmpd="sng">
            <a:solidFill>
              <a:srgbClr val="303640"/>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59" name="Google Shape;759;p57"/>
          <p:cNvSpPr/>
          <p:nvPr/>
        </p:nvSpPr>
        <p:spPr>
          <a:xfrm>
            <a:off x="5760720" y="5897880"/>
            <a:ext cx="1600200" cy="54864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2A2E36"/>
              </a:buClr>
              <a:buSzPts val="839"/>
              <a:buFont typeface="Calibri"/>
              <a:buNone/>
            </a:pPr>
            <a:r>
              <a:rPr lang="es-CL" sz="840" b="1">
                <a:solidFill>
                  <a:srgbClr val="2A2E36"/>
                </a:solidFill>
                <a:latin typeface="Calibri"/>
                <a:ea typeface="Calibri"/>
                <a:cs typeface="Calibri"/>
                <a:sym typeface="Calibri"/>
              </a:rPr>
              <a:t>Cierre de caso</a:t>
            </a:r>
            <a:endParaRPr sz="84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6B7178"/>
              </a:buClr>
              <a:buSzPts val="700"/>
              <a:buFont typeface="Calibri"/>
              <a:buNone/>
            </a:pPr>
            <a:r>
              <a:rPr lang="es-CL" sz="700">
                <a:solidFill>
                  <a:srgbClr val="6B7178"/>
                </a:solidFill>
                <a:latin typeface="Calibri"/>
                <a:ea typeface="Calibri"/>
                <a:cs typeface="Calibri"/>
                <a:sym typeface="Calibri"/>
              </a:rPr>
              <a:t>Se notifica el cierre al cliente.</a:t>
            </a:r>
            <a:endParaRPr sz="840">
              <a:solidFill>
                <a:schemeClr val="dk1"/>
              </a:solidFill>
              <a:latin typeface="Arial"/>
              <a:ea typeface="Arial"/>
              <a:cs typeface="Arial"/>
              <a:sym typeface="Arial"/>
            </a:endParaRPr>
          </a:p>
        </p:txBody>
      </p:sp>
      <p:sp>
        <p:nvSpPr>
          <p:cNvPr id="760" name="Google Shape;760;p57"/>
          <p:cNvSpPr/>
          <p:nvPr/>
        </p:nvSpPr>
        <p:spPr>
          <a:xfrm>
            <a:off x="6766560" y="5605272"/>
            <a:ext cx="685800" cy="201168"/>
          </a:xfrm>
          <a:prstGeom prst="roundRect">
            <a:avLst>
              <a:gd name="adj" fmla="val 54545"/>
            </a:avLst>
          </a:prstGeom>
          <a:solidFill>
            <a:srgbClr val="3AD1D1"/>
          </a:solidFill>
          <a:ln w="1270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61" name="Google Shape;761;p57"/>
          <p:cNvSpPr/>
          <p:nvPr/>
        </p:nvSpPr>
        <p:spPr>
          <a:xfrm>
            <a:off x="6766560" y="5605272"/>
            <a:ext cx="685800" cy="201168"/>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760"/>
              <a:buFont typeface="Calibri"/>
              <a:buNone/>
            </a:pPr>
            <a:r>
              <a:rPr lang="es-CL" sz="760" b="1">
                <a:solidFill>
                  <a:srgbClr val="20242C"/>
                </a:solidFill>
                <a:latin typeface="Calibri"/>
                <a:ea typeface="Calibri"/>
                <a:cs typeface="Calibri"/>
                <a:sym typeface="Calibri"/>
              </a:rPr>
              <a:t>3 días</a:t>
            </a:r>
            <a:endParaRPr sz="760">
              <a:solidFill>
                <a:schemeClr val="dk1"/>
              </a:solidFill>
              <a:latin typeface="Arial"/>
              <a:ea typeface="Arial"/>
              <a:cs typeface="Arial"/>
              <a:sym typeface="Arial"/>
            </a:endParaRPr>
          </a:p>
        </p:txBody>
      </p:sp>
      <p:cxnSp>
        <p:nvCxnSpPr>
          <p:cNvPr id="762" name="Google Shape;762;p57"/>
          <p:cNvCxnSpPr/>
          <p:nvPr/>
        </p:nvCxnSpPr>
        <p:spPr>
          <a:xfrm>
            <a:off x="7452360" y="6172200"/>
            <a:ext cx="182880" cy="0"/>
          </a:xfrm>
          <a:prstGeom prst="straightConnector1">
            <a:avLst/>
          </a:prstGeom>
          <a:noFill/>
          <a:ln w="19050" cap="flat" cmpd="sng">
            <a:solidFill>
              <a:srgbClr val="303640"/>
            </a:solidFill>
            <a:prstDash val="solid"/>
            <a:round/>
            <a:headEnd type="none" w="sm" len="sm"/>
            <a:tailEnd type="triangle" w="med" len="med"/>
          </a:ln>
        </p:spPr>
      </p:cxnSp>
      <p:sp>
        <p:nvSpPr>
          <p:cNvPr id="763" name="Google Shape;763;p57"/>
          <p:cNvSpPr/>
          <p:nvPr/>
        </p:nvSpPr>
        <p:spPr>
          <a:xfrm>
            <a:off x="7635240" y="5943600"/>
            <a:ext cx="868680" cy="457200"/>
          </a:xfrm>
          <a:prstGeom prst="ellipse">
            <a:avLst/>
          </a:prstGeom>
          <a:solidFill>
            <a:srgbClr val="303640"/>
          </a:solidFill>
          <a:ln w="13950" cap="flat" cmpd="sng">
            <a:solidFill>
              <a:srgbClr val="FFFFFF"/>
            </a:solidFill>
            <a:prstDash val="solid"/>
            <a:round/>
            <a:headEnd type="none" w="sm" len="sm"/>
            <a:tailEnd type="none" w="sm" len="sm"/>
          </a:ln>
          <a:effectLst>
            <a:outerShdw blurRad="50800" dist="19050" dir="5400000" algn="bl" rotWithShape="0">
              <a:srgbClr val="000000">
                <a:alpha val="14902"/>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64" name="Google Shape;764;p57"/>
          <p:cNvSpPr/>
          <p:nvPr/>
        </p:nvSpPr>
        <p:spPr>
          <a:xfrm>
            <a:off x="7635240" y="5943600"/>
            <a:ext cx="868680" cy="45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Calibri"/>
              <a:buNone/>
            </a:pPr>
            <a:r>
              <a:rPr lang="es-CL" sz="900" b="1">
                <a:solidFill>
                  <a:srgbClr val="FFFFFF"/>
                </a:solidFill>
                <a:latin typeface="Calibri"/>
                <a:ea typeface="Calibri"/>
                <a:cs typeface="Calibri"/>
                <a:sym typeface="Calibri"/>
              </a:rPr>
              <a:t>FIN</a:t>
            </a:r>
            <a:endParaRPr sz="900">
              <a:solidFill>
                <a:schemeClr val="dk1"/>
              </a:solidFill>
              <a:latin typeface="Arial"/>
              <a:ea typeface="Arial"/>
              <a:cs typeface="Arial"/>
              <a:sym typeface="Arial"/>
            </a:endParaRPr>
          </a:p>
        </p:txBody>
      </p:sp>
      <p:cxnSp>
        <p:nvCxnSpPr>
          <p:cNvPr id="765" name="Google Shape;765;p57"/>
          <p:cNvCxnSpPr/>
          <p:nvPr/>
        </p:nvCxnSpPr>
        <p:spPr>
          <a:xfrm rot="10800000" flipH="1">
            <a:off x="960120" y="2730489"/>
            <a:ext cx="3172968" cy="21855"/>
          </a:xfrm>
          <a:prstGeom prst="straightConnector1">
            <a:avLst/>
          </a:prstGeom>
          <a:noFill/>
          <a:ln w="19050" cap="flat" cmpd="sng">
            <a:solidFill>
              <a:srgbClr val="303640"/>
            </a:solidFill>
            <a:prstDash val="solid"/>
            <a:round/>
            <a:headEnd type="none" w="sm" len="sm"/>
            <a:tailEnd type="none" w="sm" len="sm"/>
          </a:ln>
        </p:spPr>
      </p:cxnSp>
      <p:sp>
        <p:nvSpPr>
          <p:cNvPr id="766" name="Google Shape;766;p57"/>
          <p:cNvSpPr/>
          <p:nvPr/>
        </p:nvSpPr>
        <p:spPr>
          <a:xfrm>
            <a:off x="1781355" y="2606040"/>
            <a:ext cx="365760" cy="219456"/>
          </a:xfrm>
          <a:prstGeom prst="roundRect">
            <a:avLst>
              <a:gd name="adj" fmla="val 25000"/>
            </a:avLst>
          </a:prstGeom>
          <a:solidFill>
            <a:srgbClr val="3AD1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67" name="Google Shape;767;p57"/>
          <p:cNvSpPr/>
          <p:nvPr/>
        </p:nvSpPr>
        <p:spPr>
          <a:xfrm>
            <a:off x="1781355" y="2606040"/>
            <a:ext cx="36576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850"/>
              <a:buFont typeface="Calibri"/>
              <a:buNone/>
            </a:pPr>
            <a:r>
              <a:rPr lang="es-CL" sz="850" b="1">
                <a:solidFill>
                  <a:srgbClr val="20242C"/>
                </a:solidFill>
                <a:latin typeface="Calibri"/>
                <a:ea typeface="Calibri"/>
                <a:cs typeface="Calibri"/>
                <a:sym typeface="Calibri"/>
              </a:rPr>
              <a:t>NO</a:t>
            </a:r>
            <a:endParaRPr sz="850">
              <a:solidFill>
                <a:schemeClr val="dk1"/>
              </a:solidFill>
              <a:latin typeface="Arial"/>
              <a:ea typeface="Arial"/>
              <a:cs typeface="Arial"/>
              <a:sym typeface="Arial"/>
            </a:endParaRPr>
          </a:p>
        </p:txBody>
      </p:sp>
      <p:sp>
        <p:nvSpPr>
          <p:cNvPr id="768" name="Google Shape;768;p57"/>
          <p:cNvSpPr/>
          <p:nvPr/>
        </p:nvSpPr>
        <p:spPr>
          <a:xfrm>
            <a:off x="5417734" y="2596609"/>
            <a:ext cx="365760" cy="219456"/>
          </a:xfrm>
          <a:prstGeom prst="roundRect">
            <a:avLst>
              <a:gd name="adj" fmla="val 25000"/>
            </a:avLst>
          </a:prstGeom>
          <a:solidFill>
            <a:srgbClr val="3AD1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69" name="Google Shape;769;p57"/>
          <p:cNvSpPr/>
          <p:nvPr/>
        </p:nvSpPr>
        <p:spPr>
          <a:xfrm>
            <a:off x="5417734" y="2596609"/>
            <a:ext cx="36576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850"/>
              <a:buFont typeface="Calibri"/>
              <a:buNone/>
            </a:pPr>
            <a:r>
              <a:rPr lang="es-CL" sz="850" b="1">
                <a:solidFill>
                  <a:srgbClr val="20242C"/>
                </a:solidFill>
                <a:latin typeface="Calibri"/>
                <a:ea typeface="Calibri"/>
                <a:cs typeface="Calibri"/>
                <a:sym typeface="Calibri"/>
              </a:rPr>
              <a:t>SÍ</a:t>
            </a:r>
            <a:endParaRPr sz="850">
              <a:solidFill>
                <a:schemeClr val="dk1"/>
              </a:solidFill>
              <a:latin typeface="Arial"/>
              <a:ea typeface="Arial"/>
              <a:cs typeface="Arial"/>
              <a:sym typeface="Arial"/>
            </a:endParaRPr>
          </a:p>
        </p:txBody>
      </p:sp>
      <p:sp>
        <p:nvSpPr>
          <p:cNvPr id="770" name="Google Shape;770;p57"/>
          <p:cNvSpPr/>
          <p:nvPr/>
        </p:nvSpPr>
        <p:spPr>
          <a:xfrm>
            <a:off x="4480560" y="5514868"/>
            <a:ext cx="365760" cy="219456"/>
          </a:xfrm>
          <a:prstGeom prst="roundRect">
            <a:avLst>
              <a:gd name="adj" fmla="val 25000"/>
            </a:avLst>
          </a:prstGeom>
          <a:solidFill>
            <a:srgbClr val="3AD1D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Arial"/>
              <a:ea typeface="Arial"/>
              <a:cs typeface="Arial"/>
              <a:sym typeface="Arial"/>
            </a:endParaRPr>
          </a:p>
        </p:txBody>
      </p:sp>
      <p:sp>
        <p:nvSpPr>
          <p:cNvPr id="771" name="Google Shape;771;p57"/>
          <p:cNvSpPr/>
          <p:nvPr/>
        </p:nvSpPr>
        <p:spPr>
          <a:xfrm>
            <a:off x="4480560" y="5514868"/>
            <a:ext cx="365760" cy="219456"/>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20242C"/>
              </a:buClr>
              <a:buSzPts val="850"/>
              <a:buFont typeface="Calibri"/>
              <a:buNone/>
            </a:pPr>
            <a:r>
              <a:rPr lang="es-CL" sz="850" b="1">
                <a:solidFill>
                  <a:srgbClr val="20242C"/>
                </a:solidFill>
                <a:latin typeface="Calibri"/>
                <a:ea typeface="Calibri"/>
                <a:cs typeface="Calibri"/>
                <a:sym typeface="Calibri"/>
              </a:rPr>
              <a:t>NO</a:t>
            </a:r>
            <a:endParaRPr sz="850">
              <a:solidFill>
                <a:schemeClr val="dk1"/>
              </a:solidFill>
              <a:latin typeface="Arial"/>
              <a:ea typeface="Arial"/>
              <a:cs typeface="Arial"/>
              <a:sym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775"/>
        <p:cNvGrpSpPr/>
        <p:nvPr/>
      </p:nvGrpSpPr>
      <p:grpSpPr>
        <a:xfrm>
          <a:off x="0" y="0"/>
          <a:ext cx="0" cy="0"/>
          <a:chOff x="0" y="0"/>
          <a:chExt cx="0" cy="0"/>
        </a:xfrm>
      </p:grpSpPr>
      <p:sp>
        <p:nvSpPr>
          <p:cNvPr id="776" name="Google Shape;776;p58"/>
          <p:cNvSpPr txBox="1"/>
          <p:nvPr/>
        </p:nvSpPr>
        <p:spPr>
          <a:xfrm>
            <a:off x="397024" y="274439"/>
            <a:ext cx="10081120" cy="346249"/>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Clr>
                <a:srgbClr val="33448D"/>
              </a:buClr>
              <a:buSzPts val="2250"/>
              <a:buFont typeface="Calibri"/>
              <a:buNone/>
            </a:pPr>
            <a:r>
              <a:rPr lang="es-CL" sz="2250" b="1" i="0" u="none" strike="noStrike" cap="none">
                <a:solidFill>
                  <a:srgbClr val="33448D"/>
                </a:solidFill>
                <a:latin typeface="Calibri"/>
                <a:ea typeface="Calibri"/>
                <a:cs typeface="Calibri"/>
                <a:sym typeface="Calibri"/>
              </a:rPr>
              <a:t>Segmentación Clientes TECSERVICE</a:t>
            </a:r>
            <a:endParaRPr/>
          </a:p>
        </p:txBody>
      </p:sp>
      <p:pic>
        <p:nvPicPr>
          <p:cNvPr id="777" name="Google Shape;777;p58"/>
          <p:cNvPicPr preferRelativeResize="0"/>
          <p:nvPr/>
        </p:nvPicPr>
        <p:blipFill rotWithShape="1">
          <a:blip r:embed="rId3">
            <a:alphaModFix/>
          </a:blip>
          <a:srcRect r="73077"/>
          <a:stretch/>
        </p:blipFill>
        <p:spPr>
          <a:xfrm>
            <a:off x="10776520" y="37422"/>
            <a:ext cx="504056" cy="584616"/>
          </a:xfrm>
          <a:prstGeom prst="rect">
            <a:avLst/>
          </a:prstGeom>
          <a:noFill/>
          <a:ln>
            <a:noFill/>
          </a:ln>
        </p:spPr>
      </p:pic>
      <p:sp>
        <p:nvSpPr>
          <p:cNvPr id="778" name="Google Shape;778;p58"/>
          <p:cNvSpPr/>
          <p:nvPr/>
        </p:nvSpPr>
        <p:spPr>
          <a:xfrm>
            <a:off x="767408" y="1196752"/>
            <a:ext cx="1296144" cy="576064"/>
          </a:xfrm>
          <a:prstGeom prst="rect">
            <a:avLst/>
          </a:prstGeom>
          <a:solidFill>
            <a:schemeClr val="accent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400"/>
              <a:buFont typeface="Arial"/>
              <a:buNone/>
            </a:pPr>
            <a:r>
              <a:rPr lang="es-CL" sz="1400" b="1" i="0" u="none" strike="noStrike" cap="none">
                <a:solidFill>
                  <a:srgbClr val="FFFFFF"/>
                </a:solidFill>
                <a:latin typeface="Arial"/>
                <a:ea typeface="Arial"/>
                <a:cs typeface="Arial"/>
                <a:sym typeface="Arial"/>
              </a:rPr>
              <a:t>Tamaño</a:t>
            </a:r>
            <a:endParaRPr sz="1600" b="1" i="0" u="none" strike="noStrike" cap="none">
              <a:solidFill>
                <a:srgbClr val="FFFFFF"/>
              </a:solidFill>
              <a:latin typeface="Arial"/>
              <a:ea typeface="Arial"/>
              <a:cs typeface="Arial"/>
              <a:sym typeface="Arial"/>
            </a:endParaRPr>
          </a:p>
        </p:txBody>
      </p:sp>
      <p:sp>
        <p:nvSpPr>
          <p:cNvPr id="779" name="Google Shape;779;p58"/>
          <p:cNvSpPr/>
          <p:nvPr/>
        </p:nvSpPr>
        <p:spPr>
          <a:xfrm>
            <a:off x="767408" y="2708920"/>
            <a:ext cx="1296144" cy="576064"/>
          </a:xfrm>
          <a:prstGeom prst="rect">
            <a:avLst/>
          </a:prstGeom>
          <a:solidFill>
            <a:schemeClr val="accent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400"/>
              <a:buFont typeface="Arial"/>
              <a:buNone/>
            </a:pPr>
            <a:r>
              <a:rPr lang="es-CL" sz="1400" b="1" i="0" u="none" strike="noStrike" cap="none">
                <a:solidFill>
                  <a:srgbClr val="FFFFFF"/>
                </a:solidFill>
                <a:latin typeface="Arial"/>
                <a:ea typeface="Arial"/>
                <a:cs typeface="Arial"/>
                <a:sym typeface="Arial"/>
              </a:rPr>
              <a:t>Importancia</a:t>
            </a:r>
            <a:endParaRPr sz="1600" b="1" i="0" u="none" strike="noStrike" cap="none">
              <a:solidFill>
                <a:srgbClr val="FFFFFF"/>
              </a:solidFill>
              <a:latin typeface="Arial"/>
              <a:ea typeface="Arial"/>
              <a:cs typeface="Arial"/>
              <a:sym typeface="Arial"/>
            </a:endParaRPr>
          </a:p>
        </p:txBody>
      </p:sp>
      <p:sp>
        <p:nvSpPr>
          <p:cNvPr id="780" name="Google Shape;780;p58"/>
          <p:cNvSpPr/>
          <p:nvPr/>
        </p:nvSpPr>
        <p:spPr>
          <a:xfrm>
            <a:off x="767408" y="4221088"/>
            <a:ext cx="1296144" cy="576064"/>
          </a:xfrm>
          <a:prstGeom prst="rect">
            <a:avLst/>
          </a:prstGeom>
          <a:solidFill>
            <a:schemeClr val="accent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400"/>
              <a:buFont typeface="Arial"/>
              <a:buNone/>
            </a:pPr>
            <a:r>
              <a:rPr lang="es-CL" sz="1400" b="1" i="0" u="none" strike="noStrike" cap="none">
                <a:solidFill>
                  <a:srgbClr val="FFFFFF"/>
                </a:solidFill>
                <a:latin typeface="Arial"/>
                <a:ea typeface="Arial"/>
                <a:cs typeface="Arial"/>
                <a:sym typeface="Arial"/>
              </a:rPr>
              <a:t>Complejidad</a:t>
            </a:r>
            <a:endParaRPr sz="1600" b="1" i="0" u="none" strike="noStrike" cap="none">
              <a:solidFill>
                <a:srgbClr val="FFFFFF"/>
              </a:solidFill>
              <a:latin typeface="Arial"/>
              <a:ea typeface="Arial"/>
              <a:cs typeface="Arial"/>
              <a:sym typeface="Arial"/>
            </a:endParaRPr>
          </a:p>
        </p:txBody>
      </p:sp>
      <p:sp>
        <p:nvSpPr>
          <p:cNvPr id="781" name="Google Shape;781;p58"/>
          <p:cNvSpPr/>
          <p:nvPr/>
        </p:nvSpPr>
        <p:spPr>
          <a:xfrm>
            <a:off x="767408" y="5733256"/>
            <a:ext cx="1296144" cy="576064"/>
          </a:xfrm>
          <a:prstGeom prst="rect">
            <a:avLst/>
          </a:prstGeom>
          <a:solidFill>
            <a:schemeClr val="accent1"/>
          </a:solid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FFFFF"/>
              </a:buClr>
              <a:buSzPts val="1400"/>
              <a:buFont typeface="Arial"/>
              <a:buNone/>
            </a:pPr>
            <a:r>
              <a:rPr lang="es-CL" sz="1400" b="1" i="0" u="none" strike="noStrike" cap="none">
                <a:solidFill>
                  <a:srgbClr val="FFFFFF"/>
                </a:solidFill>
                <a:latin typeface="Arial"/>
                <a:ea typeface="Arial"/>
                <a:cs typeface="Arial"/>
                <a:sym typeface="Arial"/>
              </a:rPr>
              <a:t>Potencial</a:t>
            </a:r>
            <a:endParaRPr sz="1600" b="1" i="0" u="none" strike="noStrike" cap="none">
              <a:solidFill>
                <a:srgbClr val="FFFFFF"/>
              </a:solidFill>
              <a:latin typeface="Arial"/>
              <a:ea typeface="Arial"/>
              <a:cs typeface="Arial"/>
              <a:sym typeface="Arial"/>
            </a:endParaRPr>
          </a:p>
        </p:txBody>
      </p:sp>
      <p:sp>
        <p:nvSpPr>
          <p:cNvPr id="782" name="Google Shape;782;p58"/>
          <p:cNvSpPr/>
          <p:nvPr/>
        </p:nvSpPr>
        <p:spPr>
          <a:xfrm>
            <a:off x="263352" y="6381328"/>
            <a:ext cx="1296144" cy="288032"/>
          </a:xfrm>
          <a:prstGeom prst="rect">
            <a:avLst/>
          </a:prstGeom>
          <a:solidFill>
            <a:schemeClr val="dk1"/>
          </a:solidFill>
          <a:ln w="19050" cap="flat" cmpd="sng">
            <a:solidFill>
              <a:schemeClr val="dk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Arial"/>
              <a:buNone/>
            </a:pPr>
            <a:endParaRPr sz="1800" b="0" i="0" u="none" strike="noStrike" cap="none">
              <a:solidFill>
                <a:srgbClr val="282DF0"/>
              </a:solidFill>
              <a:latin typeface="Arial"/>
              <a:ea typeface="Arial"/>
              <a:cs typeface="Arial"/>
              <a:sym typeface="Arial"/>
            </a:endParaRPr>
          </a:p>
        </p:txBody>
      </p:sp>
      <p:sp>
        <p:nvSpPr>
          <p:cNvPr id="783" name="Google Shape;783;p58"/>
          <p:cNvSpPr/>
          <p:nvPr/>
        </p:nvSpPr>
        <p:spPr>
          <a:xfrm>
            <a:off x="2078902" y="1196752"/>
            <a:ext cx="1528769" cy="792088"/>
          </a:xfrm>
          <a:prstGeom prst="rect">
            <a:avLst/>
          </a:prstGeom>
          <a:solidFill>
            <a:schemeClr val="dk1"/>
          </a:solidFill>
          <a:ln w="19050" cap="flat" cmpd="sng">
            <a:solidFill>
              <a:schemeClr val="dk1"/>
            </a:solidFill>
            <a:prstDash val="solid"/>
            <a:miter lim="8000"/>
            <a:headEnd type="none" w="sm" len="sm"/>
            <a:tailEnd type="none" w="sm" len="sm"/>
          </a:ln>
        </p:spPr>
        <p:txBody>
          <a:bodyPr spcFirstLastPara="1" wrap="square" lIns="91425" tIns="45700" rIns="91425" bIns="45700" anchor="t" anchorCtr="0">
            <a:noAutofit/>
          </a:bodyPr>
          <a:lstStyle/>
          <a:p>
            <a:pPr marL="285750" marR="0" lvl="0" indent="-285750" algn="l" rtl="0">
              <a:lnSpc>
                <a:spcPct val="100000"/>
              </a:lnSpc>
              <a:spcBef>
                <a:spcPts val="0"/>
              </a:spcBef>
              <a:spcAft>
                <a:spcPts val="0"/>
              </a:spcAft>
              <a:buClr>
                <a:srgbClr val="373C46"/>
              </a:buClr>
              <a:buSzPts val="1200"/>
              <a:buFont typeface="Noto Sans Symbols"/>
              <a:buChar char="▪"/>
            </a:pPr>
            <a:r>
              <a:rPr lang="es-CL" sz="1200" b="0" i="0" u="none" strike="noStrike" cap="none">
                <a:solidFill>
                  <a:srgbClr val="373C46"/>
                </a:solidFill>
                <a:latin typeface="Arial"/>
                <a:ea typeface="Arial"/>
                <a:cs typeface="Arial"/>
                <a:sym typeface="Arial"/>
              </a:rPr>
              <a:t>$M/Margen</a:t>
            </a:r>
            <a:endParaRPr/>
          </a:p>
          <a:p>
            <a:pPr marL="285750" marR="0" lvl="0" indent="-285750" algn="l" rtl="0">
              <a:lnSpc>
                <a:spcPct val="100000"/>
              </a:lnSpc>
              <a:spcBef>
                <a:spcPts val="0"/>
              </a:spcBef>
              <a:spcAft>
                <a:spcPts val="0"/>
              </a:spcAft>
              <a:buClr>
                <a:srgbClr val="373C46"/>
              </a:buClr>
              <a:buSzPts val="1200"/>
              <a:buFont typeface="Noto Sans Symbols"/>
              <a:buChar char="▪"/>
            </a:pPr>
            <a:r>
              <a:rPr lang="es-CL" sz="1200" b="0" i="0" u="none" strike="noStrike" cap="none">
                <a:solidFill>
                  <a:srgbClr val="373C46"/>
                </a:solidFill>
                <a:latin typeface="Arial"/>
                <a:ea typeface="Arial"/>
                <a:cs typeface="Arial"/>
                <a:sym typeface="Arial"/>
              </a:rPr>
              <a:t>Base Instalada</a:t>
            </a:r>
            <a:endParaRPr/>
          </a:p>
          <a:p>
            <a:pPr marL="285750" marR="0" lvl="0" indent="-285750" algn="l" rtl="0">
              <a:lnSpc>
                <a:spcPct val="100000"/>
              </a:lnSpc>
              <a:spcBef>
                <a:spcPts val="0"/>
              </a:spcBef>
              <a:spcAft>
                <a:spcPts val="0"/>
              </a:spcAft>
              <a:buClr>
                <a:srgbClr val="373C46"/>
              </a:buClr>
              <a:buSzPts val="1200"/>
              <a:buFont typeface="Noto Sans Symbols"/>
              <a:buChar char="▪"/>
            </a:pPr>
            <a:r>
              <a:rPr lang="es-CL" sz="1200" b="0" i="0" u="none" strike="noStrike" cap="none">
                <a:solidFill>
                  <a:srgbClr val="373C46"/>
                </a:solidFill>
                <a:latin typeface="Arial"/>
                <a:ea typeface="Arial"/>
                <a:cs typeface="Arial"/>
                <a:sym typeface="Arial"/>
              </a:rPr>
              <a:t># Visitas</a:t>
            </a:r>
            <a:endParaRPr sz="1200" b="0" i="0" u="none" strike="noStrike" cap="none">
              <a:solidFill>
                <a:srgbClr val="373C46"/>
              </a:solidFill>
              <a:latin typeface="Arial"/>
              <a:ea typeface="Arial"/>
              <a:cs typeface="Arial"/>
              <a:sym typeface="Arial"/>
            </a:endParaRPr>
          </a:p>
        </p:txBody>
      </p:sp>
      <p:sp>
        <p:nvSpPr>
          <p:cNvPr id="784" name="Google Shape;784;p58"/>
          <p:cNvSpPr/>
          <p:nvPr/>
        </p:nvSpPr>
        <p:spPr>
          <a:xfrm>
            <a:off x="2150910" y="2708920"/>
            <a:ext cx="1528769" cy="792088"/>
          </a:xfrm>
          <a:prstGeom prst="rect">
            <a:avLst/>
          </a:prstGeom>
          <a:solidFill>
            <a:schemeClr val="dk1"/>
          </a:solidFill>
          <a:ln w="19050" cap="flat" cmpd="sng">
            <a:solidFill>
              <a:schemeClr val="dk1"/>
            </a:solidFill>
            <a:prstDash val="solid"/>
            <a:miter lim="8000"/>
            <a:headEnd type="none" w="sm" len="sm"/>
            <a:tailEnd type="none" w="sm" len="sm"/>
          </a:ln>
        </p:spPr>
        <p:txBody>
          <a:bodyPr spcFirstLastPara="1" wrap="square" lIns="91425" tIns="45700" rIns="91425" bIns="45700" anchor="t" anchorCtr="0">
            <a:noAutofit/>
          </a:bodyPr>
          <a:lstStyle/>
          <a:p>
            <a:pPr marL="285750" marR="0" lvl="0" indent="-285750" algn="l" rtl="0">
              <a:lnSpc>
                <a:spcPct val="100000"/>
              </a:lnSpc>
              <a:spcBef>
                <a:spcPts val="0"/>
              </a:spcBef>
              <a:spcAft>
                <a:spcPts val="0"/>
              </a:spcAft>
              <a:buClr>
                <a:srgbClr val="373C46"/>
              </a:buClr>
              <a:buSzPts val="1200"/>
              <a:buFont typeface="Noto Sans Symbols"/>
              <a:buChar char="▪"/>
            </a:pPr>
            <a:r>
              <a:rPr lang="es-CL" sz="1200" b="0" i="0" u="none" strike="noStrike" cap="none">
                <a:solidFill>
                  <a:srgbClr val="373C46"/>
                </a:solidFill>
                <a:latin typeface="Arial"/>
                <a:ea typeface="Arial"/>
                <a:cs typeface="Arial"/>
                <a:sym typeface="Arial"/>
              </a:rPr>
              <a:t>Referencia en el Mercado</a:t>
            </a:r>
            <a:endParaRPr sz="1200" b="0" i="0" u="none" strike="noStrike" cap="none">
              <a:solidFill>
                <a:srgbClr val="373C46"/>
              </a:solidFill>
              <a:latin typeface="Arial"/>
              <a:ea typeface="Arial"/>
              <a:cs typeface="Arial"/>
              <a:sym typeface="Arial"/>
            </a:endParaRPr>
          </a:p>
        </p:txBody>
      </p:sp>
      <p:sp>
        <p:nvSpPr>
          <p:cNvPr id="785" name="Google Shape;785;p58"/>
          <p:cNvSpPr/>
          <p:nvPr/>
        </p:nvSpPr>
        <p:spPr>
          <a:xfrm>
            <a:off x="2150910" y="4221088"/>
            <a:ext cx="1920761" cy="792088"/>
          </a:xfrm>
          <a:prstGeom prst="rect">
            <a:avLst/>
          </a:prstGeom>
          <a:solidFill>
            <a:schemeClr val="dk1"/>
          </a:solidFill>
          <a:ln w="19050" cap="flat" cmpd="sng">
            <a:solidFill>
              <a:schemeClr val="dk1"/>
            </a:solidFill>
            <a:prstDash val="solid"/>
            <a:miter lim="8000"/>
            <a:headEnd type="none" w="sm" len="sm"/>
            <a:tailEnd type="none" w="sm" len="sm"/>
          </a:ln>
        </p:spPr>
        <p:txBody>
          <a:bodyPr spcFirstLastPara="1" wrap="square" lIns="91425" tIns="45700" rIns="91425" bIns="45700" anchor="t" anchorCtr="0">
            <a:noAutofit/>
          </a:bodyPr>
          <a:lstStyle/>
          <a:p>
            <a:pPr marL="285750" marR="0" lvl="0" indent="-285750" algn="l" rtl="0">
              <a:lnSpc>
                <a:spcPct val="100000"/>
              </a:lnSpc>
              <a:spcBef>
                <a:spcPts val="0"/>
              </a:spcBef>
              <a:spcAft>
                <a:spcPts val="0"/>
              </a:spcAft>
              <a:buClr>
                <a:srgbClr val="373C46"/>
              </a:buClr>
              <a:buSzPts val="1200"/>
              <a:buFont typeface="Noto Sans Symbols"/>
              <a:buChar char="▪"/>
            </a:pPr>
            <a:r>
              <a:rPr lang="es-CL" sz="1200" b="0" i="0" u="none" strike="noStrike" cap="none">
                <a:solidFill>
                  <a:srgbClr val="373C46"/>
                </a:solidFill>
                <a:latin typeface="Arial"/>
                <a:ea typeface="Arial"/>
                <a:cs typeface="Arial"/>
                <a:sym typeface="Arial"/>
              </a:rPr>
              <a:t>Equipamiento / Proceso Complejo (# Cirugías)</a:t>
            </a:r>
            <a:endParaRPr sz="1200" b="0" i="0" u="none" strike="noStrike" cap="none">
              <a:solidFill>
                <a:srgbClr val="373C46"/>
              </a:solidFill>
              <a:latin typeface="Arial"/>
              <a:ea typeface="Arial"/>
              <a:cs typeface="Arial"/>
              <a:sym typeface="Arial"/>
            </a:endParaRPr>
          </a:p>
        </p:txBody>
      </p:sp>
      <p:sp>
        <p:nvSpPr>
          <p:cNvPr id="786" name="Google Shape;786;p58"/>
          <p:cNvSpPr/>
          <p:nvPr/>
        </p:nvSpPr>
        <p:spPr>
          <a:xfrm>
            <a:off x="2150910" y="5742198"/>
            <a:ext cx="1920761" cy="792088"/>
          </a:xfrm>
          <a:prstGeom prst="rect">
            <a:avLst/>
          </a:prstGeom>
          <a:solidFill>
            <a:schemeClr val="dk1"/>
          </a:solidFill>
          <a:ln w="19050" cap="flat" cmpd="sng">
            <a:solidFill>
              <a:schemeClr val="dk1"/>
            </a:solidFill>
            <a:prstDash val="solid"/>
            <a:miter lim="8000"/>
            <a:headEnd type="none" w="sm" len="sm"/>
            <a:tailEnd type="none" w="sm" len="sm"/>
          </a:ln>
        </p:spPr>
        <p:txBody>
          <a:bodyPr spcFirstLastPara="1" wrap="square" lIns="91425" tIns="45700" rIns="91425" bIns="45700" anchor="t" anchorCtr="0">
            <a:noAutofit/>
          </a:bodyPr>
          <a:lstStyle/>
          <a:p>
            <a:pPr marL="285750" marR="0" lvl="0" indent="-285750" algn="l" rtl="0">
              <a:lnSpc>
                <a:spcPct val="100000"/>
              </a:lnSpc>
              <a:spcBef>
                <a:spcPts val="0"/>
              </a:spcBef>
              <a:spcAft>
                <a:spcPts val="0"/>
              </a:spcAft>
              <a:buClr>
                <a:srgbClr val="373C46"/>
              </a:buClr>
              <a:buSzPts val="1200"/>
              <a:buFont typeface="Noto Sans Symbols"/>
              <a:buChar char="▪"/>
            </a:pPr>
            <a:r>
              <a:rPr lang="es-CL" sz="1200" b="0" i="0" u="none" strike="noStrike" cap="none">
                <a:solidFill>
                  <a:srgbClr val="373C46"/>
                </a:solidFill>
                <a:latin typeface="Arial"/>
                <a:ea typeface="Arial"/>
                <a:cs typeface="Arial"/>
                <a:sym typeface="Arial"/>
              </a:rPr>
              <a:t>Negocios Futuros (Pipeline)</a:t>
            </a:r>
            <a:endParaRPr sz="1200" b="0" i="0" u="none" strike="noStrike" cap="none">
              <a:solidFill>
                <a:srgbClr val="373C46"/>
              </a:solidFill>
              <a:latin typeface="Arial"/>
              <a:ea typeface="Arial"/>
              <a:cs typeface="Arial"/>
              <a:sym typeface="Arial"/>
            </a:endParaRPr>
          </a:p>
        </p:txBody>
      </p:sp>
      <p:sp>
        <p:nvSpPr>
          <p:cNvPr id="787" name="Google Shape;787;p58"/>
          <p:cNvSpPr/>
          <p:nvPr/>
        </p:nvSpPr>
        <p:spPr>
          <a:xfrm rot="5400000">
            <a:off x="1930833" y="3531523"/>
            <a:ext cx="4536504" cy="216024"/>
          </a:xfrm>
          <a:prstGeom prst="triangle">
            <a:avLst>
              <a:gd name="adj" fmla="val 50000"/>
            </a:avLst>
          </a:prstGeom>
          <a:solidFill>
            <a:srgbClr val="D8D8D8"/>
          </a:solidFill>
          <a:ln w="19050" cap="flat" cmpd="sng">
            <a:solidFill>
              <a:schemeClr val="dk1"/>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Arial"/>
              <a:buNone/>
            </a:pPr>
            <a:endParaRPr sz="1800" b="0" i="0" u="none" strike="noStrike" cap="none">
              <a:solidFill>
                <a:srgbClr val="282DF0"/>
              </a:solidFill>
              <a:latin typeface="Arial"/>
              <a:ea typeface="Arial"/>
              <a:cs typeface="Arial"/>
              <a:sym typeface="Arial"/>
            </a:endParaRPr>
          </a:p>
        </p:txBody>
      </p:sp>
      <p:pic>
        <p:nvPicPr>
          <p:cNvPr id="788" name="Google Shape;788;p58"/>
          <p:cNvPicPr preferRelativeResize="0"/>
          <p:nvPr/>
        </p:nvPicPr>
        <p:blipFill rotWithShape="1">
          <a:blip r:embed="rId4">
            <a:alphaModFix/>
          </a:blip>
          <a:srcRect r="22241"/>
          <a:stretch/>
        </p:blipFill>
        <p:spPr>
          <a:xfrm>
            <a:off x="4440201" y="1007246"/>
            <a:ext cx="7516688" cy="3501874"/>
          </a:xfrm>
          <a:prstGeom prst="rect">
            <a:avLst/>
          </a:prstGeom>
          <a:noFill/>
          <a:ln>
            <a:noFill/>
          </a:ln>
        </p:spPr>
      </p:pic>
      <p:pic>
        <p:nvPicPr>
          <p:cNvPr id="789" name="Google Shape;789;p58"/>
          <p:cNvPicPr preferRelativeResize="0"/>
          <p:nvPr/>
        </p:nvPicPr>
        <p:blipFill rotWithShape="1">
          <a:blip r:embed="rId5">
            <a:alphaModFix/>
          </a:blip>
          <a:srcRect/>
          <a:stretch/>
        </p:blipFill>
        <p:spPr>
          <a:xfrm>
            <a:off x="4440201" y="4652714"/>
            <a:ext cx="7384622" cy="1250760"/>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793"/>
        <p:cNvGrpSpPr/>
        <p:nvPr/>
      </p:nvGrpSpPr>
      <p:grpSpPr>
        <a:xfrm>
          <a:off x="0" y="0"/>
          <a:ext cx="0" cy="0"/>
          <a:chOff x="0" y="0"/>
          <a:chExt cx="0" cy="0"/>
        </a:xfrm>
      </p:grpSpPr>
      <p:sp>
        <p:nvSpPr>
          <p:cNvPr id="794" name="Google Shape;794;p59"/>
          <p:cNvSpPr txBox="1">
            <a:spLocks noGrp="1"/>
          </p:cNvSpPr>
          <p:nvPr>
            <p:ph type="title"/>
          </p:nvPr>
        </p:nvSpPr>
        <p:spPr>
          <a:xfrm>
            <a:off x="330200" y="227185"/>
            <a:ext cx="3042920" cy="31591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chemeClr val="lt1"/>
              </a:buClr>
              <a:buSzPts val="1600"/>
              <a:buFont typeface="Play"/>
              <a:buNone/>
            </a:pPr>
            <a:endParaRPr/>
          </a:p>
        </p:txBody>
      </p:sp>
      <p:sp>
        <p:nvSpPr>
          <p:cNvPr id="795" name="Google Shape;795;p59"/>
          <p:cNvSpPr txBox="1">
            <a:spLocks noGrp="1"/>
          </p:cNvSpPr>
          <p:nvPr>
            <p:ph type="body" idx="1"/>
          </p:nvPr>
        </p:nvSpPr>
        <p:spPr>
          <a:xfrm>
            <a:off x="330200" y="1117123"/>
            <a:ext cx="11557000" cy="4838541"/>
          </a:xfrm>
          <a:prstGeom prst="rect">
            <a:avLst/>
          </a:prstGeom>
          <a:noFill/>
          <a:ln>
            <a:noFill/>
          </a:ln>
        </p:spPr>
        <p:txBody>
          <a:bodyPr spcFirstLastPara="1" wrap="square" lIns="91425" tIns="45700" rIns="91425" bIns="45700" anchor="t" anchorCtr="0">
            <a:normAutofit/>
          </a:bodyPr>
          <a:lstStyle/>
          <a:p>
            <a:pPr marL="228600" lvl="0" indent="-127000" algn="l" rtl="0">
              <a:lnSpc>
                <a:spcPct val="90000"/>
              </a:lnSpc>
              <a:spcBef>
                <a:spcPts val="0"/>
              </a:spcBef>
              <a:spcAft>
                <a:spcPts val="0"/>
              </a:spcAft>
              <a:buClr>
                <a:schemeClr val="lt2"/>
              </a:buClr>
              <a:buSzPts val="1600"/>
              <a:buNone/>
            </a:pPr>
            <a:endParaRPr/>
          </a:p>
        </p:txBody>
      </p:sp>
      <p:sp>
        <p:nvSpPr>
          <p:cNvPr id="796" name="Google Shape;796;p5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s-CL"/>
              <a:t>80</a:t>
            </a:fld>
            <a:endParaRPr/>
          </a:p>
        </p:txBody>
      </p:sp>
      <p:sp>
        <p:nvSpPr>
          <p:cNvPr id="797" name="Google Shape;797;p59"/>
          <p:cNvSpPr txBox="1"/>
          <p:nvPr/>
        </p:nvSpPr>
        <p:spPr>
          <a:xfrm>
            <a:off x="393700" y="182711"/>
            <a:ext cx="11430000" cy="419710"/>
          </a:xfrm>
          <a:prstGeom prst="rect">
            <a:avLst/>
          </a:prstGeom>
          <a:noFill/>
          <a:ln>
            <a:noFill/>
          </a:ln>
        </p:spPr>
        <p:txBody>
          <a:bodyPr spcFirstLastPara="1" wrap="square" lIns="0" tIns="0" rIns="0" bIns="0" anchor="ctr" anchorCtr="0">
            <a:noAutofit/>
          </a:bodyPr>
          <a:lstStyle/>
          <a:p>
            <a:pPr marL="0" marR="0" lvl="0" indent="0" algn="l" rtl="0">
              <a:lnSpc>
                <a:spcPct val="100000"/>
              </a:lnSpc>
              <a:spcBef>
                <a:spcPts val="0"/>
              </a:spcBef>
              <a:spcAft>
                <a:spcPts val="0"/>
              </a:spcAft>
              <a:buClr>
                <a:srgbClr val="33448D"/>
              </a:buClr>
              <a:buSzPts val="2700"/>
              <a:buFont typeface="Roboto"/>
              <a:buNone/>
            </a:pPr>
            <a:r>
              <a:rPr lang="es-CL" sz="2700" b="1" i="0" u="none" strike="noStrike" cap="none">
                <a:solidFill>
                  <a:srgbClr val="33448D"/>
                </a:solidFill>
                <a:latin typeface="Roboto"/>
                <a:ea typeface="Roboto"/>
                <a:cs typeface="Roboto"/>
                <a:sym typeface="Roboto"/>
              </a:rPr>
              <a:t>Lógica Ciudades Satelites - Hub</a:t>
            </a:r>
            <a:endParaRPr sz="2700" b="0" i="0" u="none" strike="noStrike" cap="none">
              <a:solidFill>
                <a:srgbClr val="FFFFFF"/>
              </a:solidFill>
              <a:latin typeface="Roboto"/>
              <a:ea typeface="Roboto"/>
              <a:cs typeface="Roboto"/>
              <a:sym typeface="Roboto"/>
            </a:endParaRPr>
          </a:p>
        </p:txBody>
      </p:sp>
      <p:sp>
        <p:nvSpPr>
          <p:cNvPr id="798" name="Google Shape;798;p59"/>
          <p:cNvSpPr/>
          <p:nvPr/>
        </p:nvSpPr>
        <p:spPr>
          <a:xfrm>
            <a:off x="10345949" y="5272208"/>
            <a:ext cx="1777041" cy="448580"/>
          </a:xfrm>
          <a:prstGeom prst="rect">
            <a:avLst/>
          </a:prstGeom>
          <a:noFill/>
          <a:ln>
            <a:noFill/>
          </a:ln>
        </p:spPr>
        <p:txBody>
          <a:bodyPr spcFirstLastPara="1" wrap="square" lIns="91425" tIns="45700" rIns="91425" bIns="45700" anchor="ctr" anchorCtr="0">
            <a:noAutofit/>
          </a:bodyPr>
          <a:lstStyle/>
          <a:p>
            <a:pPr marL="171450" marR="0" lvl="0" indent="-171450" algn="l" rtl="0">
              <a:spcBef>
                <a:spcPts val="0"/>
              </a:spcBef>
              <a:spcAft>
                <a:spcPts val="0"/>
              </a:spcAft>
              <a:buClr>
                <a:schemeClr val="lt2"/>
              </a:buClr>
              <a:buSzPts val="1050"/>
              <a:buFont typeface="Arial"/>
              <a:buChar char="•"/>
            </a:pPr>
            <a:r>
              <a:rPr lang="es-CL" sz="1050">
                <a:solidFill>
                  <a:schemeClr val="lt2"/>
                </a:solidFill>
                <a:latin typeface="Roboto"/>
                <a:ea typeface="Roboto"/>
                <a:cs typeface="Roboto"/>
                <a:sym typeface="Roboto"/>
              </a:rPr>
              <a:t>-</a:t>
            </a:r>
            <a:endParaRPr sz="1050">
              <a:solidFill>
                <a:schemeClr val="lt2"/>
              </a:solidFill>
              <a:latin typeface="Roboto"/>
              <a:ea typeface="Roboto"/>
              <a:cs typeface="Roboto"/>
              <a:sym typeface="Roboto"/>
            </a:endParaRPr>
          </a:p>
        </p:txBody>
      </p:sp>
      <p:pic>
        <p:nvPicPr>
          <p:cNvPr id="799" name="Google Shape;799;p59"/>
          <p:cNvPicPr preferRelativeResize="0"/>
          <p:nvPr/>
        </p:nvPicPr>
        <p:blipFill rotWithShape="1">
          <a:blip r:embed="rId3">
            <a:alphaModFix/>
          </a:blip>
          <a:srcRect/>
          <a:stretch/>
        </p:blipFill>
        <p:spPr>
          <a:xfrm>
            <a:off x="117656" y="883246"/>
            <a:ext cx="2675710" cy="5351418"/>
          </a:xfrm>
          <a:prstGeom prst="rect">
            <a:avLst/>
          </a:prstGeom>
          <a:noFill/>
          <a:ln>
            <a:noFill/>
          </a:ln>
        </p:spPr>
      </p:pic>
      <p:sp>
        <p:nvSpPr>
          <p:cNvPr id="800" name="Google Shape;800;p59"/>
          <p:cNvSpPr/>
          <p:nvPr/>
        </p:nvSpPr>
        <p:spPr>
          <a:xfrm>
            <a:off x="1461506" y="4023360"/>
            <a:ext cx="539932" cy="1697428"/>
          </a:xfrm>
          <a:prstGeom prst="rect">
            <a:avLst/>
          </a:prstGeom>
          <a:no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801" name="Google Shape;801;p59"/>
          <p:cNvSpPr/>
          <p:nvPr/>
        </p:nvSpPr>
        <p:spPr>
          <a:xfrm>
            <a:off x="1461589" y="3352800"/>
            <a:ext cx="539932" cy="670560"/>
          </a:xfrm>
          <a:prstGeom prst="rect">
            <a:avLst/>
          </a:prstGeom>
          <a:no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802" name="Google Shape;802;p59"/>
          <p:cNvSpPr/>
          <p:nvPr/>
        </p:nvSpPr>
        <p:spPr>
          <a:xfrm>
            <a:off x="1461589" y="865994"/>
            <a:ext cx="539932" cy="2496872"/>
          </a:xfrm>
          <a:prstGeom prst="rect">
            <a:avLst/>
          </a:prstGeom>
          <a:noFill/>
          <a:ln w="19050" cap="flat" cmpd="sng">
            <a:solidFill>
              <a:srgbClr val="105852"/>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aphicFrame>
        <p:nvGraphicFramePr>
          <p:cNvPr id="803" name="Google Shape;803;p59"/>
          <p:cNvGraphicFramePr/>
          <p:nvPr/>
        </p:nvGraphicFramePr>
        <p:xfrm>
          <a:off x="3225801" y="855928"/>
          <a:ext cx="8704950" cy="5378650"/>
        </p:xfrm>
        <a:graphic>
          <a:graphicData uri="http://schemas.openxmlformats.org/drawingml/2006/table">
            <a:tbl>
              <a:tblPr firstRow="1" bandRow="1">
                <a:noFill/>
                <a:tableStyleId>{C37305D2-9BBB-409F-AAFB-F33DB949016B}</a:tableStyleId>
              </a:tblPr>
              <a:tblGrid>
                <a:gridCol w="2114950">
                  <a:extLst>
                    <a:ext uri="{9D8B030D-6E8A-4147-A177-3AD203B41FA5}">
                      <a16:colId xmlns:a16="http://schemas.microsoft.com/office/drawing/2014/main" val="20000"/>
                    </a:ext>
                  </a:extLst>
                </a:gridCol>
                <a:gridCol w="3688350">
                  <a:extLst>
                    <a:ext uri="{9D8B030D-6E8A-4147-A177-3AD203B41FA5}">
                      <a16:colId xmlns:a16="http://schemas.microsoft.com/office/drawing/2014/main" val="20001"/>
                    </a:ext>
                  </a:extLst>
                </a:gridCol>
                <a:gridCol w="2901650">
                  <a:extLst>
                    <a:ext uri="{9D8B030D-6E8A-4147-A177-3AD203B41FA5}">
                      <a16:colId xmlns:a16="http://schemas.microsoft.com/office/drawing/2014/main" val="20002"/>
                    </a:ext>
                  </a:extLst>
                </a:gridCol>
              </a:tblGrid>
              <a:tr h="368925">
                <a:tc>
                  <a:txBody>
                    <a:bodyPr/>
                    <a:lstStyle/>
                    <a:p>
                      <a:pPr marL="0" marR="0" lvl="0" indent="0" algn="l" rtl="0">
                        <a:spcBef>
                          <a:spcPts val="0"/>
                        </a:spcBef>
                        <a:spcAft>
                          <a:spcPts val="0"/>
                        </a:spcAft>
                        <a:buNone/>
                      </a:pPr>
                      <a:r>
                        <a:rPr lang="es-CL" sz="1000" u="none" strike="noStrike" cap="none">
                          <a:solidFill>
                            <a:schemeClr val="dk1"/>
                          </a:solidFill>
                        </a:rPr>
                        <a:t>Región</a:t>
                      </a:r>
                      <a:endParaRPr sz="1000">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2"/>
                    </a:solidFill>
                  </a:tcPr>
                </a:tc>
                <a:tc>
                  <a:txBody>
                    <a:bodyPr/>
                    <a:lstStyle/>
                    <a:p>
                      <a:pPr marL="0" marR="0" lvl="0" indent="0" algn="l" rtl="0">
                        <a:spcBef>
                          <a:spcPts val="0"/>
                        </a:spcBef>
                        <a:spcAft>
                          <a:spcPts val="0"/>
                        </a:spcAft>
                        <a:buNone/>
                      </a:pPr>
                      <a:r>
                        <a:rPr lang="es-CL" sz="1000">
                          <a:solidFill>
                            <a:schemeClr val="dk1"/>
                          </a:solidFill>
                        </a:rPr>
                        <a:t>Región que presta Servicios (Camionetas/Bodegas/Coordinación/Jefatura)</a:t>
                      </a:r>
                      <a:endParaRPr sz="1000">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2"/>
                    </a:solidFill>
                  </a:tcPr>
                </a:tc>
                <a:tc>
                  <a:txBody>
                    <a:bodyPr/>
                    <a:lstStyle/>
                    <a:p>
                      <a:pPr marL="0" marR="0" lvl="0" indent="0" algn="l" rtl="0">
                        <a:spcBef>
                          <a:spcPts val="0"/>
                        </a:spcBef>
                        <a:spcAft>
                          <a:spcPts val="0"/>
                        </a:spcAft>
                        <a:buNone/>
                      </a:pPr>
                      <a:r>
                        <a:rPr lang="es-CL" sz="1000">
                          <a:solidFill>
                            <a:schemeClr val="dk1"/>
                          </a:solidFill>
                        </a:rPr>
                        <a:t>Tipo de Ciudad (Hub / Satélite / Receptora)</a:t>
                      </a:r>
                      <a:endParaRPr sz="1000">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2"/>
                    </a:solidFill>
                  </a:tcPr>
                </a:tc>
                <a:extLst>
                  <a:ext uri="{0D108BD9-81ED-4DB2-BD59-A6C34878D82A}">
                    <a16:rowId xmlns:a16="http://schemas.microsoft.com/office/drawing/2014/main" val="10000"/>
                  </a:ext>
                </a:extLst>
              </a:tr>
              <a:tr h="311400">
                <a:tc>
                  <a:txBody>
                    <a:bodyPr/>
                    <a:lstStyle/>
                    <a:p>
                      <a:pPr marL="0" marR="0" lvl="0" indent="0" algn="l" rtl="0">
                        <a:spcBef>
                          <a:spcPts val="0"/>
                        </a:spcBef>
                        <a:spcAft>
                          <a:spcPts val="0"/>
                        </a:spcAft>
                        <a:buNone/>
                      </a:pPr>
                      <a:r>
                        <a:rPr lang="es-CL" sz="1000" b="0">
                          <a:solidFill>
                            <a:schemeClr val="lt2"/>
                          </a:solidFill>
                        </a:rPr>
                        <a:t>Arica y Parinacota – XV</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Receptora -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1"/>
                  </a:ext>
                </a:extLst>
              </a:tr>
              <a:tr h="311400">
                <a:tc>
                  <a:txBody>
                    <a:bodyPr/>
                    <a:lstStyle/>
                    <a:p>
                      <a:pPr marL="0" marR="0" lvl="0" indent="0" algn="l" rtl="0">
                        <a:spcBef>
                          <a:spcPts val="0"/>
                        </a:spcBef>
                        <a:spcAft>
                          <a:spcPts val="0"/>
                        </a:spcAft>
                        <a:buNone/>
                      </a:pPr>
                      <a:r>
                        <a:rPr lang="es-CL" sz="1000" b="0">
                          <a:solidFill>
                            <a:schemeClr val="lt2"/>
                          </a:solidFill>
                        </a:rPr>
                        <a:t>Tarapacá – 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2"/>
                        </a:buClr>
                        <a:buSzPts val="1000"/>
                        <a:buFont typeface="Arial"/>
                        <a:buNone/>
                      </a:pPr>
                      <a:r>
                        <a:rPr lang="es-CL" sz="1000" b="0">
                          <a:solidFill>
                            <a:schemeClr val="lt2"/>
                          </a:solidFill>
                        </a:rPr>
                        <a:t>Receptora -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2"/>
                  </a:ext>
                </a:extLst>
              </a:tr>
              <a:tr h="311400">
                <a:tc>
                  <a:txBody>
                    <a:bodyPr/>
                    <a:lstStyle/>
                    <a:p>
                      <a:pPr marL="0" marR="0" lvl="0" indent="0" algn="l" rtl="0">
                        <a:spcBef>
                          <a:spcPts val="0"/>
                        </a:spcBef>
                        <a:spcAft>
                          <a:spcPts val="0"/>
                        </a:spcAft>
                        <a:buNone/>
                      </a:pPr>
                      <a:r>
                        <a:rPr lang="es-CL" sz="1000" b="0">
                          <a:solidFill>
                            <a:schemeClr val="lt2"/>
                          </a:solidFill>
                        </a:rPr>
                        <a:t>Antofagasta – II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3"/>
                  </a:ext>
                </a:extLst>
              </a:tr>
              <a:tr h="311400">
                <a:tc>
                  <a:txBody>
                    <a:bodyPr/>
                    <a:lstStyle/>
                    <a:p>
                      <a:pPr marL="0" marR="0" lvl="0" indent="0" algn="l" rtl="0">
                        <a:spcBef>
                          <a:spcPts val="0"/>
                        </a:spcBef>
                        <a:spcAft>
                          <a:spcPts val="0"/>
                        </a:spcAft>
                        <a:buNone/>
                      </a:pPr>
                      <a:r>
                        <a:rPr lang="es-CL" sz="1000" b="0">
                          <a:solidFill>
                            <a:schemeClr val="lt2"/>
                          </a:solidFill>
                        </a:rPr>
                        <a:t>Atacama – III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4"/>
                  </a:ext>
                </a:extLst>
              </a:tr>
              <a:tr h="311400">
                <a:tc>
                  <a:txBody>
                    <a:bodyPr/>
                    <a:lstStyle/>
                    <a:p>
                      <a:pPr marL="0" marR="0" lvl="0" indent="0" algn="l" rtl="0">
                        <a:spcBef>
                          <a:spcPts val="0"/>
                        </a:spcBef>
                        <a:spcAft>
                          <a:spcPts val="0"/>
                        </a:spcAft>
                        <a:buNone/>
                      </a:pPr>
                      <a:r>
                        <a:rPr lang="es-CL" sz="1000" b="0">
                          <a:solidFill>
                            <a:schemeClr val="lt2"/>
                          </a:solidFill>
                        </a:rPr>
                        <a:t>Coquimbo – IV</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5"/>
                  </a:ext>
                </a:extLst>
              </a:tr>
              <a:tr h="311400">
                <a:tc>
                  <a:txBody>
                    <a:bodyPr/>
                    <a:lstStyle/>
                    <a:p>
                      <a:pPr marL="0" marR="0" lvl="0" indent="0" algn="l" rtl="0">
                        <a:spcBef>
                          <a:spcPts val="0"/>
                        </a:spcBef>
                        <a:spcAft>
                          <a:spcPts val="0"/>
                        </a:spcAft>
                        <a:buNone/>
                      </a:pPr>
                      <a:r>
                        <a:rPr lang="es-CL" sz="1000" b="0">
                          <a:solidFill>
                            <a:schemeClr val="lt2"/>
                          </a:solidFill>
                        </a:rPr>
                        <a:t>Valparaíso – V</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6"/>
                  </a:ext>
                </a:extLst>
              </a:tr>
              <a:tr h="311400">
                <a:tc>
                  <a:txBody>
                    <a:bodyPr/>
                    <a:lstStyle/>
                    <a:p>
                      <a:pPr marL="0" marR="0" lvl="0" indent="0" algn="l" rtl="0">
                        <a:spcBef>
                          <a:spcPts val="0"/>
                        </a:spcBef>
                        <a:spcAft>
                          <a:spcPts val="0"/>
                        </a:spcAft>
                        <a:buNone/>
                      </a:pPr>
                      <a:r>
                        <a:rPr lang="es-CL" sz="1000" b="0">
                          <a:solidFill>
                            <a:schemeClr val="dk1"/>
                          </a:solidFill>
                        </a:rPr>
                        <a:t>Metropolitana de Santiago – RM</a:t>
                      </a:r>
                      <a:endParaRPr sz="1000" b="0">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4"/>
                    </a:solidFill>
                  </a:tcPr>
                </a:tc>
                <a:tc>
                  <a:txBody>
                    <a:bodyPr/>
                    <a:lstStyle/>
                    <a:p>
                      <a:pPr marL="0" marR="0" lvl="0" indent="0" algn="l" rtl="0">
                        <a:spcBef>
                          <a:spcPts val="0"/>
                        </a:spcBef>
                        <a:spcAft>
                          <a:spcPts val="0"/>
                        </a:spcAft>
                        <a:buNone/>
                      </a:pPr>
                      <a:r>
                        <a:rPr lang="es-CL" sz="1000" b="0">
                          <a:solidFill>
                            <a:schemeClr val="dk1"/>
                          </a:solidFill>
                        </a:rPr>
                        <a:t>RM</a:t>
                      </a:r>
                      <a:endParaRPr sz="1000" b="0">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4"/>
                    </a:solidFill>
                  </a:tcPr>
                </a:tc>
                <a:tc>
                  <a:txBody>
                    <a:bodyPr/>
                    <a:lstStyle/>
                    <a:p>
                      <a:pPr marL="0" marR="0" lvl="0" indent="0" algn="l" rtl="0">
                        <a:spcBef>
                          <a:spcPts val="0"/>
                        </a:spcBef>
                        <a:spcAft>
                          <a:spcPts val="0"/>
                        </a:spcAft>
                        <a:buNone/>
                      </a:pPr>
                      <a:r>
                        <a:rPr lang="es-CL" sz="1000" b="1">
                          <a:solidFill>
                            <a:schemeClr val="dk1"/>
                          </a:solidFill>
                        </a:rPr>
                        <a:t>Hub</a:t>
                      </a:r>
                      <a:endParaRPr sz="1000" b="1">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accent4"/>
                    </a:solidFill>
                  </a:tcPr>
                </a:tc>
                <a:extLst>
                  <a:ext uri="{0D108BD9-81ED-4DB2-BD59-A6C34878D82A}">
                    <a16:rowId xmlns:a16="http://schemas.microsoft.com/office/drawing/2014/main" val="10007"/>
                  </a:ext>
                </a:extLst>
              </a:tr>
              <a:tr h="311400">
                <a:tc>
                  <a:txBody>
                    <a:bodyPr/>
                    <a:lstStyle/>
                    <a:p>
                      <a:pPr marL="0" marR="0" lvl="0" indent="0" algn="l" rtl="0">
                        <a:spcBef>
                          <a:spcPts val="0"/>
                        </a:spcBef>
                        <a:spcAft>
                          <a:spcPts val="0"/>
                        </a:spcAft>
                        <a:buNone/>
                      </a:pPr>
                      <a:r>
                        <a:rPr lang="es-CL" sz="1000" b="0">
                          <a:solidFill>
                            <a:schemeClr val="lt2"/>
                          </a:solidFill>
                        </a:rPr>
                        <a:t>O’Higgins – VI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8"/>
                  </a:ext>
                </a:extLst>
              </a:tr>
              <a:tr h="311400">
                <a:tc>
                  <a:txBody>
                    <a:bodyPr/>
                    <a:lstStyle/>
                    <a:p>
                      <a:pPr marL="0" marR="0" lvl="0" indent="0" algn="l" rtl="0">
                        <a:spcBef>
                          <a:spcPts val="0"/>
                        </a:spcBef>
                        <a:spcAft>
                          <a:spcPts val="0"/>
                        </a:spcAft>
                        <a:buNone/>
                      </a:pPr>
                      <a:r>
                        <a:rPr lang="es-CL" sz="1000" b="0">
                          <a:solidFill>
                            <a:schemeClr val="lt2"/>
                          </a:solidFill>
                        </a:rPr>
                        <a:t>Maule – VII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09"/>
                  </a:ext>
                </a:extLst>
              </a:tr>
              <a:tr h="311400">
                <a:tc>
                  <a:txBody>
                    <a:bodyPr/>
                    <a:lstStyle/>
                    <a:p>
                      <a:pPr marL="0" marR="0" lvl="0" indent="0" algn="l" rtl="0">
                        <a:spcBef>
                          <a:spcPts val="0"/>
                        </a:spcBef>
                        <a:spcAft>
                          <a:spcPts val="0"/>
                        </a:spcAft>
                        <a:buNone/>
                      </a:pPr>
                      <a:r>
                        <a:rPr lang="es-CL" sz="1000" b="0">
                          <a:solidFill>
                            <a:schemeClr val="lt2"/>
                          </a:solidFill>
                        </a:rPr>
                        <a:t>Ñuble – XVI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2"/>
                        </a:buClr>
                        <a:buSzPts val="1000"/>
                        <a:buFont typeface="Arial"/>
                        <a:buNone/>
                      </a:pPr>
                      <a:r>
                        <a:rPr lang="es-CL" sz="1000" b="0">
                          <a:solidFill>
                            <a:schemeClr val="lt2"/>
                          </a:solidFill>
                        </a:rPr>
                        <a:t>(Camionetas – Bodega: VIII ; Coordinación – Jefatura :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spcBef>
                          <a:spcPts val="0"/>
                        </a:spcBef>
                        <a:spcAft>
                          <a:spcPts val="0"/>
                        </a:spcAft>
                        <a:buNone/>
                      </a:pPr>
                      <a:r>
                        <a:rPr lang="es-CL" sz="1000" b="0">
                          <a:solidFill>
                            <a:schemeClr val="lt2"/>
                          </a:solidFill>
                        </a:rPr>
                        <a:t>Receptora – VIII y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10"/>
                  </a:ext>
                </a:extLst>
              </a:tr>
              <a:tr h="311400">
                <a:tc>
                  <a:txBody>
                    <a:bodyPr/>
                    <a:lstStyle/>
                    <a:p>
                      <a:pPr marL="0" marR="0" lvl="0" indent="0" algn="l" rtl="0">
                        <a:spcBef>
                          <a:spcPts val="0"/>
                        </a:spcBef>
                        <a:spcAft>
                          <a:spcPts val="0"/>
                        </a:spcAft>
                        <a:buNone/>
                      </a:pPr>
                      <a:r>
                        <a:rPr lang="es-CL" sz="1000" b="1">
                          <a:solidFill>
                            <a:schemeClr val="dk1"/>
                          </a:solidFill>
                        </a:rPr>
                        <a:t>Bio Bio – VIII</a:t>
                      </a:r>
                      <a:endParaRPr sz="1000" b="1">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None/>
                      </a:pPr>
                      <a:r>
                        <a:rPr lang="es-CL" sz="1000" b="1">
                          <a:solidFill>
                            <a:schemeClr val="dk1"/>
                          </a:solidFill>
                        </a:rPr>
                        <a:t>VIII</a:t>
                      </a:r>
                      <a:endParaRPr sz="1000" b="1">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None/>
                      </a:pPr>
                      <a:r>
                        <a:rPr lang="es-CL" sz="1000" b="1">
                          <a:solidFill>
                            <a:schemeClr val="dk1"/>
                          </a:solidFill>
                        </a:rPr>
                        <a:t>Satélite</a:t>
                      </a:r>
                      <a:endParaRPr sz="1000" b="1">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11"/>
                  </a:ext>
                </a:extLst>
              </a:tr>
              <a:tr h="311400">
                <a:tc>
                  <a:txBody>
                    <a:bodyPr/>
                    <a:lstStyle/>
                    <a:p>
                      <a:pPr marL="0" marR="0" lvl="0" indent="0" algn="l" rtl="0">
                        <a:spcBef>
                          <a:spcPts val="0"/>
                        </a:spcBef>
                        <a:spcAft>
                          <a:spcPts val="0"/>
                        </a:spcAft>
                        <a:buNone/>
                      </a:pPr>
                      <a:r>
                        <a:rPr lang="es-CL" sz="1000" b="0">
                          <a:solidFill>
                            <a:schemeClr val="lt2"/>
                          </a:solidFill>
                        </a:rPr>
                        <a:t>La Araucanía – IX</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2"/>
                        </a:buClr>
                        <a:buSzPts val="1000"/>
                        <a:buFont typeface="Arial"/>
                        <a:buNone/>
                      </a:pPr>
                      <a:r>
                        <a:rPr lang="es-CL" sz="1000" b="0">
                          <a:solidFill>
                            <a:schemeClr val="lt2"/>
                          </a:solidFill>
                        </a:rPr>
                        <a:t>(Camionetas – Bodega: VIII ; Coordinación – Jefatura :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VIII y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12"/>
                  </a:ext>
                </a:extLst>
              </a:tr>
              <a:tr h="311400">
                <a:tc>
                  <a:txBody>
                    <a:bodyPr/>
                    <a:lstStyle/>
                    <a:p>
                      <a:pPr marL="0" marR="0" lvl="0" indent="0" algn="l" rtl="0">
                        <a:spcBef>
                          <a:spcPts val="0"/>
                        </a:spcBef>
                        <a:spcAft>
                          <a:spcPts val="0"/>
                        </a:spcAft>
                        <a:buNone/>
                      </a:pPr>
                      <a:r>
                        <a:rPr lang="es-CL" sz="1000" b="0">
                          <a:solidFill>
                            <a:schemeClr val="lt2"/>
                          </a:solidFill>
                        </a:rPr>
                        <a:t>Los Ríos – XIV</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2"/>
                        </a:buClr>
                        <a:buSzPts val="1000"/>
                        <a:buFont typeface="Arial"/>
                        <a:buNone/>
                      </a:pPr>
                      <a:r>
                        <a:rPr lang="es-CL" sz="1000" b="0">
                          <a:solidFill>
                            <a:schemeClr val="lt2"/>
                          </a:solidFill>
                        </a:rPr>
                        <a:t>(Camionetas – Bodega: X ; Coordinación – Jefatura :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X y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13"/>
                  </a:ext>
                </a:extLst>
              </a:tr>
              <a:tr h="311400">
                <a:tc>
                  <a:txBody>
                    <a:bodyPr/>
                    <a:lstStyle/>
                    <a:p>
                      <a:pPr marL="0" marR="0" lvl="0" indent="0" algn="l" rtl="0">
                        <a:spcBef>
                          <a:spcPts val="0"/>
                        </a:spcBef>
                        <a:spcAft>
                          <a:spcPts val="0"/>
                        </a:spcAft>
                        <a:buNone/>
                      </a:pPr>
                      <a:r>
                        <a:rPr lang="es-CL" sz="1000" b="1">
                          <a:solidFill>
                            <a:schemeClr val="dk1"/>
                          </a:solidFill>
                        </a:rPr>
                        <a:t>Los Lagos - X</a:t>
                      </a:r>
                      <a:endParaRPr sz="1000" b="1">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1"/>
                    </a:solidFill>
                  </a:tcPr>
                </a:tc>
                <a:tc>
                  <a:txBody>
                    <a:bodyPr/>
                    <a:lstStyle/>
                    <a:p>
                      <a:pPr marL="0" marR="0" lvl="0" indent="0" algn="l" rtl="0">
                        <a:spcBef>
                          <a:spcPts val="0"/>
                        </a:spcBef>
                        <a:spcAft>
                          <a:spcPts val="0"/>
                        </a:spcAft>
                        <a:buNone/>
                      </a:pPr>
                      <a:r>
                        <a:rPr lang="es-CL" sz="1000" b="1">
                          <a:solidFill>
                            <a:schemeClr val="dk1"/>
                          </a:solidFill>
                        </a:rPr>
                        <a:t>X</a:t>
                      </a:r>
                      <a:endParaRPr sz="1000" b="1">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Clr>
                          <a:schemeClr val="dk1"/>
                        </a:buClr>
                        <a:buSzPts val="1000"/>
                        <a:buFont typeface="Arial"/>
                        <a:buNone/>
                      </a:pPr>
                      <a:r>
                        <a:rPr lang="es-CL" sz="1000" b="1">
                          <a:solidFill>
                            <a:schemeClr val="dk1"/>
                          </a:solidFill>
                        </a:rPr>
                        <a:t>Satélite</a:t>
                      </a:r>
                      <a:endParaRPr sz="1000" b="1">
                        <a:solidFill>
                          <a:schemeClr val="dk1"/>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solidFill>
                      <a:schemeClr val="lt1"/>
                    </a:solidFill>
                  </a:tcPr>
                </a:tc>
                <a:extLst>
                  <a:ext uri="{0D108BD9-81ED-4DB2-BD59-A6C34878D82A}">
                    <a16:rowId xmlns:a16="http://schemas.microsoft.com/office/drawing/2014/main" val="10014"/>
                  </a:ext>
                </a:extLst>
              </a:tr>
              <a:tr h="311400">
                <a:tc>
                  <a:txBody>
                    <a:bodyPr/>
                    <a:lstStyle/>
                    <a:p>
                      <a:pPr marL="0" marR="0" lvl="0" indent="0" algn="l" rtl="0">
                        <a:spcBef>
                          <a:spcPts val="0"/>
                        </a:spcBef>
                        <a:spcAft>
                          <a:spcPts val="0"/>
                        </a:spcAft>
                        <a:buNone/>
                      </a:pPr>
                      <a:r>
                        <a:rPr lang="es-CL" sz="1000" b="0">
                          <a:solidFill>
                            <a:schemeClr val="lt2"/>
                          </a:solidFill>
                        </a:rPr>
                        <a:t>Aysén – XI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2"/>
                        </a:buClr>
                        <a:buSzPts val="1000"/>
                        <a:buFont typeface="Arial"/>
                        <a:buNone/>
                      </a:pPr>
                      <a:r>
                        <a:rPr lang="es-CL" sz="1000" b="0">
                          <a:solidFill>
                            <a:schemeClr val="lt2"/>
                          </a:solidFill>
                        </a:rPr>
                        <a:t>(Camionetas – Bodega: X ; Coordinación – Jefatura :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X y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15"/>
                  </a:ext>
                </a:extLst>
              </a:tr>
              <a:tr h="311400">
                <a:tc>
                  <a:txBody>
                    <a:bodyPr/>
                    <a:lstStyle/>
                    <a:p>
                      <a:pPr marL="0" marR="0" lvl="0" indent="0" algn="l" rtl="0">
                        <a:spcBef>
                          <a:spcPts val="0"/>
                        </a:spcBef>
                        <a:spcAft>
                          <a:spcPts val="0"/>
                        </a:spcAft>
                        <a:buNone/>
                      </a:pPr>
                      <a:r>
                        <a:rPr lang="es-CL" sz="1000" b="0">
                          <a:solidFill>
                            <a:schemeClr val="lt2"/>
                          </a:solidFill>
                        </a:rPr>
                        <a:t>Magallanes - XII</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chemeClr val="lt2"/>
                        </a:buClr>
                        <a:buSzPts val="1000"/>
                        <a:buFont typeface="Arial"/>
                        <a:buNone/>
                      </a:pPr>
                      <a:r>
                        <a:rPr lang="es-CL" sz="1000" b="0">
                          <a:solidFill>
                            <a:schemeClr val="lt2"/>
                          </a:solidFill>
                        </a:rPr>
                        <a:t>(Camionetas – Bodega: X ; Coordinación – Jefatura : RM)</a:t>
                      </a:r>
                      <a:endParaRPr sz="1000" b="0">
                        <a:solidFill>
                          <a:schemeClr val="lt2"/>
                        </a:solidFil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373C46"/>
                        </a:buClr>
                        <a:buSzPts val="1000"/>
                        <a:buFont typeface="Arial"/>
                        <a:buNone/>
                      </a:pPr>
                      <a:r>
                        <a:rPr lang="es-CL" sz="1000" b="0" i="0" u="none" strike="noStrike" cap="none">
                          <a:solidFill>
                            <a:srgbClr val="373C46"/>
                          </a:solidFill>
                          <a:latin typeface="Arial"/>
                          <a:ea typeface="Arial"/>
                          <a:cs typeface="Arial"/>
                          <a:sym typeface="Arial"/>
                        </a:rPr>
                        <a:t>Receptora – X y RM</a:t>
                      </a:r>
                      <a:endParaRPr sz="1000" b="0" i="0" u="none" strike="noStrike" cap="none">
                        <a:solidFill>
                          <a:srgbClr val="373C46"/>
                        </a:solidFill>
                        <a:latin typeface="Arial"/>
                        <a:ea typeface="Arial"/>
                        <a:cs typeface="Arial"/>
                        <a:sym typeface="Arial"/>
                      </a:endParaRPr>
                    </a:p>
                  </a:txBody>
                  <a:tcPr marL="91450" marR="91450" marT="45725" marB="45725" anchor="ctr">
                    <a:lnL w="12700" cap="flat" cmpd="sng">
                      <a:solidFill>
                        <a:schemeClr val="lt2"/>
                      </a:solidFill>
                      <a:prstDash val="solid"/>
                      <a:round/>
                      <a:headEnd type="none" w="sm" len="sm"/>
                      <a:tailEnd type="none" w="sm" len="sm"/>
                    </a:lnL>
                    <a:lnR w="12700" cap="flat" cmpd="sng">
                      <a:solidFill>
                        <a:schemeClr val="lt2"/>
                      </a:solidFill>
                      <a:prstDash val="solid"/>
                      <a:round/>
                      <a:headEnd type="none" w="sm" len="sm"/>
                      <a:tailEnd type="none" w="sm" len="sm"/>
                    </a:lnR>
                    <a:lnT w="12700" cap="flat" cmpd="sng">
                      <a:solidFill>
                        <a:schemeClr val="lt2"/>
                      </a:solidFill>
                      <a:prstDash val="solid"/>
                      <a:round/>
                      <a:headEnd type="none" w="sm" len="sm"/>
                      <a:tailEnd type="none" w="sm" len="sm"/>
                    </a:lnT>
                    <a:lnB w="12700" cap="flat" cmpd="sng">
                      <a:solidFill>
                        <a:schemeClr val="lt2"/>
                      </a:solidFill>
                      <a:prstDash val="solid"/>
                      <a:round/>
                      <a:headEnd type="none" w="sm" len="sm"/>
                      <a:tailEnd type="none" w="sm" len="sm"/>
                    </a:lnB>
                  </a:tcPr>
                </a:tc>
                <a:extLst>
                  <a:ext uri="{0D108BD9-81ED-4DB2-BD59-A6C34878D82A}">
                    <a16:rowId xmlns:a16="http://schemas.microsoft.com/office/drawing/2014/main" val="10016"/>
                  </a:ext>
                </a:extLst>
              </a:tr>
            </a:tbl>
          </a:graphicData>
        </a:graphic>
      </p:graphicFrame>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08"/>
        <p:cNvGrpSpPr/>
        <p:nvPr/>
      </p:nvGrpSpPr>
      <p:grpSpPr>
        <a:xfrm>
          <a:off x="0" y="0"/>
          <a:ext cx="0" cy="0"/>
          <a:chOff x="0" y="0"/>
          <a:chExt cx="0" cy="0"/>
        </a:xfrm>
      </p:grpSpPr>
      <p:sp>
        <p:nvSpPr>
          <p:cNvPr id="809" name="Google Shape;809;p60"/>
          <p:cNvSpPr/>
          <p:nvPr/>
        </p:nvSpPr>
        <p:spPr>
          <a:xfrm>
            <a:off x="330200" y="127000"/>
            <a:ext cx="9779000" cy="279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1500" b="1">
                <a:solidFill>
                  <a:srgbClr val="373C46"/>
                </a:solidFill>
                <a:latin typeface="Quattrocento Sans"/>
                <a:ea typeface="Quattrocento Sans"/>
                <a:cs typeface="Quattrocento Sans"/>
                <a:sym typeface="Quattrocento Sans"/>
              </a:rPr>
              <a:t>Arquitectura de sistemas actual (AS IS)</a:t>
            </a:r>
            <a:endParaRPr sz="1500">
              <a:solidFill>
                <a:srgbClr val="000000"/>
              </a:solidFill>
              <a:latin typeface="Calibri"/>
              <a:ea typeface="Calibri"/>
              <a:cs typeface="Calibri"/>
              <a:sym typeface="Calibri"/>
            </a:endParaRPr>
          </a:p>
        </p:txBody>
      </p:sp>
      <p:sp>
        <p:nvSpPr>
          <p:cNvPr id="810" name="Google Shape;810;p60"/>
          <p:cNvSpPr/>
          <p:nvPr/>
        </p:nvSpPr>
        <p:spPr>
          <a:xfrm>
            <a:off x="330200" y="431800"/>
            <a:ext cx="9779000"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50">
                <a:solidFill>
                  <a:srgbClr val="6E7480"/>
                </a:solidFill>
                <a:latin typeface="Quattrocento Sans"/>
                <a:ea typeface="Quattrocento Sans"/>
                <a:cs typeface="Quattrocento Sans"/>
                <a:sym typeface="Quattrocento Sans"/>
              </a:rPr>
              <a:t>Qué información se aloja en cada plataforma y cómo se conectan entre sí</a:t>
            </a:r>
            <a:endParaRPr sz="750">
              <a:solidFill>
                <a:srgbClr val="000000"/>
              </a:solidFill>
              <a:latin typeface="Calibri"/>
              <a:ea typeface="Calibri"/>
              <a:cs typeface="Calibri"/>
              <a:sym typeface="Calibri"/>
            </a:endParaRPr>
          </a:p>
        </p:txBody>
      </p:sp>
      <p:sp>
        <p:nvSpPr>
          <p:cNvPr id="811" name="Google Shape;811;p60"/>
          <p:cNvSpPr/>
          <p:nvPr/>
        </p:nvSpPr>
        <p:spPr>
          <a:xfrm>
            <a:off x="0" y="717550"/>
            <a:ext cx="12192000" cy="50800"/>
          </a:xfrm>
          <a:prstGeom prst="rect">
            <a:avLst/>
          </a:prstGeom>
          <a:solidFill>
            <a:srgbClr val="28D2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12" name="Google Shape;812;p60" descr="preencoded.png"/>
          <p:cNvPicPr preferRelativeResize="0"/>
          <p:nvPr/>
        </p:nvPicPr>
        <p:blipFill rotWithShape="1">
          <a:blip r:embed="rId3">
            <a:alphaModFix/>
          </a:blip>
          <a:srcRect/>
          <a:stretch/>
        </p:blipFill>
        <p:spPr>
          <a:xfrm>
            <a:off x="10813554" y="139700"/>
            <a:ext cx="289818" cy="279400"/>
          </a:xfrm>
          <a:prstGeom prst="rect">
            <a:avLst/>
          </a:prstGeom>
          <a:noFill/>
          <a:ln>
            <a:noFill/>
          </a:ln>
        </p:spPr>
      </p:pic>
      <p:pic>
        <p:nvPicPr>
          <p:cNvPr id="813" name="Google Shape;813;p60" descr="preencoded.png"/>
          <p:cNvPicPr preferRelativeResize="0"/>
          <p:nvPr/>
        </p:nvPicPr>
        <p:blipFill rotWithShape="1">
          <a:blip r:embed="rId4">
            <a:alphaModFix/>
          </a:blip>
          <a:srcRect/>
          <a:stretch/>
        </p:blipFill>
        <p:spPr>
          <a:xfrm>
            <a:off x="11217672" y="139700"/>
            <a:ext cx="278309" cy="279400"/>
          </a:xfrm>
          <a:prstGeom prst="rect">
            <a:avLst/>
          </a:prstGeom>
          <a:noFill/>
          <a:ln>
            <a:noFill/>
          </a:ln>
        </p:spPr>
      </p:pic>
      <p:pic>
        <p:nvPicPr>
          <p:cNvPr id="814" name="Google Shape;814;p60" descr="preencoded.png"/>
          <p:cNvPicPr preferRelativeResize="0"/>
          <p:nvPr/>
        </p:nvPicPr>
        <p:blipFill rotWithShape="1">
          <a:blip r:embed="rId5">
            <a:alphaModFix/>
          </a:blip>
          <a:srcRect/>
          <a:stretch/>
        </p:blipFill>
        <p:spPr>
          <a:xfrm>
            <a:off x="11610281" y="139700"/>
            <a:ext cx="251519" cy="279400"/>
          </a:xfrm>
          <a:prstGeom prst="rect">
            <a:avLst/>
          </a:prstGeom>
          <a:noFill/>
          <a:ln>
            <a:noFill/>
          </a:ln>
        </p:spPr>
      </p:pic>
      <p:sp>
        <p:nvSpPr>
          <p:cNvPr id="815" name="Google Shape;815;p60"/>
          <p:cNvSpPr/>
          <p:nvPr/>
        </p:nvSpPr>
        <p:spPr>
          <a:xfrm>
            <a:off x="330200" y="952500"/>
            <a:ext cx="9415780" cy="1397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75" b="1">
                <a:solidFill>
                  <a:srgbClr val="6E7480"/>
                </a:solidFill>
                <a:latin typeface="Quattrocento Sans"/>
                <a:ea typeface="Quattrocento Sans"/>
                <a:cs typeface="Quattrocento Sans"/>
                <a:sym typeface="Quattrocento Sans"/>
              </a:rPr>
              <a:t>CAPA DE APLICACIONES DE NEGOCIO</a:t>
            </a:r>
            <a:endParaRPr sz="675">
              <a:solidFill>
                <a:srgbClr val="000000"/>
              </a:solidFill>
              <a:latin typeface="Calibri"/>
              <a:ea typeface="Calibri"/>
              <a:cs typeface="Calibri"/>
              <a:sym typeface="Calibri"/>
            </a:endParaRPr>
          </a:p>
        </p:txBody>
      </p:sp>
      <p:sp>
        <p:nvSpPr>
          <p:cNvPr id="816" name="Google Shape;816;p60"/>
          <p:cNvSpPr/>
          <p:nvPr/>
        </p:nvSpPr>
        <p:spPr>
          <a:xfrm>
            <a:off x="330200" y="1155700"/>
            <a:ext cx="5487095" cy="2927350"/>
          </a:xfrm>
          <a:prstGeom prst="roundRect">
            <a:avLst>
              <a:gd name="adj" fmla="val 3037"/>
            </a:avLst>
          </a:prstGeom>
          <a:solidFill>
            <a:srgbClr val="FBFBFF"/>
          </a:solidFill>
          <a:ln w="9525" cap="flat" cmpd="sng">
            <a:solidFill>
              <a:srgbClr val="C9CBF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7" name="Google Shape;817;p60"/>
          <p:cNvSpPr/>
          <p:nvPr/>
        </p:nvSpPr>
        <p:spPr>
          <a:xfrm>
            <a:off x="463550" y="1292225"/>
            <a:ext cx="50800" cy="50800"/>
          </a:xfrm>
          <a:prstGeom prst="ellipse">
            <a:avLst/>
          </a:prstGeom>
          <a:solidFill>
            <a:srgbClr val="282D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60"/>
          <p:cNvSpPr/>
          <p:nvPr/>
        </p:nvSpPr>
        <p:spPr>
          <a:xfrm>
            <a:off x="577850" y="1263650"/>
            <a:ext cx="2915037" cy="1333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50" b="1">
                <a:solidFill>
                  <a:srgbClr val="282DF0"/>
                </a:solidFill>
                <a:latin typeface="Quattrocento Sans"/>
                <a:ea typeface="Quattrocento Sans"/>
                <a:cs typeface="Quattrocento Sans"/>
                <a:sym typeface="Quattrocento Sans"/>
              </a:rPr>
              <a:t>PLATAFORMA SALESFORCE · UNA SOLA BASE DE DATOS</a:t>
            </a:r>
            <a:endParaRPr sz="650">
              <a:solidFill>
                <a:srgbClr val="000000"/>
              </a:solidFill>
              <a:latin typeface="Calibri"/>
              <a:ea typeface="Calibri"/>
              <a:cs typeface="Calibri"/>
              <a:sym typeface="Calibri"/>
            </a:endParaRPr>
          </a:p>
        </p:txBody>
      </p:sp>
      <p:sp>
        <p:nvSpPr>
          <p:cNvPr id="819" name="Google Shape;819;p60"/>
          <p:cNvSpPr/>
          <p:nvPr/>
        </p:nvSpPr>
        <p:spPr>
          <a:xfrm>
            <a:off x="438151" y="1447800"/>
            <a:ext cx="2584747" cy="2343150"/>
          </a:xfrm>
          <a:prstGeom prst="roundRect">
            <a:avLst>
              <a:gd name="adj" fmla="val 2710"/>
            </a:avLst>
          </a:prstGeom>
          <a:solidFill>
            <a:srgbClr val="FFFFFF"/>
          </a:solidFill>
          <a:ln w="9525" cap="flat" cmpd="sng">
            <a:solidFill>
              <a:srgbClr val="E2E5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60" descr="preencoded.png"/>
          <p:cNvSpPr/>
          <p:nvPr/>
        </p:nvSpPr>
        <p:spPr>
          <a:xfrm>
            <a:off x="571500" y="1619250"/>
            <a:ext cx="417215" cy="292100"/>
          </a:xfrm>
          <a:prstGeom prst="rect">
            <a:avLst/>
          </a:prstGeom>
          <a:noFill/>
          <a:ln>
            <a:noFill/>
          </a:ln>
        </p:spPr>
        <p:txBody>
          <a:bodyPr/>
          <a:lstStyle/>
          <a:p>
            <a:endParaRPr lang="es-CL"/>
          </a:p>
        </p:txBody>
      </p:sp>
      <p:sp>
        <p:nvSpPr>
          <p:cNvPr id="821" name="Google Shape;821;p60"/>
          <p:cNvSpPr/>
          <p:nvPr/>
        </p:nvSpPr>
        <p:spPr>
          <a:xfrm>
            <a:off x="571500" y="2025650"/>
            <a:ext cx="2549853" cy="1968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1000" b="1">
                <a:solidFill>
                  <a:srgbClr val="373C46"/>
                </a:solidFill>
                <a:latin typeface="Quattrocento Sans"/>
                <a:ea typeface="Quattrocento Sans"/>
                <a:cs typeface="Quattrocento Sans"/>
                <a:sym typeface="Quattrocento Sans"/>
              </a:rPr>
              <a:t>Salesforce CRM</a:t>
            </a:r>
            <a:endParaRPr sz="1000">
              <a:solidFill>
                <a:srgbClr val="000000"/>
              </a:solidFill>
              <a:latin typeface="Calibri"/>
              <a:ea typeface="Calibri"/>
              <a:cs typeface="Calibri"/>
              <a:sym typeface="Calibri"/>
            </a:endParaRPr>
          </a:p>
        </p:txBody>
      </p:sp>
      <p:sp>
        <p:nvSpPr>
          <p:cNvPr id="822" name="Google Shape;822;p60"/>
          <p:cNvSpPr/>
          <p:nvPr/>
        </p:nvSpPr>
        <p:spPr>
          <a:xfrm>
            <a:off x="571500" y="2216150"/>
            <a:ext cx="2549853" cy="1333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50">
                <a:solidFill>
                  <a:srgbClr val="6E7480"/>
                </a:solidFill>
                <a:latin typeface="Quattrocento Sans"/>
                <a:ea typeface="Quattrocento Sans"/>
                <a:cs typeface="Quattrocento Sans"/>
                <a:sym typeface="Quattrocento Sans"/>
              </a:rPr>
              <a:t>Sistema de registro comercial</a:t>
            </a:r>
            <a:endParaRPr sz="650">
              <a:solidFill>
                <a:srgbClr val="000000"/>
              </a:solidFill>
              <a:latin typeface="Calibri"/>
              <a:ea typeface="Calibri"/>
              <a:cs typeface="Calibri"/>
              <a:sym typeface="Calibri"/>
            </a:endParaRPr>
          </a:p>
        </p:txBody>
      </p:sp>
      <p:sp>
        <p:nvSpPr>
          <p:cNvPr id="823" name="Google Shape;823;p60"/>
          <p:cNvSpPr/>
          <p:nvPr/>
        </p:nvSpPr>
        <p:spPr>
          <a:xfrm>
            <a:off x="571500" y="2425700"/>
            <a:ext cx="2549853" cy="1270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00" b="1">
                <a:solidFill>
                  <a:srgbClr val="5A6472"/>
                </a:solidFill>
                <a:latin typeface="Quattrocento Sans"/>
                <a:ea typeface="Quattrocento Sans"/>
                <a:cs typeface="Quattrocento Sans"/>
                <a:sym typeface="Quattrocento Sans"/>
              </a:rPr>
              <a:t>SE ALOJA AQUÍ</a:t>
            </a:r>
            <a:endParaRPr sz="600">
              <a:solidFill>
                <a:srgbClr val="000000"/>
              </a:solidFill>
              <a:latin typeface="Calibri"/>
              <a:ea typeface="Calibri"/>
              <a:cs typeface="Calibri"/>
              <a:sym typeface="Calibri"/>
            </a:endParaRPr>
          </a:p>
        </p:txBody>
      </p:sp>
      <p:sp>
        <p:nvSpPr>
          <p:cNvPr id="824" name="Google Shape;824;p60"/>
          <p:cNvSpPr/>
          <p:nvPr/>
        </p:nvSpPr>
        <p:spPr>
          <a:xfrm>
            <a:off x="571500" y="2590800"/>
            <a:ext cx="2549853"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Ficha de clientes</a:t>
            </a:r>
            <a:endParaRPr sz="725">
              <a:solidFill>
                <a:srgbClr val="000000"/>
              </a:solidFill>
              <a:latin typeface="Calibri"/>
              <a:ea typeface="Calibri"/>
              <a:cs typeface="Calibri"/>
              <a:sym typeface="Calibri"/>
            </a:endParaRPr>
          </a:p>
        </p:txBody>
      </p:sp>
      <p:sp>
        <p:nvSpPr>
          <p:cNvPr id="825" name="Google Shape;825;p60"/>
          <p:cNvSpPr/>
          <p:nvPr/>
        </p:nvSpPr>
        <p:spPr>
          <a:xfrm>
            <a:off x="571500" y="2781300"/>
            <a:ext cx="2549853"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Equipos instalados</a:t>
            </a:r>
            <a:endParaRPr sz="725">
              <a:solidFill>
                <a:srgbClr val="000000"/>
              </a:solidFill>
              <a:latin typeface="Calibri"/>
              <a:ea typeface="Calibri"/>
              <a:cs typeface="Calibri"/>
              <a:sym typeface="Calibri"/>
            </a:endParaRPr>
          </a:p>
        </p:txBody>
      </p:sp>
      <p:sp>
        <p:nvSpPr>
          <p:cNvPr id="826" name="Google Shape;826;p60"/>
          <p:cNvSpPr/>
          <p:nvPr/>
        </p:nvSpPr>
        <p:spPr>
          <a:xfrm>
            <a:off x="571500" y="2971800"/>
            <a:ext cx="2549853"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Contratos</a:t>
            </a:r>
            <a:endParaRPr sz="725">
              <a:solidFill>
                <a:srgbClr val="000000"/>
              </a:solidFill>
              <a:latin typeface="Calibri"/>
              <a:ea typeface="Calibri"/>
              <a:cs typeface="Calibri"/>
              <a:sym typeface="Calibri"/>
            </a:endParaRPr>
          </a:p>
        </p:txBody>
      </p:sp>
      <p:sp>
        <p:nvSpPr>
          <p:cNvPr id="827" name="Google Shape;827;p60"/>
          <p:cNvSpPr/>
          <p:nvPr/>
        </p:nvSpPr>
        <p:spPr>
          <a:xfrm>
            <a:off x="571500" y="3162300"/>
            <a:ext cx="2549853"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Casos de servicio</a:t>
            </a:r>
            <a:endParaRPr sz="725">
              <a:solidFill>
                <a:srgbClr val="000000"/>
              </a:solidFill>
              <a:latin typeface="Calibri"/>
              <a:ea typeface="Calibri"/>
              <a:cs typeface="Calibri"/>
              <a:sym typeface="Calibri"/>
            </a:endParaRPr>
          </a:p>
        </p:txBody>
      </p:sp>
      <p:sp>
        <p:nvSpPr>
          <p:cNvPr id="828" name="Google Shape;828;p60"/>
          <p:cNvSpPr/>
          <p:nvPr/>
        </p:nvSpPr>
        <p:spPr>
          <a:xfrm>
            <a:off x="571500" y="3352800"/>
            <a:ext cx="2549853"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Solicitudes de facturación</a:t>
            </a:r>
            <a:endParaRPr sz="725">
              <a:solidFill>
                <a:srgbClr val="000000"/>
              </a:solidFill>
              <a:latin typeface="Calibri"/>
              <a:ea typeface="Calibri"/>
              <a:cs typeface="Calibri"/>
              <a:sym typeface="Calibri"/>
            </a:endParaRPr>
          </a:p>
        </p:txBody>
      </p:sp>
      <p:sp>
        <p:nvSpPr>
          <p:cNvPr id="829" name="Google Shape;829;p60"/>
          <p:cNvSpPr/>
          <p:nvPr/>
        </p:nvSpPr>
        <p:spPr>
          <a:xfrm>
            <a:off x="571500" y="3543300"/>
            <a:ext cx="2549853"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Gestión comercial</a:t>
            </a:r>
            <a:endParaRPr sz="725">
              <a:solidFill>
                <a:srgbClr val="000000"/>
              </a:solidFill>
              <a:latin typeface="Calibri"/>
              <a:ea typeface="Calibri"/>
              <a:cs typeface="Calibri"/>
              <a:sym typeface="Calibri"/>
            </a:endParaRPr>
          </a:p>
        </p:txBody>
      </p:sp>
      <p:sp>
        <p:nvSpPr>
          <p:cNvPr id="830" name="Google Shape;830;p60"/>
          <p:cNvSpPr/>
          <p:nvPr/>
        </p:nvSpPr>
        <p:spPr>
          <a:xfrm>
            <a:off x="3124497" y="1447800"/>
            <a:ext cx="2584847" cy="2343150"/>
          </a:xfrm>
          <a:prstGeom prst="roundRect">
            <a:avLst>
              <a:gd name="adj" fmla="val 2710"/>
            </a:avLst>
          </a:prstGeom>
          <a:solidFill>
            <a:srgbClr val="FFFFFF"/>
          </a:solidFill>
          <a:ln w="9525" cap="flat" cmpd="sng">
            <a:solidFill>
              <a:srgbClr val="E2E5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31" name="Google Shape;831;p60" descr="preencoded.png"/>
          <p:cNvPicPr preferRelativeResize="0"/>
          <p:nvPr/>
        </p:nvPicPr>
        <p:blipFill rotWithShape="1">
          <a:blip r:embed="rId6">
            <a:alphaModFix/>
          </a:blip>
          <a:srcRect/>
          <a:stretch/>
        </p:blipFill>
        <p:spPr>
          <a:xfrm>
            <a:off x="3257848" y="1638300"/>
            <a:ext cx="841077" cy="254000"/>
          </a:xfrm>
          <a:prstGeom prst="rect">
            <a:avLst/>
          </a:prstGeom>
          <a:noFill/>
          <a:ln>
            <a:noFill/>
          </a:ln>
        </p:spPr>
      </p:pic>
      <p:sp>
        <p:nvSpPr>
          <p:cNvPr id="832" name="Google Shape;832;p60"/>
          <p:cNvSpPr/>
          <p:nvPr/>
        </p:nvSpPr>
        <p:spPr>
          <a:xfrm>
            <a:off x="3257848" y="2025650"/>
            <a:ext cx="2549961" cy="1968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1000" b="1">
                <a:solidFill>
                  <a:srgbClr val="373C46"/>
                </a:solidFill>
                <a:latin typeface="Quattrocento Sans"/>
                <a:ea typeface="Quattrocento Sans"/>
                <a:cs typeface="Quattrocento Sans"/>
                <a:sym typeface="Quattrocento Sans"/>
              </a:rPr>
              <a:t>Field Service</a:t>
            </a:r>
            <a:endParaRPr sz="1000">
              <a:solidFill>
                <a:srgbClr val="000000"/>
              </a:solidFill>
              <a:latin typeface="Calibri"/>
              <a:ea typeface="Calibri"/>
              <a:cs typeface="Calibri"/>
              <a:sym typeface="Calibri"/>
            </a:endParaRPr>
          </a:p>
        </p:txBody>
      </p:sp>
      <p:sp>
        <p:nvSpPr>
          <p:cNvPr id="833" name="Google Shape;833;p60"/>
          <p:cNvSpPr/>
          <p:nvPr/>
        </p:nvSpPr>
        <p:spPr>
          <a:xfrm>
            <a:off x="3257848" y="2216150"/>
            <a:ext cx="2549961" cy="1333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50">
                <a:solidFill>
                  <a:srgbClr val="6E7480"/>
                </a:solidFill>
                <a:latin typeface="Quattrocento Sans"/>
                <a:ea typeface="Quattrocento Sans"/>
                <a:cs typeface="Quattrocento Sans"/>
                <a:sym typeface="Quattrocento Sans"/>
              </a:rPr>
              <a:t>Sistema de registro de servicio técnico</a:t>
            </a:r>
            <a:endParaRPr sz="650">
              <a:solidFill>
                <a:srgbClr val="000000"/>
              </a:solidFill>
              <a:latin typeface="Calibri"/>
              <a:ea typeface="Calibri"/>
              <a:cs typeface="Calibri"/>
              <a:sym typeface="Calibri"/>
            </a:endParaRPr>
          </a:p>
        </p:txBody>
      </p:sp>
      <p:sp>
        <p:nvSpPr>
          <p:cNvPr id="834" name="Google Shape;834;p60"/>
          <p:cNvSpPr/>
          <p:nvPr/>
        </p:nvSpPr>
        <p:spPr>
          <a:xfrm>
            <a:off x="3257848" y="2425700"/>
            <a:ext cx="2549961" cy="1270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00" b="1">
                <a:solidFill>
                  <a:srgbClr val="5A6472"/>
                </a:solidFill>
                <a:latin typeface="Quattrocento Sans"/>
                <a:ea typeface="Quattrocento Sans"/>
                <a:cs typeface="Quattrocento Sans"/>
                <a:sym typeface="Quattrocento Sans"/>
              </a:rPr>
              <a:t>SE ALOJA AQUÍ</a:t>
            </a:r>
            <a:endParaRPr sz="600">
              <a:solidFill>
                <a:srgbClr val="000000"/>
              </a:solidFill>
              <a:latin typeface="Calibri"/>
              <a:ea typeface="Calibri"/>
              <a:cs typeface="Calibri"/>
              <a:sym typeface="Calibri"/>
            </a:endParaRPr>
          </a:p>
        </p:txBody>
      </p:sp>
      <p:sp>
        <p:nvSpPr>
          <p:cNvPr id="835" name="Google Shape;835;p60"/>
          <p:cNvSpPr/>
          <p:nvPr/>
        </p:nvSpPr>
        <p:spPr>
          <a:xfrm>
            <a:off x="3257848" y="2590800"/>
            <a:ext cx="2549961"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Órdenes de trabajo (OT)</a:t>
            </a:r>
            <a:endParaRPr sz="725">
              <a:solidFill>
                <a:srgbClr val="000000"/>
              </a:solidFill>
              <a:latin typeface="Calibri"/>
              <a:ea typeface="Calibri"/>
              <a:cs typeface="Calibri"/>
              <a:sym typeface="Calibri"/>
            </a:endParaRPr>
          </a:p>
        </p:txBody>
      </p:sp>
      <p:sp>
        <p:nvSpPr>
          <p:cNvPr id="836" name="Google Shape;836;p60"/>
          <p:cNvSpPr/>
          <p:nvPr/>
        </p:nvSpPr>
        <p:spPr>
          <a:xfrm>
            <a:off x="3257848" y="2781300"/>
            <a:ext cx="2549961"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Agenda y visitas</a:t>
            </a:r>
            <a:endParaRPr sz="725">
              <a:solidFill>
                <a:srgbClr val="000000"/>
              </a:solidFill>
              <a:latin typeface="Calibri"/>
              <a:ea typeface="Calibri"/>
              <a:cs typeface="Calibri"/>
              <a:sym typeface="Calibri"/>
            </a:endParaRPr>
          </a:p>
        </p:txBody>
      </p:sp>
      <p:sp>
        <p:nvSpPr>
          <p:cNvPr id="837" name="Google Shape;837;p60"/>
          <p:cNvSpPr/>
          <p:nvPr/>
        </p:nvSpPr>
        <p:spPr>
          <a:xfrm>
            <a:off x="3257848" y="2971800"/>
            <a:ext cx="2549961"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Planificación de técnicos</a:t>
            </a:r>
            <a:endParaRPr sz="725">
              <a:solidFill>
                <a:srgbClr val="000000"/>
              </a:solidFill>
              <a:latin typeface="Calibri"/>
              <a:ea typeface="Calibri"/>
              <a:cs typeface="Calibri"/>
              <a:sym typeface="Calibri"/>
            </a:endParaRPr>
          </a:p>
        </p:txBody>
      </p:sp>
      <p:sp>
        <p:nvSpPr>
          <p:cNvPr id="838" name="Google Shape;838;p60"/>
          <p:cNvSpPr/>
          <p:nvPr/>
        </p:nvSpPr>
        <p:spPr>
          <a:xfrm>
            <a:off x="3257848" y="3162300"/>
            <a:ext cx="2549961"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Repuestos utilizados</a:t>
            </a:r>
            <a:endParaRPr sz="725">
              <a:solidFill>
                <a:srgbClr val="000000"/>
              </a:solidFill>
              <a:latin typeface="Calibri"/>
              <a:ea typeface="Calibri"/>
              <a:cs typeface="Calibri"/>
              <a:sym typeface="Calibri"/>
            </a:endParaRPr>
          </a:p>
        </p:txBody>
      </p:sp>
      <p:sp>
        <p:nvSpPr>
          <p:cNvPr id="839" name="Google Shape;839;p60"/>
          <p:cNvSpPr/>
          <p:nvPr/>
        </p:nvSpPr>
        <p:spPr>
          <a:xfrm>
            <a:off x="3257848" y="3352800"/>
            <a:ext cx="2549961"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Registro de actividades</a:t>
            </a:r>
            <a:endParaRPr sz="725">
              <a:solidFill>
                <a:srgbClr val="000000"/>
              </a:solidFill>
              <a:latin typeface="Calibri"/>
              <a:ea typeface="Calibri"/>
              <a:cs typeface="Calibri"/>
              <a:sym typeface="Calibri"/>
            </a:endParaRPr>
          </a:p>
        </p:txBody>
      </p:sp>
      <p:sp>
        <p:nvSpPr>
          <p:cNvPr id="840" name="Google Shape;840;p60"/>
          <p:cNvSpPr/>
          <p:nvPr/>
        </p:nvSpPr>
        <p:spPr>
          <a:xfrm>
            <a:off x="3257848" y="3543300"/>
            <a:ext cx="2549961"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Cierre técnico</a:t>
            </a:r>
            <a:endParaRPr sz="725">
              <a:solidFill>
                <a:srgbClr val="000000"/>
              </a:solidFill>
              <a:latin typeface="Calibri"/>
              <a:ea typeface="Calibri"/>
              <a:cs typeface="Calibri"/>
              <a:sym typeface="Calibri"/>
            </a:endParaRPr>
          </a:p>
        </p:txBody>
      </p:sp>
      <p:sp>
        <p:nvSpPr>
          <p:cNvPr id="841" name="Google Shape;841;p60"/>
          <p:cNvSpPr/>
          <p:nvPr/>
        </p:nvSpPr>
        <p:spPr>
          <a:xfrm>
            <a:off x="463550" y="3867150"/>
            <a:ext cx="5747514" cy="1333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50">
                <a:solidFill>
                  <a:srgbClr val="55606E"/>
                </a:solidFill>
                <a:latin typeface="Quattrocento Sans"/>
                <a:ea typeface="Quattrocento Sans"/>
                <a:cs typeface="Quattrocento Sans"/>
                <a:sym typeface="Quattrocento Sans"/>
              </a:rPr>
              <a:t>Integración nativa: ambas aplicaciones comparten datos sin interfaces.</a:t>
            </a:r>
            <a:endParaRPr sz="650">
              <a:solidFill>
                <a:srgbClr val="000000"/>
              </a:solidFill>
              <a:latin typeface="Calibri"/>
              <a:ea typeface="Calibri"/>
              <a:cs typeface="Calibri"/>
              <a:sym typeface="Calibri"/>
            </a:endParaRPr>
          </a:p>
        </p:txBody>
      </p:sp>
      <p:sp>
        <p:nvSpPr>
          <p:cNvPr id="842" name="Google Shape;842;p60"/>
          <p:cNvSpPr/>
          <p:nvPr/>
        </p:nvSpPr>
        <p:spPr>
          <a:xfrm>
            <a:off x="5956995" y="1155700"/>
            <a:ext cx="2933005" cy="2927350"/>
          </a:xfrm>
          <a:prstGeom prst="roundRect">
            <a:avLst>
              <a:gd name="adj" fmla="val 3037"/>
            </a:avLst>
          </a:prstGeom>
          <a:solidFill>
            <a:srgbClr val="F8F9FA"/>
          </a:solidFill>
          <a:ln w="9525" cap="flat" cmpd="sng">
            <a:solidFill>
              <a:srgbClr val="B9C2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3" name="Google Shape;843;p60"/>
          <p:cNvSpPr/>
          <p:nvPr/>
        </p:nvSpPr>
        <p:spPr>
          <a:xfrm>
            <a:off x="6090345" y="1292225"/>
            <a:ext cx="50800" cy="50800"/>
          </a:xfrm>
          <a:prstGeom prst="ellipse">
            <a:avLst/>
          </a:prstGeom>
          <a:solidFill>
            <a:srgbClr val="5A647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4" name="Google Shape;844;p60"/>
          <p:cNvSpPr/>
          <p:nvPr/>
        </p:nvSpPr>
        <p:spPr>
          <a:xfrm>
            <a:off x="6204645" y="1263650"/>
            <a:ext cx="943521" cy="1333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50" b="1">
                <a:solidFill>
                  <a:srgbClr val="5A6472"/>
                </a:solidFill>
                <a:latin typeface="Quattrocento Sans"/>
                <a:ea typeface="Quattrocento Sans"/>
                <a:cs typeface="Quattrocento Sans"/>
                <a:sym typeface="Quattrocento Sans"/>
              </a:rPr>
              <a:t>PLATAFORMA ERP</a:t>
            </a:r>
            <a:endParaRPr sz="650">
              <a:solidFill>
                <a:srgbClr val="000000"/>
              </a:solidFill>
              <a:latin typeface="Calibri"/>
              <a:ea typeface="Calibri"/>
              <a:cs typeface="Calibri"/>
              <a:sym typeface="Calibri"/>
            </a:endParaRPr>
          </a:p>
        </p:txBody>
      </p:sp>
      <p:sp>
        <p:nvSpPr>
          <p:cNvPr id="845" name="Google Shape;845;p60"/>
          <p:cNvSpPr/>
          <p:nvPr/>
        </p:nvSpPr>
        <p:spPr>
          <a:xfrm>
            <a:off x="6064945" y="1447800"/>
            <a:ext cx="2717105" cy="2152650"/>
          </a:xfrm>
          <a:prstGeom prst="roundRect">
            <a:avLst>
              <a:gd name="adj" fmla="val 2950"/>
            </a:avLst>
          </a:prstGeom>
          <a:solidFill>
            <a:srgbClr val="FFFFFF"/>
          </a:solidFill>
          <a:ln w="9525" cap="flat" cmpd="sng">
            <a:solidFill>
              <a:srgbClr val="E2E5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6" name="Google Shape;846;p60" descr="preencoded.png"/>
          <p:cNvSpPr/>
          <p:nvPr/>
        </p:nvSpPr>
        <p:spPr>
          <a:xfrm>
            <a:off x="6198295" y="1612900"/>
            <a:ext cx="615355" cy="304800"/>
          </a:xfrm>
          <a:prstGeom prst="rect">
            <a:avLst/>
          </a:prstGeom>
          <a:noFill/>
          <a:ln>
            <a:noFill/>
          </a:ln>
        </p:spPr>
        <p:txBody>
          <a:bodyPr/>
          <a:lstStyle/>
          <a:p>
            <a:endParaRPr lang="es-CL"/>
          </a:p>
        </p:txBody>
      </p:sp>
      <p:sp>
        <p:nvSpPr>
          <p:cNvPr id="847" name="Google Shape;847;p60"/>
          <p:cNvSpPr/>
          <p:nvPr/>
        </p:nvSpPr>
        <p:spPr>
          <a:xfrm>
            <a:off x="6198295" y="2025650"/>
            <a:ext cx="2695446" cy="1968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1000" b="1">
                <a:solidFill>
                  <a:srgbClr val="373C46"/>
                </a:solidFill>
                <a:latin typeface="Quattrocento Sans"/>
                <a:ea typeface="Quattrocento Sans"/>
                <a:cs typeface="Quattrocento Sans"/>
                <a:sym typeface="Quattrocento Sans"/>
              </a:rPr>
              <a:t>SAP</a:t>
            </a:r>
            <a:endParaRPr sz="1000">
              <a:solidFill>
                <a:srgbClr val="000000"/>
              </a:solidFill>
              <a:latin typeface="Calibri"/>
              <a:ea typeface="Calibri"/>
              <a:cs typeface="Calibri"/>
              <a:sym typeface="Calibri"/>
            </a:endParaRPr>
          </a:p>
        </p:txBody>
      </p:sp>
      <p:sp>
        <p:nvSpPr>
          <p:cNvPr id="848" name="Google Shape;848;p60"/>
          <p:cNvSpPr/>
          <p:nvPr/>
        </p:nvSpPr>
        <p:spPr>
          <a:xfrm>
            <a:off x="6198295" y="2216150"/>
            <a:ext cx="2695446" cy="1333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50">
                <a:solidFill>
                  <a:srgbClr val="6E7480"/>
                </a:solidFill>
                <a:latin typeface="Quattrocento Sans"/>
                <a:ea typeface="Quattrocento Sans"/>
                <a:cs typeface="Quattrocento Sans"/>
                <a:sym typeface="Quattrocento Sans"/>
              </a:rPr>
              <a:t>Sistema de registro financiero y administrativo</a:t>
            </a:r>
            <a:endParaRPr sz="650">
              <a:solidFill>
                <a:srgbClr val="000000"/>
              </a:solidFill>
              <a:latin typeface="Calibri"/>
              <a:ea typeface="Calibri"/>
              <a:cs typeface="Calibri"/>
              <a:sym typeface="Calibri"/>
            </a:endParaRPr>
          </a:p>
        </p:txBody>
      </p:sp>
      <p:sp>
        <p:nvSpPr>
          <p:cNvPr id="849" name="Google Shape;849;p60"/>
          <p:cNvSpPr/>
          <p:nvPr/>
        </p:nvSpPr>
        <p:spPr>
          <a:xfrm>
            <a:off x="6198295" y="2425700"/>
            <a:ext cx="2695446" cy="1270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00" b="1">
                <a:solidFill>
                  <a:srgbClr val="5A6472"/>
                </a:solidFill>
                <a:latin typeface="Quattrocento Sans"/>
                <a:ea typeface="Quattrocento Sans"/>
                <a:cs typeface="Quattrocento Sans"/>
                <a:sym typeface="Quattrocento Sans"/>
              </a:rPr>
              <a:t>SE ALOJA AQUÍ</a:t>
            </a:r>
            <a:endParaRPr sz="600">
              <a:solidFill>
                <a:srgbClr val="000000"/>
              </a:solidFill>
              <a:latin typeface="Calibri"/>
              <a:ea typeface="Calibri"/>
              <a:cs typeface="Calibri"/>
              <a:sym typeface="Calibri"/>
            </a:endParaRPr>
          </a:p>
        </p:txBody>
      </p:sp>
      <p:sp>
        <p:nvSpPr>
          <p:cNvPr id="850" name="Google Shape;850;p60"/>
          <p:cNvSpPr/>
          <p:nvPr/>
        </p:nvSpPr>
        <p:spPr>
          <a:xfrm>
            <a:off x="6198295" y="2590800"/>
            <a:ext cx="2695446"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Compras</a:t>
            </a:r>
            <a:endParaRPr sz="725">
              <a:solidFill>
                <a:srgbClr val="000000"/>
              </a:solidFill>
              <a:latin typeface="Calibri"/>
              <a:ea typeface="Calibri"/>
              <a:cs typeface="Calibri"/>
              <a:sym typeface="Calibri"/>
            </a:endParaRPr>
          </a:p>
        </p:txBody>
      </p:sp>
      <p:sp>
        <p:nvSpPr>
          <p:cNvPr id="851" name="Google Shape;851;p60"/>
          <p:cNvSpPr/>
          <p:nvPr/>
        </p:nvSpPr>
        <p:spPr>
          <a:xfrm>
            <a:off x="6198295" y="2781300"/>
            <a:ext cx="2695446"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Inventario</a:t>
            </a:r>
            <a:endParaRPr sz="725">
              <a:solidFill>
                <a:srgbClr val="000000"/>
              </a:solidFill>
              <a:latin typeface="Calibri"/>
              <a:ea typeface="Calibri"/>
              <a:cs typeface="Calibri"/>
              <a:sym typeface="Calibri"/>
            </a:endParaRPr>
          </a:p>
        </p:txBody>
      </p:sp>
      <p:sp>
        <p:nvSpPr>
          <p:cNvPr id="852" name="Google Shape;852;p60"/>
          <p:cNvSpPr/>
          <p:nvPr/>
        </p:nvSpPr>
        <p:spPr>
          <a:xfrm>
            <a:off x="6198295" y="2971800"/>
            <a:ext cx="2695446"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Facturación</a:t>
            </a:r>
            <a:endParaRPr sz="725">
              <a:solidFill>
                <a:srgbClr val="000000"/>
              </a:solidFill>
              <a:latin typeface="Calibri"/>
              <a:ea typeface="Calibri"/>
              <a:cs typeface="Calibri"/>
              <a:sym typeface="Calibri"/>
            </a:endParaRPr>
          </a:p>
        </p:txBody>
      </p:sp>
      <p:sp>
        <p:nvSpPr>
          <p:cNvPr id="853" name="Google Shape;853;p60"/>
          <p:cNvSpPr/>
          <p:nvPr/>
        </p:nvSpPr>
        <p:spPr>
          <a:xfrm>
            <a:off x="6198295" y="3162300"/>
            <a:ext cx="2695446"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Finanzas y contabilidad</a:t>
            </a:r>
            <a:endParaRPr sz="725">
              <a:solidFill>
                <a:srgbClr val="000000"/>
              </a:solidFill>
              <a:latin typeface="Calibri"/>
              <a:ea typeface="Calibri"/>
              <a:cs typeface="Calibri"/>
              <a:sym typeface="Calibri"/>
            </a:endParaRPr>
          </a:p>
        </p:txBody>
      </p:sp>
      <p:sp>
        <p:nvSpPr>
          <p:cNvPr id="854" name="Google Shape;854;p60"/>
          <p:cNvSpPr/>
          <p:nvPr/>
        </p:nvSpPr>
        <p:spPr>
          <a:xfrm>
            <a:off x="6198295" y="3352800"/>
            <a:ext cx="2695446"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55606E"/>
                </a:solidFill>
                <a:latin typeface="Quattrocento Sans"/>
                <a:ea typeface="Quattrocento Sans"/>
                <a:cs typeface="Quattrocento Sans"/>
                <a:sym typeface="Quattrocento Sans"/>
              </a:rPr>
              <a:t>Control de gestión</a:t>
            </a:r>
            <a:endParaRPr sz="725">
              <a:solidFill>
                <a:srgbClr val="000000"/>
              </a:solidFill>
              <a:latin typeface="Calibri"/>
              <a:ea typeface="Calibri"/>
              <a:cs typeface="Calibri"/>
              <a:sym typeface="Calibri"/>
            </a:endParaRPr>
          </a:p>
        </p:txBody>
      </p:sp>
      <p:sp>
        <p:nvSpPr>
          <p:cNvPr id="855" name="Google Shape;855;p60"/>
          <p:cNvSpPr/>
          <p:nvPr/>
        </p:nvSpPr>
        <p:spPr>
          <a:xfrm>
            <a:off x="6090345" y="3676650"/>
            <a:ext cx="2938016" cy="1333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50">
                <a:solidFill>
                  <a:srgbClr val="55606E"/>
                </a:solidFill>
                <a:latin typeface="Quattrocento Sans"/>
                <a:ea typeface="Quattrocento Sans"/>
                <a:cs typeface="Quattrocento Sans"/>
                <a:sym typeface="Quattrocento Sans"/>
              </a:rPr>
              <a:t>Fuente única de la información contable y de inventario.</a:t>
            </a:r>
            <a:endParaRPr sz="650">
              <a:solidFill>
                <a:srgbClr val="000000"/>
              </a:solidFill>
              <a:latin typeface="Calibri"/>
              <a:ea typeface="Calibri"/>
              <a:cs typeface="Calibri"/>
              <a:sym typeface="Calibri"/>
            </a:endParaRPr>
          </a:p>
        </p:txBody>
      </p:sp>
      <p:sp>
        <p:nvSpPr>
          <p:cNvPr id="856" name="Google Shape;856;p60"/>
          <p:cNvSpPr/>
          <p:nvPr/>
        </p:nvSpPr>
        <p:spPr>
          <a:xfrm>
            <a:off x="330200" y="4248150"/>
            <a:ext cx="8559800" cy="342900"/>
          </a:xfrm>
          <a:prstGeom prst="roundRect">
            <a:avLst>
              <a:gd name="adj" fmla="val 22222"/>
            </a:avLst>
          </a:prstGeom>
          <a:solidFill>
            <a:srgbClr val="F7FC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60"/>
          <p:cNvSpPr/>
          <p:nvPr/>
        </p:nvSpPr>
        <p:spPr>
          <a:xfrm>
            <a:off x="330200" y="4584700"/>
            <a:ext cx="85598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8" name="Google Shape;858;p60"/>
          <p:cNvSpPr/>
          <p:nvPr/>
        </p:nvSpPr>
        <p:spPr>
          <a:xfrm>
            <a:off x="330200" y="4248150"/>
            <a:ext cx="85598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9" name="Google Shape;859;p60"/>
          <p:cNvSpPr/>
          <p:nvPr/>
        </p:nvSpPr>
        <p:spPr>
          <a:xfrm>
            <a:off x="330200" y="4248150"/>
            <a:ext cx="25400" cy="342900"/>
          </a:xfrm>
          <a:prstGeom prst="rect">
            <a:avLst/>
          </a:prstGeom>
          <a:solidFill>
            <a:srgbClr val="0B6E6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60"/>
          <p:cNvSpPr/>
          <p:nvPr/>
        </p:nvSpPr>
        <p:spPr>
          <a:xfrm>
            <a:off x="8883650" y="4248150"/>
            <a:ext cx="6350" cy="34290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60"/>
          <p:cNvSpPr/>
          <p:nvPr/>
        </p:nvSpPr>
        <p:spPr>
          <a:xfrm>
            <a:off x="482600" y="4368800"/>
            <a:ext cx="1640602" cy="127000"/>
          </a:xfrm>
          <a:prstGeom prst="rect">
            <a:avLst/>
          </a:prstGeom>
          <a:noFill/>
          <a:ln>
            <a:noFill/>
          </a:ln>
        </p:spPr>
        <p:txBody>
          <a:bodyPr spcFirstLastPara="1" wrap="square" lIns="16925" tIns="16925" rIns="16925" bIns="16925" anchor="t" anchorCtr="0">
            <a:normAutofit/>
          </a:bodyPr>
          <a:lstStyle/>
          <a:p>
            <a:pPr marL="0" marR="0" lvl="0" indent="0" algn="l" rtl="0">
              <a:lnSpc>
                <a:spcPct val="90000"/>
              </a:lnSpc>
              <a:spcBef>
                <a:spcPts val="0"/>
              </a:spcBef>
              <a:spcAft>
                <a:spcPts val="0"/>
              </a:spcAft>
              <a:buNone/>
            </a:pPr>
            <a:r>
              <a:rPr lang="es-CL" sz="625" b="1">
                <a:solidFill>
                  <a:srgbClr val="0B6E6A"/>
                </a:solidFill>
                <a:latin typeface="Quattrocento Sans"/>
                <a:ea typeface="Quattrocento Sans"/>
                <a:cs typeface="Quattrocento Sans"/>
                <a:sym typeface="Quattrocento Sans"/>
              </a:rPr>
              <a:t>INTERFAZ ENTRE PLATAFORMAS</a:t>
            </a:r>
            <a:endParaRPr sz="625">
              <a:solidFill>
                <a:srgbClr val="000000"/>
              </a:solidFill>
              <a:latin typeface="Calibri"/>
              <a:ea typeface="Calibri"/>
              <a:cs typeface="Calibri"/>
              <a:sym typeface="Calibri"/>
            </a:endParaRPr>
          </a:p>
        </p:txBody>
      </p:sp>
      <p:sp>
        <p:nvSpPr>
          <p:cNvPr id="862" name="Google Shape;862;p60"/>
          <p:cNvSpPr/>
          <p:nvPr/>
        </p:nvSpPr>
        <p:spPr>
          <a:xfrm>
            <a:off x="2075656" y="4356100"/>
            <a:ext cx="7349093" cy="1524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725">
                <a:solidFill>
                  <a:srgbClr val="44505F"/>
                </a:solidFill>
                <a:latin typeface="Quattrocento Sans"/>
                <a:ea typeface="Quattrocento Sans"/>
                <a:cs typeface="Quattrocento Sans"/>
                <a:sym typeface="Quattrocento Sans"/>
              </a:rPr>
              <a:t>Salesforce → SAP: la solicitud de facturación es hoy el único punto de traspaso entre CRM/servicio y el ERP, con actividades manuales de por medio.</a:t>
            </a:r>
            <a:endParaRPr sz="725">
              <a:solidFill>
                <a:srgbClr val="000000"/>
              </a:solidFill>
              <a:latin typeface="Calibri"/>
              <a:ea typeface="Calibri"/>
              <a:cs typeface="Calibri"/>
              <a:sym typeface="Calibri"/>
            </a:endParaRPr>
          </a:p>
        </p:txBody>
      </p:sp>
      <p:sp>
        <p:nvSpPr>
          <p:cNvPr id="863" name="Google Shape;863;p60"/>
          <p:cNvSpPr/>
          <p:nvPr/>
        </p:nvSpPr>
        <p:spPr>
          <a:xfrm>
            <a:off x="330200" y="4756150"/>
            <a:ext cx="9415780" cy="1397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75" b="1">
                <a:solidFill>
                  <a:srgbClr val="6E7480"/>
                </a:solidFill>
                <a:latin typeface="Quattrocento Sans"/>
                <a:ea typeface="Quattrocento Sans"/>
                <a:cs typeface="Quattrocento Sans"/>
                <a:sym typeface="Quattrocento Sans"/>
              </a:rPr>
              <a:t>CAPA DOCUMENTAL Y COLABORATIVA</a:t>
            </a:r>
            <a:endParaRPr sz="675">
              <a:solidFill>
                <a:srgbClr val="000000"/>
              </a:solidFill>
              <a:latin typeface="Calibri"/>
              <a:ea typeface="Calibri"/>
              <a:cs typeface="Calibri"/>
              <a:sym typeface="Calibri"/>
            </a:endParaRPr>
          </a:p>
        </p:txBody>
      </p:sp>
      <p:sp>
        <p:nvSpPr>
          <p:cNvPr id="864" name="Google Shape;864;p60"/>
          <p:cNvSpPr/>
          <p:nvPr/>
        </p:nvSpPr>
        <p:spPr>
          <a:xfrm>
            <a:off x="330200" y="4959351"/>
            <a:ext cx="2171700" cy="1088231"/>
          </a:xfrm>
          <a:prstGeom prst="roundRect">
            <a:avLst>
              <a:gd name="adj" fmla="val 7002"/>
            </a:avLst>
          </a:prstGeom>
          <a:solidFill>
            <a:srgbClr val="F8F9FA"/>
          </a:solidFill>
          <a:ln w="9525" cap="flat" cmpd="sng">
            <a:solidFill>
              <a:srgbClr val="E2E5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865" name="Google Shape;865;p60" descr="preencoded.png"/>
          <p:cNvPicPr preferRelativeResize="0"/>
          <p:nvPr/>
        </p:nvPicPr>
        <p:blipFill rotWithShape="1">
          <a:blip r:embed="rId7">
            <a:alphaModFix/>
          </a:blip>
          <a:srcRect/>
          <a:stretch/>
        </p:blipFill>
        <p:spPr>
          <a:xfrm>
            <a:off x="463550" y="5080000"/>
            <a:ext cx="295870" cy="330200"/>
          </a:xfrm>
          <a:prstGeom prst="rect">
            <a:avLst/>
          </a:prstGeom>
          <a:noFill/>
          <a:ln>
            <a:noFill/>
          </a:ln>
        </p:spPr>
      </p:pic>
      <p:pic>
        <p:nvPicPr>
          <p:cNvPr id="866" name="Google Shape;866;p60" descr="preencoded.png"/>
          <p:cNvPicPr preferRelativeResize="0"/>
          <p:nvPr/>
        </p:nvPicPr>
        <p:blipFill rotWithShape="1">
          <a:blip r:embed="rId8">
            <a:alphaModFix/>
          </a:blip>
          <a:srcRect/>
          <a:stretch/>
        </p:blipFill>
        <p:spPr>
          <a:xfrm>
            <a:off x="861020" y="5162550"/>
            <a:ext cx="523776" cy="165100"/>
          </a:xfrm>
          <a:prstGeom prst="rect">
            <a:avLst/>
          </a:prstGeom>
          <a:noFill/>
          <a:ln>
            <a:noFill/>
          </a:ln>
        </p:spPr>
      </p:pic>
      <p:sp>
        <p:nvSpPr>
          <p:cNvPr id="867" name="Google Shape;867;p60"/>
          <p:cNvSpPr/>
          <p:nvPr/>
        </p:nvSpPr>
        <p:spPr>
          <a:xfrm>
            <a:off x="463550" y="5499101"/>
            <a:ext cx="1962150" cy="300831"/>
          </a:xfrm>
          <a:prstGeom prst="rect">
            <a:avLst/>
          </a:prstGeom>
          <a:noFill/>
          <a:ln>
            <a:noFill/>
          </a:ln>
        </p:spPr>
        <p:txBody>
          <a:bodyPr spcFirstLastPara="1" wrap="square" lIns="16925" tIns="16925" rIns="16925" bIns="16925" anchor="t" anchorCtr="0">
            <a:normAutofit/>
          </a:bodyPr>
          <a:lstStyle/>
          <a:p>
            <a:pPr marL="0" marR="0" lvl="0" indent="0" algn="l" rtl="0">
              <a:lnSpc>
                <a:spcPct val="114211"/>
              </a:lnSpc>
              <a:spcBef>
                <a:spcPts val="0"/>
              </a:spcBef>
              <a:spcAft>
                <a:spcPts val="0"/>
              </a:spcAft>
              <a:buNone/>
            </a:pPr>
            <a:r>
              <a:rPr lang="es-CL" sz="700">
                <a:solidFill>
                  <a:srgbClr val="55606E"/>
                </a:solidFill>
                <a:latin typeface="Quattrocento Sans"/>
                <a:ea typeface="Quattrocento Sans"/>
                <a:cs typeface="Quattrocento Sans"/>
                <a:sym typeface="Quattrocento Sans"/>
              </a:rPr>
              <a:t>Repositorio corporativo y entorno colaborativo transversal a todas las áreas.</a:t>
            </a:r>
            <a:endParaRPr sz="700">
              <a:solidFill>
                <a:srgbClr val="000000"/>
              </a:solidFill>
              <a:latin typeface="Calibri"/>
              <a:ea typeface="Calibri"/>
              <a:cs typeface="Calibri"/>
              <a:sym typeface="Calibri"/>
            </a:endParaRPr>
          </a:p>
        </p:txBody>
      </p:sp>
      <p:sp>
        <p:nvSpPr>
          <p:cNvPr id="868" name="Google Shape;868;p60"/>
          <p:cNvSpPr/>
          <p:nvPr/>
        </p:nvSpPr>
        <p:spPr>
          <a:xfrm>
            <a:off x="2641600" y="6041232"/>
            <a:ext cx="20066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60"/>
          <p:cNvSpPr/>
          <p:nvPr/>
        </p:nvSpPr>
        <p:spPr>
          <a:xfrm>
            <a:off x="2641600" y="4959350"/>
            <a:ext cx="20066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60"/>
          <p:cNvSpPr/>
          <p:nvPr/>
        </p:nvSpPr>
        <p:spPr>
          <a:xfrm>
            <a:off x="2641600" y="4959351"/>
            <a:ext cx="19050" cy="1088231"/>
          </a:xfrm>
          <a:prstGeom prst="rect">
            <a:avLst/>
          </a:prstGeom>
          <a:solidFill>
            <a:srgbClr val="28D2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60"/>
          <p:cNvSpPr/>
          <p:nvPr/>
        </p:nvSpPr>
        <p:spPr>
          <a:xfrm>
            <a:off x="4641850" y="4959351"/>
            <a:ext cx="6350" cy="1088231"/>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60"/>
          <p:cNvSpPr/>
          <p:nvPr/>
        </p:nvSpPr>
        <p:spPr>
          <a:xfrm>
            <a:off x="2774950" y="5067300"/>
            <a:ext cx="1927860" cy="1587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00" b="1">
                <a:solidFill>
                  <a:srgbClr val="373C46"/>
                </a:solidFill>
                <a:latin typeface="Quattrocento Sans"/>
                <a:ea typeface="Quattrocento Sans"/>
                <a:cs typeface="Quattrocento Sans"/>
                <a:sym typeface="Quattrocento Sans"/>
              </a:rPr>
              <a:t>Biblioteca documental</a:t>
            </a:r>
            <a:endParaRPr sz="800">
              <a:solidFill>
                <a:srgbClr val="000000"/>
              </a:solidFill>
              <a:latin typeface="Calibri"/>
              <a:ea typeface="Calibri"/>
              <a:cs typeface="Calibri"/>
              <a:sym typeface="Calibri"/>
            </a:endParaRPr>
          </a:p>
        </p:txBody>
      </p:sp>
      <p:sp>
        <p:nvSpPr>
          <p:cNvPr id="873" name="Google Shape;873;p60"/>
          <p:cNvSpPr/>
          <p:nvPr/>
        </p:nvSpPr>
        <p:spPr>
          <a:xfrm>
            <a:off x="2774950" y="5264150"/>
            <a:ext cx="1805178" cy="700881"/>
          </a:xfrm>
          <a:prstGeom prst="rect">
            <a:avLst/>
          </a:prstGeom>
          <a:noFill/>
          <a:ln>
            <a:noFill/>
          </a:ln>
        </p:spPr>
        <p:txBody>
          <a:bodyPr spcFirstLastPara="1" wrap="square" lIns="16925" tIns="16925" rIns="16925" bIns="16925" anchor="t" anchorCtr="0">
            <a:normAutofit/>
          </a:bodyPr>
          <a:lstStyle/>
          <a:p>
            <a:pPr marL="0" marR="0" lvl="0" indent="0" algn="l" rtl="0">
              <a:lnSpc>
                <a:spcPct val="140000"/>
              </a:lnSpc>
              <a:spcBef>
                <a:spcPts val="0"/>
              </a:spcBef>
              <a:spcAft>
                <a:spcPts val="0"/>
              </a:spcAft>
              <a:buNone/>
            </a:pPr>
            <a:r>
              <a:rPr lang="es-CL" sz="700">
                <a:solidFill>
                  <a:srgbClr val="55606E"/>
                </a:solidFill>
                <a:latin typeface="Quattrocento Sans"/>
                <a:ea typeface="Quattrocento Sans"/>
                <a:cs typeface="Quattrocento Sans"/>
                <a:sym typeface="Quattrocento Sans"/>
              </a:rPr>
              <a:t>Manuales Certificados Contratos Informes</a:t>
            </a:r>
            <a:endParaRPr sz="700">
              <a:solidFill>
                <a:srgbClr val="000000"/>
              </a:solidFill>
              <a:latin typeface="Calibri"/>
              <a:ea typeface="Calibri"/>
              <a:cs typeface="Calibri"/>
              <a:sym typeface="Calibri"/>
            </a:endParaRPr>
          </a:p>
        </p:txBody>
      </p:sp>
      <p:sp>
        <p:nvSpPr>
          <p:cNvPr id="874" name="Google Shape;874;p60"/>
          <p:cNvSpPr/>
          <p:nvPr/>
        </p:nvSpPr>
        <p:spPr>
          <a:xfrm>
            <a:off x="4762500" y="6041232"/>
            <a:ext cx="20066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60"/>
          <p:cNvSpPr/>
          <p:nvPr/>
        </p:nvSpPr>
        <p:spPr>
          <a:xfrm>
            <a:off x="4762500" y="4959350"/>
            <a:ext cx="20066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60"/>
          <p:cNvSpPr/>
          <p:nvPr/>
        </p:nvSpPr>
        <p:spPr>
          <a:xfrm>
            <a:off x="4762500" y="4959351"/>
            <a:ext cx="19050" cy="1088231"/>
          </a:xfrm>
          <a:prstGeom prst="rect">
            <a:avLst/>
          </a:prstGeom>
          <a:solidFill>
            <a:srgbClr val="28D2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60"/>
          <p:cNvSpPr/>
          <p:nvPr/>
        </p:nvSpPr>
        <p:spPr>
          <a:xfrm>
            <a:off x="6762750" y="4959351"/>
            <a:ext cx="6350" cy="1088231"/>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60"/>
          <p:cNvSpPr/>
          <p:nvPr/>
        </p:nvSpPr>
        <p:spPr>
          <a:xfrm>
            <a:off x="4895850" y="5067300"/>
            <a:ext cx="1927860" cy="1587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00" b="1">
                <a:solidFill>
                  <a:srgbClr val="373C46"/>
                </a:solidFill>
                <a:latin typeface="Quattrocento Sans"/>
                <a:ea typeface="Quattrocento Sans"/>
                <a:cs typeface="Quattrocento Sans"/>
                <a:sym typeface="Quattrocento Sans"/>
              </a:rPr>
              <a:t>Licitaciones y propuestas</a:t>
            </a:r>
            <a:endParaRPr sz="800">
              <a:solidFill>
                <a:srgbClr val="000000"/>
              </a:solidFill>
              <a:latin typeface="Calibri"/>
              <a:ea typeface="Calibri"/>
              <a:cs typeface="Calibri"/>
              <a:sym typeface="Calibri"/>
            </a:endParaRPr>
          </a:p>
        </p:txBody>
      </p:sp>
      <p:sp>
        <p:nvSpPr>
          <p:cNvPr id="879" name="Google Shape;879;p60"/>
          <p:cNvSpPr/>
          <p:nvPr/>
        </p:nvSpPr>
        <p:spPr>
          <a:xfrm>
            <a:off x="4895850" y="5264150"/>
            <a:ext cx="1805178" cy="700881"/>
          </a:xfrm>
          <a:prstGeom prst="rect">
            <a:avLst/>
          </a:prstGeom>
          <a:noFill/>
          <a:ln>
            <a:noFill/>
          </a:ln>
        </p:spPr>
        <p:txBody>
          <a:bodyPr spcFirstLastPara="1" wrap="square" lIns="16925" tIns="16925" rIns="16925" bIns="16925" anchor="t" anchorCtr="0">
            <a:normAutofit/>
          </a:bodyPr>
          <a:lstStyle/>
          <a:p>
            <a:pPr marL="0" marR="0" lvl="0" indent="0" algn="l" rtl="0">
              <a:lnSpc>
                <a:spcPct val="140000"/>
              </a:lnSpc>
              <a:spcBef>
                <a:spcPts val="0"/>
              </a:spcBef>
              <a:spcAft>
                <a:spcPts val="0"/>
              </a:spcAft>
              <a:buNone/>
            </a:pPr>
            <a:r>
              <a:rPr lang="es-CL" sz="700">
                <a:solidFill>
                  <a:srgbClr val="55606E"/>
                </a:solidFill>
                <a:latin typeface="Quattrocento Sans"/>
                <a:ea typeface="Quattrocento Sans"/>
                <a:cs typeface="Quattrocento Sans"/>
                <a:sym typeface="Quattrocento Sans"/>
              </a:rPr>
              <a:t>Bases Evaluaciones Respuestas Documentación</a:t>
            </a:r>
            <a:endParaRPr sz="700">
              <a:solidFill>
                <a:srgbClr val="000000"/>
              </a:solidFill>
              <a:latin typeface="Calibri"/>
              <a:ea typeface="Calibri"/>
              <a:cs typeface="Calibri"/>
              <a:sym typeface="Calibri"/>
            </a:endParaRPr>
          </a:p>
        </p:txBody>
      </p:sp>
      <p:sp>
        <p:nvSpPr>
          <p:cNvPr id="880" name="Google Shape;880;p60"/>
          <p:cNvSpPr/>
          <p:nvPr/>
        </p:nvSpPr>
        <p:spPr>
          <a:xfrm>
            <a:off x="6883400" y="6041232"/>
            <a:ext cx="20066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1" name="Google Shape;881;p60"/>
          <p:cNvSpPr/>
          <p:nvPr/>
        </p:nvSpPr>
        <p:spPr>
          <a:xfrm>
            <a:off x="6883400" y="4959350"/>
            <a:ext cx="2006600" cy="6350"/>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2" name="Google Shape;882;p60"/>
          <p:cNvSpPr/>
          <p:nvPr/>
        </p:nvSpPr>
        <p:spPr>
          <a:xfrm>
            <a:off x="6883400" y="4959351"/>
            <a:ext cx="19050" cy="1088231"/>
          </a:xfrm>
          <a:prstGeom prst="rect">
            <a:avLst/>
          </a:prstGeom>
          <a:solidFill>
            <a:srgbClr val="28D2C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3" name="Google Shape;883;p60"/>
          <p:cNvSpPr/>
          <p:nvPr/>
        </p:nvSpPr>
        <p:spPr>
          <a:xfrm>
            <a:off x="8883650" y="4959351"/>
            <a:ext cx="6350" cy="1088231"/>
          </a:xfrm>
          <a:prstGeom prst="rect">
            <a:avLst/>
          </a:prstGeom>
          <a:solidFill>
            <a:srgbClr val="E2E5E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4" name="Google Shape;884;p60"/>
          <p:cNvSpPr/>
          <p:nvPr/>
        </p:nvSpPr>
        <p:spPr>
          <a:xfrm>
            <a:off x="7016750" y="5067300"/>
            <a:ext cx="1927860" cy="1587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00" b="1">
                <a:solidFill>
                  <a:srgbClr val="373C46"/>
                </a:solidFill>
                <a:latin typeface="Quattrocento Sans"/>
                <a:ea typeface="Quattrocento Sans"/>
                <a:cs typeface="Quattrocento Sans"/>
                <a:sym typeface="Quattrocento Sans"/>
              </a:rPr>
              <a:t>Procesos interáreas</a:t>
            </a:r>
            <a:endParaRPr sz="800">
              <a:solidFill>
                <a:srgbClr val="000000"/>
              </a:solidFill>
              <a:latin typeface="Calibri"/>
              <a:ea typeface="Calibri"/>
              <a:cs typeface="Calibri"/>
              <a:sym typeface="Calibri"/>
            </a:endParaRPr>
          </a:p>
        </p:txBody>
      </p:sp>
      <p:sp>
        <p:nvSpPr>
          <p:cNvPr id="885" name="Google Shape;885;p60"/>
          <p:cNvSpPr/>
          <p:nvPr/>
        </p:nvSpPr>
        <p:spPr>
          <a:xfrm>
            <a:off x="7016750" y="5264150"/>
            <a:ext cx="1805178" cy="700881"/>
          </a:xfrm>
          <a:prstGeom prst="rect">
            <a:avLst/>
          </a:prstGeom>
          <a:noFill/>
          <a:ln>
            <a:noFill/>
          </a:ln>
        </p:spPr>
        <p:txBody>
          <a:bodyPr spcFirstLastPara="1" wrap="square" lIns="16925" tIns="16925" rIns="16925" bIns="16925" anchor="t" anchorCtr="0">
            <a:normAutofit/>
          </a:bodyPr>
          <a:lstStyle/>
          <a:p>
            <a:pPr marL="0" marR="0" lvl="0" indent="0" algn="l" rtl="0">
              <a:lnSpc>
                <a:spcPct val="140000"/>
              </a:lnSpc>
              <a:spcBef>
                <a:spcPts val="0"/>
              </a:spcBef>
              <a:spcAft>
                <a:spcPts val="0"/>
              </a:spcAft>
              <a:buNone/>
            </a:pPr>
            <a:r>
              <a:rPr lang="es-CL" sz="700">
                <a:solidFill>
                  <a:srgbClr val="55606E"/>
                </a:solidFill>
                <a:latin typeface="Quattrocento Sans"/>
                <a:ea typeface="Quattrocento Sans"/>
                <a:cs typeface="Quattrocento Sans"/>
                <a:sym typeface="Quattrocento Sans"/>
              </a:rPr>
              <a:t>Proyectos Directorio Procedimientos Colaboración</a:t>
            </a:r>
            <a:endParaRPr sz="700">
              <a:solidFill>
                <a:srgbClr val="000000"/>
              </a:solidFill>
              <a:latin typeface="Calibri"/>
              <a:ea typeface="Calibri"/>
              <a:cs typeface="Calibri"/>
              <a:sym typeface="Calibri"/>
            </a:endParaRPr>
          </a:p>
        </p:txBody>
      </p:sp>
      <p:sp>
        <p:nvSpPr>
          <p:cNvPr id="886" name="Google Shape;886;p60"/>
          <p:cNvSpPr/>
          <p:nvPr/>
        </p:nvSpPr>
        <p:spPr>
          <a:xfrm>
            <a:off x="9118600" y="952500"/>
            <a:ext cx="3017520" cy="1397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75" b="1">
                <a:solidFill>
                  <a:srgbClr val="6E7480"/>
                </a:solidFill>
                <a:latin typeface="Quattrocento Sans"/>
                <a:ea typeface="Quattrocento Sans"/>
                <a:cs typeface="Quattrocento Sans"/>
                <a:sym typeface="Quattrocento Sans"/>
              </a:rPr>
              <a:t>MENSAJE EJECUTIVO</a:t>
            </a:r>
            <a:endParaRPr sz="675">
              <a:solidFill>
                <a:srgbClr val="000000"/>
              </a:solidFill>
              <a:latin typeface="Calibri"/>
              <a:ea typeface="Calibri"/>
              <a:cs typeface="Calibri"/>
              <a:sym typeface="Calibri"/>
            </a:endParaRPr>
          </a:p>
        </p:txBody>
      </p:sp>
      <p:sp>
        <p:nvSpPr>
          <p:cNvPr id="887" name="Google Shape;887;p60"/>
          <p:cNvSpPr/>
          <p:nvPr/>
        </p:nvSpPr>
        <p:spPr>
          <a:xfrm>
            <a:off x="9118600" y="1155700"/>
            <a:ext cx="2825496" cy="482600"/>
          </a:xfrm>
          <a:prstGeom prst="rect">
            <a:avLst/>
          </a:prstGeom>
          <a:noFill/>
          <a:ln>
            <a:noFill/>
          </a:ln>
        </p:spPr>
        <p:txBody>
          <a:bodyPr spcFirstLastPara="1" wrap="square" lIns="16925" tIns="16925" rIns="16925" bIns="16925" anchor="t" anchorCtr="0">
            <a:normAutofit/>
          </a:bodyPr>
          <a:lstStyle/>
          <a:p>
            <a:pPr marL="0" marR="0" lvl="0" indent="0" algn="l" rtl="0">
              <a:lnSpc>
                <a:spcPct val="120000"/>
              </a:lnSpc>
              <a:spcBef>
                <a:spcPts val="0"/>
              </a:spcBef>
              <a:spcAft>
                <a:spcPts val="0"/>
              </a:spcAft>
              <a:buNone/>
            </a:pPr>
            <a:r>
              <a:rPr lang="es-CL" sz="750">
                <a:solidFill>
                  <a:srgbClr val="44505F"/>
                </a:solidFill>
                <a:latin typeface="Quattrocento Sans"/>
                <a:ea typeface="Quattrocento Sans"/>
                <a:cs typeface="Quattrocento Sans"/>
                <a:sym typeface="Quattrocento Sans"/>
              </a:rPr>
              <a:t>Tres plataformas sostienen la operación: Salesforce (clientes y servicio), SAP (finanzas) y SharePoint / OneDrive (documentos). Cada dato tiene un único lugar donde vive.</a:t>
            </a:r>
            <a:endParaRPr sz="750">
              <a:solidFill>
                <a:srgbClr val="000000"/>
              </a:solidFill>
              <a:latin typeface="Calibri"/>
              <a:ea typeface="Calibri"/>
              <a:cs typeface="Calibri"/>
              <a:sym typeface="Calibri"/>
            </a:endParaRPr>
          </a:p>
        </p:txBody>
      </p:sp>
      <p:sp>
        <p:nvSpPr>
          <p:cNvPr id="888" name="Google Shape;888;p60"/>
          <p:cNvSpPr/>
          <p:nvPr/>
        </p:nvSpPr>
        <p:spPr>
          <a:xfrm>
            <a:off x="9118600" y="1803400"/>
            <a:ext cx="3017520" cy="1397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75" b="1">
                <a:solidFill>
                  <a:srgbClr val="6E7480"/>
                </a:solidFill>
                <a:latin typeface="Quattrocento Sans"/>
                <a:ea typeface="Quattrocento Sans"/>
                <a:cs typeface="Quattrocento Sans"/>
                <a:sym typeface="Quattrocento Sans"/>
              </a:rPr>
              <a:t>FORTALEZAS ACTUALES</a:t>
            </a:r>
            <a:endParaRPr sz="675">
              <a:solidFill>
                <a:srgbClr val="000000"/>
              </a:solidFill>
              <a:latin typeface="Calibri"/>
              <a:ea typeface="Calibri"/>
              <a:cs typeface="Calibri"/>
              <a:sym typeface="Calibri"/>
            </a:endParaRPr>
          </a:p>
        </p:txBody>
      </p:sp>
      <p:sp>
        <p:nvSpPr>
          <p:cNvPr id="889" name="Google Shape;889;p60"/>
          <p:cNvSpPr/>
          <p:nvPr/>
        </p:nvSpPr>
        <p:spPr>
          <a:xfrm>
            <a:off x="9118600" y="2019301"/>
            <a:ext cx="2743200" cy="384175"/>
          </a:xfrm>
          <a:prstGeom prst="roundRect">
            <a:avLst>
              <a:gd name="adj" fmla="val 16529"/>
            </a:avLst>
          </a:prstGeom>
          <a:solidFill>
            <a:srgbClr val="F7FCFC"/>
          </a:solidFill>
          <a:ln w="9525" cap="flat" cmpd="sng">
            <a:solidFill>
              <a:srgbClr val="CDED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0" name="Google Shape;890;p60"/>
          <p:cNvSpPr/>
          <p:nvPr/>
        </p:nvSpPr>
        <p:spPr>
          <a:xfrm>
            <a:off x="9251951" y="2139951"/>
            <a:ext cx="131663" cy="168275"/>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50" b="1">
                <a:solidFill>
                  <a:srgbClr val="0B6E6A"/>
                </a:solidFill>
                <a:latin typeface="Quattrocento Sans"/>
                <a:ea typeface="Quattrocento Sans"/>
                <a:cs typeface="Quattrocento Sans"/>
                <a:sym typeface="Quattrocento Sans"/>
              </a:rPr>
              <a:t>✓</a:t>
            </a:r>
            <a:endParaRPr sz="850">
              <a:solidFill>
                <a:srgbClr val="000000"/>
              </a:solidFill>
              <a:latin typeface="Calibri"/>
              <a:ea typeface="Calibri"/>
              <a:cs typeface="Calibri"/>
              <a:sym typeface="Calibri"/>
            </a:endParaRPr>
          </a:p>
        </p:txBody>
      </p:sp>
      <p:sp>
        <p:nvSpPr>
          <p:cNvPr id="891" name="Google Shape;891;p60"/>
          <p:cNvSpPr/>
          <p:nvPr/>
        </p:nvSpPr>
        <p:spPr>
          <a:xfrm>
            <a:off x="9396313" y="2139951"/>
            <a:ext cx="2380139" cy="168275"/>
          </a:xfrm>
          <a:prstGeom prst="rect">
            <a:avLst/>
          </a:prstGeom>
          <a:noFill/>
          <a:ln>
            <a:noFill/>
          </a:ln>
        </p:spPr>
        <p:txBody>
          <a:bodyPr spcFirstLastPara="1" wrap="square" lIns="16925" tIns="16925" rIns="16925" bIns="16925" anchor="t" anchorCtr="0">
            <a:normAutofit/>
          </a:bodyPr>
          <a:lstStyle/>
          <a:p>
            <a:pPr marL="0" marR="0" lvl="0" indent="0" algn="l" rtl="0">
              <a:lnSpc>
                <a:spcPct val="112500"/>
              </a:lnSpc>
              <a:spcBef>
                <a:spcPts val="0"/>
              </a:spcBef>
              <a:spcAft>
                <a:spcPts val="0"/>
              </a:spcAft>
              <a:buNone/>
            </a:pPr>
            <a:r>
              <a:rPr lang="es-CL" sz="750">
                <a:solidFill>
                  <a:srgbClr val="44505F"/>
                </a:solidFill>
                <a:latin typeface="Quattrocento Sans"/>
                <a:ea typeface="Quattrocento Sans"/>
                <a:cs typeface="Quattrocento Sans"/>
                <a:sym typeface="Quattrocento Sans"/>
              </a:rPr>
              <a:t>Estandarización del proceso comercial y de servicio.</a:t>
            </a:r>
            <a:endParaRPr sz="750">
              <a:solidFill>
                <a:srgbClr val="000000"/>
              </a:solidFill>
              <a:latin typeface="Calibri"/>
              <a:ea typeface="Calibri"/>
              <a:cs typeface="Calibri"/>
              <a:sym typeface="Calibri"/>
            </a:endParaRPr>
          </a:p>
        </p:txBody>
      </p:sp>
      <p:sp>
        <p:nvSpPr>
          <p:cNvPr id="892" name="Google Shape;892;p60"/>
          <p:cNvSpPr/>
          <p:nvPr/>
        </p:nvSpPr>
        <p:spPr>
          <a:xfrm>
            <a:off x="9118600" y="2505076"/>
            <a:ext cx="2743200" cy="527050"/>
          </a:xfrm>
          <a:prstGeom prst="roundRect">
            <a:avLst>
              <a:gd name="adj" fmla="val 12048"/>
            </a:avLst>
          </a:prstGeom>
          <a:solidFill>
            <a:srgbClr val="F7FCFC"/>
          </a:solidFill>
          <a:ln w="9525" cap="flat" cmpd="sng">
            <a:solidFill>
              <a:srgbClr val="CDED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60"/>
          <p:cNvSpPr/>
          <p:nvPr/>
        </p:nvSpPr>
        <p:spPr>
          <a:xfrm>
            <a:off x="9251951" y="2625726"/>
            <a:ext cx="131663" cy="3111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50" b="1">
                <a:solidFill>
                  <a:srgbClr val="0B6E6A"/>
                </a:solidFill>
                <a:latin typeface="Quattrocento Sans"/>
                <a:ea typeface="Quattrocento Sans"/>
                <a:cs typeface="Quattrocento Sans"/>
                <a:sym typeface="Quattrocento Sans"/>
              </a:rPr>
              <a:t>✓</a:t>
            </a:r>
            <a:endParaRPr sz="850">
              <a:solidFill>
                <a:srgbClr val="000000"/>
              </a:solidFill>
              <a:latin typeface="Calibri"/>
              <a:ea typeface="Calibri"/>
              <a:cs typeface="Calibri"/>
              <a:sym typeface="Calibri"/>
            </a:endParaRPr>
          </a:p>
        </p:txBody>
      </p:sp>
      <p:sp>
        <p:nvSpPr>
          <p:cNvPr id="894" name="Google Shape;894;p60"/>
          <p:cNvSpPr/>
          <p:nvPr/>
        </p:nvSpPr>
        <p:spPr>
          <a:xfrm>
            <a:off x="9396314" y="2625726"/>
            <a:ext cx="2402101" cy="311150"/>
          </a:xfrm>
          <a:prstGeom prst="rect">
            <a:avLst/>
          </a:prstGeom>
          <a:noFill/>
          <a:ln>
            <a:noFill/>
          </a:ln>
        </p:spPr>
        <p:txBody>
          <a:bodyPr spcFirstLastPara="1" wrap="square" lIns="16925" tIns="16925" rIns="16925" bIns="16925" anchor="t" anchorCtr="0">
            <a:normAutofit/>
          </a:bodyPr>
          <a:lstStyle/>
          <a:p>
            <a:pPr marL="0" marR="0" lvl="0" indent="0" algn="l" rtl="0">
              <a:lnSpc>
                <a:spcPct val="112500"/>
              </a:lnSpc>
              <a:spcBef>
                <a:spcPts val="0"/>
              </a:spcBef>
              <a:spcAft>
                <a:spcPts val="0"/>
              </a:spcAft>
              <a:buNone/>
            </a:pPr>
            <a:r>
              <a:rPr lang="es-CL" sz="750">
                <a:solidFill>
                  <a:srgbClr val="44505F"/>
                </a:solidFill>
                <a:latin typeface="Quattrocento Sans"/>
                <a:ea typeface="Quattrocento Sans"/>
                <a:cs typeface="Quattrocento Sans"/>
                <a:sym typeface="Quattrocento Sans"/>
              </a:rPr>
              <a:t>Trazabilidad desde la creación del caso hasta la solicitud de facturación.</a:t>
            </a:r>
            <a:endParaRPr sz="750">
              <a:solidFill>
                <a:srgbClr val="000000"/>
              </a:solidFill>
              <a:latin typeface="Calibri"/>
              <a:ea typeface="Calibri"/>
              <a:cs typeface="Calibri"/>
              <a:sym typeface="Calibri"/>
            </a:endParaRPr>
          </a:p>
        </p:txBody>
      </p:sp>
      <p:sp>
        <p:nvSpPr>
          <p:cNvPr id="895" name="Google Shape;895;p60"/>
          <p:cNvSpPr/>
          <p:nvPr/>
        </p:nvSpPr>
        <p:spPr>
          <a:xfrm>
            <a:off x="9118600" y="3133726"/>
            <a:ext cx="2743200" cy="384175"/>
          </a:xfrm>
          <a:prstGeom prst="roundRect">
            <a:avLst>
              <a:gd name="adj" fmla="val 16529"/>
            </a:avLst>
          </a:prstGeom>
          <a:solidFill>
            <a:srgbClr val="F7FCFC"/>
          </a:solidFill>
          <a:ln w="9525" cap="flat" cmpd="sng">
            <a:solidFill>
              <a:srgbClr val="CDED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6" name="Google Shape;896;p60"/>
          <p:cNvSpPr/>
          <p:nvPr/>
        </p:nvSpPr>
        <p:spPr>
          <a:xfrm>
            <a:off x="9251951" y="3254376"/>
            <a:ext cx="131663" cy="168275"/>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50" b="1">
                <a:solidFill>
                  <a:srgbClr val="0B6E6A"/>
                </a:solidFill>
                <a:latin typeface="Quattrocento Sans"/>
                <a:ea typeface="Quattrocento Sans"/>
                <a:cs typeface="Quattrocento Sans"/>
                <a:sym typeface="Quattrocento Sans"/>
              </a:rPr>
              <a:t>✓</a:t>
            </a:r>
            <a:endParaRPr sz="850">
              <a:solidFill>
                <a:srgbClr val="000000"/>
              </a:solidFill>
              <a:latin typeface="Calibri"/>
              <a:ea typeface="Calibri"/>
              <a:cs typeface="Calibri"/>
              <a:sym typeface="Calibri"/>
            </a:endParaRPr>
          </a:p>
        </p:txBody>
      </p:sp>
      <p:sp>
        <p:nvSpPr>
          <p:cNvPr id="897" name="Google Shape;897;p60"/>
          <p:cNvSpPr/>
          <p:nvPr/>
        </p:nvSpPr>
        <p:spPr>
          <a:xfrm>
            <a:off x="9396314" y="3254376"/>
            <a:ext cx="2161421" cy="168275"/>
          </a:xfrm>
          <a:prstGeom prst="rect">
            <a:avLst/>
          </a:prstGeom>
          <a:noFill/>
          <a:ln>
            <a:noFill/>
          </a:ln>
        </p:spPr>
        <p:txBody>
          <a:bodyPr spcFirstLastPara="1" wrap="square" lIns="16925" tIns="16925" rIns="16925" bIns="16925" anchor="t" anchorCtr="0">
            <a:normAutofit/>
          </a:bodyPr>
          <a:lstStyle/>
          <a:p>
            <a:pPr marL="0" marR="0" lvl="0" indent="0" algn="l" rtl="0">
              <a:lnSpc>
                <a:spcPct val="112500"/>
              </a:lnSpc>
              <a:spcBef>
                <a:spcPts val="0"/>
              </a:spcBef>
              <a:spcAft>
                <a:spcPts val="0"/>
              </a:spcAft>
              <a:buNone/>
            </a:pPr>
            <a:r>
              <a:rPr lang="es-CL" sz="750">
                <a:solidFill>
                  <a:srgbClr val="44505F"/>
                </a:solidFill>
                <a:latin typeface="Quattrocento Sans"/>
                <a:ea typeface="Quattrocento Sans"/>
                <a:cs typeface="Quattrocento Sans"/>
                <a:sym typeface="Quattrocento Sans"/>
              </a:rPr>
              <a:t>Gestión centralizada de OT y recursos técnicos.</a:t>
            </a:r>
            <a:endParaRPr sz="750">
              <a:solidFill>
                <a:srgbClr val="000000"/>
              </a:solidFill>
              <a:latin typeface="Calibri"/>
              <a:ea typeface="Calibri"/>
              <a:cs typeface="Calibri"/>
              <a:sym typeface="Calibri"/>
            </a:endParaRPr>
          </a:p>
        </p:txBody>
      </p:sp>
      <p:sp>
        <p:nvSpPr>
          <p:cNvPr id="898" name="Google Shape;898;p60"/>
          <p:cNvSpPr/>
          <p:nvPr/>
        </p:nvSpPr>
        <p:spPr>
          <a:xfrm>
            <a:off x="9118600" y="3619500"/>
            <a:ext cx="2743200" cy="527050"/>
          </a:xfrm>
          <a:prstGeom prst="roundRect">
            <a:avLst>
              <a:gd name="adj" fmla="val 12048"/>
            </a:avLst>
          </a:prstGeom>
          <a:solidFill>
            <a:srgbClr val="F7FCFC"/>
          </a:solidFill>
          <a:ln w="9525" cap="flat" cmpd="sng">
            <a:solidFill>
              <a:srgbClr val="CDEDE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60"/>
          <p:cNvSpPr/>
          <p:nvPr/>
        </p:nvSpPr>
        <p:spPr>
          <a:xfrm>
            <a:off x="9251951" y="3740150"/>
            <a:ext cx="131663" cy="31115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50" b="1">
                <a:solidFill>
                  <a:srgbClr val="0B6E6A"/>
                </a:solidFill>
                <a:latin typeface="Quattrocento Sans"/>
                <a:ea typeface="Quattrocento Sans"/>
                <a:cs typeface="Quattrocento Sans"/>
                <a:sym typeface="Quattrocento Sans"/>
              </a:rPr>
              <a:t>✓</a:t>
            </a:r>
            <a:endParaRPr sz="850">
              <a:solidFill>
                <a:srgbClr val="000000"/>
              </a:solidFill>
              <a:latin typeface="Calibri"/>
              <a:ea typeface="Calibri"/>
              <a:cs typeface="Calibri"/>
              <a:sym typeface="Calibri"/>
            </a:endParaRPr>
          </a:p>
        </p:txBody>
      </p:sp>
      <p:sp>
        <p:nvSpPr>
          <p:cNvPr id="900" name="Google Shape;900;p60"/>
          <p:cNvSpPr/>
          <p:nvPr/>
        </p:nvSpPr>
        <p:spPr>
          <a:xfrm>
            <a:off x="9396314" y="3740150"/>
            <a:ext cx="2402101" cy="311150"/>
          </a:xfrm>
          <a:prstGeom prst="rect">
            <a:avLst/>
          </a:prstGeom>
          <a:noFill/>
          <a:ln>
            <a:noFill/>
          </a:ln>
        </p:spPr>
        <p:txBody>
          <a:bodyPr spcFirstLastPara="1" wrap="square" lIns="16925" tIns="16925" rIns="16925" bIns="16925" anchor="t" anchorCtr="0">
            <a:normAutofit/>
          </a:bodyPr>
          <a:lstStyle/>
          <a:p>
            <a:pPr marL="0" marR="0" lvl="0" indent="0" algn="l" rtl="0">
              <a:lnSpc>
                <a:spcPct val="112500"/>
              </a:lnSpc>
              <a:spcBef>
                <a:spcPts val="0"/>
              </a:spcBef>
              <a:spcAft>
                <a:spcPts val="0"/>
              </a:spcAft>
              <a:buNone/>
            </a:pPr>
            <a:r>
              <a:rPr lang="es-CL" sz="750">
                <a:solidFill>
                  <a:srgbClr val="44505F"/>
                </a:solidFill>
                <a:latin typeface="Quattrocento Sans"/>
                <a:ea typeface="Quattrocento Sans"/>
                <a:cs typeface="Quattrocento Sans"/>
                <a:sym typeface="Quattrocento Sans"/>
              </a:rPr>
              <a:t>Plataforma colaborativa para trabajo transversal entre áreas.</a:t>
            </a:r>
            <a:endParaRPr sz="750">
              <a:solidFill>
                <a:srgbClr val="000000"/>
              </a:solidFill>
              <a:latin typeface="Calibri"/>
              <a:ea typeface="Calibri"/>
              <a:cs typeface="Calibri"/>
              <a:sym typeface="Calibri"/>
            </a:endParaRPr>
          </a:p>
        </p:txBody>
      </p:sp>
      <p:sp>
        <p:nvSpPr>
          <p:cNvPr id="901" name="Google Shape;901;p60"/>
          <p:cNvSpPr/>
          <p:nvPr/>
        </p:nvSpPr>
        <p:spPr>
          <a:xfrm>
            <a:off x="9118600" y="4362450"/>
            <a:ext cx="3017520" cy="1397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675" b="1">
                <a:solidFill>
                  <a:srgbClr val="6E7480"/>
                </a:solidFill>
                <a:latin typeface="Quattrocento Sans"/>
                <a:ea typeface="Quattrocento Sans"/>
                <a:cs typeface="Quattrocento Sans"/>
                <a:sym typeface="Quattrocento Sans"/>
              </a:rPr>
              <a:t>DESAFÍO FUTURO</a:t>
            </a:r>
            <a:endParaRPr sz="675">
              <a:solidFill>
                <a:srgbClr val="000000"/>
              </a:solidFill>
              <a:latin typeface="Calibri"/>
              <a:ea typeface="Calibri"/>
              <a:cs typeface="Calibri"/>
              <a:sym typeface="Calibri"/>
            </a:endParaRPr>
          </a:p>
        </p:txBody>
      </p:sp>
      <p:sp>
        <p:nvSpPr>
          <p:cNvPr id="902" name="Google Shape;902;p60"/>
          <p:cNvSpPr/>
          <p:nvPr/>
        </p:nvSpPr>
        <p:spPr>
          <a:xfrm>
            <a:off x="9118600" y="4578350"/>
            <a:ext cx="2743200" cy="1117600"/>
          </a:xfrm>
          <a:prstGeom prst="roundRect">
            <a:avLst>
              <a:gd name="adj" fmla="val 6818"/>
            </a:avLst>
          </a:prstGeom>
          <a:solidFill>
            <a:srgbClr val="373C4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60"/>
          <p:cNvSpPr/>
          <p:nvPr/>
        </p:nvSpPr>
        <p:spPr>
          <a:xfrm>
            <a:off x="9283700" y="4730750"/>
            <a:ext cx="2654300" cy="165100"/>
          </a:xfrm>
          <a:prstGeom prst="rect">
            <a:avLst/>
          </a:prstGeom>
          <a:noFill/>
          <a:ln>
            <a:noFill/>
          </a:ln>
        </p:spPr>
        <p:txBody>
          <a:bodyPr spcFirstLastPara="1" wrap="square" lIns="16925" tIns="16925" rIns="16925" bIns="16925" anchor="t" anchorCtr="0">
            <a:normAutofit/>
          </a:bodyPr>
          <a:lstStyle/>
          <a:p>
            <a:pPr marL="0" marR="0" lvl="0" indent="0" algn="l" rtl="0">
              <a:spcBef>
                <a:spcPts val="0"/>
              </a:spcBef>
              <a:spcAft>
                <a:spcPts val="0"/>
              </a:spcAft>
              <a:buNone/>
            </a:pPr>
            <a:r>
              <a:rPr lang="es-CL" sz="850" b="1">
                <a:solidFill>
                  <a:srgbClr val="28D2C3"/>
                </a:solidFill>
                <a:latin typeface="Quattrocento Sans"/>
                <a:ea typeface="Quattrocento Sans"/>
                <a:cs typeface="Quattrocento Sans"/>
                <a:sym typeface="Quattrocento Sans"/>
              </a:rPr>
              <a:t>Salesforce + Field Service + SAP</a:t>
            </a:r>
            <a:endParaRPr sz="850">
              <a:solidFill>
                <a:srgbClr val="000000"/>
              </a:solidFill>
              <a:latin typeface="Calibri"/>
              <a:ea typeface="Calibri"/>
              <a:cs typeface="Calibri"/>
              <a:sym typeface="Calibri"/>
            </a:endParaRPr>
          </a:p>
        </p:txBody>
      </p:sp>
      <p:sp>
        <p:nvSpPr>
          <p:cNvPr id="904" name="Google Shape;904;p60"/>
          <p:cNvSpPr/>
          <p:nvPr/>
        </p:nvSpPr>
        <p:spPr>
          <a:xfrm>
            <a:off x="9283700" y="4933950"/>
            <a:ext cx="2485390" cy="635000"/>
          </a:xfrm>
          <a:prstGeom prst="rect">
            <a:avLst/>
          </a:prstGeom>
          <a:noFill/>
          <a:ln>
            <a:noFill/>
          </a:ln>
        </p:spPr>
        <p:txBody>
          <a:bodyPr spcFirstLastPara="1" wrap="square" lIns="16925" tIns="16925" rIns="16925" bIns="16925" anchor="t" anchorCtr="0">
            <a:normAutofit/>
          </a:bodyPr>
          <a:lstStyle/>
          <a:p>
            <a:pPr marL="0" marR="0" lvl="0" indent="0" algn="l" rtl="0">
              <a:lnSpc>
                <a:spcPct val="120000"/>
              </a:lnSpc>
              <a:spcBef>
                <a:spcPts val="0"/>
              </a:spcBef>
              <a:spcAft>
                <a:spcPts val="0"/>
              </a:spcAft>
              <a:buNone/>
            </a:pPr>
            <a:r>
              <a:rPr lang="es-CL" sz="750">
                <a:solidFill>
                  <a:srgbClr val="E3E6EA"/>
                </a:solidFill>
                <a:latin typeface="Quattrocento Sans"/>
                <a:ea typeface="Quattrocento Sans"/>
                <a:cs typeface="Quattrocento Sans"/>
                <a:sym typeface="Quattrocento Sans"/>
              </a:rPr>
              <a:t>Profundizar la integración entre las tres plataformas, reduciendo actividades manuales, mejorando la visibilidad gerencial y permitiendo un crecimiento escalable de la organización.</a:t>
            </a:r>
            <a:endParaRPr sz="750">
              <a:solidFill>
                <a:srgbClr val="000000"/>
              </a:solidFill>
              <a:latin typeface="Calibri"/>
              <a:ea typeface="Calibri"/>
              <a:cs typeface="Calibri"/>
              <a:sym typeface="Calibri"/>
            </a:endParaRPr>
          </a:p>
        </p:txBody>
      </p:sp>
      <p:pic>
        <p:nvPicPr>
          <p:cNvPr id="905" name="Google Shape;905;p60" descr="preencoded.png"/>
          <p:cNvPicPr preferRelativeResize="0"/>
          <p:nvPr/>
        </p:nvPicPr>
        <p:blipFill rotWithShape="1">
          <a:blip r:embed="rId9">
            <a:alphaModFix/>
          </a:blip>
          <a:srcRect/>
          <a:stretch/>
        </p:blipFill>
        <p:spPr>
          <a:xfrm>
            <a:off x="330200" y="6502400"/>
            <a:ext cx="819051" cy="190500"/>
          </a:xfrm>
          <a:prstGeom prst="rect">
            <a:avLst/>
          </a:prstGeom>
          <a:noFill/>
          <a:ln>
            <a:noFill/>
          </a:ln>
        </p:spPr>
      </p:pic>
      <p:pic>
        <p:nvPicPr>
          <p:cNvPr id="906" name="Google Shape;906;p60" descr="preencoded.png"/>
          <p:cNvPicPr preferRelativeResize="0"/>
          <p:nvPr/>
        </p:nvPicPr>
        <p:blipFill rotWithShape="1">
          <a:blip r:embed="rId10">
            <a:alphaModFix/>
          </a:blip>
          <a:srcRect/>
          <a:stretch/>
        </p:blipFill>
        <p:spPr>
          <a:xfrm>
            <a:off x="1339751" y="6515100"/>
            <a:ext cx="820142" cy="165100"/>
          </a:xfrm>
          <a:prstGeom prst="rect">
            <a:avLst/>
          </a:prstGeom>
          <a:noFill/>
          <a:ln>
            <a:noFill/>
          </a:ln>
        </p:spPr>
      </p:pic>
      <p:pic>
        <p:nvPicPr>
          <p:cNvPr id="907" name="Google Shape;907;p60" descr="preencoded.png"/>
          <p:cNvPicPr preferRelativeResize="0"/>
          <p:nvPr/>
        </p:nvPicPr>
        <p:blipFill rotWithShape="1">
          <a:blip r:embed="rId11">
            <a:alphaModFix/>
          </a:blip>
          <a:srcRect/>
          <a:stretch/>
        </p:blipFill>
        <p:spPr>
          <a:xfrm>
            <a:off x="2350393" y="6515100"/>
            <a:ext cx="597991" cy="165100"/>
          </a:xfrm>
          <a:prstGeom prst="rect">
            <a:avLst/>
          </a:prstGeom>
          <a:noFill/>
          <a:ln>
            <a:noFill/>
          </a:ln>
        </p:spPr>
      </p:pic>
    </p:spTree>
  </p:cSld>
  <p:clrMapOvr>
    <a:masterClrMapping/>
  </p:clrMapOvr>
</p:sld>
</file>

<file path=ppt/theme/theme1.xml><?xml version="1.0" encoding="utf-8"?>
<a:theme xmlns:a="http://schemas.openxmlformats.org/drawingml/2006/main" name="12_Blank">
  <a:themeElements>
    <a:clrScheme name="Custom 1">
      <a:dk1>
        <a:srgbClr val="33448D"/>
      </a:dk1>
      <a:lt1>
        <a:srgbClr val="FFFFFF"/>
      </a:lt1>
      <a:dk2>
        <a:srgbClr val="33448D"/>
      </a:dk2>
      <a:lt2>
        <a:srgbClr val="FFFFFF"/>
      </a:lt2>
      <a:accent1>
        <a:srgbClr val="B6BFDF"/>
      </a:accent1>
      <a:accent2>
        <a:srgbClr val="33448D"/>
      </a:accent2>
      <a:accent3>
        <a:srgbClr val="7686BA"/>
      </a:accent3>
      <a:accent4>
        <a:srgbClr val="8F9A28"/>
      </a:accent4>
      <a:accent5>
        <a:srgbClr val="4BACC6"/>
      </a:accent5>
      <a:accent6>
        <a:srgbClr val="808080"/>
      </a:accent6>
      <a:hlink>
        <a:srgbClr val="7686BA"/>
      </a:hlink>
      <a:folHlink>
        <a:srgbClr val="BDCB3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plate Presentación Directorio">
  <a:themeElements>
    <a:clrScheme name="GEMCO S.A">
      <a:dk1>
        <a:srgbClr val="FFFFFF"/>
      </a:dk1>
      <a:lt1>
        <a:srgbClr val="282DF0"/>
      </a:lt1>
      <a:dk2>
        <a:srgbClr val="FFFFFF"/>
      </a:dk2>
      <a:lt2>
        <a:srgbClr val="373C46"/>
      </a:lt2>
      <a:accent1>
        <a:srgbClr val="28D2C3"/>
      </a:accent1>
      <a:accent2>
        <a:srgbClr val="373C46"/>
      </a:accent2>
      <a:accent3>
        <a:srgbClr val="282DF0"/>
      </a:accent3>
      <a:accent4>
        <a:srgbClr val="D20101"/>
      </a:accent4>
      <a:accent5>
        <a:srgbClr val="FF8425"/>
      </a:accent5>
      <a:accent6>
        <a:srgbClr val="0070C0"/>
      </a:accent6>
      <a:hlink>
        <a:srgbClr val="4D94D8"/>
      </a:hlink>
      <a:folHlink>
        <a:srgbClr val="FFFF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382</TotalTime>
  <Words>17263</Words>
  <Application>Microsoft Office PowerPoint</Application>
  <PresentationFormat>Panorámica</PresentationFormat>
  <Paragraphs>5038</Paragraphs>
  <Slides>81</Slides>
  <Notes>81</Notes>
  <HiddenSlides>0</HiddenSlides>
  <MMClips>0</MMClips>
  <ScaleCrop>false</ScaleCrop>
  <HeadingPairs>
    <vt:vector size="6" baseType="variant">
      <vt:variant>
        <vt:lpstr>Fuentes usadas</vt:lpstr>
      </vt:variant>
      <vt:variant>
        <vt:i4>8</vt:i4>
      </vt:variant>
      <vt:variant>
        <vt:lpstr>Tema</vt:lpstr>
      </vt:variant>
      <vt:variant>
        <vt:i4>4</vt:i4>
      </vt:variant>
      <vt:variant>
        <vt:lpstr>Títulos de diapositiva</vt:lpstr>
      </vt:variant>
      <vt:variant>
        <vt:i4>81</vt:i4>
      </vt:variant>
    </vt:vector>
  </HeadingPairs>
  <TitlesOfParts>
    <vt:vector size="93" baseType="lpstr">
      <vt:lpstr>Arial</vt:lpstr>
      <vt:lpstr>Aptos</vt:lpstr>
      <vt:lpstr>Figtree</vt:lpstr>
      <vt:lpstr>Calibri</vt:lpstr>
      <vt:lpstr>Roboto</vt:lpstr>
      <vt:lpstr>Noto Sans Symbols</vt:lpstr>
      <vt:lpstr>Play</vt:lpstr>
      <vt:lpstr>Quattrocento Sans</vt:lpstr>
      <vt:lpstr>12_Blank</vt:lpstr>
      <vt:lpstr>Template Presentación Directorio</vt:lpstr>
      <vt:lpstr>Office Theme</vt:lpstr>
      <vt:lpstr>1_Office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Cristian Valenzuela</dc:creator>
  <cp:lastModifiedBy>Cristian  Vera</cp:lastModifiedBy>
  <cp:revision>21</cp:revision>
  <dcterms:created xsi:type="dcterms:W3CDTF">2026-09-12T02:09:26Z</dcterms:created>
  <dcterms:modified xsi:type="dcterms:W3CDTF">2026-10-02T20:22:25Z</dcterms:modified>
</cp:coreProperties>
</file>